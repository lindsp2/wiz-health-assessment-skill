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2" r:id="rId1"/>
    <p:sldMasterId id="2147483693" r:id="rId2"/>
  </p:sldMasterIdLst>
  <p:notesMasterIdLst>
    <p:notesMasterId r:id="rId2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9144000" cy="5143500" type="screen16x9"/>
  <p:notesSz cx="6858000" cy="9144000"/>
  <p:embeddedFontLst>
    <p:embeddedFont>
      <p:font typeface="DM Sans" pitchFamily="2" charset="0"/>
      <p:regular r:id="rId27"/>
      <p:bold r:id="rId28"/>
      <p:italic r:id="rId29"/>
      <p:boldItalic r:id="rId30"/>
    </p:embeddedFont>
    <p:embeddedFont>
      <p:font typeface="DM Sans Medium" pitchFamily="2" charset="0"/>
      <p:regular r:id="rId31"/>
      <p:bold r:id="rId32"/>
      <p:italic r:id="rId33"/>
      <p:boldItalic r:id="rId34"/>
    </p:embeddedFont>
    <p:embeddedFont>
      <p:font typeface="JetBrains Mono" panose="020B0604020202020204" charset="0"/>
      <p:regular r:id="rId35"/>
      <p:bold r:id="rId36"/>
      <p:italic r:id="rId37"/>
      <p:boldItalic r:id="rId38"/>
    </p:embeddedFont>
    <p:embeddedFont>
      <p:font typeface="Poppins" panose="00000500000000000000" pitchFamily="2" charset="0"/>
      <p:regular r:id="rId39"/>
      <p:bold r:id="rId40"/>
      <p:italic r:id="rId41"/>
      <p:boldItalic r:id="rId42"/>
    </p:embeddedFont>
    <p:embeddedFont>
      <p:font typeface="Poppins Light" panose="00000400000000000000" pitchFamily="2" charset="0"/>
      <p:regular r:id="rId43"/>
      <p:bold r:id="rId44"/>
      <p:italic r:id="rId45"/>
      <p:boldItalic r:id="rId46"/>
    </p:embeddedFont>
    <p:embeddedFont>
      <p:font typeface="Poppins Medium" panose="00000600000000000000" pitchFamily="2" charset="0"/>
      <p:regular r:id="rId47"/>
      <p:bold r:id="rId48"/>
      <p:italic r:id="rId49"/>
      <p:boldItalic r:id="rId50"/>
    </p:embeddedFont>
    <p:embeddedFont>
      <p:font typeface="Poppins SemiBold" panose="00000700000000000000" pitchFamily="2"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54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96" y="3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19.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font" Target="fonts/font21.fntdata"/><Relationship Id="rId50" Type="http://schemas.openxmlformats.org/officeDocument/2006/relationships/font" Target="fonts/font24.fntdata"/><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3.fntdata"/><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3" Type="http://schemas.openxmlformats.org/officeDocument/2006/relationships/font" Target="fonts/font27.fntdata"/><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font" Target="fonts/font22.fntdata"/><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25.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font" Target="fonts/font20.fntdata"/><Relationship Id="rId20" Type="http://schemas.openxmlformats.org/officeDocument/2006/relationships/slide" Target="slides/slide18.xml"/><Relationship Id="rId41" Type="http://schemas.openxmlformats.org/officeDocument/2006/relationships/font" Target="fonts/font15.fntdata"/><Relationship Id="rId54" Type="http://schemas.openxmlformats.org/officeDocument/2006/relationships/font" Target="fonts/font28.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schemas.openxmlformats.org/officeDocument/2006/relationships/font" Target="fonts/font10.fntdata"/><Relationship Id="rId49" Type="http://schemas.openxmlformats.org/officeDocument/2006/relationships/font" Target="fonts/font23.fntdata"/><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font" Target="fonts/font2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381000" lvl="0" indent="-298450" algn="l" rtl="0">
              <a:lnSpc>
                <a:spcPct val="115000"/>
              </a:lnSpc>
              <a:spcBef>
                <a:spcPts val="1200"/>
              </a:spcBef>
              <a:spcAft>
                <a:spcPts val="0"/>
              </a:spcAft>
              <a:buClr>
                <a:schemeClr val="dk1"/>
              </a:buClr>
              <a:buSzPts val="1100"/>
              <a:buChar char="-"/>
            </a:pPr>
            <a:endParaRPr>
              <a:solidFill>
                <a:schemeClr val="dk1"/>
              </a:solidFill>
            </a:endParaRPr>
          </a:p>
        </p:txBody>
      </p:sp>
      <p:sp>
        <p:nvSpPr>
          <p:cNvPr id="245" name="Google Shape;245;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Clr>
                <a:schemeClr val="dk1"/>
              </a:buClr>
              <a:buSzPts val="1100"/>
              <a:buChar char="-"/>
            </a:pPr>
            <a:endParaRPr>
              <a:solidFill>
                <a:schemeClr val="dk1"/>
              </a:solidFill>
            </a:endParaRPr>
          </a:p>
        </p:txBody>
      </p:sp>
      <p:sp>
        <p:nvSpPr>
          <p:cNvPr id="288" name="Google Shape;288;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5" name="Google Shape;385;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Clr>
                <a:schemeClr val="dk1"/>
              </a:buClr>
              <a:buSzPts val="1100"/>
              <a:buChar char="-"/>
            </a:pPr>
            <a:endParaRPr>
              <a:solidFill>
                <a:schemeClr val="dk1"/>
              </a:solidFill>
            </a:endParaRPr>
          </a:p>
        </p:txBody>
      </p:sp>
      <p:sp>
        <p:nvSpPr>
          <p:cNvPr id="386" name="Google Shape;386;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3" name="Google Shape;43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Clr>
                <a:schemeClr val="dk1"/>
              </a:buClr>
              <a:buSzPts val="1100"/>
              <a:buChar char="-"/>
            </a:pPr>
            <a:endParaRPr>
              <a:solidFill>
                <a:schemeClr val="dk1"/>
              </a:solidFill>
            </a:endParaRPr>
          </a:p>
        </p:txBody>
      </p:sp>
      <p:sp>
        <p:nvSpPr>
          <p:cNvPr id="434" name="Google Shape;43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8" name="Google Shape;498;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solidFill>
                <a:schemeClr val="dk1"/>
              </a:solidFill>
            </a:endParaRPr>
          </a:p>
        </p:txBody>
      </p:sp>
      <p:sp>
        <p:nvSpPr>
          <p:cNvPr id="499" name="Google Shape;499;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7" name="Google Shape;587;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Clr>
                <a:schemeClr val="dk1"/>
              </a:buClr>
              <a:buSzPts val="1100"/>
              <a:buChar char="-"/>
            </a:pPr>
            <a:endParaRPr>
              <a:solidFill>
                <a:schemeClr val="dk1"/>
              </a:solidFill>
            </a:endParaRPr>
          </a:p>
        </p:txBody>
      </p:sp>
      <p:sp>
        <p:nvSpPr>
          <p:cNvPr id="588" name="Google Shape;588;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9" name="Google Shape;599;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Clr>
                <a:schemeClr val="dk1"/>
              </a:buClr>
              <a:buSzPts val="1100"/>
              <a:buChar char="-"/>
            </a:pPr>
            <a:endParaRPr>
              <a:solidFill>
                <a:schemeClr val="dk1"/>
              </a:solidFill>
            </a:endParaRPr>
          </a:p>
        </p:txBody>
      </p:sp>
      <p:sp>
        <p:nvSpPr>
          <p:cNvPr id="600" name="Google Shape;600;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2" name="Google Shape;61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Clr>
                <a:schemeClr val="dk1"/>
              </a:buClr>
              <a:buSzPts val="1100"/>
              <a:buChar char="-"/>
            </a:pPr>
            <a:endParaRPr>
              <a:solidFill>
                <a:schemeClr val="dk1"/>
              </a:solidFill>
            </a:endParaRPr>
          </a:p>
        </p:txBody>
      </p:sp>
      <p:sp>
        <p:nvSpPr>
          <p:cNvPr id="613" name="Google Shape;613;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2" name="Google Shape;62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623" name="Google Shape;62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1" name="Google Shape;631;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Clr>
                <a:schemeClr val="dk1"/>
              </a:buClr>
              <a:buSzPts val="1100"/>
              <a:buChar char="-"/>
            </a:pPr>
            <a:endParaRPr/>
          </a:p>
        </p:txBody>
      </p:sp>
      <p:sp>
        <p:nvSpPr>
          <p:cNvPr id="632" name="Google Shape;632;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1" name="Google Shape;671;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76200" algn="l" rtl="0">
              <a:lnSpc>
                <a:spcPct val="138083"/>
              </a:lnSpc>
              <a:spcBef>
                <a:spcPts val="0"/>
              </a:spcBef>
              <a:spcAft>
                <a:spcPts val="0"/>
              </a:spcAft>
              <a:buClr>
                <a:schemeClr val="dk1"/>
              </a:buClr>
              <a:buSzPts val="1200"/>
              <a:buChar char="•"/>
            </a:pPr>
            <a:endParaRPr sz="1200">
              <a:solidFill>
                <a:schemeClr val="dk1"/>
              </a:solidFill>
            </a:endParaRPr>
          </a:p>
        </p:txBody>
      </p:sp>
      <p:sp>
        <p:nvSpPr>
          <p:cNvPr id="672" name="Google Shape;672;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4" name="Google Shape;71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76200" algn="l" rtl="0">
              <a:lnSpc>
                <a:spcPct val="138083"/>
              </a:lnSpc>
              <a:spcBef>
                <a:spcPts val="0"/>
              </a:spcBef>
              <a:spcAft>
                <a:spcPts val="0"/>
              </a:spcAft>
              <a:buClr>
                <a:schemeClr val="dk1"/>
              </a:buClr>
              <a:buSzPts val="1200"/>
              <a:buChar char="•"/>
            </a:pPr>
            <a:endParaRPr sz="1200">
              <a:solidFill>
                <a:schemeClr val="dk1"/>
              </a:solidFill>
            </a:endParaRPr>
          </a:p>
        </p:txBody>
      </p:sp>
      <p:sp>
        <p:nvSpPr>
          <p:cNvPr id="715" name="Google Shape;71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9" name="Google Shape;749;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solidFill>
                <a:schemeClr val="dk1"/>
              </a:solidFill>
            </a:endParaRPr>
          </a:p>
        </p:txBody>
      </p:sp>
      <p:sp>
        <p:nvSpPr>
          <p:cNvPr id="750" name="Google Shape;750;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8" name="Google Shape;758;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76200" algn="l" rtl="0">
              <a:lnSpc>
                <a:spcPct val="138083"/>
              </a:lnSpc>
              <a:spcBef>
                <a:spcPts val="0"/>
              </a:spcBef>
              <a:spcAft>
                <a:spcPts val="0"/>
              </a:spcAft>
              <a:buClr>
                <a:schemeClr val="dk1"/>
              </a:buClr>
              <a:buSzPts val="1200"/>
              <a:buChar char="•"/>
            </a:pPr>
            <a:endParaRPr sz="1200">
              <a:solidFill>
                <a:schemeClr val="dk1"/>
              </a:solidFill>
            </a:endParaRPr>
          </a:p>
        </p:txBody>
      </p:sp>
      <p:sp>
        <p:nvSpPr>
          <p:cNvPr id="759" name="Google Shape;75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solidFill>
                <a:schemeClr val="dk1"/>
              </a:solidFill>
            </a:endParaRPr>
          </a:p>
        </p:txBody>
      </p:sp>
      <p:sp>
        <p:nvSpPr>
          <p:cNvPr id="849" name="Google Shape;849;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17: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7" name="Google Shape;857;p1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858" name="Google Shape;858;p1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p18: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p18: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012" name="Google Shape;1012;p18: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1"/>
        <p:cNvGrpSpPr/>
        <p:nvPr/>
      </p:nvGrpSpPr>
      <p:grpSpPr>
        <a:xfrm>
          <a:off x="0" y="0"/>
          <a:ext cx="0" cy="0"/>
          <a:chOff x="0" y="0"/>
          <a:chExt cx="0" cy="0"/>
        </a:xfrm>
      </p:grpSpPr>
      <p:sp>
        <p:nvSpPr>
          <p:cNvPr id="1202" name="Google Shape;1202;p19: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3" name="Google Shape;1203;p1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204" name="Google Shape;1204;p1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3"/>
        <p:cNvGrpSpPr/>
        <p:nvPr/>
      </p:nvGrpSpPr>
      <p:grpSpPr>
        <a:xfrm>
          <a:off x="0" y="0"/>
          <a:ext cx="0" cy="0"/>
          <a:chOff x="0" y="0"/>
          <a:chExt cx="0" cy="0"/>
        </a:xfrm>
      </p:grpSpPr>
      <p:sp>
        <p:nvSpPr>
          <p:cNvPr id="1334" name="Google Shape;133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5" name="Google Shape;1335;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Clr>
                <a:schemeClr val="dk1"/>
              </a:buClr>
              <a:buSzPts val="1100"/>
              <a:buChar char="-"/>
            </a:pPr>
            <a:endParaRPr/>
          </a:p>
        </p:txBody>
      </p:sp>
      <p:sp>
        <p:nvSpPr>
          <p:cNvPr id="1336" name="Google Shape;1336;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4"/>
        <p:cNvGrpSpPr/>
        <p:nvPr/>
      </p:nvGrpSpPr>
      <p:grpSpPr>
        <a:xfrm>
          <a:off x="0" y="0"/>
          <a:ext cx="0" cy="0"/>
          <a:chOff x="0" y="0"/>
          <a:chExt cx="0" cy="0"/>
        </a:xfrm>
      </p:grpSpPr>
      <p:sp>
        <p:nvSpPr>
          <p:cNvPr id="1355" name="Google Shape;135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6" name="Google Shape;1356;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0" algn="l" rtl="0">
              <a:lnSpc>
                <a:spcPct val="100000"/>
              </a:lnSpc>
              <a:spcBef>
                <a:spcPts val="0"/>
              </a:spcBef>
              <a:spcAft>
                <a:spcPts val="0"/>
              </a:spcAft>
              <a:buSzPts val="1100"/>
              <a:buNone/>
            </a:pPr>
            <a:endParaRPr/>
          </a:p>
        </p:txBody>
      </p:sp>
      <p:sp>
        <p:nvSpPr>
          <p:cNvPr id="1357" name="Google Shape;1357;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6"/>
        <p:cNvGrpSpPr/>
        <p:nvPr/>
      </p:nvGrpSpPr>
      <p:grpSpPr>
        <a:xfrm>
          <a:off x="0" y="0"/>
          <a:ext cx="0" cy="0"/>
          <a:chOff x="0" y="0"/>
          <a:chExt cx="0" cy="0"/>
        </a:xfrm>
      </p:grpSpPr>
      <p:sp>
        <p:nvSpPr>
          <p:cNvPr id="1387" name="Google Shape;138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8" name="Google Shape;1388;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Clr>
                <a:schemeClr val="dk1"/>
              </a:buClr>
              <a:buSzPts val="1100"/>
              <a:buChar char="-"/>
            </a:pPr>
            <a:endParaRPr/>
          </a:p>
        </p:txBody>
      </p:sp>
      <p:sp>
        <p:nvSpPr>
          <p:cNvPr id="1389" name="Google Shape;1389;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7"/>
        <p:cNvGrpSpPr/>
        <p:nvPr/>
      </p:nvGrpSpPr>
      <p:grpSpPr>
        <a:xfrm>
          <a:off x="0" y="0"/>
          <a:ext cx="0" cy="0"/>
          <a:chOff x="0" y="0"/>
          <a:chExt cx="0" cy="0"/>
        </a:xfrm>
      </p:grpSpPr>
      <p:sp>
        <p:nvSpPr>
          <p:cNvPr id="1408" name="Google Shape;140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9" name="Google Shape;1409;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410" name="Google Shape;1410;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_Blank">
  <p:cSld name="Opening_Blank">
    <p:bg>
      <p:bgPr>
        <a:solidFill>
          <a:srgbClr val="0254EC"/>
        </a:solidFill>
        <a:effectLst/>
      </p:bgPr>
    </p:bg>
    <p:spTree>
      <p:nvGrpSpPr>
        <p:cNvPr id="1" name="Shape 9"/>
        <p:cNvGrpSpPr/>
        <p:nvPr/>
      </p:nvGrpSpPr>
      <p:grpSpPr>
        <a:xfrm>
          <a:off x="0" y="0"/>
          <a:ext cx="0" cy="0"/>
          <a:chOff x="0" y="0"/>
          <a:chExt cx="0" cy="0"/>
        </a:xfrm>
      </p:grpSpPr>
      <p:pic>
        <p:nvPicPr>
          <p:cNvPr id="10" name="Google Shape;10;p2" title="bg_blue.png"/>
          <p:cNvPicPr preferRelativeResize="0"/>
          <p:nvPr/>
        </p:nvPicPr>
        <p:blipFill rotWithShape="1">
          <a:blip r:embed="rId2">
            <a:alphaModFix/>
          </a:blip>
          <a:srcRect/>
          <a:stretch/>
        </p:blipFill>
        <p:spPr>
          <a:xfrm>
            <a:off x="0" y="-5"/>
            <a:ext cx="9144000" cy="514350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23 1">
  <p:cSld name="ONE_COLUMN_TEXT_1">
    <p:spTree>
      <p:nvGrpSpPr>
        <p:cNvPr id="1" name="Shape 11"/>
        <p:cNvGrpSpPr/>
        <p:nvPr/>
      </p:nvGrpSpPr>
      <p:grpSpPr>
        <a:xfrm>
          <a:off x="0" y="0"/>
          <a:ext cx="0" cy="0"/>
          <a:chOff x="0" y="0"/>
          <a:chExt cx="0" cy="0"/>
        </a:xfrm>
      </p:grpSpPr>
      <p:pic>
        <p:nvPicPr>
          <p:cNvPr id="12" name="Google Shape;12;p3" title="bg6.png"/>
          <p:cNvPicPr preferRelativeResize="0"/>
          <p:nvPr/>
        </p:nvPicPr>
        <p:blipFill rotWithShape="1">
          <a:blip r:embed="rId2">
            <a:alphaModFix/>
          </a:blip>
          <a:srcRect/>
          <a:stretch/>
        </p:blipFill>
        <p:spPr>
          <a:xfrm>
            <a:off x="0" y="10"/>
            <a:ext cx="9144003" cy="5143490"/>
          </a:xfrm>
          <a:prstGeom prst="rect">
            <a:avLst/>
          </a:prstGeom>
          <a:noFill/>
          <a:ln>
            <a:noFill/>
          </a:ln>
        </p:spPr>
      </p:pic>
      <p:sp>
        <p:nvSpPr>
          <p:cNvPr id="13" name="Google Shape;13;p3"/>
          <p:cNvSpPr/>
          <p:nvPr/>
        </p:nvSpPr>
        <p:spPr>
          <a:xfrm>
            <a:off x="0" y="2500300"/>
            <a:ext cx="9158700" cy="2665200"/>
          </a:xfrm>
          <a:prstGeom prst="rect">
            <a:avLst/>
          </a:prstGeom>
          <a:gradFill>
            <a:gsLst>
              <a:gs pos="0">
                <a:schemeClr val="lt1"/>
              </a:gs>
              <a:gs pos="100000">
                <a:srgbClr val="FFFFFF">
                  <a:alpha val="0"/>
                </a:srgbClr>
              </a:gs>
            </a:gsLst>
            <a:lin ang="16200038"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23">
  <p:cSld name="ONE_COLUMN_TEXT">
    <p:spTree>
      <p:nvGrpSpPr>
        <p:cNvPr id="1" name="Shape 14"/>
        <p:cNvGrpSpPr/>
        <p:nvPr/>
      </p:nvGrpSpPr>
      <p:grpSpPr>
        <a:xfrm>
          <a:off x="0" y="0"/>
          <a:ext cx="0" cy="0"/>
          <a:chOff x="0" y="0"/>
          <a:chExt cx="0" cy="0"/>
        </a:xfrm>
      </p:grpSpPr>
      <p:pic>
        <p:nvPicPr>
          <p:cNvPr id="15" name="Google Shape;15;p4" title="bg6.png"/>
          <p:cNvPicPr preferRelativeResize="0"/>
          <p:nvPr/>
        </p:nvPicPr>
        <p:blipFill rotWithShape="1">
          <a:blip r:embed="rId2">
            <a:alphaModFix/>
          </a:blip>
          <a:srcRect/>
          <a:stretch/>
        </p:blipFill>
        <p:spPr>
          <a:xfrm>
            <a:off x="0" y="10"/>
            <a:ext cx="9144003" cy="514349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pic>
        <p:nvPicPr>
          <p:cNvPr id="17" name="Google Shape;17;p5" title="bg2.png"/>
          <p:cNvPicPr preferRelativeResize="0"/>
          <p:nvPr/>
        </p:nvPicPr>
        <p:blipFill rotWithShape="1">
          <a:blip r:embed="rId2">
            <a:alphaModFix/>
          </a:blip>
          <a:srcRect/>
          <a:stretch/>
        </p:blipFill>
        <p:spPr>
          <a:xfrm>
            <a:off x="0" y="10"/>
            <a:ext cx="9143997" cy="514349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8"/>
        <p:cNvGrpSpPr/>
        <p:nvPr/>
      </p:nvGrpSpPr>
      <p:grpSpPr>
        <a:xfrm>
          <a:off x="0" y="0"/>
          <a:ext cx="0" cy="0"/>
          <a:chOff x="0" y="0"/>
          <a:chExt cx="0" cy="0"/>
        </a:xfrm>
      </p:grpSpPr>
      <p:pic>
        <p:nvPicPr>
          <p:cNvPr id="19" name="Google Shape;19;p6" title="bg_blue2.png"/>
          <p:cNvPicPr preferRelativeResize="0"/>
          <p:nvPr/>
        </p:nvPicPr>
        <p:blipFill rotWithShape="1">
          <a:blip r:embed="rId2">
            <a:alphaModFix/>
          </a:blip>
          <a:srcRect/>
          <a:stretch/>
        </p:blipFill>
        <p:spPr>
          <a:xfrm>
            <a:off x="0" y="-5"/>
            <a:ext cx="9144000" cy="514350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pic>
        <p:nvPicPr>
          <p:cNvPr id="21" name="Google Shape;21;p7" title="bg1.png"/>
          <p:cNvPicPr preferRelativeResize="0"/>
          <p:nvPr/>
        </p:nvPicPr>
        <p:blipFill rotWithShape="1">
          <a:blip r:embed="rId2">
            <a:alphaModFix/>
          </a:blip>
          <a:srcRect/>
          <a:stretch/>
        </p:blipFill>
        <p:spPr>
          <a:xfrm>
            <a:off x="0" y="-5"/>
            <a:ext cx="9144000" cy="514350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
        <p:cNvGrpSpPr/>
        <p:nvPr/>
      </p:nvGrpSpPr>
      <p:grpSpPr>
        <a:xfrm>
          <a:off x="0" y="0"/>
          <a:ext cx="0" cy="0"/>
          <a:chOff x="0" y="0"/>
          <a:chExt cx="0" cy="0"/>
        </a:xfrm>
      </p:grpSpPr>
      <p:pic>
        <p:nvPicPr>
          <p:cNvPr id="23" name="Google Shape;23;p8" title="bg3.png"/>
          <p:cNvPicPr preferRelativeResize="0"/>
          <p:nvPr/>
        </p:nvPicPr>
        <p:blipFill rotWithShape="1">
          <a:blip r:embed="rId2">
            <a:alphaModFix/>
          </a:blip>
          <a:srcRect/>
          <a:stretch/>
        </p:blipFill>
        <p:spPr>
          <a:xfrm>
            <a:off x="0" y="10"/>
            <a:ext cx="9143997" cy="514349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pic>
        <p:nvPicPr>
          <p:cNvPr id="25" name="Google Shape;25;p9" title="bg4.png"/>
          <p:cNvPicPr preferRelativeResize="0"/>
          <p:nvPr/>
        </p:nvPicPr>
        <p:blipFill rotWithShape="1">
          <a:blip r:embed="rId2">
            <a:alphaModFix/>
          </a:blip>
          <a:srcRect/>
          <a:stretch/>
        </p:blipFill>
        <p:spPr>
          <a:xfrm>
            <a:off x="0" y="-5"/>
            <a:ext cx="9144000" cy="514350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pic>
        <p:nvPicPr>
          <p:cNvPr id="27" name="Google Shape;27;p10" title="bg5.png"/>
          <p:cNvPicPr preferRelativeResize="0"/>
          <p:nvPr/>
        </p:nvPicPr>
        <p:blipFill rotWithShape="1">
          <a:blip r:embed="rId2">
            <a:alphaModFix/>
          </a:blip>
          <a:srcRect/>
          <a:stretch/>
        </p:blipFill>
        <p:spPr>
          <a:xfrm>
            <a:off x="0" y="-10"/>
            <a:ext cx="9144003" cy="521493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8"/>
        <p:cNvGrpSpPr/>
        <p:nvPr/>
      </p:nvGrpSpPr>
      <p:grpSpPr>
        <a:xfrm>
          <a:off x="0" y="0"/>
          <a:ext cx="0" cy="0"/>
          <a:chOff x="0" y="0"/>
          <a:chExt cx="0" cy="0"/>
        </a:xfrm>
      </p:grpSpPr>
      <p:sp>
        <p:nvSpPr>
          <p:cNvPr id="29" name="Google Shape;29;p1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0" name="Google Shape;30;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
        <p:cNvGrpSpPr/>
        <p:nvPr/>
      </p:nvGrpSpPr>
      <p:grpSpPr>
        <a:xfrm>
          <a:off x="0" y="0"/>
          <a:ext cx="0" cy="0"/>
          <a:chOff x="0" y="0"/>
          <a:chExt cx="0" cy="0"/>
        </a:xfrm>
      </p:grpSpPr>
      <p:sp>
        <p:nvSpPr>
          <p:cNvPr id="32" name="Google Shape;32;p1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1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4" name="Google Shape;34;p1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5" name="Google Shape;35;p1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6" name="Google Shape;36;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7"/>
        <p:cNvGrpSpPr/>
        <p:nvPr/>
      </p:nvGrpSpPr>
      <p:grpSpPr>
        <a:xfrm>
          <a:off x="0" y="0"/>
          <a:ext cx="0" cy="0"/>
          <a:chOff x="0" y="0"/>
          <a:chExt cx="0" cy="0"/>
        </a:xfrm>
      </p:grpSpPr>
      <p:sp>
        <p:nvSpPr>
          <p:cNvPr id="38" name="Google Shape;38;p1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39" name="Google Shape;3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0"/>
        <p:cNvGrpSpPr/>
        <p:nvPr/>
      </p:nvGrpSpPr>
      <p:grpSpPr>
        <a:xfrm>
          <a:off x="0" y="0"/>
          <a:ext cx="0" cy="0"/>
          <a:chOff x="0" y="0"/>
          <a:chExt cx="0" cy="0"/>
        </a:xfrm>
      </p:grpSpPr>
      <p:sp>
        <p:nvSpPr>
          <p:cNvPr id="41" name="Google Shape;41;p14"/>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2" name="Google Shape;42;p14"/>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3" name="Google Shape;4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i">
  <p:cSld name="ONE_COLUMN_TEXT_1_1">
    <p:spTree>
      <p:nvGrpSpPr>
        <p:cNvPr id="1" name="Shape 46"/>
        <p:cNvGrpSpPr/>
        <p:nvPr/>
      </p:nvGrpSpPr>
      <p:grpSpPr>
        <a:xfrm>
          <a:off x="0" y="0"/>
          <a:ext cx="0" cy="0"/>
          <a:chOff x="0" y="0"/>
          <a:chExt cx="0" cy="0"/>
        </a:xfrm>
      </p:grpSpPr>
      <p:pic>
        <p:nvPicPr>
          <p:cNvPr id="47" name="Google Shape;47;p16" title="bg7.png"/>
          <p:cNvPicPr preferRelativeResize="0"/>
          <p:nvPr/>
        </p:nvPicPr>
        <p:blipFill rotWithShape="1">
          <a:blip r:embed="rId2">
            <a:alphaModFix/>
          </a:blip>
          <a:srcRect/>
          <a:stretch/>
        </p:blipFill>
        <p:spPr>
          <a:xfrm>
            <a:off x="0" y="10"/>
            <a:ext cx="9144003" cy="514349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3"/>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_Title and Content (2/3) Light">
  <p:cSld name="Title and Content (2/3) Light">
    <p:spTree>
      <p:nvGrpSpPr>
        <p:cNvPr id="1" name="Shape 54"/>
        <p:cNvGrpSpPr/>
        <p:nvPr/>
      </p:nvGrpSpPr>
      <p:grpSpPr>
        <a:xfrm>
          <a:off x="0" y="0"/>
          <a:ext cx="0" cy="0"/>
          <a:chOff x="0" y="0"/>
          <a:chExt cx="0" cy="0"/>
        </a:xfrm>
      </p:grpSpPr>
      <p:sp>
        <p:nvSpPr>
          <p:cNvPr id="55" name="Google Shape;55;p19"/>
          <p:cNvSpPr/>
          <p:nvPr/>
        </p:nvSpPr>
        <p:spPr>
          <a:xfrm>
            <a:off x="-4188" y="0"/>
            <a:ext cx="3077700" cy="5143500"/>
          </a:xfrm>
          <a:prstGeom prst="rect">
            <a:avLst/>
          </a:prstGeom>
          <a:solidFill>
            <a:schemeClr val="l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56" name="Google Shape;56;p19"/>
          <p:cNvSpPr txBox="1">
            <a:spLocks noGrp="1"/>
          </p:cNvSpPr>
          <p:nvPr>
            <p:ph type="title"/>
          </p:nvPr>
        </p:nvSpPr>
        <p:spPr>
          <a:xfrm>
            <a:off x="420742" y="273844"/>
            <a:ext cx="22278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7" name="Google Shape;57;p19"/>
          <p:cNvSpPr txBox="1">
            <a:spLocks noGrp="1"/>
          </p:cNvSpPr>
          <p:nvPr>
            <p:ph type="body" idx="1"/>
          </p:nvPr>
        </p:nvSpPr>
        <p:spPr>
          <a:xfrm>
            <a:off x="420742" y="812524"/>
            <a:ext cx="2227800" cy="38202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8" name="Google Shape;58;p19"/>
          <p:cNvSpPr/>
          <p:nvPr/>
        </p:nvSpPr>
        <p:spPr>
          <a:xfrm>
            <a:off x="0" y="0"/>
            <a:ext cx="9128855" cy="44653"/>
          </a:xfrm>
          <a:custGeom>
            <a:avLst/>
            <a:gdLst/>
            <a:ahLst/>
            <a:cxnLst/>
            <a:rect l="l" t="t" r="r" b="b"/>
            <a:pathLst>
              <a:path w="15876269" h="8930640" extrusionOk="0">
                <a:moveTo>
                  <a:pt x="15875897" y="0"/>
                </a:moveTo>
                <a:lnTo>
                  <a:pt x="0" y="0"/>
                </a:lnTo>
                <a:lnTo>
                  <a:pt x="0" y="8930192"/>
                </a:lnTo>
                <a:lnTo>
                  <a:pt x="15875897" y="8930192"/>
                </a:lnTo>
                <a:lnTo>
                  <a:pt x="15875897" y="0"/>
                </a:lnTo>
                <a:close/>
              </a:path>
            </a:pathLst>
          </a:custGeom>
          <a:solidFill>
            <a:srgbClr val="0058E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a:ea typeface="DM Sans"/>
              <a:cs typeface="DM Sans"/>
              <a:sym typeface="DM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_Divider Slide">
  <p:cSld name="Divider Slide">
    <p:spTree>
      <p:nvGrpSpPr>
        <p:cNvPr id="1" name="Shape 59"/>
        <p:cNvGrpSpPr/>
        <p:nvPr/>
      </p:nvGrpSpPr>
      <p:grpSpPr>
        <a:xfrm>
          <a:off x="0" y="0"/>
          <a:ext cx="0" cy="0"/>
          <a:chOff x="0" y="0"/>
          <a:chExt cx="0" cy="0"/>
        </a:xfrm>
      </p:grpSpPr>
      <p:pic>
        <p:nvPicPr>
          <p:cNvPr id="60" name="Google Shape;60;p20"/>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61" name="Google Shape;61;p20"/>
          <p:cNvSpPr txBox="1">
            <a:spLocks noGrp="1"/>
          </p:cNvSpPr>
          <p:nvPr>
            <p:ph type="title"/>
          </p:nvPr>
        </p:nvSpPr>
        <p:spPr>
          <a:xfrm>
            <a:off x="420742" y="1645445"/>
            <a:ext cx="8302500" cy="367200"/>
          </a:xfrm>
          <a:prstGeom prst="rect">
            <a:avLst/>
          </a:prstGeom>
          <a:noFill/>
          <a:ln>
            <a:noFill/>
          </a:ln>
        </p:spPr>
        <p:txBody>
          <a:bodyPr spcFirstLastPara="1" wrap="square" lIns="68575" tIns="34275" rIns="68575" bIns="34275" anchor="ctr" anchorCtr="0">
            <a:noAutofit/>
          </a:bodyPr>
          <a:lstStyle>
            <a:lvl1pPr lvl="0" algn="ctr">
              <a:lnSpc>
                <a:spcPct val="90000"/>
              </a:lnSpc>
              <a:spcBef>
                <a:spcPts val="0"/>
              </a:spcBef>
              <a:spcAft>
                <a:spcPts val="0"/>
              </a:spcAft>
              <a:buClr>
                <a:schemeClr val="lt1"/>
              </a:buClr>
              <a:buSzPts val="3300"/>
              <a:buFont typeface="DM Sans"/>
              <a:buNone/>
              <a:defRPr sz="33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pic>
        <p:nvPicPr>
          <p:cNvPr id="62" name="Google Shape;62;p20" title="Logo.png"/>
          <p:cNvPicPr preferRelativeResize="0"/>
          <p:nvPr/>
        </p:nvPicPr>
        <p:blipFill rotWithShape="1">
          <a:blip r:embed="rId3">
            <a:alphaModFix/>
          </a:blip>
          <a:srcRect/>
          <a:stretch/>
        </p:blipFill>
        <p:spPr>
          <a:xfrm>
            <a:off x="8412313" y="4830850"/>
            <a:ext cx="309686" cy="146674"/>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White background_Plain">
  <p:cSld name="White background_Plain">
    <p:spTree>
      <p:nvGrpSpPr>
        <p:cNvPr id="1" name="Shape 63"/>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A_Title Slide + Name">
  <p:cSld name="Title Slide + Name">
    <p:bg>
      <p:bgPr>
        <a:solidFill>
          <a:schemeClr val="dk2"/>
        </a:solidFill>
        <a:effectLst/>
      </p:bgPr>
    </p:bg>
    <p:spTree>
      <p:nvGrpSpPr>
        <p:cNvPr id="1" name="Shape 64"/>
        <p:cNvGrpSpPr/>
        <p:nvPr/>
      </p:nvGrpSpPr>
      <p:grpSpPr>
        <a:xfrm>
          <a:off x="0" y="0"/>
          <a:ext cx="0" cy="0"/>
          <a:chOff x="0" y="0"/>
          <a:chExt cx="0" cy="0"/>
        </a:xfrm>
      </p:grpSpPr>
      <p:sp>
        <p:nvSpPr>
          <p:cNvPr id="65" name="Google Shape;65;p22"/>
          <p:cNvSpPr txBox="1">
            <a:spLocks noGrp="1"/>
          </p:cNvSpPr>
          <p:nvPr>
            <p:ph type="ctrTitle"/>
          </p:nvPr>
        </p:nvSpPr>
        <p:spPr>
          <a:xfrm>
            <a:off x="716304" y="1261139"/>
            <a:ext cx="4166100" cy="10359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0"/>
              </a:spcBef>
              <a:spcAft>
                <a:spcPts val="0"/>
              </a:spcAft>
              <a:buClr>
                <a:schemeClr val="lt1"/>
              </a:buClr>
              <a:buSzPts val="3300"/>
              <a:buFont typeface="DM Sans"/>
              <a:buNone/>
              <a:defRPr sz="3300">
                <a:solidFill>
                  <a:schemeClr val="lt1"/>
                </a:solidFill>
              </a:defRPr>
            </a:lvl1pPr>
            <a:lvl2pPr lvl="1" algn="l">
              <a:lnSpc>
                <a:spcPct val="100000"/>
              </a:lnSpc>
              <a:spcBef>
                <a:spcPts val="0"/>
              </a:spcBef>
              <a:spcAft>
                <a:spcPts val="0"/>
              </a:spcAft>
              <a:buClr>
                <a:schemeClr val="lt1"/>
              </a:buClr>
              <a:buSzPts val="1100"/>
              <a:buNone/>
              <a:defRPr>
                <a:solidFill>
                  <a:schemeClr val="lt1"/>
                </a:solidFill>
              </a:defRPr>
            </a:lvl2pPr>
            <a:lvl3pPr lvl="2" algn="l">
              <a:lnSpc>
                <a:spcPct val="100000"/>
              </a:lnSpc>
              <a:spcBef>
                <a:spcPts val="0"/>
              </a:spcBef>
              <a:spcAft>
                <a:spcPts val="0"/>
              </a:spcAft>
              <a:buClr>
                <a:schemeClr val="lt1"/>
              </a:buClr>
              <a:buSzPts val="1100"/>
              <a:buNone/>
              <a:defRPr>
                <a:solidFill>
                  <a:schemeClr val="lt1"/>
                </a:solidFill>
              </a:defRPr>
            </a:lvl3pPr>
            <a:lvl4pPr lvl="3" algn="l">
              <a:lnSpc>
                <a:spcPct val="100000"/>
              </a:lnSpc>
              <a:spcBef>
                <a:spcPts val="0"/>
              </a:spcBef>
              <a:spcAft>
                <a:spcPts val="0"/>
              </a:spcAft>
              <a:buClr>
                <a:schemeClr val="lt1"/>
              </a:buClr>
              <a:buSzPts val="1100"/>
              <a:buNone/>
              <a:defRPr>
                <a:solidFill>
                  <a:schemeClr val="lt1"/>
                </a:solidFill>
              </a:defRPr>
            </a:lvl4pPr>
            <a:lvl5pPr lvl="4" algn="l">
              <a:lnSpc>
                <a:spcPct val="100000"/>
              </a:lnSpc>
              <a:spcBef>
                <a:spcPts val="0"/>
              </a:spcBef>
              <a:spcAft>
                <a:spcPts val="0"/>
              </a:spcAft>
              <a:buClr>
                <a:schemeClr val="lt1"/>
              </a:buClr>
              <a:buSzPts val="1100"/>
              <a:buNone/>
              <a:defRPr>
                <a:solidFill>
                  <a:schemeClr val="lt1"/>
                </a:solidFill>
              </a:defRPr>
            </a:lvl5pPr>
            <a:lvl6pPr lvl="5" algn="l">
              <a:lnSpc>
                <a:spcPct val="100000"/>
              </a:lnSpc>
              <a:spcBef>
                <a:spcPts val="0"/>
              </a:spcBef>
              <a:spcAft>
                <a:spcPts val="0"/>
              </a:spcAft>
              <a:buClr>
                <a:schemeClr val="lt1"/>
              </a:buClr>
              <a:buSzPts val="1100"/>
              <a:buNone/>
              <a:defRPr>
                <a:solidFill>
                  <a:schemeClr val="lt1"/>
                </a:solidFill>
              </a:defRPr>
            </a:lvl6pPr>
            <a:lvl7pPr lvl="6" algn="l">
              <a:lnSpc>
                <a:spcPct val="100000"/>
              </a:lnSpc>
              <a:spcBef>
                <a:spcPts val="0"/>
              </a:spcBef>
              <a:spcAft>
                <a:spcPts val="0"/>
              </a:spcAft>
              <a:buClr>
                <a:schemeClr val="lt1"/>
              </a:buClr>
              <a:buSzPts val="1100"/>
              <a:buNone/>
              <a:defRPr>
                <a:solidFill>
                  <a:schemeClr val="lt1"/>
                </a:solidFill>
              </a:defRPr>
            </a:lvl7pPr>
            <a:lvl8pPr lvl="7" algn="l">
              <a:lnSpc>
                <a:spcPct val="100000"/>
              </a:lnSpc>
              <a:spcBef>
                <a:spcPts val="0"/>
              </a:spcBef>
              <a:spcAft>
                <a:spcPts val="0"/>
              </a:spcAft>
              <a:buClr>
                <a:schemeClr val="lt1"/>
              </a:buClr>
              <a:buSzPts val="1100"/>
              <a:buNone/>
              <a:defRPr>
                <a:solidFill>
                  <a:schemeClr val="lt1"/>
                </a:solidFill>
              </a:defRPr>
            </a:lvl8pPr>
            <a:lvl9pPr lvl="8" algn="l">
              <a:lnSpc>
                <a:spcPct val="100000"/>
              </a:lnSpc>
              <a:spcBef>
                <a:spcPts val="0"/>
              </a:spcBef>
              <a:spcAft>
                <a:spcPts val="0"/>
              </a:spcAft>
              <a:buClr>
                <a:schemeClr val="lt1"/>
              </a:buClr>
              <a:buSzPts val="1100"/>
              <a:buNone/>
              <a:defRPr>
                <a:solidFill>
                  <a:schemeClr val="lt1"/>
                </a:solidFill>
              </a:defRPr>
            </a:lvl9pPr>
          </a:lstStyle>
          <a:p>
            <a:endParaRPr/>
          </a:p>
        </p:txBody>
      </p:sp>
      <p:sp>
        <p:nvSpPr>
          <p:cNvPr id="66" name="Google Shape;66;p22"/>
          <p:cNvSpPr txBox="1">
            <a:spLocks noGrp="1"/>
          </p:cNvSpPr>
          <p:nvPr>
            <p:ph type="subTitle" idx="1"/>
          </p:nvPr>
        </p:nvSpPr>
        <p:spPr>
          <a:xfrm>
            <a:off x="716304" y="2322765"/>
            <a:ext cx="4166100" cy="7146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800"/>
              </a:spcBef>
              <a:spcAft>
                <a:spcPts val="0"/>
              </a:spcAft>
              <a:buClr>
                <a:schemeClr val="lt1"/>
              </a:buClr>
              <a:buSzPts val="1500"/>
              <a:buNone/>
              <a:defRPr sz="1500">
                <a:solidFill>
                  <a:schemeClr val="lt1"/>
                </a:solidFill>
              </a:defRPr>
            </a:lvl1pPr>
            <a:lvl2pPr lvl="1" algn="ctr">
              <a:lnSpc>
                <a:spcPct val="90000"/>
              </a:lnSpc>
              <a:spcBef>
                <a:spcPts val="400"/>
              </a:spcBef>
              <a:spcAft>
                <a:spcPts val="0"/>
              </a:spcAft>
              <a:buClr>
                <a:schemeClr val="lt1"/>
              </a:buClr>
              <a:buSzPts val="1500"/>
              <a:buNone/>
              <a:defRPr sz="1500">
                <a:solidFill>
                  <a:schemeClr val="lt1"/>
                </a:solidFill>
              </a:defRPr>
            </a:lvl2pPr>
            <a:lvl3pPr lvl="2" algn="ctr">
              <a:lnSpc>
                <a:spcPct val="90000"/>
              </a:lnSpc>
              <a:spcBef>
                <a:spcPts val="400"/>
              </a:spcBef>
              <a:spcAft>
                <a:spcPts val="0"/>
              </a:spcAft>
              <a:buClr>
                <a:schemeClr val="lt1"/>
              </a:buClr>
              <a:buSzPts val="1400"/>
              <a:buNone/>
              <a:defRPr sz="1400">
                <a:solidFill>
                  <a:schemeClr val="lt1"/>
                </a:solidFill>
              </a:defRPr>
            </a:lvl3pPr>
            <a:lvl4pPr lvl="3" algn="ctr">
              <a:lnSpc>
                <a:spcPct val="90000"/>
              </a:lnSpc>
              <a:spcBef>
                <a:spcPts val="400"/>
              </a:spcBef>
              <a:spcAft>
                <a:spcPts val="0"/>
              </a:spcAft>
              <a:buClr>
                <a:schemeClr val="lt1"/>
              </a:buClr>
              <a:buSzPts val="1200"/>
              <a:buNone/>
              <a:defRPr sz="1200">
                <a:solidFill>
                  <a:schemeClr val="lt1"/>
                </a:solidFill>
              </a:defRPr>
            </a:lvl4pPr>
            <a:lvl5pPr lvl="4" algn="ctr">
              <a:lnSpc>
                <a:spcPct val="90000"/>
              </a:lnSpc>
              <a:spcBef>
                <a:spcPts val="400"/>
              </a:spcBef>
              <a:spcAft>
                <a:spcPts val="0"/>
              </a:spcAft>
              <a:buClr>
                <a:schemeClr val="lt1"/>
              </a:buClr>
              <a:buSzPts val="1200"/>
              <a:buNone/>
              <a:defRPr sz="1200">
                <a:solidFill>
                  <a:schemeClr val="lt1"/>
                </a:solidFill>
              </a:defRPr>
            </a:lvl5pPr>
            <a:lvl6pPr lvl="5" algn="ctr">
              <a:lnSpc>
                <a:spcPct val="90000"/>
              </a:lnSpc>
              <a:spcBef>
                <a:spcPts val="400"/>
              </a:spcBef>
              <a:spcAft>
                <a:spcPts val="0"/>
              </a:spcAft>
              <a:buClr>
                <a:schemeClr val="lt1"/>
              </a:buClr>
              <a:buSzPts val="1200"/>
              <a:buNone/>
              <a:defRPr sz="1200">
                <a:solidFill>
                  <a:schemeClr val="lt1"/>
                </a:solidFill>
              </a:defRPr>
            </a:lvl6pPr>
            <a:lvl7pPr lvl="6" algn="ctr">
              <a:lnSpc>
                <a:spcPct val="90000"/>
              </a:lnSpc>
              <a:spcBef>
                <a:spcPts val="400"/>
              </a:spcBef>
              <a:spcAft>
                <a:spcPts val="0"/>
              </a:spcAft>
              <a:buClr>
                <a:schemeClr val="lt1"/>
              </a:buClr>
              <a:buSzPts val="1200"/>
              <a:buNone/>
              <a:defRPr sz="1200">
                <a:solidFill>
                  <a:schemeClr val="lt1"/>
                </a:solidFill>
              </a:defRPr>
            </a:lvl7pPr>
            <a:lvl8pPr lvl="7" algn="ctr">
              <a:lnSpc>
                <a:spcPct val="90000"/>
              </a:lnSpc>
              <a:spcBef>
                <a:spcPts val="400"/>
              </a:spcBef>
              <a:spcAft>
                <a:spcPts val="0"/>
              </a:spcAft>
              <a:buClr>
                <a:schemeClr val="lt1"/>
              </a:buClr>
              <a:buSzPts val="1200"/>
              <a:buNone/>
              <a:defRPr sz="1200">
                <a:solidFill>
                  <a:schemeClr val="lt1"/>
                </a:solidFill>
              </a:defRPr>
            </a:lvl8pPr>
            <a:lvl9pPr lvl="8" algn="ctr">
              <a:lnSpc>
                <a:spcPct val="90000"/>
              </a:lnSpc>
              <a:spcBef>
                <a:spcPts val="400"/>
              </a:spcBef>
              <a:spcAft>
                <a:spcPts val="0"/>
              </a:spcAft>
              <a:buClr>
                <a:schemeClr val="lt1"/>
              </a:buClr>
              <a:buSzPts val="1200"/>
              <a:buNone/>
              <a:defRPr sz="1200">
                <a:solidFill>
                  <a:schemeClr val="lt1"/>
                </a:solidFill>
              </a:defRPr>
            </a:lvl9pPr>
          </a:lstStyle>
          <a:p>
            <a:endParaRPr/>
          </a:p>
        </p:txBody>
      </p:sp>
      <p:pic>
        <p:nvPicPr>
          <p:cNvPr id="67" name="Google Shape;67;p22"/>
          <p:cNvPicPr preferRelativeResize="0"/>
          <p:nvPr/>
        </p:nvPicPr>
        <p:blipFill rotWithShape="1">
          <a:blip r:embed="rId2">
            <a:alphaModFix/>
          </a:blip>
          <a:srcRect/>
          <a:stretch/>
        </p:blipFill>
        <p:spPr>
          <a:xfrm>
            <a:off x="716304" y="564606"/>
            <a:ext cx="639881" cy="306710"/>
          </a:xfrm>
          <a:prstGeom prst="rect">
            <a:avLst/>
          </a:prstGeom>
          <a:noFill/>
          <a:ln>
            <a:noFill/>
          </a:ln>
        </p:spPr>
      </p:pic>
      <p:pic>
        <p:nvPicPr>
          <p:cNvPr id="68" name="Google Shape;68;p22"/>
          <p:cNvPicPr preferRelativeResize="0"/>
          <p:nvPr/>
        </p:nvPicPr>
        <p:blipFill rotWithShape="1">
          <a:blip r:embed="rId3">
            <a:alphaModFix/>
          </a:blip>
          <a:srcRect/>
          <a:stretch/>
        </p:blipFill>
        <p:spPr>
          <a:xfrm>
            <a:off x="5693291" y="1210831"/>
            <a:ext cx="2822062" cy="2877556"/>
          </a:xfrm>
          <a:prstGeom prst="rect">
            <a:avLst/>
          </a:prstGeom>
          <a:noFill/>
          <a:ln>
            <a:noFill/>
          </a:ln>
        </p:spPr>
      </p:pic>
      <p:sp>
        <p:nvSpPr>
          <p:cNvPr id="69" name="Google Shape;69;p22"/>
          <p:cNvSpPr>
            <a:spLocks noGrp="1"/>
          </p:cNvSpPr>
          <p:nvPr>
            <p:ph type="pic" idx="2"/>
          </p:nvPr>
        </p:nvSpPr>
        <p:spPr>
          <a:xfrm>
            <a:off x="716304" y="3312109"/>
            <a:ext cx="714600" cy="714600"/>
          </a:xfrm>
          <a:prstGeom prst="ellipse">
            <a:avLst/>
          </a:prstGeom>
          <a:noFill/>
          <a:ln w="12700" cap="flat" cmpd="sng">
            <a:solidFill>
              <a:schemeClr val="lt1"/>
            </a:solidFill>
            <a:prstDash val="solid"/>
            <a:round/>
            <a:headEnd type="none" w="sm" len="sm"/>
            <a:tailEnd type="none" w="sm" len="sm"/>
          </a:ln>
        </p:spPr>
      </p:sp>
      <p:sp>
        <p:nvSpPr>
          <p:cNvPr id="70" name="Google Shape;70;p22"/>
          <p:cNvSpPr txBox="1">
            <a:spLocks noGrp="1"/>
          </p:cNvSpPr>
          <p:nvPr>
            <p:ph type="body" idx="3"/>
          </p:nvPr>
        </p:nvSpPr>
        <p:spPr>
          <a:xfrm>
            <a:off x="1531868" y="3442481"/>
            <a:ext cx="3350400" cy="273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1"/>
              </a:buClr>
              <a:buSzPts val="1400"/>
              <a:buNone/>
              <a:defRPr sz="1400">
                <a:solidFill>
                  <a:schemeClr val="lt1"/>
                </a:solidFill>
              </a:defRPr>
            </a:lvl1pPr>
            <a:lvl2pPr marL="914400" lvl="1" indent="-228600" algn="l">
              <a:lnSpc>
                <a:spcPct val="90000"/>
              </a:lnSpc>
              <a:spcBef>
                <a:spcPts val="400"/>
              </a:spcBef>
              <a:spcAft>
                <a:spcPts val="0"/>
              </a:spcAft>
              <a:buClr>
                <a:schemeClr val="lt1"/>
              </a:buClr>
              <a:buSzPts val="1400"/>
              <a:buNone/>
              <a:defRPr>
                <a:solidFill>
                  <a:schemeClr val="lt1"/>
                </a:solidFill>
              </a:defRPr>
            </a:lvl2pPr>
            <a:lvl3pPr marL="1371600" lvl="2" indent="-317500" algn="l">
              <a:lnSpc>
                <a:spcPct val="90000"/>
              </a:lnSpc>
              <a:spcBef>
                <a:spcPts val="400"/>
              </a:spcBef>
              <a:spcAft>
                <a:spcPts val="0"/>
              </a:spcAft>
              <a:buClr>
                <a:schemeClr val="lt1"/>
              </a:buClr>
              <a:buSzPts val="1400"/>
              <a:buChar char="•"/>
              <a:defRPr>
                <a:solidFill>
                  <a:schemeClr val="lt1"/>
                </a:solidFill>
              </a:defRPr>
            </a:lvl3pPr>
            <a:lvl4pPr marL="1828800" lvl="3" indent="-317500" algn="l">
              <a:lnSpc>
                <a:spcPct val="90000"/>
              </a:lnSpc>
              <a:spcBef>
                <a:spcPts val="400"/>
              </a:spcBef>
              <a:spcAft>
                <a:spcPts val="0"/>
              </a:spcAft>
              <a:buClr>
                <a:schemeClr val="lt1"/>
              </a:buClr>
              <a:buSzPts val="1400"/>
              <a:buChar char="•"/>
              <a:defRPr>
                <a:solidFill>
                  <a:schemeClr val="lt1"/>
                </a:solidFill>
              </a:defRPr>
            </a:lvl4pPr>
            <a:lvl5pPr marL="2286000" lvl="4" indent="-317500" algn="l">
              <a:lnSpc>
                <a:spcPct val="90000"/>
              </a:lnSpc>
              <a:spcBef>
                <a:spcPts val="400"/>
              </a:spcBef>
              <a:spcAft>
                <a:spcPts val="0"/>
              </a:spcAft>
              <a:buClr>
                <a:schemeClr val="lt1"/>
              </a:buClr>
              <a:buSzPts val="1400"/>
              <a:buChar char="•"/>
              <a:defRPr>
                <a:solidFill>
                  <a:schemeClr val="lt1"/>
                </a:solidFill>
              </a:defRPr>
            </a:lvl5pPr>
            <a:lvl6pPr marL="2743200" lvl="5" indent="-317500" algn="l">
              <a:lnSpc>
                <a:spcPct val="90000"/>
              </a:lnSpc>
              <a:spcBef>
                <a:spcPts val="400"/>
              </a:spcBef>
              <a:spcAft>
                <a:spcPts val="0"/>
              </a:spcAft>
              <a:buClr>
                <a:schemeClr val="lt1"/>
              </a:buClr>
              <a:buSzPts val="1400"/>
              <a:buChar char="•"/>
              <a:defRPr>
                <a:solidFill>
                  <a:schemeClr val="lt1"/>
                </a:solidFill>
              </a:defRPr>
            </a:lvl6pPr>
            <a:lvl7pPr marL="3200400" lvl="6" indent="-317500" algn="l">
              <a:lnSpc>
                <a:spcPct val="90000"/>
              </a:lnSpc>
              <a:spcBef>
                <a:spcPts val="400"/>
              </a:spcBef>
              <a:spcAft>
                <a:spcPts val="0"/>
              </a:spcAft>
              <a:buClr>
                <a:schemeClr val="lt1"/>
              </a:buClr>
              <a:buSzPts val="1400"/>
              <a:buChar char="•"/>
              <a:defRPr>
                <a:solidFill>
                  <a:schemeClr val="lt1"/>
                </a:solidFill>
              </a:defRPr>
            </a:lvl7pPr>
            <a:lvl8pPr marL="3657600" lvl="7" indent="-317500" algn="l">
              <a:lnSpc>
                <a:spcPct val="90000"/>
              </a:lnSpc>
              <a:spcBef>
                <a:spcPts val="400"/>
              </a:spcBef>
              <a:spcAft>
                <a:spcPts val="0"/>
              </a:spcAft>
              <a:buClr>
                <a:schemeClr val="lt1"/>
              </a:buClr>
              <a:buSzPts val="1400"/>
              <a:buChar char="•"/>
              <a:defRPr>
                <a:solidFill>
                  <a:schemeClr val="lt1"/>
                </a:solidFill>
              </a:defRPr>
            </a:lvl8pPr>
            <a:lvl9pPr marL="4114800" lvl="8" indent="-317500" algn="l">
              <a:lnSpc>
                <a:spcPct val="90000"/>
              </a:lnSpc>
              <a:spcBef>
                <a:spcPts val="400"/>
              </a:spcBef>
              <a:spcAft>
                <a:spcPts val="0"/>
              </a:spcAft>
              <a:buClr>
                <a:schemeClr val="lt1"/>
              </a:buClr>
              <a:buSzPts val="1400"/>
              <a:buChar char="•"/>
              <a:defRPr>
                <a:solidFill>
                  <a:schemeClr val="lt1"/>
                </a:solidFill>
              </a:defRPr>
            </a:lvl9pPr>
          </a:lstStyle>
          <a:p>
            <a:endParaRPr/>
          </a:p>
        </p:txBody>
      </p:sp>
      <p:sp>
        <p:nvSpPr>
          <p:cNvPr id="71" name="Google Shape;71;p22"/>
          <p:cNvSpPr txBox="1">
            <a:spLocks noGrp="1"/>
          </p:cNvSpPr>
          <p:nvPr>
            <p:ph type="body" idx="4"/>
          </p:nvPr>
        </p:nvSpPr>
        <p:spPr>
          <a:xfrm>
            <a:off x="1531868" y="3657984"/>
            <a:ext cx="3350400" cy="273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1"/>
              </a:buClr>
              <a:buSzPts val="1100"/>
              <a:buNone/>
              <a:defRPr sz="1100">
                <a:solidFill>
                  <a:schemeClr val="lt1"/>
                </a:solidFill>
              </a:defRPr>
            </a:lvl1pPr>
            <a:lvl2pPr marL="914400" lvl="1" indent="-228600" algn="l">
              <a:lnSpc>
                <a:spcPct val="90000"/>
              </a:lnSpc>
              <a:spcBef>
                <a:spcPts val="400"/>
              </a:spcBef>
              <a:spcAft>
                <a:spcPts val="0"/>
              </a:spcAft>
              <a:buClr>
                <a:schemeClr val="lt1"/>
              </a:buClr>
              <a:buSzPts val="1400"/>
              <a:buNone/>
              <a:defRPr>
                <a:solidFill>
                  <a:schemeClr val="lt1"/>
                </a:solidFill>
              </a:defRPr>
            </a:lvl2pPr>
            <a:lvl3pPr marL="1371600" lvl="2" indent="-317500" algn="l">
              <a:lnSpc>
                <a:spcPct val="90000"/>
              </a:lnSpc>
              <a:spcBef>
                <a:spcPts val="400"/>
              </a:spcBef>
              <a:spcAft>
                <a:spcPts val="0"/>
              </a:spcAft>
              <a:buClr>
                <a:schemeClr val="lt1"/>
              </a:buClr>
              <a:buSzPts val="1400"/>
              <a:buChar char="•"/>
              <a:defRPr>
                <a:solidFill>
                  <a:schemeClr val="lt1"/>
                </a:solidFill>
              </a:defRPr>
            </a:lvl3pPr>
            <a:lvl4pPr marL="1828800" lvl="3" indent="-317500" algn="l">
              <a:lnSpc>
                <a:spcPct val="90000"/>
              </a:lnSpc>
              <a:spcBef>
                <a:spcPts val="400"/>
              </a:spcBef>
              <a:spcAft>
                <a:spcPts val="0"/>
              </a:spcAft>
              <a:buClr>
                <a:schemeClr val="lt1"/>
              </a:buClr>
              <a:buSzPts val="1400"/>
              <a:buChar char="•"/>
              <a:defRPr>
                <a:solidFill>
                  <a:schemeClr val="lt1"/>
                </a:solidFill>
              </a:defRPr>
            </a:lvl4pPr>
            <a:lvl5pPr marL="2286000" lvl="4" indent="-317500" algn="l">
              <a:lnSpc>
                <a:spcPct val="90000"/>
              </a:lnSpc>
              <a:spcBef>
                <a:spcPts val="400"/>
              </a:spcBef>
              <a:spcAft>
                <a:spcPts val="0"/>
              </a:spcAft>
              <a:buClr>
                <a:schemeClr val="lt1"/>
              </a:buClr>
              <a:buSzPts val="1400"/>
              <a:buChar char="•"/>
              <a:defRPr>
                <a:solidFill>
                  <a:schemeClr val="lt1"/>
                </a:solidFill>
              </a:defRPr>
            </a:lvl5pPr>
            <a:lvl6pPr marL="2743200" lvl="5" indent="-317500" algn="l">
              <a:lnSpc>
                <a:spcPct val="90000"/>
              </a:lnSpc>
              <a:spcBef>
                <a:spcPts val="400"/>
              </a:spcBef>
              <a:spcAft>
                <a:spcPts val="0"/>
              </a:spcAft>
              <a:buClr>
                <a:schemeClr val="lt1"/>
              </a:buClr>
              <a:buSzPts val="1400"/>
              <a:buChar char="•"/>
              <a:defRPr>
                <a:solidFill>
                  <a:schemeClr val="lt1"/>
                </a:solidFill>
              </a:defRPr>
            </a:lvl6pPr>
            <a:lvl7pPr marL="3200400" lvl="6" indent="-317500" algn="l">
              <a:lnSpc>
                <a:spcPct val="90000"/>
              </a:lnSpc>
              <a:spcBef>
                <a:spcPts val="400"/>
              </a:spcBef>
              <a:spcAft>
                <a:spcPts val="0"/>
              </a:spcAft>
              <a:buClr>
                <a:schemeClr val="lt1"/>
              </a:buClr>
              <a:buSzPts val="1400"/>
              <a:buChar char="•"/>
              <a:defRPr>
                <a:solidFill>
                  <a:schemeClr val="lt1"/>
                </a:solidFill>
              </a:defRPr>
            </a:lvl7pPr>
            <a:lvl8pPr marL="3657600" lvl="7" indent="-317500" algn="l">
              <a:lnSpc>
                <a:spcPct val="90000"/>
              </a:lnSpc>
              <a:spcBef>
                <a:spcPts val="400"/>
              </a:spcBef>
              <a:spcAft>
                <a:spcPts val="0"/>
              </a:spcAft>
              <a:buClr>
                <a:schemeClr val="lt1"/>
              </a:buClr>
              <a:buSzPts val="1400"/>
              <a:buChar char="•"/>
              <a:defRPr>
                <a:solidFill>
                  <a:schemeClr val="lt1"/>
                </a:solidFill>
              </a:defRPr>
            </a:lvl8pPr>
            <a:lvl9pPr marL="4114800" lvl="8" indent="-317500" algn="l">
              <a:lnSpc>
                <a:spcPct val="90000"/>
              </a:lnSpc>
              <a:spcBef>
                <a:spcPts val="400"/>
              </a:spcBef>
              <a:spcAft>
                <a:spcPts val="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A_Title Slide 1">
  <p:cSld name="Title Slide 1">
    <p:bg>
      <p:bgPr>
        <a:solidFill>
          <a:schemeClr val="dk2"/>
        </a:solidFill>
        <a:effectLst/>
      </p:bgPr>
    </p:bg>
    <p:spTree>
      <p:nvGrpSpPr>
        <p:cNvPr id="1" name="Shape 72"/>
        <p:cNvGrpSpPr/>
        <p:nvPr/>
      </p:nvGrpSpPr>
      <p:grpSpPr>
        <a:xfrm>
          <a:off x="0" y="0"/>
          <a:ext cx="0" cy="0"/>
          <a:chOff x="0" y="0"/>
          <a:chExt cx="0" cy="0"/>
        </a:xfrm>
      </p:grpSpPr>
      <p:sp>
        <p:nvSpPr>
          <p:cNvPr id="73" name="Google Shape;73;p23"/>
          <p:cNvSpPr txBox="1">
            <a:spLocks noGrp="1"/>
          </p:cNvSpPr>
          <p:nvPr>
            <p:ph type="ctrTitle"/>
          </p:nvPr>
        </p:nvSpPr>
        <p:spPr>
          <a:xfrm>
            <a:off x="716304" y="1721858"/>
            <a:ext cx="4166100" cy="10359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0"/>
              </a:spcBef>
              <a:spcAft>
                <a:spcPts val="0"/>
              </a:spcAft>
              <a:buClr>
                <a:schemeClr val="lt1"/>
              </a:buClr>
              <a:buSzPts val="3300"/>
              <a:buFont typeface="DM Sans"/>
              <a:buNone/>
              <a:defRPr sz="3300">
                <a:solidFill>
                  <a:schemeClr val="lt1"/>
                </a:solidFill>
              </a:defRPr>
            </a:lvl1pPr>
            <a:lvl2pPr lvl="1" algn="l">
              <a:lnSpc>
                <a:spcPct val="100000"/>
              </a:lnSpc>
              <a:spcBef>
                <a:spcPts val="0"/>
              </a:spcBef>
              <a:spcAft>
                <a:spcPts val="0"/>
              </a:spcAft>
              <a:buClr>
                <a:schemeClr val="lt1"/>
              </a:buClr>
              <a:buSzPts val="1100"/>
              <a:buNone/>
              <a:defRPr>
                <a:solidFill>
                  <a:schemeClr val="lt1"/>
                </a:solidFill>
              </a:defRPr>
            </a:lvl2pPr>
            <a:lvl3pPr lvl="2" algn="l">
              <a:lnSpc>
                <a:spcPct val="100000"/>
              </a:lnSpc>
              <a:spcBef>
                <a:spcPts val="0"/>
              </a:spcBef>
              <a:spcAft>
                <a:spcPts val="0"/>
              </a:spcAft>
              <a:buClr>
                <a:schemeClr val="lt1"/>
              </a:buClr>
              <a:buSzPts val="1100"/>
              <a:buNone/>
              <a:defRPr>
                <a:solidFill>
                  <a:schemeClr val="lt1"/>
                </a:solidFill>
              </a:defRPr>
            </a:lvl3pPr>
            <a:lvl4pPr lvl="3" algn="l">
              <a:lnSpc>
                <a:spcPct val="100000"/>
              </a:lnSpc>
              <a:spcBef>
                <a:spcPts val="0"/>
              </a:spcBef>
              <a:spcAft>
                <a:spcPts val="0"/>
              </a:spcAft>
              <a:buClr>
                <a:schemeClr val="lt1"/>
              </a:buClr>
              <a:buSzPts val="1100"/>
              <a:buNone/>
              <a:defRPr>
                <a:solidFill>
                  <a:schemeClr val="lt1"/>
                </a:solidFill>
              </a:defRPr>
            </a:lvl4pPr>
            <a:lvl5pPr lvl="4" algn="l">
              <a:lnSpc>
                <a:spcPct val="100000"/>
              </a:lnSpc>
              <a:spcBef>
                <a:spcPts val="0"/>
              </a:spcBef>
              <a:spcAft>
                <a:spcPts val="0"/>
              </a:spcAft>
              <a:buClr>
                <a:schemeClr val="lt1"/>
              </a:buClr>
              <a:buSzPts val="1100"/>
              <a:buNone/>
              <a:defRPr>
                <a:solidFill>
                  <a:schemeClr val="lt1"/>
                </a:solidFill>
              </a:defRPr>
            </a:lvl5pPr>
            <a:lvl6pPr lvl="5" algn="l">
              <a:lnSpc>
                <a:spcPct val="100000"/>
              </a:lnSpc>
              <a:spcBef>
                <a:spcPts val="0"/>
              </a:spcBef>
              <a:spcAft>
                <a:spcPts val="0"/>
              </a:spcAft>
              <a:buClr>
                <a:schemeClr val="lt1"/>
              </a:buClr>
              <a:buSzPts val="1100"/>
              <a:buNone/>
              <a:defRPr>
                <a:solidFill>
                  <a:schemeClr val="lt1"/>
                </a:solidFill>
              </a:defRPr>
            </a:lvl6pPr>
            <a:lvl7pPr lvl="6" algn="l">
              <a:lnSpc>
                <a:spcPct val="100000"/>
              </a:lnSpc>
              <a:spcBef>
                <a:spcPts val="0"/>
              </a:spcBef>
              <a:spcAft>
                <a:spcPts val="0"/>
              </a:spcAft>
              <a:buClr>
                <a:schemeClr val="lt1"/>
              </a:buClr>
              <a:buSzPts val="1100"/>
              <a:buNone/>
              <a:defRPr>
                <a:solidFill>
                  <a:schemeClr val="lt1"/>
                </a:solidFill>
              </a:defRPr>
            </a:lvl7pPr>
            <a:lvl8pPr lvl="7" algn="l">
              <a:lnSpc>
                <a:spcPct val="100000"/>
              </a:lnSpc>
              <a:spcBef>
                <a:spcPts val="0"/>
              </a:spcBef>
              <a:spcAft>
                <a:spcPts val="0"/>
              </a:spcAft>
              <a:buClr>
                <a:schemeClr val="lt1"/>
              </a:buClr>
              <a:buSzPts val="1100"/>
              <a:buNone/>
              <a:defRPr>
                <a:solidFill>
                  <a:schemeClr val="lt1"/>
                </a:solidFill>
              </a:defRPr>
            </a:lvl8pPr>
            <a:lvl9pPr lvl="8" algn="l">
              <a:lnSpc>
                <a:spcPct val="100000"/>
              </a:lnSpc>
              <a:spcBef>
                <a:spcPts val="0"/>
              </a:spcBef>
              <a:spcAft>
                <a:spcPts val="0"/>
              </a:spcAft>
              <a:buClr>
                <a:schemeClr val="lt1"/>
              </a:buClr>
              <a:buSzPts val="1100"/>
              <a:buNone/>
              <a:defRPr>
                <a:solidFill>
                  <a:schemeClr val="lt1"/>
                </a:solidFill>
              </a:defRPr>
            </a:lvl9pPr>
          </a:lstStyle>
          <a:p>
            <a:endParaRPr/>
          </a:p>
        </p:txBody>
      </p:sp>
      <p:sp>
        <p:nvSpPr>
          <p:cNvPr id="74" name="Google Shape;74;p23"/>
          <p:cNvSpPr txBox="1">
            <a:spLocks noGrp="1"/>
          </p:cNvSpPr>
          <p:nvPr>
            <p:ph type="subTitle" idx="1"/>
          </p:nvPr>
        </p:nvSpPr>
        <p:spPr>
          <a:xfrm>
            <a:off x="716304" y="2783485"/>
            <a:ext cx="4166100" cy="7146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800"/>
              </a:spcBef>
              <a:spcAft>
                <a:spcPts val="0"/>
              </a:spcAft>
              <a:buClr>
                <a:schemeClr val="lt1"/>
              </a:buClr>
              <a:buSzPts val="1500"/>
              <a:buNone/>
              <a:defRPr sz="1500">
                <a:solidFill>
                  <a:schemeClr val="lt1"/>
                </a:solidFill>
              </a:defRPr>
            </a:lvl1pPr>
            <a:lvl2pPr lvl="1" algn="ctr">
              <a:lnSpc>
                <a:spcPct val="90000"/>
              </a:lnSpc>
              <a:spcBef>
                <a:spcPts val="400"/>
              </a:spcBef>
              <a:spcAft>
                <a:spcPts val="0"/>
              </a:spcAft>
              <a:buClr>
                <a:schemeClr val="lt1"/>
              </a:buClr>
              <a:buSzPts val="1500"/>
              <a:buNone/>
              <a:defRPr sz="1500">
                <a:solidFill>
                  <a:schemeClr val="lt1"/>
                </a:solidFill>
              </a:defRPr>
            </a:lvl2pPr>
            <a:lvl3pPr lvl="2" algn="ctr">
              <a:lnSpc>
                <a:spcPct val="90000"/>
              </a:lnSpc>
              <a:spcBef>
                <a:spcPts val="400"/>
              </a:spcBef>
              <a:spcAft>
                <a:spcPts val="0"/>
              </a:spcAft>
              <a:buClr>
                <a:schemeClr val="lt1"/>
              </a:buClr>
              <a:buSzPts val="1400"/>
              <a:buNone/>
              <a:defRPr sz="1400">
                <a:solidFill>
                  <a:schemeClr val="lt1"/>
                </a:solidFill>
              </a:defRPr>
            </a:lvl3pPr>
            <a:lvl4pPr lvl="3" algn="ctr">
              <a:lnSpc>
                <a:spcPct val="90000"/>
              </a:lnSpc>
              <a:spcBef>
                <a:spcPts val="400"/>
              </a:spcBef>
              <a:spcAft>
                <a:spcPts val="0"/>
              </a:spcAft>
              <a:buClr>
                <a:schemeClr val="lt1"/>
              </a:buClr>
              <a:buSzPts val="1200"/>
              <a:buNone/>
              <a:defRPr sz="1200">
                <a:solidFill>
                  <a:schemeClr val="lt1"/>
                </a:solidFill>
              </a:defRPr>
            </a:lvl4pPr>
            <a:lvl5pPr lvl="4" algn="ctr">
              <a:lnSpc>
                <a:spcPct val="90000"/>
              </a:lnSpc>
              <a:spcBef>
                <a:spcPts val="400"/>
              </a:spcBef>
              <a:spcAft>
                <a:spcPts val="0"/>
              </a:spcAft>
              <a:buClr>
                <a:schemeClr val="lt1"/>
              </a:buClr>
              <a:buSzPts val="1200"/>
              <a:buNone/>
              <a:defRPr sz="1200">
                <a:solidFill>
                  <a:schemeClr val="lt1"/>
                </a:solidFill>
              </a:defRPr>
            </a:lvl5pPr>
            <a:lvl6pPr lvl="5" algn="ctr">
              <a:lnSpc>
                <a:spcPct val="90000"/>
              </a:lnSpc>
              <a:spcBef>
                <a:spcPts val="400"/>
              </a:spcBef>
              <a:spcAft>
                <a:spcPts val="0"/>
              </a:spcAft>
              <a:buClr>
                <a:schemeClr val="lt1"/>
              </a:buClr>
              <a:buSzPts val="1200"/>
              <a:buNone/>
              <a:defRPr sz="1200">
                <a:solidFill>
                  <a:schemeClr val="lt1"/>
                </a:solidFill>
              </a:defRPr>
            </a:lvl6pPr>
            <a:lvl7pPr lvl="6" algn="ctr">
              <a:lnSpc>
                <a:spcPct val="90000"/>
              </a:lnSpc>
              <a:spcBef>
                <a:spcPts val="400"/>
              </a:spcBef>
              <a:spcAft>
                <a:spcPts val="0"/>
              </a:spcAft>
              <a:buClr>
                <a:schemeClr val="lt1"/>
              </a:buClr>
              <a:buSzPts val="1200"/>
              <a:buNone/>
              <a:defRPr sz="1200">
                <a:solidFill>
                  <a:schemeClr val="lt1"/>
                </a:solidFill>
              </a:defRPr>
            </a:lvl7pPr>
            <a:lvl8pPr lvl="7" algn="ctr">
              <a:lnSpc>
                <a:spcPct val="90000"/>
              </a:lnSpc>
              <a:spcBef>
                <a:spcPts val="400"/>
              </a:spcBef>
              <a:spcAft>
                <a:spcPts val="0"/>
              </a:spcAft>
              <a:buClr>
                <a:schemeClr val="lt1"/>
              </a:buClr>
              <a:buSzPts val="1200"/>
              <a:buNone/>
              <a:defRPr sz="1200">
                <a:solidFill>
                  <a:schemeClr val="lt1"/>
                </a:solidFill>
              </a:defRPr>
            </a:lvl8pPr>
            <a:lvl9pPr lvl="8" algn="ctr">
              <a:lnSpc>
                <a:spcPct val="90000"/>
              </a:lnSpc>
              <a:spcBef>
                <a:spcPts val="400"/>
              </a:spcBef>
              <a:spcAft>
                <a:spcPts val="0"/>
              </a:spcAft>
              <a:buClr>
                <a:schemeClr val="lt1"/>
              </a:buClr>
              <a:buSzPts val="1200"/>
              <a:buNone/>
              <a:defRPr sz="1200">
                <a:solidFill>
                  <a:schemeClr val="lt1"/>
                </a:solidFill>
              </a:defRPr>
            </a:lvl9pPr>
          </a:lstStyle>
          <a:p>
            <a:endParaRPr/>
          </a:p>
        </p:txBody>
      </p:sp>
      <p:pic>
        <p:nvPicPr>
          <p:cNvPr id="75" name="Google Shape;75;p23"/>
          <p:cNvPicPr preferRelativeResize="0"/>
          <p:nvPr/>
        </p:nvPicPr>
        <p:blipFill rotWithShape="1">
          <a:blip r:embed="rId2">
            <a:alphaModFix/>
          </a:blip>
          <a:srcRect/>
          <a:stretch/>
        </p:blipFill>
        <p:spPr>
          <a:xfrm>
            <a:off x="716304" y="564606"/>
            <a:ext cx="639881" cy="306710"/>
          </a:xfrm>
          <a:prstGeom prst="rect">
            <a:avLst/>
          </a:prstGeom>
          <a:noFill/>
          <a:ln>
            <a:noFill/>
          </a:ln>
        </p:spPr>
      </p:pic>
      <p:pic>
        <p:nvPicPr>
          <p:cNvPr id="76" name="Google Shape;76;p23"/>
          <p:cNvPicPr preferRelativeResize="0"/>
          <p:nvPr/>
        </p:nvPicPr>
        <p:blipFill rotWithShape="1">
          <a:blip r:embed="rId3">
            <a:alphaModFix/>
          </a:blip>
          <a:srcRect/>
          <a:stretch/>
        </p:blipFill>
        <p:spPr>
          <a:xfrm>
            <a:off x="5693291" y="1210831"/>
            <a:ext cx="2822062" cy="2877556"/>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A_Title Slide 2">
  <p:cSld name="Title Slide 2">
    <p:spTree>
      <p:nvGrpSpPr>
        <p:cNvPr id="1" name="Shape 77"/>
        <p:cNvGrpSpPr/>
        <p:nvPr/>
      </p:nvGrpSpPr>
      <p:grpSpPr>
        <a:xfrm>
          <a:off x="0" y="0"/>
          <a:ext cx="0" cy="0"/>
          <a:chOff x="0" y="0"/>
          <a:chExt cx="0" cy="0"/>
        </a:xfrm>
      </p:grpSpPr>
      <p:pic>
        <p:nvPicPr>
          <p:cNvPr id="78" name="Google Shape;78;p24"/>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79" name="Google Shape;79;p24"/>
          <p:cNvSpPr txBox="1">
            <a:spLocks noGrp="1"/>
          </p:cNvSpPr>
          <p:nvPr>
            <p:ph type="ctrTitle"/>
          </p:nvPr>
        </p:nvSpPr>
        <p:spPr>
          <a:xfrm>
            <a:off x="716304" y="1721858"/>
            <a:ext cx="4166100" cy="10359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0"/>
              </a:spcBef>
              <a:spcAft>
                <a:spcPts val="0"/>
              </a:spcAft>
              <a:buClr>
                <a:schemeClr val="lt1"/>
              </a:buClr>
              <a:buSzPts val="3300"/>
              <a:buFont typeface="DM Sans"/>
              <a:buNone/>
              <a:defRPr sz="33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0" name="Google Shape;80;p24"/>
          <p:cNvSpPr txBox="1">
            <a:spLocks noGrp="1"/>
          </p:cNvSpPr>
          <p:nvPr>
            <p:ph type="subTitle" idx="1"/>
          </p:nvPr>
        </p:nvSpPr>
        <p:spPr>
          <a:xfrm>
            <a:off x="716304" y="2783485"/>
            <a:ext cx="4166100" cy="7146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800"/>
              </a:spcBef>
              <a:spcAft>
                <a:spcPts val="0"/>
              </a:spcAft>
              <a:buClr>
                <a:schemeClr val="lt1"/>
              </a:buClr>
              <a:buSzPts val="1500"/>
              <a:buNone/>
              <a:defRPr sz="1500">
                <a:solidFill>
                  <a:schemeClr val="lt1"/>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pic>
        <p:nvPicPr>
          <p:cNvPr id="81" name="Google Shape;81;p24"/>
          <p:cNvPicPr preferRelativeResize="0"/>
          <p:nvPr/>
        </p:nvPicPr>
        <p:blipFill rotWithShape="1">
          <a:blip r:embed="rId3">
            <a:alphaModFix/>
          </a:blip>
          <a:srcRect/>
          <a:stretch/>
        </p:blipFill>
        <p:spPr>
          <a:xfrm>
            <a:off x="716304" y="564606"/>
            <a:ext cx="639881" cy="30671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A_Title Slide 3">
  <p:cSld name="1_Title Slide 2">
    <p:spTree>
      <p:nvGrpSpPr>
        <p:cNvPr id="1" name="Shape 82"/>
        <p:cNvGrpSpPr/>
        <p:nvPr/>
      </p:nvGrpSpPr>
      <p:grpSpPr>
        <a:xfrm>
          <a:off x="0" y="0"/>
          <a:ext cx="0" cy="0"/>
          <a:chOff x="0" y="0"/>
          <a:chExt cx="0" cy="0"/>
        </a:xfrm>
      </p:grpSpPr>
      <p:pic>
        <p:nvPicPr>
          <p:cNvPr id="83" name="Google Shape;83;p25"/>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84" name="Google Shape;84;p25"/>
          <p:cNvSpPr txBox="1">
            <a:spLocks noGrp="1"/>
          </p:cNvSpPr>
          <p:nvPr>
            <p:ph type="ctrTitle"/>
          </p:nvPr>
        </p:nvSpPr>
        <p:spPr>
          <a:xfrm>
            <a:off x="716304" y="1721858"/>
            <a:ext cx="4166100" cy="10359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0"/>
              </a:spcBef>
              <a:spcAft>
                <a:spcPts val="0"/>
              </a:spcAft>
              <a:buClr>
                <a:schemeClr val="lt1"/>
              </a:buClr>
              <a:buSzPts val="3300"/>
              <a:buFont typeface="DM Sans"/>
              <a:buNone/>
              <a:defRPr sz="33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5" name="Google Shape;85;p25"/>
          <p:cNvSpPr txBox="1">
            <a:spLocks noGrp="1"/>
          </p:cNvSpPr>
          <p:nvPr>
            <p:ph type="subTitle" idx="1"/>
          </p:nvPr>
        </p:nvSpPr>
        <p:spPr>
          <a:xfrm>
            <a:off x="716304" y="2783485"/>
            <a:ext cx="4166100" cy="7146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800"/>
              </a:spcBef>
              <a:spcAft>
                <a:spcPts val="0"/>
              </a:spcAft>
              <a:buClr>
                <a:schemeClr val="lt1"/>
              </a:buClr>
              <a:buSzPts val="1500"/>
              <a:buNone/>
              <a:defRPr sz="1500">
                <a:solidFill>
                  <a:schemeClr val="lt1"/>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pic>
        <p:nvPicPr>
          <p:cNvPr id="86" name="Google Shape;86;p25"/>
          <p:cNvPicPr preferRelativeResize="0"/>
          <p:nvPr/>
        </p:nvPicPr>
        <p:blipFill rotWithShape="1">
          <a:blip r:embed="rId3">
            <a:alphaModFix/>
          </a:blip>
          <a:srcRect/>
          <a:stretch/>
        </p:blipFill>
        <p:spPr>
          <a:xfrm>
            <a:off x="716304" y="564606"/>
            <a:ext cx="639881" cy="30671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A_Title Slide 4">
  <p:cSld name="2_Title Slide 2">
    <p:spTree>
      <p:nvGrpSpPr>
        <p:cNvPr id="1" name="Shape 87"/>
        <p:cNvGrpSpPr/>
        <p:nvPr/>
      </p:nvGrpSpPr>
      <p:grpSpPr>
        <a:xfrm>
          <a:off x="0" y="0"/>
          <a:ext cx="0" cy="0"/>
          <a:chOff x="0" y="0"/>
          <a:chExt cx="0" cy="0"/>
        </a:xfrm>
      </p:grpSpPr>
      <p:pic>
        <p:nvPicPr>
          <p:cNvPr id="88" name="Google Shape;88;p26"/>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89" name="Google Shape;89;p26"/>
          <p:cNvSpPr txBox="1">
            <a:spLocks noGrp="1"/>
          </p:cNvSpPr>
          <p:nvPr>
            <p:ph type="ctrTitle"/>
          </p:nvPr>
        </p:nvSpPr>
        <p:spPr>
          <a:xfrm>
            <a:off x="716304" y="1721858"/>
            <a:ext cx="4166100" cy="10359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0"/>
              </a:spcBef>
              <a:spcAft>
                <a:spcPts val="0"/>
              </a:spcAft>
              <a:buClr>
                <a:schemeClr val="lt1"/>
              </a:buClr>
              <a:buSzPts val="3300"/>
              <a:buFont typeface="DM Sans"/>
              <a:buNone/>
              <a:defRPr sz="33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0" name="Google Shape;90;p26"/>
          <p:cNvSpPr txBox="1">
            <a:spLocks noGrp="1"/>
          </p:cNvSpPr>
          <p:nvPr>
            <p:ph type="subTitle" idx="1"/>
          </p:nvPr>
        </p:nvSpPr>
        <p:spPr>
          <a:xfrm>
            <a:off x="716304" y="2783485"/>
            <a:ext cx="4166100" cy="7146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800"/>
              </a:spcBef>
              <a:spcAft>
                <a:spcPts val="0"/>
              </a:spcAft>
              <a:buClr>
                <a:schemeClr val="lt1"/>
              </a:buClr>
              <a:buSzPts val="1500"/>
              <a:buNone/>
              <a:defRPr sz="1500">
                <a:solidFill>
                  <a:schemeClr val="lt1"/>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pic>
        <p:nvPicPr>
          <p:cNvPr id="91" name="Google Shape;91;p26"/>
          <p:cNvPicPr preferRelativeResize="0"/>
          <p:nvPr/>
        </p:nvPicPr>
        <p:blipFill rotWithShape="1">
          <a:blip r:embed="rId3">
            <a:alphaModFix/>
          </a:blip>
          <a:srcRect/>
          <a:stretch/>
        </p:blipFill>
        <p:spPr>
          <a:xfrm>
            <a:off x="716304" y="564606"/>
            <a:ext cx="639881" cy="30671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_Title and Content (3/2) Blue">
  <p:cSld name="Title and Content (3/2) Blue">
    <p:bg>
      <p:bgPr>
        <a:blipFill>
          <a:blip r:embed="rId2">
            <a:alphaModFix/>
          </a:blip>
          <a:stretch>
            <a:fillRect/>
          </a:stretch>
        </a:blipFill>
        <a:effectLst/>
      </p:bgPr>
    </p:bg>
    <p:spTree>
      <p:nvGrpSpPr>
        <p:cNvPr id="1" name="Shape 92"/>
        <p:cNvGrpSpPr/>
        <p:nvPr/>
      </p:nvGrpSpPr>
      <p:grpSpPr>
        <a:xfrm>
          <a:off x="0" y="0"/>
          <a:ext cx="0" cy="0"/>
          <a:chOff x="0" y="0"/>
          <a:chExt cx="0" cy="0"/>
        </a:xfrm>
      </p:grpSpPr>
      <p:sp>
        <p:nvSpPr>
          <p:cNvPr id="93" name="Google Shape;93;p27"/>
          <p:cNvSpPr/>
          <p:nvPr/>
        </p:nvSpPr>
        <p:spPr>
          <a:xfrm>
            <a:off x="6066275" y="0"/>
            <a:ext cx="3077700" cy="5143500"/>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94" name="Google Shape;94;p27"/>
          <p:cNvSpPr/>
          <p:nvPr/>
        </p:nvSpPr>
        <p:spPr>
          <a:xfrm>
            <a:off x="0" y="0"/>
            <a:ext cx="9128855" cy="44653"/>
          </a:xfrm>
          <a:custGeom>
            <a:avLst/>
            <a:gdLst/>
            <a:ahLst/>
            <a:cxnLst/>
            <a:rect l="l" t="t" r="r" b="b"/>
            <a:pathLst>
              <a:path w="15876269" h="8930640" extrusionOk="0">
                <a:moveTo>
                  <a:pt x="15875897" y="0"/>
                </a:moveTo>
                <a:lnTo>
                  <a:pt x="0" y="0"/>
                </a:lnTo>
                <a:lnTo>
                  <a:pt x="0" y="8930192"/>
                </a:lnTo>
                <a:lnTo>
                  <a:pt x="15875897" y="8930192"/>
                </a:lnTo>
                <a:lnTo>
                  <a:pt x="15875897" y="0"/>
                </a:lnTo>
                <a:close/>
              </a:path>
            </a:pathLst>
          </a:custGeom>
          <a:solidFill>
            <a:srgbClr val="0058E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a:ea typeface="DM Sans"/>
              <a:cs typeface="DM Sans"/>
              <a:sym typeface="DM Sans"/>
            </a:endParaRPr>
          </a:p>
        </p:txBody>
      </p:sp>
      <p:sp>
        <p:nvSpPr>
          <p:cNvPr id="95" name="Google Shape;95;p27"/>
          <p:cNvSpPr txBox="1">
            <a:spLocks noGrp="1"/>
          </p:cNvSpPr>
          <p:nvPr>
            <p:ph type="title"/>
          </p:nvPr>
        </p:nvSpPr>
        <p:spPr>
          <a:xfrm>
            <a:off x="420742" y="273844"/>
            <a:ext cx="52800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6" name="Google Shape;96;p27"/>
          <p:cNvSpPr txBox="1">
            <a:spLocks noGrp="1"/>
          </p:cNvSpPr>
          <p:nvPr>
            <p:ph type="body" idx="1"/>
          </p:nvPr>
        </p:nvSpPr>
        <p:spPr>
          <a:xfrm>
            <a:off x="420742" y="812524"/>
            <a:ext cx="5275200" cy="38202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pic>
        <p:nvPicPr>
          <p:cNvPr id="97" name="Google Shape;97;p27" title="Logo.png"/>
          <p:cNvPicPr preferRelativeResize="0"/>
          <p:nvPr/>
        </p:nvPicPr>
        <p:blipFill rotWithShape="1">
          <a:blip r:embed="rId2">
            <a:alphaModFix/>
          </a:blip>
          <a:srcRect/>
          <a:stretch/>
        </p:blipFill>
        <p:spPr>
          <a:xfrm>
            <a:off x="8412313" y="4830850"/>
            <a:ext cx="309686" cy="146674"/>
          </a:xfrm>
          <a:prstGeom prst="rect">
            <a:avLst/>
          </a:prstGeom>
          <a:noFill/>
          <a:ln>
            <a:noFill/>
          </a:ln>
        </p:spPr>
      </p:pic>
    </p:spTree>
  </p:cSld>
  <p:clrMapOvr>
    <a:masterClrMapping/>
  </p:clrMapOvr>
  <p:extLst>
    <p:ext uri="{DCECCB84-F9BA-43D5-87BE-67443E8EF086}">
      <p15:sldGuideLst xmlns:p15="http://schemas.microsoft.com/office/powerpoint/2012/main">
        <p15:guide id="1" pos="4918">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_Title and Content" type="obj">
  <p:cSld name="OBJECT">
    <p:spTree>
      <p:nvGrpSpPr>
        <p:cNvPr id="1" name="Shape 98"/>
        <p:cNvGrpSpPr/>
        <p:nvPr/>
      </p:nvGrpSpPr>
      <p:grpSpPr>
        <a:xfrm>
          <a:off x="0" y="0"/>
          <a:ext cx="0" cy="0"/>
          <a:chOff x="0" y="0"/>
          <a:chExt cx="0" cy="0"/>
        </a:xfrm>
      </p:grpSpPr>
      <p:sp>
        <p:nvSpPr>
          <p:cNvPr id="99" name="Google Shape;99;p28"/>
          <p:cNvSpPr txBox="1">
            <a:spLocks noGrp="1"/>
          </p:cNvSpPr>
          <p:nvPr>
            <p:ph type="title"/>
          </p:nvPr>
        </p:nvSpPr>
        <p:spPr>
          <a:xfrm>
            <a:off x="420743" y="273844"/>
            <a:ext cx="83025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0" name="Google Shape;100;p28"/>
          <p:cNvSpPr txBox="1">
            <a:spLocks noGrp="1"/>
          </p:cNvSpPr>
          <p:nvPr>
            <p:ph type="body" idx="1"/>
          </p:nvPr>
        </p:nvSpPr>
        <p:spPr>
          <a:xfrm>
            <a:off x="420743" y="812524"/>
            <a:ext cx="8302500" cy="38202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_Title and Content (1/2) Light">
  <p:cSld name="Title and Content (1/2) Light">
    <p:spTree>
      <p:nvGrpSpPr>
        <p:cNvPr id="1" name="Shape 101"/>
        <p:cNvGrpSpPr/>
        <p:nvPr/>
      </p:nvGrpSpPr>
      <p:grpSpPr>
        <a:xfrm>
          <a:off x="0" y="0"/>
          <a:ext cx="0" cy="0"/>
          <a:chOff x="0" y="0"/>
          <a:chExt cx="0" cy="0"/>
        </a:xfrm>
      </p:grpSpPr>
      <p:sp>
        <p:nvSpPr>
          <p:cNvPr id="102" name="Google Shape;102;p29"/>
          <p:cNvSpPr/>
          <p:nvPr/>
        </p:nvSpPr>
        <p:spPr>
          <a:xfrm>
            <a:off x="4572000" y="0"/>
            <a:ext cx="4572000" cy="5143500"/>
          </a:xfrm>
          <a:prstGeom prst="rect">
            <a:avLst/>
          </a:prstGeom>
          <a:solidFill>
            <a:schemeClr val="l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03" name="Google Shape;103;p29"/>
          <p:cNvSpPr txBox="1">
            <a:spLocks noGrp="1"/>
          </p:cNvSpPr>
          <p:nvPr>
            <p:ph type="title"/>
          </p:nvPr>
        </p:nvSpPr>
        <p:spPr>
          <a:xfrm>
            <a:off x="420742" y="273844"/>
            <a:ext cx="38496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4" name="Google Shape;104;p29"/>
          <p:cNvSpPr txBox="1">
            <a:spLocks noGrp="1"/>
          </p:cNvSpPr>
          <p:nvPr>
            <p:ph type="body" idx="1"/>
          </p:nvPr>
        </p:nvSpPr>
        <p:spPr>
          <a:xfrm>
            <a:off x="420742" y="812524"/>
            <a:ext cx="3849600" cy="38202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5" name="Google Shape;105;p29"/>
          <p:cNvSpPr/>
          <p:nvPr/>
        </p:nvSpPr>
        <p:spPr>
          <a:xfrm>
            <a:off x="0" y="0"/>
            <a:ext cx="9128855" cy="44653"/>
          </a:xfrm>
          <a:custGeom>
            <a:avLst/>
            <a:gdLst/>
            <a:ahLst/>
            <a:cxnLst/>
            <a:rect l="l" t="t" r="r" b="b"/>
            <a:pathLst>
              <a:path w="15876269" h="8930640" extrusionOk="0">
                <a:moveTo>
                  <a:pt x="15875897" y="0"/>
                </a:moveTo>
                <a:lnTo>
                  <a:pt x="0" y="0"/>
                </a:lnTo>
                <a:lnTo>
                  <a:pt x="0" y="8930192"/>
                </a:lnTo>
                <a:lnTo>
                  <a:pt x="15875897" y="8930192"/>
                </a:lnTo>
                <a:lnTo>
                  <a:pt x="15875897" y="0"/>
                </a:lnTo>
                <a:close/>
              </a:path>
            </a:pathLst>
          </a:custGeom>
          <a:solidFill>
            <a:srgbClr val="0058E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a:ea typeface="DM Sans"/>
              <a:cs typeface="DM Sans"/>
              <a:sym typeface="DM Sans"/>
            </a:endParaRPr>
          </a:p>
        </p:txBody>
      </p:sp>
      <p:pic>
        <p:nvPicPr>
          <p:cNvPr id="106" name="Google Shape;106;p29"/>
          <p:cNvPicPr preferRelativeResize="0"/>
          <p:nvPr/>
        </p:nvPicPr>
        <p:blipFill rotWithShape="1">
          <a:blip r:embed="rId2">
            <a:alphaModFix/>
          </a:blip>
          <a:srcRect/>
          <a:stretch/>
        </p:blipFill>
        <p:spPr>
          <a:xfrm>
            <a:off x="8412332" y="4829647"/>
            <a:ext cx="310926" cy="149074"/>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_Title and Content (1/2) Blue">
  <p:cSld name="Title and Content (1/2) Blue">
    <p:spTree>
      <p:nvGrpSpPr>
        <p:cNvPr id="1" name="Shape 107"/>
        <p:cNvGrpSpPr/>
        <p:nvPr/>
      </p:nvGrpSpPr>
      <p:grpSpPr>
        <a:xfrm>
          <a:off x="0" y="0"/>
          <a:ext cx="0" cy="0"/>
          <a:chOff x="0" y="0"/>
          <a:chExt cx="0" cy="0"/>
        </a:xfrm>
      </p:grpSpPr>
      <p:sp>
        <p:nvSpPr>
          <p:cNvPr id="108" name="Google Shape;108;p30"/>
          <p:cNvSpPr/>
          <p:nvPr/>
        </p:nvSpPr>
        <p:spPr>
          <a:xfrm>
            <a:off x="4572000" y="0"/>
            <a:ext cx="4572000" cy="5143500"/>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09" name="Google Shape;109;p30"/>
          <p:cNvSpPr/>
          <p:nvPr/>
        </p:nvSpPr>
        <p:spPr>
          <a:xfrm>
            <a:off x="0" y="0"/>
            <a:ext cx="9128855" cy="44653"/>
          </a:xfrm>
          <a:custGeom>
            <a:avLst/>
            <a:gdLst/>
            <a:ahLst/>
            <a:cxnLst/>
            <a:rect l="l" t="t" r="r" b="b"/>
            <a:pathLst>
              <a:path w="15876269" h="8930640" extrusionOk="0">
                <a:moveTo>
                  <a:pt x="15875897" y="0"/>
                </a:moveTo>
                <a:lnTo>
                  <a:pt x="0" y="0"/>
                </a:lnTo>
                <a:lnTo>
                  <a:pt x="0" y="8930192"/>
                </a:lnTo>
                <a:lnTo>
                  <a:pt x="15875897" y="8930192"/>
                </a:lnTo>
                <a:lnTo>
                  <a:pt x="15875897" y="0"/>
                </a:lnTo>
                <a:close/>
              </a:path>
            </a:pathLst>
          </a:custGeom>
          <a:solidFill>
            <a:srgbClr val="0058E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a:ea typeface="DM Sans"/>
              <a:cs typeface="DM Sans"/>
              <a:sym typeface="DM Sans"/>
            </a:endParaRPr>
          </a:p>
        </p:txBody>
      </p:sp>
      <p:sp>
        <p:nvSpPr>
          <p:cNvPr id="110" name="Google Shape;110;p30"/>
          <p:cNvSpPr txBox="1">
            <a:spLocks noGrp="1"/>
          </p:cNvSpPr>
          <p:nvPr>
            <p:ph type="title"/>
          </p:nvPr>
        </p:nvSpPr>
        <p:spPr>
          <a:xfrm>
            <a:off x="420742" y="273844"/>
            <a:ext cx="38496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1" name="Google Shape;111;p30"/>
          <p:cNvSpPr txBox="1">
            <a:spLocks noGrp="1"/>
          </p:cNvSpPr>
          <p:nvPr>
            <p:ph type="body" idx="1"/>
          </p:nvPr>
        </p:nvSpPr>
        <p:spPr>
          <a:xfrm>
            <a:off x="420742" y="812524"/>
            <a:ext cx="3849600" cy="38202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pic>
        <p:nvPicPr>
          <p:cNvPr id="112" name="Google Shape;112;p30" title="Logo.png"/>
          <p:cNvPicPr preferRelativeResize="0"/>
          <p:nvPr/>
        </p:nvPicPr>
        <p:blipFill rotWithShape="1">
          <a:blip r:embed="rId2">
            <a:alphaModFix/>
          </a:blip>
          <a:srcRect/>
          <a:stretch/>
        </p:blipFill>
        <p:spPr>
          <a:xfrm>
            <a:off x="8412313" y="4830850"/>
            <a:ext cx="309686" cy="146674"/>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_Title and Content (2/3) Blue">
  <p:cSld name="Title and Content (2/3) Blue">
    <p:spTree>
      <p:nvGrpSpPr>
        <p:cNvPr id="1" name="Shape 113"/>
        <p:cNvGrpSpPr/>
        <p:nvPr/>
      </p:nvGrpSpPr>
      <p:grpSpPr>
        <a:xfrm>
          <a:off x="0" y="0"/>
          <a:ext cx="0" cy="0"/>
          <a:chOff x="0" y="0"/>
          <a:chExt cx="0" cy="0"/>
        </a:xfrm>
      </p:grpSpPr>
      <p:sp>
        <p:nvSpPr>
          <p:cNvPr id="114" name="Google Shape;114;p31"/>
          <p:cNvSpPr/>
          <p:nvPr/>
        </p:nvSpPr>
        <p:spPr>
          <a:xfrm>
            <a:off x="-4188" y="0"/>
            <a:ext cx="3077700" cy="5143500"/>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15" name="Google Shape;115;p31"/>
          <p:cNvSpPr txBox="1">
            <a:spLocks noGrp="1"/>
          </p:cNvSpPr>
          <p:nvPr>
            <p:ph type="title"/>
          </p:nvPr>
        </p:nvSpPr>
        <p:spPr>
          <a:xfrm>
            <a:off x="420742" y="273844"/>
            <a:ext cx="22278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lt1"/>
              </a:buClr>
              <a:buSzPts val="2000"/>
              <a:buFont typeface="DM Sans"/>
              <a:buNone/>
              <a:defRPr>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6" name="Google Shape;116;p31"/>
          <p:cNvSpPr txBox="1">
            <a:spLocks noGrp="1"/>
          </p:cNvSpPr>
          <p:nvPr>
            <p:ph type="body" idx="1"/>
          </p:nvPr>
        </p:nvSpPr>
        <p:spPr>
          <a:xfrm>
            <a:off x="420742" y="812524"/>
            <a:ext cx="2227800" cy="3820200"/>
          </a:xfrm>
          <a:prstGeom prst="rect">
            <a:avLst/>
          </a:prstGeom>
          <a:noFill/>
          <a:ln>
            <a:noFill/>
          </a:ln>
        </p:spPr>
        <p:txBody>
          <a:bodyPr spcFirstLastPara="1" wrap="square" lIns="68575" tIns="34275" rIns="68575" bIns="34275" anchor="t" anchorCtr="0">
            <a:normAutofit/>
          </a:bodyPr>
          <a:lstStyle>
            <a:lvl1pPr marL="457200" lvl="0" indent="-323850" algn="l">
              <a:lnSpc>
                <a:spcPct val="90000"/>
              </a:lnSpc>
              <a:spcBef>
                <a:spcPts val="800"/>
              </a:spcBef>
              <a:spcAft>
                <a:spcPts val="0"/>
              </a:spcAft>
              <a:buClr>
                <a:schemeClr val="lt1"/>
              </a:buClr>
              <a:buSzPts val="1500"/>
              <a:buChar char="•"/>
              <a:defRPr>
                <a:solidFill>
                  <a:schemeClr val="lt1"/>
                </a:solidFill>
              </a:defRPr>
            </a:lvl1pPr>
            <a:lvl2pPr marL="914400" lvl="1" indent="-317500" algn="l">
              <a:lnSpc>
                <a:spcPct val="90000"/>
              </a:lnSpc>
              <a:spcBef>
                <a:spcPts val="400"/>
              </a:spcBef>
              <a:spcAft>
                <a:spcPts val="0"/>
              </a:spcAft>
              <a:buClr>
                <a:schemeClr val="lt1"/>
              </a:buClr>
              <a:buSzPts val="1400"/>
              <a:buChar char="•"/>
              <a:defRPr>
                <a:solidFill>
                  <a:schemeClr val="lt1"/>
                </a:solidFill>
              </a:defRPr>
            </a:lvl2pPr>
            <a:lvl3pPr marL="1371600" lvl="2" indent="-304800" algn="l">
              <a:lnSpc>
                <a:spcPct val="90000"/>
              </a:lnSpc>
              <a:spcBef>
                <a:spcPts val="400"/>
              </a:spcBef>
              <a:spcAft>
                <a:spcPts val="0"/>
              </a:spcAft>
              <a:buClr>
                <a:schemeClr val="lt1"/>
              </a:buClr>
              <a:buSzPts val="1200"/>
              <a:buChar char="•"/>
              <a:defRPr>
                <a:solidFill>
                  <a:schemeClr val="lt1"/>
                </a:solidFill>
              </a:defRPr>
            </a:lvl3pPr>
            <a:lvl4pPr marL="1828800" lvl="3" indent="-298450" algn="l">
              <a:lnSpc>
                <a:spcPct val="90000"/>
              </a:lnSpc>
              <a:spcBef>
                <a:spcPts val="400"/>
              </a:spcBef>
              <a:spcAft>
                <a:spcPts val="0"/>
              </a:spcAft>
              <a:buClr>
                <a:schemeClr val="lt1"/>
              </a:buClr>
              <a:buSzPts val="1100"/>
              <a:buChar char="•"/>
              <a:defRPr>
                <a:solidFill>
                  <a:schemeClr val="lt1"/>
                </a:solidFill>
              </a:defRPr>
            </a:lvl4pPr>
            <a:lvl5pPr marL="2286000" lvl="4" indent="-298450" algn="l">
              <a:lnSpc>
                <a:spcPct val="90000"/>
              </a:lnSpc>
              <a:spcBef>
                <a:spcPts val="400"/>
              </a:spcBef>
              <a:spcAft>
                <a:spcPts val="0"/>
              </a:spcAft>
              <a:buClr>
                <a:schemeClr val="lt1"/>
              </a:buClr>
              <a:buSzPts val="1100"/>
              <a:buChar char="•"/>
              <a:defRPr>
                <a:solidFill>
                  <a:schemeClr val="lt1"/>
                </a:solidFill>
              </a:defRPr>
            </a:lvl5pPr>
            <a:lvl6pPr marL="2743200" lvl="5" indent="-317500" algn="l">
              <a:lnSpc>
                <a:spcPct val="90000"/>
              </a:lnSpc>
              <a:spcBef>
                <a:spcPts val="400"/>
              </a:spcBef>
              <a:spcAft>
                <a:spcPts val="0"/>
              </a:spcAft>
              <a:buClr>
                <a:schemeClr val="lt1"/>
              </a:buClr>
              <a:buSzPts val="1400"/>
              <a:buChar char="•"/>
              <a:defRPr>
                <a:solidFill>
                  <a:schemeClr val="lt1"/>
                </a:solidFill>
              </a:defRPr>
            </a:lvl6pPr>
            <a:lvl7pPr marL="3200400" lvl="6" indent="-317500" algn="l">
              <a:lnSpc>
                <a:spcPct val="90000"/>
              </a:lnSpc>
              <a:spcBef>
                <a:spcPts val="400"/>
              </a:spcBef>
              <a:spcAft>
                <a:spcPts val="0"/>
              </a:spcAft>
              <a:buClr>
                <a:schemeClr val="lt1"/>
              </a:buClr>
              <a:buSzPts val="1400"/>
              <a:buChar char="•"/>
              <a:defRPr>
                <a:solidFill>
                  <a:schemeClr val="lt1"/>
                </a:solidFill>
              </a:defRPr>
            </a:lvl7pPr>
            <a:lvl8pPr marL="3657600" lvl="7" indent="-317500" algn="l">
              <a:lnSpc>
                <a:spcPct val="90000"/>
              </a:lnSpc>
              <a:spcBef>
                <a:spcPts val="400"/>
              </a:spcBef>
              <a:spcAft>
                <a:spcPts val="0"/>
              </a:spcAft>
              <a:buClr>
                <a:schemeClr val="lt1"/>
              </a:buClr>
              <a:buSzPts val="1400"/>
              <a:buChar char="•"/>
              <a:defRPr>
                <a:solidFill>
                  <a:schemeClr val="lt1"/>
                </a:solidFill>
              </a:defRPr>
            </a:lvl8pPr>
            <a:lvl9pPr marL="4114800" lvl="8" indent="-317500" algn="l">
              <a:lnSpc>
                <a:spcPct val="90000"/>
              </a:lnSpc>
              <a:spcBef>
                <a:spcPts val="400"/>
              </a:spcBef>
              <a:spcAft>
                <a:spcPts val="0"/>
              </a:spcAft>
              <a:buClr>
                <a:schemeClr val="lt1"/>
              </a:buClr>
              <a:buSzPts val="1400"/>
              <a:buChar char="•"/>
              <a:defRPr>
                <a:solidFill>
                  <a:schemeClr val="lt1"/>
                </a:solidFill>
              </a:defRPr>
            </a:lvl9pPr>
          </a:lstStyle>
          <a:p>
            <a:endParaRPr/>
          </a:p>
        </p:txBody>
      </p:sp>
      <p:sp>
        <p:nvSpPr>
          <p:cNvPr id="117" name="Google Shape;117;p31"/>
          <p:cNvSpPr/>
          <p:nvPr/>
        </p:nvSpPr>
        <p:spPr>
          <a:xfrm>
            <a:off x="0" y="0"/>
            <a:ext cx="9128855" cy="44653"/>
          </a:xfrm>
          <a:custGeom>
            <a:avLst/>
            <a:gdLst/>
            <a:ahLst/>
            <a:cxnLst/>
            <a:rect l="l" t="t" r="r" b="b"/>
            <a:pathLst>
              <a:path w="15876269" h="8930640" extrusionOk="0">
                <a:moveTo>
                  <a:pt x="15875897" y="0"/>
                </a:moveTo>
                <a:lnTo>
                  <a:pt x="0" y="0"/>
                </a:lnTo>
                <a:lnTo>
                  <a:pt x="0" y="8930192"/>
                </a:lnTo>
                <a:lnTo>
                  <a:pt x="15875897" y="8930192"/>
                </a:lnTo>
                <a:lnTo>
                  <a:pt x="15875897" y="0"/>
                </a:lnTo>
                <a:close/>
              </a:path>
            </a:pathLst>
          </a:custGeom>
          <a:solidFill>
            <a:srgbClr val="0058E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a:ea typeface="DM Sans"/>
              <a:cs typeface="DM Sans"/>
              <a:sym typeface="DM Sans"/>
            </a:endParaRPr>
          </a:p>
        </p:txBody>
      </p:sp>
      <p:pic>
        <p:nvPicPr>
          <p:cNvPr id="118" name="Google Shape;118;p31"/>
          <p:cNvPicPr preferRelativeResize="0"/>
          <p:nvPr/>
        </p:nvPicPr>
        <p:blipFill rotWithShape="1">
          <a:blip r:embed="rId2">
            <a:alphaModFix/>
          </a:blip>
          <a:srcRect/>
          <a:stretch/>
        </p:blipFill>
        <p:spPr>
          <a:xfrm>
            <a:off x="420742" y="4829647"/>
            <a:ext cx="310926" cy="149074"/>
          </a:xfrm>
          <a:prstGeom prst="rect">
            <a:avLst/>
          </a:prstGeom>
          <a:noFill/>
          <a:ln>
            <a:noFill/>
          </a:ln>
        </p:spPr>
      </p:pic>
      <p:pic>
        <p:nvPicPr>
          <p:cNvPr id="119" name="Google Shape;119;p31"/>
          <p:cNvPicPr preferRelativeResize="0"/>
          <p:nvPr/>
        </p:nvPicPr>
        <p:blipFill rotWithShape="1">
          <a:blip r:embed="rId3">
            <a:alphaModFix/>
          </a:blip>
          <a:srcRect/>
          <a:stretch/>
        </p:blipFill>
        <p:spPr>
          <a:xfrm>
            <a:off x="4719311" y="3391372"/>
            <a:ext cx="313335" cy="1512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_Title and Content (3/2) Light">
  <p:cSld name="Title and Content (3/2) Light">
    <p:spTree>
      <p:nvGrpSpPr>
        <p:cNvPr id="1" name="Shape 120"/>
        <p:cNvGrpSpPr/>
        <p:nvPr/>
      </p:nvGrpSpPr>
      <p:grpSpPr>
        <a:xfrm>
          <a:off x="0" y="0"/>
          <a:ext cx="0" cy="0"/>
          <a:chOff x="0" y="0"/>
          <a:chExt cx="0" cy="0"/>
        </a:xfrm>
      </p:grpSpPr>
      <p:sp>
        <p:nvSpPr>
          <p:cNvPr id="121" name="Google Shape;121;p32"/>
          <p:cNvSpPr/>
          <p:nvPr/>
        </p:nvSpPr>
        <p:spPr>
          <a:xfrm>
            <a:off x="6066275" y="0"/>
            <a:ext cx="3077700" cy="5143500"/>
          </a:xfrm>
          <a:prstGeom prst="rect">
            <a:avLst/>
          </a:prstGeom>
          <a:solidFill>
            <a:schemeClr val="l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22" name="Google Shape;122;p32"/>
          <p:cNvSpPr/>
          <p:nvPr/>
        </p:nvSpPr>
        <p:spPr>
          <a:xfrm>
            <a:off x="0" y="0"/>
            <a:ext cx="9128855" cy="44653"/>
          </a:xfrm>
          <a:custGeom>
            <a:avLst/>
            <a:gdLst/>
            <a:ahLst/>
            <a:cxnLst/>
            <a:rect l="l" t="t" r="r" b="b"/>
            <a:pathLst>
              <a:path w="15876269" h="8930640" extrusionOk="0">
                <a:moveTo>
                  <a:pt x="15875897" y="0"/>
                </a:moveTo>
                <a:lnTo>
                  <a:pt x="0" y="0"/>
                </a:lnTo>
                <a:lnTo>
                  <a:pt x="0" y="8930192"/>
                </a:lnTo>
                <a:lnTo>
                  <a:pt x="15875897" y="8930192"/>
                </a:lnTo>
                <a:lnTo>
                  <a:pt x="15875897" y="0"/>
                </a:lnTo>
                <a:close/>
              </a:path>
            </a:pathLst>
          </a:custGeom>
          <a:solidFill>
            <a:srgbClr val="0058E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a:ea typeface="DM Sans"/>
              <a:cs typeface="DM Sans"/>
              <a:sym typeface="DM Sans"/>
            </a:endParaRPr>
          </a:p>
        </p:txBody>
      </p:sp>
      <p:sp>
        <p:nvSpPr>
          <p:cNvPr id="123" name="Google Shape;123;p32"/>
          <p:cNvSpPr txBox="1">
            <a:spLocks noGrp="1"/>
          </p:cNvSpPr>
          <p:nvPr>
            <p:ph type="title"/>
          </p:nvPr>
        </p:nvSpPr>
        <p:spPr>
          <a:xfrm>
            <a:off x="420742" y="273844"/>
            <a:ext cx="52800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4" name="Google Shape;124;p32"/>
          <p:cNvSpPr txBox="1">
            <a:spLocks noGrp="1"/>
          </p:cNvSpPr>
          <p:nvPr>
            <p:ph type="body" idx="1"/>
          </p:nvPr>
        </p:nvSpPr>
        <p:spPr>
          <a:xfrm>
            <a:off x="420742" y="812524"/>
            <a:ext cx="5275200" cy="38202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pic>
        <p:nvPicPr>
          <p:cNvPr id="125" name="Google Shape;125;p32"/>
          <p:cNvPicPr preferRelativeResize="0"/>
          <p:nvPr/>
        </p:nvPicPr>
        <p:blipFill rotWithShape="1">
          <a:blip r:embed="rId2">
            <a:alphaModFix/>
          </a:blip>
          <a:srcRect/>
          <a:stretch/>
        </p:blipFill>
        <p:spPr>
          <a:xfrm>
            <a:off x="8412332" y="4829647"/>
            <a:ext cx="310926" cy="14907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_Cards 1">
  <p:cSld name="Cards 1">
    <p:spTree>
      <p:nvGrpSpPr>
        <p:cNvPr id="1" name="Shape 126"/>
        <p:cNvGrpSpPr/>
        <p:nvPr/>
      </p:nvGrpSpPr>
      <p:grpSpPr>
        <a:xfrm>
          <a:off x="0" y="0"/>
          <a:ext cx="0" cy="0"/>
          <a:chOff x="0" y="0"/>
          <a:chExt cx="0" cy="0"/>
        </a:xfrm>
      </p:grpSpPr>
      <p:sp>
        <p:nvSpPr>
          <p:cNvPr id="127" name="Google Shape;127;p33"/>
          <p:cNvSpPr/>
          <p:nvPr/>
        </p:nvSpPr>
        <p:spPr>
          <a:xfrm>
            <a:off x="492931" y="813038"/>
            <a:ext cx="2406000" cy="3759000"/>
          </a:xfrm>
          <a:prstGeom prst="roundRect">
            <a:avLst>
              <a:gd name="adj" fmla="val 2226"/>
            </a:avLst>
          </a:prstGeom>
          <a:solidFill>
            <a:schemeClr val="lt1"/>
          </a:solidFill>
          <a:ln w="12700" cap="flat" cmpd="sng">
            <a:solidFill>
              <a:schemeClr val="dk2"/>
            </a:solidFill>
            <a:prstDash val="solid"/>
            <a:miter lim="8000"/>
            <a:headEnd type="none" w="sm" len="sm"/>
            <a:tailEnd type="none" w="sm" len="sm"/>
          </a:ln>
          <a:effectLst>
            <a:outerShdw dist="63500" dir="7800000" algn="ctr" rotWithShape="0">
              <a:schemeClr val="accent3"/>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28" name="Google Shape;128;p33"/>
          <p:cNvSpPr/>
          <p:nvPr/>
        </p:nvSpPr>
        <p:spPr>
          <a:xfrm>
            <a:off x="3378413" y="813038"/>
            <a:ext cx="2406000" cy="3759000"/>
          </a:xfrm>
          <a:prstGeom prst="roundRect">
            <a:avLst>
              <a:gd name="adj" fmla="val 2226"/>
            </a:avLst>
          </a:prstGeom>
          <a:solidFill>
            <a:schemeClr val="lt1"/>
          </a:solidFill>
          <a:ln w="12700" cap="flat" cmpd="sng">
            <a:solidFill>
              <a:schemeClr val="dk2"/>
            </a:solidFill>
            <a:prstDash val="solid"/>
            <a:miter lim="8000"/>
            <a:headEnd type="none" w="sm" len="sm"/>
            <a:tailEnd type="none" w="sm" len="sm"/>
          </a:ln>
          <a:effectLst>
            <a:outerShdw dist="63500" dir="7800000" algn="ctr" rotWithShape="0">
              <a:schemeClr val="accent3"/>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29" name="Google Shape;129;p33"/>
          <p:cNvSpPr/>
          <p:nvPr/>
        </p:nvSpPr>
        <p:spPr>
          <a:xfrm>
            <a:off x="6256421" y="813038"/>
            <a:ext cx="2406000" cy="3759000"/>
          </a:xfrm>
          <a:prstGeom prst="roundRect">
            <a:avLst>
              <a:gd name="adj" fmla="val 2226"/>
            </a:avLst>
          </a:prstGeom>
          <a:solidFill>
            <a:schemeClr val="lt1"/>
          </a:solidFill>
          <a:ln w="12700" cap="flat" cmpd="sng">
            <a:solidFill>
              <a:schemeClr val="dk2"/>
            </a:solidFill>
            <a:prstDash val="solid"/>
            <a:miter lim="8000"/>
            <a:headEnd type="none" w="sm" len="sm"/>
            <a:tailEnd type="none" w="sm" len="sm"/>
          </a:ln>
          <a:effectLst>
            <a:outerShdw dist="63500" dir="7800000" algn="ctr" rotWithShape="0">
              <a:schemeClr val="accent3"/>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30" name="Google Shape;130;p33"/>
          <p:cNvSpPr txBox="1">
            <a:spLocks noGrp="1"/>
          </p:cNvSpPr>
          <p:nvPr>
            <p:ph type="title"/>
          </p:nvPr>
        </p:nvSpPr>
        <p:spPr>
          <a:xfrm>
            <a:off x="420743" y="273844"/>
            <a:ext cx="83025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1" name="Google Shape;131;p33"/>
          <p:cNvSpPr txBox="1">
            <a:spLocks noGrp="1"/>
          </p:cNvSpPr>
          <p:nvPr>
            <p:ph type="body" idx="1"/>
          </p:nvPr>
        </p:nvSpPr>
        <p:spPr>
          <a:xfrm>
            <a:off x="740774" y="1537190"/>
            <a:ext cx="1910400" cy="309900"/>
          </a:xfrm>
          <a:prstGeom prst="rect">
            <a:avLst/>
          </a:prstGeom>
          <a:noFill/>
          <a:ln>
            <a:noFill/>
          </a:ln>
        </p:spPr>
        <p:txBody>
          <a:bodyPr spcFirstLastPara="1" wrap="square" lIns="68575" tIns="34275" rIns="68575" bIns="34275" anchor="t" anchorCtr="0">
            <a:normAutofit/>
          </a:bodyPr>
          <a:lstStyle>
            <a:lvl1pPr marL="457200" lvl="0" indent="-228600" algn="ctr">
              <a:lnSpc>
                <a:spcPct val="90000"/>
              </a:lnSpc>
              <a:spcBef>
                <a:spcPts val="800"/>
              </a:spcBef>
              <a:spcAft>
                <a:spcPts val="0"/>
              </a:spcAft>
              <a:buClr>
                <a:schemeClr val="dk2"/>
              </a:buClr>
              <a:buSzPts val="1200"/>
              <a:buNone/>
              <a:defRPr sz="1200">
                <a:solidFill>
                  <a:schemeClr val="dk2"/>
                </a:solidFill>
                <a:latin typeface="DM Sans"/>
                <a:ea typeface="DM Sans"/>
                <a:cs typeface="DM Sans"/>
                <a:sym typeface="DM Sans"/>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2" name="Google Shape;132;p33"/>
          <p:cNvSpPr txBox="1">
            <a:spLocks noGrp="1"/>
          </p:cNvSpPr>
          <p:nvPr>
            <p:ph type="body" idx="2"/>
          </p:nvPr>
        </p:nvSpPr>
        <p:spPr>
          <a:xfrm>
            <a:off x="667264" y="1982956"/>
            <a:ext cx="2057400" cy="241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atin typeface="DM Sans"/>
                <a:ea typeface="DM Sans"/>
                <a:cs typeface="DM Sans"/>
                <a:sym typeface="DM Sans"/>
              </a:defRPr>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3" name="Google Shape;133;p33"/>
          <p:cNvSpPr txBox="1">
            <a:spLocks noGrp="1"/>
          </p:cNvSpPr>
          <p:nvPr>
            <p:ph type="body" idx="3"/>
          </p:nvPr>
        </p:nvSpPr>
        <p:spPr>
          <a:xfrm>
            <a:off x="3625767" y="1537190"/>
            <a:ext cx="1910400" cy="309900"/>
          </a:xfrm>
          <a:prstGeom prst="rect">
            <a:avLst/>
          </a:prstGeom>
          <a:noFill/>
          <a:ln>
            <a:noFill/>
          </a:ln>
        </p:spPr>
        <p:txBody>
          <a:bodyPr spcFirstLastPara="1" wrap="square" lIns="68575" tIns="34275" rIns="68575" bIns="34275" anchor="t" anchorCtr="0">
            <a:normAutofit/>
          </a:bodyPr>
          <a:lstStyle>
            <a:lvl1pPr marL="457200" lvl="0" indent="-228600" algn="ctr">
              <a:lnSpc>
                <a:spcPct val="90000"/>
              </a:lnSpc>
              <a:spcBef>
                <a:spcPts val="800"/>
              </a:spcBef>
              <a:spcAft>
                <a:spcPts val="0"/>
              </a:spcAft>
              <a:buClr>
                <a:schemeClr val="dk2"/>
              </a:buClr>
              <a:buSzPts val="1200"/>
              <a:buNone/>
              <a:defRPr sz="1200">
                <a:solidFill>
                  <a:schemeClr val="dk2"/>
                </a:solidFill>
                <a:latin typeface="DM Sans"/>
                <a:ea typeface="DM Sans"/>
                <a:cs typeface="DM Sans"/>
                <a:sym typeface="DM Sans"/>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4" name="Google Shape;134;p33"/>
          <p:cNvSpPr txBox="1">
            <a:spLocks noGrp="1"/>
          </p:cNvSpPr>
          <p:nvPr>
            <p:ph type="body" idx="4"/>
          </p:nvPr>
        </p:nvSpPr>
        <p:spPr>
          <a:xfrm>
            <a:off x="3552257" y="1982956"/>
            <a:ext cx="2057400" cy="241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atin typeface="DM Sans"/>
                <a:ea typeface="DM Sans"/>
                <a:cs typeface="DM Sans"/>
                <a:sym typeface="DM Sans"/>
              </a:defRPr>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5" name="Google Shape;135;p33"/>
          <p:cNvSpPr txBox="1">
            <a:spLocks noGrp="1"/>
          </p:cNvSpPr>
          <p:nvPr>
            <p:ph type="body" idx="5"/>
          </p:nvPr>
        </p:nvSpPr>
        <p:spPr>
          <a:xfrm>
            <a:off x="6503777" y="1537190"/>
            <a:ext cx="1910400" cy="309900"/>
          </a:xfrm>
          <a:prstGeom prst="rect">
            <a:avLst/>
          </a:prstGeom>
          <a:noFill/>
          <a:ln>
            <a:noFill/>
          </a:ln>
        </p:spPr>
        <p:txBody>
          <a:bodyPr spcFirstLastPara="1" wrap="square" lIns="68575" tIns="34275" rIns="68575" bIns="34275" anchor="t" anchorCtr="0">
            <a:normAutofit/>
          </a:bodyPr>
          <a:lstStyle>
            <a:lvl1pPr marL="457200" lvl="0" indent="-228600" algn="ctr">
              <a:lnSpc>
                <a:spcPct val="90000"/>
              </a:lnSpc>
              <a:spcBef>
                <a:spcPts val="800"/>
              </a:spcBef>
              <a:spcAft>
                <a:spcPts val="0"/>
              </a:spcAft>
              <a:buClr>
                <a:schemeClr val="dk2"/>
              </a:buClr>
              <a:buSzPts val="1200"/>
              <a:buNone/>
              <a:defRPr sz="1200">
                <a:solidFill>
                  <a:schemeClr val="dk2"/>
                </a:solidFill>
                <a:latin typeface="DM Sans"/>
                <a:ea typeface="DM Sans"/>
                <a:cs typeface="DM Sans"/>
                <a:sym typeface="DM Sans"/>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6" name="Google Shape;136;p33"/>
          <p:cNvSpPr txBox="1">
            <a:spLocks noGrp="1"/>
          </p:cNvSpPr>
          <p:nvPr>
            <p:ph type="body" idx="6"/>
          </p:nvPr>
        </p:nvSpPr>
        <p:spPr>
          <a:xfrm>
            <a:off x="6430267" y="1982956"/>
            <a:ext cx="2057400" cy="241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atin typeface="DM Sans"/>
                <a:ea typeface="DM Sans"/>
                <a:cs typeface="DM Sans"/>
                <a:sym typeface="DM Sans"/>
              </a:defRPr>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cxnSp>
        <p:nvCxnSpPr>
          <p:cNvPr id="137" name="Google Shape;137;p33"/>
          <p:cNvCxnSpPr/>
          <p:nvPr/>
        </p:nvCxnSpPr>
        <p:spPr>
          <a:xfrm>
            <a:off x="740774" y="1847088"/>
            <a:ext cx="1910400" cy="0"/>
          </a:xfrm>
          <a:prstGeom prst="straightConnector1">
            <a:avLst/>
          </a:prstGeom>
          <a:noFill/>
          <a:ln w="12700" cap="flat" cmpd="sng">
            <a:solidFill>
              <a:schemeClr val="dk2"/>
            </a:solidFill>
            <a:prstDash val="solid"/>
            <a:miter lim="8000"/>
            <a:headEnd type="none" w="sm" len="sm"/>
            <a:tailEnd type="none" w="sm" len="sm"/>
          </a:ln>
        </p:spPr>
      </p:cxnSp>
      <p:cxnSp>
        <p:nvCxnSpPr>
          <p:cNvPr id="138" name="Google Shape;138;p33"/>
          <p:cNvCxnSpPr/>
          <p:nvPr/>
        </p:nvCxnSpPr>
        <p:spPr>
          <a:xfrm>
            <a:off x="3625767" y="1847088"/>
            <a:ext cx="1910400" cy="0"/>
          </a:xfrm>
          <a:prstGeom prst="straightConnector1">
            <a:avLst/>
          </a:prstGeom>
          <a:noFill/>
          <a:ln w="12700" cap="flat" cmpd="sng">
            <a:solidFill>
              <a:schemeClr val="dk2"/>
            </a:solidFill>
            <a:prstDash val="solid"/>
            <a:miter lim="8000"/>
            <a:headEnd type="none" w="sm" len="sm"/>
            <a:tailEnd type="none" w="sm" len="sm"/>
          </a:ln>
        </p:spPr>
      </p:cxnSp>
      <p:cxnSp>
        <p:nvCxnSpPr>
          <p:cNvPr id="139" name="Google Shape;139;p33"/>
          <p:cNvCxnSpPr/>
          <p:nvPr/>
        </p:nvCxnSpPr>
        <p:spPr>
          <a:xfrm>
            <a:off x="6503777" y="1847088"/>
            <a:ext cx="1910400" cy="0"/>
          </a:xfrm>
          <a:prstGeom prst="straightConnector1">
            <a:avLst/>
          </a:prstGeom>
          <a:noFill/>
          <a:ln w="12700" cap="flat" cmpd="sng">
            <a:solidFill>
              <a:schemeClr val="dk2"/>
            </a:solidFill>
            <a:prstDash val="solid"/>
            <a:miter lim="8000"/>
            <a:headEnd type="none" w="sm" len="sm"/>
            <a:tailEnd type="none" w="sm" len="sm"/>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_Cards 2">
  <p:cSld name="Cards 2">
    <p:spTree>
      <p:nvGrpSpPr>
        <p:cNvPr id="1" name="Shape 140"/>
        <p:cNvGrpSpPr/>
        <p:nvPr/>
      </p:nvGrpSpPr>
      <p:grpSpPr>
        <a:xfrm>
          <a:off x="0" y="0"/>
          <a:ext cx="0" cy="0"/>
          <a:chOff x="0" y="0"/>
          <a:chExt cx="0" cy="0"/>
        </a:xfrm>
      </p:grpSpPr>
      <p:sp>
        <p:nvSpPr>
          <p:cNvPr id="141" name="Google Shape;141;p34"/>
          <p:cNvSpPr/>
          <p:nvPr/>
        </p:nvSpPr>
        <p:spPr>
          <a:xfrm>
            <a:off x="492931" y="2389174"/>
            <a:ext cx="2406000" cy="2182800"/>
          </a:xfrm>
          <a:prstGeom prst="roundRect">
            <a:avLst>
              <a:gd name="adj" fmla="val 2226"/>
            </a:avLst>
          </a:prstGeom>
          <a:solidFill>
            <a:schemeClr val="lt1"/>
          </a:solidFill>
          <a:ln w="12700" cap="flat" cmpd="sng">
            <a:solidFill>
              <a:schemeClr val="dk2"/>
            </a:solidFill>
            <a:prstDash val="solid"/>
            <a:miter lim="8000"/>
            <a:headEnd type="none" w="sm" len="sm"/>
            <a:tailEnd type="none" w="sm" len="sm"/>
          </a:ln>
          <a:effectLst>
            <a:outerShdw dist="63500" dir="7800000" algn="ctr" rotWithShape="0">
              <a:schemeClr val="accent3"/>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42" name="Google Shape;142;p34"/>
          <p:cNvSpPr/>
          <p:nvPr/>
        </p:nvSpPr>
        <p:spPr>
          <a:xfrm>
            <a:off x="3378413" y="2389174"/>
            <a:ext cx="2406000" cy="2182800"/>
          </a:xfrm>
          <a:prstGeom prst="roundRect">
            <a:avLst>
              <a:gd name="adj" fmla="val 2226"/>
            </a:avLst>
          </a:prstGeom>
          <a:solidFill>
            <a:schemeClr val="lt1"/>
          </a:solidFill>
          <a:ln w="12700" cap="flat" cmpd="sng">
            <a:solidFill>
              <a:schemeClr val="dk2"/>
            </a:solidFill>
            <a:prstDash val="solid"/>
            <a:miter lim="8000"/>
            <a:headEnd type="none" w="sm" len="sm"/>
            <a:tailEnd type="none" w="sm" len="sm"/>
          </a:ln>
          <a:effectLst>
            <a:outerShdw dist="63500" dir="7800000" algn="ctr" rotWithShape="0">
              <a:schemeClr val="accent3"/>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43" name="Google Shape;143;p34"/>
          <p:cNvSpPr/>
          <p:nvPr/>
        </p:nvSpPr>
        <p:spPr>
          <a:xfrm>
            <a:off x="6256421" y="2389174"/>
            <a:ext cx="2406000" cy="2182800"/>
          </a:xfrm>
          <a:prstGeom prst="roundRect">
            <a:avLst>
              <a:gd name="adj" fmla="val 2226"/>
            </a:avLst>
          </a:prstGeom>
          <a:solidFill>
            <a:schemeClr val="lt1"/>
          </a:solidFill>
          <a:ln w="12700" cap="flat" cmpd="sng">
            <a:solidFill>
              <a:schemeClr val="dk2"/>
            </a:solidFill>
            <a:prstDash val="solid"/>
            <a:miter lim="8000"/>
            <a:headEnd type="none" w="sm" len="sm"/>
            <a:tailEnd type="none" w="sm" len="sm"/>
          </a:ln>
          <a:effectLst>
            <a:outerShdw dist="63500" dir="7800000" algn="ctr" rotWithShape="0">
              <a:schemeClr val="accent3"/>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44" name="Google Shape;144;p34"/>
          <p:cNvSpPr txBox="1">
            <a:spLocks noGrp="1"/>
          </p:cNvSpPr>
          <p:nvPr>
            <p:ph type="title"/>
          </p:nvPr>
        </p:nvSpPr>
        <p:spPr>
          <a:xfrm>
            <a:off x="420743" y="273844"/>
            <a:ext cx="83025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5" name="Google Shape;145;p34"/>
          <p:cNvSpPr txBox="1">
            <a:spLocks noGrp="1"/>
          </p:cNvSpPr>
          <p:nvPr>
            <p:ph type="body" idx="1"/>
          </p:nvPr>
        </p:nvSpPr>
        <p:spPr>
          <a:xfrm>
            <a:off x="740774" y="3113325"/>
            <a:ext cx="1910400" cy="309900"/>
          </a:xfrm>
          <a:prstGeom prst="rect">
            <a:avLst/>
          </a:prstGeom>
          <a:noFill/>
          <a:ln>
            <a:noFill/>
          </a:ln>
        </p:spPr>
        <p:txBody>
          <a:bodyPr spcFirstLastPara="1" wrap="square" lIns="68575" tIns="34275" rIns="68575" bIns="34275" anchor="t" anchorCtr="0">
            <a:normAutofit/>
          </a:bodyPr>
          <a:lstStyle>
            <a:lvl1pPr marL="457200" lvl="0" indent="-228600" algn="ctr">
              <a:lnSpc>
                <a:spcPct val="90000"/>
              </a:lnSpc>
              <a:spcBef>
                <a:spcPts val="800"/>
              </a:spcBef>
              <a:spcAft>
                <a:spcPts val="0"/>
              </a:spcAft>
              <a:buClr>
                <a:schemeClr val="dk2"/>
              </a:buClr>
              <a:buSzPts val="1200"/>
              <a:buNone/>
              <a:defRPr sz="1200" b="0" i="0">
                <a:solidFill>
                  <a:schemeClr val="dk2"/>
                </a:solidFill>
                <a:latin typeface="DM Sans"/>
                <a:ea typeface="DM Sans"/>
                <a:cs typeface="DM Sans"/>
                <a:sym typeface="DM Sans"/>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6" name="Google Shape;146;p34"/>
          <p:cNvSpPr txBox="1">
            <a:spLocks noGrp="1"/>
          </p:cNvSpPr>
          <p:nvPr>
            <p:ph type="body" idx="2"/>
          </p:nvPr>
        </p:nvSpPr>
        <p:spPr>
          <a:xfrm>
            <a:off x="667264" y="3559092"/>
            <a:ext cx="2057400" cy="8565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atin typeface="DM Sans"/>
                <a:ea typeface="DM Sans"/>
                <a:cs typeface="DM Sans"/>
                <a:sym typeface="DM Sans"/>
              </a:defRPr>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7" name="Google Shape;147;p34"/>
          <p:cNvSpPr txBox="1">
            <a:spLocks noGrp="1"/>
          </p:cNvSpPr>
          <p:nvPr>
            <p:ph type="body" idx="3"/>
          </p:nvPr>
        </p:nvSpPr>
        <p:spPr>
          <a:xfrm>
            <a:off x="3626255" y="3113325"/>
            <a:ext cx="1910400" cy="309900"/>
          </a:xfrm>
          <a:prstGeom prst="rect">
            <a:avLst/>
          </a:prstGeom>
          <a:noFill/>
          <a:ln>
            <a:noFill/>
          </a:ln>
        </p:spPr>
        <p:txBody>
          <a:bodyPr spcFirstLastPara="1" wrap="square" lIns="68575" tIns="34275" rIns="68575" bIns="34275" anchor="t" anchorCtr="0">
            <a:normAutofit/>
          </a:bodyPr>
          <a:lstStyle>
            <a:lvl1pPr marL="457200" lvl="0" indent="-228600" algn="ctr">
              <a:lnSpc>
                <a:spcPct val="90000"/>
              </a:lnSpc>
              <a:spcBef>
                <a:spcPts val="800"/>
              </a:spcBef>
              <a:spcAft>
                <a:spcPts val="0"/>
              </a:spcAft>
              <a:buClr>
                <a:schemeClr val="dk2"/>
              </a:buClr>
              <a:buSzPts val="1200"/>
              <a:buNone/>
              <a:defRPr sz="1200" b="0" i="0">
                <a:solidFill>
                  <a:schemeClr val="dk2"/>
                </a:solidFill>
                <a:latin typeface="DM Sans"/>
                <a:ea typeface="DM Sans"/>
                <a:cs typeface="DM Sans"/>
                <a:sym typeface="DM Sans"/>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8" name="Google Shape;148;p34"/>
          <p:cNvSpPr txBox="1">
            <a:spLocks noGrp="1"/>
          </p:cNvSpPr>
          <p:nvPr>
            <p:ph type="body" idx="4"/>
          </p:nvPr>
        </p:nvSpPr>
        <p:spPr>
          <a:xfrm>
            <a:off x="3552745" y="3559092"/>
            <a:ext cx="2057400" cy="8565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atin typeface="DM Sans"/>
                <a:ea typeface="DM Sans"/>
                <a:cs typeface="DM Sans"/>
                <a:sym typeface="DM Sans"/>
              </a:defRPr>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9" name="Google Shape;149;p34"/>
          <p:cNvSpPr txBox="1">
            <a:spLocks noGrp="1"/>
          </p:cNvSpPr>
          <p:nvPr>
            <p:ph type="body" idx="5"/>
          </p:nvPr>
        </p:nvSpPr>
        <p:spPr>
          <a:xfrm>
            <a:off x="6504263" y="3113325"/>
            <a:ext cx="1910400" cy="309900"/>
          </a:xfrm>
          <a:prstGeom prst="rect">
            <a:avLst/>
          </a:prstGeom>
          <a:noFill/>
          <a:ln>
            <a:noFill/>
          </a:ln>
        </p:spPr>
        <p:txBody>
          <a:bodyPr spcFirstLastPara="1" wrap="square" lIns="68575" tIns="34275" rIns="68575" bIns="34275" anchor="t" anchorCtr="0">
            <a:normAutofit/>
          </a:bodyPr>
          <a:lstStyle>
            <a:lvl1pPr marL="457200" lvl="0" indent="-228600" algn="ctr">
              <a:lnSpc>
                <a:spcPct val="90000"/>
              </a:lnSpc>
              <a:spcBef>
                <a:spcPts val="800"/>
              </a:spcBef>
              <a:spcAft>
                <a:spcPts val="0"/>
              </a:spcAft>
              <a:buClr>
                <a:schemeClr val="dk2"/>
              </a:buClr>
              <a:buSzPts val="1200"/>
              <a:buNone/>
              <a:defRPr sz="1200" b="0" i="0">
                <a:solidFill>
                  <a:schemeClr val="dk2"/>
                </a:solidFill>
                <a:latin typeface="DM Sans"/>
                <a:ea typeface="DM Sans"/>
                <a:cs typeface="DM Sans"/>
                <a:sym typeface="DM Sans"/>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0" name="Google Shape;150;p34"/>
          <p:cNvSpPr txBox="1">
            <a:spLocks noGrp="1"/>
          </p:cNvSpPr>
          <p:nvPr>
            <p:ph type="body" idx="6"/>
          </p:nvPr>
        </p:nvSpPr>
        <p:spPr>
          <a:xfrm>
            <a:off x="6430754" y="3559092"/>
            <a:ext cx="2057400" cy="8565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atin typeface="DM Sans"/>
                <a:ea typeface="DM Sans"/>
                <a:cs typeface="DM Sans"/>
                <a:sym typeface="DM Sans"/>
              </a:defRPr>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1" name="Google Shape;151;p34"/>
          <p:cNvSpPr txBox="1">
            <a:spLocks noGrp="1"/>
          </p:cNvSpPr>
          <p:nvPr>
            <p:ph type="body" idx="7"/>
          </p:nvPr>
        </p:nvSpPr>
        <p:spPr>
          <a:xfrm>
            <a:off x="420743" y="812524"/>
            <a:ext cx="8302500" cy="13815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cxnSp>
        <p:nvCxnSpPr>
          <p:cNvPr id="152" name="Google Shape;152;p34"/>
          <p:cNvCxnSpPr/>
          <p:nvPr/>
        </p:nvCxnSpPr>
        <p:spPr>
          <a:xfrm>
            <a:off x="740774" y="3423224"/>
            <a:ext cx="1910400" cy="0"/>
          </a:xfrm>
          <a:prstGeom prst="straightConnector1">
            <a:avLst/>
          </a:prstGeom>
          <a:noFill/>
          <a:ln w="12700" cap="flat" cmpd="sng">
            <a:solidFill>
              <a:schemeClr val="dk2"/>
            </a:solidFill>
            <a:prstDash val="solid"/>
            <a:miter lim="8000"/>
            <a:headEnd type="none" w="sm" len="sm"/>
            <a:tailEnd type="none" w="sm" len="sm"/>
          </a:ln>
        </p:spPr>
      </p:cxnSp>
      <p:cxnSp>
        <p:nvCxnSpPr>
          <p:cNvPr id="153" name="Google Shape;153;p34"/>
          <p:cNvCxnSpPr/>
          <p:nvPr/>
        </p:nvCxnSpPr>
        <p:spPr>
          <a:xfrm>
            <a:off x="3628353" y="3423224"/>
            <a:ext cx="1910400" cy="0"/>
          </a:xfrm>
          <a:prstGeom prst="straightConnector1">
            <a:avLst/>
          </a:prstGeom>
          <a:noFill/>
          <a:ln w="12700" cap="flat" cmpd="sng">
            <a:solidFill>
              <a:schemeClr val="dk2"/>
            </a:solidFill>
            <a:prstDash val="solid"/>
            <a:miter lim="8000"/>
            <a:headEnd type="none" w="sm" len="sm"/>
            <a:tailEnd type="none" w="sm" len="sm"/>
          </a:ln>
        </p:spPr>
      </p:cxnSp>
      <p:cxnSp>
        <p:nvCxnSpPr>
          <p:cNvPr id="154" name="Google Shape;154;p34"/>
          <p:cNvCxnSpPr/>
          <p:nvPr/>
        </p:nvCxnSpPr>
        <p:spPr>
          <a:xfrm>
            <a:off x="6503777" y="3423224"/>
            <a:ext cx="1910400" cy="0"/>
          </a:xfrm>
          <a:prstGeom prst="straightConnector1">
            <a:avLst/>
          </a:prstGeom>
          <a:noFill/>
          <a:ln w="12700" cap="flat" cmpd="sng">
            <a:solidFill>
              <a:schemeClr val="dk2"/>
            </a:solidFill>
            <a:prstDash val="solid"/>
            <a:miter lim="8000"/>
            <a:headEnd type="none" w="sm" len="sm"/>
            <a:tailEnd type="none" w="sm" len="sm"/>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_Cards 3">
  <p:cSld name="Cards 3">
    <p:spTree>
      <p:nvGrpSpPr>
        <p:cNvPr id="1" name="Shape 155"/>
        <p:cNvGrpSpPr/>
        <p:nvPr/>
      </p:nvGrpSpPr>
      <p:grpSpPr>
        <a:xfrm>
          <a:off x="0" y="0"/>
          <a:ext cx="0" cy="0"/>
          <a:chOff x="0" y="0"/>
          <a:chExt cx="0" cy="0"/>
        </a:xfrm>
      </p:grpSpPr>
      <p:sp>
        <p:nvSpPr>
          <p:cNvPr id="156" name="Google Shape;156;p35"/>
          <p:cNvSpPr txBox="1">
            <a:spLocks noGrp="1"/>
          </p:cNvSpPr>
          <p:nvPr>
            <p:ph type="title"/>
          </p:nvPr>
        </p:nvSpPr>
        <p:spPr>
          <a:xfrm>
            <a:off x="420743" y="273844"/>
            <a:ext cx="83025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7" name="Google Shape;157;p35"/>
          <p:cNvSpPr/>
          <p:nvPr/>
        </p:nvSpPr>
        <p:spPr>
          <a:xfrm>
            <a:off x="463013" y="1048888"/>
            <a:ext cx="1877100" cy="3570600"/>
          </a:xfrm>
          <a:prstGeom prst="roundRect">
            <a:avLst>
              <a:gd name="adj" fmla="val 5049"/>
            </a:avLst>
          </a:prstGeom>
          <a:solidFill>
            <a:schemeClr val="lt1"/>
          </a:solidFill>
          <a:ln w="12700" cap="flat" cmpd="sng">
            <a:solidFill>
              <a:srgbClr val="CBDAFF"/>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58" name="Google Shape;158;p35"/>
          <p:cNvSpPr/>
          <p:nvPr/>
        </p:nvSpPr>
        <p:spPr>
          <a:xfrm>
            <a:off x="1031136" y="752468"/>
            <a:ext cx="740700" cy="740700"/>
          </a:xfrm>
          <a:prstGeom prst="ellipse">
            <a:avLst/>
          </a:prstGeom>
          <a:solidFill>
            <a:schemeClr val="lt1"/>
          </a:solidFill>
          <a:ln w="12700" cap="flat" cmpd="sng">
            <a:solidFill>
              <a:srgbClr val="0254EC"/>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59" name="Google Shape;159;p35"/>
          <p:cNvSpPr/>
          <p:nvPr/>
        </p:nvSpPr>
        <p:spPr>
          <a:xfrm>
            <a:off x="2596613" y="1048888"/>
            <a:ext cx="1877100" cy="3570600"/>
          </a:xfrm>
          <a:prstGeom prst="roundRect">
            <a:avLst>
              <a:gd name="adj" fmla="val 5049"/>
            </a:avLst>
          </a:prstGeom>
          <a:solidFill>
            <a:schemeClr val="lt1"/>
          </a:solidFill>
          <a:ln w="12700" cap="flat" cmpd="sng">
            <a:solidFill>
              <a:srgbClr val="CBDAFF"/>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60" name="Google Shape;160;p35"/>
          <p:cNvSpPr/>
          <p:nvPr/>
        </p:nvSpPr>
        <p:spPr>
          <a:xfrm>
            <a:off x="3164736" y="752468"/>
            <a:ext cx="740700" cy="740700"/>
          </a:xfrm>
          <a:prstGeom prst="ellipse">
            <a:avLst/>
          </a:prstGeom>
          <a:solidFill>
            <a:schemeClr val="lt1"/>
          </a:solidFill>
          <a:ln w="12700" cap="flat" cmpd="sng">
            <a:solidFill>
              <a:srgbClr val="0254EC"/>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61" name="Google Shape;161;p35"/>
          <p:cNvSpPr/>
          <p:nvPr/>
        </p:nvSpPr>
        <p:spPr>
          <a:xfrm>
            <a:off x="4730213" y="1048888"/>
            <a:ext cx="1877100" cy="3570600"/>
          </a:xfrm>
          <a:prstGeom prst="roundRect">
            <a:avLst>
              <a:gd name="adj" fmla="val 5049"/>
            </a:avLst>
          </a:prstGeom>
          <a:solidFill>
            <a:schemeClr val="lt1"/>
          </a:solidFill>
          <a:ln w="12700" cap="flat" cmpd="sng">
            <a:solidFill>
              <a:srgbClr val="CBDAFF"/>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62" name="Google Shape;162;p35"/>
          <p:cNvSpPr/>
          <p:nvPr/>
        </p:nvSpPr>
        <p:spPr>
          <a:xfrm>
            <a:off x="5298336" y="752468"/>
            <a:ext cx="740700" cy="740700"/>
          </a:xfrm>
          <a:prstGeom prst="ellipse">
            <a:avLst/>
          </a:prstGeom>
          <a:solidFill>
            <a:schemeClr val="lt1"/>
          </a:solidFill>
          <a:ln w="12700" cap="flat" cmpd="sng">
            <a:solidFill>
              <a:srgbClr val="0254EC"/>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63" name="Google Shape;163;p35"/>
          <p:cNvSpPr/>
          <p:nvPr/>
        </p:nvSpPr>
        <p:spPr>
          <a:xfrm>
            <a:off x="6863813" y="1048888"/>
            <a:ext cx="1877100" cy="3570600"/>
          </a:xfrm>
          <a:prstGeom prst="roundRect">
            <a:avLst>
              <a:gd name="adj" fmla="val 5049"/>
            </a:avLst>
          </a:prstGeom>
          <a:solidFill>
            <a:schemeClr val="lt1"/>
          </a:solidFill>
          <a:ln w="12700" cap="flat" cmpd="sng">
            <a:solidFill>
              <a:srgbClr val="CBDAFF"/>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64" name="Google Shape;164;p35"/>
          <p:cNvSpPr/>
          <p:nvPr/>
        </p:nvSpPr>
        <p:spPr>
          <a:xfrm>
            <a:off x="7431936" y="752468"/>
            <a:ext cx="740700" cy="740700"/>
          </a:xfrm>
          <a:prstGeom prst="ellipse">
            <a:avLst/>
          </a:prstGeom>
          <a:solidFill>
            <a:schemeClr val="lt1"/>
          </a:solidFill>
          <a:ln w="12700" cap="flat" cmpd="sng">
            <a:solidFill>
              <a:srgbClr val="0254EC"/>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65" name="Google Shape;165;p35"/>
          <p:cNvSpPr txBox="1">
            <a:spLocks noGrp="1"/>
          </p:cNvSpPr>
          <p:nvPr>
            <p:ph type="body" idx="1"/>
          </p:nvPr>
        </p:nvSpPr>
        <p:spPr>
          <a:xfrm>
            <a:off x="572561" y="2072245"/>
            <a:ext cx="1657800" cy="2390400"/>
          </a:xfrm>
          <a:prstGeom prst="rect">
            <a:avLst/>
          </a:prstGeom>
          <a:noFill/>
          <a:ln>
            <a:noFill/>
          </a:ln>
        </p:spPr>
        <p:txBody>
          <a:bodyPr spcFirstLastPara="1" wrap="square" lIns="68575" tIns="34275" rIns="68575" bIns="34275" anchor="t" anchorCtr="0">
            <a:noAutofit/>
          </a:bodyPr>
          <a:lstStyle>
            <a:lvl1pPr marL="457200" lvl="0" indent="-285750" algn="l">
              <a:lnSpc>
                <a:spcPct val="90000"/>
              </a:lnSpc>
              <a:spcBef>
                <a:spcPts val="800"/>
              </a:spcBef>
              <a:spcAft>
                <a:spcPts val="0"/>
              </a:spcAft>
              <a:buClr>
                <a:schemeClr val="dk1"/>
              </a:buClr>
              <a:buSzPts val="900"/>
              <a:buFont typeface="DM Sans"/>
              <a:buChar char="•"/>
              <a:defRPr sz="900"/>
            </a:lvl1pPr>
            <a:lvl2pPr marL="914400" lvl="1" indent="-285750" algn="l">
              <a:lnSpc>
                <a:spcPct val="90000"/>
              </a:lnSpc>
              <a:spcBef>
                <a:spcPts val="400"/>
              </a:spcBef>
              <a:spcAft>
                <a:spcPts val="0"/>
              </a:spcAft>
              <a:buClr>
                <a:schemeClr val="dk1"/>
              </a:buClr>
              <a:buSzPts val="900"/>
              <a:buFont typeface="DM Sans"/>
              <a:buChar char="•"/>
              <a:defRPr sz="900"/>
            </a:lvl2pPr>
            <a:lvl3pPr marL="1371600" lvl="2" indent="-285750" algn="l">
              <a:lnSpc>
                <a:spcPct val="90000"/>
              </a:lnSpc>
              <a:spcBef>
                <a:spcPts val="400"/>
              </a:spcBef>
              <a:spcAft>
                <a:spcPts val="0"/>
              </a:spcAft>
              <a:buClr>
                <a:schemeClr val="dk1"/>
              </a:buClr>
              <a:buSzPts val="900"/>
              <a:buFont typeface="DM Sans"/>
              <a:buChar char="•"/>
              <a:defRPr sz="900"/>
            </a:lvl3pPr>
            <a:lvl4pPr marL="1828800" lvl="3" indent="-285750" algn="l">
              <a:lnSpc>
                <a:spcPct val="90000"/>
              </a:lnSpc>
              <a:spcBef>
                <a:spcPts val="400"/>
              </a:spcBef>
              <a:spcAft>
                <a:spcPts val="0"/>
              </a:spcAft>
              <a:buClr>
                <a:schemeClr val="dk1"/>
              </a:buClr>
              <a:buSzPts val="900"/>
              <a:buFont typeface="DM Sans"/>
              <a:buChar char="•"/>
              <a:defRPr sz="900"/>
            </a:lvl4pPr>
            <a:lvl5pPr marL="2286000" lvl="4" indent="-285750" algn="l">
              <a:lnSpc>
                <a:spcPct val="90000"/>
              </a:lnSpc>
              <a:spcBef>
                <a:spcPts val="400"/>
              </a:spcBef>
              <a:spcAft>
                <a:spcPts val="0"/>
              </a:spcAft>
              <a:buClr>
                <a:schemeClr val="dk1"/>
              </a:buClr>
              <a:buSzPts val="900"/>
              <a:buFont typeface="DM Sans"/>
              <a:buChar char="•"/>
              <a:defRPr sz="9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6" name="Google Shape;166;p35"/>
          <p:cNvSpPr txBox="1">
            <a:spLocks noGrp="1"/>
          </p:cNvSpPr>
          <p:nvPr>
            <p:ph type="body" idx="2"/>
          </p:nvPr>
        </p:nvSpPr>
        <p:spPr>
          <a:xfrm>
            <a:off x="2706160" y="2072245"/>
            <a:ext cx="1657800" cy="2390400"/>
          </a:xfrm>
          <a:prstGeom prst="rect">
            <a:avLst/>
          </a:prstGeom>
          <a:noFill/>
          <a:ln>
            <a:noFill/>
          </a:ln>
        </p:spPr>
        <p:txBody>
          <a:bodyPr spcFirstLastPara="1" wrap="square" lIns="68575" tIns="34275" rIns="68575" bIns="34275" anchor="t" anchorCtr="0">
            <a:noAutofit/>
          </a:bodyPr>
          <a:lstStyle>
            <a:lvl1pPr marL="457200" lvl="0" indent="-285750" algn="l">
              <a:lnSpc>
                <a:spcPct val="90000"/>
              </a:lnSpc>
              <a:spcBef>
                <a:spcPts val="800"/>
              </a:spcBef>
              <a:spcAft>
                <a:spcPts val="0"/>
              </a:spcAft>
              <a:buClr>
                <a:schemeClr val="dk1"/>
              </a:buClr>
              <a:buSzPts val="900"/>
              <a:buFont typeface="DM Sans"/>
              <a:buChar char="•"/>
              <a:defRPr sz="900"/>
            </a:lvl1pPr>
            <a:lvl2pPr marL="914400" lvl="1" indent="-285750" algn="l">
              <a:lnSpc>
                <a:spcPct val="90000"/>
              </a:lnSpc>
              <a:spcBef>
                <a:spcPts val="400"/>
              </a:spcBef>
              <a:spcAft>
                <a:spcPts val="0"/>
              </a:spcAft>
              <a:buClr>
                <a:schemeClr val="dk1"/>
              </a:buClr>
              <a:buSzPts val="900"/>
              <a:buFont typeface="DM Sans"/>
              <a:buChar char="•"/>
              <a:defRPr sz="900"/>
            </a:lvl2pPr>
            <a:lvl3pPr marL="1371600" lvl="2" indent="-285750" algn="l">
              <a:lnSpc>
                <a:spcPct val="90000"/>
              </a:lnSpc>
              <a:spcBef>
                <a:spcPts val="400"/>
              </a:spcBef>
              <a:spcAft>
                <a:spcPts val="0"/>
              </a:spcAft>
              <a:buClr>
                <a:schemeClr val="dk1"/>
              </a:buClr>
              <a:buSzPts val="900"/>
              <a:buFont typeface="DM Sans"/>
              <a:buChar char="•"/>
              <a:defRPr sz="900"/>
            </a:lvl3pPr>
            <a:lvl4pPr marL="1828800" lvl="3" indent="-285750" algn="l">
              <a:lnSpc>
                <a:spcPct val="90000"/>
              </a:lnSpc>
              <a:spcBef>
                <a:spcPts val="400"/>
              </a:spcBef>
              <a:spcAft>
                <a:spcPts val="0"/>
              </a:spcAft>
              <a:buClr>
                <a:schemeClr val="dk1"/>
              </a:buClr>
              <a:buSzPts val="900"/>
              <a:buFont typeface="DM Sans"/>
              <a:buChar char="•"/>
              <a:defRPr sz="900"/>
            </a:lvl4pPr>
            <a:lvl5pPr marL="2286000" lvl="4" indent="-285750" algn="l">
              <a:lnSpc>
                <a:spcPct val="90000"/>
              </a:lnSpc>
              <a:spcBef>
                <a:spcPts val="400"/>
              </a:spcBef>
              <a:spcAft>
                <a:spcPts val="0"/>
              </a:spcAft>
              <a:buClr>
                <a:schemeClr val="dk1"/>
              </a:buClr>
              <a:buSzPts val="900"/>
              <a:buFont typeface="DM Sans"/>
              <a:buChar char="•"/>
              <a:defRPr sz="9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7" name="Google Shape;167;p35"/>
          <p:cNvSpPr txBox="1">
            <a:spLocks noGrp="1"/>
          </p:cNvSpPr>
          <p:nvPr>
            <p:ph type="body" idx="3"/>
          </p:nvPr>
        </p:nvSpPr>
        <p:spPr>
          <a:xfrm>
            <a:off x="4839761" y="2072245"/>
            <a:ext cx="1657800" cy="2390400"/>
          </a:xfrm>
          <a:prstGeom prst="rect">
            <a:avLst/>
          </a:prstGeom>
          <a:noFill/>
          <a:ln>
            <a:noFill/>
          </a:ln>
        </p:spPr>
        <p:txBody>
          <a:bodyPr spcFirstLastPara="1" wrap="square" lIns="68575" tIns="34275" rIns="68575" bIns="34275" anchor="t" anchorCtr="0">
            <a:noAutofit/>
          </a:bodyPr>
          <a:lstStyle>
            <a:lvl1pPr marL="457200" lvl="0" indent="-285750" algn="l">
              <a:lnSpc>
                <a:spcPct val="90000"/>
              </a:lnSpc>
              <a:spcBef>
                <a:spcPts val="800"/>
              </a:spcBef>
              <a:spcAft>
                <a:spcPts val="0"/>
              </a:spcAft>
              <a:buClr>
                <a:schemeClr val="dk1"/>
              </a:buClr>
              <a:buSzPts val="900"/>
              <a:buFont typeface="DM Sans"/>
              <a:buChar char="•"/>
              <a:defRPr sz="900"/>
            </a:lvl1pPr>
            <a:lvl2pPr marL="914400" lvl="1" indent="-285750" algn="l">
              <a:lnSpc>
                <a:spcPct val="90000"/>
              </a:lnSpc>
              <a:spcBef>
                <a:spcPts val="400"/>
              </a:spcBef>
              <a:spcAft>
                <a:spcPts val="0"/>
              </a:spcAft>
              <a:buClr>
                <a:schemeClr val="dk1"/>
              </a:buClr>
              <a:buSzPts val="900"/>
              <a:buFont typeface="DM Sans"/>
              <a:buChar char="•"/>
              <a:defRPr sz="900"/>
            </a:lvl2pPr>
            <a:lvl3pPr marL="1371600" lvl="2" indent="-285750" algn="l">
              <a:lnSpc>
                <a:spcPct val="90000"/>
              </a:lnSpc>
              <a:spcBef>
                <a:spcPts val="400"/>
              </a:spcBef>
              <a:spcAft>
                <a:spcPts val="0"/>
              </a:spcAft>
              <a:buClr>
                <a:schemeClr val="dk1"/>
              </a:buClr>
              <a:buSzPts val="900"/>
              <a:buFont typeface="DM Sans"/>
              <a:buChar char="•"/>
              <a:defRPr sz="900"/>
            </a:lvl3pPr>
            <a:lvl4pPr marL="1828800" lvl="3" indent="-285750" algn="l">
              <a:lnSpc>
                <a:spcPct val="90000"/>
              </a:lnSpc>
              <a:spcBef>
                <a:spcPts val="400"/>
              </a:spcBef>
              <a:spcAft>
                <a:spcPts val="0"/>
              </a:spcAft>
              <a:buClr>
                <a:schemeClr val="dk1"/>
              </a:buClr>
              <a:buSzPts val="900"/>
              <a:buFont typeface="DM Sans"/>
              <a:buChar char="•"/>
              <a:defRPr sz="900"/>
            </a:lvl4pPr>
            <a:lvl5pPr marL="2286000" lvl="4" indent="-285750" algn="l">
              <a:lnSpc>
                <a:spcPct val="90000"/>
              </a:lnSpc>
              <a:spcBef>
                <a:spcPts val="400"/>
              </a:spcBef>
              <a:spcAft>
                <a:spcPts val="0"/>
              </a:spcAft>
              <a:buClr>
                <a:schemeClr val="dk1"/>
              </a:buClr>
              <a:buSzPts val="900"/>
              <a:buFont typeface="DM Sans"/>
              <a:buChar char="•"/>
              <a:defRPr sz="9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8" name="Google Shape;168;p35"/>
          <p:cNvSpPr txBox="1">
            <a:spLocks noGrp="1"/>
          </p:cNvSpPr>
          <p:nvPr>
            <p:ph type="body" idx="4"/>
          </p:nvPr>
        </p:nvSpPr>
        <p:spPr>
          <a:xfrm>
            <a:off x="6973361" y="2072245"/>
            <a:ext cx="1657800" cy="2390400"/>
          </a:xfrm>
          <a:prstGeom prst="rect">
            <a:avLst/>
          </a:prstGeom>
          <a:noFill/>
          <a:ln>
            <a:noFill/>
          </a:ln>
        </p:spPr>
        <p:txBody>
          <a:bodyPr spcFirstLastPara="1" wrap="square" lIns="68575" tIns="34275" rIns="68575" bIns="34275" anchor="t" anchorCtr="0">
            <a:noAutofit/>
          </a:bodyPr>
          <a:lstStyle>
            <a:lvl1pPr marL="457200" lvl="0" indent="-285750" algn="l">
              <a:lnSpc>
                <a:spcPct val="90000"/>
              </a:lnSpc>
              <a:spcBef>
                <a:spcPts val="800"/>
              </a:spcBef>
              <a:spcAft>
                <a:spcPts val="0"/>
              </a:spcAft>
              <a:buClr>
                <a:schemeClr val="dk1"/>
              </a:buClr>
              <a:buSzPts val="900"/>
              <a:buFont typeface="DM Sans"/>
              <a:buChar char="•"/>
              <a:defRPr sz="900"/>
            </a:lvl1pPr>
            <a:lvl2pPr marL="914400" lvl="1" indent="-285750" algn="l">
              <a:lnSpc>
                <a:spcPct val="90000"/>
              </a:lnSpc>
              <a:spcBef>
                <a:spcPts val="400"/>
              </a:spcBef>
              <a:spcAft>
                <a:spcPts val="0"/>
              </a:spcAft>
              <a:buClr>
                <a:schemeClr val="dk1"/>
              </a:buClr>
              <a:buSzPts val="900"/>
              <a:buFont typeface="DM Sans"/>
              <a:buChar char="•"/>
              <a:defRPr sz="900"/>
            </a:lvl2pPr>
            <a:lvl3pPr marL="1371600" lvl="2" indent="-285750" algn="l">
              <a:lnSpc>
                <a:spcPct val="90000"/>
              </a:lnSpc>
              <a:spcBef>
                <a:spcPts val="400"/>
              </a:spcBef>
              <a:spcAft>
                <a:spcPts val="0"/>
              </a:spcAft>
              <a:buClr>
                <a:schemeClr val="dk1"/>
              </a:buClr>
              <a:buSzPts val="900"/>
              <a:buFont typeface="DM Sans"/>
              <a:buChar char="•"/>
              <a:defRPr sz="900"/>
            </a:lvl3pPr>
            <a:lvl4pPr marL="1828800" lvl="3" indent="-285750" algn="l">
              <a:lnSpc>
                <a:spcPct val="90000"/>
              </a:lnSpc>
              <a:spcBef>
                <a:spcPts val="400"/>
              </a:spcBef>
              <a:spcAft>
                <a:spcPts val="0"/>
              </a:spcAft>
              <a:buClr>
                <a:schemeClr val="dk1"/>
              </a:buClr>
              <a:buSzPts val="900"/>
              <a:buFont typeface="DM Sans"/>
              <a:buChar char="•"/>
              <a:defRPr sz="900"/>
            </a:lvl4pPr>
            <a:lvl5pPr marL="2286000" lvl="4" indent="-285750" algn="l">
              <a:lnSpc>
                <a:spcPct val="90000"/>
              </a:lnSpc>
              <a:spcBef>
                <a:spcPts val="400"/>
              </a:spcBef>
              <a:spcAft>
                <a:spcPts val="0"/>
              </a:spcAft>
              <a:buClr>
                <a:schemeClr val="dk1"/>
              </a:buClr>
              <a:buSzPts val="900"/>
              <a:buFont typeface="DM Sans"/>
              <a:buChar char="•"/>
              <a:defRPr sz="9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9" name="Google Shape;169;p35"/>
          <p:cNvSpPr txBox="1">
            <a:spLocks noGrp="1"/>
          </p:cNvSpPr>
          <p:nvPr>
            <p:ph type="body" idx="5"/>
          </p:nvPr>
        </p:nvSpPr>
        <p:spPr>
          <a:xfrm>
            <a:off x="572561" y="1537189"/>
            <a:ext cx="1657800" cy="3099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2"/>
              </a:buClr>
              <a:buSzPts val="1100"/>
              <a:buFont typeface="DM Sans"/>
              <a:buNone/>
              <a:defRPr sz="1100">
                <a:solidFill>
                  <a:schemeClr val="dk2"/>
                </a:solidFill>
              </a:defRPr>
            </a:lvl1pPr>
            <a:lvl2pPr marL="914400" lvl="1" indent="-285750" algn="l">
              <a:lnSpc>
                <a:spcPct val="90000"/>
              </a:lnSpc>
              <a:spcBef>
                <a:spcPts val="400"/>
              </a:spcBef>
              <a:spcAft>
                <a:spcPts val="0"/>
              </a:spcAft>
              <a:buClr>
                <a:schemeClr val="dk1"/>
              </a:buClr>
              <a:buSzPts val="900"/>
              <a:buFont typeface="DM Sans"/>
              <a:buChar char="•"/>
              <a:defRPr sz="900"/>
            </a:lvl2pPr>
            <a:lvl3pPr marL="1371600" lvl="2" indent="-285750" algn="l">
              <a:lnSpc>
                <a:spcPct val="90000"/>
              </a:lnSpc>
              <a:spcBef>
                <a:spcPts val="400"/>
              </a:spcBef>
              <a:spcAft>
                <a:spcPts val="0"/>
              </a:spcAft>
              <a:buClr>
                <a:schemeClr val="dk1"/>
              </a:buClr>
              <a:buSzPts val="900"/>
              <a:buFont typeface="DM Sans"/>
              <a:buChar char="•"/>
              <a:defRPr sz="900"/>
            </a:lvl3pPr>
            <a:lvl4pPr marL="1828800" lvl="3" indent="-285750" algn="l">
              <a:lnSpc>
                <a:spcPct val="90000"/>
              </a:lnSpc>
              <a:spcBef>
                <a:spcPts val="400"/>
              </a:spcBef>
              <a:spcAft>
                <a:spcPts val="0"/>
              </a:spcAft>
              <a:buClr>
                <a:schemeClr val="dk1"/>
              </a:buClr>
              <a:buSzPts val="900"/>
              <a:buFont typeface="DM Sans"/>
              <a:buChar char="•"/>
              <a:defRPr sz="900"/>
            </a:lvl4pPr>
            <a:lvl5pPr marL="2286000" lvl="4" indent="-285750" algn="l">
              <a:lnSpc>
                <a:spcPct val="90000"/>
              </a:lnSpc>
              <a:spcBef>
                <a:spcPts val="400"/>
              </a:spcBef>
              <a:spcAft>
                <a:spcPts val="0"/>
              </a:spcAft>
              <a:buClr>
                <a:schemeClr val="dk1"/>
              </a:buClr>
              <a:buSzPts val="900"/>
              <a:buFont typeface="DM Sans"/>
              <a:buChar char="•"/>
              <a:defRPr sz="9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0" name="Google Shape;170;p35"/>
          <p:cNvSpPr txBox="1">
            <a:spLocks noGrp="1"/>
          </p:cNvSpPr>
          <p:nvPr>
            <p:ph type="body" idx="6"/>
          </p:nvPr>
        </p:nvSpPr>
        <p:spPr>
          <a:xfrm>
            <a:off x="2706160" y="1537189"/>
            <a:ext cx="1657800" cy="3099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2"/>
              </a:buClr>
              <a:buSzPts val="1100"/>
              <a:buFont typeface="DM Sans"/>
              <a:buNone/>
              <a:defRPr sz="1100">
                <a:solidFill>
                  <a:schemeClr val="dk2"/>
                </a:solidFill>
              </a:defRPr>
            </a:lvl1pPr>
            <a:lvl2pPr marL="914400" lvl="1" indent="-285750" algn="l">
              <a:lnSpc>
                <a:spcPct val="90000"/>
              </a:lnSpc>
              <a:spcBef>
                <a:spcPts val="400"/>
              </a:spcBef>
              <a:spcAft>
                <a:spcPts val="0"/>
              </a:spcAft>
              <a:buClr>
                <a:schemeClr val="dk1"/>
              </a:buClr>
              <a:buSzPts val="900"/>
              <a:buFont typeface="DM Sans"/>
              <a:buChar char="•"/>
              <a:defRPr sz="900"/>
            </a:lvl2pPr>
            <a:lvl3pPr marL="1371600" lvl="2" indent="-285750" algn="l">
              <a:lnSpc>
                <a:spcPct val="90000"/>
              </a:lnSpc>
              <a:spcBef>
                <a:spcPts val="400"/>
              </a:spcBef>
              <a:spcAft>
                <a:spcPts val="0"/>
              </a:spcAft>
              <a:buClr>
                <a:schemeClr val="dk1"/>
              </a:buClr>
              <a:buSzPts val="900"/>
              <a:buFont typeface="DM Sans"/>
              <a:buChar char="•"/>
              <a:defRPr sz="900"/>
            </a:lvl3pPr>
            <a:lvl4pPr marL="1828800" lvl="3" indent="-285750" algn="l">
              <a:lnSpc>
                <a:spcPct val="90000"/>
              </a:lnSpc>
              <a:spcBef>
                <a:spcPts val="400"/>
              </a:spcBef>
              <a:spcAft>
                <a:spcPts val="0"/>
              </a:spcAft>
              <a:buClr>
                <a:schemeClr val="dk1"/>
              </a:buClr>
              <a:buSzPts val="900"/>
              <a:buFont typeface="DM Sans"/>
              <a:buChar char="•"/>
              <a:defRPr sz="900"/>
            </a:lvl4pPr>
            <a:lvl5pPr marL="2286000" lvl="4" indent="-285750" algn="l">
              <a:lnSpc>
                <a:spcPct val="90000"/>
              </a:lnSpc>
              <a:spcBef>
                <a:spcPts val="400"/>
              </a:spcBef>
              <a:spcAft>
                <a:spcPts val="0"/>
              </a:spcAft>
              <a:buClr>
                <a:schemeClr val="dk1"/>
              </a:buClr>
              <a:buSzPts val="900"/>
              <a:buFont typeface="DM Sans"/>
              <a:buChar char="•"/>
              <a:defRPr sz="9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1" name="Google Shape;171;p35"/>
          <p:cNvSpPr txBox="1">
            <a:spLocks noGrp="1"/>
          </p:cNvSpPr>
          <p:nvPr>
            <p:ph type="body" idx="7"/>
          </p:nvPr>
        </p:nvSpPr>
        <p:spPr>
          <a:xfrm>
            <a:off x="4839760" y="1537189"/>
            <a:ext cx="1657800" cy="3099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2"/>
              </a:buClr>
              <a:buSzPts val="1100"/>
              <a:buFont typeface="DM Sans"/>
              <a:buNone/>
              <a:defRPr sz="1100">
                <a:solidFill>
                  <a:schemeClr val="dk2"/>
                </a:solidFill>
              </a:defRPr>
            </a:lvl1pPr>
            <a:lvl2pPr marL="914400" lvl="1" indent="-285750" algn="l">
              <a:lnSpc>
                <a:spcPct val="90000"/>
              </a:lnSpc>
              <a:spcBef>
                <a:spcPts val="400"/>
              </a:spcBef>
              <a:spcAft>
                <a:spcPts val="0"/>
              </a:spcAft>
              <a:buClr>
                <a:schemeClr val="dk1"/>
              </a:buClr>
              <a:buSzPts val="900"/>
              <a:buFont typeface="DM Sans"/>
              <a:buChar char="•"/>
              <a:defRPr sz="900"/>
            </a:lvl2pPr>
            <a:lvl3pPr marL="1371600" lvl="2" indent="-285750" algn="l">
              <a:lnSpc>
                <a:spcPct val="90000"/>
              </a:lnSpc>
              <a:spcBef>
                <a:spcPts val="400"/>
              </a:spcBef>
              <a:spcAft>
                <a:spcPts val="0"/>
              </a:spcAft>
              <a:buClr>
                <a:schemeClr val="dk1"/>
              </a:buClr>
              <a:buSzPts val="900"/>
              <a:buFont typeface="DM Sans"/>
              <a:buChar char="•"/>
              <a:defRPr sz="900"/>
            </a:lvl3pPr>
            <a:lvl4pPr marL="1828800" lvl="3" indent="-285750" algn="l">
              <a:lnSpc>
                <a:spcPct val="90000"/>
              </a:lnSpc>
              <a:spcBef>
                <a:spcPts val="400"/>
              </a:spcBef>
              <a:spcAft>
                <a:spcPts val="0"/>
              </a:spcAft>
              <a:buClr>
                <a:schemeClr val="dk1"/>
              </a:buClr>
              <a:buSzPts val="900"/>
              <a:buFont typeface="DM Sans"/>
              <a:buChar char="•"/>
              <a:defRPr sz="900"/>
            </a:lvl4pPr>
            <a:lvl5pPr marL="2286000" lvl="4" indent="-285750" algn="l">
              <a:lnSpc>
                <a:spcPct val="90000"/>
              </a:lnSpc>
              <a:spcBef>
                <a:spcPts val="400"/>
              </a:spcBef>
              <a:spcAft>
                <a:spcPts val="0"/>
              </a:spcAft>
              <a:buClr>
                <a:schemeClr val="dk1"/>
              </a:buClr>
              <a:buSzPts val="900"/>
              <a:buFont typeface="DM Sans"/>
              <a:buChar char="•"/>
              <a:defRPr sz="9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2" name="Google Shape;172;p35"/>
          <p:cNvSpPr txBox="1">
            <a:spLocks noGrp="1"/>
          </p:cNvSpPr>
          <p:nvPr>
            <p:ph type="body" idx="8"/>
          </p:nvPr>
        </p:nvSpPr>
        <p:spPr>
          <a:xfrm>
            <a:off x="6973360" y="1537189"/>
            <a:ext cx="1657800" cy="3099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2"/>
              </a:buClr>
              <a:buSzPts val="1100"/>
              <a:buFont typeface="DM Sans"/>
              <a:buNone/>
              <a:defRPr sz="1100">
                <a:solidFill>
                  <a:schemeClr val="dk2"/>
                </a:solidFill>
              </a:defRPr>
            </a:lvl1pPr>
            <a:lvl2pPr marL="914400" lvl="1" indent="-285750" algn="l">
              <a:lnSpc>
                <a:spcPct val="90000"/>
              </a:lnSpc>
              <a:spcBef>
                <a:spcPts val="400"/>
              </a:spcBef>
              <a:spcAft>
                <a:spcPts val="0"/>
              </a:spcAft>
              <a:buClr>
                <a:schemeClr val="dk1"/>
              </a:buClr>
              <a:buSzPts val="900"/>
              <a:buFont typeface="DM Sans"/>
              <a:buChar char="•"/>
              <a:defRPr sz="900"/>
            </a:lvl2pPr>
            <a:lvl3pPr marL="1371600" lvl="2" indent="-285750" algn="l">
              <a:lnSpc>
                <a:spcPct val="90000"/>
              </a:lnSpc>
              <a:spcBef>
                <a:spcPts val="400"/>
              </a:spcBef>
              <a:spcAft>
                <a:spcPts val="0"/>
              </a:spcAft>
              <a:buClr>
                <a:schemeClr val="dk1"/>
              </a:buClr>
              <a:buSzPts val="900"/>
              <a:buFont typeface="DM Sans"/>
              <a:buChar char="•"/>
              <a:defRPr sz="900"/>
            </a:lvl3pPr>
            <a:lvl4pPr marL="1828800" lvl="3" indent="-285750" algn="l">
              <a:lnSpc>
                <a:spcPct val="90000"/>
              </a:lnSpc>
              <a:spcBef>
                <a:spcPts val="400"/>
              </a:spcBef>
              <a:spcAft>
                <a:spcPts val="0"/>
              </a:spcAft>
              <a:buClr>
                <a:schemeClr val="dk1"/>
              </a:buClr>
              <a:buSzPts val="900"/>
              <a:buFont typeface="DM Sans"/>
              <a:buChar char="•"/>
              <a:defRPr sz="900"/>
            </a:lvl4pPr>
            <a:lvl5pPr marL="2286000" lvl="4" indent="-285750" algn="l">
              <a:lnSpc>
                <a:spcPct val="90000"/>
              </a:lnSpc>
              <a:spcBef>
                <a:spcPts val="400"/>
              </a:spcBef>
              <a:spcAft>
                <a:spcPts val="0"/>
              </a:spcAft>
              <a:buClr>
                <a:schemeClr val="dk1"/>
              </a:buClr>
              <a:buSzPts val="900"/>
              <a:buFont typeface="DM Sans"/>
              <a:buChar char="•"/>
              <a:defRPr sz="9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cxnSp>
        <p:nvCxnSpPr>
          <p:cNvPr id="173" name="Google Shape;173;p35"/>
          <p:cNvCxnSpPr/>
          <p:nvPr/>
        </p:nvCxnSpPr>
        <p:spPr>
          <a:xfrm>
            <a:off x="633758" y="1940821"/>
            <a:ext cx="1535400" cy="0"/>
          </a:xfrm>
          <a:prstGeom prst="straightConnector1">
            <a:avLst/>
          </a:prstGeom>
          <a:noFill/>
          <a:ln w="12700" cap="flat" cmpd="sng">
            <a:solidFill>
              <a:schemeClr val="dk2"/>
            </a:solidFill>
            <a:prstDash val="solid"/>
            <a:miter lim="8000"/>
            <a:headEnd type="none" w="sm" len="sm"/>
            <a:tailEnd type="none" w="sm" len="sm"/>
          </a:ln>
        </p:spPr>
      </p:cxnSp>
      <p:cxnSp>
        <p:nvCxnSpPr>
          <p:cNvPr id="174" name="Google Shape;174;p35"/>
          <p:cNvCxnSpPr/>
          <p:nvPr/>
        </p:nvCxnSpPr>
        <p:spPr>
          <a:xfrm>
            <a:off x="2767358" y="1940821"/>
            <a:ext cx="1535400" cy="0"/>
          </a:xfrm>
          <a:prstGeom prst="straightConnector1">
            <a:avLst/>
          </a:prstGeom>
          <a:noFill/>
          <a:ln w="12700" cap="flat" cmpd="sng">
            <a:solidFill>
              <a:schemeClr val="dk2"/>
            </a:solidFill>
            <a:prstDash val="solid"/>
            <a:miter lim="8000"/>
            <a:headEnd type="none" w="sm" len="sm"/>
            <a:tailEnd type="none" w="sm" len="sm"/>
          </a:ln>
        </p:spPr>
      </p:cxnSp>
      <p:cxnSp>
        <p:nvCxnSpPr>
          <p:cNvPr id="175" name="Google Shape;175;p35"/>
          <p:cNvCxnSpPr/>
          <p:nvPr/>
        </p:nvCxnSpPr>
        <p:spPr>
          <a:xfrm>
            <a:off x="4900958" y="1940821"/>
            <a:ext cx="1535400" cy="0"/>
          </a:xfrm>
          <a:prstGeom prst="straightConnector1">
            <a:avLst/>
          </a:prstGeom>
          <a:noFill/>
          <a:ln w="12700" cap="flat" cmpd="sng">
            <a:solidFill>
              <a:schemeClr val="dk2"/>
            </a:solidFill>
            <a:prstDash val="solid"/>
            <a:miter lim="8000"/>
            <a:headEnd type="none" w="sm" len="sm"/>
            <a:tailEnd type="none" w="sm" len="sm"/>
          </a:ln>
        </p:spPr>
      </p:cxnSp>
      <p:cxnSp>
        <p:nvCxnSpPr>
          <p:cNvPr id="176" name="Google Shape;176;p35"/>
          <p:cNvCxnSpPr/>
          <p:nvPr/>
        </p:nvCxnSpPr>
        <p:spPr>
          <a:xfrm>
            <a:off x="7034558" y="1940821"/>
            <a:ext cx="1535400" cy="0"/>
          </a:xfrm>
          <a:prstGeom prst="straightConnector1">
            <a:avLst/>
          </a:prstGeom>
          <a:noFill/>
          <a:ln w="12700" cap="flat" cmpd="sng">
            <a:solidFill>
              <a:schemeClr val="dk2"/>
            </a:solidFill>
            <a:prstDash val="solid"/>
            <a:miter lim="8000"/>
            <a:headEnd type="none" w="sm" len="sm"/>
            <a:tailEnd type="none" w="sm" len="sm"/>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_Cards 4">
  <p:cSld name="Cards 4">
    <p:spTree>
      <p:nvGrpSpPr>
        <p:cNvPr id="1" name="Shape 177"/>
        <p:cNvGrpSpPr/>
        <p:nvPr/>
      </p:nvGrpSpPr>
      <p:grpSpPr>
        <a:xfrm>
          <a:off x="0" y="0"/>
          <a:ext cx="0" cy="0"/>
          <a:chOff x="0" y="0"/>
          <a:chExt cx="0" cy="0"/>
        </a:xfrm>
      </p:grpSpPr>
      <p:sp>
        <p:nvSpPr>
          <p:cNvPr id="178" name="Google Shape;178;p36"/>
          <p:cNvSpPr txBox="1">
            <a:spLocks noGrp="1"/>
          </p:cNvSpPr>
          <p:nvPr>
            <p:ph type="title"/>
          </p:nvPr>
        </p:nvSpPr>
        <p:spPr>
          <a:xfrm>
            <a:off x="420743" y="273844"/>
            <a:ext cx="83025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9" name="Google Shape;179;p36"/>
          <p:cNvSpPr/>
          <p:nvPr/>
        </p:nvSpPr>
        <p:spPr>
          <a:xfrm>
            <a:off x="734137" y="1133993"/>
            <a:ext cx="3609300" cy="854400"/>
          </a:xfrm>
          <a:prstGeom prst="roundRect">
            <a:avLst>
              <a:gd name="adj" fmla="val 5049"/>
            </a:avLst>
          </a:prstGeom>
          <a:solidFill>
            <a:schemeClr val="lt1"/>
          </a:solidFill>
          <a:ln w="12700" cap="flat" cmpd="sng">
            <a:solidFill>
              <a:srgbClr val="CBDAFF"/>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80" name="Google Shape;180;p36"/>
          <p:cNvSpPr/>
          <p:nvPr/>
        </p:nvSpPr>
        <p:spPr>
          <a:xfrm>
            <a:off x="420743" y="1247774"/>
            <a:ext cx="626700" cy="626700"/>
          </a:xfrm>
          <a:prstGeom prst="ellipse">
            <a:avLst/>
          </a:prstGeom>
          <a:solidFill>
            <a:schemeClr val="lt1"/>
          </a:solidFill>
          <a:ln w="12700" cap="flat" cmpd="sng">
            <a:solidFill>
              <a:srgbClr val="0254EC"/>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81" name="Google Shape;181;p36"/>
          <p:cNvSpPr txBox="1">
            <a:spLocks noGrp="1"/>
          </p:cNvSpPr>
          <p:nvPr>
            <p:ph type="body" idx="1"/>
          </p:nvPr>
        </p:nvSpPr>
        <p:spPr>
          <a:xfrm>
            <a:off x="1190772" y="1247774"/>
            <a:ext cx="3009300" cy="6267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2" name="Google Shape;182;p36"/>
          <p:cNvSpPr/>
          <p:nvPr/>
        </p:nvSpPr>
        <p:spPr>
          <a:xfrm>
            <a:off x="5115637" y="1133993"/>
            <a:ext cx="3609300" cy="854400"/>
          </a:xfrm>
          <a:prstGeom prst="roundRect">
            <a:avLst>
              <a:gd name="adj" fmla="val 5049"/>
            </a:avLst>
          </a:prstGeom>
          <a:solidFill>
            <a:schemeClr val="lt1"/>
          </a:solidFill>
          <a:ln w="12700" cap="flat" cmpd="sng">
            <a:solidFill>
              <a:srgbClr val="CBDAFF"/>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83" name="Google Shape;183;p36"/>
          <p:cNvSpPr/>
          <p:nvPr/>
        </p:nvSpPr>
        <p:spPr>
          <a:xfrm>
            <a:off x="4802243" y="1247774"/>
            <a:ext cx="626700" cy="626700"/>
          </a:xfrm>
          <a:prstGeom prst="ellipse">
            <a:avLst/>
          </a:prstGeom>
          <a:solidFill>
            <a:schemeClr val="lt1"/>
          </a:solidFill>
          <a:ln w="12700" cap="flat" cmpd="sng">
            <a:solidFill>
              <a:srgbClr val="0254EC"/>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84" name="Google Shape;184;p36"/>
          <p:cNvSpPr txBox="1">
            <a:spLocks noGrp="1"/>
          </p:cNvSpPr>
          <p:nvPr>
            <p:ph type="body" idx="2"/>
          </p:nvPr>
        </p:nvSpPr>
        <p:spPr>
          <a:xfrm>
            <a:off x="5572272" y="1247774"/>
            <a:ext cx="3009300" cy="6267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5" name="Google Shape;185;p36"/>
          <p:cNvSpPr/>
          <p:nvPr/>
        </p:nvSpPr>
        <p:spPr>
          <a:xfrm>
            <a:off x="734137" y="2276993"/>
            <a:ext cx="3609300" cy="854400"/>
          </a:xfrm>
          <a:prstGeom prst="roundRect">
            <a:avLst>
              <a:gd name="adj" fmla="val 5049"/>
            </a:avLst>
          </a:prstGeom>
          <a:solidFill>
            <a:schemeClr val="lt1"/>
          </a:solidFill>
          <a:ln w="12700" cap="flat" cmpd="sng">
            <a:solidFill>
              <a:srgbClr val="CBDAFF"/>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86" name="Google Shape;186;p36"/>
          <p:cNvSpPr/>
          <p:nvPr/>
        </p:nvSpPr>
        <p:spPr>
          <a:xfrm>
            <a:off x="420743" y="2390774"/>
            <a:ext cx="626700" cy="626700"/>
          </a:xfrm>
          <a:prstGeom prst="ellipse">
            <a:avLst/>
          </a:prstGeom>
          <a:solidFill>
            <a:schemeClr val="lt1"/>
          </a:solidFill>
          <a:ln w="12700" cap="flat" cmpd="sng">
            <a:solidFill>
              <a:srgbClr val="0254EC"/>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87" name="Google Shape;187;p36"/>
          <p:cNvSpPr txBox="1">
            <a:spLocks noGrp="1"/>
          </p:cNvSpPr>
          <p:nvPr>
            <p:ph type="body" idx="3"/>
          </p:nvPr>
        </p:nvSpPr>
        <p:spPr>
          <a:xfrm>
            <a:off x="1190772" y="2390774"/>
            <a:ext cx="3009300" cy="6267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8" name="Google Shape;188;p36"/>
          <p:cNvSpPr/>
          <p:nvPr/>
        </p:nvSpPr>
        <p:spPr>
          <a:xfrm>
            <a:off x="5115637" y="2276993"/>
            <a:ext cx="3609300" cy="854400"/>
          </a:xfrm>
          <a:prstGeom prst="roundRect">
            <a:avLst>
              <a:gd name="adj" fmla="val 5049"/>
            </a:avLst>
          </a:prstGeom>
          <a:solidFill>
            <a:schemeClr val="lt1"/>
          </a:solidFill>
          <a:ln w="12700" cap="flat" cmpd="sng">
            <a:solidFill>
              <a:srgbClr val="CBDAFF"/>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89" name="Google Shape;189;p36"/>
          <p:cNvSpPr/>
          <p:nvPr/>
        </p:nvSpPr>
        <p:spPr>
          <a:xfrm>
            <a:off x="4802243" y="2390774"/>
            <a:ext cx="626700" cy="626700"/>
          </a:xfrm>
          <a:prstGeom prst="ellipse">
            <a:avLst/>
          </a:prstGeom>
          <a:solidFill>
            <a:schemeClr val="lt1"/>
          </a:solidFill>
          <a:ln w="12700" cap="flat" cmpd="sng">
            <a:solidFill>
              <a:srgbClr val="0254EC"/>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90" name="Google Shape;190;p36"/>
          <p:cNvSpPr txBox="1">
            <a:spLocks noGrp="1"/>
          </p:cNvSpPr>
          <p:nvPr>
            <p:ph type="body" idx="4"/>
          </p:nvPr>
        </p:nvSpPr>
        <p:spPr>
          <a:xfrm>
            <a:off x="5572272" y="2390774"/>
            <a:ext cx="3009300" cy="6267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1" name="Google Shape;191;p36"/>
          <p:cNvSpPr/>
          <p:nvPr/>
        </p:nvSpPr>
        <p:spPr>
          <a:xfrm>
            <a:off x="734137" y="3419993"/>
            <a:ext cx="3609300" cy="854400"/>
          </a:xfrm>
          <a:prstGeom prst="roundRect">
            <a:avLst>
              <a:gd name="adj" fmla="val 5049"/>
            </a:avLst>
          </a:prstGeom>
          <a:solidFill>
            <a:schemeClr val="lt1"/>
          </a:solidFill>
          <a:ln w="12700" cap="flat" cmpd="sng">
            <a:solidFill>
              <a:srgbClr val="CBDAFF"/>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92" name="Google Shape;192;p36"/>
          <p:cNvSpPr/>
          <p:nvPr/>
        </p:nvSpPr>
        <p:spPr>
          <a:xfrm>
            <a:off x="420743" y="3533774"/>
            <a:ext cx="626700" cy="626700"/>
          </a:xfrm>
          <a:prstGeom prst="ellipse">
            <a:avLst/>
          </a:prstGeom>
          <a:solidFill>
            <a:schemeClr val="lt1"/>
          </a:solidFill>
          <a:ln w="12700" cap="flat" cmpd="sng">
            <a:solidFill>
              <a:srgbClr val="0254EC"/>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93" name="Google Shape;193;p36"/>
          <p:cNvSpPr txBox="1">
            <a:spLocks noGrp="1"/>
          </p:cNvSpPr>
          <p:nvPr>
            <p:ph type="body" idx="5"/>
          </p:nvPr>
        </p:nvSpPr>
        <p:spPr>
          <a:xfrm>
            <a:off x="1190772" y="3533774"/>
            <a:ext cx="3009300" cy="6267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4" name="Google Shape;194;p36"/>
          <p:cNvSpPr/>
          <p:nvPr/>
        </p:nvSpPr>
        <p:spPr>
          <a:xfrm>
            <a:off x="5115637" y="3419993"/>
            <a:ext cx="3609300" cy="854400"/>
          </a:xfrm>
          <a:prstGeom prst="roundRect">
            <a:avLst>
              <a:gd name="adj" fmla="val 5049"/>
            </a:avLst>
          </a:prstGeom>
          <a:solidFill>
            <a:schemeClr val="lt1"/>
          </a:solidFill>
          <a:ln w="12700" cap="flat" cmpd="sng">
            <a:solidFill>
              <a:srgbClr val="CBDAFF"/>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DM Sans"/>
              <a:buNone/>
            </a:pPr>
            <a:endParaRPr sz="1400" b="0" i="0" u="none" strike="noStrike" cap="none">
              <a:solidFill>
                <a:srgbClr val="001142"/>
              </a:solidFill>
              <a:latin typeface="DM Sans"/>
              <a:ea typeface="DM Sans"/>
              <a:cs typeface="DM Sans"/>
              <a:sym typeface="DM Sans"/>
            </a:endParaRPr>
          </a:p>
        </p:txBody>
      </p:sp>
      <p:sp>
        <p:nvSpPr>
          <p:cNvPr id="195" name="Google Shape;195;p36"/>
          <p:cNvSpPr/>
          <p:nvPr/>
        </p:nvSpPr>
        <p:spPr>
          <a:xfrm>
            <a:off x="4802243" y="3533774"/>
            <a:ext cx="626700" cy="626700"/>
          </a:xfrm>
          <a:prstGeom prst="ellipse">
            <a:avLst/>
          </a:prstGeom>
          <a:solidFill>
            <a:schemeClr val="lt1"/>
          </a:solidFill>
          <a:ln w="12700" cap="flat" cmpd="sng">
            <a:solidFill>
              <a:srgbClr val="0254EC"/>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DM Sans"/>
              <a:ea typeface="DM Sans"/>
              <a:cs typeface="DM Sans"/>
              <a:sym typeface="DM Sans"/>
            </a:endParaRPr>
          </a:p>
        </p:txBody>
      </p:sp>
      <p:sp>
        <p:nvSpPr>
          <p:cNvPr id="196" name="Google Shape;196;p36"/>
          <p:cNvSpPr txBox="1">
            <a:spLocks noGrp="1"/>
          </p:cNvSpPr>
          <p:nvPr>
            <p:ph type="body" idx="6"/>
          </p:nvPr>
        </p:nvSpPr>
        <p:spPr>
          <a:xfrm>
            <a:off x="5572272" y="3533774"/>
            <a:ext cx="3009300" cy="6267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304800" algn="l">
              <a:lnSpc>
                <a:spcPct val="90000"/>
              </a:lnSpc>
              <a:spcBef>
                <a:spcPts val="400"/>
              </a:spcBef>
              <a:spcAft>
                <a:spcPts val="0"/>
              </a:spcAft>
              <a:buClr>
                <a:schemeClr val="dk1"/>
              </a:buClr>
              <a:buSzPts val="1200"/>
              <a:buChar char="•"/>
              <a:defRPr sz="1200"/>
            </a:lvl2pPr>
            <a:lvl3pPr marL="1371600" lvl="2" indent="-304800" algn="l">
              <a:lnSpc>
                <a:spcPct val="90000"/>
              </a:lnSpc>
              <a:spcBef>
                <a:spcPts val="400"/>
              </a:spcBef>
              <a:spcAft>
                <a:spcPts val="0"/>
              </a:spcAft>
              <a:buClr>
                <a:schemeClr val="dk1"/>
              </a:buClr>
              <a:buSzPts val="1200"/>
              <a:buChar char="•"/>
              <a:defRPr sz="1200"/>
            </a:lvl3pPr>
            <a:lvl4pPr marL="1828800" lvl="3" indent="-304800" algn="l">
              <a:lnSpc>
                <a:spcPct val="90000"/>
              </a:lnSpc>
              <a:spcBef>
                <a:spcPts val="400"/>
              </a:spcBef>
              <a:spcAft>
                <a:spcPts val="0"/>
              </a:spcAft>
              <a:buClr>
                <a:schemeClr val="dk1"/>
              </a:buClr>
              <a:buSzPts val="1200"/>
              <a:buChar char="•"/>
              <a:defRPr sz="1200"/>
            </a:lvl4pPr>
            <a:lvl5pPr marL="2286000" lvl="4" indent="-304800" algn="l">
              <a:lnSpc>
                <a:spcPct val="90000"/>
              </a:lnSpc>
              <a:spcBef>
                <a:spcPts val="400"/>
              </a:spcBef>
              <a:spcAft>
                <a:spcPts val="0"/>
              </a:spcAft>
              <a:buClr>
                <a:schemeClr val="dk1"/>
              </a:buClr>
              <a:buSzPts val="1200"/>
              <a:buChar char="•"/>
              <a:defRPr sz="12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_Testimonials 1">
  <p:cSld name="Testimonials 1">
    <p:bg>
      <p:bgPr>
        <a:solidFill>
          <a:schemeClr val="lt2"/>
        </a:solidFill>
        <a:effectLst/>
      </p:bgPr>
    </p:bg>
    <p:spTree>
      <p:nvGrpSpPr>
        <p:cNvPr id="1" name="Shape 197"/>
        <p:cNvGrpSpPr/>
        <p:nvPr/>
      </p:nvGrpSpPr>
      <p:grpSpPr>
        <a:xfrm>
          <a:off x="0" y="0"/>
          <a:ext cx="0" cy="0"/>
          <a:chOff x="0" y="0"/>
          <a:chExt cx="0" cy="0"/>
        </a:xfrm>
      </p:grpSpPr>
      <p:sp>
        <p:nvSpPr>
          <p:cNvPr id="198" name="Google Shape;198;p37"/>
          <p:cNvSpPr txBox="1">
            <a:spLocks noGrp="1"/>
          </p:cNvSpPr>
          <p:nvPr>
            <p:ph type="title"/>
          </p:nvPr>
        </p:nvSpPr>
        <p:spPr>
          <a:xfrm>
            <a:off x="420743" y="439044"/>
            <a:ext cx="4151400" cy="367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100"/>
              <a:buFont typeface="DM Sans"/>
              <a:buNone/>
              <a:defRPr sz="1100" b="1"/>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9" name="Google Shape;199;p37"/>
          <p:cNvSpPr txBox="1">
            <a:spLocks noGrp="1"/>
          </p:cNvSpPr>
          <p:nvPr>
            <p:ph type="body" idx="1"/>
          </p:nvPr>
        </p:nvSpPr>
        <p:spPr>
          <a:xfrm>
            <a:off x="420743" y="821019"/>
            <a:ext cx="4151400" cy="2194200"/>
          </a:xfrm>
          <a:prstGeom prst="rect">
            <a:avLst/>
          </a:prstGeom>
          <a:noFill/>
          <a:ln>
            <a:noFill/>
          </a:ln>
        </p:spPr>
        <p:txBody>
          <a:bodyPr spcFirstLastPara="1" wrap="square" lIns="68575" tIns="34275" rIns="68575" bIns="34275" anchor="t" anchorCtr="0">
            <a:normAutofit/>
          </a:bodyPr>
          <a:lstStyle>
            <a:lvl1pPr marL="457200" lvl="0" indent="-361950" algn="l">
              <a:lnSpc>
                <a:spcPct val="90000"/>
              </a:lnSpc>
              <a:spcBef>
                <a:spcPts val="800"/>
              </a:spcBef>
              <a:spcAft>
                <a:spcPts val="0"/>
              </a:spcAft>
              <a:buClr>
                <a:schemeClr val="dk1"/>
              </a:buClr>
              <a:buSzPts val="2100"/>
              <a:buChar char="•"/>
              <a:defRPr sz="2100"/>
            </a:lvl1pPr>
            <a:lvl2pPr marL="914400" lvl="1" indent="-342900" algn="l">
              <a:lnSpc>
                <a:spcPct val="90000"/>
              </a:lnSpc>
              <a:spcBef>
                <a:spcPts val="400"/>
              </a:spcBef>
              <a:spcAft>
                <a:spcPts val="0"/>
              </a:spcAft>
              <a:buClr>
                <a:schemeClr val="dk1"/>
              </a:buClr>
              <a:buSzPts val="1800"/>
              <a:buChar char="•"/>
              <a:defRPr sz="1800"/>
            </a:lvl2pPr>
            <a:lvl3pPr marL="1371600" lvl="2" indent="-323850" algn="l">
              <a:lnSpc>
                <a:spcPct val="90000"/>
              </a:lnSpc>
              <a:spcBef>
                <a:spcPts val="400"/>
              </a:spcBef>
              <a:spcAft>
                <a:spcPts val="0"/>
              </a:spcAft>
              <a:buClr>
                <a:schemeClr val="dk1"/>
              </a:buClr>
              <a:buSzPts val="1500"/>
              <a:buChar char="•"/>
              <a:defRPr sz="1500"/>
            </a:lvl3pPr>
            <a:lvl4pPr marL="1828800" lvl="3" indent="-317500" algn="l">
              <a:lnSpc>
                <a:spcPct val="90000"/>
              </a:lnSpc>
              <a:spcBef>
                <a:spcPts val="400"/>
              </a:spcBef>
              <a:spcAft>
                <a:spcPts val="0"/>
              </a:spcAft>
              <a:buClr>
                <a:schemeClr val="dk1"/>
              </a:buClr>
              <a:buSzPts val="1400"/>
              <a:buChar char="•"/>
              <a:defRPr sz="1400"/>
            </a:lvl4pPr>
            <a:lvl5pPr marL="2286000" lvl="4" indent="-317500" algn="l">
              <a:lnSpc>
                <a:spcPct val="90000"/>
              </a:lnSpc>
              <a:spcBef>
                <a:spcPts val="400"/>
              </a:spcBef>
              <a:spcAft>
                <a:spcPts val="0"/>
              </a:spcAft>
              <a:buClr>
                <a:schemeClr val="dk1"/>
              </a:buClr>
              <a:buSzPts val="1400"/>
              <a:buChar char="•"/>
              <a:defRPr sz="14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0" name="Google Shape;200;p37"/>
          <p:cNvSpPr>
            <a:spLocks noGrp="1"/>
          </p:cNvSpPr>
          <p:nvPr>
            <p:ph type="pic" idx="2"/>
          </p:nvPr>
        </p:nvSpPr>
        <p:spPr>
          <a:xfrm>
            <a:off x="520220" y="2791738"/>
            <a:ext cx="714600" cy="714600"/>
          </a:xfrm>
          <a:prstGeom prst="ellipse">
            <a:avLst/>
          </a:prstGeom>
          <a:noFill/>
          <a:ln w="12700" cap="flat" cmpd="sng">
            <a:solidFill>
              <a:schemeClr val="dk2"/>
            </a:solidFill>
            <a:prstDash val="solid"/>
            <a:round/>
            <a:headEnd type="none" w="sm" len="sm"/>
            <a:tailEnd type="none" w="sm" len="sm"/>
          </a:ln>
        </p:spPr>
      </p:sp>
      <p:sp>
        <p:nvSpPr>
          <p:cNvPr id="201" name="Google Shape;201;p37"/>
          <p:cNvSpPr txBox="1">
            <a:spLocks noGrp="1"/>
          </p:cNvSpPr>
          <p:nvPr>
            <p:ph type="body" idx="3"/>
          </p:nvPr>
        </p:nvSpPr>
        <p:spPr>
          <a:xfrm>
            <a:off x="1335785" y="2922110"/>
            <a:ext cx="3350400" cy="273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400"/>
              <a:buNone/>
              <a:defRPr sz="1400"/>
            </a:lvl1pPr>
            <a:lvl2pPr marL="914400" lvl="1" indent="-228600" algn="l">
              <a:lnSpc>
                <a:spcPct val="90000"/>
              </a:lnSpc>
              <a:spcBef>
                <a:spcPts val="400"/>
              </a:spcBef>
              <a:spcAft>
                <a:spcPts val="0"/>
              </a:spcAft>
              <a:buClr>
                <a:schemeClr val="dk1"/>
              </a:buClr>
              <a:buSzPts val="1400"/>
              <a:buNone/>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2" name="Google Shape;202;p37"/>
          <p:cNvSpPr txBox="1">
            <a:spLocks noGrp="1"/>
          </p:cNvSpPr>
          <p:nvPr>
            <p:ph type="body" idx="4"/>
          </p:nvPr>
        </p:nvSpPr>
        <p:spPr>
          <a:xfrm>
            <a:off x="1335785" y="3137613"/>
            <a:ext cx="3350400" cy="273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100"/>
              <a:buNone/>
              <a:defRPr sz="1100"/>
            </a:lvl1pPr>
            <a:lvl2pPr marL="914400" lvl="1" indent="-228600" algn="l">
              <a:lnSpc>
                <a:spcPct val="90000"/>
              </a:lnSpc>
              <a:spcBef>
                <a:spcPts val="400"/>
              </a:spcBef>
              <a:spcAft>
                <a:spcPts val="0"/>
              </a:spcAft>
              <a:buClr>
                <a:schemeClr val="dk1"/>
              </a:buClr>
              <a:buSzPts val="1400"/>
              <a:buNone/>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pic>
        <p:nvPicPr>
          <p:cNvPr id="203" name="Google Shape;203;p37" descr="A blue line on a black background  Description automatically generated"/>
          <p:cNvPicPr preferRelativeResize="0"/>
          <p:nvPr/>
        </p:nvPicPr>
        <p:blipFill rotWithShape="1">
          <a:blip r:embed="rId2">
            <a:alphaModFix/>
          </a:blip>
          <a:srcRect/>
          <a:stretch/>
        </p:blipFill>
        <p:spPr>
          <a:xfrm>
            <a:off x="7088382" y="3892490"/>
            <a:ext cx="2055618" cy="1282314"/>
          </a:xfrm>
          <a:prstGeom prst="rect">
            <a:avLst/>
          </a:prstGeom>
          <a:noFill/>
          <a:ln>
            <a:noFill/>
          </a:ln>
        </p:spPr>
      </p:pic>
      <p:pic>
        <p:nvPicPr>
          <p:cNvPr id="204" name="Google Shape;204;p37" descr="A blue line on a black background  Description automatically generated"/>
          <p:cNvPicPr preferRelativeResize="0"/>
          <p:nvPr/>
        </p:nvPicPr>
        <p:blipFill rotWithShape="1">
          <a:blip r:embed="rId3">
            <a:alphaModFix/>
          </a:blip>
          <a:srcRect/>
          <a:stretch/>
        </p:blipFill>
        <p:spPr>
          <a:xfrm rot="10800000">
            <a:off x="0" y="4025113"/>
            <a:ext cx="2669286" cy="1122440"/>
          </a:xfrm>
          <a:prstGeom prst="rect">
            <a:avLst/>
          </a:prstGeom>
          <a:noFill/>
          <a:ln>
            <a:noFill/>
          </a:ln>
        </p:spPr>
      </p:pic>
      <p:sp>
        <p:nvSpPr>
          <p:cNvPr id="205" name="Google Shape;205;p37"/>
          <p:cNvSpPr>
            <a:spLocks noGrp="1"/>
          </p:cNvSpPr>
          <p:nvPr>
            <p:ph type="pic" idx="5"/>
          </p:nvPr>
        </p:nvSpPr>
        <p:spPr>
          <a:xfrm>
            <a:off x="4803425" y="800100"/>
            <a:ext cx="3883500" cy="2171100"/>
          </a:xfrm>
          <a:prstGeom prst="roundRect">
            <a:avLst>
              <a:gd name="adj" fmla="val 4242"/>
            </a:avLst>
          </a:prstGeom>
          <a:noFill/>
          <a:ln>
            <a:noFill/>
          </a:ln>
          <a:effectLst>
            <a:outerShdw dist="66675" dir="7800000" algn="bl" rotWithShape="0">
              <a:schemeClr val="dk2"/>
            </a:outerShdw>
          </a:effectLst>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_Illustration 1">
  <p:cSld name="Illustration 1">
    <p:spTree>
      <p:nvGrpSpPr>
        <p:cNvPr id="1" name="Shape 206"/>
        <p:cNvGrpSpPr/>
        <p:nvPr/>
      </p:nvGrpSpPr>
      <p:grpSpPr>
        <a:xfrm>
          <a:off x="0" y="0"/>
          <a:ext cx="0" cy="0"/>
          <a:chOff x="0" y="0"/>
          <a:chExt cx="0" cy="0"/>
        </a:xfrm>
      </p:grpSpPr>
      <p:pic>
        <p:nvPicPr>
          <p:cNvPr id="207" name="Google Shape;207;p38"/>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208" name="Google Shape;208;p38" title="Logo.png"/>
          <p:cNvPicPr preferRelativeResize="0"/>
          <p:nvPr/>
        </p:nvPicPr>
        <p:blipFill rotWithShape="1">
          <a:blip r:embed="rId3">
            <a:alphaModFix/>
          </a:blip>
          <a:srcRect/>
          <a:stretch/>
        </p:blipFill>
        <p:spPr>
          <a:xfrm>
            <a:off x="8412313" y="4830850"/>
            <a:ext cx="309686" cy="146674"/>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_Plain White">
  <p:cSld name="Plain White">
    <p:spTree>
      <p:nvGrpSpPr>
        <p:cNvPr id="1" name="Shape 209"/>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_Image/Graphic Drop Shadow Asset">
  <p:cSld name="Image/Graphic Drop Shadow Asset">
    <p:bg>
      <p:bgPr>
        <a:solidFill>
          <a:schemeClr val="lt1"/>
        </a:solidFill>
        <a:effectLst/>
      </p:bgPr>
    </p:bg>
    <p:spTree>
      <p:nvGrpSpPr>
        <p:cNvPr id="1" name="Shape 210"/>
        <p:cNvGrpSpPr/>
        <p:nvPr/>
      </p:nvGrpSpPr>
      <p:grpSpPr>
        <a:xfrm>
          <a:off x="0" y="0"/>
          <a:ext cx="0" cy="0"/>
          <a:chOff x="0" y="0"/>
          <a:chExt cx="0" cy="0"/>
        </a:xfrm>
      </p:grpSpPr>
      <p:sp>
        <p:nvSpPr>
          <p:cNvPr id="211" name="Google Shape;211;p40"/>
          <p:cNvSpPr/>
          <p:nvPr/>
        </p:nvSpPr>
        <p:spPr>
          <a:xfrm>
            <a:off x="0" y="0"/>
            <a:ext cx="9128855" cy="44653"/>
          </a:xfrm>
          <a:custGeom>
            <a:avLst/>
            <a:gdLst/>
            <a:ahLst/>
            <a:cxnLst/>
            <a:rect l="l" t="t" r="r" b="b"/>
            <a:pathLst>
              <a:path w="15876269" h="8930640" extrusionOk="0">
                <a:moveTo>
                  <a:pt x="15875897" y="0"/>
                </a:moveTo>
                <a:lnTo>
                  <a:pt x="0" y="0"/>
                </a:lnTo>
                <a:lnTo>
                  <a:pt x="0" y="8930192"/>
                </a:lnTo>
                <a:lnTo>
                  <a:pt x="15875897" y="8930192"/>
                </a:lnTo>
                <a:lnTo>
                  <a:pt x="15875897" y="0"/>
                </a:lnTo>
                <a:close/>
              </a:path>
            </a:pathLst>
          </a:custGeom>
          <a:solidFill>
            <a:schemeClr val="lt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a:ea typeface="DM Sans"/>
              <a:cs typeface="DM Sans"/>
              <a:sym typeface="DM Sans"/>
            </a:endParaRPr>
          </a:p>
        </p:txBody>
      </p:sp>
      <p:sp>
        <p:nvSpPr>
          <p:cNvPr id="212" name="Google Shape;212;p40"/>
          <p:cNvSpPr txBox="1">
            <a:spLocks noGrp="1"/>
          </p:cNvSpPr>
          <p:nvPr>
            <p:ph type="title"/>
          </p:nvPr>
        </p:nvSpPr>
        <p:spPr>
          <a:xfrm>
            <a:off x="420743" y="273844"/>
            <a:ext cx="8302500" cy="367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3" name="Google Shape;213;p40"/>
          <p:cNvSpPr>
            <a:spLocks noGrp="1"/>
          </p:cNvSpPr>
          <p:nvPr>
            <p:ph type="pic" idx="2"/>
          </p:nvPr>
        </p:nvSpPr>
        <p:spPr>
          <a:xfrm>
            <a:off x="602200" y="880600"/>
            <a:ext cx="3904800" cy="2194200"/>
          </a:xfrm>
          <a:prstGeom prst="roundRect">
            <a:avLst>
              <a:gd name="adj" fmla="val 3229"/>
            </a:avLst>
          </a:prstGeom>
          <a:noFill/>
          <a:ln>
            <a:noFill/>
          </a:ln>
          <a:effectLst>
            <a:outerShdw dist="69226" dir="7800000" algn="ctr" rotWithShape="0">
              <a:schemeClr val="accent3"/>
            </a:outerShdw>
          </a:effectLst>
        </p:spPr>
      </p:sp>
      <p:sp>
        <p:nvSpPr>
          <p:cNvPr id="214" name="Google Shape;214;p40"/>
          <p:cNvSpPr>
            <a:spLocks noGrp="1"/>
          </p:cNvSpPr>
          <p:nvPr>
            <p:ph type="pic" idx="3"/>
          </p:nvPr>
        </p:nvSpPr>
        <p:spPr>
          <a:xfrm>
            <a:off x="4824700" y="880600"/>
            <a:ext cx="3898500" cy="2194200"/>
          </a:xfrm>
          <a:prstGeom prst="roundRect">
            <a:avLst>
              <a:gd name="adj" fmla="val 3874"/>
            </a:avLst>
          </a:prstGeom>
          <a:noFill/>
          <a:ln>
            <a:noFill/>
          </a:ln>
          <a:effectLst>
            <a:outerShdw dist="69226" dir="7800000" algn="ctr" rotWithShape="0">
              <a:schemeClr val="dk2"/>
            </a:outerShdw>
          </a:effectLst>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_Q&amp;A">
  <p:cSld name="Q&amp;A">
    <p:bg>
      <p:bgPr>
        <a:solidFill>
          <a:schemeClr val="dk2"/>
        </a:solidFill>
        <a:effectLst/>
      </p:bgPr>
    </p:bg>
    <p:spTree>
      <p:nvGrpSpPr>
        <p:cNvPr id="1" name="Shape 215"/>
        <p:cNvGrpSpPr/>
        <p:nvPr/>
      </p:nvGrpSpPr>
      <p:grpSpPr>
        <a:xfrm>
          <a:off x="0" y="0"/>
          <a:ext cx="0" cy="0"/>
          <a:chOff x="0" y="0"/>
          <a:chExt cx="0" cy="0"/>
        </a:xfrm>
      </p:grpSpPr>
      <p:pic>
        <p:nvPicPr>
          <p:cNvPr id="216" name="Google Shape;216;p41" descr="A black and white image of a person  Description automatically generated"/>
          <p:cNvPicPr preferRelativeResize="0"/>
          <p:nvPr/>
        </p:nvPicPr>
        <p:blipFill rotWithShape="1">
          <a:blip r:embed="rId2">
            <a:alphaModFix amt="60000"/>
          </a:blip>
          <a:srcRect/>
          <a:stretch/>
        </p:blipFill>
        <p:spPr>
          <a:xfrm rot="-900001">
            <a:off x="4096523" y="3086333"/>
            <a:ext cx="7191132" cy="2776325"/>
          </a:xfrm>
          <a:prstGeom prst="rect">
            <a:avLst/>
          </a:prstGeom>
          <a:noFill/>
          <a:ln>
            <a:noFill/>
          </a:ln>
        </p:spPr>
      </p:pic>
      <p:sp>
        <p:nvSpPr>
          <p:cNvPr id="217" name="Google Shape;217;p41"/>
          <p:cNvSpPr txBox="1">
            <a:spLocks noGrp="1"/>
          </p:cNvSpPr>
          <p:nvPr>
            <p:ph type="title"/>
          </p:nvPr>
        </p:nvSpPr>
        <p:spPr>
          <a:xfrm>
            <a:off x="420742" y="1645445"/>
            <a:ext cx="8302500" cy="367200"/>
          </a:xfrm>
          <a:prstGeom prst="rect">
            <a:avLst/>
          </a:prstGeom>
          <a:noFill/>
          <a:ln>
            <a:noFill/>
          </a:ln>
        </p:spPr>
        <p:txBody>
          <a:bodyPr spcFirstLastPara="1" wrap="square" lIns="68575" tIns="34275" rIns="68575" bIns="34275" anchor="ctr" anchorCtr="0">
            <a:noAutofit/>
          </a:bodyPr>
          <a:lstStyle>
            <a:lvl1pPr lvl="0" algn="ctr">
              <a:lnSpc>
                <a:spcPct val="90000"/>
              </a:lnSpc>
              <a:spcBef>
                <a:spcPts val="0"/>
              </a:spcBef>
              <a:spcAft>
                <a:spcPts val="0"/>
              </a:spcAft>
              <a:buClr>
                <a:schemeClr val="lt1"/>
              </a:buClr>
              <a:buSzPts val="3300"/>
              <a:buFont typeface="DM Sans"/>
              <a:buNone/>
              <a:defRPr sz="33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pic>
        <p:nvPicPr>
          <p:cNvPr id="218" name="Google Shape;218;p41"/>
          <p:cNvPicPr preferRelativeResize="0"/>
          <p:nvPr/>
        </p:nvPicPr>
        <p:blipFill rotWithShape="1">
          <a:blip r:embed="rId3">
            <a:alphaModFix/>
          </a:blip>
          <a:srcRect/>
          <a:stretch/>
        </p:blipFill>
        <p:spPr>
          <a:xfrm>
            <a:off x="6610333" y="3093755"/>
            <a:ext cx="2374527" cy="1795313"/>
          </a:xfrm>
          <a:prstGeom prst="rect">
            <a:avLst/>
          </a:prstGeom>
          <a:noFill/>
          <a:ln>
            <a:noFill/>
          </a:ln>
        </p:spPr>
      </p:pic>
      <p:pic>
        <p:nvPicPr>
          <p:cNvPr id="219" name="Google Shape;219;p41" title="Logo.png"/>
          <p:cNvPicPr preferRelativeResize="0"/>
          <p:nvPr/>
        </p:nvPicPr>
        <p:blipFill rotWithShape="1">
          <a:blip r:embed="rId4">
            <a:alphaModFix/>
          </a:blip>
          <a:srcRect/>
          <a:stretch/>
        </p:blipFill>
        <p:spPr>
          <a:xfrm>
            <a:off x="8412313" y="4830850"/>
            <a:ext cx="309686" cy="146674"/>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_Demo">
  <p:cSld name="Demo">
    <p:bg>
      <p:bgPr>
        <a:solidFill>
          <a:schemeClr val="dk2"/>
        </a:solidFill>
        <a:effectLst/>
      </p:bgPr>
    </p:bg>
    <p:spTree>
      <p:nvGrpSpPr>
        <p:cNvPr id="1" name="Shape 220"/>
        <p:cNvGrpSpPr/>
        <p:nvPr/>
      </p:nvGrpSpPr>
      <p:grpSpPr>
        <a:xfrm>
          <a:off x="0" y="0"/>
          <a:ext cx="0" cy="0"/>
          <a:chOff x="0" y="0"/>
          <a:chExt cx="0" cy="0"/>
        </a:xfrm>
      </p:grpSpPr>
      <p:pic>
        <p:nvPicPr>
          <p:cNvPr id="221" name="Google Shape;221;p42"/>
          <p:cNvPicPr preferRelativeResize="0"/>
          <p:nvPr/>
        </p:nvPicPr>
        <p:blipFill rotWithShape="1">
          <a:blip r:embed="rId2">
            <a:alphaModFix/>
          </a:blip>
          <a:srcRect/>
          <a:stretch/>
        </p:blipFill>
        <p:spPr>
          <a:xfrm>
            <a:off x="0" y="2741"/>
            <a:ext cx="9139128" cy="5140760"/>
          </a:xfrm>
          <a:prstGeom prst="rect">
            <a:avLst/>
          </a:prstGeom>
          <a:noFill/>
          <a:ln>
            <a:noFill/>
          </a:ln>
        </p:spPr>
      </p:pic>
      <p:pic>
        <p:nvPicPr>
          <p:cNvPr id="222" name="Google Shape;222;p42" title="Logo.png"/>
          <p:cNvPicPr preferRelativeResize="0"/>
          <p:nvPr/>
        </p:nvPicPr>
        <p:blipFill rotWithShape="1">
          <a:blip r:embed="rId3">
            <a:alphaModFix/>
          </a:blip>
          <a:srcRect/>
          <a:stretch/>
        </p:blipFill>
        <p:spPr>
          <a:xfrm>
            <a:off x="8412313" y="4830850"/>
            <a:ext cx="309686" cy="1466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5000"/>
                                        <p:tgtEl>
                                          <p:spTgt spid="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_Thank you">
  <p:cSld name="Thank you">
    <p:bg>
      <p:bgPr>
        <a:solidFill>
          <a:schemeClr val="dk2"/>
        </a:solidFill>
        <a:effectLst/>
      </p:bgPr>
    </p:bg>
    <p:spTree>
      <p:nvGrpSpPr>
        <p:cNvPr id="1" name="Shape 223"/>
        <p:cNvGrpSpPr/>
        <p:nvPr/>
      </p:nvGrpSpPr>
      <p:grpSpPr>
        <a:xfrm>
          <a:off x="0" y="0"/>
          <a:ext cx="0" cy="0"/>
          <a:chOff x="0" y="0"/>
          <a:chExt cx="0" cy="0"/>
        </a:xfrm>
      </p:grpSpPr>
      <p:pic>
        <p:nvPicPr>
          <p:cNvPr id="224" name="Google Shape;224;p43"/>
          <p:cNvPicPr preferRelativeResize="0"/>
          <p:nvPr/>
        </p:nvPicPr>
        <p:blipFill rotWithShape="1">
          <a:blip r:embed="rId2">
            <a:alphaModFix/>
          </a:blip>
          <a:srcRect/>
          <a:stretch/>
        </p:blipFill>
        <p:spPr>
          <a:xfrm>
            <a:off x="0" y="0"/>
            <a:ext cx="9144000" cy="5143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fade">
                                      <p:cBhvr>
                                        <p:cTn id="7" dur="3029"/>
                                        <p:tgtEl>
                                          <p:spTgt spid="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_Plain Blue">
  <p:cSld name="Plain Blue">
    <p:bg>
      <p:bgPr>
        <a:solidFill>
          <a:schemeClr val="dk2"/>
        </a:solidFill>
        <a:effectLst/>
      </p:bgPr>
    </p:bg>
    <p:spTree>
      <p:nvGrpSpPr>
        <p:cNvPr id="1" name="Shape 225"/>
        <p:cNvGrpSpPr/>
        <p:nvPr/>
      </p:nvGrpSpPr>
      <p:grpSpPr>
        <a:xfrm>
          <a:off x="0" y="0"/>
          <a:ext cx="0" cy="0"/>
          <a:chOff x="0" y="0"/>
          <a:chExt cx="0" cy="0"/>
        </a:xfrm>
      </p:grpSpPr>
      <p:pic>
        <p:nvPicPr>
          <p:cNvPr id="226" name="Google Shape;226;p44" title="Logo.png"/>
          <p:cNvPicPr preferRelativeResize="0"/>
          <p:nvPr/>
        </p:nvPicPr>
        <p:blipFill rotWithShape="1">
          <a:blip r:embed="rId2">
            <a:alphaModFix/>
          </a:blip>
          <a:srcRect/>
          <a:stretch/>
        </p:blipFill>
        <p:spPr>
          <a:xfrm>
            <a:off x="8412313" y="4830850"/>
            <a:ext cx="309686" cy="146674"/>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7"/>
        <p:cNvGrpSpPr/>
        <p:nvPr/>
      </p:nvGrpSpPr>
      <p:grpSpPr>
        <a:xfrm>
          <a:off x="0" y="0"/>
          <a:ext cx="0" cy="0"/>
          <a:chOff x="0" y="0"/>
          <a:chExt cx="0" cy="0"/>
        </a:xfrm>
      </p:grpSpPr>
      <p:sp>
        <p:nvSpPr>
          <p:cNvPr id="228" name="Google Shape;228;p45"/>
          <p:cNvSpPr txBox="1">
            <a:spLocks noGrp="1"/>
          </p:cNvSpPr>
          <p:nvPr>
            <p:ph type="ctrTitle"/>
          </p:nvPr>
        </p:nvSpPr>
        <p:spPr>
          <a:xfrm>
            <a:off x="311708" y="744575"/>
            <a:ext cx="8520600" cy="20526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29" name="Google Shape;229;p45"/>
          <p:cNvSpPr txBox="1">
            <a:spLocks noGrp="1"/>
          </p:cNvSpPr>
          <p:nvPr>
            <p:ph type="subTitle" idx="1"/>
          </p:nvPr>
        </p:nvSpPr>
        <p:spPr>
          <a:xfrm>
            <a:off x="311700" y="2834125"/>
            <a:ext cx="8520600" cy="792600"/>
          </a:xfrm>
          <a:prstGeom prst="rect">
            <a:avLst/>
          </a:prstGeom>
          <a:noFill/>
          <a:ln>
            <a:noFill/>
          </a:ln>
        </p:spPr>
        <p:txBody>
          <a:bodyPr spcFirstLastPara="1" wrap="square" lIns="68575" tIns="34275" rIns="68575" bIns="34275" anchor="t" anchorCtr="0">
            <a:normAutofit/>
          </a:bodyPr>
          <a:lstStyle>
            <a:lvl1pPr lvl="0" algn="ctr">
              <a:lnSpc>
                <a:spcPct val="100000"/>
              </a:lnSpc>
              <a:spcBef>
                <a:spcPts val="800"/>
              </a:spcBef>
              <a:spcAft>
                <a:spcPts val="0"/>
              </a:spcAft>
              <a:buSzPts val="2800"/>
              <a:buNone/>
              <a:defRPr sz="2800"/>
            </a:lvl1pPr>
            <a:lvl2pPr lvl="1" algn="ctr">
              <a:lnSpc>
                <a:spcPct val="100000"/>
              </a:lnSpc>
              <a:spcBef>
                <a:spcPts val="400"/>
              </a:spcBef>
              <a:spcAft>
                <a:spcPts val="0"/>
              </a:spcAft>
              <a:buSzPts val="2800"/>
              <a:buNone/>
              <a:defRPr sz="2800"/>
            </a:lvl2pPr>
            <a:lvl3pPr lvl="2" algn="ctr">
              <a:lnSpc>
                <a:spcPct val="100000"/>
              </a:lnSpc>
              <a:spcBef>
                <a:spcPts val="400"/>
              </a:spcBef>
              <a:spcAft>
                <a:spcPts val="0"/>
              </a:spcAft>
              <a:buSzPts val="2800"/>
              <a:buNone/>
              <a:defRPr sz="2800"/>
            </a:lvl3pPr>
            <a:lvl4pPr lvl="3" algn="ctr">
              <a:lnSpc>
                <a:spcPct val="100000"/>
              </a:lnSpc>
              <a:spcBef>
                <a:spcPts val="400"/>
              </a:spcBef>
              <a:spcAft>
                <a:spcPts val="0"/>
              </a:spcAft>
              <a:buSzPts val="2800"/>
              <a:buNone/>
              <a:defRPr sz="2800"/>
            </a:lvl4pPr>
            <a:lvl5pPr lvl="4" algn="ctr">
              <a:lnSpc>
                <a:spcPct val="100000"/>
              </a:lnSpc>
              <a:spcBef>
                <a:spcPts val="4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a:endParaRPr/>
          </a:p>
        </p:txBody>
      </p:sp>
      <p:sp>
        <p:nvSpPr>
          <p:cNvPr id="230" name="Google Shape;230;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23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 Type="http://schemas.openxmlformats.org/officeDocument/2006/relationships/slideLayout" Target="../slideLayouts/slideLayout18.xml"/><Relationship Id="rId21" Type="http://schemas.openxmlformats.org/officeDocument/2006/relationships/slideLayout" Target="../slideLayouts/slideLayout36.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29" Type="http://schemas.openxmlformats.org/officeDocument/2006/relationships/slideLayout" Target="../slideLayouts/slideLayout44.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31" Type="http://schemas.openxmlformats.org/officeDocument/2006/relationships/image" Target="../media/image10.png"/><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
        <p:cNvGrpSpPr/>
        <p:nvPr/>
      </p:nvGrpSpPr>
      <p:grpSpPr>
        <a:xfrm>
          <a:off x="0" y="0"/>
          <a:ext cx="0" cy="0"/>
          <a:chOff x="0" y="0"/>
          <a:chExt cx="0" cy="0"/>
        </a:xfrm>
      </p:grpSpPr>
      <p:sp>
        <p:nvSpPr>
          <p:cNvPr id="49" name="Google Shape;49;p17"/>
          <p:cNvSpPr txBox="1">
            <a:spLocks noGrp="1"/>
          </p:cNvSpPr>
          <p:nvPr>
            <p:ph type="title"/>
          </p:nvPr>
        </p:nvSpPr>
        <p:spPr>
          <a:xfrm>
            <a:off x="420743" y="273844"/>
            <a:ext cx="8302500" cy="367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2000"/>
              <a:buFont typeface="DM Sans"/>
              <a:buNone/>
              <a:defRPr sz="2000" b="0" i="0" u="none" strike="noStrike" cap="none">
                <a:solidFill>
                  <a:schemeClr val="dk1"/>
                </a:solidFill>
                <a:latin typeface="DM Sans"/>
                <a:ea typeface="DM Sans"/>
                <a:cs typeface="DM Sans"/>
                <a:sym typeface="DM Sans"/>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0" name="Google Shape;50;p17"/>
          <p:cNvSpPr txBox="1">
            <a:spLocks noGrp="1"/>
          </p:cNvSpPr>
          <p:nvPr>
            <p:ph type="body" idx="1"/>
          </p:nvPr>
        </p:nvSpPr>
        <p:spPr>
          <a:xfrm>
            <a:off x="420743" y="812524"/>
            <a:ext cx="8302500" cy="3820200"/>
          </a:xfrm>
          <a:prstGeom prst="rect">
            <a:avLst/>
          </a:prstGeom>
          <a:noFill/>
          <a:ln>
            <a:noFill/>
          </a:ln>
        </p:spPr>
        <p:txBody>
          <a:bodyPr spcFirstLastPara="1" wrap="square" lIns="68575" tIns="34275" rIns="68575" bIns="34275" anchor="t" anchorCtr="0">
            <a:normAutofit/>
          </a:bodyPr>
          <a:lstStyle>
            <a:lvl1pPr marL="457200" marR="0" lvl="0" indent="-311150" algn="l" rtl="0">
              <a:lnSpc>
                <a:spcPct val="90000"/>
              </a:lnSpc>
              <a:spcBef>
                <a:spcPts val="800"/>
              </a:spcBef>
              <a:spcAft>
                <a:spcPts val="0"/>
              </a:spcAft>
              <a:buClr>
                <a:schemeClr val="dk1"/>
              </a:buClr>
              <a:buSzPts val="1300"/>
              <a:buFont typeface="Arial"/>
              <a:buChar char="•"/>
              <a:defRPr sz="1300" b="0" i="0" u="none" strike="noStrike" cap="none">
                <a:solidFill>
                  <a:schemeClr val="dk1"/>
                </a:solidFill>
                <a:latin typeface="DM Sans"/>
                <a:ea typeface="DM Sans"/>
                <a:cs typeface="DM Sans"/>
                <a:sym typeface="DM Sans"/>
              </a:defRPr>
            </a:lvl1pPr>
            <a:lvl2pPr marL="914400" marR="0" lvl="1"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DM Sans"/>
                <a:ea typeface="DM Sans"/>
                <a:cs typeface="DM Sans"/>
                <a:sym typeface="DM Sans"/>
              </a:defRPr>
            </a:lvl2pPr>
            <a:lvl3pPr marL="1371600" marR="0" lvl="2" indent="-292100" algn="l" rtl="0">
              <a:lnSpc>
                <a:spcPct val="90000"/>
              </a:lnSpc>
              <a:spcBef>
                <a:spcPts val="400"/>
              </a:spcBef>
              <a:spcAft>
                <a:spcPts val="0"/>
              </a:spcAft>
              <a:buClr>
                <a:schemeClr val="dk1"/>
              </a:buClr>
              <a:buSzPts val="1000"/>
              <a:buFont typeface="Arial"/>
              <a:buChar char="•"/>
              <a:defRPr sz="1000" b="0" i="0" u="none" strike="noStrike" cap="none">
                <a:solidFill>
                  <a:schemeClr val="dk1"/>
                </a:solidFill>
                <a:latin typeface="DM Sans"/>
                <a:ea typeface="DM Sans"/>
                <a:cs typeface="DM Sans"/>
                <a:sym typeface="DM Sans"/>
              </a:defRPr>
            </a:lvl3pPr>
            <a:lvl4pPr marL="1828800" marR="0" lvl="3" indent="-285750" algn="l" rtl="0">
              <a:lnSpc>
                <a:spcPct val="90000"/>
              </a:lnSpc>
              <a:spcBef>
                <a:spcPts val="400"/>
              </a:spcBef>
              <a:spcAft>
                <a:spcPts val="0"/>
              </a:spcAft>
              <a:buClr>
                <a:schemeClr val="dk1"/>
              </a:buClr>
              <a:buSzPts val="900"/>
              <a:buFont typeface="Arial"/>
              <a:buChar char="•"/>
              <a:defRPr sz="900" b="0" i="0" u="none" strike="noStrike" cap="none">
                <a:solidFill>
                  <a:schemeClr val="dk1"/>
                </a:solidFill>
                <a:latin typeface="DM Sans"/>
                <a:ea typeface="DM Sans"/>
                <a:cs typeface="DM Sans"/>
                <a:sym typeface="DM Sans"/>
              </a:defRPr>
            </a:lvl4pPr>
            <a:lvl5pPr marL="2286000" marR="0" lvl="4" indent="-285750" algn="l" rtl="0">
              <a:lnSpc>
                <a:spcPct val="90000"/>
              </a:lnSpc>
              <a:spcBef>
                <a:spcPts val="400"/>
              </a:spcBef>
              <a:spcAft>
                <a:spcPts val="0"/>
              </a:spcAft>
              <a:buClr>
                <a:schemeClr val="dk1"/>
              </a:buClr>
              <a:buSzPts val="900"/>
              <a:buFont typeface="Arial"/>
              <a:buChar char="•"/>
              <a:defRPr sz="900" b="0" i="0" u="none" strike="noStrike" cap="none">
                <a:solidFill>
                  <a:schemeClr val="dk1"/>
                </a:solidFill>
                <a:latin typeface="DM Sans"/>
                <a:ea typeface="DM Sans"/>
                <a:cs typeface="DM Sans"/>
                <a:sym typeface="DM Sans"/>
              </a:defRPr>
            </a:lvl5pPr>
            <a:lvl6pPr marL="2743200" marR="0" lvl="5" indent="-279400" algn="l" rtl="0">
              <a:lnSpc>
                <a:spcPct val="90000"/>
              </a:lnSpc>
              <a:spcBef>
                <a:spcPts val="400"/>
              </a:spcBef>
              <a:spcAft>
                <a:spcPts val="0"/>
              </a:spcAft>
              <a:buClr>
                <a:schemeClr val="dk1"/>
              </a:buClr>
              <a:buSzPts val="800"/>
              <a:buFont typeface="Arial"/>
              <a:buChar char="•"/>
              <a:defRPr sz="800" b="0" i="0" u="none" strike="noStrike" cap="none">
                <a:solidFill>
                  <a:schemeClr val="dk1"/>
                </a:solidFill>
                <a:latin typeface="DM Sans"/>
                <a:ea typeface="DM Sans"/>
                <a:cs typeface="DM Sans"/>
                <a:sym typeface="DM Sans"/>
              </a:defRPr>
            </a:lvl6pPr>
            <a:lvl7pPr marL="3200400" marR="0" lvl="6" indent="-279400" algn="l" rtl="0">
              <a:lnSpc>
                <a:spcPct val="90000"/>
              </a:lnSpc>
              <a:spcBef>
                <a:spcPts val="400"/>
              </a:spcBef>
              <a:spcAft>
                <a:spcPts val="0"/>
              </a:spcAft>
              <a:buClr>
                <a:schemeClr val="dk1"/>
              </a:buClr>
              <a:buSzPts val="800"/>
              <a:buFont typeface="Arial"/>
              <a:buChar char="•"/>
              <a:defRPr sz="800" b="0" i="0" u="none" strike="noStrike" cap="none">
                <a:solidFill>
                  <a:schemeClr val="dk1"/>
                </a:solidFill>
                <a:latin typeface="DM Sans"/>
                <a:ea typeface="DM Sans"/>
                <a:cs typeface="DM Sans"/>
                <a:sym typeface="DM Sans"/>
              </a:defRPr>
            </a:lvl7pPr>
            <a:lvl8pPr marL="3657600" marR="0" lvl="7" indent="-273050" algn="l" rtl="0">
              <a:lnSpc>
                <a:spcPct val="90000"/>
              </a:lnSpc>
              <a:spcBef>
                <a:spcPts val="400"/>
              </a:spcBef>
              <a:spcAft>
                <a:spcPts val="0"/>
              </a:spcAft>
              <a:buClr>
                <a:schemeClr val="dk1"/>
              </a:buClr>
              <a:buSzPts val="700"/>
              <a:buFont typeface="Arial"/>
              <a:buChar char="•"/>
              <a:defRPr sz="700" b="0" i="0" u="none" strike="noStrike" cap="none">
                <a:solidFill>
                  <a:schemeClr val="dk1"/>
                </a:solidFill>
                <a:latin typeface="DM Sans"/>
                <a:ea typeface="DM Sans"/>
                <a:cs typeface="DM Sans"/>
                <a:sym typeface="DM Sans"/>
              </a:defRPr>
            </a:lvl8pPr>
            <a:lvl9pPr marL="4114800" marR="0" lvl="8" indent="-279400" algn="l" rtl="0">
              <a:lnSpc>
                <a:spcPct val="90000"/>
              </a:lnSpc>
              <a:spcBef>
                <a:spcPts val="400"/>
              </a:spcBef>
              <a:spcAft>
                <a:spcPts val="0"/>
              </a:spcAft>
              <a:buClr>
                <a:schemeClr val="dk1"/>
              </a:buClr>
              <a:buSzPts val="800"/>
              <a:buFont typeface="Arial"/>
              <a:buChar char="•"/>
              <a:defRPr sz="800" b="0" i="0" u="none" strike="noStrike" cap="none">
                <a:solidFill>
                  <a:schemeClr val="dk1"/>
                </a:solidFill>
                <a:latin typeface="DM Sans"/>
                <a:ea typeface="DM Sans"/>
                <a:cs typeface="DM Sans"/>
                <a:sym typeface="DM Sans"/>
              </a:defRPr>
            </a:lvl9pPr>
          </a:lstStyle>
          <a:p>
            <a:endParaRPr/>
          </a:p>
        </p:txBody>
      </p:sp>
      <p:sp>
        <p:nvSpPr>
          <p:cNvPr id="51" name="Google Shape;51;p17"/>
          <p:cNvSpPr/>
          <p:nvPr/>
        </p:nvSpPr>
        <p:spPr>
          <a:xfrm>
            <a:off x="0" y="0"/>
            <a:ext cx="9128855" cy="44653"/>
          </a:xfrm>
          <a:custGeom>
            <a:avLst/>
            <a:gdLst/>
            <a:ahLst/>
            <a:cxnLst/>
            <a:rect l="l" t="t" r="r" b="b"/>
            <a:pathLst>
              <a:path w="15876269" h="8930640" extrusionOk="0">
                <a:moveTo>
                  <a:pt x="15875897" y="0"/>
                </a:moveTo>
                <a:lnTo>
                  <a:pt x="0" y="0"/>
                </a:lnTo>
                <a:lnTo>
                  <a:pt x="0" y="8930192"/>
                </a:lnTo>
                <a:lnTo>
                  <a:pt x="15875897" y="8930192"/>
                </a:lnTo>
                <a:lnTo>
                  <a:pt x="15875897" y="0"/>
                </a:lnTo>
                <a:close/>
              </a:path>
            </a:pathLst>
          </a:custGeom>
          <a:solidFill>
            <a:srgbClr val="0058E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a:ea typeface="DM Sans"/>
              <a:cs typeface="DM Sans"/>
              <a:sym typeface="DM Sans"/>
            </a:endParaRPr>
          </a:p>
        </p:txBody>
      </p:sp>
      <p:pic>
        <p:nvPicPr>
          <p:cNvPr id="52" name="Google Shape;52;p17"/>
          <p:cNvPicPr preferRelativeResize="0"/>
          <p:nvPr/>
        </p:nvPicPr>
        <p:blipFill rotWithShape="1">
          <a:blip r:embed="rId31">
            <a:alphaModFix/>
          </a:blip>
          <a:srcRect/>
          <a:stretch/>
        </p:blipFill>
        <p:spPr>
          <a:xfrm>
            <a:off x="8412332" y="4829647"/>
            <a:ext cx="310926" cy="14907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hyperlink" Target="https://app.wiz.io/inventory/unscanned-resources/unclassified" TargetMode="External"/><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hyperlink" Target="https://app.wiz.io/settings/deployments#%7E%28type%7E%27ALL%29" TargetMode="External"/><Relationship Id="rId2" Type="http://schemas.openxmlformats.org/officeDocument/2006/relationships/notesSlide" Target="../notesSlides/notesSlide3.xml"/><Relationship Id="rId16" Type="http://schemas.openxmlformats.org/officeDocument/2006/relationships/hyperlink" Target="https://app.wiz.io/boards/ai-security" TargetMode="External"/><Relationship Id="rId1" Type="http://schemas.openxmlformats.org/officeDocument/2006/relationships/slideLayout" Target="../slideLayouts/slideLayout3.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4.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hyperlink" Target="https://app.wiz.io/explorer/cloud-events#%7E%28filters%7E%28timestampv2%7E%28dateRange%7E%28past%7E%28unit%7E%27month%7Eamount%7E1%29%29%29%29%7EgroupBy%7E%28%7E%27origin%29%29"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app.wiz.io/inventory/kubernetes-clusters" TargetMode="External"/><Relationship Id="rId13" Type="http://schemas.openxmlformats.org/officeDocument/2006/relationships/hyperlink" Target="https://app.wiz.io/inventory/unscanned-resources/unclassified" TargetMode="External"/><Relationship Id="rId3" Type="http://schemas.openxmlformats.org/officeDocument/2006/relationships/image" Target="../media/image35.png"/><Relationship Id="rId7" Type="http://schemas.openxmlformats.org/officeDocument/2006/relationships/image" Target="../media/image48.png"/><Relationship Id="rId12" Type="http://schemas.openxmlformats.org/officeDocument/2006/relationships/image" Target="../media/image49.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7.png"/><Relationship Id="rId11" Type="http://schemas.openxmlformats.org/officeDocument/2006/relationships/hyperlink" Target="https://app.wiz.io/inventory/containers/images" TargetMode="External"/><Relationship Id="rId5" Type="http://schemas.openxmlformats.org/officeDocument/2006/relationships/image" Target="../media/image46.png"/><Relationship Id="rId10" Type="http://schemas.openxmlformats.org/officeDocument/2006/relationships/hyperlink" Target="https://app.wiz.io/inventory/container-registries" TargetMode="External"/><Relationship Id="rId4" Type="http://schemas.openxmlformats.org/officeDocument/2006/relationships/image" Target="../media/image45.png"/><Relationship Id="rId9" Type="http://schemas.openxmlformats.org/officeDocument/2006/relationships/hyperlink" Target="https://app.wiz.io/findings/code-cicd-scans#%7E%28filters%7E%28timestamp%7E%28inTheLast%7E%28amount%7E30%7Eunit%7E%27days%29%29%7Eorigin%7E%28equals%7E%28%7E%27WIZ_CLI%29%29%7EcicdScanTrigger%7E%28equals%7E%28%7E%27USER_INITIATED%29%29%29%29" TargetMode="External"/><Relationship Id="rId14" Type="http://schemas.openxmlformats.org/officeDocument/2006/relationships/hyperlink" Target="https://app.wiz.io/policies/red-agent-modules"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hyperlink" Target="https://app.wiz.io/explorer/graph#%7E%28query%7E%28type%7E%28%7E%27DATABASE%7E%27DB_SERVER%29%7Eselect%7Etrue%7Erelationships%7E%28%7E%28type%7E%28%7E%28type%7E%27SCANNED%7Ereverse%7Etrue%29%29%7Ewith%7E%28type%7E%28%7E%27SECURITY_TOOL_SCAN%29%7Ewhere%7E%28name%7E%28CONTAINS%7E%28%7E%27data*20scan%29%29%29%7Eselect%7Etrue%29%29%7E%28type%7E%28%7E%28type%7E%27HAS_TECH%29%29%7Ewith%7E%28type%7E%28%7E%27TECHNOLOGY%29%7Eselect%7Etrue%7Ewhere%7E%28_externalID%7E%28NOT_EQUALS%7E%28%7E%276961%7E%273032%7E%279899%29%29%29%29%29%29%29%7Eview%7E%27table%7Ecolumns%7E%28%7E%28%7E%270%7E16%29%7E%28%7E%271%7E16%29%7E%28%7E%272%7E16%29%7E%28%7E%273%7E16%29%7E%28%7E%273cloudPlatform%7E9%29%7E%28%7E%273status%7E9%29%7E%28%7E%273externalId%7E9%29%7E%28%7E%273name%7E9%29%29%7Eentity%7E%28%7E%29%7EgraphEntityCols%7E%28DATABASE%7E%28%7E%27cloudPlatform%7E%27status%7E%27externalId%7E%27nativeType%29%7EDB_SERVER%7E%28%7E%27cloudPlatform%7E%27requiresSSL%7E%27hasBackups%7E%27backupRetentionDays%29%7ESECURITY_TOOL_SCAN%7E%28%7E%27status%7E%27analysisDate%7E%27lastSuccess%7E%27workloadAnalysisInfo_hasHighSeverityVulns%29%7ETECHNOLOGY%7E%28%7E%27deploymentModel%7E%27categories%7E%27storesData%7E%27stackLayer%29%29%7Ecols%7E%28%7E%28%7E%27c-r0%7E609%29%7E%28%7E%27c-r0-cloud-platform%7E195%29%7E%28%7E%27c-r0-status%7E81%29%7E%28%7E%27c-r0-external-id%7E300%29%7E%28%7E%27c-r0-native-type%7E275%29%7E%28%7E%27c-r1%7E609%29%7E%28%7E%27c-r1-status%7E92%29%7E%28%7E%27c-r1-analysis-date%7E100%29%7E%28%7E%27c-r1-last-success%7E141%29%7E%28%7E%27c-r1-workload-analysis-info-has-high-severity-vulns%7E228%29%29%29" TargetMode="External"/><Relationship Id="rId18" Type="http://schemas.openxmlformats.org/officeDocument/2006/relationships/hyperlink" Target="https://app.wiz.io/settings/workload-scan-log#%7E%28filters%7E%28status%7E%28%29%7Etimestamp%7E%28%29%7EdataScan%7E%28equals%7Efalse%29%29%29" TargetMode="External"/><Relationship Id="rId26" Type="http://schemas.openxmlformats.org/officeDocument/2006/relationships/hyperlink" Target="https://app.wiz.io/settings/system-health#%7E%28filters%7E%28status%7E%28equals%7E%28%7E%27OPEN%29%29%7EdeploymentType%7E%28equals%7E%28%7E%27BROKER%29%29%7Eseverity%7E%28equals%7E%28%7E%27CRITICAL%7E%27HIGH%29%29%29%29" TargetMode="External"/><Relationship Id="rId3" Type="http://schemas.openxmlformats.org/officeDocument/2006/relationships/image" Target="../media/image48.png"/><Relationship Id="rId21" Type="http://schemas.openxmlformats.org/officeDocument/2006/relationships/hyperlink" Target="https://app.wiz.io/settings/system-health#%7E%28filters%7E%28status%7E%28equals%7E%28%7E%27OPEN%29%29%7EdeploymentType%7E%28equals%7E%28%7E%27OUTPOST_CLUSTER%7E%27OUTPOST%29%29%7Eseverity%7E%28equals%7E%28%7E%27CRITICAL%7E%27HIGH%29%29%29%29" TargetMode="External"/><Relationship Id="rId7" Type="http://schemas.openxmlformats.org/officeDocument/2006/relationships/hyperlink" Target="https://app.wiz.io/settings/system-health#%7E%28filters%7E%28status%7E%28equals%7E%28%7E%27RESOLVED%29%29%7Eseverity%7E%28equals%7E%28%7E%27HIGH%29%29%29%7EgroupBy%7E%27none%29" TargetMode="External"/><Relationship Id="rId12" Type="http://schemas.openxmlformats.org/officeDocument/2006/relationships/hyperlink" Target="https://app.wiz.io/explorer/graph#%7E%28query%7E%28type%7E%28%7E%27BUCKET%29%7Eselect%7Etrue%7Erelationships%7E%28%7E%28type%7E%28%7E%28type%7E%27SCANNED%7Ereverse%7Etrue%29%29%7Ewith%7E%28type%7E%28%7E%27SECURITY_TOOL_SCAN%29%7Ewhere%7E%28name%7E%28CONTAINS%7E%28%7E%27data*20scan%29%29%29%7Eselect%7Etrue%29%29%29%29%7Eview%7E%27table%7Ecolumns%7E%28%7E%28%7E%270%7E16%29%7E%28%7E%271%7E16%29%7E%28%7E%272%7E16%29%7E%28%7E%273%7E16%29%7E%28%7E%273cloudPlatform%7E9%29%7E%28%7E%273status%7E9%29%7E%28%7E%273externalId%7E9%29%7E%28%7E%273name%7E9%29%29%7Eentity%7E%28%7E%29%7EgraphEntityCols%7E%28BUCKET%7E%28%7E%27cloudPlatform%7E%27status%7E%27externalId%7E%27nativeType%29%7ESECURITY_TOOL_SCAN%7E%28%7E%27status%7E%27analysisDate%7E%27lastSuccess%7E%27workloadAnalysisInfo_hasHighSeverityVulns%29%29%7Ecols%7E%28%7E%28%7E%27c-r0%7E609%29%7E%28%7E%27c-r0-cloud-platform%7E195%29%7E%28%7E%27c-r0-status%7E81%29%7E%28%7E%27c-r0-external-id%7E300%29%7E%28%7E%27c-r0-native-type%7E275%29%7E%28%7E%27c-r1%7E609%29%7E%28%7E%27c-r1-status%7E92%29%7E%28%7E%27c-r1-analysis-date%7E100%29%7E%28%7E%27c-r1-last-success%7E141%29%7E%28%7E%27c-r1-workload-analysis-info-has-high-severity-vulns%7E228%29%29%29" TargetMode="External"/><Relationship Id="rId17" Type="http://schemas.openxmlformats.org/officeDocument/2006/relationships/hyperlink" Target="https://app.wiz.io/explorer/graph#%7E%28query%7E%28type%7E%28%7E%27FILE_SYSTEM_SERVICE%29%7Eselect%7Etrue%7Erelationships%7E%28%7E%28type%7E%28%7E%28type%7E%27SCANNED%7Ereverse%7Etrue%29%29%7Ewith%7E%28type%7E%28%7E%27SECURITY_TOOL_SCAN%29%7Ewhere%7E%28name%7E%28CONTAINS%7E%28%7E%27data*20scan%29%29%29%7Eselect%7Etrue%29%29%29%29%7Eview%7E%27table%7Ecolumns%7E%28%7E%28%7E%270%7E16%29%7E%28%7E%271%7E16%29%7E%28%7E%272%7E16%29%7E%28%7E%273%7E16%29%7E%28%7E%273cloudPlatform%7E9%29%7E%28%7E%273status%7E9%29%7E%28%7E%273externalId%7E9%29%7E%28%7E%273name%7E9%29%29%7Eentity%7E%28%7E%29%7EgraphEntityCols%7E%28FILE_SYSTEM_SERVICE%7E%28%7E%27cloudPlatform%7E%27atRestEncryption%7E%27inTransitEncryption%7E%27accessibleFrom.internet%29%7ESECURITY_TOOL_SCAN%7E%28%7E%27status%7E%27analysisDate%7E%27lastSuccess%7E%27workloadAnalysisInfo_hasHighSeverityVulns%29%29%7Ecols%7E%28%7E%28%7E%27c-r0%7E609%29%7E%28%7E%27c-r0-cloud-platform%7E195%29%7E%28%7E%27c-r0-status%7E81%29%7E%28%7E%27c-r0-external-id%7E300%29%7E%28%7E%27c-r0-native-type%7E275%29%7E%28%7E%27c-r1%7E609%29%7E%28%7E%27c-r1-status%7E92%29%7E%28%7E%27c-r1-analysis-date%7E100%29%7E%28%7E%27c-r1-last-success%7E141%29%7E%28%7E%27c-r1-workload-analysis-info-has-high-severity-vulns%7E228%29%29%29" TargetMode="External"/><Relationship Id="rId25" Type="http://schemas.openxmlformats.org/officeDocument/2006/relationships/hyperlink" Target="https://app.wiz.io/settings/system-health#%7E%28filters%7E%28status%7E%28equals%7E%28%7E%27OPEN%29%29%7EdeploymentType%7E%28equals%7E%28%7E%27VERSION_CONTROL_CONNECTOR%29%29%7Eseverity%7E%28equals%7E%28%7E%27CRITICAL%7E%27HIGH%29%29%29%29" TargetMode="External"/><Relationship Id="rId2" Type="http://schemas.openxmlformats.org/officeDocument/2006/relationships/notesSlide" Target="../notesSlides/notesSlide5.xml"/><Relationship Id="rId16" Type="http://schemas.openxmlformats.org/officeDocument/2006/relationships/hyperlink" Target="https://app.wiz.io/explorer/graph#%7E%28query%7E%28type%7E%28%7E%27AI_DATASET%29%7Eselect%7Etrue%7Erelationships%7E%28%7E%28type%7E%28%7E%28type%7E%27SCANNED%7Ereverse%7Etrue%29%29%7Ewith%7E%28type%7E%28%7E%27SECURITY_TOOL_SCAN%29%7Ewhere%7E%28name%7E%28CONTAINS%7E%28%7E%27data*20scan%29%29%29%7Eselect%7Etrue%29%29%29%29%7Eview%7E%27table%7Ecolumns%7E%28%7E%28%7E%270%7E16%29%7E%28%7E%271%7E16%29%7E%28%7E%272%7E16%29%7E%28%7E%273%7E16%29%7E%28%7E%273cloudPlatform%7E9%29%7E%28%7E%273status%7E9%29%7E%28%7E%273externalId%7E9%29%7E%28%7E%273name%7E9%29%29%7Eentity%7E%28%7E%29%7EgraphEntityCols%7E%28AI_DATASET%7E%28%7E%27cloudPlatform%7E%27status%7E%27externalId%7E%27nativeType%29%7ESECURITY_TOOL_SCAN%7E%28%7E%27status%7E%27analysisDate%7E%27lastSuccess%7E%27workloadAnalysisInfo_hasHighSeverityVulns%29%29%7Ecols%7E%28%7E%28%7E%27c-r0%7E609%29%7E%28%7E%27c-r0-cloud-platform%7E195%29%7E%28%7E%27c-r0-status%7E81%29%7E%28%7E%27c-r0-external-id%7E300%29%7E%28%7E%27c-r0-native-type%7E275%29%7E%28%7E%27c-r1%7E609%29%7E%28%7E%27c-r1-status%7E92%29%7E%28%7E%27c-r1-analysis-date%7E100%29%7E%28%7E%27c-r1-last-success%7E141%29%7E%28%7E%27c-r1-workload-analysis-info-has-high-severity-vulns%7E228%29%29%29" TargetMode="External"/><Relationship Id="rId20" Type="http://schemas.openxmlformats.org/officeDocument/2006/relationships/hyperlink" Target="https://app.wiz.io/settings/workload-scan-log#%7E%28filters%7E%28status%7E%28equals%7E%28%7E%27SKIPPED%29%29%7Etimestamp%7E%28%29%7EdataScan%7E%28equals%7Efalse%29%29%29" TargetMode="External"/><Relationship Id="rId1" Type="http://schemas.openxmlformats.org/officeDocument/2006/relationships/slideLayout" Target="../slideLayouts/slideLayout3.xml"/><Relationship Id="rId6" Type="http://schemas.openxmlformats.org/officeDocument/2006/relationships/hyperlink" Target="https://app.wiz.io/settings/system-health#%7E%28filters%7E%28status%7E%28equals%7E%28%7E%27RESOLVED%29%29%7Eseverity%7E%28equals%7E%28%7E%27CRITICAL%29%29%29%7EgroupBy%7E%27none%29" TargetMode="External"/><Relationship Id="rId11" Type="http://schemas.openxmlformats.org/officeDocument/2006/relationships/hyperlink" Target="https://app.wiz.io/explorer/graph#%7E%28query%7E%28type%7E%28%7E%27DATABASE%7E%27AI_DATASET%7E%27DB_SERVER%7E%27VIRTUAL_DRIVE%7E%27FILE_SYSTEM_SERVICE%7E%27VOLUME%7E%27SERVERLESS%7E%27BUCKET%29%7Eselect%7Etrue%7Erelationships%7E%28%7E%28type%7E%28%7E%28type%7E%27SCANNED%7Ereverse%7Etrue%29%29%7Ewith%7E%28type%7E%28%7E%27SECURITY_TOOL_SCAN%29%7Ewhere%7E%28name%7E%28CONTAINS%7E%28%7E%27data*20scan%29%29%7Estatus%7E%28EQUALS%7E%28%7E%27ScanStatusSkipped%29%29%29%7Eselect%7Etrue%29%29%29%29%7Eview%7E%27table%7Ecolumns%7E%28%7E%28%7E%270%7E16%29%7E%28%7E%271%7E16%29%7E%28%7E%272%7E16%29%7E%28%7E%273%7E16%29%7E%28%7E%273cloudPlatform%7E9%29%7E%28%7E%273status%7E9%29%7E%28%7E%273externalId%7E9%29%7E%28%7E%273name%7E9%29%29%7Eentity%7E%28%7E%29%7EgraphEntityCols%7E%28DATABASE%7E%28%7E%27cloudPlatform%7E%27status%7E%27externalId%7E%27nativeType%29%7EAI_DATASET%7E%28%7E%27cloudPlatform%7E%27status%7E%27externalId%7E%27nativeType%29%7EDB_SERVER%7E%28%7E%27cloudPlatform%7E%27requiresSSL%7E%27hasBackups%7E%27backupRetentionDays%29%7EVIRTUAL_DRIVE%7E%28%7E%29%7EFILE_SYSTEM_SERVICE%7E%28%7E%27cloudPlatform%7E%27atRestEncryption%7E%27inTransitEncryption%7E%27accessibleFrom.internet%29%7EVOLUME%7E%28%7E%27cloudPlatform%7E%27encrypted%7E%27status%7E%27sizeBytes%29%7ESERVERLESS%7E%28%7E%27cloudPlatform%7E%27runtime%7E%27accessibleFrom.internet%7E%27requiresAuth%29%7EBUCKET%7E%28%7E%27cloudPlatform%7E%27status%7E%27externalId%7E%27nativeType%29%7ESECURITY_TOOL_SCAN%7E%28%7E%27status%7E%27analysisDate%7E%27lastSuccess%7E%27workloadAnalysisInfo_hasHighSeverityVulns%29%29%7Ecols%7E%28%7E%28%7E%27c-r0%7E609%29%7E%28%7E%27c-r0-cloud-platform%7E195%29%7E%28%7E%27c-r0-status%7E81%29%7E%28%7E%27c-r0-external-id%7E300%29%7E%28%7E%27c-r0-native-type%7E275%29%7E%28%7E%27c-r1%7E609%29%7E%28%7E%27c-r1-status%7E92%29%7E%28%7E%27c-r1-analysis-date%7E100%29%7E%28%7E%27c-r1-last-success%7E141%29%7E%28%7E%27c-r1-workload-analysis-info-has-high-severity-vulns%7E228%29%29%29" TargetMode="External"/><Relationship Id="rId24" Type="http://schemas.openxmlformats.org/officeDocument/2006/relationships/hyperlink" Target="https://app.wiz.io/settings/system-health#%7E%28filters%7E%28status%7E%28equals%7E%28%7E%27OPEN%29%29%7EdeploymentType%7E%28equals%7E%28%7E%27KUBERNETES_CONNECTOR%29%29%7Eseverity%7E%28equals%7E%28%7E%27CRITICAL%7E%27HIGH%29%29%29%29" TargetMode="External"/><Relationship Id="rId5" Type="http://schemas.openxmlformats.org/officeDocument/2006/relationships/hyperlink" Target="https://app.wiz.io/settings/system-health#%7E%28filters%7E%28status%7E%28equals%7E%28%7E%27OPEN%29%29%7Eseverity%7E%28equals%7E%28%7E%27HIGH%29%29%29%7EgroupBy%7E%27none%29" TargetMode="External"/><Relationship Id="rId15" Type="http://schemas.openxmlformats.org/officeDocument/2006/relationships/hyperlink" Target="https://app.wiz.io/explorer/graph#%7E%28query%7E%28type%7E%28%7E%27DATABASE%7E%27DB_SERVER%29%7Eselect%7Etrue%7Erelationships%7E%28%7E%28type%7E%28%7E%28type%7E%27SCANNED%7Ereverse%7Etrue%29%29%7Ewith%7E%28type%7E%28%7E%27SECURITY_TOOL_SCAN%29%7Ewhere%7E%28name%7E%28CONTAINS%7E%28%7E%27data*20scan%29%29%29%7Eselect%7Etrue%29%29%7E%28type%7E%28%7E%28type%7E%27HAS_TECH%29%29%7Ewith%7E%28type%7E%28%7E%27TECHNOLOGY%29%7Eselect%7Etrue%7Ewhere%7E%28_externalID%7E%28EQUALS%7E%28%7E%273032%7E%279899%7E%276961%29%29%29%29%29%29%29%7Eview%7E%27table%7Ecolumns%7E%28%7E%28%7E%270%7E16%29%7E%28%7E%271%7E16%29%7E%28%7E%272%7E16%29%7E%28%7E%273%7E16%29%7E%28%7E%273cloudPlatform%7E9%29%7E%28%7E%273status%7E9%29%7E%28%7E%273externalId%7E9%29%7E%28%7E%273name%7E9%29%29%7Eentity%7E%28%7E%29%7EgraphEntityCols%7E%28DATABASE%7E%28%7E%27cloudPlatform%7E%27status%7E%27externalId%7E%27nativeType%29%7EDB_SERVER%7E%28%7E%27cloudPlatform%7E%27requiresSSL%7E%27hasBackups%7E%27backupRetentionDays%29%7ESECURITY_TOOL_SCAN%7E%28%7E%27status%7E%27analysisDate%7E%27lastSuccess%7E%27workloadAnalysisInfo_hasHighSeverityVulns%29%7ETECHNOLOGY%7E%28%7E%27deploymentModel%7E%27categories%7E%27storesData%7E%27stackLayer%29%29%7Ecols%7E%28%7E%28%7E%27c-r0%7E609%29%7E%28%7E%27c-r0-cloud-platform%7E195%29%7E%28%7E%27c-r0-status%7E81%29%7E%28%7E%27c-r0-external-id%7E300%29%7E%28%7E%27c-r0-native-type%7E275%29%7E%28%7E%27c-r1%7E609%29%7E%28%7E%27c-r1-status%7E92%29%7E%28%7E%27c-r1-analysis-date%7E100%29%7E%28%7E%27c-r1-last-success%7E141%29%7E%28%7E%27c-r1-workload-analysis-info-has-high-severity-vulns%7E228%29%29%29" TargetMode="External"/><Relationship Id="rId23" Type="http://schemas.openxmlformats.org/officeDocument/2006/relationships/hyperlink" Target="https://app.wiz.io/settings/system-health#%7E%28filters%7E%28status%7E%28equals%7E%28%7E%27OPEN%29%29%7EdeploymentType%7E%28equals%7E%28%7E%27INTEGRATION%29%29%7Eseverity%7E%28equals%7E%28%7E%27CRITICAL%7E%27HIGH%29%29%29%29" TargetMode="External"/><Relationship Id="rId10" Type="http://schemas.openxmlformats.org/officeDocument/2006/relationships/hyperlink" Target="https://app.wiz.io/explorer/graph#%7E%28query%7E%28type%7E%28%7E%27DATABASE%7E%27AI_DATASET%7E%27DB_SERVER%7E%27VIRTUAL_DRIVE%7E%27FILE_SYSTEM_SERVICE%7E%27VOLUME%7E%27SERVERLESS%7E%27BUCKET%29%7Eselect%7Etrue%7Erelationships%7E%28%7E%28type%7E%28%7E%28type%7E%27SCANNED%7Ereverse%7Etrue%29%29%7Ewith%7E%28type%7E%28%7E%27SECURITY_TOOL_SCAN%29%7Ewhere%7E%28name%7E%28CONTAINS%7E%28%7E%27data*20scan%29%29%7Estatus%7E%28EQUALS%7E%28%7E%27ScanStatusError%29%29%29%7Eselect%7Etrue%29%29%29%29%7Eview%7E%27table%7Ecolumns%7E%28%7E%28%7E%270%7E16%29%7E%28%7E%271%7E16%29%7E%28%7E%272%7E16%29%7E%28%7E%273%7E16%29%7E%28%7E%273cloudPlatform%7E9%29%7E%28%7E%273status%7E9%29%7E%28%7E%273externalId%7E9%29%7E%28%7E%273name%7E9%29%29%7Eentity%7E%28%7E%29%7EgraphEntityCols%7E%28DATABASE%7E%28%7E%27cloudPlatform%7E%27status%7E%27externalId%7E%27nativeType%29%7EAI_DATASET%7E%28%7E%27cloudPlatform%7E%27status%7E%27externalId%7E%27nativeType%29%7EDB_SERVER%7E%28%7E%27cloudPlatform%7E%27requiresSSL%7E%27hasBackups%7E%27backupRetentionDays%29%7EVIRTUAL_DRIVE%7E%28%7E%29%7EFILE_SYSTEM_SERVICE%7E%28%7E%27cloudPlatform%7E%27atRestEncryption%7E%27inTransitEncryption%7E%27accessibleFrom.internet%29%7EVOLUME%7E%28%7E%27cloudPlatform%7E%27encrypted%7E%27status%7E%27sizeBytes%29%7ESERVERLESS%7E%28%7E%27cloudPlatform%7E%27runtime%7E%27accessibleFrom.internet%7E%27requiresAuth%29%7EBUCKET%7E%28%7E%27cloudPlatform%7E%27status%7E%27externalId%7E%27nativeType%29%7ESECURITY_TOOL_SCAN%7E%28%7E%27status%7E%27analysisDate%7E%27lastSuccess%7E%27workloadAnalysisInfo_hasHighSeverityVulns%29%29%7Ecols%7E%28%7E%28%7E%27c-r0%7E609%29%7E%28%7E%27c-r0-cloud-platform%7E195%29%7E%28%7E%27c-r0-status%7E81%29%7E%28%7E%27c-r0-external-id%7E300%29%7E%28%7E%27c-r0-native-type%7E275%29%7E%28%7E%27c-r1%7E609%29%7E%28%7E%27c-r1-status%7E92%29%7E%28%7E%27c-r1-analysis-date%7E100%29%7E%28%7E%27c-r1-last-success%7E141%29%7E%28%7E%27c-r1-workload-analysis-info-has-high-severity-vulns%7E228%29%29%29" TargetMode="External"/><Relationship Id="rId19" Type="http://schemas.openxmlformats.org/officeDocument/2006/relationships/hyperlink" Target="https://app.wiz.io/settings/workload-scan-log#%7E%28filters%7E%28status%7E%28equals%7E%28%7E%27FAILED%29%29%7Etimestamp%7E%28%29%7EdataScan%7E%28equals%7Efalse%29%29%29" TargetMode="External"/><Relationship Id="rId4" Type="http://schemas.openxmlformats.org/officeDocument/2006/relationships/hyperlink" Target="https://app.wiz.io/settings/system-health#%7E%28filters%7E%28status%7E%28equals%7E%28%7E%27OPEN%29%29%7Eseverity%7E%28equals%7E%28%7E%27CRITICAL%29%29%29%7EgroupBy%7E%27none%29" TargetMode="External"/><Relationship Id="rId9" Type="http://schemas.openxmlformats.org/officeDocument/2006/relationships/hyperlink" Target="https://app.wiz.io/explorer/graph#%7E%28query%7E%28type%7E%28%7E%27DATABASE%7E%27AI_DATASET%7E%27DB_SERVER%7E%27VIRTUAL_DRIVE%7E%27FILE_SYSTEM_SERVICE%7E%27VOLUME%7E%27SERVERLESS%7E%27BUCKET%29%7Eselect%7Etrue%7Erelationships%7E%28%7E%28type%7E%28%7E%28type%7E%27SCANNED%7Ereverse%7Etrue%29%29%7Ewith%7E%28type%7E%28%7E%27SECURITY_TOOL_SCAN%29%7Ewhere%7E%28name%7E%28CONTAINS%7E%28%7E%27data*20scan%29%29%29%7Eselect%7Etrue%29%29%29%29%7Eview%7E%27table%7Ecolumns%7E%28%7E%28%7E%270%7E16%29%7E%28%7E%271%7E16%29%7E%28%7E%272%7E16%29%7E%28%7E%273%7E16%29%7E%28%7E%273cloudPlatform%7E9%29%7E%28%7E%273status%7E9%29%7E%28%7E%273externalId%7E9%29%7E%28%7E%273name%7E9%29%29%7Eentity%7E%28%7E%29%7EgraphEntityCols%7E%28DATABASE%7E%28%7E%27cloudPlatform%7E%27status%7E%27externalId%7E%27nativeType%29%7EAI_DATASET%7E%28%7E%27cloudPlatform%7E%27status%7E%27externalId%7E%27nativeType%29%7EDB_SERVER%7E%28%7E%27cloudPlatform%7E%27requiresSSL%7E%27hasBackups%7E%27backupRetentionDays%29%7EVIRTUAL_DRIVE%7E%28%7E%29%7EFILE_SYSTEM_SERVICE%7E%28%7E%27cloudPlatform%7E%27atRestEncryption%7E%27inTransitEncryption%7E%27accessibleFrom.internet%29%7EVOLUME%7E%28%7E%27cloudPlatform%7E%27encrypted%7E%27status%7E%27sizeBytes%29%7ESERVERLESS%7E%28%7E%27cloudPlatform%7E%27runtime%7E%27accessibleFrom.internet%7E%27requiresAuth%29%7EBUCKET%7E%28%7E%27cloudPlatform%7E%27status%7E%27externalId%7E%27nativeType%29%7ESECURITY_TOOL_SCAN%7E%28%7E%27status%7E%27analysisDate%7E%27lastSuccess%7E%27workloadAnalysisInfo_hasHighSeverityVulns%29%29%7Ecols%7E%28%7E%28%7E%27c-r0%7E609%29%7E%28%7E%27c-r0-cloud-platform%7E195%29%7E%28%7E%27c-r0-status%7E81%29%7E%28%7E%27c-r0-external-id%7E300%29%7E%28%7E%27c-r0-native-type%7E275%29%7E%28%7E%27c-r1%7E609%29%7E%28%7E%27c-r1-status%7E92%29%7E%28%7E%27c-r1-analysis-date%7E100%29%7E%28%7E%27c-r1-last-success%7E141%29%7E%28%7E%27c-r1-workload-analysis-info-has-high-severity-vulns%7E228%29%29%29" TargetMode="External"/><Relationship Id="rId14" Type="http://schemas.openxmlformats.org/officeDocument/2006/relationships/hyperlink" Target="https://app.wiz.io/explorer/graph#%7E%28query%7E%28type%7E%28%7E%27VIRTUAL_DRIVE%29%7Eselect%7Etrue%7Erelationships%7E%28%7E%28type%7E%28%7E%28type%7E%27SCANNED%7Ereverse%7Etrue%29%29%7Ewith%7E%28type%7E%28%7E%27SECURITY_TOOL_SCAN%29%7Ewhere%7E%28name%7E%28CONTAINS%7E%28%7E%27data*20scan%29%29%29%7Eselect%7Etrue%29%29%29%29%7Eview%7E%27table%7Ecolumns%7E%28%7E%28%7E%270%7E16%29%7E%28%7E%271%7E16%29%7E%28%7E%272%7E16%29%7E%28%7E%273%7E16%29%7E%28%7E%273cloudPlatform%7E9%29%7E%28%7E%273status%7E9%29%7E%28%7E%273externalId%7E9%29%7E%28%7E%273name%7E9%29%29%7Eentity%7E%28%7E%29%7EgraphEntityCols%7E%28VIRTUAL_DRIVE%7E%28%7E%29%7ESECURITY_TOOL_SCAN%7E%28%7E%27status%7E%27analysisDate%7E%27lastSuccess%7E%27workloadAnalysisInfo_hasHighSeverityVulns%29%29%7Ecols%7E%28%7E%28%7E%27c-r0%7E609%29%7E%28%7E%27c-r0-cloud-platform%7E195%29%7E%28%7E%27c-r0-status%7E81%29%7E%28%7E%27c-r0-external-id%7E300%29%7E%28%7E%27c-r0-native-type%7E275%29%7E%28%7E%27c-r1%7E609%29%7E%28%7E%27c-r1-status%7E92%29%7E%28%7E%27c-r1-analysis-date%7E100%29%7E%28%7E%27c-r1-last-success%7E141%29%7E%28%7E%27c-r1-workload-analysis-info-has-high-severity-vulns%7E228%29%29%29" TargetMode="External"/><Relationship Id="rId22" Type="http://schemas.openxmlformats.org/officeDocument/2006/relationships/hyperlink" Target="https://app.wiz.io/settings/system-health#%7E%28filters%7E%28status%7E%28equals%7E%28%7E%27OPEN%29%29%7EdeploymentType%7E%28equals%7E%28%7E%27REGISTRY_CONNECTOR%29%29%7Eseverity%7E%28equals%7E%28%7E%27CRITICAL%7E%27HIGH%29%29%29%29" TargetMode="External"/><Relationship Id="rId27" Type="http://schemas.openxmlformats.org/officeDocument/2006/relationships/hyperlink" Target="https://app.wiz.io/settings/system-health#%7E%28filters%7E%28status%7E%28equals%7E%28%7E%27OPEN%29%29%7EdeploymentType%7E%28equals%7E%28%7E%27CLOUD_CONNECTOR%29%29%7Eseverity%7E%28equals%7E%28%7E%27CRITICAL%7E%27HIGH%29%29%29%29"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app.wiz.io/settings/projects#%7E%28filters%7E%28businessImpact%7E%28equals%7E%28%7E%27MBI%29%29%29%29" TargetMode="External"/><Relationship Id="rId13" Type="http://schemas.openxmlformats.org/officeDocument/2006/relationships/hyperlink" Target="https://app.wiz.io/policies/inventory-management-rules#%7E%28filters%7E%28createdBy%7E%28equals%7E%28%7E%27USER%29%29%29%29" TargetMode="External"/><Relationship Id="rId18" Type="http://schemas.openxmlformats.org/officeDocument/2006/relationships/image" Target="../media/image51.png"/><Relationship Id="rId3" Type="http://schemas.openxmlformats.org/officeDocument/2006/relationships/hyperlink" Target="https://app.wiz.io/settings/users#%7E%28filters%7E%28status%7E%28notEquals%7E%28%7E%27DELETED%29%29%29%29" TargetMode="External"/><Relationship Id="rId21" Type="http://schemas.openxmlformats.org/officeDocument/2006/relationships/hyperlink" Target="https://app.wiz.io/policies/workflows" TargetMode="External"/><Relationship Id="rId7" Type="http://schemas.openxmlformats.org/officeDocument/2006/relationships/hyperlink" Target="https://app.wiz.io/settings/projects#%7E%28filters%7E%28businessImpact%7E%28equals%7E%28%7E%27HBI%29%29%29%29" TargetMode="External"/><Relationship Id="rId12" Type="http://schemas.openxmlformats.org/officeDocument/2006/relationships/hyperlink" Target="https://app.wiz.io/settings/services" TargetMode="External"/><Relationship Id="rId17" Type="http://schemas.openxmlformats.org/officeDocument/2006/relationships/hyperlink" Target="https://app.wiz.io/settings/audit-log#%7E%28filters%7E%28action%7E%28equals%7E%28%7E%27AiAssistantSendMessage%29%29%7EclientType%7E%28notEquals%7E%28%7E%27UNKNOWN%29%29%7EuserType%7E%28equals%7E%28%7E%27USER_ACCOUNT%29%29%29%7EgroupBy%7E%28%7E%27CLIENT_TYPE%29%29" TargetMode="External"/><Relationship Id="rId2" Type="http://schemas.openxmlformats.org/officeDocument/2006/relationships/notesSlide" Target="../notesSlides/notesSlide6.xml"/><Relationship Id="rId16" Type="http://schemas.openxmlformats.org/officeDocument/2006/relationships/hyperlink" Target="https://app.wiz.io/boards/champion-center" TargetMode="External"/><Relationship Id="rId20" Type="http://schemas.openxmlformats.org/officeDocument/2006/relationships/image" Target="../media/image53.png"/><Relationship Id="rId1" Type="http://schemas.openxmlformats.org/officeDocument/2006/relationships/slideLayout" Target="../slideLayouts/slideLayout3.xml"/><Relationship Id="rId6" Type="http://schemas.openxmlformats.org/officeDocument/2006/relationships/hyperlink" Target="https://app.wiz.io/inventory/unscanned-resources/unclassified" TargetMode="External"/><Relationship Id="rId11" Type="http://schemas.openxmlformats.org/officeDocument/2006/relationships/hyperlink" Target="https://app.wiz.io/policies/resource-tag-rules#%7E%28filters%7E%28type%7E%28equals%7E%28%7E%27TAG%29%29%7Estatus%7E%28equals%7E%27enabled%29%29%29" TargetMode="External"/><Relationship Id="rId5" Type="http://schemas.openxmlformats.org/officeDocument/2006/relationships/hyperlink" Target="https://app.wiz.io/settings/deployments#%7E%28type%7E%27INTEGRATION%29" TargetMode="External"/><Relationship Id="rId15" Type="http://schemas.openxmlformats.org/officeDocument/2006/relationships/hyperlink" Target="https://app.wiz.io/reports/monitored-metrics#%7E%28filters%7E%28builtin%7E%28equals%7E%28%7E%27false%29%29%29%29" TargetMode="External"/><Relationship Id="rId23" Type="http://schemas.openxmlformats.org/officeDocument/2006/relationships/hyperlink" Target="https://app.wiz.io/settings/audit-log#%7E%28filters%7E%28clientType%7E%28equals%7E%28%7E%27MCP%29%29%29%7EgroupBy%7E%28%7E%27PERFORMER%29%29" TargetMode="External"/><Relationship Id="rId10" Type="http://schemas.openxmlformats.org/officeDocument/2006/relationships/hyperlink" Target="https://app.wiz.io/reports/compliance/security-frameworks#%7E%28filters%7E%28createdBy%7E%28equals%7E%27USER%29%29%29" TargetMode="External"/><Relationship Id="rId19" Type="http://schemas.openxmlformats.org/officeDocument/2006/relationships/image" Target="../media/image52.png"/><Relationship Id="rId4" Type="http://schemas.openxmlformats.org/officeDocument/2006/relationships/hyperlink" Target="https://app.wiz.io/settings/users#%7E%28filters%7E%28status%7E%28notEquals%7E%28%7E%27DELETED%29%29%7ElastLoginAt%7E%28inTheLast%7E%28amount%7E30%7Eunit%7E%27days%29%29%29%29" TargetMode="External"/><Relationship Id="rId9" Type="http://schemas.openxmlformats.org/officeDocument/2006/relationships/hyperlink" Target="https://app.wiz.io/settings/projects#%7E%28filters%7E%28businessImpact%7E%28equals%7E%28%7E%27LBI%29%29%29%29" TargetMode="External"/><Relationship Id="rId14" Type="http://schemas.openxmlformats.org/officeDocument/2006/relationships/hyperlink" Target="https://app.wiz.io/policies/posture#%7E%28filters%7E%28creator%7E%28equals%7E%28%7E%27USER%29%29%29%29" TargetMode="External"/><Relationship Id="rId22" Type="http://schemas.openxmlformats.org/officeDocument/2006/relationships/hyperlink" Target="https://app.wiz.io/policies/automation-rule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hyperlink" Target="https://app.wiz.io/settings/preview-and-migration-hub"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hyperlink" Target="https://app.wiz.io/settings/preview-and-migration-hub"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hyperlink" Target="https://app.wiz.io/roadmap?tab=TRACKED"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9.png"/><Relationship Id="rId7" Type="http://schemas.openxmlformats.org/officeDocument/2006/relationships/image" Target="../media/image5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2.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8" Type="http://schemas.openxmlformats.org/officeDocument/2006/relationships/hyperlink" Target="https://app.wiz.io/issues#%7E%28filters%7E%28status%7E%28equals%7E%28%7E%27REJECTED%29%29%29%7EgroupBy%7E%27none%29" TargetMode="External"/><Relationship Id="rId13" Type="http://schemas.openxmlformats.org/officeDocument/2006/relationships/image" Target="../media/image55.png"/><Relationship Id="rId3" Type="http://schemas.openxmlformats.org/officeDocument/2006/relationships/image" Target="../media/image48.png"/><Relationship Id="rId7" Type="http://schemas.openxmlformats.org/officeDocument/2006/relationships/hyperlink" Target="https://app.wiz.io/issues#%7E%28filters%7E%28status%7E%28equals%7E%28%7E%27RESOLVED%29%29%7Eseverity%7E%28equals%7E%28%7E%27HIGH%29%29%29%7EgroupBy%7E%27none%29" TargetMode="External"/><Relationship Id="rId12" Type="http://schemas.openxmlformats.org/officeDocument/2006/relationships/hyperlink" Target="https://app.wiz.io/threats#%7E%28filters%7E%28status%7E%28equals%7E%28%7E%27OPEN%7E%27IN_PROGRESS%29%29%7EcreatedAt%7E%28dateRange%7E%28past%7E%28amount%7E30%7Eunit%7E%27day%29%29%29%29%29"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hyperlink" Target="https://app.wiz.io/issues#%7E%28filters%7E%28status%7E%28equals%7E%28%7E%27OPEN%7E%27IN_PROGRESS%29%29%7Eseverity%7E%28equals%7E%28%7E%27HIGH%29%29%29%7EgroupBy%7E%27none%29" TargetMode="External"/><Relationship Id="rId11" Type="http://schemas.openxmlformats.org/officeDocument/2006/relationships/hyperlink" Target="https://app.wiz.io/boards/security-operations#%7E%28filters%7E%28timestamp%7E%28dateRange%7E%28past%7E%28unit%7E%27day%7Eamount%7E30%29%29%29%29%29" TargetMode="External"/><Relationship Id="rId5" Type="http://schemas.openxmlformats.org/officeDocument/2006/relationships/hyperlink" Target="https://app.wiz.io/issues#%7E%28filters%7E%28status%7E%28equals%7E%28%7E%27RESOLVED%29%29%7Eseverity%7E%28equals%7E%28%7E%27CRITICAL%29%29%29%7EgroupBy%7E%27none%29" TargetMode="External"/><Relationship Id="rId10" Type="http://schemas.openxmlformats.org/officeDocument/2006/relationships/image" Target="../media/image44.png"/><Relationship Id="rId4" Type="http://schemas.openxmlformats.org/officeDocument/2006/relationships/hyperlink" Target="https://app.wiz.io/issues#%7E%28filters%7E%28status%7E%28equals%7E%28%7E%27OPEN%7E%27IN_PROGRESS%29%29%7Eseverity%7E%28equals%7E%28%7E%27CRITICAL%29%29%29%7EgroupBy%7E%27none%29" TargetMode="External"/><Relationship Id="rId9" Type="http://schemas.openxmlformats.org/officeDocument/2006/relationships/hyperlink" Target="https://app.wiz.io/boards/ai-security" TargetMode="External"/><Relationship Id="rId14" Type="http://schemas.openxmlformats.org/officeDocument/2006/relationships/image" Target="../media/image56.png"/></Relationships>
</file>

<file path=ppt/slides/_rels/slide13.xml.rels><?xml version="1.0" encoding="UTF-8" standalone="yes"?>
<Relationships xmlns="http://schemas.openxmlformats.org/package/2006/relationships"><Relationship Id="rId8" Type="http://schemas.openxmlformats.org/officeDocument/2006/relationships/hyperlink" Target="https://app.wiz.io/inventory/kubernetes-clusters" TargetMode="External"/><Relationship Id="rId3" Type="http://schemas.openxmlformats.org/officeDocument/2006/relationships/image" Target="../media/image44.png"/><Relationship Id="rId7" Type="http://schemas.openxmlformats.org/officeDocument/2006/relationships/hyperlink" Target="https://app.wiz.io/issues?filters=%7B%22status%22%3A%7B%22equals%22%3A%5B%22OPEN%22%2C%22IN_PROGRESS%22%5D%7D%2C%22severity%22%3A%7B%22equals%22%3A%5B%22CRITICAL%22%5D%7D%7D&amp;groupOrderBy=%5B%22SEVERITY%22%2C%22DESC%22%5D"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9" Type="http://schemas.openxmlformats.org/officeDocument/2006/relationships/hyperlink" Target="https://app.wiz.io/issues?filters=%7B%22status%22%3A%7B%22equals%22%3A%5B%22OPEN%22%2C%22IN_PROGRESS%22%5D%7D%2C%22severity%22%3A%7B%22equals%22%3A%5B%22HIGH%22%5D%7D%7D&amp;groupOrderBy=%5B%22SEVERITY%22%2C%22DESC%22%5D"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openxmlformats.org/officeDocument/2006/relationships/hyperlink" Target="https://app.wiz.io/inventory/kubernetes-clusters#%7E%28cols%7E%28%7E%28%7E%27c-cluster%7E%27fill%29%7E%28%7E%27c-coverage%7E0%29%7E%28%7E%27c-related-issues%7E0%29%7E%28%7E%27c-version%7E0%29%7E%28%7E%27c-subscription%7E0%29%7E%28%7E%27c-policies%7E0%29%7E%28%7E%27c-kubernetes-cluster-node-count%7E0%29%7E%28%7E%27c-accessible-from-internet%7E0%29%7E%28%7E%27c-project%7E0%29%7E%28%7E%27c-last-seen%7E0%29%7E%28%7E%27c-p-kubernetes-kubernetes-flavor%7E%27fit%29%29%7Eentity%7E%28%7E%29%7Efilters%7E%28property*3adeploymentCoverage_auditLogCollector_deploymentStatus%7E%28EQUALS%7E%28%7E%27Installed%29%29%29%29" TargetMode="External"/><Relationship Id="rId13" Type="http://schemas.openxmlformats.org/officeDocument/2006/relationships/hyperlink" Target="https://app.wiz.io/inventory/kubernetes-clusters#%7E%28cols%7E%28%7E%28%7E%27c-cluster%7E%27fill%29%7E%28%7E%27c-coverage%7E0%29%7E%28%7E%27c-related-issues%7E0%29%7E%28%7E%27c-version%7E0%29%7E%28%7E%27c-subscription%7E0%29%7E%28%7E%27c-policies%7E0%29%7E%28%7E%27c-kubernetes-cluster-node-count%7E0%29%7E%28%7E%27c-accessible-from-internet%7E0%29%7E%28%7E%27c-project%7E0%29%7E%28%7E%27c-last-seen%7E0%29%7E%28%7E%27c-p-kubernetes-kubernetes-flavor%7E%27fit%29%29%7Eentity%7E%28%7E%29%7Efilters%7E%28property*3adeploymentCoverage_sensor_deploymentStatus%7E%28EQUALS%7E%28%7E%27NotInstalled%29%29%29%29" TargetMode="External"/><Relationship Id="rId3" Type="http://schemas.openxmlformats.org/officeDocument/2006/relationships/hyperlink" Target="https://app.wiz.io/inventory/kubernetes-clusters" TargetMode="External"/><Relationship Id="rId7" Type="http://schemas.openxmlformats.org/officeDocument/2006/relationships/hyperlink" Target="https://app.wiz.io/inventory/container-registries" TargetMode="External"/><Relationship Id="rId12" Type="http://schemas.openxmlformats.org/officeDocument/2006/relationships/hyperlink" Target="https://app.wiz.io/inventory/kubernetes-clusters#%7E%28cols%7E%28%7E%28%7E%27c-cluster%7E%27fill%29%7E%28%7E%27c-coverage%7E0%29%7E%28%7E%27c-related-issues%7E0%29%7E%28%7E%27c-version%7E0%29%7E%28%7E%27c-subscription%7E0%29%7E%28%7E%27c-policies%7E0%29%7E%28%7E%27c-kubernetes-cluster-node-count%7E0%29%7E%28%7E%27c-accessible-from-internet%7E0%29%7E%28%7E%27c-project%7E0%29%7E%28%7E%27c-last-seen%7E0%29%7E%28%7E%27c-p-kubernetes-kubernetes-flavor%7E%27fit%29%29%7Eentity%7E%28%7E%29%7Efilters%7E%28property*3adeploymentCoverage_auditLogCollector_deploymentStatus%7E%28EQUALS%7E%28%7E%27NotInstalled%29%29%29%29" TargetMode="External"/><Relationship Id="rId17" Type="http://schemas.openxmlformats.org/officeDocument/2006/relationships/hyperlink" Target="https://app.wiz.io/inventory/container-registries#%7E%28filters%7E%28scanningConfigurationType%7E%28equals%7E%28%7E%27CUSTOM%29%29%29%29" TargetMode="External"/><Relationship Id="rId2" Type="http://schemas.openxmlformats.org/officeDocument/2006/relationships/notesSlide" Target="../notesSlides/notesSlide15.xml"/><Relationship Id="rId16" Type="http://schemas.openxmlformats.org/officeDocument/2006/relationships/hyperlink" Target="https://app.wiz.io/inventory/container-registries#%7E%28filters%7E%28connectionType%7E%28equals%7E%28%7E%27AUTOMATIC%29%29%29%29" TargetMode="External"/><Relationship Id="rId1" Type="http://schemas.openxmlformats.org/officeDocument/2006/relationships/slideLayout" Target="../slideLayouts/slideLayout4.xml"/><Relationship Id="rId6" Type="http://schemas.openxmlformats.org/officeDocument/2006/relationships/hyperlink" Target="https://app.wiz.io/inventory/containers/images" TargetMode="External"/><Relationship Id="rId11" Type="http://schemas.openxmlformats.org/officeDocument/2006/relationships/hyperlink" Target="https://app.wiz.io/inventory/kubernetes-clusters#%7E%28cols%7E%28%7E%28%7E%27c-cluster%7E%27fill%29%7E%28%7E%27c-coverage%7E0%29%7E%28%7E%27c-related-issues%7E0%29%7E%28%7E%27c-version%7E0%29%7E%28%7E%27c-subscription%7E0%29%7E%28%7E%27c-policies%7E0%29%7E%28%7E%27c-kubernetes-cluster-node-count%7E0%29%7E%28%7E%27c-accessible-from-internet%7E0%29%7E%28%7E%27c-project%7E0%29%7E%28%7E%27c-last-seen%7E0%29%7E%28%7E%27c-p-kubernetes-kubernetes-flavor%7E%27fit%29%29%7Eentity%7E%28%7E%29%7Efilters%7E%28property*3adeploymentCoverage_connector_deploymentStatus%7E%28EQUALS%7E%28%7E%27NotInstalled%29%29%29%29" TargetMode="External"/><Relationship Id="rId5" Type="http://schemas.openxmlformats.org/officeDocument/2006/relationships/hyperlink" Target="https://app.wiz.io/inventory/kubernetes-clusters#%7E%28cols%7E%28%7E%28%7E%27c-cluster%7E%27fill%29%7E%28%7E%27c-coverage%7E0%29%7E%28%7E%27c-related-issues%7E0%29%7E%28%7E%27c-version%7E0%29%7E%28%7E%27c-subscription%7E0%29%7E%28%7E%27c-policies%7E0%29%7E%28%7E%27c-kubernetes-cluster-node-count%7E0%29%7E%28%7E%27c-accessible-from-internet%7E0%29%7E%28%7E%27c-project%7E0%29%7E%28%7E%27c-last-seen%7E0%29%7E%28%7E%27c-p-kubernetes-kubernetes-flavor%7E%27fit%29%29%7Eentity%7E%28%7E%29%7Efilters%7E%28property*3adeploymentCoverage_admissionController_deploymentStatus%7E%28EQUALS%7E%28%7E%27Installed%29%29%29%29" TargetMode="External"/><Relationship Id="rId15" Type="http://schemas.openxmlformats.org/officeDocument/2006/relationships/hyperlink" Target="https://app.wiz.io/inventory/container-registries#%7E%28filters%7E%28connectionType%7E%28equals%7E%28%7E%27STANDALONE%29%29%29%29" TargetMode="External"/><Relationship Id="rId10" Type="http://schemas.openxmlformats.org/officeDocument/2006/relationships/hyperlink" Target="https://app.wiz.io/inventory/kubernetes-clusters#%7E%28filters%7E%28property*3aaccessibleFrom.internet%7E%28EQUALS%7Etrue%29%29%29" TargetMode="External"/><Relationship Id="rId4" Type="http://schemas.openxmlformats.org/officeDocument/2006/relationships/hyperlink" Target="https://app.wiz.io/inventory/kubernetes-clusters#%7E%28cols%7E%28%7E%28%7E%27c-cluster%7E%27fill%29%7E%28%7E%27c-coverage%7E0%29%7E%28%7E%27c-related-issues%7E0%29%7E%28%7E%27c-version%7E0%29%7E%28%7E%27c-subscription%7E0%29%7E%28%7E%27c-policies%7E0%29%7E%28%7E%27c-kubernetes-cluster-node-count%7E0%29%7E%28%7E%27c-accessible-from-internet%7E0%29%7E%28%7E%27c-project%7E0%29%7E%28%7E%27c-last-seen%7E0%29%7E%28%7E%27c-p-kubernetes-kubernetes-flavor%7E%27fit%29%29%7Eentity%7E%28%7E%29%7Efilters%7E%28property*3adeploymentCoverage_connector_deploymentStatus%7E%28EQUALS%7E%28%7E%27Installed%29%29%29%29" TargetMode="External"/><Relationship Id="rId9" Type="http://schemas.openxmlformats.org/officeDocument/2006/relationships/hyperlink" Target="https://app.wiz.io/inventory/kubernetes-clusters#%7E%28cols%7E%28%7E%28%7E%27c-cluster%7E%27fill%29%7E%28%7E%27c-coverage%7E0%29%7E%28%7E%27c-related-issues%7E0%29%7E%28%7E%27c-version%7E0%29%7E%28%7E%27c-subscription%7E0%29%7E%28%7E%27c-policies%7E0%29%7E%28%7E%27c-kubernetes-cluster-node-count%7E0%29%7E%28%7E%27c-accessible-from-internet%7E0%29%7E%28%7E%27c-project%7E0%29%7E%28%7E%27c-last-seen%7E0%29%7E%28%7E%27c-p-kubernetes-kubernetes-flavor%7E%27fit%29%29%7Eentity%7E%28%7E%29%7Efilters%7E%28property*3adeploymentCoverage_sensor_deploymentStatus%7E%28EQUALS%7E%28%7E%27Installed%29%29%29%29" TargetMode="External"/><Relationship Id="rId14" Type="http://schemas.openxmlformats.org/officeDocument/2006/relationships/image" Target="../media/image57.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hyperlink" Target="https://app.wiz.io/settings/scanners/cloud-configuration" TargetMode="External"/><Relationship Id="rId7" Type="http://schemas.openxmlformats.org/officeDocument/2006/relationships/hyperlink" Target="https://app.wiz.io/settings/scanners/attack-surface" TargetMode="External"/><Relationship Id="rId2" Type="http://schemas.openxmlformats.org/officeDocument/2006/relationships/notesSlide" Target="../notesSlides/notesSlide17.xml"/><Relationship Id="rId1" Type="http://schemas.openxmlformats.org/officeDocument/2006/relationships/slideLayout" Target="../slideLayouts/slideLayout16.xml"/><Relationship Id="rId6" Type="http://schemas.openxmlformats.org/officeDocument/2006/relationships/hyperlink" Target="https://app.wiz.io/boards/security-operations#%7E%28filters%7E%28timestamp%7E%28dateRange%7E%28past%7E%28unit%7E%27day%7Eamount%7E30%29%29%29%29%29" TargetMode="External"/><Relationship Id="rId5" Type="http://schemas.openxmlformats.org/officeDocument/2006/relationships/hyperlink" Target="https://app.wiz.io/settings/scanners/workload-scanner" TargetMode="External"/><Relationship Id="rId4" Type="http://schemas.openxmlformats.org/officeDocument/2006/relationships/hyperlink" Target="https://app.wiz.io/settings/scanners/file-integrity-monitoring"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8.xml"/><Relationship Id="rId1" Type="http://schemas.openxmlformats.org/officeDocument/2006/relationships/slideLayout" Target="../slideLayouts/slideLayout16.xml"/><Relationship Id="rId6" Type="http://schemas.openxmlformats.org/officeDocument/2006/relationships/hyperlink" Target="https://app.wiz.io/settings/scanners/data-security" TargetMode="External"/><Relationship Id="rId5" Type="http://schemas.openxmlformats.org/officeDocument/2006/relationships/hyperlink" Target="https://app.wiz.io/boards/security-operations#%7E%28filters%7E%28timestamp%7E%28dateRange%7E%28past%7E%28unit%7E%27day%7Eamount%7E30%29%29%29%29%29" TargetMode="External"/><Relationship Id="rId4" Type="http://schemas.openxmlformats.org/officeDocument/2006/relationships/hyperlink" Target="https://app.wiz.io/settings/scanners/vulnerability-scanning"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app.wiz.io/explorer/graph#%7E%28query%7E%28relationships%7E%28%7E%28type%7E%28%7E%28reverse%7Etrue%7Etype%7E%27HAS_TECH%29%29%7Ewith%7E%28relationships%7E%28%7E%28type%7E%28%7E%28reverse%7Etrue%7Etype%7E%27CONTAINS%29%29%7Ewith%7E%28type%7E%28%7E%27SUBSCRIPTION%7E%27CLOUD_ORGANIZATION%29%7Ewhere%7E%28name%7E%28DOES_NOT_START_WITH%7E%28%7E%27Discovered%29%29%29%29%29%29%7Etype%7E%28%7E%27SERVICE_ACCOUNT%29%7Ewhere%7E%28externalOwners%7E%28IS_SET%7Etrue%29%29%7Eselect%7Etrue%7Eaggregate%7Etrue%29%29%29%7Eselect%7Etrue%7Etype%7E%28%7E%27TECHNOLOGY%29%7Ewhere%7E%28deploymentModel%7E%28EQUALS%7E%28%7E%27Cloud*20service%29%29%7Ename%7E%28DOES_NOT_CONTAIN%7E%28%7E%27wiz%29%29%7Ecategories%7E%28EQUALS%7E%28%7E%27CSPM*20*28Cloud*20Security*20Posture*20Management*29%7E%27CNAPP*20*28Cloud-Native*20Application*20Protection*20Platform*29%7E%27CIEM*20*28Cloud*20Infrastructure*20Entitlement*20Management*29%7E%27DSPM*20*28Data*20Security*20Posture*20Management*29%7E%27Data*20Access*20Management%7E%27Attack*20Surface*20Management%29%29%29%29%7Eview%7E%27table%7EgraphEntityCols%7E%28TECHNOLOGY%7E%28%7E%27deploymentModel%7E%27categories%7E%27storesData%7E%27stackLayer%7E%27ownerName%7E%27description%29%29%29" TargetMode="External"/><Relationship Id="rId2" Type="http://schemas.openxmlformats.org/officeDocument/2006/relationships/notesSlide" Target="../notesSlides/notesSlide19.xml"/><Relationship Id="rId1" Type="http://schemas.openxmlformats.org/officeDocument/2006/relationships/slideLayout" Target="../slideLayouts/slideLayout16.xml"/><Relationship Id="rId5" Type="http://schemas.openxmlformats.org/officeDocument/2006/relationships/hyperlink" Target="https://app.wiz.io/explorer/graph#%7E%28query%7E%28relationships%7E%28%7E%28type%7E%28%7E%28reverse%7Etrue%7Etype%7E%27HAS_TECH%29%29%7Ewith%7E%28relationships%7E%28%7E%28type%7E%28%7E%28reverse%7Etrue%7Etype%7E%27CONTAINS%29%29%7Ewith%7E%28type%7E%28%7E%27SUBSCRIPTION%7E%27CLOUD_ORGANIZATION%29%7Ewhere%7E%28name%7E%28DOES_NOT_START_WITH%7E%28%7E%27Discovered%29%29%29%29%29%29%7Eselect%7Etrue%7Etype%7E%28%7E%27SERVICE_ACCOUNT%29%7Ewhere%7E%28externalOwners%7E%28IS_SET%7Etrue%29%29%7Eaggregate%7Etrue%29%29%29%7Eselect%7Etrue%7Etype%7E%28%7E%27TECHNOLOGY%29%7Ewhere%7E%28deploymentModel%7E%28EQUALS%7E%28%7E%27Cloud*20service%29%29%7Ename%7E%28DOES_NOT_CONTAIN%7E%28%7E%27wiz%29%29%7Ecategories%7E%28EQUALS%7E%28%7E%27Infrastructure*20as*20Code*20Analysis%7E%27SAST*20*28Static*20Application*20Security*20Testing*29%7E%27DAST*20*28Dynamic*20Application*20Security*20Testing*29%7E%27SCA*20*28Software*20Composition*20Analysis*29%7E%27Code*20Secret*20Scanner%7E%27Integrated*20development*20environment*20*28IDE*29*20Tools%7E%27Code*20Security%29%29%29%29%7Eview%7E%27table%7EgraphEntityCols%7E%28TECHNOLOGY%7E%28%7E%27deploymentModel%7E%27categories%7E%27storesData%7E%27stackLayer%7E%27ownerName%7E%27description%29%29%29" TargetMode="External"/><Relationship Id="rId4" Type="http://schemas.openxmlformats.org/officeDocument/2006/relationships/hyperlink" Target="https://app.wiz.io/explorer/graph#%7E%28query%7E%28relationships%7E%28%7E%28type%7E%28%7E%28reverse%7Etrue%7Etype%7E%27HAS_TECH%29%29%7Ewith%7E%28relationships%7E%28%7E%28type%7E%28%7E%28reverse%7Etrue%7Etype%7E%27CONTAINS%29%29%7Ewith%7E%28type%7E%28%7E%27SUBSCRIPTION%7E%27CLOUD_ORGANIZATION%29%7Ewhere%7E%28name%7E%28DOES_NOT_START_WITH%7E%28%7E%27Discovered%29%29%29%29%29%29%7Etype%7E%28%7E%27SERVICE_ACCOUNT%29%7Ewhere%7E%28externalOwners%7E%28IS_SET%7Etrue%29%29%7Eselect%7Etrue%7Eaggregate%7Etrue%29%29%29%7Eselect%7Etrue%7Etype%7E%28%7E%27TECHNOLOGY%29%7Ewhere%7E%28deploymentModel%7E%28EQUALS%7E%28%7E%27Cloud*20service%29%29%7Ename%7E%28DOES_NOT_CONTAIN%7E%28%7E%27wiz%29%29%7Ecategories%7E%28EQUALS%7E%28%7E%27CWPP*20*28Cloud*20Workload*20Protection*20Platform*29%7E%27Container*20Runtime*20Security%7E%27Runtime*20Security%7E%27Threat*20Detection*20and*20Response%7E%27Container*20Image*20Scanners%7E%27Container*20Security%29%29%29%29%7Eview%7E%27table%7EgraphEntityCols%7E%28TECHNOLOGY%7E%28%7E%27deploymentModel%7E%27categories%7E%27storesData%7E%27stackLayer%7E%27ownerName%7E%27description%29%29%29"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0.png"/><Relationship Id="rId7" Type="http://schemas.openxmlformats.org/officeDocument/2006/relationships/image" Target="../media/image66.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65.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7"/>
          <p:cNvSpPr txBox="1"/>
          <p:nvPr/>
        </p:nvSpPr>
        <p:spPr>
          <a:xfrm>
            <a:off x="467650" y="1744075"/>
            <a:ext cx="3565500" cy="13161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 sz="2700" b="0" i="0" u="none" strike="noStrike" cap="none">
                <a:solidFill>
                  <a:schemeClr val="lt1"/>
                </a:solidFill>
                <a:latin typeface="Poppins"/>
                <a:ea typeface="Poppins"/>
                <a:cs typeface="Poppins"/>
                <a:sym typeface="Poppins"/>
              </a:rPr>
              <a:t>Tenant Health Assessment for</a:t>
            </a:r>
            <a:br>
              <a:rPr lang="en" sz="2700" b="0" i="0" u="none" strike="noStrike" cap="none">
                <a:solidFill>
                  <a:schemeClr val="lt1"/>
                </a:solidFill>
                <a:latin typeface="Poppins"/>
                <a:ea typeface="Poppins"/>
                <a:cs typeface="Poppins"/>
                <a:sym typeface="Poppins"/>
              </a:rPr>
            </a:br>
            <a:r>
              <a:rPr lang="en" sz="2700" b="0" i="0" u="none" strike="noStrike" cap="none">
                <a:solidFill>
                  <a:schemeClr val="lt1"/>
                </a:solidFill>
                <a:latin typeface="Poppins"/>
                <a:ea typeface="Poppins"/>
                <a:cs typeface="Poppins"/>
                <a:sym typeface="Poppins"/>
              </a:rPr>
              <a:t>{{Customer}}</a:t>
            </a:r>
            <a:endParaRPr sz="2700" b="0" i="0" u="none" strike="noStrike" cap="none">
              <a:solidFill>
                <a:srgbClr val="000000"/>
              </a:solidFill>
              <a:latin typeface="Poppins"/>
              <a:ea typeface="Poppins"/>
              <a:cs typeface="Poppins"/>
              <a:sym typeface="Poppins"/>
            </a:endParaRPr>
          </a:p>
        </p:txBody>
      </p:sp>
      <p:sp>
        <p:nvSpPr>
          <p:cNvPr id="238" name="Google Shape;238;p47"/>
          <p:cNvSpPr txBox="1"/>
          <p:nvPr/>
        </p:nvSpPr>
        <p:spPr>
          <a:xfrm>
            <a:off x="467646" y="3430075"/>
            <a:ext cx="4026300" cy="531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500" b="0" i="0" u="none" strike="noStrike" cap="none">
              <a:solidFill>
                <a:schemeClr val="lt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800"/>
              <a:buFont typeface="Arial"/>
              <a:buNone/>
            </a:pPr>
            <a:r>
              <a:rPr lang="en" sz="1500" b="0" i="0" u="none" strike="noStrike" cap="none">
                <a:solidFill>
                  <a:schemeClr val="lt1"/>
                </a:solidFill>
                <a:latin typeface="Poppins"/>
                <a:ea typeface="Poppins"/>
                <a:cs typeface="Poppins"/>
                <a:sym typeface="Poppins"/>
              </a:rPr>
              <a:t>{Date}</a:t>
            </a:r>
            <a:endParaRPr sz="1500" b="0" i="0" u="none" strike="noStrike" cap="none">
              <a:solidFill>
                <a:schemeClr val="lt1"/>
              </a:solidFill>
              <a:latin typeface="Poppins"/>
              <a:ea typeface="Poppins"/>
              <a:cs typeface="Poppins"/>
              <a:sym typeface="Poppins"/>
            </a:endParaRPr>
          </a:p>
        </p:txBody>
      </p:sp>
      <p:pic>
        <p:nvPicPr>
          <p:cNvPr id="239" name="Google Shape;239;p47" title="opening_photo.png"/>
          <p:cNvPicPr preferRelativeResize="0"/>
          <p:nvPr/>
        </p:nvPicPr>
        <p:blipFill rotWithShape="1">
          <a:blip r:embed="rId3">
            <a:alphaModFix/>
          </a:blip>
          <a:srcRect/>
          <a:stretch/>
        </p:blipFill>
        <p:spPr>
          <a:xfrm>
            <a:off x="4256533" y="1409675"/>
            <a:ext cx="4306800" cy="2143875"/>
          </a:xfrm>
          <a:prstGeom prst="rect">
            <a:avLst/>
          </a:prstGeom>
          <a:noFill/>
          <a:ln>
            <a:noFill/>
          </a:ln>
        </p:spPr>
      </p:pic>
      <p:pic>
        <p:nvPicPr>
          <p:cNvPr id="240" name="Google Shape;240;p47" title="cloud.png"/>
          <p:cNvPicPr preferRelativeResize="0"/>
          <p:nvPr/>
        </p:nvPicPr>
        <p:blipFill rotWithShape="1">
          <a:blip r:embed="rId4">
            <a:alphaModFix/>
          </a:blip>
          <a:srcRect/>
          <a:stretch/>
        </p:blipFill>
        <p:spPr>
          <a:xfrm>
            <a:off x="6699300" y="3318246"/>
            <a:ext cx="2444700" cy="1825254"/>
          </a:xfrm>
          <a:prstGeom prst="rect">
            <a:avLst/>
          </a:prstGeom>
          <a:noFill/>
          <a:ln>
            <a:noFill/>
          </a:ln>
        </p:spPr>
      </p:pic>
      <p:pic>
        <p:nvPicPr>
          <p:cNvPr id="241" name="Google Shape;241;p47" title="logo.png"/>
          <p:cNvPicPr preferRelativeResize="0"/>
          <p:nvPr/>
        </p:nvPicPr>
        <p:blipFill rotWithShape="1">
          <a:blip r:embed="rId5">
            <a:alphaModFix/>
          </a:blip>
          <a:srcRect/>
          <a:stretch/>
        </p:blipFill>
        <p:spPr>
          <a:xfrm>
            <a:off x="548202" y="1143475"/>
            <a:ext cx="637001" cy="304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48"/>
          <p:cNvSpPr txBox="1"/>
          <p:nvPr/>
        </p:nvSpPr>
        <p:spPr>
          <a:xfrm>
            <a:off x="6799450" y="3366600"/>
            <a:ext cx="2010300" cy="1775380"/>
          </a:xfrm>
          <a:prstGeom prst="rect">
            <a:avLst/>
          </a:prstGeom>
          <a:gradFill>
            <a:gsLst>
              <a:gs pos="0">
                <a:srgbClr val="FFE0FF">
                  <a:alpha val="50196"/>
                </a:srgbClr>
              </a:gs>
              <a:gs pos="100000">
                <a:schemeClr val="lt1"/>
              </a:gs>
            </a:gsLst>
            <a:lin ang="5400012" scaled="0"/>
          </a:gra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Medium"/>
              <a:ea typeface="DM Sans Medium"/>
              <a:cs typeface="DM Sans Medium"/>
              <a:sym typeface="DM Sans Medium"/>
            </a:endParaRPr>
          </a:p>
        </p:txBody>
      </p:sp>
      <p:sp>
        <p:nvSpPr>
          <p:cNvPr id="248" name="Google Shape;248;p48"/>
          <p:cNvSpPr txBox="1"/>
          <p:nvPr/>
        </p:nvSpPr>
        <p:spPr>
          <a:xfrm>
            <a:off x="799800" y="4353432"/>
            <a:ext cx="2010300" cy="789941"/>
          </a:xfrm>
          <a:prstGeom prst="rect">
            <a:avLst/>
          </a:prstGeom>
          <a:gradFill>
            <a:gsLst>
              <a:gs pos="0">
                <a:srgbClr val="FFE0FF">
                  <a:alpha val="50196"/>
                </a:srgbClr>
              </a:gs>
              <a:gs pos="100000">
                <a:schemeClr val="lt1"/>
              </a:gs>
            </a:gsLst>
            <a:lin ang="5400012" scaled="0"/>
          </a:gra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Medium"/>
              <a:ea typeface="DM Sans Medium"/>
              <a:cs typeface="DM Sans Medium"/>
              <a:sym typeface="DM Sans Medium"/>
            </a:endParaRPr>
          </a:p>
        </p:txBody>
      </p:sp>
      <p:sp>
        <p:nvSpPr>
          <p:cNvPr id="249" name="Google Shape;249;p48"/>
          <p:cNvSpPr txBox="1"/>
          <p:nvPr/>
        </p:nvSpPr>
        <p:spPr>
          <a:xfrm>
            <a:off x="4803550" y="3675175"/>
            <a:ext cx="2005200" cy="1468200"/>
          </a:xfrm>
          <a:prstGeom prst="rect">
            <a:avLst/>
          </a:prstGeom>
          <a:gradFill>
            <a:gsLst>
              <a:gs pos="0">
                <a:srgbClr val="FFE0FF">
                  <a:alpha val="50196"/>
                </a:srgbClr>
              </a:gs>
              <a:gs pos="100000">
                <a:schemeClr val="lt1"/>
              </a:gs>
            </a:gsLst>
            <a:lin ang="5400012" scaled="0"/>
          </a:gra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Medium"/>
              <a:ea typeface="DM Sans Medium"/>
              <a:cs typeface="DM Sans Medium"/>
              <a:sym typeface="DM Sans Medium"/>
            </a:endParaRPr>
          </a:p>
        </p:txBody>
      </p:sp>
      <p:sp>
        <p:nvSpPr>
          <p:cNvPr id="250" name="Google Shape;250;p48"/>
          <p:cNvSpPr txBox="1"/>
          <p:nvPr/>
        </p:nvSpPr>
        <p:spPr>
          <a:xfrm>
            <a:off x="2815700" y="4060176"/>
            <a:ext cx="1987500" cy="1083324"/>
          </a:xfrm>
          <a:prstGeom prst="rect">
            <a:avLst/>
          </a:prstGeom>
          <a:gradFill>
            <a:gsLst>
              <a:gs pos="0">
                <a:srgbClr val="FFE0FF">
                  <a:alpha val="50196"/>
                </a:srgbClr>
              </a:gs>
              <a:gs pos="100000">
                <a:schemeClr val="lt1"/>
              </a:gs>
            </a:gsLst>
            <a:lin ang="5400012" scaled="0"/>
          </a:gra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Medium"/>
              <a:ea typeface="DM Sans Medium"/>
              <a:cs typeface="DM Sans Medium"/>
              <a:sym typeface="DM Sans Medium"/>
            </a:endParaRPr>
          </a:p>
        </p:txBody>
      </p:sp>
      <p:cxnSp>
        <p:nvCxnSpPr>
          <p:cNvPr id="251" name="Google Shape;251;p48"/>
          <p:cNvCxnSpPr>
            <a:cxnSpLocks/>
          </p:cNvCxnSpPr>
          <p:nvPr/>
        </p:nvCxnSpPr>
        <p:spPr>
          <a:xfrm flipH="1" flipV="1">
            <a:off x="2813100" y="2136400"/>
            <a:ext cx="7761" cy="3005580"/>
          </a:xfrm>
          <a:prstGeom prst="straightConnector1">
            <a:avLst/>
          </a:prstGeom>
          <a:noFill/>
          <a:ln w="9525" cap="flat" cmpd="sng">
            <a:solidFill>
              <a:srgbClr val="0254EC"/>
            </a:solidFill>
            <a:prstDash val="solid"/>
            <a:round/>
            <a:headEnd type="none" w="sm" len="sm"/>
            <a:tailEnd type="none" w="sm" len="sm"/>
          </a:ln>
        </p:spPr>
      </p:cxnSp>
      <p:cxnSp>
        <p:nvCxnSpPr>
          <p:cNvPr id="252" name="Google Shape;252;p48"/>
          <p:cNvCxnSpPr>
            <a:cxnSpLocks/>
          </p:cNvCxnSpPr>
          <p:nvPr/>
        </p:nvCxnSpPr>
        <p:spPr>
          <a:xfrm flipV="1">
            <a:off x="4804975" y="1525650"/>
            <a:ext cx="0" cy="3616330"/>
          </a:xfrm>
          <a:prstGeom prst="straightConnector1">
            <a:avLst/>
          </a:prstGeom>
          <a:noFill/>
          <a:ln w="9525" cap="flat" cmpd="sng">
            <a:solidFill>
              <a:srgbClr val="0254EC"/>
            </a:solidFill>
            <a:prstDash val="solid"/>
            <a:round/>
            <a:headEnd type="none" w="sm" len="sm"/>
            <a:tailEnd type="none" w="sm" len="sm"/>
          </a:ln>
        </p:spPr>
      </p:cxnSp>
      <p:cxnSp>
        <p:nvCxnSpPr>
          <p:cNvPr id="253" name="Google Shape;253;p48"/>
          <p:cNvCxnSpPr>
            <a:cxnSpLocks/>
          </p:cNvCxnSpPr>
          <p:nvPr/>
        </p:nvCxnSpPr>
        <p:spPr>
          <a:xfrm flipH="1" flipV="1">
            <a:off x="6804675" y="910700"/>
            <a:ext cx="7760" cy="4245462"/>
          </a:xfrm>
          <a:prstGeom prst="straightConnector1">
            <a:avLst/>
          </a:prstGeom>
          <a:noFill/>
          <a:ln w="9525" cap="flat" cmpd="sng">
            <a:solidFill>
              <a:srgbClr val="0254EC"/>
            </a:solidFill>
            <a:prstDash val="solid"/>
            <a:round/>
            <a:headEnd type="none" w="sm" len="sm"/>
            <a:tailEnd type="none" w="sm" len="sm"/>
          </a:ln>
        </p:spPr>
      </p:cxnSp>
      <p:cxnSp>
        <p:nvCxnSpPr>
          <p:cNvPr id="254" name="Google Shape;254;p48"/>
          <p:cNvCxnSpPr/>
          <p:nvPr/>
        </p:nvCxnSpPr>
        <p:spPr>
          <a:xfrm rot="10800000" flipH="1">
            <a:off x="983850" y="193650"/>
            <a:ext cx="8194200" cy="2507100"/>
          </a:xfrm>
          <a:prstGeom prst="straightConnector1">
            <a:avLst/>
          </a:prstGeom>
          <a:noFill/>
          <a:ln w="9525" cap="flat" cmpd="sng">
            <a:solidFill>
              <a:srgbClr val="0254EC"/>
            </a:solidFill>
            <a:prstDash val="lgDash"/>
            <a:round/>
            <a:headEnd type="none" w="sm" len="sm"/>
            <a:tailEnd type="none" w="sm" len="sm"/>
          </a:ln>
        </p:spPr>
      </p:cxnSp>
      <p:cxnSp>
        <p:nvCxnSpPr>
          <p:cNvPr id="255" name="Google Shape;255;p48"/>
          <p:cNvCxnSpPr/>
          <p:nvPr/>
        </p:nvCxnSpPr>
        <p:spPr>
          <a:xfrm rot="10800000">
            <a:off x="807946" y="2752144"/>
            <a:ext cx="0" cy="2399400"/>
          </a:xfrm>
          <a:prstGeom prst="straightConnector1">
            <a:avLst/>
          </a:prstGeom>
          <a:noFill/>
          <a:ln w="9525" cap="flat" cmpd="sng">
            <a:solidFill>
              <a:srgbClr val="0254EC"/>
            </a:solidFill>
            <a:prstDash val="solid"/>
            <a:round/>
            <a:headEnd type="none" w="sm" len="sm"/>
            <a:tailEnd type="none" w="sm" len="sm"/>
          </a:ln>
        </p:spPr>
      </p:cxnSp>
      <p:pic>
        <p:nvPicPr>
          <p:cNvPr id="256" name="Google Shape;256;p48" title="Hardening_infinity.png"/>
          <p:cNvPicPr preferRelativeResize="0"/>
          <p:nvPr/>
        </p:nvPicPr>
        <p:blipFill rotWithShape="1">
          <a:blip r:embed="rId3">
            <a:alphaModFix/>
          </a:blip>
          <a:srcRect/>
          <a:stretch/>
        </p:blipFill>
        <p:spPr>
          <a:xfrm rot="-964393">
            <a:off x="4764150" y="359985"/>
            <a:ext cx="2802000" cy="1505395"/>
          </a:xfrm>
          <a:prstGeom prst="rect">
            <a:avLst/>
          </a:prstGeom>
          <a:noFill/>
          <a:ln>
            <a:noFill/>
          </a:ln>
        </p:spPr>
      </p:pic>
      <p:sp>
        <p:nvSpPr>
          <p:cNvPr id="257" name="Google Shape;257;p48"/>
          <p:cNvSpPr txBox="1"/>
          <p:nvPr/>
        </p:nvSpPr>
        <p:spPr>
          <a:xfrm>
            <a:off x="6914847" y="1709849"/>
            <a:ext cx="1575300" cy="346200"/>
          </a:xfrm>
          <a:prstGeom prst="rect">
            <a:avLst/>
          </a:prstGeom>
          <a:noFill/>
          <a:ln>
            <a:noFill/>
          </a:ln>
        </p:spPr>
        <p:txBody>
          <a:bodyPr spcFirstLastPara="1" wrap="square" lIns="0" tIns="34275" rIns="68575" bIns="34275" anchor="t" anchorCtr="0">
            <a:spAutoFit/>
          </a:bodyPr>
          <a:lstStyle/>
          <a:p>
            <a:pPr marL="0" marR="0" lvl="0" indent="0" algn="l" rtl="0">
              <a:lnSpc>
                <a:spcPct val="100000"/>
              </a:lnSpc>
              <a:spcBef>
                <a:spcPts val="0"/>
              </a:spcBef>
              <a:spcAft>
                <a:spcPts val="0"/>
              </a:spcAft>
              <a:buClr>
                <a:srgbClr val="001741"/>
              </a:buClr>
              <a:buSzPts val="900"/>
              <a:buFont typeface="DM Sans Medium"/>
              <a:buNone/>
            </a:pPr>
            <a:r>
              <a:rPr lang="en" sz="900" b="0" i="0" u="none" strike="noStrike" cap="none">
                <a:solidFill>
                  <a:schemeClr val="dk1"/>
                </a:solidFill>
                <a:latin typeface="Poppins SemiBold"/>
                <a:ea typeface="Poppins SemiBold"/>
                <a:cs typeface="Poppins SemiBold"/>
                <a:sym typeface="Poppins SemiBold"/>
              </a:rPr>
              <a:t>EMBED AND AUTOMATE SECURITY</a:t>
            </a:r>
            <a:endParaRPr sz="900" b="0" i="0" u="none" strike="noStrike" cap="none">
              <a:solidFill>
                <a:schemeClr val="dk1"/>
              </a:solidFill>
              <a:latin typeface="Poppins SemiBold"/>
              <a:ea typeface="Poppins SemiBold"/>
              <a:cs typeface="Poppins SemiBold"/>
              <a:sym typeface="Poppins SemiBold"/>
            </a:endParaRPr>
          </a:p>
        </p:txBody>
      </p:sp>
      <p:sp>
        <p:nvSpPr>
          <p:cNvPr id="258" name="Google Shape;258;p48"/>
          <p:cNvSpPr txBox="1"/>
          <p:nvPr/>
        </p:nvSpPr>
        <p:spPr>
          <a:xfrm>
            <a:off x="6810800" y="2070322"/>
            <a:ext cx="1811700" cy="1320300"/>
          </a:xfrm>
          <a:prstGeom prst="rect">
            <a:avLst/>
          </a:prstGeom>
          <a:noFill/>
          <a:ln>
            <a:noFill/>
          </a:ln>
        </p:spPr>
        <p:txBody>
          <a:bodyPr spcFirstLastPara="1" wrap="square" lIns="68575" tIns="34275" rIns="68575" bIns="34275" anchor="t" anchorCtr="0">
            <a:normAutofit/>
          </a:bodyPr>
          <a:lstStyle/>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Poppins Light"/>
                <a:ea typeface="Poppins Light"/>
                <a:cs typeface="Poppins Light"/>
                <a:sym typeface="Poppins Light"/>
              </a:rPr>
              <a:t>Enforce security policies consistently across cloud, code, and runtime</a:t>
            </a:r>
            <a:endParaRPr sz="800" b="0" i="0" u="none" strike="noStrike" cap="none">
              <a:solidFill>
                <a:srgbClr val="01123F"/>
              </a:solidFill>
              <a:latin typeface="Poppins Light"/>
              <a:ea typeface="Poppins Light"/>
              <a:cs typeface="Poppins Light"/>
              <a:sym typeface="Poppins Light"/>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Poppins Light"/>
              <a:ea typeface="Poppins Light"/>
              <a:cs typeface="Poppins Light"/>
              <a:sym typeface="Poppins Light"/>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Poppins Light"/>
                <a:ea typeface="Poppins Light"/>
                <a:cs typeface="Poppins Light"/>
                <a:sym typeface="Poppins Light"/>
              </a:rPr>
              <a:t>Automate remediation and security lifecycle actions with automation rules</a:t>
            </a:r>
            <a:endParaRPr sz="800" b="0" i="0" u="none" strike="noStrike" cap="none">
              <a:solidFill>
                <a:srgbClr val="01123F"/>
              </a:solidFill>
              <a:latin typeface="Poppins Light"/>
              <a:ea typeface="Poppins Light"/>
              <a:cs typeface="Poppins Light"/>
              <a:sym typeface="Poppins Light"/>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Poppins Light"/>
              <a:ea typeface="Poppins Light"/>
              <a:cs typeface="Poppins Light"/>
              <a:sym typeface="Poppins Light"/>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Poppins Light"/>
                <a:ea typeface="Poppins Light"/>
                <a:cs typeface="Poppins Light"/>
                <a:sym typeface="Poppins Light"/>
              </a:rPr>
              <a:t>Continuously reduce risk without manual intervention</a:t>
            </a:r>
            <a:endParaRPr sz="800" b="0" i="0" u="none" strike="noStrike" cap="none">
              <a:solidFill>
                <a:srgbClr val="01123F"/>
              </a:solidFill>
              <a:latin typeface="Poppins Light"/>
              <a:ea typeface="Poppins Light"/>
              <a:cs typeface="Poppins Light"/>
              <a:sym typeface="Poppins Light"/>
            </a:endParaRPr>
          </a:p>
        </p:txBody>
      </p:sp>
      <p:sp>
        <p:nvSpPr>
          <p:cNvPr id="259" name="Google Shape;259;p48"/>
          <p:cNvSpPr txBox="1"/>
          <p:nvPr/>
        </p:nvSpPr>
        <p:spPr>
          <a:xfrm>
            <a:off x="5006084" y="2154770"/>
            <a:ext cx="1575300" cy="346200"/>
          </a:xfrm>
          <a:prstGeom prst="rect">
            <a:avLst/>
          </a:prstGeom>
          <a:noFill/>
          <a:ln>
            <a:noFill/>
          </a:ln>
        </p:spPr>
        <p:txBody>
          <a:bodyPr spcFirstLastPara="1" wrap="square" lIns="0" tIns="34275" rIns="68575" bIns="34275" anchor="t" anchorCtr="0">
            <a:spAutoFit/>
          </a:bodyPr>
          <a:lstStyle/>
          <a:p>
            <a:pPr marL="0" marR="0" lvl="0" indent="0" algn="l" rtl="0">
              <a:lnSpc>
                <a:spcPct val="100000"/>
              </a:lnSpc>
              <a:spcBef>
                <a:spcPts val="0"/>
              </a:spcBef>
              <a:spcAft>
                <a:spcPts val="0"/>
              </a:spcAft>
              <a:buClr>
                <a:srgbClr val="001741"/>
              </a:buClr>
              <a:buSzPts val="900"/>
              <a:buFont typeface="DM Sans Medium"/>
              <a:buNone/>
            </a:pPr>
            <a:r>
              <a:rPr lang="en" sz="900" b="0" i="0" u="none" strike="noStrike" cap="none">
                <a:solidFill>
                  <a:schemeClr val="dk1"/>
                </a:solidFill>
                <a:latin typeface="Poppins SemiBold"/>
                <a:ea typeface="Poppins SemiBold"/>
                <a:cs typeface="Poppins SemiBold"/>
                <a:sym typeface="Poppins SemiBold"/>
              </a:rPr>
              <a:t>SELF SERVICE SECURITY FOR DEVELOPERS</a:t>
            </a:r>
            <a:endParaRPr sz="900" b="0" i="0" u="none" strike="noStrike" cap="none">
              <a:solidFill>
                <a:schemeClr val="dk1"/>
              </a:solidFill>
              <a:latin typeface="Poppins SemiBold"/>
              <a:ea typeface="Poppins SemiBold"/>
              <a:cs typeface="Poppins SemiBold"/>
              <a:sym typeface="Poppins SemiBold"/>
            </a:endParaRPr>
          </a:p>
        </p:txBody>
      </p:sp>
      <p:sp>
        <p:nvSpPr>
          <p:cNvPr id="260" name="Google Shape;260;p48"/>
          <p:cNvSpPr txBox="1"/>
          <p:nvPr/>
        </p:nvSpPr>
        <p:spPr>
          <a:xfrm>
            <a:off x="4902050" y="2498816"/>
            <a:ext cx="1811700" cy="1149900"/>
          </a:xfrm>
          <a:prstGeom prst="rect">
            <a:avLst/>
          </a:prstGeom>
          <a:noFill/>
          <a:ln>
            <a:noFill/>
          </a:ln>
        </p:spPr>
        <p:txBody>
          <a:bodyPr spcFirstLastPara="1" wrap="square" lIns="68575" tIns="34275" rIns="68575" bIns="34275" anchor="t" anchorCtr="0">
            <a:normAutofit/>
          </a:bodyPr>
          <a:lstStyle/>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Poppins Light"/>
                <a:ea typeface="Poppins Light"/>
                <a:cs typeface="Poppins Light"/>
                <a:sym typeface="Poppins Light"/>
              </a:rPr>
              <a:t>Enable developers to identify  and remediate risk independently</a:t>
            </a:r>
            <a:endParaRPr sz="800" b="0" i="0" u="none" strike="noStrike" cap="none">
              <a:solidFill>
                <a:srgbClr val="01123F"/>
              </a:solidFill>
              <a:latin typeface="Poppins Light"/>
              <a:ea typeface="Poppins Light"/>
              <a:cs typeface="Poppins Light"/>
              <a:sym typeface="Poppins Light"/>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Poppins Light"/>
              <a:ea typeface="Poppins Light"/>
              <a:cs typeface="Poppins Light"/>
              <a:sym typeface="Poppins Light"/>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Poppins Light"/>
                <a:ea typeface="Poppins Light"/>
                <a:cs typeface="Poppins Light"/>
                <a:sym typeface="Poppins Light"/>
              </a:rPr>
              <a:t>Deliver security context       directly into engineering processes with Workflows, integrations, and WizExtend</a:t>
            </a:r>
            <a:endParaRPr sz="800" b="0" i="0" u="none" strike="noStrike" cap="none">
              <a:solidFill>
                <a:srgbClr val="01123F"/>
              </a:solidFill>
              <a:latin typeface="Poppins Light"/>
              <a:ea typeface="Poppins Light"/>
              <a:cs typeface="Poppins Light"/>
              <a:sym typeface="Poppins Light"/>
            </a:endParaRPr>
          </a:p>
        </p:txBody>
      </p:sp>
      <p:sp>
        <p:nvSpPr>
          <p:cNvPr id="261" name="Google Shape;261;p48"/>
          <p:cNvSpPr txBox="1"/>
          <p:nvPr/>
        </p:nvSpPr>
        <p:spPr>
          <a:xfrm>
            <a:off x="3007225" y="2579120"/>
            <a:ext cx="1668300" cy="346200"/>
          </a:xfrm>
          <a:prstGeom prst="rect">
            <a:avLst/>
          </a:prstGeom>
          <a:noFill/>
          <a:ln>
            <a:noFill/>
          </a:ln>
        </p:spPr>
        <p:txBody>
          <a:bodyPr spcFirstLastPara="1" wrap="square" lIns="0" tIns="34275" rIns="68575" bIns="34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900" b="0" i="0" u="none" strike="noStrike" cap="none" dirty="0">
                <a:solidFill>
                  <a:schemeClr val="dk1"/>
                </a:solidFill>
                <a:latin typeface="Poppins SemiBold"/>
                <a:ea typeface="Poppins SemiBold"/>
                <a:cs typeface="Poppins SemiBold"/>
                <a:sym typeface="Poppins SemiBold"/>
              </a:rPr>
              <a:t>SHARED SECURITY CONTEXT WITH ENGINEERING</a:t>
            </a:r>
            <a:endParaRPr sz="900" b="0" i="0" u="none" strike="noStrike" cap="none" dirty="0">
              <a:solidFill>
                <a:schemeClr val="dk1"/>
              </a:solidFill>
              <a:latin typeface="Poppins SemiBold"/>
              <a:ea typeface="Poppins SemiBold"/>
              <a:cs typeface="Poppins SemiBold"/>
              <a:sym typeface="Poppins SemiBold"/>
            </a:endParaRPr>
          </a:p>
        </p:txBody>
      </p:sp>
      <p:sp>
        <p:nvSpPr>
          <p:cNvPr id="262" name="Google Shape;262;p48"/>
          <p:cNvSpPr txBox="1"/>
          <p:nvPr/>
        </p:nvSpPr>
        <p:spPr>
          <a:xfrm>
            <a:off x="2903200" y="2920169"/>
            <a:ext cx="1811700" cy="1149900"/>
          </a:xfrm>
          <a:prstGeom prst="rect">
            <a:avLst/>
          </a:prstGeom>
          <a:noFill/>
          <a:ln>
            <a:noFill/>
          </a:ln>
        </p:spPr>
        <p:txBody>
          <a:bodyPr spcFirstLastPara="1" wrap="square" lIns="68575" tIns="34275" rIns="68575" bIns="34275" anchor="t" anchorCtr="0">
            <a:normAutofit/>
          </a:bodyPr>
          <a:lstStyle/>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dirty="0">
                <a:solidFill>
                  <a:srgbClr val="01123F"/>
                </a:solidFill>
                <a:latin typeface="Poppins Light"/>
                <a:ea typeface="Poppins Light"/>
                <a:cs typeface="Poppins Light"/>
                <a:sym typeface="Poppins Light"/>
              </a:rPr>
              <a:t>Map issues to an owner, application, or environment via Projects and Service Catalog</a:t>
            </a:r>
            <a:endParaRPr sz="800" b="0" i="0" u="none" strike="noStrike" cap="none" dirty="0">
              <a:solidFill>
                <a:srgbClr val="01123F"/>
              </a:solidFill>
              <a:latin typeface="Poppins Light"/>
              <a:ea typeface="Poppins Light"/>
              <a:cs typeface="Poppins Light"/>
              <a:sym typeface="Poppins Light"/>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dirty="0">
              <a:solidFill>
                <a:srgbClr val="01123F"/>
              </a:solidFill>
              <a:latin typeface="Poppins Light"/>
              <a:ea typeface="Poppins Light"/>
              <a:cs typeface="Poppins Light"/>
              <a:sym typeface="Poppins Light"/>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dirty="0">
                <a:solidFill>
                  <a:srgbClr val="01123F"/>
                </a:solidFill>
                <a:latin typeface="Poppins Light"/>
                <a:ea typeface="Poppins Light"/>
                <a:cs typeface="Poppins Light"/>
                <a:sym typeface="Poppins Light"/>
              </a:rPr>
              <a:t>Prioritize issues by business context and real exposure</a:t>
            </a:r>
            <a:endParaRPr sz="800" b="0" i="0" u="none" strike="noStrike" cap="none" dirty="0">
              <a:solidFill>
                <a:srgbClr val="01123F"/>
              </a:solidFill>
              <a:latin typeface="Poppins Light"/>
              <a:ea typeface="Poppins Light"/>
              <a:cs typeface="Poppins Light"/>
              <a:sym typeface="Poppins Light"/>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dirty="0">
              <a:solidFill>
                <a:srgbClr val="01123F"/>
              </a:solidFill>
              <a:latin typeface="Poppins Light"/>
              <a:ea typeface="Poppins Light"/>
              <a:cs typeface="Poppins Light"/>
              <a:sym typeface="Poppins Light"/>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dirty="0">
                <a:solidFill>
                  <a:srgbClr val="01123F"/>
                </a:solidFill>
                <a:latin typeface="Poppins Light"/>
                <a:ea typeface="Poppins Light"/>
                <a:cs typeface="Poppins Light"/>
                <a:sym typeface="Poppins Light"/>
              </a:rPr>
              <a:t>Align security and engineering on what matters most</a:t>
            </a:r>
            <a:endParaRPr sz="800" b="0" i="0" u="none" strike="noStrike" cap="none" dirty="0">
              <a:solidFill>
                <a:srgbClr val="01123F"/>
              </a:solidFill>
              <a:latin typeface="Poppins Light"/>
              <a:ea typeface="Poppins Light"/>
              <a:cs typeface="Poppins Light"/>
              <a:sym typeface="Poppins Light"/>
            </a:endParaRPr>
          </a:p>
        </p:txBody>
      </p:sp>
      <p:sp>
        <p:nvSpPr>
          <p:cNvPr id="263" name="Google Shape;263;p48"/>
          <p:cNvSpPr txBox="1"/>
          <p:nvPr/>
        </p:nvSpPr>
        <p:spPr>
          <a:xfrm>
            <a:off x="1008697" y="3181396"/>
            <a:ext cx="1575300" cy="346200"/>
          </a:xfrm>
          <a:prstGeom prst="rect">
            <a:avLst/>
          </a:prstGeom>
          <a:noFill/>
          <a:ln>
            <a:noFill/>
          </a:ln>
        </p:spPr>
        <p:txBody>
          <a:bodyPr spcFirstLastPara="1" wrap="square" lIns="0" tIns="34275" rIns="68575" bIns="34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900" b="0" i="0" u="none" strike="noStrike" cap="none" dirty="0">
                <a:solidFill>
                  <a:schemeClr val="dk1"/>
                </a:solidFill>
                <a:latin typeface="Poppins SemiBold"/>
                <a:ea typeface="Poppins SemiBold"/>
                <a:cs typeface="Poppins SemiBold"/>
                <a:sym typeface="Poppins SemiBold"/>
              </a:rPr>
              <a:t>CENTRALIZE SECURITY ACROSS SECURITY TEAMS</a:t>
            </a:r>
            <a:endParaRPr sz="900" b="0" i="0" u="none" strike="noStrike" cap="none" dirty="0">
              <a:solidFill>
                <a:schemeClr val="dk1"/>
              </a:solidFill>
              <a:latin typeface="Poppins SemiBold"/>
              <a:ea typeface="Poppins SemiBold"/>
              <a:cs typeface="Poppins SemiBold"/>
              <a:sym typeface="Poppins SemiBold"/>
            </a:endParaRPr>
          </a:p>
        </p:txBody>
      </p:sp>
      <p:sp>
        <p:nvSpPr>
          <p:cNvPr id="264" name="Google Shape;264;p48"/>
          <p:cNvSpPr txBox="1"/>
          <p:nvPr/>
        </p:nvSpPr>
        <p:spPr>
          <a:xfrm>
            <a:off x="904675" y="3518334"/>
            <a:ext cx="1890600" cy="1262400"/>
          </a:xfrm>
          <a:prstGeom prst="rect">
            <a:avLst/>
          </a:prstGeom>
          <a:noFill/>
          <a:ln>
            <a:noFill/>
          </a:ln>
        </p:spPr>
        <p:txBody>
          <a:bodyPr spcFirstLastPara="1" wrap="square" lIns="68575" tIns="34275" rIns="68575" bIns="34275" anchor="t" anchorCtr="0">
            <a:normAutofit/>
          </a:bodyPr>
          <a:lstStyle/>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dirty="0">
                <a:solidFill>
                  <a:srgbClr val="01123F"/>
                </a:solidFill>
                <a:latin typeface="Poppins Light"/>
                <a:ea typeface="Poppins Light"/>
                <a:cs typeface="Poppins Light"/>
                <a:sym typeface="Poppins Light"/>
              </a:rPr>
              <a:t>Security ownership is centralized across security teams</a:t>
            </a:r>
            <a:endParaRPr sz="800" b="0" i="0" u="none" strike="noStrike" cap="none" dirty="0">
              <a:solidFill>
                <a:srgbClr val="01123F"/>
              </a:solidFill>
              <a:latin typeface="Poppins Light"/>
              <a:ea typeface="Poppins Light"/>
              <a:cs typeface="Poppins Light"/>
              <a:sym typeface="Poppins Light"/>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dirty="0">
              <a:solidFill>
                <a:srgbClr val="01123F"/>
              </a:solidFill>
              <a:latin typeface="Poppins Light"/>
              <a:ea typeface="Poppins Light"/>
              <a:cs typeface="Poppins Light"/>
              <a:sym typeface="Poppins Light"/>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dirty="0">
                <a:solidFill>
                  <a:srgbClr val="01123F"/>
                </a:solidFill>
                <a:latin typeface="Poppins Light"/>
                <a:ea typeface="Poppins Light"/>
                <a:cs typeface="Poppins Light"/>
                <a:sym typeface="Poppins Light"/>
              </a:rPr>
              <a:t>Standardize policies and prioritization across security teams</a:t>
            </a:r>
            <a:endParaRPr sz="800" b="0" i="0" u="none" strike="noStrike" cap="none" dirty="0">
              <a:solidFill>
                <a:srgbClr val="01123F"/>
              </a:solidFill>
              <a:latin typeface="Poppins Light"/>
              <a:ea typeface="Poppins Light"/>
              <a:cs typeface="Poppins Light"/>
              <a:sym typeface="Poppins Light"/>
            </a:endParaRPr>
          </a:p>
        </p:txBody>
      </p:sp>
      <p:cxnSp>
        <p:nvCxnSpPr>
          <p:cNvPr id="265" name="Google Shape;265;p48"/>
          <p:cNvCxnSpPr>
            <a:cxnSpLocks/>
          </p:cNvCxnSpPr>
          <p:nvPr/>
        </p:nvCxnSpPr>
        <p:spPr>
          <a:xfrm flipV="1">
            <a:off x="8809850" y="306800"/>
            <a:ext cx="0" cy="4836700"/>
          </a:xfrm>
          <a:prstGeom prst="straightConnector1">
            <a:avLst/>
          </a:prstGeom>
          <a:noFill/>
          <a:ln w="9525" cap="flat" cmpd="sng">
            <a:solidFill>
              <a:srgbClr val="0254EC"/>
            </a:solidFill>
            <a:prstDash val="solid"/>
            <a:round/>
            <a:headEnd type="none" w="sm" len="sm"/>
            <a:tailEnd type="none" w="sm" len="sm"/>
          </a:ln>
        </p:spPr>
      </p:cxnSp>
      <p:sp>
        <p:nvSpPr>
          <p:cNvPr id="266" name="Google Shape;266;p48"/>
          <p:cNvSpPr txBox="1"/>
          <p:nvPr/>
        </p:nvSpPr>
        <p:spPr>
          <a:xfrm>
            <a:off x="6929000" y="3465890"/>
            <a:ext cx="1732800" cy="954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dirty="0">
                <a:solidFill>
                  <a:schemeClr val="dk1"/>
                </a:solidFill>
                <a:latin typeface="Poppins Medium"/>
                <a:ea typeface="Poppins Medium"/>
                <a:cs typeface="Poppins Medium"/>
                <a:sym typeface="Poppins Medium"/>
              </a:rPr>
              <a:t>Goal: Risk is continuously mitigated and remediated by default </a:t>
            </a:r>
            <a:endParaRPr sz="1000" b="0" i="0" u="none" strike="noStrike" cap="none" dirty="0">
              <a:solidFill>
                <a:schemeClr val="dk1"/>
              </a:solidFill>
              <a:latin typeface="Poppins Medium"/>
              <a:ea typeface="Poppins Medium"/>
              <a:cs typeface="Poppins Medium"/>
              <a:sym typeface="Poppins Medium"/>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chemeClr val="dk1"/>
              </a:solidFill>
              <a:latin typeface="Poppins Medium"/>
              <a:ea typeface="Poppins Medium"/>
              <a:cs typeface="Poppins Medium"/>
              <a:sym typeface="Poppins Medium"/>
            </a:endParaRPr>
          </a:p>
        </p:txBody>
      </p:sp>
      <p:cxnSp>
        <p:nvCxnSpPr>
          <p:cNvPr id="267" name="Google Shape;267;p48"/>
          <p:cNvCxnSpPr/>
          <p:nvPr/>
        </p:nvCxnSpPr>
        <p:spPr>
          <a:xfrm>
            <a:off x="6804671" y="3366612"/>
            <a:ext cx="2005500" cy="0"/>
          </a:xfrm>
          <a:prstGeom prst="straightConnector1">
            <a:avLst/>
          </a:prstGeom>
          <a:noFill/>
          <a:ln w="9525" cap="flat" cmpd="sng">
            <a:solidFill>
              <a:srgbClr val="0254EC"/>
            </a:solidFill>
            <a:prstDash val="solid"/>
            <a:round/>
            <a:headEnd type="none" w="sm" len="sm"/>
            <a:tailEnd type="none" w="sm" len="sm"/>
          </a:ln>
        </p:spPr>
      </p:cxnSp>
      <p:cxnSp>
        <p:nvCxnSpPr>
          <p:cNvPr id="268" name="Google Shape;268;p48"/>
          <p:cNvCxnSpPr/>
          <p:nvPr/>
        </p:nvCxnSpPr>
        <p:spPr>
          <a:xfrm>
            <a:off x="805008" y="4367296"/>
            <a:ext cx="2005500" cy="0"/>
          </a:xfrm>
          <a:prstGeom prst="straightConnector1">
            <a:avLst/>
          </a:prstGeom>
          <a:noFill/>
          <a:ln w="9525" cap="flat" cmpd="sng">
            <a:solidFill>
              <a:srgbClr val="0254EC"/>
            </a:solidFill>
            <a:prstDash val="solid"/>
            <a:round/>
            <a:headEnd type="none" w="sm" len="sm"/>
            <a:tailEnd type="none" w="sm" len="sm"/>
          </a:ln>
        </p:spPr>
      </p:cxnSp>
      <p:cxnSp>
        <p:nvCxnSpPr>
          <p:cNvPr id="269" name="Google Shape;269;p48"/>
          <p:cNvCxnSpPr/>
          <p:nvPr/>
        </p:nvCxnSpPr>
        <p:spPr>
          <a:xfrm>
            <a:off x="4808759" y="3675191"/>
            <a:ext cx="2000400" cy="0"/>
          </a:xfrm>
          <a:prstGeom prst="straightConnector1">
            <a:avLst/>
          </a:prstGeom>
          <a:noFill/>
          <a:ln w="9525" cap="flat" cmpd="sng">
            <a:solidFill>
              <a:srgbClr val="0254EC"/>
            </a:solidFill>
            <a:prstDash val="solid"/>
            <a:round/>
            <a:headEnd type="none" w="sm" len="sm"/>
            <a:tailEnd type="none" w="sm" len="sm"/>
          </a:ln>
        </p:spPr>
      </p:cxnSp>
      <p:cxnSp>
        <p:nvCxnSpPr>
          <p:cNvPr id="270" name="Google Shape;270;p48"/>
          <p:cNvCxnSpPr/>
          <p:nvPr/>
        </p:nvCxnSpPr>
        <p:spPr>
          <a:xfrm>
            <a:off x="2820861" y="4060188"/>
            <a:ext cx="1982700" cy="0"/>
          </a:xfrm>
          <a:prstGeom prst="straightConnector1">
            <a:avLst/>
          </a:prstGeom>
          <a:noFill/>
          <a:ln w="9525" cap="flat" cmpd="sng">
            <a:solidFill>
              <a:srgbClr val="0254EC"/>
            </a:solidFill>
            <a:prstDash val="solid"/>
            <a:round/>
            <a:headEnd type="none" w="sm" len="sm"/>
            <a:tailEnd type="none" w="sm" len="sm"/>
          </a:ln>
        </p:spPr>
      </p:cxnSp>
      <p:sp>
        <p:nvSpPr>
          <p:cNvPr id="271" name="Google Shape;271;p48"/>
          <p:cNvSpPr txBox="1"/>
          <p:nvPr/>
        </p:nvSpPr>
        <p:spPr>
          <a:xfrm>
            <a:off x="904675" y="4435122"/>
            <a:ext cx="17328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dirty="0">
                <a:solidFill>
                  <a:schemeClr val="dk1"/>
                </a:solidFill>
                <a:latin typeface="Poppins Medium"/>
                <a:ea typeface="Poppins Medium"/>
                <a:cs typeface="Poppins Medium"/>
                <a:sym typeface="Poppins Medium"/>
              </a:rPr>
              <a:t>Goal: Full visibility into vulnerabilities across all environments</a:t>
            </a:r>
            <a:endParaRPr sz="1000" b="0" i="0" u="none" strike="noStrike" cap="none" dirty="0">
              <a:solidFill>
                <a:schemeClr val="dk1"/>
              </a:solidFill>
              <a:latin typeface="Poppins Medium"/>
              <a:ea typeface="Poppins Medium"/>
              <a:cs typeface="Poppins Medium"/>
              <a:sym typeface="Poppins Medium"/>
            </a:endParaRPr>
          </a:p>
        </p:txBody>
      </p:sp>
      <p:sp>
        <p:nvSpPr>
          <p:cNvPr id="272" name="Google Shape;272;p48"/>
          <p:cNvSpPr txBox="1"/>
          <p:nvPr/>
        </p:nvSpPr>
        <p:spPr>
          <a:xfrm>
            <a:off x="2942638" y="4164084"/>
            <a:ext cx="17328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dirty="0">
                <a:solidFill>
                  <a:schemeClr val="dk1"/>
                </a:solidFill>
                <a:latin typeface="Poppins Medium"/>
                <a:ea typeface="Poppins Medium"/>
                <a:cs typeface="Poppins Medium"/>
                <a:sym typeface="Poppins Medium"/>
              </a:rPr>
              <a:t>Goal: Engineers have what they need to remediate </a:t>
            </a:r>
            <a:endParaRPr sz="1000" b="0" i="0" u="none" strike="noStrike" cap="none" dirty="0">
              <a:solidFill>
                <a:schemeClr val="dk1"/>
              </a:solidFill>
              <a:latin typeface="Poppins Medium"/>
              <a:ea typeface="Poppins Medium"/>
              <a:cs typeface="Poppins Medium"/>
              <a:sym typeface="Poppins Medium"/>
            </a:endParaRPr>
          </a:p>
        </p:txBody>
      </p:sp>
      <p:sp>
        <p:nvSpPr>
          <p:cNvPr id="273" name="Google Shape;273;p48"/>
          <p:cNvSpPr txBox="1"/>
          <p:nvPr/>
        </p:nvSpPr>
        <p:spPr>
          <a:xfrm>
            <a:off x="4934925" y="3774490"/>
            <a:ext cx="17328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Poppins Medium"/>
                <a:ea typeface="Poppins Medium"/>
                <a:cs typeface="Poppins Medium"/>
                <a:sym typeface="Poppins Medium"/>
              </a:rPr>
              <a:t>Goal: Security is a natural part of development</a:t>
            </a:r>
            <a:endParaRPr sz="1000" b="0" i="0" u="none" strike="noStrike" cap="none">
              <a:solidFill>
                <a:schemeClr val="dk1"/>
              </a:solidFill>
              <a:latin typeface="Poppins Medium"/>
              <a:ea typeface="Poppins Medium"/>
              <a:cs typeface="Poppins Medium"/>
              <a:sym typeface="Poppins Medium"/>
            </a:endParaRPr>
          </a:p>
        </p:txBody>
      </p:sp>
      <p:sp>
        <p:nvSpPr>
          <p:cNvPr id="274" name="Google Shape;274;p48"/>
          <p:cNvSpPr/>
          <p:nvPr/>
        </p:nvSpPr>
        <p:spPr>
          <a:xfrm>
            <a:off x="3440152" y="629773"/>
            <a:ext cx="1453800" cy="252300"/>
          </a:xfrm>
          <a:prstGeom prst="roundRect">
            <a:avLst>
              <a:gd name="adj" fmla="val 50000"/>
            </a:avLst>
          </a:prstGeom>
          <a:solidFill>
            <a:srgbClr val="FFFFFF"/>
          </a:solidFill>
          <a:ln w="11350" cap="flat" cmpd="sng">
            <a:solidFill>
              <a:srgbClr val="CADAFF"/>
            </a:solidFill>
            <a:prstDash val="solid"/>
            <a:miter lim="80"/>
            <a:headEnd type="none" w="sm" len="sm"/>
            <a:tailEnd type="none" w="sm" len="sm"/>
          </a:ln>
        </p:spPr>
        <p:txBody>
          <a:bodyPr spcFirstLastPara="1" wrap="square" lIns="61300" tIns="30650" rIns="61300" bIns="30650" anchor="t" anchorCtr="0">
            <a:noAutofit/>
          </a:bodyPr>
          <a:lstStyle/>
          <a:p>
            <a:pPr marL="0" marR="0" lvl="0" indent="0" algn="ctr" rtl="0">
              <a:lnSpc>
                <a:spcPct val="100000"/>
              </a:lnSpc>
              <a:spcBef>
                <a:spcPts val="0"/>
              </a:spcBef>
              <a:spcAft>
                <a:spcPts val="0"/>
              </a:spcAft>
              <a:buClr>
                <a:srgbClr val="0153EB"/>
              </a:buClr>
              <a:buSzPts val="596"/>
              <a:buFont typeface="Calibri"/>
              <a:buNone/>
            </a:pPr>
            <a:endParaRPr sz="596" b="1" i="0" u="none" strike="noStrike" cap="none">
              <a:solidFill>
                <a:srgbClr val="000000"/>
              </a:solidFill>
              <a:latin typeface="DM Sans"/>
              <a:ea typeface="DM Sans"/>
              <a:cs typeface="DM Sans"/>
              <a:sym typeface="DM Sans"/>
            </a:endParaRPr>
          </a:p>
        </p:txBody>
      </p:sp>
      <p:sp>
        <p:nvSpPr>
          <p:cNvPr id="275" name="Google Shape;275;p48"/>
          <p:cNvSpPr txBox="1"/>
          <p:nvPr/>
        </p:nvSpPr>
        <p:spPr>
          <a:xfrm>
            <a:off x="3725258" y="635426"/>
            <a:ext cx="1289400" cy="247800"/>
          </a:xfrm>
          <a:prstGeom prst="rect">
            <a:avLst/>
          </a:prstGeom>
          <a:noFill/>
          <a:ln>
            <a:noFill/>
          </a:ln>
        </p:spPr>
        <p:txBody>
          <a:bodyPr spcFirstLastPara="1" wrap="square" lIns="0" tIns="40875" rIns="81750" bIns="40875" anchor="t" anchorCtr="0">
            <a:spAutoFit/>
          </a:bodyPr>
          <a:lstStyle/>
          <a:p>
            <a:pPr marL="0" marR="0" lvl="0" indent="0" algn="l" rtl="0">
              <a:lnSpc>
                <a:spcPct val="100000"/>
              </a:lnSpc>
              <a:spcBef>
                <a:spcPts val="0"/>
              </a:spcBef>
              <a:spcAft>
                <a:spcPts val="0"/>
              </a:spcAft>
              <a:buClr>
                <a:srgbClr val="0153EB"/>
              </a:buClr>
              <a:buSzPts val="1073"/>
              <a:buFont typeface="DM Sans Medium"/>
              <a:buNone/>
            </a:pPr>
            <a:r>
              <a:rPr lang="en" sz="1073" b="0" i="0" u="none" strike="noStrike" cap="none">
                <a:solidFill>
                  <a:srgbClr val="0153EB"/>
                </a:solidFill>
                <a:latin typeface="Poppins Medium"/>
                <a:ea typeface="Poppins Medium"/>
                <a:cs typeface="Poppins Medium"/>
                <a:sym typeface="Poppins Medium"/>
              </a:rPr>
              <a:t>Where are you?</a:t>
            </a:r>
            <a:endParaRPr sz="1311" b="0" i="0" u="none" strike="noStrike" cap="none">
              <a:solidFill>
                <a:srgbClr val="000000"/>
              </a:solidFill>
              <a:latin typeface="Poppins"/>
              <a:ea typeface="Poppins"/>
              <a:cs typeface="Poppins"/>
              <a:sym typeface="Poppins"/>
            </a:endParaRPr>
          </a:p>
        </p:txBody>
      </p:sp>
      <p:pic>
        <p:nvPicPr>
          <p:cNvPr id="276" name="Google Shape;276;p48" title="icon.png"/>
          <p:cNvPicPr preferRelativeResize="0"/>
          <p:nvPr/>
        </p:nvPicPr>
        <p:blipFill rotWithShape="1">
          <a:blip r:embed="rId4">
            <a:alphaModFix/>
          </a:blip>
          <a:srcRect/>
          <a:stretch/>
        </p:blipFill>
        <p:spPr>
          <a:xfrm>
            <a:off x="3377536" y="617823"/>
            <a:ext cx="272612" cy="272612"/>
          </a:xfrm>
          <a:prstGeom prst="rect">
            <a:avLst/>
          </a:prstGeom>
          <a:noFill/>
          <a:ln>
            <a:noFill/>
          </a:ln>
        </p:spPr>
      </p:pic>
      <p:pic>
        <p:nvPicPr>
          <p:cNvPr id="277" name="Google Shape;277;p48" title="Group 1000004543_1.png"/>
          <p:cNvPicPr preferRelativeResize="0"/>
          <p:nvPr/>
        </p:nvPicPr>
        <p:blipFill rotWithShape="1">
          <a:blip r:embed="rId5">
            <a:alphaModFix/>
          </a:blip>
          <a:srcRect/>
          <a:stretch/>
        </p:blipFill>
        <p:spPr>
          <a:xfrm>
            <a:off x="685650" y="2277531"/>
            <a:ext cx="883400" cy="883400"/>
          </a:xfrm>
          <a:prstGeom prst="rect">
            <a:avLst/>
          </a:prstGeom>
          <a:noFill/>
          <a:ln>
            <a:noFill/>
          </a:ln>
        </p:spPr>
      </p:pic>
      <p:pic>
        <p:nvPicPr>
          <p:cNvPr id="278" name="Google Shape;278;p48" title="Group 1000004545.png"/>
          <p:cNvPicPr preferRelativeResize="0"/>
          <p:nvPr/>
        </p:nvPicPr>
        <p:blipFill rotWithShape="1">
          <a:blip r:embed="rId6">
            <a:alphaModFix/>
          </a:blip>
          <a:srcRect/>
          <a:stretch/>
        </p:blipFill>
        <p:spPr>
          <a:xfrm>
            <a:off x="2702325" y="1693376"/>
            <a:ext cx="883400" cy="883400"/>
          </a:xfrm>
          <a:prstGeom prst="rect">
            <a:avLst/>
          </a:prstGeom>
          <a:noFill/>
          <a:ln>
            <a:noFill/>
          </a:ln>
        </p:spPr>
      </p:pic>
      <p:pic>
        <p:nvPicPr>
          <p:cNvPr id="279" name="Google Shape;279;p48" title="Group 1000004546.png"/>
          <p:cNvPicPr preferRelativeResize="0"/>
          <p:nvPr/>
        </p:nvPicPr>
        <p:blipFill rotWithShape="1">
          <a:blip r:embed="rId7">
            <a:alphaModFix/>
          </a:blip>
          <a:srcRect/>
          <a:stretch/>
        </p:blipFill>
        <p:spPr>
          <a:xfrm>
            <a:off x="4685600" y="1077600"/>
            <a:ext cx="883400" cy="883400"/>
          </a:xfrm>
          <a:prstGeom prst="rect">
            <a:avLst/>
          </a:prstGeom>
          <a:noFill/>
          <a:ln>
            <a:noFill/>
          </a:ln>
        </p:spPr>
      </p:pic>
      <p:grpSp>
        <p:nvGrpSpPr>
          <p:cNvPr id="280" name="Google Shape;280;p48"/>
          <p:cNvGrpSpPr/>
          <p:nvPr/>
        </p:nvGrpSpPr>
        <p:grpSpPr>
          <a:xfrm>
            <a:off x="6717625" y="465775"/>
            <a:ext cx="883400" cy="883400"/>
            <a:chOff x="6717625" y="465775"/>
            <a:chExt cx="883400" cy="883400"/>
          </a:xfrm>
        </p:grpSpPr>
        <p:pic>
          <p:nvPicPr>
            <p:cNvPr id="281" name="Google Shape;281;p48" title="Group 1000004546.png"/>
            <p:cNvPicPr preferRelativeResize="0"/>
            <p:nvPr/>
          </p:nvPicPr>
          <p:blipFill rotWithShape="1">
            <a:blip r:embed="rId7">
              <a:alphaModFix/>
            </a:blip>
            <a:srcRect/>
            <a:stretch/>
          </p:blipFill>
          <p:spPr>
            <a:xfrm>
              <a:off x="6717625" y="465775"/>
              <a:ext cx="883400" cy="883400"/>
            </a:xfrm>
            <a:prstGeom prst="rect">
              <a:avLst/>
            </a:prstGeom>
            <a:noFill/>
            <a:ln>
              <a:noFill/>
            </a:ln>
          </p:spPr>
        </p:pic>
        <p:sp>
          <p:nvSpPr>
            <p:cNvPr id="282" name="Google Shape;282;p48"/>
            <p:cNvSpPr/>
            <p:nvPr/>
          </p:nvSpPr>
          <p:spPr>
            <a:xfrm>
              <a:off x="6911825" y="635000"/>
              <a:ext cx="495000" cy="4950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83" name="Google Shape;283;p48" descr="A blue and pink logo&#10;&#10;AI-generated content may be incorrect."/>
            <p:cNvPicPr preferRelativeResize="0"/>
            <p:nvPr/>
          </p:nvPicPr>
          <p:blipFill rotWithShape="1">
            <a:blip r:embed="rId8">
              <a:alphaModFix/>
            </a:blip>
            <a:srcRect/>
            <a:stretch/>
          </p:blipFill>
          <p:spPr>
            <a:xfrm>
              <a:off x="6913025" y="617974"/>
              <a:ext cx="492600" cy="492600"/>
            </a:xfrm>
            <a:prstGeom prst="rect">
              <a:avLst/>
            </a:prstGeom>
            <a:noFill/>
            <a:ln>
              <a:noFill/>
            </a:ln>
          </p:spPr>
        </p:pic>
      </p:grpSp>
      <p:sp>
        <p:nvSpPr>
          <p:cNvPr id="284" name="Google Shape;284;p48"/>
          <p:cNvSpPr txBox="1">
            <a:spLocks noGrp="1"/>
          </p:cNvSpPr>
          <p:nvPr>
            <p:ph type="title" idx="4294967295"/>
          </p:nvPr>
        </p:nvSpPr>
        <p:spPr>
          <a:xfrm>
            <a:off x="301950" y="201625"/>
            <a:ext cx="2915100" cy="883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chemeClr val="dk1"/>
              </a:buClr>
              <a:buSzPts val="1800"/>
              <a:buFont typeface="DM Sans"/>
              <a:buNone/>
            </a:pPr>
            <a:r>
              <a:rPr lang="en" sz="2420">
                <a:latin typeface="Poppins Light"/>
                <a:ea typeface="Poppins Light"/>
                <a:cs typeface="Poppins Light"/>
                <a:sym typeface="Poppins Light"/>
              </a:rPr>
              <a:t>Wiz Adoption &amp; Democratization</a:t>
            </a:r>
            <a:endParaRPr sz="2420">
              <a:latin typeface="Poppins Light"/>
              <a:ea typeface="Poppins Light"/>
              <a:cs typeface="Poppins Light"/>
              <a:sym typeface="Poppins Light"/>
            </a:endParaRPr>
          </a:p>
          <a:p>
            <a:pPr marL="0" lvl="0" indent="0" algn="l" rtl="0">
              <a:lnSpc>
                <a:spcPct val="100000"/>
              </a:lnSpc>
              <a:spcBef>
                <a:spcPts val="0"/>
              </a:spcBef>
              <a:spcAft>
                <a:spcPts val="0"/>
              </a:spcAft>
              <a:buSzPts val="2800"/>
              <a:buNone/>
            </a:pPr>
            <a:r>
              <a:rPr lang="en" sz="2420">
                <a:latin typeface="Poppins Light"/>
                <a:ea typeface="Poppins Light"/>
                <a:cs typeface="Poppins Light"/>
                <a:sym typeface="Poppins Light"/>
              </a:rPr>
              <a:t>Maturity Model </a:t>
            </a:r>
            <a:endParaRPr sz="2420">
              <a:latin typeface="Poppins Light"/>
              <a:ea typeface="Poppins Light"/>
              <a:cs typeface="Poppins Light"/>
              <a:sym typeface="Poppi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90" name="Google Shape;290;p49"/>
          <p:cNvPicPr preferRelativeResize="0"/>
          <p:nvPr/>
        </p:nvPicPr>
        <p:blipFill rotWithShape="1">
          <a:blip r:embed="rId3">
            <a:alphaModFix/>
          </a:blip>
          <a:srcRect/>
          <a:stretch/>
        </p:blipFill>
        <p:spPr>
          <a:xfrm>
            <a:off x="99275" y="814525"/>
            <a:ext cx="2694900" cy="4186399"/>
          </a:xfrm>
          <a:prstGeom prst="rect">
            <a:avLst/>
          </a:prstGeom>
          <a:noFill/>
          <a:ln>
            <a:noFill/>
          </a:ln>
        </p:spPr>
      </p:pic>
      <p:sp>
        <p:nvSpPr>
          <p:cNvPr id="291" name="Google Shape;291;p49"/>
          <p:cNvSpPr txBox="1">
            <a:spLocks noGrp="1"/>
          </p:cNvSpPr>
          <p:nvPr>
            <p:ph type="title" idx="4294967295"/>
          </p:nvPr>
        </p:nvSpPr>
        <p:spPr>
          <a:xfrm>
            <a:off x="0" y="221125"/>
            <a:ext cx="91443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Poppins Light"/>
                <a:ea typeface="Poppins Light"/>
                <a:cs typeface="Poppins Light"/>
                <a:sym typeface="Poppins Light"/>
              </a:rPr>
              <a:t>Cloud and AI Visibility Snapshot</a:t>
            </a:r>
            <a:endParaRPr sz="2420">
              <a:latin typeface="Poppins Light"/>
              <a:ea typeface="Poppins Light"/>
              <a:cs typeface="Poppins Light"/>
              <a:sym typeface="Poppins Light"/>
            </a:endParaRPr>
          </a:p>
        </p:txBody>
      </p:sp>
      <p:pic>
        <p:nvPicPr>
          <p:cNvPr id="292" name="Google Shape;292;p49"/>
          <p:cNvPicPr preferRelativeResize="0"/>
          <p:nvPr/>
        </p:nvPicPr>
        <p:blipFill rotWithShape="1">
          <a:blip r:embed="rId4">
            <a:alphaModFix/>
          </a:blip>
          <a:srcRect/>
          <a:stretch/>
        </p:blipFill>
        <p:spPr>
          <a:xfrm>
            <a:off x="296060" y="1339164"/>
            <a:ext cx="216750" cy="132020"/>
          </a:xfrm>
          <a:prstGeom prst="rect">
            <a:avLst/>
          </a:prstGeom>
          <a:noFill/>
          <a:ln>
            <a:noFill/>
          </a:ln>
        </p:spPr>
      </p:pic>
      <p:sp>
        <p:nvSpPr>
          <p:cNvPr id="293" name="Google Shape;293;p49"/>
          <p:cNvSpPr txBox="1"/>
          <p:nvPr/>
        </p:nvSpPr>
        <p:spPr>
          <a:xfrm>
            <a:off x="594173" y="1306063"/>
            <a:ext cx="21201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900" b="0" i="0" u="none" strike="noStrike" cap="none">
                <a:solidFill>
                  <a:srgbClr val="00113E"/>
                </a:solidFill>
                <a:latin typeface="Poppins"/>
                <a:ea typeface="Poppins"/>
                <a:cs typeface="Poppins"/>
                <a:sym typeface="Poppins"/>
              </a:rPr>
              <a:t>{{C_AWS}} AWS Connectors</a:t>
            </a:r>
            <a:endParaRPr sz="900" b="0" i="0" u="none" strike="noStrike" cap="none">
              <a:solidFill>
                <a:srgbClr val="000000"/>
              </a:solidFill>
              <a:latin typeface="Poppins"/>
              <a:ea typeface="Poppins"/>
              <a:cs typeface="Poppins"/>
              <a:sym typeface="Poppins"/>
            </a:endParaRPr>
          </a:p>
        </p:txBody>
      </p:sp>
      <p:pic>
        <p:nvPicPr>
          <p:cNvPr id="294" name="Google Shape;294;p49" descr="Kubernetes Logo transparent PNG - StickPNG"/>
          <p:cNvPicPr preferRelativeResize="0"/>
          <p:nvPr/>
        </p:nvPicPr>
        <p:blipFill rotWithShape="1">
          <a:blip r:embed="rId5">
            <a:alphaModFix/>
          </a:blip>
          <a:srcRect/>
          <a:stretch/>
        </p:blipFill>
        <p:spPr>
          <a:xfrm>
            <a:off x="291295" y="2333701"/>
            <a:ext cx="214875" cy="211565"/>
          </a:xfrm>
          <a:prstGeom prst="rect">
            <a:avLst/>
          </a:prstGeom>
          <a:noFill/>
          <a:ln>
            <a:noFill/>
          </a:ln>
        </p:spPr>
      </p:pic>
      <p:sp>
        <p:nvSpPr>
          <p:cNvPr id="295" name="Google Shape;295;p49"/>
          <p:cNvSpPr txBox="1"/>
          <p:nvPr/>
        </p:nvSpPr>
        <p:spPr>
          <a:xfrm>
            <a:off x="594176" y="2267228"/>
            <a:ext cx="21582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900" b="0" i="0" u="none" strike="noStrike" cap="none">
                <a:solidFill>
                  <a:srgbClr val="00113E"/>
                </a:solidFill>
                <a:latin typeface="Poppins"/>
                <a:ea typeface="Poppins"/>
                <a:cs typeface="Poppins"/>
                <a:sym typeface="Poppins"/>
              </a:rPr>
              <a:t>{{K8S}} K8s Clusters</a:t>
            </a:r>
            <a:br>
              <a:rPr lang="en" sz="900" b="0" i="0" u="none" strike="noStrike" cap="none">
                <a:solidFill>
                  <a:srgbClr val="00113E"/>
                </a:solidFill>
                <a:latin typeface="Poppins"/>
                <a:ea typeface="Poppins"/>
                <a:cs typeface="Poppins"/>
                <a:sym typeface="Poppins"/>
              </a:rPr>
            </a:br>
            <a:r>
              <a:rPr lang="en" sz="900" b="0" i="0" u="none" strike="noStrike" cap="none">
                <a:solidFill>
                  <a:srgbClr val="00113E"/>
                </a:solidFill>
                <a:latin typeface="Poppins"/>
                <a:ea typeface="Poppins"/>
                <a:cs typeface="Poppins"/>
                <a:sym typeface="Poppins"/>
              </a:rPr>
              <a:t>{{KG_NC}} Not Connected via Connector</a:t>
            </a:r>
            <a:endParaRPr sz="900" b="0" i="0" u="none" strike="noStrike" cap="none">
              <a:solidFill>
                <a:srgbClr val="000000"/>
              </a:solidFill>
              <a:latin typeface="Poppins"/>
              <a:ea typeface="Poppins"/>
              <a:cs typeface="Poppins"/>
              <a:sym typeface="Poppins"/>
            </a:endParaRPr>
          </a:p>
        </p:txBody>
      </p:sp>
      <p:grpSp>
        <p:nvGrpSpPr>
          <p:cNvPr id="296" name="Google Shape;296;p49"/>
          <p:cNvGrpSpPr/>
          <p:nvPr/>
        </p:nvGrpSpPr>
        <p:grpSpPr>
          <a:xfrm>
            <a:off x="309832" y="2763999"/>
            <a:ext cx="189207" cy="194205"/>
            <a:chOff x="6171974" y="3205262"/>
            <a:chExt cx="189207" cy="191978"/>
          </a:xfrm>
        </p:grpSpPr>
        <p:sp>
          <p:nvSpPr>
            <p:cNvPr id="297" name="Google Shape;297;p49"/>
            <p:cNvSpPr/>
            <p:nvPr/>
          </p:nvSpPr>
          <p:spPr>
            <a:xfrm>
              <a:off x="6171974" y="3205262"/>
              <a:ext cx="107899" cy="107875"/>
            </a:xfrm>
            <a:custGeom>
              <a:avLst/>
              <a:gdLst/>
              <a:ahLst/>
              <a:cxnLst/>
              <a:rect l="l" t="t" r="r" b="b"/>
              <a:pathLst>
                <a:path w="1078992" h="1078750" extrusionOk="0">
                  <a:moveTo>
                    <a:pt x="71003" y="0"/>
                  </a:moveTo>
                  <a:lnTo>
                    <a:pt x="1007989" y="0"/>
                  </a:lnTo>
                  <a:cubicBezTo>
                    <a:pt x="1047203" y="0"/>
                    <a:pt x="1078992" y="31789"/>
                    <a:pt x="1078992" y="71003"/>
                  </a:cubicBezTo>
                  <a:lnTo>
                    <a:pt x="1078992" y="324079"/>
                  </a:lnTo>
                  <a:lnTo>
                    <a:pt x="377206" y="324079"/>
                  </a:lnTo>
                  <a:cubicBezTo>
                    <a:pt x="339490" y="324079"/>
                    <a:pt x="308916" y="354653"/>
                    <a:pt x="308916" y="392369"/>
                  </a:cubicBezTo>
                  <a:lnTo>
                    <a:pt x="308916" y="1078750"/>
                  </a:lnTo>
                  <a:lnTo>
                    <a:pt x="71003" y="1078750"/>
                  </a:lnTo>
                  <a:cubicBezTo>
                    <a:pt x="31789" y="1078750"/>
                    <a:pt x="0" y="1046961"/>
                    <a:pt x="0" y="1007747"/>
                  </a:cubicBezTo>
                  <a:lnTo>
                    <a:pt x="0" y="71003"/>
                  </a:lnTo>
                  <a:cubicBezTo>
                    <a:pt x="0" y="31789"/>
                    <a:pt x="31789" y="0"/>
                    <a:pt x="71003" y="0"/>
                  </a:cubicBezTo>
                  <a:close/>
                </a:path>
              </a:pathLst>
            </a:custGeom>
            <a:solidFill>
              <a:srgbClr val="014FF7"/>
            </a:solidFill>
            <a:ln>
              <a:noFill/>
            </a:ln>
          </p:spPr>
          <p:txBody>
            <a:bodyPr spcFirstLastPara="1" wrap="square" lIns="47650" tIns="23800" rIns="47650" bIns="23800" anchor="ctr" anchorCtr="0">
              <a:noAutofit/>
            </a:bodyPr>
            <a:lstStyle/>
            <a:p>
              <a:pPr marL="0" marR="0" lvl="0" indent="0" algn="ctr" rtl="0">
                <a:lnSpc>
                  <a:spcPct val="100000"/>
                </a:lnSpc>
                <a:spcBef>
                  <a:spcPts val="0"/>
                </a:spcBef>
                <a:spcAft>
                  <a:spcPts val="0"/>
                </a:spcAft>
                <a:buClr>
                  <a:srgbClr val="FFFFFF"/>
                </a:buClr>
                <a:buSzPts val="938"/>
                <a:buFont typeface="Calibri"/>
                <a:buNone/>
              </a:pPr>
              <a:endParaRPr sz="938" b="0" i="0" u="none" strike="noStrike" cap="none">
                <a:solidFill>
                  <a:srgbClr val="00113E"/>
                </a:solidFill>
                <a:latin typeface="DM Sans"/>
                <a:ea typeface="DM Sans"/>
                <a:cs typeface="DM Sans"/>
                <a:sym typeface="DM Sans"/>
              </a:endParaRPr>
            </a:p>
          </p:txBody>
        </p:sp>
        <p:sp>
          <p:nvSpPr>
            <p:cNvPr id="298" name="Google Shape;298;p49"/>
            <p:cNvSpPr/>
            <p:nvPr/>
          </p:nvSpPr>
          <p:spPr>
            <a:xfrm>
              <a:off x="6212578" y="3247251"/>
              <a:ext cx="107899" cy="107875"/>
            </a:xfrm>
            <a:custGeom>
              <a:avLst/>
              <a:gdLst/>
              <a:ahLst/>
              <a:cxnLst/>
              <a:rect l="l" t="t" r="r" b="b"/>
              <a:pathLst>
                <a:path w="1078992" h="1078750" extrusionOk="0">
                  <a:moveTo>
                    <a:pt x="71003" y="0"/>
                  </a:moveTo>
                  <a:lnTo>
                    <a:pt x="1007989" y="0"/>
                  </a:lnTo>
                  <a:cubicBezTo>
                    <a:pt x="1047203" y="0"/>
                    <a:pt x="1078992" y="31789"/>
                    <a:pt x="1078992" y="71003"/>
                  </a:cubicBezTo>
                  <a:lnTo>
                    <a:pt x="1078992" y="324079"/>
                  </a:lnTo>
                  <a:lnTo>
                    <a:pt x="377205" y="324079"/>
                  </a:lnTo>
                  <a:cubicBezTo>
                    <a:pt x="339489" y="324079"/>
                    <a:pt x="308915" y="354653"/>
                    <a:pt x="308915" y="392369"/>
                  </a:cubicBezTo>
                  <a:lnTo>
                    <a:pt x="308915" y="1078750"/>
                  </a:lnTo>
                  <a:lnTo>
                    <a:pt x="71003" y="1078750"/>
                  </a:lnTo>
                  <a:cubicBezTo>
                    <a:pt x="31789" y="1078750"/>
                    <a:pt x="0" y="1046961"/>
                    <a:pt x="0" y="1007747"/>
                  </a:cubicBezTo>
                  <a:lnTo>
                    <a:pt x="0" y="71003"/>
                  </a:lnTo>
                  <a:cubicBezTo>
                    <a:pt x="0" y="31789"/>
                    <a:pt x="31789" y="0"/>
                    <a:pt x="71003" y="0"/>
                  </a:cubicBezTo>
                  <a:close/>
                </a:path>
              </a:pathLst>
            </a:custGeom>
            <a:solidFill>
              <a:srgbClr val="014FF7"/>
            </a:solidFill>
            <a:ln>
              <a:noFill/>
            </a:ln>
          </p:spPr>
          <p:txBody>
            <a:bodyPr spcFirstLastPara="1" wrap="square" lIns="47650" tIns="23800" rIns="47650" bIns="23800" anchor="ctr" anchorCtr="0">
              <a:noAutofit/>
            </a:bodyPr>
            <a:lstStyle/>
            <a:p>
              <a:pPr marL="0" marR="0" lvl="0" indent="0" algn="ctr" rtl="0">
                <a:lnSpc>
                  <a:spcPct val="100000"/>
                </a:lnSpc>
                <a:spcBef>
                  <a:spcPts val="0"/>
                </a:spcBef>
                <a:spcAft>
                  <a:spcPts val="0"/>
                </a:spcAft>
                <a:buClr>
                  <a:srgbClr val="FFFFFF"/>
                </a:buClr>
                <a:buSzPts val="938"/>
                <a:buFont typeface="Calibri"/>
                <a:buNone/>
              </a:pPr>
              <a:endParaRPr sz="938" b="0" i="0" u="none" strike="noStrike" cap="none">
                <a:solidFill>
                  <a:srgbClr val="00113E"/>
                </a:solidFill>
                <a:latin typeface="DM Sans"/>
                <a:ea typeface="DM Sans"/>
                <a:cs typeface="DM Sans"/>
                <a:sym typeface="DM Sans"/>
              </a:endParaRPr>
            </a:p>
          </p:txBody>
        </p:sp>
        <p:sp>
          <p:nvSpPr>
            <p:cNvPr id="299" name="Google Shape;299;p49"/>
            <p:cNvSpPr/>
            <p:nvPr/>
          </p:nvSpPr>
          <p:spPr>
            <a:xfrm>
              <a:off x="6253181" y="3289240"/>
              <a:ext cx="108000" cy="108000"/>
            </a:xfrm>
            <a:prstGeom prst="roundRect">
              <a:avLst>
                <a:gd name="adj" fmla="val 6582"/>
              </a:avLst>
            </a:prstGeom>
            <a:solidFill>
              <a:srgbClr val="014FF7"/>
            </a:solidFill>
            <a:ln>
              <a:noFill/>
            </a:ln>
          </p:spPr>
          <p:txBody>
            <a:bodyPr spcFirstLastPara="1" wrap="square" lIns="47650" tIns="23800" rIns="47650" bIns="23800" anchor="ctr" anchorCtr="0">
              <a:noAutofit/>
            </a:bodyPr>
            <a:lstStyle/>
            <a:p>
              <a:pPr marL="0" marR="0" lvl="0" indent="0" algn="ctr" rtl="0">
                <a:lnSpc>
                  <a:spcPct val="100000"/>
                </a:lnSpc>
                <a:spcBef>
                  <a:spcPts val="0"/>
                </a:spcBef>
                <a:spcAft>
                  <a:spcPts val="0"/>
                </a:spcAft>
                <a:buClr>
                  <a:srgbClr val="FFFFFF"/>
                </a:buClr>
                <a:buSzPts val="938"/>
                <a:buFont typeface="Calibri"/>
                <a:buNone/>
              </a:pPr>
              <a:endParaRPr sz="938" b="0" i="0" u="none" strike="noStrike" cap="none">
                <a:solidFill>
                  <a:srgbClr val="00113E"/>
                </a:solidFill>
                <a:latin typeface="DM Sans"/>
                <a:ea typeface="DM Sans"/>
                <a:cs typeface="DM Sans"/>
                <a:sym typeface="DM Sans"/>
              </a:endParaRPr>
            </a:p>
          </p:txBody>
        </p:sp>
      </p:grpSp>
      <p:sp>
        <p:nvSpPr>
          <p:cNvPr id="300" name="Google Shape;300;p49"/>
          <p:cNvSpPr txBox="1"/>
          <p:nvPr/>
        </p:nvSpPr>
        <p:spPr>
          <a:xfrm>
            <a:off x="594175" y="2710232"/>
            <a:ext cx="20859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900" b="0" i="0" u="none" strike="noStrike" cap="none">
                <a:solidFill>
                  <a:schemeClr val="dk1"/>
                </a:solidFill>
                <a:latin typeface="Poppins"/>
                <a:ea typeface="Poppins"/>
                <a:cs typeface="Poppins"/>
                <a:sym typeface="Poppins"/>
              </a:rPr>
              <a:t>{{C_OTH}} Others</a:t>
            </a:r>
            <a:br>
              <a:rPr lang="en" sz="900" b="0" i="0" u="none" strike="noStrike" cap="none">
                <a:solidFill>
                  <a:schemeClr val="dk1"/>
                </a:solidFill>
                <a:latin typeface="Poppins"/>
                <a:ea typeface="Poppins"/>
                <a:cs typeface="Poppins"/>
                <a:sym typeface="Poppins"/>
              </a:rPr>
            </a:br>
            <a:r>
              <a:rPr lang="en" sz="800" b="0" i="0" u="none" strike="noStrike" cap="none">
                <a:solidFill>
                  <a:schemeClr val="dk1"/>
                </a:solidFill>
                <a:latin typeface="Poppins"/>
                <a:ea typeface="Poppins"/>
                <a:cs typeface="Poppins"/>
                <a:sym typeface="Poppins"/>
              </a:rPr>
              <a:t>{{C_OTH_NAMES}}</a:t>
            </a:r>
            <a:br>
              <a:rPr lang="en" sz="900" b="0" i="0" u="none" strike="noStrike" cap="none">
                <a:solidFill>
                  <a:schemeClr val="dk1"/>
                </a:solidFill>
                <a:latin typeface="Poppins"/>
                <a:ea typeface="Poppins"/>
                <a:cs typeface="Poppins"/>
                <a:sym typeface="Poppins"/>
              </a:rPr>
            </a:br>
            <a:endParaRPr sz="900" b="0" i="0" u="none" strike="noStrike" cap="none">
              <a:solidFill>
                <a:schemeClr val="dk1"/>
              </a:solidFill>
              <a:latin typeface="Poppins"/>
              <a:ea typeface="Poppins"/>
              <a:cs typeface="Poppins"/>
              <a:sym typeface="Poppins"/>
            </a:endParaRPr>
          </a:p>
        </p:txBody>
      </p:sp>
      <p:grpSp>
        <p:nvGrpSpPr>
          <p:cNvPr id="301" name="Google Shape;301;p49"/>
          <p:cNvGrpSpPr/>
          <p:nvPr/>
        </p:nvGrpSpPr>
        <p:grpSpPr>
          <a:xfrm>
            <a:off x="318778" y="3899121"/>
            <a:ext cx="171314" cy="178215"/>
            <a:chOff x="11835920" y="1617571"/>
            <a:chExt cx="5866906" cy="6041208"/>
          </a:xfrm>
        </p:grpSpPr>
        <p:sp>
          <p:nvSpPr>
            <p:cNvPr id="302" name="Google Shape;302;p49"/>
            <p:cNvSpPr/>
            <p:nvPr/>
          </p:nvSpPr>
          <p:spPr>
            <a:xfrm>
              <a:off x="13171525" y="1625031"/>
              <a:ext cx="1490700" cy="944700"/>
            </a:xfrm>
            <a:prstGeom prst="rect">
              <a:avLst/>
            </a:prstGeom>
            <a:solidFill>
              <a:srgbClr val="15DCE4"/>
            </a:solidFill>
            <a:ln>
              <a:noFill/>
            </a:ln>
          </p:spPr>
          <p:txBody>
            <a:bodyPr spcFirstLastPara="1" wrap="square" lIns="40650" tIns="20325" rIns="40650" bIns="20325" anchor="ctr" anchorCtr="0">
              <a:noAutofit/>
            </a:bodyPr>
            <a:lstStyle/>
            <a:p>
              <a:pPr marL="0" marR="0" lvl="0" indent="0" algn="ctr" rtl="0">
                <a:lnSpc>
                  <a:spcPct val="100000"/>
                </a:lnSpc>
                <a:spcBef>
                  <a:spcPts val="0"/>
                </a:spcBef>
                <a:spcAft>
                  <a:spcPts val="0"/>
                </a:spcAft>
                <a:buClr>
                  <a:srgbClr val="FFFFFF"/>
                </a:buClr>
                <a:buSzPts val="801"/>
                <a:buFont typeface="Calibri"/>
                <a:buNone/>
              </a:pPr>
              <a:endParaRPr sz="801" b="0" i="0" u="none" strike="noStrike" cap="none">
                <a:solidFill>
                  <a:srgbClr val="00113E"/>
                </a:solidFill>
                <a:latin typeface="DM Sans"/>
                <a:ea typeface="DM Sans"/>
                <a:cs typeface="DM Sans"/>
                <a:sym typeface="DM Sans"/>
              </a:endParaRPr>
            </a:p>
          </p:txBody>
        </p:sp>
        <p:sp>
          <p:nvSpPr>
            <p:cNvPr id="303" name="Google Shape;303;p49"/>
            <p:cNvSpPr/>
            <p:nvPr/>
          </p:nvSpPr>
          <p:spPr>
            <a:xfrm rot="4145691">
              <a:off x="12227504" y="4096971"/>
              <a:ext cx="6050917" cy="1078706"/>
            </a:xfrm>
            <a:prstGeom prst="rect">
              <a:avLst/>
            </a:prstGeom>
            <a:solidFill>
              <a:srgbClr val="15DCE4"/>
            </a:solidFill>
            <a:ln>
              <a:noFill/>
            </a:ln>
          </p:spPr>
          <p:txBody>
            <a:bodyPr spcFirstLastPara="1" wrap="square" lIns="40650" tIns="20325" rIns="40650" bIns="20325" anchor="ctr" anchorCtr="0">
              <a:noAutofit/>
            </a:bodyPr>
            <a:lstStyle/>
            <a:p>
              <a:pPr marL="0" marR="0" lvl="0" indent="0" algn="ctr" rtl="0">
                <a:lnSpc>
                  <a:spcPct val="100000"/>
                </a:lnSpc>
                <a:spcBef>
                  <a:spcPts val="0"/>
                </a:spcBef>
                <a:spcAft>
                  <a:spcPts val="0"/>
                </a:spcAft>
                <a:buClr>
                  <a:srgbClr val="FFFFFF"/>
                </a:buClr>
                <a:buSzPts val="801"/>
                <a:buFont typeface="Calibri"/>
                <a:buNone/>
              </a:pPr>
              <a:endParaRPr sz="801" b="0" i="0" u="none" strike="noStrike" cap="none">
                <a:solidFill>
                  <a:srgbClr val="00113E"/>
                </a:solidFill>
                <a:latin typeface="DM Sans"/>
                <a:ea typeface="DM Sans"/>
                <a:cs typeface="DM Sans"/>
                <a:sym typeface="DM Sans"/>
              </a:endParaRPr>
            </a:p>
          </p:txBody>
        </p:sp>
        <p:sp>
          <p:nvSpPr>
            <p:cNvPr id="304" name="Google Shape;304;p49"/>
            <p:cNvSpPr/>
            <p:nvPr/>
          </p:nvSpPr>
          <p:spPr>
            <a:xfrm rot="9723288">
              <a:off x="15609080" y="6301883"/>
              <a:ext cx="1975610" cy="1078787"/>
            </a:xfrm>
            <a:prstGeom prst="rect">
              <a:avLst/>
            </a:prstGeom>
            <a:solidFill>
              <a:srgbClr val="15DCE4"/>
            </a:solidFill>
            <a:ln>
              <a:noFill/>
            </a:ln>
          </p:spPr>
          <p:txBody>
            <a:bodyPr spcFirstLastPara="1" wrap="square" lIns="40650" tIns="20325" rIns="40650" bIns="20325" anchor="ctr" anchorCtr="0">
              <a:noAutofit/>
            </a:bodyPr>
            <a:lstStyle/>
            <a:p>
              <a:pPr marL="0" marR="0" lvl="0" indent="0" algn="ctr" rtl="0">
                <a:lnSpc>
                  <a:spcPct val="100000"/>
                </a:lnSpc>
                <a:spcBef>
                  <a:spcPts val="0"/>
                </a:spcBef>
                <a:spcAft>
                  <a:spcPts val="0"/>
                </a:spcAft>
                <a:buClr>
                  <a:srgbClr val="FFFFFF"/>
                </a:buClr>
                <a:buSzPts val="801"/>
                <a:buFont typeface="Calibri"/>
                <a:buNone/>
              </a:pPr>
              <a:endParaRPr sz="801" b="0" i="0" u="none" strike="noStrike" cap="none">
                <a:solidFill>
                  <a:srgbClr val="00113E"/>
                </a:solidFill>
                <a:latin typeface="DM Sans"/>
                <a:ea typeface="DM Sans"/>
                <a:cs typeface="DM Sans"/>
                <a:sym typeface="DM Sans"/>
              </a:endParaRPr>
            </a:p>
          </p:txBody>
        </p:sp>
        <p:sp>
          <p:nvSpPr>
            <p:cNvPr id="305" name="Google Shape;305;p49"/>
            <p:cNvSpPr/>
            <p:nvPr/>
          </p:nvSpPr>
          <p:spPr>
            <a:xfrm rot="7393903">
              <a:off x="14175210" y="3530494"/>
              <a:ext cx="644860" cy="604337"/>
            </a:xfrm>
            <a:prstGeom prst="rect">
              <a:avLst/>
            </a:prstGeom>
            <a:solidFill>
              <a:srgbClr val="15DCE4"/>
            </a:solidFill>
            <a:ln>
              <a:noFill/>
            </a:ln>
          </p:spPr>
          <p:txBody>
            <a:bodyPr spcFirstLastPara="1" wrap="square" lIns="40650" tIns="20325" rIns="40650" bIns="20325" anchor="ctr" anchorCtr="0">
              <a:noAutofit/>
            </a:bodyPr>
            <a:lstStyle/>
            <a:p>
              <a:pPr marL="0" marR="0" lvl="0" indent="0" algn="ctr" rtl="0">
                <a:lnSpc>
                  <a:spcPct val="100000"/>
                </a:lnSpc>
                <a:spcBef>
                  <a:spcPts val="0"/>
                </a:spcBef>
                <a:spcAft>
                  <a:spcPts val="0"/>
                </a:spcAft>
                <a:buClr>
                  <a:srgbClr val="FFFFFF"/>
                </a:buClr>
                <a:buSzPts val="801"/>
                <a:buFont typeface="Calibri"/>
                <a:buNone/>
              </a:pPr>
              <a:endParaRPr sz="801" b="0" i="0" u="none" strike="noStrike" cap="none">
                <a:solidFill>
                  <a:srgbClr val="00113E"/>
                </a:solidFill>
                <a:latin typeface="DM Sans"/>
                <a:ea typeface="DM Sans"/>
                <a:cs typeface="DM Sans"/>
                <a:sym typeface="DM Sans"/>
              </a:endParaRPr>
            </a:p>
          </p:txBody>
        </p:sp>
        <p:sp>
          <p:nvSpPr>
            <p:cNvPr id="306" name="Google Shape;306;p49"/>
            <p:cNvSpPr/>
            <p:nvPr/>
          </p:nvSpPr>
          <p:spPr>
            <a:xfrm>
              <a:off x="11835920" y="3725119"/>
              <a:ext cx="3579000" cy="3592200"/>
            </a:xfrm>
            <a:prstGeom prst="parallelogram">
              <a:avLst>
                <a:gd name="adj" fmla="val 66161"/>
              </a:avLst>
            </a:prstGeom>
            <a:solidFill>
              <a:srgbClr val="15DCE4"/>
            </a:solidFill>
            <a:ln>
              <a:noFill/>
            </a:ln>
          </p:spPr>
          <p:txBody>
            <a:bodyPr spcFirstLastPara="1" wrap="square" lIns="40650" tIns="20325" rIns="40650" bIns="20325" anchor="ctr" anchorCtr="0">
              <a:noAutofit/>
            </a:bodyPr>
            <a:lstStyle/>
            <a:p>
              <a:pPr marL="0" marR="0" lvl="0" indent="0" algn="ctr" rtl="0">
                <a:lnSpc>
                  <a:spcPct val="100000"/>
                </a:lnSpc>
                <a:spcBef>
                  <a:spcPts val="0"/>
                </a:spcBef>
                <a:spcAft>
                  <a:spcPts val="0"/>
                </a:spcAft>
                <a:buClr>
                  <a:srgbClr val="FFFFFF"/>
                </a:buClr>
                <a:buSzPts val="801"/>
                <a:buFont typeface="Calibri"/>
                <a:buNone/>
              </a:pPr>
              <a:endParaRPr sz="801" b="0" i="0" u="none" strike="noStrike" cap="none">
                <a:solidFill>
                  <a:srgbClr val="00113E"/>
                </a:solidFill>
                <a:latin typeface="DM Sans"/>
                <a:ea typeface="DM Sans"/>
                <a:cs typeface="DM Sans"/>
                <a:sym typeface="DM Sans"/>
              </a:endParaRPr>
            </a:p>
          </p:txBody>
        </p:sp>
      </p:grpSp>
      <p:sp>
        <p:nvSpPr>
          <p:cNvPr id="307" name="Google Shape;307;p49"/>
          <p:cNvSpPr txBox="1"/>
          <p:nvPr/>
        </p:nvSpPr>
        <p:spPr>
          <a:xfrm>
            <a:off x="594173" y="3867490"/>
            <a:ext cx="20859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900" b="0" i="0" u="none" strike="noStrike" cap="none">
                <a:solidFill>
                  <a:srgbClr val="00113E"/>
                </a:solidFill>
                <a:latin typeface="Poppins"/>
                <a:ea typeface="Poppins"/>
                <a:cs typeface="Poppins"/>
                <a:sym typeface="Poppins"/>
              </a:rPr>
              <a:t>{{SERVERLESS_FN_COUNT}} Serverless Functions</a:t>
            </a:r>
            <a:endParaRPr sz="900" b="0" i="0" u="none" strike="noStrike" cap="none">
              <a:solidFill>
                <a:srgbClr val="000000"/>
              </a:solidFill>
              <a:latin typeface="Poppins"/>
              <a:ea typeface="Poppins"/>
              <a:cs typeface="Poppins"/>
              <a:sym typeface="Poppins"/>
            </a:endParaRPr>
          </a:p>
        </p:txBody>
      </p:sp>
      <p:sp>
        <p:nvSpPr>
          <p:cNvPr id="308" name="Google Shape;308;p49"/>
          <p:cNvSpPr txBox="1"/>
          <p:nvPr/>
        </p:nvSpPr>
        <p:spPr>
          <a:xfrm>
            <a:off x="594173" y="1626385"/>
            <a:ext cx="21201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900" b="0" i="0" u="none" strike="noStrike" cap="none">
                <a:solidFill>
                  <a:srgbClr val="00113E"/>
                </a:solidFill>
                <a:latin typeface="Poppins"/>
                <a:ea typeface="Poppins"/>
                <a:cs typeface="Poppins"/>
                <a:sym typeface="Poppins"/>
              </a:rPr>
              <a:t>{{C_GCP}} GCP Connectors</a:t>
            </a:r>
            <a:endParaRPr sz="900" b="0" i="0" u="none" strike="noStrike" cap="none">
              <a:solidFill>
                <a:srgbClr val="000000"/>
              </a:solidFill>
              <a:latin typeface="Poppins"/>
              <a:ea typeface="Poppins"/>
              <a:cs typeface="Poppins"/>
              <a:sym typeface="Poppins"/>
            </a:endParaRPr>
          </a:p>
        </p:txBody>
      </p:sp>
      <p:pic>
        <p:nvPicPr>
          <p:cNvPr id="309" name="Google Shape;309;p49" descr="Google Cloud Platform · GitHub"/>
          <p:cNvPicPr preferRelativeResize="0"/>
          <p:nvPr/>
        </p:nvPicPr>
        <p:blipFill rotWithShape="1">
          <a:blip r:embed="rId6">
            <a:alphaModFix/>
          </a:blip>
          <a:srcRect/>
          <a:stretch/>
        </p:blipFill>
        <p:spPr>
          <a:xfrm>
            <a:off x="299754" y="1614903"/>
            <a:ext cx="209362" cy="211780"/>
          </a:xfrm>
          <a:prstGeom prst="rect">
            <a:avLst/>
          </a:prstGeom>
          <a:noFill/>
          <a:ln>
            <a:noFill/>
          </a:ln>
        </p:spPr>
      </p:pic>
      <p:sp>
        <p:nvSpPr>
          <p:cNvPr id="310" name="Google Shape;310;p49"/>
          <p:cNvSpPr txBox="1"/>
          <p:nvPr/>
        </p:nvSpPr>
        <p:spPr>
          <a:xfrm>
            <a:off x="594173" y="1958244"/>
            <a:ext cx="20517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900" b="0" i="0" u="none" strike="noStrike" cap="none">
                <a:solidFill>
                  <a:srgbClr val="00113E"/>
                </a:solidFill>
                <a:latin typeface="Poppins"/>
                <a:ea typeface="Poppins"/>
                <a:cs typeface="Poppins"/>
                <a:sym typeface="Poppins"/>
              </a:rPr>
              <a:t>{{C_AZ}} Azure Connectors</a:t>
            </a:r>
            <a:endParaRPr sz="900" b="0" i="0" u="none" strike="noStrike" cap="none">
              <a:solidFill>
                <a:srgbClr val="000000"/>
              </a:solidFill>
              <a:latin typeface="Poppins"/>
              <a:ea typeface="Poppins"/>
              <a:cs typeface="Poppins"/>
              <a:sym typeface="Poppins"/>
            </a:endParaRPr>
          </a:p>
        </p:txBody>
      </p:sp>
      <p:pic>
        <p:nvPicPr>
          <p:cNvPr id="311" name="Google Shape;311;p49"/>
          <p:cNvPicPr preferRelativeResize="0"/>
          <p:nvPr/>
        </p:nvPicPr>
        <p:blipFill rotWithShape="1">
          <a:blip r:embed="rId7">
            <a:alphaModFix/>
          </a:blip>
          <a:srcRect/>
          <a:stretch/>
        </p:blipFill>
        <p:spPr>
          <a:xfrm>
            <a:off x="299673" y="1970401"/>
            <a:ext cx="209525" cy="185367"/>
          </a:xfrm>
          <a:prstGeom prst="rect">
            <a:avLst/>
          </a:prstGeom>
          <a:noFill/>
          <a:ln>
            <a:noFill/>
          </a:ln>
        </p:spPr>
      </p:pic>
      <p:grpSp>
        <p:nvGrpSpPr>
          <p:cNvPr id="312" name="Google Shape;312;p49"/>
          <p:cNvGrpSpPr/>
          <p:nvPr/>
        </p:nvGrpSpPr>
        <p:grpSpPr>
          <a:xfrm>
            <a:off x="240579" y="3445870"/>
            <a:ext cx="327712" cy="372880"/>
            <a:chOff x="6153425" y="3541954"/>
            <a:chExt cx="540155" cy="607594"/>
          </a:xfrm>
        </p:grpSpPr>
        <p:grpSp>
          <p:nvGrpSpPr>
            <p:cNvPr id="313" name="Google Shape;313;p49"/>
            <p:cNvGrpSpPr/>
            <p:nvPr/>
          </p:nvGrpSpPr>
          <p:grpSpPr>
            <a:xfrm>
              <a:off x="6302419" y="3759933"/>
              <a:ext cx="246143" cy="246517"/>
              <a:chOff x="6996063" y="371043"/>
              <a:chExt cx="3423407" cy="3428610"/>
            </a:xfrm>
          </p:grpSpPr>
          <p:grpSp>
            <p:nvGrpSpPr>
              <p:cNvPr id="314" name="Google Shape;314;p49"/>
              <p:cNvGrpSpPr/>
              <p:nvPr/>
            </p:nvGrpSpPr>
            <p:grpSpPr>
              <a:xfrm>
                <a:off x="7365704" y="1326099"/>
                <a:ext cx="2559934" cy="2230430"/>
                <a:chOff x="7359949" y="1328909"/>
                <a:chExt cx="2559934" cy="2230430"/>
              </a:xfrm>
            </p:grpSpPr>
            <p:sp>
              <p:nvSpPr>
                <p:cNvPr id="315" name="Google Shape;315;p49"/>
                <p:cNvSpPr/>
                <p:nvPr/>
              </p:nvSpPr>
              <p:spPr>
                <a:xfrm rot="-1800156">
                  <a:off x="7697610" y="1838146"/>
                  <a:ext cx="901729" cy="1592176"/>
                </a:xfrm>
                <a:prstGeom prst="diamond">
                  <a:avLst/>
                </a:prstGeom>
                <a:solidFill>
                  <a:srgbClr val="0FB2F2"/>
                </a:solidFill>
                <a:ln>
                  <a:noFill/>
                </a:ln>
              </p:spPr>
              <p:txBody>
                <a:bodyPr spcFirstLastPara="1" wrap="square" lIns="33900" tIns="16950" rIns="33900" bIns="16950" anchor="ctr" anchorCtr="0">
                  <a:noAutofit/>
                </a:bodyPr>
                <a:lstStyle/>
                <a:p>
                  <a:pPr marL="0" marR="0" lvl="0" indent="0" algn="ctr" rtl="0">
                    <a:lnSpc>
                      <a:spcPct val="100000"/>
                    </a:lnSpc>
                    <a:spcBef>
                      <a:spcPts val="0"/>
                    </a:spcBef>
                    <a:spcAft>
                      <a:spcPts val="0"/>
                    </a:spcAft>
                    <a:buClr>
                      <a:srgbClr val="FFFFFF"/>
                    </a:buClr>
                    <a:buSzPts val="667"/>
                    <a:buFont typeface="Calibri"/>
                    <a:buNone/>
                  </a:pPr>
                  <a:endParaRPr sz="485" b="0" i="0" u="none" strike="noStrike" cap="none">
                    <a:solidFill>
                      <a:srgbClr val="00113E"/>
                    </a:solidFill>
                    <a:latin typeface="DM Sans"/>
                    <a:ea typeface="DM Sans"/>
                    <a:cs typeface="DM Sans"/>
                    <a:sym typeface="DM Sans"/>
                  </a:endParaRPr>
                </a:p>
              </p:txBody>
            </p:sp>
            <p:sp>
              <p:nvSpPr>
                <p:cNvPr id="316" name="Google Shape;316;p49"/>
                <p:cNvSpPr/>
                <p:nvPr/>
              </p:nvSpPr>
              <p:spPr>
                <a:xfrm rot="5400000">
                  <a:off x="8189014" y="983759"/>
                  <a:ext cx="901800" cy="1592100"/>
                </a:xfrm>
                <a:prstGeom prst="diamond">
                  <a:avLst/>
                </a:prstGeom>
                <a:solidFill>
                  <a:srgbClr val="0FB2F2"/>
                </a:solidFill>
                <a:ln>
                  <a:noFill/>
                </a:ln>
              </p:spPr>
              <p:txBody>
                <a:bodyPr spcFirstLastPara="1" wrap="square" lIns="33900" tIns="16950" rIns="33900" bIns="16950" anchor="ctr" anchorCtr="0">
                  <a:noAutofit/>
                </a:bodyPr>
                <a:lstStyle/>
                <a:p>
                  <a:pPr marL="0" marR="0" lvl="0" indent="0" algn="ctr" rtl="0">
                    <a:lnSpc>
                      <a:spcPct val="100000"/>
                    </a:lnSpc>
                    <a:spcBef>
                      <a:spcPts val="0"/>
                    </a:spcBef>
                    <a:spcAft>
                      <a:spcPts val="0"/>
                    </a:spcAft>
                    <a:buClr>
                      <a:srgbClr val="FFFFFF"/>
                    </a:buClr>
                    <a:buSzPts val="667"/>
                    <a:buFont typeface="Calibri"/>
                    <a:buNone/>
                  </a:pPr>
                  <a:endParaRPr sz="485" b="0" i="0" u="none" strike="noStrike" cap="none">
                    <a:solidFill>
                      <a:srgbClr val="00113E"/>
                    </a:solidFill>
                    <a:latin typeface="DM Sans"/>
                    <a:ea typeface="DM Sans"/>
                    <a:cs typeface="DM Sans"/>
                    <a:sym typeface="DM Sans"/>
                  </a:endParaRPr>
                </a:p>
              </p:txBody>
            </p:sp>
            <p:sp>
              <p:nvSpPr>
                <p:cNvPr id="317" name="Google Shape;317;p49"/>
                <p:cNvSpPr/>
                <p:nvPr/>
              </p:nvSpPr>
              <p:spPr>
                <a:xfrm rot="-8999844">
                  <a:off x="8680494" y="1848387"/>
                  <a:ext cx="901729" cy="1592176"/>
                </a:xfrm>
                <a:prstGeom prst="diamond">
                  <a:avLst/>
                </a:prstGeom>
                <a:solidFill>
                  <a:srgbClr val="0FB2F2"/>
                </a:solidFill>
                <a:ln>
                  <a:noFill/>
                </a:ln>
              </p:spPr>
              <p:txBody>
                <a:bodyPr spcFirstLastPara="1" wrap="square" lIns="33900" tIns="16950" rIns="33900" bIns="16950" anchor="ctr" anchorCtr="0">
                  <a:noAutofit/>
                </a:bodyPr>
                <a:lstStyle/>
                <a:p>
                  <a:pPr marL="0" marR="0" lvl="0" indent="0" algn="ctr" rtl="0">
                    <a:lnSpc>
                      <a:spcPct val="100000"/>
                    </a:lnSpc>
                    <a:spcBef>
                      <a:spcPts val="0"/>
                    </a:spcBef>
                    <a:spcAft>
                      <a:spcPts val="0"/>
                    </a:spcAft>
                    <a:buClr>
                      <a:srgbClr val="FFFFFF"/>
                    </a:buClr>
                    <a:buSzPts val="667"/>
                    <a:buFont typeface="Calibri"/>
                    <a:buNone/>
                  </a:pPr>
                  <a:endParaRPr sz="485" b="0" i="0" u="none" strike="noStrike" cap="none">
                    <a:solidFill>
                      <a:srgbClr val="00113E"/>
                    </a:solidFill>
                    <a:latin typeface="DM Sans"/>
                    <a:ea typeface="DM Sans"/>
                    <a:cs typeface="DM Sans"/>
                    <a:sym typeface="DM Sans"/>
                  </a:endParaRPr>
                </a:p>
              </p:txBody>
            </p:sp>
          </p:grpSp>
          <p:sp>
            <p:nvSpPr>
              <p:cNvPr id="318" name="Google Shape;318;p49"/>
              <p:cNvSpPr/>
              <p:nvPr/>
            </p:nvSpPr>
            <p:spPr>
              <a:xfrm rot="5400000">
                <a:off x="6993462" y="373644"/>
                <a:ext cx="3428610" cy="3423407"/>
              </a:xfrm>
              <a:custGeom>
                <a:avLst/>
                <a:gdLst/>
                <a:ahLst/>
                <a:cxnLst/>
                <a:rect l="l" t="t" r="r" b="b"/>
                <a:pathLst>
                  <a:path w="4021830" h="3547572" extrusionOk="0">
                    <a:moveTo>
                      <a:pt x="438870" y="1773786"/>
                    </a:moveTo>
                    <a:lnTo>
                      <a:pt x="1231625" y="3181575"/>
                    </a:lnTo>
                    <a:lnTo>
                      <a:pt x="2790205" y="3181575"/>
                    </a:lnTo>
                    <a:lnTo>
                      <a:pt x="3582960" y="1773786"/>
                    </a:lnTo>
                    <a:lnTo>
                      <a:pt x="2790205" y="365997"/>
                    </a:lnTo>
                    <a:lnTo>
                      <a:pt x="1231625" y="365997"/>
                    </a:lnTo>
                    <a:close/>
                    <a:moveTo>
                      <a:pt x="0" y="1773786"/>
                    </a:moveTo>
                    <a:lnTo>
                      <a:pt x="998855" y="0"/>
                    </a:lnTo>
                    <a:lnTo>
                      <a:pt x="3022975" y="0"/>
                    </a:lnTo>
                    <a:lnTo>
                      <a:pt x="4021830" y="1773786"/>
                    </a:lnTo>
                    <a:lnTo>
                      <a:pt x="3022975" y="3547572"/>
                    </a:lnTo>
                    <a:lnTo>
                      <a:pt x="998855" y="3547572"/>
                    </a:lnTo>
                    <a:close/>
                  </a:path>
                </a:pathLst>
              </a:custGeom>
              <a:solidFill>
                <a:srgbClr val="0FB2F2"/>
              </a:solidFill>
              <a:ln>
                <a:noFill/>
              </a:ln>
            </p:spPr>
            <p:txBody>
              <a:bodyPr spcFirstLastPara="1" wrap="square" lIns="33900" tIns="16950" rIns="33900" bIns="16950" anchor="ctr" anchorCtr="0">
                <a:noAutofit/>
              </a:bodyPr>
              <a:lstStyle/>
              <a:p>
                <a:pPr marL="0" marR="0" lvl="0" indent="0" algn="ctr" rtl="0">
                  <a:lnSpc>
                    <a:spcPct val="100000"/>
                  </a:lnSpc>
                  <a:spcBef>
                    <a:spcPts val="0"/>
                  </a:spcBef>
                  <a:spcAft>
                    <a:spcPts val="0"/>
                  </a:spcAft>
                  <a:buClr>
                    <a:srgbClr val="FFFFFF"/>
                  </a:buClr>
                  <a:buSzPts val="667"/>
                  <a:buFont typeface="Calibri"/>
                  <a:buNone/>
                </a:pPr>
                <a:endParaRPr sz="485" b="0" i="0" u="none" strike="noStrike" cap="none">
                  <a:solidFill>
                    <a:srgbClr val="00113E"/>
                  </a:solidFill>
                  <a:latin typeface="DM Sans"/>
                  <a:ea typeface="DM Sans"/>
                  <a:cs typeface="DM Sans"/>
                  <a:sym typeface="DM Sans"/>
                </a:endParaRPr>
              </a:p>
            </p:txBody>
          </p:sp>
          <p:sp>
            <p:nvSpPr>
              <p:cNvPr id="319" name="Google Shape;319;p49"/>
              <p:cNvSpPr/>
              <p:nvPr/>
            </p:nvSpPr>
            <p:spPr>
              <a:xfrm>
                <a:off x="8550588" y="665584"/>
                <a:ext cx="190200" cy="854100"/>
              </a:xfrm>
              <a:prstGeom prst="rect">
                <a:avLst/>
              </a:prstGeom>
              <a:solidFill>
                <a:srgbClr val="0FB2F2"/>
              </a:solidFill>
              <a:ln>
                <a:noFill/>
              </a:ln>
            </p:spPr>
            <p:txBody>
              <a:bodyPr spcFirstLastPara="1" wrap="square" lIns="33900" tIns="16950" rIns="33900" bIns="16950" anchor="ctr" anchorCtr="0">
                <a:noAutofit/>
              </a:bodyPr>
              <a:lstStyle/>
              <a:p>
                <a:pPr marL="0" marR="0" lvl="0" indent="0" algn="ctr" rtl="0">
                  <a:lnSpc>
                    <a:spcPct val="100000"/>
                  </a:lnSpc>
                  <a:spcBef>
                    <a:spcPts val="0"/>
                  </a:spcBef>
                  <a:spcAft>
                    <a:spcPts val="0"/>
                  </a:spcAft>
                  <a:buClr>
                    <a:srgbClr val="FFFFFF"/>
                  </a:buClr>
                  <a:buSzPts val="667"/>
                  <a:buFont typeface="Calibri"/>
                  <a:buNone/>
                </a:pPr>
                <a:endParaRPr sz="485" b="0" i="0" u="none" strike="noStrike" cap="none">
                  <a:solidFill>
                    <a:srgbClr val="00113E"/>
                  </a:solidFill>
                  <a:latin typeface="DM Sans"/>
                  <a:ea typeface="DM Sans"/>
                  <a:cs typeface="DM Sans"/>
                  <a:sym typeface="DM Sans"/>
                </a:endParaRPr>
              </a:p>
            </p:txBody>
          </p:sp>
          <p:sp>
            <p:nvSpPr>
              <p:cNvPr id="320" name="Google Shape;320;p49"/>
              <p:cNvSpPr/>
              <p:nvPr/>
            </p:nvSpPr>
            <p:spPr>
              <a:xfrm rot="7200163">
                <a:off x="9706081" y="2593755"/>
                <a:ext cx="190184" cy="853876"/>
              </a:xfrm>
              <a:prstGeom prst="rect">
                <a:avLst/>
              </a:prstGeom>
              <a:solidFill>
                <a:srgbClr val="0FB2F2"/>
              </a:solidFill>
              <a:ln>
                <a:noFill/>
              </a:ln>
            </p:spPr>
            <p:txBody>
              <a:bodyPr spcFirstLastPara="1" wrap="square" lIns="33900" tIns="16950" rIns="33900" bIns="16950" anchor="ctr" anchorCtr="0">
                <a:noAutofit/>
              </a:bodyPr>
              <a:lstStyle/>
              <a:p>
                <a:pPr marL="0" marR="0" lvl="0" indent="0" algn="ctr" rtl="0">
                  <a:lnSpc>
                    <a:spcPct val="100000"/>
                  </a:lnSpc>
                  <a:spcBef>
                    <a:spcPts val="0"/>
                  </a:spcBef>
                  <a:spcAft>
                    <a:spcPts val="0"/>
                  </a:spcAft>
                  <a:buClr>
                    <a:srgbClr val="FFFFFF"/>
                  </a:buClr>
                  <a:buSzPts val="667"/>
                  <a:buFont typeface="Calibri"/>
                  <a:buNone/>
                </a:pPr>
                <a:endParaRPr sz="485" b="0" i="0" u="none" strike="noStrike" cap="none">
                  <a:solidFill>
                    <a:srgbClr val="00113E"/>
                  </a:solidFill>
                  <a:latin typeface="DM Sans"/>
                  <a:ea typeface="DM Sans"/>
                  <a:cs typeface="DM Sans"/>
                  <a:sym typeface="DM Sans"/>
                </a:endParaRPr>
              </a:p>
            </p:txBody>
          </p:sp>
          <p:sp>
            <p:nvSpPr>
              <p:cNvPr id="321" name="Google Shape;321;p49"/>
              <p:cNvSpPr/>
              <p:nvPr/>
            </p:nvSpPr>
            <p:spPr>
              <a:xfrm rot="-7200163">
                <a:off x="7397547" y="2579190"/>
                <a:ext cx="190184" cy="853876"/>
              </a:xfrm>
              <a:prstGeom prst="rect">
                <a:avLst/>
              </a:prstGeom>
              <a:solidFill>
                <a:srgbClr val="0FB2F2"/>
              </a:solidFill>
              <a:ln>
                <a:noFill/>
              </a:ln>
            </p:spPr>
            <p:txBody>
              <a:bodyPr spcFirstLastPara="1" wrap="square" lIns="33900" tIns="16950" rIns="33900" bIns="16950" anchor="ctr" anchorCtr="0">
                <a:noAutofit/>
              </a:bodyPr>
              <a:lstStyle/>
              <a:p>
                <a:pPr marL="0" marR="0" lvl="0" indent="0" algn="ctr" rtl="0">
                  <a:lnSpc>
                    <a:spcPct val="100000"/>
                  </a:lnSpc>
                  <a:spcBef>
                    <a:spcPts val="0"/>
                  </a:spcBef>
                  <a:spcAft>
                    <a:spcPts val="0"/>
                  </a:spcAft>
                  <a:buClr>
                    <a:srgbClr val="FFFFFF"/>
                  </a:buClr>
                  <a:buSzPts val="667"/>
                  <a:buFont typeface="Calibri"/>
                  <a:buNone/>
                </a:pPr>
                <a:endParaRPr sz="485" b="0" i="0" u="none" strike="noStrike" cap="none">
                  <a:solidFill>
                    <a:srgbClr val="00113E"/>
                  </a:solidFill>
                  <a:latin typeface="DM Sans"/>
                  <a:ea typeface="DM Sans"/>
                  <a:cs typeface="DM Sans"/>
                  <a:sym typeface="DM Sans"/>
                </a:endParaRPr>
              </a:p>
            </p:txBody>
          </p:sp>
        </p:grpSp>
        <p:pic>
          <p:nvPicPr>
            <p:cNvPr id="322" name="Google Shape;322;p49" descr="Serverless Containers | Scaleway"/>
            <p:cNvPicPr preferRelativeResize="0"/>
            <p:nvPr/>
          </p:nvPicPr>
          <p:blipFill rotWithShape="1">
            <a:blip r:embed="rId8">
              <a:alphaModFix/>
            </a:blip>
            <a:srcRect/>
            <a:stretch/>
          </p:blipFill>
          <p:spPr>
            <a:xfrm>
              <a:off x="6153425" y="3541954"/>
              <a:ext cx="540155" cy="607594"/>
            </a:xfrm>
            <a:prstGeom prst="rect">
              <a:avLst/>
            </a:prstGeom>
            <a:noFill/>
            <a:ln>
              <a:noFill/>
            </a:ln>
          </p:spPr>
        </p:pic>
      </p:grpSp>
      <p:pic>
        <p:nvPicPr>
          <p:cNvPr id="323" name="Google Shape;323;p49" descr="A blue hexagon with white text&#10;&#10;Description automatically generated"/>
          <p:cNvPicPr preferRelativeResize="0"/>
          <p:nvPr/>
        </p:nvPicPr>
        <p:blipFill rotWithShape="1">
          <a:blip r:embed="rId9">
            <a:alphaModFix/>
          </a:blip>
          <a:srcRect/>
          <a:stretch/>
        </p:blipFill>
        <p:spPr>
          <a:xfrm>
            <a:off x="281180" y="3165533"/>
            <a:ext cx="246510" cy="211566"/>
          </a:xfrm>
          <a:prstGeom prst="rect">
            <a:avLst/>
          </a:prstGeom>
          <a:noFill/>
          <a:ln>
            <a:noFill/>
          </a:ln>
        </p:spPr>
      </p:pic>
      <p:sp>
        <p:nvSpPr>
          <p:cNvPr id="324" name="Google Shape;324;p49"/>
          <p:cNvSpPr txBox="1"/>
          <p:nvPr/>
        </p:nvSpPr>
        <p:spPr>
          <a:xfrm>
            <a:off x="602752" y="3174368"/>
            <a:ext cx="20859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FF0000"/>
              </a:buClr>
              <a:buSzPts val="855"/>
              <a:buFont typeface="DM Sans"/>
              <a:buNone/>
            </a:pPr>
            <a:r>
              <a:rPr lang="en" sz="900" b="0" i="0" u="none" strike="noStrike" cap="none">
                <a:solidFill>
                  <a:srgbClr val="00113E"/>
                </a:solidFill>
                <a:latin typeface="Poppins"/>
                <a:ea typeface="Poppins"/>
                <a:cs typeface="Poppins"/>
                <a:sym typeface="Poppins"/>
              </a:rPr>
              <a:t>{{R_TOT}} Container Registries</a:t>
            </a:r>
            <a:endParaRPr sz="900" b="0" i="0" u="none" strike="noStrike" cap="none">
              <a:solidFill>
                <a:srgbClr val="000000"/>
              </a:solidFill>
              <a:latin typeface="Poppins"/>
              <a:ea typeface="Poppins"/>
              <a:cs typeface="Poppins"/>
              <a:sym typeface="Poppins"/>
            </a:endParaRPr>
          </a:p>
        </p:txBody>
      </p:sp>
      <p:sp>
        <p:nvSpPr>
          <p:cNvPr id="325" name="Google Shape;325;p49"/>
          <p:cNvSpPr txBox="1"/>
          <p:nvPr/>
        </p:nvSpPr>
        <p:spPr>
          <a:xfrm>
            <a:off x="99325" y="902925"/>
            <a:ext cx="2694900" cy="3132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400" b="0" i="0" u="none" strike="noStrike" cap="none">
                <a:solidFill>
                  <a:schemeClr val="dk1"/>
                </a:solidFill>
                <a:latin typeface="Poppins"/>
                <a:ea typeface="Poppins"/>
                <a:cs typeface="Poppins"/>
                <a:sym typeface="Poppins"/>
              </a:rPr>
              <a:t>Cloud Visibility</a:t>
            </a:r>
            <a:endParaRPr sz="1400" b="0" i="0" u="none" strike="noStrike" cap="none">
              <a:solidFill>
                <a:schemeClr val="dk1"/>
              </a:solidFill>
              <a:latin typeface="Poppins"/>
              <a:ea typeface="Poppins"/>
              <a:cs typeface="Poppins"/>
              <a:sym typeface="Poppins"/>
            </a:endParaRPr>
          </a:p>
        </p:txBody>
      </p:sp>
      <p:sp>
        <p:nvSpPr>
          <p:cNvPr id="326" name="Google Shape;326;p49"/>
          <p:cNvSpPr txBox="1"/>
          <p:nvPr/>
        </p:nvSpPr>
        <p:spPr>
          <a:xfrm>
            <a:off x="594175" y="3523023"/>
            <a:ext cx="20859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900" b="0" i="0" u="none" strike="noStrike" cap="none">
                <a:solidFill>
                  <a:srgbClr val="00113E"/>
                </a:solidFill>
                <a:latin typeface="Poppins"/>
                <a:ea typeface="Poppins"/>
                <a:cs typeface="Poppins"/>
                <a:sym typeface="Poppins"/>
              </a:rPr>
              <a:t>{{SERVERLESS_CT_COUNT}} Serverless Containers</a:t>
            </a:r>
            <a:endParaRPr sz="900" b="0" i="0" u="none" strike="noStrike" cap="none">
              <a:solidFill>
                <a:srgbClr val="00113E"/>
              </a:solidFill>
              <a:latin typeface="Poppins"/>
              <a:ea typeface="Poppins"/>
              <a:cs typeface="Poppins"/>
              <a:sym typeface="Poppins"/>
            </a:endParaRPr>
          </a:p>
        </p:txBody>
      </p:sp>
      <p:sp>
        <p:nvSpPr>
          <p:cNvPr id="327" name="Google Shape;327;p49"/>
          <p:cNvSpPr txBox="1"/>
          <p:nvPr/>
        </p:nvSpPr>
        <p:spPr>
          <a:xfrm>
            <a:off x="593145" y="4603900"/>
            <a:ext cx="21477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900" b="0" i="0" u="none" strike="noStrike" cap="none">
                <a:solidFill>
                  <a:srgbClr val="00113E"/>
                </a:solidFill>
                <a:latin typeface="Poppins"/>
                <a:ea typeface="Poppins"/>
                <a:cs typeface="Poppins"/>
                <a:sym typeface="Poppins"/>
              </a:rPr>
              <a:t>{{L_SE}} </a:t>
            </a:r>
            <a:br>
              <a:rPr lang="en" sz="900" b="0" i="0" u="none" strike="noStrike" cap="none">
                <a:solidFill>
                  <a:srgbClr val="00113E"/>
                </a:solidFill>
                <a:latin typeface="Poppins"/>
                <a:ea typeface="Poppins"/>
                <a:cs typeface="Poppins"/>
                <a:sym typeface="Poppins"/>
              </a:rPr>
            </a:br>
            <a:r>
              <a:rPr lang="en" sz="900" b="0" i="0" u="none" strike="noStrike" cap="none">
                <a:solidFill>
                  <a:srgbClr val="00113E"/>
                </a:solidFill>
                <a:latin typeface="Poppins"/>
                <a:ea typeface="Poppins"/>
                <a:cs typeface="Poppins"/>
                <a:sym typeface="Poppins"/>
              </a:rPr>
              <a:t>Wiz Runtime Sensors Deployed</a:t>
            </a:r>
            <a:endParaRPr sz="900" b="0" i="0" u="none" strike="noStrike" cap="none">
              <a:solidFill>
                <a:srgbClr val="000000"/>
              </a:solidFill>
              <a:latin typeface="Poppins"/>
              <a:ea typeface="Poppins"/>
              <a:cs typeface="Poppins"/>
              <a:sym typeface="Poppins"/>
            </a:endParaRPr>
          </a:p>
        </p:txBody>
      </p:sp>
      <p:pic>
        <p:nvPicPr>
          <p:cNvPr id="328" name="Google Shape;328;p49"/>
          <p:cNvPicPr preferRelativeResize="0"/>
          <p:nvPr/>
        </p:nvPicPr>
        <p:blipFill rotWithShape="1">
          <a:blip r:embed="rId10">
            <a:alphaModFix/>
          </a:blip>
          <a:srcRect/>
          <a:stretch/>
        </p:blipFill>
        <p:spPr>
          <a:xfrm>
            <a:off x="285915" y="4606907"/>
            <a:ext cx="216750" cy="245654"/>
          </a:xfrm>
          <a:prstGeom prst="rect">
            <a:avLst/>
          </a:prstGeom>
          <a:noFill/>
          <a:ln>
            <a:noFill/>
          </a:ln>
        </p:spPr>
      </p:pic>
      <p:sp>
        <p:nvSpPr>
          <p:cNvPr id="329" name="Google Shape;329;p49"/>
          <p:cNvSpPr txBox="1"/>
          <p:nvPr/>
        </p:nvSpPr>
        <p:spPr>
          <a:xfrm>
            <a:off x="590675" y="4214860"/>
            <a:ext cx="2213400" cy="1974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900" b="0" i="0" u="none" strike="noStrike" cap="none">
                <a:solidFill>
                  <a:srgbClr val="00113E"/>
                </a:solidFill>
                <a:latin typeface="Poppins"/>
                <a:ea typeface="Poppins"/>
                <a:cs typeface="Poppins"/>
                <a:sym typeface="Poppins"/>
              </a:rPr>
              <a:t>{{CON_WE}} Connectors With Cloud Events</a:t>
            </a:r>
            <a:br>
              <a:rPr lang="en" sz="900" b="0" i="0" u="none" strike="noStrike" cap="none">
                <a:solidFill>
                  <a:srgbClr val="00113E"/>
                </a:solidFill>
                <a:latin typeface="Poppins"/>
                <a:ea typeface="Poppins"/>
                <a:cs typeface="Poppins"/>
                <a:sym typeface="Poppins"/>
              </a:rPr>
            </a:br>
            <a:r>
              <a:rPr lang="en" sz="900" b="0" i="0" u="none" strike="noStrike" cap="none">
                <a:solidFill>
                  <a:srgbClr val="00113E"/>
                </a:solidFill>
                <a:latin typeface="Poppins"/>
                <a:ea typeface="Poppins"/>
                <a:cs typeface="Poppins"/>
                <a:sym typeface="Poppins"/>
              </a:rPr>
              <a:t>{{CON_NE}} Connectors Without</a:t>
            </a:r>
            <a:endParaRPr sz="900" b="0" i="0" u="none" strike="noStrike" cap="none">
              <a:solidFill>
                <a:srgbClr val="000000"/>
              </a:solidFill>
              <a:latin typeface="Poppins"/>
              <a:ea typeface="Poppins"/>
              <a:cs typeface="Poppins"/>
              <a:sym typeface="Poppins"/>
            </a:endParaRPr>
          </a:p>
        </p:txBody>
      </p:sp>
      <p:pic>
        <p:nvPicPr>
          <p:cNvPr id="330" name="Google Shape;330;p49"/>
          <p:cNvPicPr preferRelativeResize="0"/>
          <p:nvPr/>
        </p:nvPicPr>
        <p:blipFill rotWithShape="1">
          <a:blip r:embed="rId11">
            <a:alphaModFix/>
          </a:blip>
          <a:srcRect/>
          <a:stretch/>
        </p:blipFill>
        <p:spPr>
          <a:xfrm>
            <a:off x="260656" y="4232746"/>
            <a:ext cx="287558" cy="276456"/>
          </a:xfrm>
          <a:prstGeom prst="rect">
            <a:avLst/>
          </a:prstGeom>
          <a:noFill/>
          <a:ln>
            <a:noFill/>
          </a:ln>
        </p:spPr>
      </p:pic>
      <p:pic>
        <p:nvPicPr>
          <p:cNvPr id="331" name="Google Shape;331;p49"/>
          <p:cNvPicPr preferRelativeResize="0"/>
          <p:nvPr/>
        </p:nvPicPr>
        <p:blipFill rotWithShape="1">
          <a:blip r:embed="rId3">
            <a:alphaModFix/>
          </a:blip>
          <a:srcRect/>
          <a:stretch/>
        </p:blipFill>
        <p:spPr>
          <a:xfrm>
            <a:off x="2972000" y="820225"/>
            <a:ext cx="2879650" cy="2923377"/>
          </a:xfrm>
          <a:prstGeom prst="rect">
            <a:avLst/>
          </a:prstGeom>
          <a:noFill/>
          <a:ln>
            <a:noFill/>
          </a:ln>
        </p:spPr>
      </p:pic>
      <p:sp>
        <p:nvSpPr>
          <p:cNvPr id="332" name="Google Shape;332;p49"/>
          <p:cNvSpPr txBox="1"/>
          <p:nvPr/>
        </p:nvSpPr>
        <p:spPr>
          <a:xfrm>
            <a:off x="2972075" y="829568"/>
            <a:ext cx="2879700" cy="3132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400" b="0" i="0" u="sng" strike="noStrike" cap="none">
                <a:solidFill>
                  <a:srgbClr val="0254EC"/>
                </a:solidFill>
                <a:latin typeface="Poppins"/>
                <a:ea typeface="Poppins"/>
                <a:cs typeface="Poppins"/>
                <a:sym typeface="Poppins"/>
                <a:hlinkClick r:id="rId12">
                  <a:extLst>
                    <a:ext uri="{A12FA001-AC4F-418D-AE19-62706E023703}">
                      <ahyp:hlinkClr xmlns:ahyp="http://schemas.microsoft.com/office/drawing/2018/hyperlinkcolor" val="tx"/>
                    </a:ext>
                  </a:extLst>
                </a:hlinkClick>
              </a:rPr>
              <a:t>Deployments / Connectors</a:t>
            </a:r>
            <a:r>
              <a:rPr lang="en" sz="1400" b="0" i="0" u="none" strike="noStrike" cap="none">
                <a:solidFill>
                  <a:srgbClr val="0254EC"/>
                </a:solidFill>
                <a:latin typeface="Poppins"/>
                <a:ea typeface="Poppins"/>
                <a:cs typeface="Poppins"/>
                <a:sym typeface="Poppins"/>
              </a:rPr>
              <a:t> </a:t>
            </a:r>
            <a:r>
              <a:rPr lang="en" sz="1500" b="0" i="0" u="none" strike="noStrike" cap="none">
                <a:solidFill>
                  <a:srgbClr val="0254EC"/>
                </a:solidFill>
                <a:uFill>
                  <a:noFill/>
                </a:uFill>
                <a:latin typeface="Poppins Medium"/>
                <a:ea typeface="Poppins Medium"/>
                <a:cs typeface="Poppins Medium"/>
                <a:sym typeface="Poppins Medium"/>
                <a:hlinkClick r:id="rId13">
                  <a:extLst>
                    <a:ext uri="{A12FA001-AC4F-418D-AE19-62706E023703}">
                      <ahyp:hlinkClr xmlns:ahyp="http://schemas.microsoft.com/office/drawing/2018/hyperlinkcolor" val="tx"/>
                    </a:ext>
                  </a:extLst>
                </a:hlinkClick>
              </a:rPr>
              <a:t>↗</a:t>
            </a:r>
            <a:endParaRPr sz="1400" b="0" i="0" u="none" strike="noStrike" cap="none">
              <a:solidFill>
                <a:srgbClr val="0254EC"/>
              </a:solidFill>
              <a:latin typeface="Poppins"/>
              <a:ea typeface="Poppins"/>
              <a:cs typeface="Poppins"/>
              <a:sym typeface="Poppins"/>
            </a:endParaRPr>
          </a:p>
        </p:txBody>
      </p:sp>
      <p:sp>
        <p:nvSpPr>
          <p:cNvPr id="333" name="Google Shape;333;p49"/>
          <p:cNvSpPr/>
          <p:nvPr/>
        </p:nvSpPr>
        <p:spPr>
          <a:xfrm>
            <a:off x="4494205" y="1157402"/>
            <a:ext cx="1168200" cy="4299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{{CON_EN}} </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Active Connectors</a:t>
            </a:r>
            <a:endParaRPr sz="700" b="0" i="0" u="none" strike="noStrike" cap="none">
              <a:solidFill>
                <a:srgbClr val="00113E"/>
              </a:solidFill>
              <a:latin typeface="Poppins Light"/>
              <a:ea typeface="Poppins Light"/>
              <a:cs typeface="Poppins Light"/>
              <a:sym typeface="Poppins Light"/>
            </a:endParaRPr>
          </a:p>
        </p:txBody>
      </p:sp>
      <p:sp>
        <p:nvSpPr>
          <p:cNvPr id="334" name="Google Shape;334;p49"/>
          <p:cNvSpPr/>
          <p:nvPr/>
        </p:nvSpPr>
        <p:spPr>
          <a:xfrm>
            <a:off x="4494205" y="1683395"/>
            <a:ext cx="1168200" cy="4299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{{CON_VCS}}</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VCS Connectors</a:t>
            </a:r>
            <a:endParaRPr sz="700" b="0" i="0" u="none" strike="noStrike" cap="none">
              <a:solidFill>
                <a:srgbClr val="00113E"/>
              </a:solidFill>
              <a:latin typeface="Poppins Light"/>
              <a:ea typeface="Poppins Light"/>
              <a:cs typeface="Poppins Light"/>
              <a:sym typeface="Poppins Light"/>
            </a:endParaRPr>
          </a:p>
        </p:txBody>
      </p:sp>
      <p:sp>
        <p:nvSpPr>
          <p:cNvPr id="335" name="Google Shape;335;p49"/>
          <p:cNvSpPr/>
          <p:nvPr/>
        </p:nvSpPr>
        <p:spPr>
          <a:xfrm>
            <a:off x="3195369" y="1153399"/>
            <a:ext cx="1168200" cy="4278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{{CON_TOT}} </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Total Connectors</a:t>
            </a:r>
            <a:endParaRPr sz="700" b="0" i="0" u="none" strike="noStrike" cap="none">
              <a:solidFill>
                <a:srgbClr val="00113E"/>
              </a:solidFill>
              <a:latin typeface="Poppins Light"/>
              <a:ea typeface="Poppins Light"/>
              <a:cs typeface="Poppins Light"/>
              <a:sym typeface="Poppins Light"/>
            </a:endParaRPr>
          </a:p>
        </p:txBody>
      </p:sp>
      <p:sp>
        <p:nvSpPr>
          <p:cNvPr id="336" name="Google Shape;336;p49"/>
          <p:cNvSpPr/>
          <p:nvPr/>
        </p:nvSpPr>
        <p:spPr>
          <a:xfrm>
            <a:off x="3195369" y="1681109"/>
            <a:ext cx="1168200" cy="4278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{{OUT_DEP}} </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Outpost Deployments</a:t>
            </a:r>
            <a:endParaRPr sz="700" b="0" i="0" u="none" strike="noStrike" cap="none">
              <a:solidFill>
                <a:srgbClr val="00113E"/>
              </a:solidFill>
              <a:latin typeface="Poppins Light"/>
              <a:ea typeface="Poppins Light"/>
              <a:cs typeface="Poppins Light"/>
              <a:sym typeface="Poppins Light"/>
            </a:endParaRPr>
          </a:p>
        </p:txBody>
      </p:sp>
      <p:sp>
        <p:nvSpPr>
          <p:cNvPr id="337" name="Google Shape;337;p49"/>
          <p:cNvSpPr/>
          <p:nvPr/>
        </p:nvSpPr>
        <p:spPr>
          <a:xfrm>
            <a:off x="3201552" y="2208819"/>
            <a:ext cx="1168200" cy="4299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{{CON_DIS}} </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Inactive Connectors</a:t>
            </a:r>
            <a:endParaRPr sz="700" b="0" i="0" u="none" strike="noStrike" cap="none">
              <a:solidFill>
                <a:srgbClr val="00113E"/>
              </a:solidFill>
              <a:latin typeface="Poppins Light"/>
              <a:ea typeface="Poppins Light"/>
              <a:cs typeface="Poppins Light"/>
              <a:sym typeface="Poppins Light"/>
            </a:endParaRPr>
          </a:p>
        </p:txBody>
      </p:sp>
      <p:sp>
        <p:nvSpPr>
          <p:cNvPr id="338" name="Google Shape;338;p49"/>
          <p:cNvSpPr/>
          <p:nvPr/>
        </p:nvSpPr>
        <p:spPr>
          <a:xfrm>
            <a:off x="4500405" y="2209388"/>
            <a:ext cx="1170300" cy="4299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175" tIns="91175" rIns="91175" bIns="91175" anchor="ctr" anchorCtr="0">
            <a:noAutofit/>
          </a:bodyPr>
          <a:lstStyle/>
          <a:p>
            <a:pPr marL="0" marR="0" lvl="0" indent="0" algn="ctr" rtl="0">
              <a:lnSpc>
                <a:spcPct val="100000"/>
              </a:lnSpc>
              <a:spcBef>
                <a:spcPts val="0"/>
              </a:spcBef>
              <a:spcAft>
                <a:spcPts val="0"/>
              </a:spcAft>
              <a:buClr>
                <a:srgbClr val="000000"/>
              </a:buClr>
              <a:buSzPts val="698"/>
              <a:buFont typeface="Arial"/>
              <a:buNone/>
            </a:pPr>
            <a:r>
              <a:rPr lang="en" sz="698" b="0" i="0" u="none" strike="noStrike" cap="none">
                <a:solidFill>
                  <a:srgbClr val="00113E"/>
                </a:solidFill>
                <a:latin typeface="Poppins Light"/>
                <a:ea typeface="Poppins Light"/>
                <a:cs typeface="Poppins Light"/>
                <a:sym typeface="Poppins Light"/>
              </a:rPr>
              <a:t>{{CON_BRO}}</a:t>
            </a:r>
            <a:br>
              <a:rPr lang="en" sz="698" b="0" i="0" u="none" strike="noStrike" cap="none">
                <a:solidFill>
                  <a:srgbClr val="00113E"/>
                </a:solidFill>
                <a:latin typeface="Poppins Light"/>
                <a:ea typeface="Poppins Light"/>
                <a:cs typeface="Poppins Light"/>
                <a:sym typeface="Poppins Light"/>
              </a:rPr>
            </a:br>
            <a:r>
              <a:rPr lang="en" sz="698" b="0" i="0" u="none" strike="noStrike" cap="none">
                <a:solidFill>
                  <a:srgbClr val="00113E"/>
                </a:solidFill>
                <a:latin typeface="Poppins Light"/>
                <a:ea typeface="Poppins Light"/>
                <a:cs typeface="Poppins Light"/>
                <a:sym typeface="Poppins Light"/>
              </a:rPr>
              <a:t>Broker Deployments</a:t>
            </a:r>
            <a:endParaRPr sz="698" b="0" i="0" u="none" strike="noStrike" cap="none">
              <a:solidFill>
                <a:srgbClr val="00113E"/>
              </a:solidFill>
              <a:latin typeface="Poppins Light"/>
              <a:ea typeface="Poppins Light"/>
              <a:cs typeface="Poppins Light"/>
              <a:sym typeface="Poppins Light"/>
            </a:endParaRPr>
          </a:p>
        </p:txBody>
      </p:sp>
      <p:sp>
        <p:nvSpPr>
          <p:cNvPr id="339" name="Google Shape;339;p49"/>
          <p:cNvSpPr/>
          <p:nvPr/>
        </p:nvSpPr>
        <p:spPr>
          <a:xfrm>
            <a:off x="3201552" y="2738628"/>
            <a:ext cx="1168200" cy="4299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{{CON_R}} </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Registry Connectors</a:t>
            </a:r>
            <a:endParaRPr sz="700" b="0" i="0" u="none" strike="noStrike" cap="none">
              <a:solidFill>
                <a:srgbClr val="00113E"/>
              </a:solidFill>
              <a:latin typeface="Poppins Light"/>
              <a:ea typeface="Poppins Light"/>
              <a:cs typeface="Poppins Light"/>
              <a:sym typeface="Poppins Light"/>
            </a:endParaRPr>
          </a:p>
        </p:txBody>
      </p:sp>
      <p:sp>
        <p:nvSpPr>
          <p:cNvPr id="340" name="Google Shape;340;p49"/>
          <p:cNvSpPr/>
          <p:nvPr/>
        </p:nvSpPr>
        <p:spPr>
          <a:xfrm>
            <a:off x="4500395" y="2735381"/>
            <a:ext cx="1168200" cy="4299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{{CON_K8S}} </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Kubernetes Connectors</a:t>
            </a:r>
            <a:endParaRPr sz="700" b="0" i="0" u="none" strike="noStrike" cap="none">
              <a:solidFill>
                <a:srgbClr val="00113E"/>
              </a:solidFill>
              <a:latin typeface="Poppins Light"/>
              <a:ea typeface="Poppins Light"/>
              <a:cs typeface="Poppins Light"/>
              <a:sym typeface="Poppins Light"/>
            </a:endParaRPr>
          </a:p>
        </p:txBody>
      </p:sp>
      <p:pic>
        <p:nvPicPr>
          <p:cNvPr id="341" name="Google Shape;341;p49"/>
          <p:cNvPicPr preferRelativeResize="0"/>
          <p:nvPr/>
        </p:nvPicPr>
        <p:blipFill rotWithShape="1">
          <a:blip r:embed="rId3">
            <a:alphaModFix/>
          </a:blip>
          <a:srcRect/>
          <a:stretch/>
        </p:blipFill>
        <p:spPr>
          <a:xfrm>
            <a:off x="5999925" y="828800"/>
            <a:ext cx="2958424" cy="2914801"/>
          </a:xfrm>
          <a:prstGeom prst="rect">
            <a:avLst/>
          </a:prstGeom>
          <a:noFill/>
          <a:ln>
            <a:noFill/>
          </a:ln>
        </p:spPr>
      </p:pic>
      <p:sp>
        <p:nvSpPr>
          <p:cNvPr id="342" name="Google Shape;342;p49"/>
          <p:cNvSpPr txBox="1"/>
          <p:nvPr/>
        </p:nvSpPr>
        <p:spPr>
          <a:xfrm>
            <a:off x="6027633" y="838143"/>
            <a:ext cx="2901413" cy="3132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400" b="0" i="0" u="sng" strike="noStrike" cap="none">
                <a:solidFill>
                  <a:srgbClr val="0254EC"/>
                </a:solidFill>
                <a:latin typeface="Poppins"/>
                <a:ea typeface="Poppins"/>
                <a:cs typeface="Poppins"/>
                <a:sym typeface="Poppins"/>
                <a:hlinkClick r:id="rId14">
                  <a:extLst>
                    <a:ext uri="{A12FA001-AC4F-418D-AE19-62706E023703}">
                      <ahyp:hlinkClr xmlns:ahyp="http://schemas.microsoft.com/office/drawing/2018/hyperlinkcolor" val="tx"/>
                    </a:ext>
                  </a:extLst>
                </a:hlinkClick>
              </a:rPr>
              <a:t>Cloud Events</a:t>
            </a:r>
            <a:r>
              <a:rPr lang="en" sz="1400" b="0" i="0" u="none" strike="noStrike" cap="none">
                <a:solidFill>
                  <a:srgbClr val="0254EC"/>
                </a:solidFill>
                <a:latin typeface="Arial"/>
                <a:ea typeface="Arial"/>
                <a:cs typeface="Arial"/>
                <a:sym typeface="Arial"/>
              </a:rPr>
              <a:t> </a:t>
            </a:r>
            <a:r>
              <a:rPr lang="en" sz="1500" b="0" i="0" u="none" strike="noStrike" cap="none">
                <a:solidFill>
                  <a:srgbClr val="0254EC"/>
                </a:solidFill>
                <a:uFill>
                  <a:noFill/>
                </a:uFill>
                <a:latin typeface="Poppins Medium"/>
                <a:ea typeface="Poppins Medium"/>
                <a:cs typeface="Poppins Medium"/>
                <a:sym typeface="Poppins Medium"/>
                <a:hlinkClick r:id="rId13">
                  <a:extLst>
                    <a:ext uri="{A12FA001-AC4F-418D-AE19-62706E023703}">
                      <ahyp:hlinkClr xmlns:ahyp="http://schemas.microsoft.com/office/drawing/2018/hyperlinkcolor" val="tx"/>
                    </a:ext>
                  </a:extLst>
                </a:hlinkClick>
              </a:rPr>
              <a:t>↗</a:t>
            </a:r>
            <a:endParaRPr sz="1400" b="0" i="0" u="none" strike="noStrike" cap="none">
              <a:solidFill>
                <a:srgbClr val="0254EC"/>
              </a:solidFill>
              <a:latin typeface="Poppins"/>
              <a:ea typeface="Poppins"/>
              <a:cs typeface="Poppins"/>
              <a:sym typeface="Poppins"/>
            </a:endParaRPr>
          </a:p>
        </p:txBody>
      </p:sp>
      <p:sp>
        <p:nvSpPr>
          <p:cNvPr id="343" name="Google Shape;343;p49"/>
          <p:cNvSpPr txBox="1"/>
          <p:nvPr/>
        </p:nvSpPr>
        <p:spPr>
          <a:xfrm>
            <a:off x="6015229" y="1319738"/>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DM Sans"/>
                <a:ea typeface="DM Sans"/>
                <a:cs typeface="DM Sans"/>
                <a:sym typeface="DM Sans"/>
              </a:rPr>
              <a:t>{{CLOUD_EVENTS_2}}</a:t>
            </a:r>
            <a:endParaRPr sz="800" b="0" i="0" u="none" strike="noStrike" cap="none">
              <a:solidFill>
                <a:srgbClr val="333333"/>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DM Sans"/>
              <a:ea typeface="DM Sans"/>
              <a:cs typeface="DM Sans"/>
              <a:sym typeface="DM Sans"/>
            </a:endParaRPr>
          </a:p>
        </p:txBody>
      </p:sp>
      <p:sp>
        <p:nvSpPr>
          <p:cNvPr id="344" name="Google Shape;344;p49"/>
          <p:cNvSpPr txBox="1"/>
          <p:nvPr/>
        </p:nvSpPr>
        <p:spPr>
          <a:xfrm>
            <a:off x="6015229" y="1514580"/>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DM Sans"/>
                <a:ea typeface="DM Sans"/>
                <a:cs typeface="DM Sans"/>
                <a:sym typeface="DM Sans"/>
              </a:rPr>
              <a:t>{{CLOUD_EVENTS_3}}</a:t>
            </a:r>
            <a:endParaRPr sz="800" b="0" i="0" u="none" strike="noStrike" cap="none">
              <a:solidFill>
                <a:srgbClr val="333333"/>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DM Sans"/>
              <a:ea typeface="DM Sans"/>
              <a:cs typeface="DM Sans"/>
              <a:sym typeface="DM Sans"/>
            </a:endParaRPr>
          </a:p>
        </p:txBody>
      </p:sp>
      <p:sp>
        <p:nvSpPr>
          <p:cNvPr id="345" name="Google Shape;345;p49"/>
          <p:cNvSpPr txBox="1"/>
          <p:nvPr/>
        </p:nvSpPr>
        <p:spPr>
          <a:xfrm>
            <a:off x="6015229" y="1709422"/>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DM Sans"/>
                <a:ea typeface="DM Sans"/>
                <a:cs typeface="DM Sans"/>
                <a:sym typeface="DM Sans"/>
              </a:rPr>
              <a:t>{{CLOUD_EVENTS_4}}</a:t>
            </a:r>
            <a:endParaRPr sz="800" b="0" i="0" u="none" strike="noStrike" cap="none">
              <a:solidFill>
                <a:srgbClr val="333333"/>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DM Sans"/>
              <a:ea typeface="DM Sans"/>
              <a:cs typeface="DM Sans"/>
              <a:sym typeface="DM Sans"/>
            </a:endParaRPr>
          </a:p>
        </p:txBody>
      </p:sp>
      <p:sp>
        <p:nvSpPr>
          <p:cNvPr id="346" name="Google Shape;346;p49"/>
          <p:cNvSpPr txBox="1"/>
          <p:nvPr/>
        </p:nvSpPr>
        <p:spPr>
          <a:xfrm>
            <a:off x="6015229" y="1904264"/>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DM Sans"/>
                <a:ea typeface="DM Sans"/>
                <a:cs typeface="DM Sans"/>
                <a:sym typeface="DM Sans"/>
              </a:rPr>
              <a:t>{{CLOUD_EVENTS_5}}</a:t>
            </a:r>
            <a:endParaRPr sz="800" b="0" i="0" u="none" strike="noStrike" cap="none">
              <a:solidFill>
                <a:srgbClr val="333333"/>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DM Sans"/>
              <a:ea typeface="DM Sans"/>
              <a:cs typeface="DM Sans"/>
              <a:sym typeface="DM Sans"/>
            </a:endParaRPr>
          </a:p>
        </p:txBody>
      </p:sp>
      <p:sp>
        <p:nvSpPr>
          <p:cNvPr id="347" name="Google Shape;347;p49"/>
          <p:cNvSpPr txBox="1"/>
          <p:nvPr/>
        </p:nvSpPr>
        <p:spPr>
          <a:xfrm>
            <a:off x="6015229" y="2099106"/>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DM Sans"/>
                <a:ea typeface="DM Sans"/>
                <a:cs typeface="DM Sans"/>
                <a:sym typeface="DM Sans"/>
              </a:rPr>
              <a:t>{{CLOUD_EVENTS_6}}</a:t>
            </a:r>
            <a:endParaRPr sz="800" b="0" i="0" u="none" strike="noStrike" cap="none">
              <a:solidFill>
                <a:srgbClr val="333333"/>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DM Sans"/>
              <a:ea typeface="DM Sans"/>
              <a:cs typeface="DM Sans"/>
              <a:sym typeface="DM Sans"/>
            </a:endParaRPr>
          </a:p>
        </p:txBody>
      </p:sp>
      <p:sp>
        <p:nvSpPr>
          <p:cNvPr id="348" name="Google Shape;348;p49"/>
          <p:cNvSpPr txBox="1"/>
          <p:nvPr/>
        </p:nvSpPr>
        <p:spPr>
          <a:xfrm>
            <a:off x="6015229" y="2293948"/>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DM Sans"/>
                <a:ea typeface="DM Sans"/>
                <a:cs typeface="DM Sans"/>
                <a:sym typeface="DM Sans"/>
              </a:rPr>
              <a:t>{{CLOUD_EVENTS_7}}</a:t>
            </a:r>
            <a:endParaRPr sz="800" b="0" i="0" u="none" strike="noStrike" cap="none">
              <a:solidFill>
                <a:srgbClr val="333333"/>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DM Sans"/>
              <a:ea typeface="DM Sans"/>
              <a:cs typeface="DM Sans"/>
              <a:sym typeface="DM Sans"/>
            </a:endParaRPr>
          </a:p>
        </p:txBody>
      </p:sp>
      <p:sp>
        <p:nvSpPr>
          <p:cNvPr id="349" name="Google Shape;349;p49"/>
          <p:cNvSpPr txBox="1"/>
          <p:nvPr/>
        </p:nvSpPr>
        <p:spPr>
          <a:xfrm>
            <a:off x="6015229" y="2488790"/>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DM Sans"/>
                <a:ea typeface="DM Sans"/>
                <a:cs typeface="DM Sans"/>
                <a:sym typeface="DM Sans"/>
              </a:rPr>
              <a:t>{{CLOUD_EVENTS_8}}</a:t>
            </a:r>
            <a:endParaRPr sz="800" b="0" i="0" u="none" strike="noStrike" cap="none">
              <a:solidFill>
                <a:srgbClr val="333333"/>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DM Sans"/>
              <a:ea typeface="DM Sans"/>
              <a:cs typeface="DM Sans"/>
              <a:sym typeface="DM Sans"/>
            </a:endParaRPr>
          </a:p>
        </p:txBody>
      </p:sp>
      <p:sp>
        <p:nvSpPr>
          <p:cNvPr id="350" name="Google Shape;350;p49"/>
          <p:cNvSpPr txBox="1"/>
          <p:nvPr/>
        </p:nvSpPr>
        <p:spPr>
          <a:xfrm>
            <a:off x="6015229" y="2683632"/>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DM Sans"/>
                <a:ea typeface="DM Sans"/>
                <a:cs typeface="DM Sans"/>
                <a:sym typeface="DM Sans"/>
              </a:rPr>
              <a:t>{{CLOUD_EVENTS_9}}</a:t>
            </a:r>
            <a:endParaRPr sz="800" b="0" i="0" u="none" strike="noStrike" cap="none">
              <a:solidFill>
                <a:srgbClr val="333333"/>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DM Sans"/>
              <a:ea typeface="DM Sans"/>
              <a:cs typeface="DM Sans"/>
              <a:sym typeface="DM Sans"/>
            </a:endParaRPr>
          </a:p>
        </p:txBody>
      </p:sp>
      <p:sp>
        <p:nvSpPr>
          <p:cNvPr id="351" name="Google Shape;351;p49"/>
          <p:cNvSpPr txBox="1"/>
          <p:nvPr/>
        </p:nvSpPr>
        <p:spPr>
          <a:xfrm>
            <a:off x="6015229" y="2878474"/>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DM Sans"/>
                <a:ea typeface="DM Sans"/>
                <a:cs typeface="DM Sans"/>
                <a:sym typeface="DM Sans"/>
              </a:rPr>
              <a:t>{{CLOUD_EVENTS_10}}</a:t>
            </a:r>
            <a:endParaRPr sz="800" b="0" i="0" u="none" strike="noStrike" cap="none">
              <a:solidFill>
                <a:srgbClr val="333333"/>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DM Sans"/>
              <a:ea typeface="DM Sans"/>
              <a:cs typeface="DM Sans"/>
              <a:sym typeface="DM Sans"/>
            </a:endParaRPr>
          </a:p>
        </p:txBody>
      </p:sp>
      <p:sp>
        <p:nvSpPr>
          <p:cNvPr id="352" name="Google Shape;352;p49"/>
          <p:cNvSpPr txBox="1"/>
          <p:nvPr/>
        </p:nvSpPr>
        <p:spPr>
          <a:xfrm>
            <a:off x="6015229" y="3073316"/>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333333"/>
                </a:solidFill>
                <a:latin typeface="DM Sans"/>
                <a:ea typeface="DM Sans"/>
                <a:cs typeface="DM Sans"/>
                <a:sym typeface="DM Sans"/>
              </a:rPr>
              <a:t>{{CLOUD_EVENTS_11}}</a:t>
            </a:r>
            <a:endParaRPr sz="800" b="0" i="0" u="none" strike="noStrike" cap="none">
              <a:solidFill>
                <a:srgbClr val="333333"/>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333333"/>
              </a:solidFill>
              <a:latin typeface="DM Sans"/>
              <a:ea typeface="DM Sans"/>
              <a:cs typeface="DM Sans"/>
              <a:sym typeface="DM Sans"/>
            </a:endParaRPr>
          </a:p>
        </p:txBody>
      </p:sp>
      <p:sp>
        <p:nvSpPr>
          <p:cNvPr id="353" name="Google Shape;353;p49"/>
          <p:cNvSpPr txBox="1"/>
          <p:nvPr/>
        </p:nvSpPr>
        <p:spPr>
          <a:xfrm>
            <a:off x="6015229" y="3268158"/>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DM Sans"/>
                <a:ea typeface="DM Sans"/>
                <a:cs typeface="DM Sans"/>
                <a:sym typeface="DM Sans"/>
              </a:rPr>
              <a:t>{{CLOUD_EVENTS_12}}</a:t>
            </a:r>
            <a:endParaRPr sz="800" b="0" i="0" u="none" strike="noStrike" cap="none">
              <a:solidFill>
                <a:srgbClr val="333333"/>
              </a:solidFill>
              <a:latin typeface="DM Sans"/>
              <a:ea typeface="DM Sans"/>
              <a:cs typeface="DM Sans"/>
              <a:sym typeface="DM Sans"/>
            </a:endParaRPr>
          </a:p>
        </p:txBody>
      </p:sp>
      <p:sp>
        <p:nvSpPr>
          <p:cNvPr id="354" name="Google Shape;354;p49"/>
          <p:cNvSpPr txBox="1"/>
          <p:nvPr/>
        </p:nvSpPr>
        <p:spPr>
          <a:xfrm>
            <a:off x="6015228" y="1122408"/>
            <a:ext cx="2287200" cy="1839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DM Sans"/>
                <a:ea typeface="DM Sans"/>
                <a:cs typeface="DM Sans"/>
                <a:sym typeface="DM Sans"/>
              </a:rPr>
              <a:t>{{CLOUD_EVENTS_1}}</a:t>
            </a:r>
            <a:endParaRPr sz="800" b="0" i="0" u="none" strike="noStrike" cap="none">
              <a:solidFill>
                <a:srgbClr val="333333"/>
              </a:solidFill>
              <a:latin typeface="DM Sans"/>
              <a:ea typeface="DM Sans"/>
              <a:cs typeface="DM Sans"/>
              <a:sym typeface="DM Sans"/>
            </a:endParaRPr>
          </a:p>
        </p:txBody>
      </p:sp>
      <p:sp>
        <p:nvSpPr>
          <p:cNvPr id="355" name="Google Shape;355;p49"/>
          <p:cNvSpPr txBox="1"/>
          <p:nvPr/>
        </p:nvSpPr>
        <p:spPr>
          <a:xfrm>
            <a:off x="7985429" y="1105704"/>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dirty="0">
                <a:solidFill>
                  <a:srgbClr val="333333"/>
                </a:solidFill>
                <a:latin typeface="Poppins Medium"/>
                <a:ea typeface="Poppins Medium"/>
                <a:cs typeface="Poppins Medium"/>
                <a:sym typeface="Poppins Medium"/>
              </a:rPr>
              <a:t>{{CE_1}}</a:t>
            </a:r>
            <a:endParaRPr sz="800" b="0" i="0" u="none" strike="noStrike" cap="none" dirty="0">
              <a:solidFill>
                <a:srgbClr val="333333"/>
              </a:solidFill>
              <a:latin typeface="Poppins Medium"/>
              <a:ea typeface="Poppins Medium"/>
              <a:cs typeface="Poppins Medium"/>
              <a:sym typeface="Poppins Medium"/>
            </a:endParaRPr>
          </a:p>
        </p:txBody>
      </p:sp>
      <p:sp>
        <p:nvSpPr>
          <p:cNvPr id="356" name="Google Shape;356;p49"/>
          <p:cNvSpPr txBox="1"/>
          <p:nvPr/>
        </p:nvSpPr>
        <p:spPr>
          <a:xfrm>
            <a:off x="7985429" y="1300773"/>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Poppins Medium"/>
                <a:ea typeface="Poppins Medium"/>
                <a:cs typeface="Poppins Medium"/>
                <a:sym typeface="Poppins Medium"/>
              </a:rPr>
              <a:t>{{CE_2}}</a:t>
            </a:r>
            <a:endParaRPr sz="800" b="0" i="0" u="none" strike="noStrike" cap="none">
              <a:solidFill>
                <a:srgbClr val="333333"/>
              </a:solidFill>
              <a:latin typeface="Poppins Medium"/>
              <a:ea typeface="Poppins Medium"/>
              <a:cs typeface="Poppins Medium"/>
              <a:sym typeface="Poppins Medium"/>
            </a:endParaRPr>
          </a:p>
        </p:txBody>
      </p:sp>
      <p:sp>
        <p:nvSpPr>
          <p:cNvPr id="357" name="Google Shape;357;p49"/>
          <p:cNvSpPr txBox="1"/>
          <p:nvPr/>
        </p:nvSpPr>
        <p:spPr>
          <a:xfrm>
            <a:off x="7985429" y="1495843"/>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Poppins Medium"/>
                <a:ea typeface="Poppins Medium"/>
                <a:cs typeface="Poppins Medium"/>
                <a:sym typeface="Poppins Medium"/>
              </a:rPr>
              <a:t>{{CE_3}}</a:t>
            </a:r>
            <a:endParaRPr sz="800" b="0" i="0" u="none" strike="noStrike" cap="none">
              <a:solidFill>
                <a:srgbClr val="333333"/>
              </a:solidFill>
              <a:latin typeface="Poppins Medium"/>
              <a:ea typeface="Poppins Medium"/>
              <a:cs typeface="Poppins Medium"/>
              <a:sym typeface="Poppins Medium"/>
            </a:endParaRPr>
          </a:p>
        </p:txBody>
      </p:sp>
      <p:sp>
        <p:nvSpPr>
          <p:cNvPr id="358" name="Google Shape;358;p49"/>
          <p:cNvSpPr txBox="1"/>
          <p:nvPr/>
        </p:nvSpPr>
        <p:spPr>
          <a:xfrm>
            <a:off x="7985429" y="1690912"/>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dirty="0">
                <a:solidFill>
                  <a:srgbClr val="333333"/>
                </a:solidFill>
                <a:latin typeface="Poppins Medium"/>
                <a:ea typeface="Poppins Medium"/>
                <a:cs typeface="Poppins Medium"/>
                <a:sym typeface="Poppins Medium"/>
              </a:rPr>
              <a:t>{{CE_4}}</a:t>
            </a:r>
            <a:endParaRPr sz="800" b="0" i="0" u="none" strike="noStrike" cap="none" dirty="0">
              <a:solidFill>
                <a:srgbClr val="333333"/>
              </a:solidFill>
              <a:latin typeface="Poppins Medium"/>
              <a:ea typeface="Poppins Medium"/>
              <a:cs typeface="Poppins Medium"/>
              <a:sym typeface="Poppins Medium"/>
            </a:endParaRPr>
          </a:p>
        </p:txBody>
      </p:sp>
      <p:sp>
        <p:nvSpPr>
          <p:cNvPr id="359" name="Google Shape;359;p49"/>
          <p:cNvSpPr txBox="1"/>
          <p:nvPr/>
        </p:nvSpPr>
        <p:spPr>
          <a:xfrm>
            <a:off x="7985429" y="1885981"/>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Poppins Medium"/>
                <a:ea typeface="Poppins Medium"/>
                <a:cs typeface="Poppins Medium"/>
                <a:sym typeface="Poppins Medium"/>
              </a:rPr>
              <a:t>{{CE_5}}</a:t>
            </a:r>
            <a:endParaRPr sz="800" b="0" i="0" u="none" strike="noStrike" cap="none">
              <a:solidFill>
                <a:srgbClr val="333333"/>
              </a:solidFill>
              <a:latin typeface="Poppins Medium"/>
              <a:ea typeface="Poppins Medium"/>
              <a:cs typeface="Poppins Medium"/>
              <a:sym typeface="Poppins Medium"/>
            </a:endParaRPr>
          </a:p>
        </p:txBody>
      </p:sp>
      <p:sp>
        <p:nvSpPr>
          <p:cNvPr id="360" name="Google Shape;360;p49"/>
          <p:cNvSpPr txBox="1"/>
          <p:nvPr/>
        </p:nvSpPr>
        <p:spPr>
          <a:xfrm>
            <a:off x="7985429" y="2081050"/>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dirty="0">
                <a:solidFill>
                  <a:srgbClr val="333333"/>
                </a:solidFill>
                <a:latin typeface="Poppins Medium"/>
                <a:ea typeface="Poppins Medium"/>
                <a:cs typeface="Poppins Medium"/>
                <a:sym typeface="Poppins Medium"/>
              </a:rPr>
              <a:t>{{CE_6}}</a:t>
            </a:r>
            <a:endParaRPr sz="800" b="0" i="0" u="none" strike="noStrike" cap="none" dirty="0">
              <a:solidFill>
                <a:srgbClr val="333333"/>
              </a:solidFill>
              <a:latin typeface="Poppins Medium"/>
              <a:ea typeface="Poppins Medium"/>
              <a:cs typeface="Poppins Medium"/>
              <a:sym typeface="Poppins Medium"/>
            </a:endParaRPr>
          </a:p>
        </p:txBody>
      </p:sp>
      <p:sp>
        <p:nvSpPr>
          <p:cNvPr id="361" name="Google Shape;361;p49"/>
          <p:cNvSpPr txBox="1"/>
          <p:nvPr/>
        </p:nvSpPr>
        <p:spPr>
          <a:xfrm>
            <a:off x="7985429" y="2276120"/>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dirty="0">
                <a:solidFill>
                  <a:srgbClr val="333333"/>
                </a:solidFill>
                <a:latin typeface="Poppins Medium"/>
                <a:ea typeface="Poppins Medium"/>
                <a:cs typeface="Poppins Medium"/>
                <a:sym typeface="Poppins Medium"/>
              </a:rPr>
              <a:t>{{CE_7}}</a:t>
            </a:r>
            <a:endParaRPr sz="800" b="0" i="0" u="none" strike="noStrike" cap="none" dirty="0">
              <a:solidFill>
                <a:srgbClr val="333333"/>
              </a:solidFill>
              <a:latin typeface="Poppins Medium"/>
              <a:ea typeface="Poppins Medium"/>
              <a:cs typeface="Poppins Medium"/>
              <a:sym typeface="Poppins Medium"/>
            </a:endParaRPr>
          </a:p>
        </p:txBody>
      </p:sp>
      <p:sp>
        <p:nvSpPr>
          <p:cNvPr id="362" name="Google Shape;362;p49"/>
          <p:cNvSpPr txBox="1"/>
          <p:nvPr/>
        </p:nvSpPr>
        <p:spPr>
          <a:xfrm>
            <a:off x="7985429" y="2471189"/>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dirty="0">
                <a:solidFill>
                  <a:srgbClr val="333333"/>
                </a:solidFill>
                <a:latin typeface="Poppins Medium"/>
                <a:ea typeface="Poppins Medium"/>
                <a:cs typeface="Poppins Medium"/>
                <a:sym typeface="Poppins Medium"/>
              </a:rPr>
              <a:t>{{CE_8}}</a:t>
            </a:r>
            <a:endParaRPr sz="800" b="0" i="0" u="none" strike="noStrike" cap="none" dirty="0">
              <a:solidFill>
                <a:srgbClr val="333333"/>
              </a:solidFill>
              <a:latin typeface="Poppins Medium"/>
              <a:ea typeface="Poppins Medium"/>
              <a:cs typeface="Poppins Medium"/>
              <a:sym typeface="Poppins Medium"/>
            </a:endParaRPr>
          </a:p>
        </p:txBody>
      </p:sp>
      <p:sp>
        <p:nvSpPr>
          <p:cNvPr id="363" name="Google Shape;363;p49"/>
          <p:cNvSpPr txBox="1"/>
          <p:nvPr/>
        </p:nvSpPr>
        <p:spPr>
          <a:xfrm>
            <a:off x="7985429" y="2666258"/>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dirty="0">
                <a:solidFill>
                  <a:srgbClr val="333333"/>
                </a:solidFill>
                <a:latin typeface="Poppins Medium"/>
                <a:ea typeface="Poppins Medium"/>
                <a:cs typeface="Poppins Medium"/>
                <a:sym typeface="Poppins Medium"/>
              </a:rPr>
              <a:t>{{CE_9}}</a:t>
            </a:r>
            <a:endParaRPr sz="800" b="0" i="0" u="none" strike="noStrike" cap="none" dirty="0">
              <a:solidFill>
                <a:srgbClr val="333333"/>
              </a:solidFill>
              <a:latin typeface="Poppins Medium"/>
              <a:ea typeface="Poppins Medium"/>
              <a:cs typeface="Poppins Medium"/>
              <a:sym typeface="Poppins Medium"/>
            </a:endParaRPr>
          </a:p>
        </p:txBody>
      </p:sp>
      <p:sp>
        <p:nvSpPr>
          <p:cNvPr id="364" name="Google Shape;364;p49"/>
          <p:cNvSpPr txBox="1"/>
          <p:nvPr/>
        </p:nvSpPr>
        <p:spPr>
          <a:xfrm>
            <a:off x="7985429" y="2861327"/>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dirty="0">
                <a:solidFill>
                  <a:srgbClr val="333333"/>
                </a:solidFill>
                <a:latin typeface="Poppins Medium"/>
                <a:ea typeface="Poppins Medium"/>
                <a:cs typeface="Poppins Medium"/>
                <a:sym typeface="Poppins Medium"/>
              </a:rPr>
              <a:t>{{CE_10}}</a:t>
            </a:r>
            <a:endParaRPr sz="800" b="0" i="0" u="none" strike="noStrike" cap="none" dirty="0">
              <a:solidFill>
                <a:srgbClr val="333333"/>
              </a:solidFill>
              <a:latin typeface="Poppins Medium"/>
              <a:ea typeface="Poppins Medium"/>
              <a:cs typeface="Poppins Medium"/>
              <a:sym typeface="Poppins Medium"/>
            </a:endParaRPr>
          </a:p>
        </p:txBody>
      </p:sp>
      <p:sp>
        <p:nvSpPr>
          <p:cNvPr id="365" name="Google Shape;365;p49"/>
          <p:cNvSpPr txBox="1"/>
          <p:nvPr/>
        </p:nvSpPr>
        <p:spPr>
          <a:xfrm>
            <a:off x="7990523" y="3056397"/>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dirty="0">
                <a:solidFill>
                  <a:srgbClr val="333333"/>
                </a:solidFill>
                <a:latin typeface="Poppins Medium"/>
                <a:ea typeface="Poppins Medium"/>
                <a:cs typeface="Poppins Medium"/>
                <a:sym typeface="Poppins Medium"/>
              </a:rPr>
              <a:t>{{CE_11}}</a:t>
            </a:r>
            <a:endParaRPr sz="800" b="0" i="0" u="none" strike="noStrike" cap="none" dirty="0">
              <a:solidFill>
                <a:srgbClr val="333333"/>
              </a:solidFill>
              <a:latin typeface="Poppins Medium"/>
              <a:ea typeface="Poppins Medium"/>
              <a:cs typeface="Poppins Medium"/>
              <a:sym typeface="Poppins Medium"/>
            </a:endParaRPr>
          </a:p>
        </p:txBody>
      </p:sp>
      <p:sp>
        <p:nvSpPr>
          <p:cNvPr id="366" name="Google Shape;366;p49"/>
          <p:cNvSpPr txBox="1"/>
          <p:nvPr/>
        </p:nvSpPr>
        <p:spPr>
          <a:xfrm>
            <a:off x="7985429" y="3251466"/>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dirty="0">
                <a:solidFill>
                  <a:srgbClr val="333333"/>
                </a:solidFill>
                <a:latin typeface="Poppins Medium"/>
                <a:ea typeface="Poppins Medium"/>
                <a:cs typeface="Poppins Medium"/>
                <a:sym typeface="Poppins Medium"/>
              </a:rPr>
              <a:t>{{CE_12}}</a:t>
            </a:r>
            <a:endParaRPr sz="800" b="0" i="0" u="none" strike="noStrike" cap="none" dirty="0">
              <a:solidFill>
                <a:srgbClr val="333333"/>
              </a:solidFill>
              <a:latin typeface="Poppins Medium"/>
              <a:ea typeface="Poppins Medium"/>
              <a:cs typeface="Poppins Medium"/>
              <a:sym typeface="Poppins Medium"/>
            </a:endParaRPr>
          </a:p>
        </p:txBody>
      </p:sp>
      <p:pic>
        <p:nvPicPr>
          <p:cNvPr id="367" name="Google Shape;367;p49"/>
          <p:cNvPicPr preferRelativeResize="0"/>
          <p:nvPr/>
        </p:nvPicPr>
        <p:blipFill rotWithShape="1">
          <a:blip r:embed="rId15">
            <a:alphaModFix/>
          </a:blip>
          <a:srcRect/>
          <a:stretch/>
        </p:blipFill>
        <p:spPr>
          <a:xfrm>
            <a:off x="2972000" y="3837150"/>
            <a:ext cx="5986350" cy="1180899"/>
          </a:xfrm>
          <a:prstGeom prst="rect">
            <a:avLst/>
          </a:prstGeom>
          <a:noFill/>
          <a:ln>
            <a:noFill/>
          </a:ln>
        </p:spPr>
      </p:pic>
      <p:sp>
        <p:nvSpPr>
          <p:cNvPr id="368" name="Google Shape;368;p49"/>
          <p:cNvSpPr txBox="1"/>
          <p:nvPr/>
        </p:nvSpPr>
        <p:spPr>
          <a:xfrm>
            <a:off x="3107645" y="3877908"/>
            <a:ext cx="2630400" cy="309000"/>
          </a:xfrm>
          <a:prstGeom prst="rect">
            <a:avLst/>
          </a:prstGeom>
          <a:noFill/>
          <a:ln>
            <a:noFill/>
          </a:ln>
        </p:spPr>
        <p:txBody>
          <a:bodyPr spcFirstLastPara="1" wrap="square" lIns="68575" tIns="34275" rIns="68575" bIns="34275" anchor="t" anchorCtr="0">
            <a:normAutofit/>
          </a:bodyPr>
          <a:lstStyle/>
          <a:p>
            <a:pPr marL="0" marR="0" lvl="0" indent="0" algn="l" rtl="0">
              <a:lnSpc>
                <a:spcPct val="90000"/>
              </a:lnSpc>
              <a:spcBef>
                <a:spcPts val="0"/>
              </a:spcBef>
              <a:spcAft>
                <a:spcPts val="0"/>
              </a:spcAft>
              <a:buClr>
                <a:schemeClr val="dk2"/>
              </a:buClr>
              <a:buSzPts val="1500"/>
              <a:buFont typeface="Arial"/>
              <a:buNone/>
            </a:pPr>
            <a:r>
              <a:rPr lang="en" sz="1400" b="0" i="0" u="sng" strike="noStrike" cap="none">
                <a:solidFill>
                  <a:srgbClr val="0254EC"/>
                </a:solidFill>
                <a:latin typeface="Poppins"/>
                <a:ea typeface="Poppins"/>
                <a:cs typeface="Poppins"/>
                <a:sym typeface="Poppins"/>
                <a:hlinkClick r:id="rId16">
                  <a:extLst>
                    <a:ext uri="{A12FA001-AC4F-418D-AE19-62706E023703}">
                      <ahyp:hlinkClr xmlns:ahyp="http://schemas.microsoft.com/office/drawing/2018/hyperlinkcolor" val="tx"/>
                    </a:ext>
                  </a:extLst>
                </a:hlinkClick>
              </a:rPr>
              <a:t>AI Visibility / Inventory</a:t>
            </a:r>
            <a:r>
              <a:rPr lang="en" sz="1400" b="0" i="0" u="none" strike="noStrike" cap="none">
                <a:solidFill>
                  <a:srgbClr val="0254EC"/>
                </a:solidFill>
                <a:latin typeface="Poppins"/>
                <a:ea typeface="Poppins"/>
                <a:cs typeface="Poppins"/>
                <a:sym typeface="Poppins"/>
              </a:rPr>
              <a:t> </a:t>
            </a:r>
            <a:r>
              <a:rPr lang="en" sz="1500" b="0" i="0" u="none" strike="noStrike" cap="none">
                <a:solidFill>
                  <a:srgbClr val="0254EC"/>
                </a:solidFill>
                <a:uFill>
                  <a:noFill/>
                </a:uFill>
                <a:latin typeface="Poppins Medium"/>
                <a:ea typeface="Poppins Medium"/>
                <a:cs typeface="Poppins Medium"/>
                <a:sym typeface="Poppins Medium"/>
                <a:hlinkClick r:id="rId13">
                  <a:extLst>
                    <a:ext uri="{A12FA001-AC4F-418D-AE19-62706E023703}">
                      <ahyp:hlinkClr xmlns:ahyp="http://schemas.microsoft.com/office/drawing/2018/hyperlinkcolor" val="tx"/>
                    </a:ext>
                  </a:extLst>
                </a:hlinkClick>
              </a:rPr>
              <a:t>↗</a:t>
            </a:r>
            <a:endParaRPr sz="1400" b="0" i="0" u="none" strike="noStrike" cap="none">
              <a:solidFill>
                <a:srgbClr val="0254EC"/>
              </a:solidFill>
              <a:latin typeface="Poppins"/>
              <a:ea typeface="Poppins"/>
              <a:cs typeface="Poppins"/>
              <a:sym typeface="Poppins"/>
            </a:endParaRPr>
          </a:p>
        </p:txBody>
      </p:sp>
      <p:sp>
        <p:nvSpPr>
          <p:cNvPr id="369" name="Google Shape;369;p49"/>
          <p:cNvSpPr/>
          <p:nvPr/>
        </p:nvSpPr>
        <p:spPr>
          <a:xfrm>
            <a:off x="3139402" y="4279050"/>
            <a:ext cx="1060500" cy="2730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{{AI_MODELS_COUNT}} </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AI Models</a:t>
            </a:r>
            <a:endParaRPr sz="1200" b="0" i="0" u="none" strike="noStrike" cap="none">
              <a:solidFill>
                <a:srgbClr val="000000"/>
              </a:solidFill>
              <a:latin typeface="Poppins Light"/>
              <a:ea typeface="Poppins Light"/>
              <a:cs typeface="Poppins Light"/>
              <a:sym typeface="Poppins Light"/>
            </a:endParaRPr>
          </a:p>
        </p:txBody>
      </p:sp>
      <p:sp>
        <p:nvSpPr>
          <p:cNvPr id="370" name="Google Shape;370;p49"/>
          <p:cNvSpPr/>
          <p:nvPr/>
        </p:nvSpPr>
        <p:spPr>
          <a:xfrm>
            <a:off x="4314761" y="4279050"/>
            <a:ext cx="1060500" cy="2730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{{AI_AGENTS_COUNT}} </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AI Agents</a:t>
            </a:r>
            <a:endParaRPr sz="700" b="0" i="0" u="none" strike="noStrike" cap="none">
              <a:solidFill>
                <a:srgbClr val="00113E"/>
              </a:solidFill>
              <a:latin typeface="Poppins Light"/>
              <a:ea typeface="Poppins Light"/>
              <a:cs typeface="Poppins Light"/>
              <a:sym typeface="Poppins Light"/>
            </a:endParaRPr>
          </a:p>
        </p:txBody>
      </p:sp>
      <p:sp>
        <p:nvSpPr>
          <p:cNvPr id="371" name="Google Shape;371;p49"/>
          <p:cNvSpPr/>
          <p:nvPr/>
        </p:nvSpPr>
        <p:spPr>
          <a:xfrm>
            <a:off x="5490120" y="4279060"/>
            <a:ext cx="1060500" cy="2730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{{AI_PIPELINES_COUNT}} </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AI Pipelines</a:t>
            </a:r>
            <a:endParaRPr sz="700" b="0" i="0" u="none" strike="noStrike" cap="none">
              <a:solidFill>
                <a:srgbClr val="00113E"/>
              </a:solidFill>
              <a:latin typeface="Poppins Light"/>
              <a:ea typeface="Poppins Light"/>
              <a:cs typeface="Poppins Light"/>
              <a:sym typeface="Poppins Light"/>
            </a:endParaRPr>
          </a:p>
        </p:txBody>
      </p:sp>
      <p:sp>
        <p:nvSpPr>
          <p:cNvPr id="372" name="Google Shape;372;p49"/>
          <p:cNvSpPr/>
          <p:nvPr/>
        </p:nvSpPr>
        <p:spPr>
          <a:xfrm>
            <a:off x="6665479" y="4284759"/>
            <a:ext cx="1060500" cy="2730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{{AI_WORKLOADS_COUNT}} </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AI Workloads</a:t>
            </a:r>
            <a:endParaRPr sz="700" b="0" i="0" u="none" strike="noStrike" cap="none">
              <a:solidFill>
                <a:srgbClr val="00113E"/>
              </a:solidFill>
              <a:latin typeface="Poppins Light"/>
              <a:ea typeface="Poppins Light"/>
              <a:cs typeface="Poppins Light"/>
              <a:sym typeface="Poppins Light"/>
            </a:endParaRPr>
          </a:p>
        </p:txBody>
      </p:sp>
      <p:sp>
        <p:nvSpPr>
          <p:cNvPr id="373" name="Google Shape;373;p49"/>
          <p:cNvSpPr/>
          <p:nvPr/>
        </p:nvSpPr>
        <p:spPr>
          <a:xfrm>
            <a:off x="3145104" y="4656960"/>
            <a:ext cx="1060500" cy="2844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{{AI_GUARDRAILS_COUNT}} </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AI Guardrails</a:t>
            </a:r>
            <a:endParaRPr sz="700" b="0" i="0" u="none" strike="noStrike" cap="none">
              <a:solidFill>
                <a:srgbClr val="00113E"/>
              </a:solidFill>
              <a:latin typeface="Poppins Light"/>
              <a:ea typeface="Poppins Light"/>
              <a:cs typeface="Poppins Light"/>
              <a:sym typeface="Poppins Light"/>
            </a:endParaRPr>
          </a:p>
        </p:txBody>
      </p:sp>
      <p:sp>
        <p:nvSpPr>
          <p:cNvPr id="374" name="Google Shape;374;p49"/>
          <p:cNvSpPr/>
          <p:nvPr/>
        </p:nvSpPr>
        <p:spPr>
          <a:xfrm>
            <a:off x="4319779" y="4664450"/>
            <a:ext cx="1060500" cy="2844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{{AI_MCP_SERVERS_COUNT}} </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MCP Servers</a:t>
            </a:r>
            <a:endParaRPr sz="700" b="0" i="0" u="none" strike="noStrike" cap="none">
              <a:solidFill>
                <a:srgbClr val="00113E"/>
              </a:solidFill>
              <a:latin typeface="Poppins Light"/>
              <a:ea typeface="Poppins Light"/>
              <a:cs typeface="Poppins Light"/>
              <a:sym typeface="Poppins Light"/>
            </a:endParaRPr>
          </a:p>
        </p:txBody>
      </p:sp>
      <p:sp>
        <p:nvSpPr>
          <p:cNvPr id="375" name="Google Shape;375;p49"/>
          <p:cNvSpPr/>
          <p:nvPr/>
        </p:nvSpPr>
        <p:spPr>
          <a:xfrm>
            <a:off x="5494453" y="4657061"/>
            <a:ext cx="1060500" cy="2730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{{AI_TECHNOLOGIES_COUNT}} </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AI Technologies</a:t>
            </a:r>
            <a:endParaRPr sz="700" b="0" i="0" u="none" strike="noStrike" cap="none">
              <a:solidFill>
                <a:srgbClr val="00113E"/>
              </a:solidFill>
              <a:latin typeface="Poppins Light"/>
              <a:ea typeface="Poppins Light"/>
              <a:cs typeface="Poppins Light"/>
              <a:sym typeface="Poppins Light"/>
            </a:endParaRPr>
          </a:p>
        </p:txBody>
      </p:sp>
      <p:sp>
        <p:nvSpPr>
          <p:cNvPr id="376" name="Google Shape;376;p49"/>
          <p:cNvSpPr/>
          <p:nvPr/>
        </p:nvSpPr>
        <p:spPr>
          <a:xfrm>
            <a:off x="6669128" y="4655787"/>
            <a:ext cx="1060500" cy="2730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{{AI_CODE_REPOS_COUNT}} </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Code Repos with AI</a:t>
            </a:r>
            <a:endParaRPr sz="700" b="0" i="0" u="none" strike="noStrike" cap="none">
              <a:solidFill>
                <a:srgbClr val="00113E"/>
              </a:solidFill>
              <a:latin typeface="Poppins Light"/>
              <a:ea typeface="Poppins Light"/>
              <a:cs typeface="Poppins Light"/>
              <a:sym typeface="Poppins Light"/>
            </a:endParaRPr>
          </a:p>
        </p:txBody>
      </p:sp>
      <p:sp>
        <p:nvSpPr>
          <p:cNvPr id="377" name="Google Shape;377;p49"/>
          <p:cNvSpPr txBox="1"/>
          <p:nvPr/>
        </p:nvSpPr>
        <p:spPr>
          <a:xfrm>
            <a:off x="6013666" y="3460474"/>
            <a:ext cx="2287200" cy="181200"/>
          </a:xfrm>
          <a:prstGeom prst="rect">
            <a:avLst/>
          </a:prstGeom>
          <a:noFill/>
          <a:ln>
            <a:noFill/>
          </a:ln>
        </p:spPr>
        <p:txBody>
          <a:bodyPr spcFirstLastPara="1" wrap="square" lIns="91225" tIns="91225" rIns="91225" bIns="912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333333"/>
                </a:solidFill>
                <a:latin typeface="DM Sans"/>
                <a:ea typeface="DM Sans"/>
                <a:cs typeface="DM Sans"/>
                <a:sym typeface="DM Sans"/>
              </a:rPr>
              <a:t>{{CLOUD_EVENTS_13}}</a:t>
            </a:r>
            <a:endParaRPr sz="800" b="0" i="0" u="none" strike="noStrike" cap="none">
              <a:solidFill>
                <a:srgbClr val="333333"/>
              </a:solidFill>
              <a:latin typeface="DM Sans"/>
              <a:ea typeface="DM Sans"/>
              <a:cs typeface="DM Sans"/>
              <a:sym typeface="DM Sans"/>
            </a:endParaRPr>
          </a:p>
        </p:txBody>
      </p:sp>
      <p:sp>
        <p:nvSpPr>
          <p:cNvPr id="378" name="Google Shape;378;p49"/>
          <p:cNvSpPr txBox="1"/>
          <p:nvPr/>
        </p:nvSpPr>
        <p:spPr>
          <a:xfrm>
            <a:off x="7983866" y="3443782"/>
            <a:ext cx="798300" cy="183900"/>
          </a:xfrm>
          <a:prstGeom prst="rect">
            <a:avLst/>
          </a:prstGeom>
          <a:noFill/>
          <a:ln>
            <a:noFill/>
          </a:ln>
        </p:spPr>
        <p:txBody>
          <a:bodyPr spcFirstLastPara="1" wrap="square" lIns="91225" tIns="91225" rIns="91225" bIns="91225" anchor="t" anchorCtr="0">
            <a:noAutofit/>
          </a:bodyPr>
          <a:lstStyle/>
          <a:p>
            <a:pPr marL="0" marR="0" lvl="0" indent="0" algn="r" rtl="0">
              <a:lnSpc>
                <a:spcPct val="100000"/>
              </a:lnSpc>
              <a:spcBef>
                <a:spcPts val="0"/>
              </a:spcBef>
              <a:spcAft>
                <a:spcPts val="0"/>
              </a:spcAft>
              <a:buClr>
                <a:srgbClr val="000000"/>
              </a:buClr>
              <a:buSzPts val="800"/>
              <a:buFont typeface="Arial"/>
              <a:buNone/>
            </a:pPr>
            <a:r>
              <a:rPr lang="en" sz="800" b="0" i="0" u="none" strike="noStrike" cap="none" dirty="0">
                <a:solidFill>
                  <a:srgbClr val="333333"/>
                </a:solidFill>
                <a:latin typeface="Poppins Medium"/>
                <a:ea typeface="Poppins Medium"/>
                <a:cs typeface="Poppins Medium"/>
                <a:sym typeface="Poppins Medium"/>
              </a:rPr>
              <a:t>{{CE_13}}</a:t>
            </a:r>
            <a:endParaRPr sz="800" b="0" i="0" u="none" strike="noStrike" cap="none" dirty="0">
              <a:solidFill>
                <a:srgbClr val="333333"/>
              </a:solidFill>
              <a:latin typeface="Poppins Medium"/>
              <a:ea typeface="Poppins Medium"/>
              <a:cs typeface="Poppins Medium"/>
              <a:sym typeface="Poppins Medium"/>
            </a:endParaRPr>
          </a:p>
        </p:txBody>
      </p:sp>
      <p:sp>
        <p:nvSpPr>
          <p:cNvPr id="379" name="Google Shape;379;p49"/>
          <p:cNvSpPr/>
          <p:nvPr/>
        </p:nvSpPr>
        <p:spPr>
          <a:xfrm>
            <a:off x="3190949" y="3268438"/>
            <a:ext cx="1178700" cy="4299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{{CON_R}} </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Admission Controllers</a:t>
            </a:r>
            <a:endParaRPr sz="700" b="0" i="0" u="none" strike="noStrike" cap="none">
              <a:solidFill>
                <a:srgbClr val="00113E"/>
              </a:solidFill>
              <a:latin typeface="Poppins Light"/>
              <a:ea typeface="Poppins Light"/>
              <a:cs typeface="Poppins Light"/>
              <a:sym typeface="Poppins Light"/>
            </a:endParaRPr>
          </a:p>
        </p:txBody>
      </p:sp>
      <p:sp>
        <p:nvSpPr>
          <p:cNvPr id="380" name="Google Shape;380;p49"/>
          <p:cNvSpPr/>
          <p:nvPr/>
        </p:nvSpPr>
        <p:spPr>
          <a:xfrm>
            <a:off x="7840838" y="4284759"/>
            <a:ext cx="1060500" cy="2730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{{AI_DATASETS_COUNT}} </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AI Datastores</a:t>
            </a:r>
            <a:endParaRPr sz="700" b="0" i="0" u="none" strike="noStrike" cap="none">
              <a:solidFill>
                <a:srgbClr val="00113E"/>
              </a:solidFill>
              <a:latin typeface="Poppins Light"/>
              <a:ea typeface="Poppins Light"/>
              <a:cs typeface="Poppins Light"/>
              <a:sym typeface="Poppins Light"/>
            </a:endParaRPr>
          </a:p>
        </p:txBody>
      </p:sp>
      <p:sp>
        <p:nvSpPr>
          <p:cNvPr id="381" name="Google Shape;381;p49"/>
          <p:cNvSpPr/>
          <p:nvPr/>
        </p:nvSpPr>
        <p:spPr>
          <a:xfrm>
            <a:off x="7843803" y="4655787"/>
            <a:ext cx="1060500" cy="2730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{{AI_CA_COUNT}} </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Coding Agents (IDE)</a:t>
            </a:r>
            <a:endParaRPr sz="700" b="0" i="0" u="none" strike="noStrike" cap="none">
              <a:solidFill>
                <a:srgbClr val="00113E"/>
              </a:solidFill>
              <a:latin typeface="Poppins Light"/>
              <a:ea typeface="Poppins Light"/>
              <a:cs typeface="Poppins Light"/>
              <a:sym typeface="Poppins Light"/>
            </a:endParaRPr>
          </a:p>
        </p:txBody>
      </p:sp>
      <p:sp>
        <p:nvSpPr>
          <p:cNvPr id="382" name="Google Shape;382;p49"/>
          <p:cNvSpPr/>
          <p:nvPr/>
        </p:nvSpPr>
        <p:spPr>
          <a:xfrm>
            <a:off x="4488949" y="3261374"/>
            <a:ext cx="1178700" cy="429900"/>
          </a:xfrm>
          <a:prstGeom prst="roundRect">
            <a:avLst>
              <a:gd name="adj" fmla="val 16667"/>
            </a:avLst>
          </a:prstGeom>
          <a:solidFill>
            <a:srgbClr val="F7FAFF"/>
          </a:solidFill>
          <a:ln w="9525" cap="flat" cmpd="sng">
            <a:solidFill>
              <a:srgbClr val="6296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00113E"/>
                </a:solidFill>
                <a:latin typeface="Poppins Light"/>
                <a:ea typeface="Poppins Light"/>
                <a:cs typeface="Poppins Light"/>
                <a:sym typeface="Poppins Light"/>
              </a:rPr>
              <a:t>{{CON_WOS}} </a:t>
            </a:r>
            <a:br>
              <a:rPr lang="en" sz="700" b="0" i="0" u="none" strike="noStrike" cap="none">
                <a:solidFill>
                  <a:srgbClr val="00113E"/>
                </a:solidFill>
                <a:latin typeface="Poppins Light"/>
                <a:ea typeface="Poppins Light"/>
                <a:cs typeface="Poppins Light"/>
                <a:sym typeface="Poppins Light"/>
              </a:rPr>
            </a:br>
            <a:r>
              <a:rPr lang="en" sz="700" b="0" i="0" u="none" strike="noStrike" cap="none">
                <a:solidFill>
                  <a:srgbClr val="00113E"/>
                </a:solidFill>
                <a:latin typeface="Poppins Light"/>
                <a:ea typeface="Poppins Light"/>
                <a:cs typeface="Poppins Light"/>
                <a:sym typeface="Poppins Light"/>
              </a:rPr>
              <a:t>WizOS Workloads</a:t>
            </a:r>
            <a:endParaRPr sz="700" b="0" i="0" u="none" strike="noStrike" cap="none">
              <a:solidFill>
                <a:srgbClr val="00113E"/>
              </a:solidFill>
              <a:latin typeface="Poppins Light"/>
              <a:ea typeface="Poppins Light"/>
              <a:cs typeface="Poppins Light"/>
              <a:sym typeface="Poppi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88" name="Google Shape;388;p50"/>
          <p:cNvPicPr preferRelativeResize="0"/>
          <p:nvPr/>
        </p:nvPicPr>
        <p:blipFill rotWithShape="1">
          <a:blip r:embed="rId3">
            <a:alphaModFix/>
          </a:blip>
          <a:srcRect/>
          <a:stretch/>
        </p:blipFill>
        <p:spPr>
          <a:xfrm>
            <a:off x="169678" y="971143"/>
            <a:ext cx="2848816" cy="3509202"/>
          </a:xfrm>
          <a:prstGeom prst="rect">
            <a:avLst/>
          </a:prstGeom>
          <a:noFill/>
          <a:ln>
            <a:noFill/>
          </a:ln>
        </p:spPr>
      </p:pic>
      <p:sp>
        <p:nvSpPr>
          <p:cNvPr id="389" name="Google Shape;389;p50"/>
          <p:cNvSpPr txBox="1">
            <a:spLocks noGrp="1"/>
          </p:cNvSpPr>
          <p:nvPr>
            <p:ph type="title" idx="4294967295"/>
          </p:nvPr>
        </p:nvSpPr>
        <p:spPr>
          <a:xfrm>
            <a:off x="150" y="249625"/>
            <a:ext cx="91440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Poppins Light"/>
                <a:ea typeface="Poppins Light"/>
                <a:cs typeface="Poppins Light"/>
                <a:sym typeface="Poppins Light"/>
              </a:rPr>
              <a:t>Wiz Adoption &amp; Usage Snapshot</a:t>
            </a:r>
            <a:endParaRPr sz="2420">
              <a:latin typeface="Poppins Light"/>
              <a:ea typeface="Poppins Light"/>
              <a:cs typeface="Poppins Light"/>
              <a:sym typeface="Poppins Light"/>
            </a:endParaRPr>
          </a:p>
        </p:txBody>
      </p:sp>
      <p:sp>
        <p:nvSpPr>
          <p:cNvPr id="390" name="Google Shape;390;p50"/>
          <p:cNvSpPr txBox="1"/>
          <p:nvPr/>
        </p:nvSpPr>
        <p:spPr>
          <a:xfrm>
            <a:off x="558756" y="1438781"/>
            <a:ext cx="2432700" cy="2058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1200" b="0" i="0" u="none" strike="noStrike" cap="none">
                <a:solidFill>
                  <a:srgbClr val="38761D"/>
                </a:solidFill>
                <a:latin typeface="Poppins Medium"/>
                <a:ea typeface="Poppins Medium"/>
                <a:cs typeface="Poppins Medium"/>
                <a:sym typeface="Poppins Medium"/>
              </a:rPr>
              <a:t>{{L_CL_PCT}}</a:t>
            </a:r>
            <a:r>
              <a:rPr lang="en" sz="1100" b="0" i="0" u="none" strike="noStrike" cap="none">
                <a:solidFill>
                  <a:srgbClr val="00113E"/>
                </a:solidFill>
                <a:latin typeface="Poppins Medium"/>
                <a:ea typeface="Poppins Medium"/>
                <a:cs typeface="Poppins Medium"/>
                <a:sym typeface="Poppins Medium"/>
              </a:rPr>
              <a:t> Cloud Advanced</a:t>
            </a:r>
            <a:endParaRPr sz="1100" b="0" i="0" u="none" strike="noStrike" cap="none">
              <a:solidFill>
                <a:srgbClr val="000000"/>
              </a:solidFill>
              <a:latin typeface="Poppins Medium"/>
              <a:ea typeface="Poppins Medium"/>
              <a:cs typeface="Poppins Medium"/>
              <a:sym typeface="Poppins Medium"/>
            </a:endParaRPr>
          </a:p>
        </p:txBody>
      </p:sp>
      <p:sp>
        <p:nvSpPr>
          <p:cNvPr id="391" name="Google Shape;391;p50"/>
          <p:cNvSpPr txBox="1"/>
          <p:nvPr/>
        </p:nvSpPr>
        <p:spPr>
          <a:xfrm>
            <a:off x="612468" y="1693344"/>
            <a:ext cx="2538600" cy="987600"/>
          </a:xfrm>
          <a:prstGeom prst="rect">
            <a:avLst/>
          </a:prstGeom>
          <a:noFill/>
          <a:ln>
            <a:noFill/>
          </a:ln>
        </p:spPr>
        <p:txBody>
          <a:bodyPr spcFirstLastPara="1" wrap="square" lIns="55875" tIns="27925" rIns="55875" bIns="27925" anchor="t" anchorCtr="0">
            <a:noAutofit/>
          </a:bodyPr>
          <a:lstStyle/>
          <a:p>
            <a:pPr marL="0" marR="0" lvl="0" indent="0" algn="l" rtl="0">
              <a:lnSpc>
                <a:spcPct val="115000"/>
              </a:lnSpc>
              <a:spcBef>
                <a:spcPts val="0"/>
              </a:spcBef>
              <a:spcAft>
                <a:spcPts val="0"/>
              </a:spcAft>
              <a:buClr>
                <a:srgbClr val="000000"/>
              </a:buClr>
              <a:buSzPts val="800"/>
              <a:buFont typeface="Arial"/>
              <a:buNone/>
            </a:pPr>
            <a:r>
              <a:rPr lang="en" sz="800" b="0" i="0" u="none" strike="noStrike" cap="none">
                <a:solidFill>
                  <a:srgbClr val="00113E"/>
                </a:solidFill>
                <a:latin typeface="Poppins"/>
                <a:ea typeface="Poppins"/>
                <a:cs typeface="Poppins"/>
                <a:sym typeface="Poppins"/>
              </a:rPr>
              <a:t>- Compute </a:t>
            </a:r>
            <a:br>
              <a:rPr lang="en" sz="800" b="0" i="0" u="none" strike="noStrike" cap="none">
                <a:solidFill>
                  <a:srgbClr val="00113E"/>
                </a:solidFill>
                <a:latin typeface="Poppins"/>
                <a:ea typeface="Poppins"/>
                <a:cs typeface="Poppins"/>
                <a:sym typeface="Poppins"/>
              </a:rPr>
            </a:br>
            <a:r>
              <a:rPr lang="en" sz="800" b="0" i="0" u="none" strike="noStrike" cap="none">
                <a:solidFill>
                  <a:srgbClr val="00113E"/>
                </a:solidFill>
                <a:latin typeface="Poppins"/>
                <a:ea typeface="Poppins"/>
                <a:cs typeface="Poppins"/>
                <a:sym typeface="Poppins"/>
              </a:rPr>
              <a:t>- Data </a:t>
            </a:r>
            <a:endParaRPr sz="800" b="0" i="0" u="none" strike="noStrike" cap="none">
              <a:solidFill>
                <a:srgbClr val="00113E"/>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800"/>
              <a:buFont typeface="Arial"/>
              <a:buNone/>
            </a:pPr>
            <a:r>
              <a:rPr lang="en" sz="800" b="0" i="0" u="none" strike="noStrike" cap="none">
                <a:solidFill>
                  <a:srgbClr val="00113E"/>
                </a:solidFill>
                <a:latin typeface="Poppins"/>
                <a:ea typeface="Poppins"/>
                <a:cs typeface="Poppins"/>
                <a:sym typeface="Poppins"/>
              </a:rPr>
              <a:t>- Non-OS / Registry / VM Image</a:t>
            </a:r>
            <a:endParaRPr sz="800" b="0" i="0" u="none" strike="noStrike" cap="none">
              <a:solidFill>
                <a:srgbClr val="00113E"/>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800"/>
              <a:buFont typeface="Arial"/>
              <a:buNone/>
            </a:pPr>
            <a:r>
              <a:rPr lang="en" sz="800" b="0" i="0" u="none" strike="noStrike" cap="none">
                <a:solidFill>
                  <a:srgbClr val="00113E"/>
                </a:solidFill>
                <a:latin typeface="Poppins"/>
                <a:ea typeface="Poppins"/>
                <a:cs typeface="Poppins"/>
                <a:sym typeface="Poppins"/>
              </a:rPr>
              <a:t>- WizOS </a:t>
            </a:r>
            <a:endParaRPr sz="800" b="0" i="0" u="none" strike="noStrike" cap="none">
              <a:solidFill>
                <a:srgbClr val="00113E"/>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800"/>
              <a:buFont typeface="Arial"/>
              <a:buNone/>
            </a:pPr>
            <a:r>
              <a:rPr lang="en" sz="800" b="0" i="0" u="none" strike="noStrike" cap="none">
                <a:solidFill>
                  <a:srgbClr val="00113E"/>
                </a:solidFill>
                <a:latin typeface="Poppins"/>
                <a:ea typeface="Poppins"/>
                <a:cs typeface="Poppins"/>
                <a:sym typeface="Poppins"/>
              </a:rPr>
              <a:t>- Unified Vulnerability Mgmt</a:t>
            </a:r>
            <a:endParaRPr sz="800" b="0" i="0" u="none" strike="noStrike" cap="none">
              <a:solidFill>
                <a:srgbClr val="00113E"/>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800"/>
              <a:buFont typeface="Arial"/>
              <a:buNone/>
            </a:pPr>
            <a:r>
              <a:rPr lang="en" sz="800" b="0" i="0" u="none" strike="noStrike" cap="none">
                <a:solidFill>
                  <a:srgbClr val="00113E"/>
                </a:solidFill>
                <a:latin typeface="Poppins"/>
                <a:ea typeface="Poppins"/>
                <a:cs typeface="Poppins"/>
                <a:sym typeface="Poppins"/>
              </a:rPr>
              <a:t>- Advanced ASM</a:t>
            </a:r>
            <a:endParaRPr sz="800" b="0" i="0" u="none" strike="noStrike" cap="none">
              <a:solidFill>
                <a:srgbClr val="00113E"/>
              </a:solidFill>
              <a:latin typeface="Poppins"/>
              <a:ea typeface="Poppins"/>
              <a:cs typeface="Poppins"/>
              <a:sym typeface="Poppins"/>
            </a:endParaRPr>
          </a:p>
          <a:p>
            <a:pPr marL="0" marR="0" lvl="0" indent="0" algn="l" rtl="0">
              <a:lnSpc>
                <a:spcPct val="115000"/>
              </a:lnSpc>
              <a:spcBef>
                <a:spcPts val="0"/>
              </a:spcBef>
              <a:spcAft>
                <a:spcPts val="0"/>
              </a:spcAft>
              <a:buClr>
                <a:schemeClr val="dk1"/>
              </a:buClr>
              <a:buSzPts val="1100"/>
              <a:buFont typeface="Arial"/>
              <a:buNone/>
            </a:pPr>
            <a:r>
              <a:rPr lang="en" sz="800" b="0" i="0" u="none" strike="noStrike" cap="none">
                <a:solidFill>
                  <a:srgbClr val="00113E"/>
                </a:solidFill>
                <a:latin typeface="Poppins"/>
                <a:ea typeface="Poppins"/>
                <a:cs typeface="Poppins"/>
                <a:sym typeface="Poppins"/>
              </a:rPr>
              <a:t>- Red Agent</a:t>
            </a:r>
            <a:endParaRPr sz="800" b="0" i="0" u="none" strike="noStrike" cap="none">
              <a:solidFill>
                <a:srgbClr val="00113E"/>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800"/>
              <a:buFont typeface="Arial"/>
              <a:buNone/>
            </a:pPr>
            <a:r>
              <a:rPr lang="en" sz="800" b="0" i="0" u="none" strike="noStrike" cap="none">
                <a:solidFill>
                  <a:srgbClr val="00113E"/>
                </a:solidFill>
                <a:latin typeface="Poppins"/>
                <a:ea typeface="Poppins"/>
                <a:cs typeface="Poppins"/>
                <a:sym typeface="Poppins"/>
              </a:rPr>
              <a:t>- SaaS Users</a:t>
            </a:r>
            <a:endParaRPr sz="800" b="0" i="0" u="none" strike="noStrike" cap="none">
              <a:solidFill>
                <a:srgbClr val="00113E"/>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800"/>
              <a:buFont typeface="Arial"/>
              <a:buNone/>
            </a:pPr>
            <a:endParaRPr sz="800" b="0" i="0" u="none" strike="noStrike" cap="none">
              <a:solidFill>
                <a:srgbClr val="00113E"/>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800"/>
              <a:buFont typeface="Arial"/>
              <a:buNone/>
            </a:pPr>
            <a:endParaRPr sz="800" b="0" i="0" u="none" strike="noStrike" cap="none">
              <a:solidFill>
                <a:srgbClr val="00113E"/>
              </a:solidFill>
              <a:latin typeface="Poppins"/>
              <a:ea typeface="Poppins"/>
              <a:cs typeface="Poppins"/>
              <a:sym typeface="Poppins"/>
            </a:endParaRPr>
          </a:p>
        </p:txBody>
      </p:sp>
      <p:sp>
        <p:nvSpPr>
          <p:cNvPr id="392" name="Google Shape;392;p50"/>
          <p:cNvSpPr txBox="1"/>
          <p:nvPr/>
        </p:nvSpPr>
        <p:spPr>
          <a:xfrm>
            <a:off x="169678" y="1008122"/>
            <a:ext cx="2843100" cy="3876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dk2"/>
              </a:buClr>
              <a:buSzPts val="1500"/>
              <a:buFont typeface="Arial"/>
              <a:buNone/>
            </a:pPr>
            <a:r>
              <a:rPr lang="en" sz="1600" b="0" i="0" u="none" strike="noStrike" cap="none">
                <a:solidFill>
                  <a:schemeClr val="dk1"/>
                </a:solidFill>
                <a:latin typeface="Poppins"/>
                <a:ea typeface="Poppins"/>
                <a:cs typeface="Poppins"/>
                <a:sym typeface="Poppins"/>
              </a:rPr>
              <a:t>Product Usage</a:t>
            </a:r>
            <a:endParaRPr sz="1600" b="0" i="0" u="none" strike="noStrike" cap="none">
              <a:solidFill>
                <a:schemeClr val="dk1"/>
              </a:solidFill>
              <a:latin typeface="Poppins"/>
              <a:ea typeface="Poppins"/>
              <a:cs typeface="Poppins"/>
              <a:sym typeface="Poppins"/>
            </a:endParaRPr>
          </a:p>
        </p:txBody>
      </p:sp>
      <p:sp>
        <p:nvSpPr>
          <p:cNvPr id="393" name="Google Shape;393;p50"/>
          <p:cNvSpPr txBox="1"/>
          <p:nvPr/>
        </p:nvSpPr>
        <p:spPr>
          <a:xfrm>
            <a:off x="613618" y="2992819"/>
            <a:ext cx="2120100" cy="2058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1100" b="0" i="0" u="none" strike="noStrike" cap="none">
                <a:solidFill>
                  <a:srgbClr val="00113E"/>
                </a:solidFill>
                <a:latin typeface="Poppins Medium"/>
                <a:ea typeface="Poppins Medium"/>
                <a:cs typeface="Poppins Medium"/>
                <a:sym typeface="Poppins Medium"/>
              </a:rPr>
              <a:t>Runtime Sensor</a:t>
            </a:r>
            <a:br>
              <a:rPr lang="en" sz="1100" b="0" i="0" u="none" strike="noStrike" cap="none">
                <a:solidFill>
                  <a:srgbClr val="00113E"/>
                </a:solidFill>
                <a:latin typeface="Poppins Medium"/>
                <a:ea typeface="Poppins Medium"/>
                <a:cs typeface="Poppins Medium"/>
                <a:sym typeface="Poppins Medium"/>
              </a:rPr>
            </a:br>
            <a:r>
              <a:rPr lang="en" sz="1200" b="0" i="0" u="none" strike="noStrike" cap="none">
                <a:solidFill>
                  <a:srgbClr val="38761D"/>
                </a:solidFill>
                <a:latin typeface="Poppins Medium"/>
                <a:ea typeface="Poppins Medium"/>
                <a:cs typeface="Poppins Medium"/>
                <a:sym typeface="Poppins Medium"/>
              </a:rPr>
              <a:t>{{L_SE}}</a:t>
            </a:r>
            <a:endParaRPr sz="1300" b="0" i="0" u="none" strike="noStrike" cap="none">
              <a:solidFill>
                <a:srgbClr val="38761D"/>
              </a:solidFill>
              <a:latin typeface="Poppins Medium"/>
              <a:ea typeface="Poppins Medium"/>
              <a:cs typeface="Poppins Medium"/>
              <a:sym typeface="Poppins Medium"/>
            </a:endParaRPr>
          </a:p>
        </p:txBody>
      </p:sp>
      <p:pic>
        <p:nvPicPr>
          <p:cNvPr id="394" name="Google Shape;394;p50" title="Screenshot 2025-07-09 at 19.45.30.png"/>
          <p:cNvPicPr preferRelativeResize="0"/>
          <p:nvPr/>
        </p:nvPicPr>
        <p:blipFill rotWithShape="1">
          <a:blip r:embed="rId4">
            <a:alphaModFix/>
          </a:blip>
          <a:srcRect/>
          <a:stretch/>
        </p:blipFill>
        <p:spPr>
          <a:xfrm>
            <a:off x="212175" y="3021565"/>
            <a:ext cx="384944" cy="394315"/>
          </a:xfrm>
          <a:prstGeom prst="rect">
            <a:avLst/>
          </a:prstGeom>
          <a:noFill/>
          <a:ln>
            <a:noFill/>
          </a:ln>
        </p:spPr>
      </p:pic>
      <p:sp>
        <p:nvSpPr>
          <p:cNvPr id="395" name="Google Shape;395;p50"/>
          <p:cNvSpPr txBox="1"/>
          <p:nvPr/>
        </p:nvSpPr>
        <p:spPr>
          <a:xfrm>
            <a:off x="618387" y="3495619"/>
            <a:ext cx="2120100" cy="2058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1100" b="0" i="0" u="none" strike="noStrike" cap="none">
                <a:solidFill>
                  <a:srgbClr val="00113E"/>
                </a:solidFill>
                <a:latin typeface="Poppins Medium"/>
                <a:ea typeface="Poppins Medium"/>
                <a:cs typeface="Poppins Medium"/>
                <a:sym typeface="Poppins Medium"/>
              </a:rPr>
              <a:t>Wiz Defend Ingestion</a:t>
            </a:r>
            <a:br>
              <a:rPr lang="en" sz="1100" b="0" i="0" u="none" strike="noStrike" cap="none">
                <a:solidFill>
                  <a:srgbClr val="00113E"/>
                </a:solidFill>
                <a:latin typeface="Poppins Medium"/>
                <a:ea typeface="Poppins Medium"/>
                <a:cs typeface="Poppins Medium"/>
                <a:sym typeface="Poppins Medium"/>
              </a:rPr>
            </a:br>
            <a:r>
              <a:rPr lang="en" sz="1200" b="0" i="0" u="none" strike="noStrike" cap="none">
                <a:solidFill>
                  <a:srgbClr val="38761D"/>
                </a:solidFill>
                <a:latin typeface="Poppins Medium"/>
                <a:ea typeface="Poppins Medium"/>
                <a:cs typeface="Poppins Medium"/>
                <a:sym typeface="Poppins Medium"/>
              </a:rPr>
              <a:t>{{L_DE}} Units</a:t>
            </a:r>
            <a:endParaRPr sz="1300" b="0" i="0" u="none" strike="noStrike" cap="none">
              <a:solidFill>
                <a:srgbClr val="38761D"/>
              </a:solidFill>
              <a:latin typeface="Poppins Medium"/>
              <a:ea typeface="Poppins Medium"/>
              <a:cs typeface="Poppins Medium"/>
              <a:sym typeface="Poppins Medium"/>
            </a:endParaRPr>
          </a:p>
        </p:txBody>
      </p:sp>
      <p:pic>
        <p:nvPicPr>
          <p:cNvPr id="396" name="Google Shape;396;p50" title="Screenshot 2025-07-09 at 19.46.40.png"/>
          <p:cNvPicPr preferRelativeResize="0"/>
          <p:nvPr/>
        </p:nvPicPr>
        <p:blipFill rotWithShape="1">
          <a:blip r:embed="rId5">
            <a:alphaModFix/>
          </a:blip>
          <a:srcRect/>
          <a:stretch/>
        </p:blipFill>
        <p:spPr>
          <a:xfrm>
            <a:off x="194378" y="3538892"/>
            <a:ext cx="403072" cy="394315"/>
          </a:xfrm>
          <a:prstGeom prst="rect">
            <a:avLst/>
          </a:prstGeom>
          <a:noFill/>
          <a:ln>
            <a:noFill/>
          </a:ln>
        </p:spPr>
      </p:pic>
      <p:pic>
        <p:nvPicPr>
          <p:cNvPr id="397" name="Google Shape;397;p50" title="Screenshot 2025-07-09 at 19.46.06.png"/>
          <p:cNvPicPr preferRelativeResize="0"/>
          <p:nvPr/>
        </p:nvPicPr>
        <p:blipFill rotWithShape="1">
          <a:blip r:embed="rId6">
            <a:alphaModFix/>
          </a:blip>
          <a:srcRect/>
          <a:stretch/>
        </p:blipFill>
        <p:spPr>
          <a:xfrm>
            <a:off x="217005" y="4027677"/>
            <a:ext cx="385851" cy="388893"/>
          </a:xfrm>
          <a:prstGeom prst="rect">
            <a:avLst/>
          </a:prstGeom>
          <a:noFill/>
          <a:ln>
            <a:noFill/>
          </a:ln>
        </p:spPr>
      </p:pic>
      <p:sp>
        <p:nvSpPr>
          <p:cNvPr id="398" name="Google Shape;398;p50"/>
          <p:cNvSpPr txBox="1"/>
          <p:nvPr/>
        </p:nvSpPr>
        <p:spPr>
          <a:xfrm>
            <a:off x="621949" y="3980673"/>
            <a:ext cx="2120100" cy="205800"/>
          </a:xfrm>
          <a:prstGeom prst="rect">
            <a:avLst/>
          </a:prstGeom>
          <a:noFill/>
          <a:ln>
            <a:noFill/>
          </a:ln>
        </p:spPr>
        <p:txBody>
          <a:bodyPr spcFirstLastPara="1" wrap="square" lIns="55875" tIns="27925" rIns="55875" bIns="27925" anchor="t" anchorCtr="0">
            <a:noAutofit/>
          </a:bodyPr>
          <a:lstStyle/>
          <a:p>
            <a:pPr marL="0" marR="0" lvl="0" indent="0" algn="l" rtl="0">
              <a:lnSpc>
                <a:spcPct val="100000"/>
              </a:lnSpc>
              <a:spcBef>
                <a:spcPts val="0"/>
              </a:spcBef>
              <a:spcAft>
                <a:spcPts val="0"/>
              </a:spcAft>
              <a:buClr>
                <a:srgbClr val="00113E"/>
              </a:buClr>
              <a:buSzPts val="855"/>
              <a:buFont typeface="DM Sans"/>
              <a:buNone/>
            </a:pPr>
            <a:r>
              <a:rPr lang="en" sz="1100" b="0" i="0" u="none" strike="noStrike" cap="none">
                <a:solidFill>
                  <a:srgbClr val="00113E"/>
                </a:solidFill>
                <a:latin typeface="Poppins Medium"/>
                <a:ea typeface="Poppins Medium"/>
                <a:cs typeface="Poppins Medium"/>
                <a:sym typeface="Poppins Medium"/>
              </a:rPr>
              <a:t>Wiz Code</a:t>
            </a:r>
            <a:br>
              <a:rPr lang="en" sz="1100" b="0" i="0" u="none" strike="noStrike" cap="none">
                <a:solidFill>
                  <a:srgbClr val="00113E"/>
                </a:solidFill>
                <a:latin typeface="Poppins Medium"/>
                <a:ea typeface="Poppins Medium"/>
                <a:cs typeface="Poppins Medium"/>
                <a:sym typeface="Poppins Medium"/>
              </a:rPr>
            </a:br>
            <a:r>
              <a:rPr lang="en" sz="1200" b="0" i="0" u="none" strike="noStrike" cap="none">
                <a:solidFill>
                  <a:srgbClr val="38761D"/>
                </a:solidFill>
                <a:latin typeface="Poppins Medium"/>
                <a:ea typeface="Poppins Medium"/>
                <a:cs typeface="Poppins Medium"/>
                <a:sym typeface="Poppins Medium"/>
              </a:rPr>
              <a:t>{{L_CO}} Developers</a:t>
            </a:r>
            <a:endParaRPr sz="1300" b="0" i="0" u="none" strike="noStrike" cap="none">
              <a:solidFill>
                <a:srgbClr val="38761D"/>
              </a:solidFill>
              <a:latin typeface="Poppins Medium"/>
              <a:ea typeface="Poppins Medium"/>
              <a:cs typeface="Poppins Medium"/>
              <a:sym typeface="Poppins Medium"/>
            </a:endParaRPr>
          </a:p>
        </p:txBody>
      </p:sp>
      <p:pic>
        <p:nvPicPr>
          <p:cNvPr id="399" name="Google Shape;399;p50"/>
          <p:cNvPicPr preferRelativeResize="0"/>
          <p:nvPr/>
        </p:nvPicPr>
        <p:blipFill rotWithShape="1">
          <a:blip r:embed="rId7">
            <a:alphaModFix/>
          </a:blip>
          <a:srcRect/>
          <a:stretch/>
        </p:blipFill>
        <p:spPr>
          <a:xfrm>
            <a:off x="3171345" y="971143"/>
            <a:ext cx="2838298" cy="1109701"/>
          </a:xfrm>
          <a:prstGeom prst="rect">
            <a:avLst/>
          </a:prstGeom>
          <a:noFill/>
          <a:ln>
            <a:noFill/>
          </a:ln>
        </p:spPr>
      </p:pic>
      <p:sp>
        <p:nvSpPr>
          <p:cNvPr id="400" name="Google Shape;400;p50"/>
          <p:cNvSpPr txBox="1"/>
          <p:nvPr/>
        </p:nvSpPr>
        <p:spPr>
          <a:xfrm>
            <a:off x="3171351" y="976364"/>
            <a:ext cx="2836200" cy="2853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2"/>
              </a:buClr>
              <a:buSzPts val="1500"/>
              <a:buFont typeface="Arial"/>
              <a:buNone/>
            </a:pPr>
            <a:r>
              <a:rPr lang="en" sz="1500" b="0" i="0" u="none" strike="noStrike" cap="none">
                <a:solidFill>
                  <a:schemeClr val="dk1"/>
                </a:solidFill>
                <a:latin typeface="Poppins"/>
                <a:ea typeface="Poppins"/>
                <a:cs typeface="Poppins"/>
                <a:sym typeface="Poppins"/>
              </a:rPr>
              <a:t>Time With Wiz</a:t>
            </a:r>
            <a:endParaRPr sz="1500" b="0" i="0" u="none" strike="noStrike" cap="none">
              <a:solidFill>
                <a:schemeClr val="dk1"/>
              </a:solidFill>
              <a:latin typeface="Poppins"/>
              <a:ea typeface="Poppins"/>
              <a:cs typeface="Poppins"/>
              <a:sym typeface="Poppins"/>
            </a:endParaRPr>
          </a:p>
        </p:txBody>
      </p:sp>
      <p:sp>
        <p:nvSpPr>
          <p:cNvPr id="401" name="Google Shape;401;p50"/>
          <p:cNvSpPr txBox="1"/>
          <p:nvPr/>
        </p:nvSpPr>
        <p:spPr>
          <a:xfrm>
            <a:off x="3310069" y="1492406"/>
            <a:ext cx="2556900" cy="306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Poppins Light"/>
              <a:ea typeface="Poppins Light"/>
              <a:cs typeface="Poppins Light"/>
              <a:sym typeface="Poppins Light"/>
            </a:endParaRPr>
          </a:p>
        </p:txBody>
      </p:sp>
      <p:sp>
        <p:nvSpPr>
          <p:cNvPr id="402" name="Google Shape;402;p50"/>
          <p:cNvSpPr txBox="1"/>
          <p:nvPr/>
        </p:nvSpPr>
        <p:spPr>
          <a:xfrm>
            <a:off x="3249786" y="1239364"/>
            <a:ext cx="2683500" cy="2607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1155CC"/>
              </a:solidFill>
              <a:latin typeface="Poppins SemiBold"/>
              <a:ea typeface="Poppins SemiBold"/>
              <a:cs typeface="Poppins SemiBold"/>
              <a:sym typeface="Poppins SemiBold"/>
            </a:endParaRPr>
          </a:p>
        </p:txBody>
      </p:sp>
      <p:pic>
        <p:nvPicPr>
          <p:cNvPr id="403" name="Google Shape;403;p50"/>
          <p:cNvPicPr preferRelativeResize="0"/>
          <p:nvPr/>
        </p:nvPicPr>
        <p:blipFill rotWithShape="1">
          <a:blip r:embed="rId7">
            <a:alphaModFix/>
          </a:blip>
          <a:srcRect/>
          <a:stretch/>
        </p:blipFill>
        <p:spPr>
          <a:xfrm>
            <a:off x="3167109" y="2242540"/>
            <a:ext cx="2841027" cy="2534151"/>
          </a:xfrm>
          <a:prstGeom prst="rect">
            <a:avLst/>
          </a:prstGeom>
          <a:noFill/>
          <a:ln>
            <a:noFill/>
          </a:ln>
        </p:spPr>
      </p:pic>
      <p:sp>
        <p:nvSpPr>
          <p:cNvPr id="404" name="Google Shape;404;p50"/>
          <p:cNvSpPr txBox="1"/>
          <p:nvPr/>
        </p:nvSpPr>
        <p:spPr>
          <a:xfrm>
            <a:off x="3167119" y="2314275"/>
            <a:ext cx="2838900" cy="6675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2"/>
              </a:buClr>
              <a:buSzPts val="1500"/>
              <a:buFont typeface="Arial"/>
              <a:buNone/>
            </a:pPr>
            <a:r>
              <a:rPr lang="en" sz="1600" b="0" i="0" u="none" strike="noStrike" cap="none">
                <a:solidFill>
                  <a:schemeClr val="dk1"/>
                </a:solidFill>
                <a:latin typeface="Poppins"/>
                <a:ea typeface="Poppins"/>
                <a:cs typeface="Poppins"/>
                <a:sym typeface="Poppins"/>
              </a:rPr>
              <a:t>Kubernetes / Containers</a:t>
            </a:r>
            <a:br>
              <a:rPr lang="en" sz="1600" b="0" i="0" u="none" strike="noStrike" cap="none">
                <a:solidFill>
                  <a:schemeClr val="dk1"/>
                </a:solidFill>
                <a:latin typeface="Poppins"/>
                <a:ea typeface="Poppins"/>
                <a:cs typeface="Poppins"/>
                <a:sym typeface="Poppins"/>
              </a:rPr>
            </a:br>
            <a:r>
              <a:rPr lang="en" sz="1600" b="0" i="0" u="none" strike="noStrike" cap="none">
                <a:solidFill>
                  <a:schemeClr val="dk1"/>
                </a:solidFill>
                <a:latin typeface="Poppins"/>
                <a:ea typeface="Poppins"/>
                <a:cs typeface="Poppins"/>
                <a:sym typeface="Poppins"/>
              </a:rPr>
              <a:t>&amp; Wiz CLI</a:t>
            </a:r>
            <a:endParaRPr sz="1600" b="0" i="0" u="none" strike="noStrike" cap="none">
              <a:solidFill>
                <a:schemeClr val="dk1"/>
              </a:solidFill>
              <a:latin typeface="Poppins"/>
              <a:ea typeface="Poppins"/>
              <a:cs typeface="Poppins"/>
              <a:sym typeface="Poppins"/>
            </a:endParaRPr>
          </a:p>
        </p:txBody>
      </p:sp>
      <p:sp>
        <p:nvSpPr>
          <p:cNvPr id="405" name="Google Shape;405;p50"/>
          <p:cNvSpPr txBox="1"/>
          <p:nvPr/>
        </p:nvSpPr>
        <p:spPr>
          <a:xfrm>
            <a:off x="3271520" y="3472107"/>
            <a:ext cx="2592000" cy="71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Poppins Light"/>
              <a:ea typeface="Poppins Light"/>
              <a:cs typeface="Poppins Light"/>
              <a:sym typeface="Poppins Light"/>
            </a:endParaRPr>
          </a:p>
        </p:txBody>
      </p:sp>
      <p:sp>
        <p:nvSpPr>
          <p:cNvPr id="406" name="Google Shape;406;p50"/>
          <p:cNvSpPr txBox="1"/>
          <p:nvPr/>
        </p:nvSpPr>
        <p:spPr>
          <a:xfrm>
            <a:off x="3210410" y="2880241"/>
            <a:ext cx="2720400" cy="6096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1155CC"/>
              </a:solidFill>
              <a:latin typeface="Poppins SemiBold"/>
              <a:ea typeface="Poppins SemiBold"/>
              <a:cs typeface="Poppins SemiBold"/>
              <a:sym typeface="Poppins SemiBold"/>
            </a:endParaRPr>
          </a:p>
        </p:txBody>
      </p:sp>
      <p:sp>
        <p:nvSpPr>
          <p:cNvPr id="407" name="Google Shape;407;p50"/>
          <p:cNvSpPr txBox="1"/>
          <p:nvPr/>
        </p:nvSpPr>
        <p:spPr>
          <a:xfrm>
            <a:off x="3302811" y="3024161"/>
            <a:ext cx="1695900" cy="2094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sng" strike="noStrike" cap="none">
                <a:solidFill>
                  <a:srgbClr val="0254EC"/>
                </a:solidFill>
                <a:latin typeface="Poppins"/>
                <a:ea typeface="Poppins"/>
                <a:cs typeface="Poppins"/>
                <a:sym typeface="Poppins"/>
                <a:hlinkClick r:id="rId8">
                  <a:extLst>
                    <a:ext uri="{A12FA001-AC4F-418D-AE19-62706E023703}">
                      <ahyp:hlinkClr xmlns:ahyp="http://schemas.microsoft.com/office/drawing/2018/hyperlinkcolor" val="tx"/>
                    </a:ext>
                  </a:extLst>
                </a:hlinkClick>
              </a:rPr>
              <a:t>K8s Clusters</a:t>
            </a:r>
            <a:endParaRPr sz="1000" b="0" i="0" u="none" strike="noStrike" cap="none">
              <a:solidFill>
                <a:srgbClr val="0254EC"/>
              </a:solidFill>
              <a:latin typeface="Poppins"/>
              <a:ea typeface="Poppins"/>
              <a:cs typeface="Poppins"/>
              <a:sym typeface="Poppins"/>
            </a:endParaRPr>
          </a:p>
        </p:txBody>
      </p:sp>
      <p:sp>
        <p:nvSpPr>
          <p:cNvPr id="408" name="Google Shape;408;p50"/>
          <p:cNvSpPr txBox="1"/>
          <p:nvPr/>
        </p:nvSpPr>
        <p:spPr>
          <a:xfrm>
            <a:off x="4789108" y="3024161"/>
            <a:ext cx="1059900" cy="2094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0" i="0" u="none" strike="noStrike" cap="none">
                <a:solidFill>
                  <a:srgbClr val="333333"/>
                </a:solidFill>
                <a:latin typeface="Poppins"/>
                <a:ea typeface="Poppins"/>
                <a:cs typeface="Poppins"/>
                <a:sym typeface="Poppins"/>
              </a:rPr>
              <a:t>{{K8S}}</a:t>
            </a:r>
            <a:endParaRPr sz="1000" b="0" i="0" u="none" strike="noStrike" cap="none">
              <a:solidFill>
                <a:srgbClr val="333333"/>
              </a:solidFill>
              <a:latin typeface="Poppins"/>
              <a:ea typeface="Poppins"/>
              <a:cs typeface="Poppins"/>
              <a:sym typeface="Poppins"/>
            </a:endParaRPr>
          </a:p>
        </p:txBody>
      </p:sp>
      <p:sp>
        <p:nvSpPr>
          <p:cNvPr id="409" name="Google Shape;409;p50"/>
          <p:cNvSpPr txBox="1"/>
          <p:nvPr/>
        </p:nvSpPr>
        <p:spPr>
          <a:xfrm>
            <a:off x="4789108" y="3245522"/>
            <a:ext cx="1059900" cy="2094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0" i="0" u="none" strike="noStrike" cap="none">
                <a:solidFill>
                  <a:srgbClr val="333333"/>
                </a:solidFill>
                <a:latin typeface="Poppins"/>
                <a:ea typeface="Poppins"/>
                <a:cs typeface="Poppins"/>
                <a:sym typeface="Poppins"/>
              </a:rPr>
              <a:t>{{TI}}</a:t>
            </a:r>
            <a:endParaRPr sz="1000" b="0" i="0" u="none" strike="noStrike" cap="none">
              <a:solidFill>
                <a:srgbClr val="333333"/>
              </a:solidFill>
              <a:latin typeface="Poppins"/>
              <a:ea typeface="Poppins"/>
              <a:cs typeface="Poppins"/>
              <a:sym typeface="Poppins"/>
            </a:endParaRPr>
          </a:p>
        </p:txBody>
      </p:sp>
      <p:sp>
        <p:nvSpPr>
          <p:cNvPr id="410" name="Google Shape;410;p50"/>
          <p:cNvSpPr txBox="1"/>
          <p:nvPr/>
        </p:nvSpPr>
        <p:spPr>
          <a:xfrm>
            <a:off x="3167108" y="3808871"/>
            <a:ext cx="2838900" cy="270300"/>
          </a:xfrm>
          <a:prstGeom prst="rect">
            <a:avLst/>
          </a:prstGeom>
          <a:noFill/>
          <a:ln>
            <a:noFill/>
          </a:ln>
        </p:spPr>
        <p:txBody>
          <a:bodyPr spcFirstLastPara="1" wrap="square" lIns="91225" tIns="91225" rIns="91225" bIns="91225" anchor="t" anchorCtr="0">
            <a:noAutofit/>
          </a:bodyPr>
          <a:lstStyle/>
          <a:p>
            <a:pPr marL="0" marR="0" lvl="0" indent="0" algn="ctr" rtl="0">
              <a:lnSpc>
                <a:spcPct val="150000"/>
              </a:lnSpc>
              <a:spcBef>
                <a:spcPts val="0"/>
              </a:spcBef>
              <a:spcAft>
                <a:spcPts val="0"/>
              </a:spcAft>
              <a:buClr>
                <a:srgbClr val="000000"/>
              </a:buClr>
              <a:buSzPts val="1100"/>
              <a:buFont typeface="Arial"/>
              <a:buNone/>
            </a:pPr>
            <a:r>
              <a:rPr lang="en" sz="1100" b="0" i="0" u="sng" strike="noStrike" cap="none">
                <a:solidFill>
                  <a:srgbClr val="0254EC"/>
                </a:solidFill>
                <a:latin typeface="Poppins"/>
                <a:ea typeface="Poppins"/>
                <a:cs typeface="Poppins"/>
                <a:sym typeface="Poppins"/>
                <a:hlinkClick r:id="rId9">
                  <a:extLst>
                    <a:ext uri="{A12FA001-AC4F-418D-AE19-62706E023703}">
                      <ahyp:hlinkClr xmlns:ahyp="http://schemas.microsoft.com/office/drawing/2018/hyperlinkcolor" val="tx"/>
                    </a:ext>
                  </a:extLst>
                </a:hlinkClick>
              </a:rPr>
              <a:t>Wiz CLI SCANS (30d) </a:t>
            </a:r>
            <a:r>
              <a:rPr lang="en" sz="1400" b="0" i="0" u="none" strike="noStrike" cap="none">
                <a:solidFill>
                  <a:srgbClr val="0254EC"/>
                </a:solidFill>
                <a:uFill>
                  <a:noFill/>
                </a:uFill>
                <a:latin typeface="Poppins"/>
                <a:ea typeface="Poppins"/>
                <a:cs typeface="Poppins"/>
                <a:sym typeface="Poppins"/>
                <a:hlinkClick r:id="rId9">
                  <a:extLst>
                    <a:ext uri="{A12FA001-AC4F-418D-AE19-62706E023703}">
                      <ahyp:hlinkClr xmlns:ahyp="http://schemas.microsoft.com/office/drawing/2018/hyperlinkcolor" val="tx"/>
                    </a:ext>
                  </a:extLst>
                </a:hlinkClick>
              </a:rPr>
              <a:t>↗</a:t>
            </a:r>
            <a:endParaRPr sz="1100" b="0" i="0" u="none" strike="noStrike" cap="none">
              <a:solidFill>
                <a:srgbClr val="0254EC"/>
              </a:solidFill>
              <a:latin typeface="Poppins"/>
              <a:ea typeface="Poppins"/>
              <a:cs typeface="Poppins"/>
              <a:sym typeface="Poppins"/>
            </a:endParaRPr>
          </a:p>
        </p:txBody>
      </p:sp>
      <p:sp>
        <p:nvSpPr>
          <p:cNvPr id="411" name="Google Shape;411;p50"/>
          <p:cNvSpPr txBox="1"/>
          <p:nvPr/>
        </p:nvSpPr>
        <p:spPr>
          <a:xfrm>
            <a:off x="3167108" y="4128246"/>
            <a:ext cx="2838900" cy="492000"/>
          </a:xfrm>
          <a:prstGeom prst="rect">
            <a:avLst/>
          </a:prstGeom>
          <a:noFill/>
          <a:ln>
            <a:noFill/>
          </a:ln>
        </p:spPr>
        <p:txBody>
          <a:bodyPr spcFirstLastPara="1" wrap="square" lIns="91225" tIns="91225" rIns="91225" bIns="91225" anchor="t" anchorCtr="0">
            <a:noAutofit/>
          </a:bodyPr>
          <a:lstStyle/>
          <a:p>
            <a:pPr marL="0" marR="0" lvl="0" indent="0" algn="ctr" rtl="0">
              <a:lnSpc>
                <a:spcPct val="150000"/>
              </a:lnSpc>
              <a:spcBef>
                <a:spcPts val="0"/>
              </a:spcBef>
              <a:spcAft>
                <a:spcPts val="0"/>
              </a:spcAft>
              <a:buClr>
                <a:srgbClr val="000000"/>
              </a:buClr>
              <a:buSzPts val="2000"/>
              <a:buFont typeface="Arial"/>
              <a:buNone/>
            </a:pPr>
            <a:r>
              <a:rPr lang="en" sz="2000" b="0" i="0" u="none" strike="noStrike" cap="none" dirty="0">
                <a:solidFill>
                  <a:srgbClr val="333333"/>
                </a:solidFill>
                <a:latin typeface="Poppins"/>
                <a:ea typeface="Poppins"/>
                <a:cs typeface="Poppins"/>
                <a:sym typeface="Poppins"/>
              </a:rPr>
              <a:t>{{CLI}}</a:t>
            </a:r>
            <a:endParaRPr sz="2000" b="0" i="0" u="none" strike="noStrike" cap="none" dirty="0">
              <a:solidFill>
                <a:srgbClr val="333333"/>
              </a:solidFill>
              <a:latin typeface="Poppins"/>
              <a:ea typeface="Poppins"/>
              <a:cs typeface="Poppins"/>
              <a:sym typeface="Poppins"/>
            </a:endParaRPr>
          </a:p>
        </p:txBody>
      </p:sp>
      <p:sp>
        <p:nvSpPr>
          <p:cNvPr id="412" name="Google Shape;412;p50"/>
          <p:cNvSpPr txBox="1"/>
          <p:nvPr/>
        </p:nvSpPr>
        <p:spPr>
          <a:xfrm>
            <a:off x="3306330" y="3466201"/>
            <a:ext cx="1695900" cy="2094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sng" strike="noStrike" cap="none">
                <a:solidFill>
                  <a:srgbClr val="0254EC"/>
                </a:solidFill>
                <a:latin typeface="Poppins"/>
                <a:ea typeface="Poppins"/>
                <a:cs typeface="Poppins"/>
                <a:sym typeface="Poppins"/>
                <a:hlinkClick r:id="rId10">
                  <a:extLst>
                    <a:ext uri="{A12FA001-AC4F-418D-AE19-62706E023703}">
                      <ahyp:hlinkClr xmlns:ahyp="http://schemas.microsoft.com/office/drawing/2018/hyperlinkcolor" val="tx"/>
                    </a:ext>
                  </a:extLst>
                </a:hlinkClick>
              </a:rPr>
              <a:t>Container Registries</a:t>
            </a:r>
            <a:endParaRPr sz="1000" b="0" i="0" u="none" strike="noStrike" cap="none">
              <a:solidFill>
                <a:srgbClr val="0254EC"/>
              </a:solidFill>
              <a:latin typeface="Poppins"/>
              <a:ea typeface="Poppins"/>
              <a:cs typeface="Poppins"/>
              <a:sym typeface="Poppins"/>
            </a:endParaRPr>
          </a:p>
        </p:txBody>
      </p:sp>
      <p:sp>
        <p:nvSpPr>
          <p:cNvPr id="413" name="Google Shape;413;p50"/>
          <p:cNvSpPr txBox="1"/>
          <p:nvPr/>
        </p:nvSpPr>
        <p:spPr>
          <a:xfrm>
            <a:off x="4792628" y="3466201"/>
            <a:ext cx="1059900" cy="2094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0" i="0" u="none" strike="noStrike" cap="none">
                <a:solidFill>
                  <a:srgbClr val="333333"/>
                </a:solidFill>
                <a:latin typeface="Poppins"/>
                <a:ea typeface="Poppins"/>
                <a:cs typeface="Poppins"/>
                <a:sym typeface="Poppins"/>
              </a:rPr>
              <a:t>{{R_TOT}}</a:t>
            </a:r>
            <a:endParaRPr sz="1000" b="0" i="0" u="none" strike="noStrike" cap="none">
              <a:solidFill>
                <a:srgbClr val="333333"/>
              </a:solidFill>
              <a:latin typeface="Poppins"/>
              <a:ea typeface="Poppins"/>
              <a:cs typeface="Poppins"/>
              <a:sym typeface="Poppins"/>
            </a:endParaRPr>
          </a:p>
        </p:txBody>
      </p:sp>
      <p:sp>
        <p:nvSpPr>
          <p:cNvPr id="414" name="Google Shape;414;p50"/>
          <p:cNvSpPr txBox="1"/>
          <p:nvPr/>
        </p:nvSpPr>
        <p:spPr>
          <a:xfrm>
            <a:off x="3293611" y="3244616"/>
            <a:ext cx="1784700" cy="2094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sng" strike="noStrike" cap="none">
                <a:solidFill>
                  <a:srgbClr val="0254EC"/>
                </a:solidFill>
                <a:latin typeface="Poppins"/>
                <a:ea typeface="Poppins"/>
                <a:cs typeface="Poppins"/>
                <a:sym typeface="Poppins"/>
                <a:hlinkClick r:id="rId11">
                  <a:extLst>
                    <a:ext uri="{A12FA001-AC4F-418D-AE19-62706E023703}">
                      <ahyp:hlinkClr xmlns:ahyp="http://schemas.microsoft.com/office/drawing/2018/hyperlinkcolor" val="tx"/>
                    </a:ext>
                  </a:extLst>
                </a:hlinkClick>
              </a:rPr>
              <a:t>Container Images</a:t>
            </a:r>
            <a:endParaRPr sz="1000" b="0" i="0" u="none" strike="noStrike" cap="none">
              <a:solidFill>
                <a:srgbClr val="0254EC"/>
              </a:solidFill>
              <a:latin typeface="Poppins"/>
              <a:ea typeface="Poppins"/>
              <a:cs typeface="Poppins"/>
              <a:sym typeface="Poppins"/>
            </a:endParaRPr>
          </a:p>
        </p:txBody>
      </p:sp>
      <p:sp>
        <p:nvSpPr>
          <p:cNvPr id="415" name="Google Shape;415;p50"/>
          <p:cNvSpPr txBox="1"/>
          <p:nvPr/>
        </p:nvSpPr>
        <p:spPr>
          <a:xfrm>
            <a:off x="1817806" y="1749876"/>
            <a:ext cx="1225800" cy="1248900"/>
          </a:xfrm>
          <a:prstGeom prst="rect">
            <a:avLst/>
          </a:prstGeom>
          <a:noFill/>
          <a:ln>
            <a:noFill/>
          </a:ln>
        </p:spPr>
        <p:txBody>
          <a:bodyPr spcFirstLastPara="1" wrap="square" lIns="91225" tIns="91225" rIns="91225" bIns="91225" anchor="ctr" anchorCtr="0">
            <a:noAutofit/>
          </a:bodyPr>
          <a:lstStyle/>
          <a:p>
            <a:pPr marL="0" marR="0" lvl="0" indent="0" algn="r" rtl="0">
              <a:lnSpc>
                <a:spcPct val="115000"/>
              </a:lnSpc>
              <a:spcBef>
                <a:spcPts val="0"/>
              </a:spcBef>
              <a:spcAft>
                <a:spcPts val="0"/>
              </a:spcAft>
              <a:buClr>
                <a:srgbClr val="000000"/>
              </a:buClr>
              <a:buSzPts val="800"/>
              <a:buFont typeface="Arial"/>
              <a:buNone/>
            </a:pPr>
            <a:r>
              <a:rPr lang="en" sz="800" b="0" i="0" u="none" strike="noStrike" cap="none">
                <a:solidFill>
                  <a:srgbClr val="333333"/>
                </a:solidFill>
                <a:latin typeface="Poppins"/>
                <a:ea typeface="Poppins"/>
                <a:cs typeface="Poppins"/>
                <a:sym typeface="Poppins"/>
              </a:rPr>
              <a:t>{{CL_CP}}%</a:t>
            </a:r>
            <a:br>
              <a:rPr lang="en" sz="800" b="0" i="0" u="none" strike="noStrike" cap="none">
                <a:solidFill>
                  <a:srgbClr val="333333"/>
                </a:solidFill>
                <a:latin typeface="Poppins"/>
                <a:ea typeface="Poppins"/>
                <a:cs typeface="Poppins"/>
                <a:sym typeface="Poppins"/>
              </a:rPr>
            </a:br>
            <a:r>
              <a:rPr lang="en" sz="800" b="0" i="0" u="none" strike="noStrike" cap="none">
                <a:solidFill>
                  <a:srgbClr val="333333"/>
                </a:solidFill>
                <a:latin typeface="Poppins"/>
                <a:ea typeface="Poppins"/>
                <a:cs typeface="Poppins"/>
                <a:sym typeface="Poppins"/>
              </a:rPr>
              <a:t>{{CL_DP}}%</a:t>
            </a:r>
            <a:br>
              <a:rPr lang="en" sz="800" b="0" i="0" u="none" strike="noStrike" cap="none">
                <a:solidFill>
                  <a:srgbClr val="333333"/>
                </a:solidFill>
                <a:latin typeface="Poppins"/>
                <a:ea typeface="Poppins"/>
                <a:cs typeface="Poppins"/>
                <a:sym typeface="Poppins"/>
              </a:rPr>
            </a:br>
            <a:r>
              <a:rPr lang="en" sz="800" b="0" i="0" u="none" strike="noStrike" cap="none">
                <a:solidFill>
                  <a:srgbClr val="333333"/>
                </a:solidFill>
                <a:latin typeface="Poppins"/>
                <a:ea typeface="Poppins"/>
                <a:cs typeface="Poppins"/>
                <a:sym typeface="Poppins"/>
              </a:rPr>
              <a:t>{{CL_NRVP}}%</a:t>
            </a:r>
            <a:br>
              <a:rPr lang="en" sz="800" b="0" i="0" u="none" strike="noStrike" cap="none">
                <a:solidFill>
                  <a:srgbClr val="333333"/>
                </a:solidFill>
                <a:latin typeface="Poppins"/>
                <a:ea typeface="Poppins"/>
                <a:cs typeface="Poppins"/>
                <a:sym typeface="Poppins"/>
              </a:rPr>
            </a:br>
            <a:r>
              <a:rPr lang="en" sz="800" b="0" i="0" u="none" strike="noStrike" cap="none">
                <a:solidFill>
                  <a:srgbClr val="333333"/>
                </a:solidFill>
                <a:latin typeface="Poppins"/>
                <a:ea typeface="Poppins"/>
                <a:cs typeface="Poppins"/>
                <a:sym typeface="Poppins"/>
              </a:rPr>
              <a:t>{{CL_WOP}}%</a:t>
            </a:r>
            <a:br>
              <a:rPr lang="en" sz="800" b="0" i="0" u="none" strike="noStrike" cap="none">
                <a:solidFill>
                  <a:srgbClr val="333333"/>
                </a:solidFill>
                <a:latin typeface="Poppins"/>
                <a:ea typeface="Poppins"/>
                <a:cs typeface="Poppins"/>
                <a:sym typeface="Poppins"/>
              </a:rPr>
            </a:br>
            <a:r>
              <a:rPr lang="en" sz="800" b="0" i="0" u="none" strike="noStrike" cap="none">
                <a:solidFill>
                  <a:srgbClr val="333333"/>
                </a:solidFill>
                <a:latin typeface="Poppins"/>
                <a:ea typeface="Poppins"/>
                <a:cs typeface="Poppins"/>
                <a:sym typeface="Poppins"/>
              </a:rPr>
              <a:t>{{CL_UVMP}}%</a:t>
            </a:r>
            <a:br>
              <a:rPr lang="en" sz="800" b="0" i="0" u="none" strike="noStrike" cap="none">
                <a:solidFill>
                  <a:srgbClr val="333333"/>
                </a:solidFill>
                <a:latin typeface="Poppins"/>
                <a:ea typeface="Poppins"/>
                <a:cs typeface="Poppins"/>
                <a:sym typeface="Poppins"/>
              </a:rPr>
            </a:br>
            <a:r>
              <a:rPr lang="en" sz="800" b="0" i="0" u="none" strike="noStrike" cap="none">
                <a:solidFill>
                  <a:srgbClr val="333333"/>
                </a:solidFill>
                <a:latin typeface="Poppins"/>
                <a:ea typeface="Poppins"/>
                <a:cs typeface="Poppins"/>
                <a:sym typeface="Poppins"/>
              </a:rPr>
              <a:t>{{CL_ASMP}}%</a:t>
            </a:r>
            <a:endParaRPr sz="800" b="0" i="0" u="none" strike="noStrike" cap="none">
              <a:solidFill>
                <a:srgbClr val="333333"/>
              </a:solidFill>
              <a:latin typeface="Poppins"/>
              <a:ea typeface="Poppins"/>
              <a:cs typeface="Poppins"/>
              <a:sym typeface="Poppins"/>
            </a:endParaRPr>
          </a:p>
          <a:p>
            <a:pPr marL="0" marR="0" lvl="0" indent="0" algn="r" rtl="0">
              <a:lnSpc>
                <a:spcPct val="115000"/>
              </a:lnSpc>
              <a:spcBef>
                <a:spcPts val="0"/>
              </a:spcBef>
              <a:spcAft>
                <a:spcPts val="0"/>
              </a:spcAft>
              <a:buClr>
                <a:srgbClr val="000000"/>
              </a:buClr>
              <a:buSzPts val="800"/>
              <a:buFont typeface="Arial"/>
              <a:buNone/>
            </a:pPr>
            <a:r>
              <a:rPr lang="en" sz="800" b="0" i="0" u="none" strike="noStrike" cap="none">
                <a:solidFill>
                  <a:srgbClr val="333333"/>
                </a:solidFill>
                <a:latin typeface="Poppins"/>
                <a:ea typeface="Poppins"/>
                <a:cs typeface="Poppins"/>
                <a:sym typeface="Poppins"/>
              </a:rPr>
              <a:t>{{CL_REDA}}%</a:t>
            </a:r>
            <a:br>
              <a:rPr lang="en" sz="800" b="0" i="0" u="none" strike="noStrike" cap="none">
                <a:solidFill>
                  <a:srgbClr val="333333"/>
                </a:solidFill>
                <a:latin typeface="Poppins"/>
                <a:ea typeface="Poppins"/>
                <a:cs typeface="Poppins"/>
                <a:sym typeface="Poppins"/>
              </a:rPr>
            </a:br>
            <a:r>
              <a:rPr lang="en" sz="800" b="0" i="0" u="none" strike="noStrike" cap="none">
                <a:solidFill>
                  <a:srgbClr val="333333"/>
                </a:solidFill>
                <a:latin typeface="Poppins"/>
                <a:ea typeface="Poppins"/>
                <a:cs typeface="Poppins"/>
                <a:sym typeface="Poppins"/>
              </a:rPr>
              <a:t>{{CL_SUP}}%</a:t>
            </a:r>
            <a:endParaRPr sz="800" b="0" i="0" u="none" strike="noStrike" cap="none">
              <a:solidFill>
                <a:srgbClr val="333333"/>
              </a:solidFill>
              <a:latin typeface="Poppins"/>
              <a:ea typeface="Poppins"/>
              <a:cs typeface="Poppins"/>
              <a:sym typeface="Poppins"/>
            </a:endParaRPr>
          </a:p>
        </p:txBody>
      </p:sp>
      <p:sp>
        <p:nvSpPr>
          <p:cNvPr id="416" name="Google Shape;416;p50"/>
          <p:cNvSpPr txBox="1"/>
          <p:nvPr/>
        </p:nvSpPr>
        <p:spPr>
          <a:xfrm>
            <a:off x="3295309" y="1456043"/>
            <a:ext cx="2528700" cy="3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dirty="0">
                <a:solidFill>
                  <a:schemeClr val="dk1"/>
                </a:solidFill>
                <a:latin typeface="Poppins Light"/>
                <a:ea typeface="Poppins Light"/>
                <a:cs typeface="Poppins Light"/>
                <a:sym typeface="Poppins Light"/>
              </a:rPr>
              <a:t>Current Contract End</a:t>
            </a:r>
            <a:br>
              <a:rPr lang="en" sz="1000" b="0" i="0" u="none" strike="noStrike" cap="none" dirty="0">
                <a:solidFill>
                  <a:schemeClr val="dk1"/>
                </a:solidFill>
                <a:latin typeface="Poppins Light"/>
                <a:ea typeface="Poppins Light"/>
                <a:cs typeface="Poppins Light"/>
                <a:sym typeface="Poppins Light"/>
              </a:rPr>
            </a:br>
            <a:r>
              <a:rPr lang="en" sz="1000" b="0" i="0" u="none" strike="noStrike" cap="none" dirty="0">
                <a:solidFill>
                  <a:schemeClr val="dk1"/>
                </a:solidFill>
                <a:latin typeface="Poppins Light"/>
                <a:ea typeface="Poppins Light"/>
                <a:cs typeface="Poppins Light"/>
                <a:sym typeface="Poppins Light"/>
              </a:rPr>
              <a:t>{{CONTRACT_END_FMT}}</a:t>
            </a:r>
            <a:endParaRPr sz="1000" b="0" i="0" u="none" strike="noStrike" cap="none" dirty="0">
              <a:solidFill>
                <a:schemeClr val="dk1"/>
              </a:solidFill>
              <a:latin typeface="Poppins Light"/>
              <a:ea typeface="Poppins Light"/>
              <a:cs typeface="Poppins Light"/>
              <a:sym typeface="Poppins Light"/>
            </a:endParaRPr>
          </a:p>
        </p:txBody>
      </p:sp>
      <p:sp>
        <p:nvSpPr>
          <p:cNvPr id="417" name="Google Shape;417;p50"/>
          <p:cNvSpPr txBox="1"/>
          <p:nvPr/>
        </p:nvSpPr>
        <p:spPr>
          <a:xfrm>
            <a:off x="3266555" y="1275483"/>
            <a:ext cx="2683500" cy="285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solidFill>
                  <a:srgbClr val="1155CC"/>
                </a:solidFill>
                <a:latin typeface="Poppins SemiBold"/>
                <a:ea typeface="Poppins SemiBold"/>
                <a:cs typeface="Poppins SemiBold"/>
                <a:sym typeface="Poppins SemiBold"/>
              </a:rPr>
              <a:t>{{CUS_NOD}} Days as Wiz Customer</a:t>
            </a:r>
            <a:endParaRPr sz="1100" b="0" i="0" u="none" strike="noStrike" cap="none" dirty="0">
              <a:solidFill>
                <a:srgbClr val="1155CC"/>
              </a:solidFill>
              <a:latin typeface="Poppins SemiBold"/>
              <a:ea typeface="Poppins SemiBold"/>
              <a:cs typeface="Poppins SemiBold"/>
              <a:sym typeface="Poppins SemiBold"/>
            </a:endParaRPr>
          </a:p>
        </p:txBody>
      </p:sp>
      <p:sp>
        <p:nvSpPr>
          <p:cNvPr id="418" name="Google Shape;418;p50"/>
          <p:cNvSpPr txBox="1"/>
          <p:nvPr/>
        </p:nvSpPr>
        <p:spPr>
          <a:xfrm>
            <a:off x="3293159" y="1891557"/>
            <a:ext cx="2683500" cy="153888"/>
          </a:xfrm>
          <a:prstGeom prst="rect">
            <a:avLst/>
          </a:prstGeom>
          <a:noFill/>
          <a:ln>
            <a:noFill/>
          </a:ln>
        </p:spPr>
        <p:txBody>
          <a:bodyPr spcFirstLastPara="1" wrap="square" lIns="91425" tIns="0" rIns="91425"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dirty="0">
                <a:solidFill>
                  <a:schemeClr val="dk1"/>
                </a:solidFill>
                <a:latin typeface="Poppins Light"/>
                <a:ea typeface="Poppins Light"/>
                <a:cs typeface="Poppins Light"/>
                <a:sym typeface="Poppins Light"/>
              </a:rPr>
              <a:t>{{D_U_R}} Days Until Renewal</a:t>
            </a:r>
            <a:endParaRPr sz="1000" b="0" i="0" u="none" strike="noStrike" cap="none" dirty="0">
              <a:solidFill>
                <a:schemeClr val="dk1"/>
              </a:solidFill>
              <a:latin typeface="Poppins Light"/>
              <a:ea typeface="Poppins Light"/>
              <a:cs typeface="Poppins Light"/>
              <a:sym typeface="Poppins Light"/>
            </a:endParaRPr>
          </a:p>
        </p:txBody>
      </p:sp>
      <p:pic>
        <p:nvPicPr>
          <p:cNvPr id="419" name="Google Shape;419;p50"/>
          <p:cNvPicPr preferRelativeResize="0"/>
          <p:nvPr/>
        </p:nvPicPr>
        <p:blipFill rotWithShape="1">
          <a:blip r:embed="rId12">
            <a:alphaModFix/>
          </a:blip>
          <a:srcRect/>
          <a:stretch/>
        </p:blipFill>
        <p:spPr>
          <a:xfrm>
            <a:off x="231234" y="1394102"/>
            <a:ext cx="338330" cy="357132"/>
          </a:xfrm>
          <a:prstGeom prst="rect">
            <a:avLst/>
          </a:prstGeom>
          <a:noFill/>
          <a:ln>
            <a:noFill/>
          </a:ln>
        </p:spPr>
      </p:pic>
      <p:pic>
        <p:nvPicPr>
          <p:cNvPr id="420" name="Google Shape;420;p50"/>
          <p:cNvPicPr preferRelativeResize="0"/>
          <p:nvPr/>
        </p:nvPicPr>
        <p:blipFill rotWithShape="1">
          <a:blip r:embed="rId7">
            <a:alphaModFix/>
          </a:blip>
          <a:srcRect/>
          <a:stretch/>
        </p:blipFill>
        <p:spPr>
          <a:xfrm>
            <a:off x="6189553" y="976375"/>
            <a:ext cx="2780923" cy="1385452"/>
          </a:xfrm>
          <a:prstGeom prst="rect">
            <a:avLst/>
          </a:prstGeom>
          <a:noFill/>
          <a:ln>
            <a:noFill/>
          </a:ln>
        </p:spPr>
      </p:pic>
      <p:sp>
        <p:nvSpPr>
          <p:cNvPr id="421" name="Google Shape;421;p50"/>
          <p:cNvSpPr txBox="1"/>
          <p:nvPr/>
        </p:nvSpPr>
        <p:spPr>
          <a:xfrm>
            <a:off x="6189557" y="997040"/>
            <a:ext cx="2781000" cy="3765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595959"/>
              </a:buClr>
              <a:buSzPts val="1500"/>
              <a:buFont typeface="Arial"/>
              <a:buNone/>
            </a:pPr>
            <a:r>
              <a:rPr lang="en" sz="1500" b="0" i="0" u="sng" strike="noStrike" cap="none">
                <a:solidFill>
                  <a:srgbClr val="0254EC"/>
                </a:solidFill>
                <a:latin typeface="Poppins Medium"/>
                <a:ea typeface="Poppins Medium"/>
                <a:cs typeface="Poppins Medium"/>
                <a:sym typeface="Poppins Medium"/>
                <a:hlinkClick r:id="rId13">
                  <a:extLst>
                    <a:ext uri="{A12FA001-AC4F-418D-AE19-62706E023703}">
                      <ahyp:hlinkClr xmlns:ahyp="http://schemas.microsoft.com/office/drawing/2018/hyperlinkcolor" val="tx"/>
                    </a:ext>
                  </a:extLst>
                </a:hlinkClick>
              </a:rPr>
              <a:t>Unscanned Resources </a:t>
            </a:r>
            <a:r>
              <a:rPr lang="en" sz="1500" b="0" i="0" u="none" strike="noStrike" cap="none">
                <a:solidFill>
                  <a:srgbClr val="0254EC"/>
                </a:solidFill>
                <a:uFill>
                  <a:noFill/>
                </a:uFill>
                <a:latin typeface="Poppins Medium"/>
                <a:ea typeface="Poppins Medium"/>
                <a:cs typeface="Poppins Medium"/>
                <a:sym typeface="Poppins Medium"/>
                <a:hlinkClick r:id="rId13">
                  <a:extLst>
                    <a:ext uri="{A12FA001-AC4F-418D-AE19-62706E023703}">
                      <ahyp:hlinkClr xmlns:ahyp="http://schemas.microsoft.com/office/drawing/2018/hyperlinkcolor" val="tx"/>
                    </a:ext>
                  </a:extLst>
                </a:hlinkClick>
              </a:rPr>
              <a:t>↗</a:t>
            </a:r>
            <a:endParaRPr sz="1500" b="0" i="0" u="none" strike="noStrike" cap="none">
              <a:solidFill>
                <a:srgbClr val="0254EC"/>
              </a:solidFill>
              <a:latin typeface="Poppins Medium"/>
              <a:ea typeface="Poppins Medium"/>
              <a:cs typeface="Poppins Medium"/>
              <a:sym typeface="Poppins Medium"/>
            </a:endParaRPr>
          </a:p>
        </p:txBody>
      </p:sp>
      <p:sp>
        <p:nvSpPr>
          <p:cNvPr id="422" name="Google Shape;422;p50"/>
          <p:cNvSpPr txBox="1"/>
          <p:nvPr/>
        </p:nvSpPr>
        <p:spPr>
          <a:xfrm>
            <a:off x="6189565" y="1395307"/>
            <a:ext cx="2781000" cy="940800"/>
          </a:xfrm>
          <a:prstGeom prst="rect">
            <a:avLst/>
          </a:prstGeom>
          <a:noFill/>
          <a:ln>
            <a:noFill/>
          </a:ln>
        </p:spPr>
        <p:txBody>
          <a:bodyPr spcFirstLastPara="1" wrap="square" lIns="92600" tIns="92600" rIns="92600" bIns="92600" anchor="t" anchorCtr="0">
            <a:noAutofit/>
          </a:bodyPr>
          <a:lstStyle/>
          <a:p>
            <a:pPr marL="0" marR="0" lvl="0" indent="0" algn="ctr" rtl="0">
              <a:lnSpc>
                <a:spcPct val="115000"/>
              </a:lnSpc>
              <a:spcBef>
                <a:spcPts val="0"/>
              </a:spcBef>
              <a:spcAft>
                <a:spcPts val="0"/>
              </a:spcAft>
              <a:buClr>
                <a:srgbClr val="000000"/>
              </a:buClr>
              <a:buSzPts val="1200"/>
              <a:buFont typeface="Arial"/>
              <a:buNone/>
            </a:pPr>
            <a:r>
              <a:rPr lang="en" sz="1200" b="0" i="0" u="none" strike="noStrike" cap="none">
                <a:solidFill>
                  <a:srgbClr val="333333"/>
                </a:solidFill>
                <a:latin typeface="Poppins"/>
                <a:ea typeface="Poppins"/>
                <a:cs typeface="Poppins"/>
                <a:sym typeface="Poppins"/>
              </a:rPr>
              <a:t>{{U_RES}} Unscanned Resources</a:t>
            </a:r>
            <a:br>
              <a:rPr lang="en" sz="1200" b="0" i="0" u="none" strike="noStrike" cap="none">
                <a:solidFill>
                  <a:srgbClr val="333333"/>
                </a:solidFill>
                <a:latin typeface="Poppins"/>
                <a:ea typeface="Poppins"/>
                <a:cs typeface="Poppins"/>
                <a:sym typeface="Poppins"/>
              </a:rPr>
            </a:br>
            <a:r>
              <a:rPr lang="en" sz="800" b="0" i="0" u="none" strike="noStrike" cap="none">
                <a:solidFill>
                  <a:srgbClr val="333333"/>
                </a:solidFill>
                <a:latin typeface="Poppins"/>
                <a:ea typeface="Poppins"/>
                <a:cs typeface="Poppins"/>
                <a:sym typeface="Poppins"/>
              </a:rPr>
              <a:t>Cloud Organizations, Code Repositories &amp; Subscriptions</a:t>
            </a:r>
            <a:endParaRPr sz="800" b="0" i="0" u="none" strike="noStrike" cap="none">
              <a:solidFill>
                <a:srgbClr val="333333"/>
              </a:solidFill>
              <a:latin typeface="Poppins"/>
              <a:ea typeface="Poppins"/>
              <a:cs typeface="Poppins"/>
              <a:sym typeface="Poppins"/>
            </a:endParaRPr>
          </a:p>
        </p:txBody>
      </p:sp>
      <p:pic>
        <p:nvPicPr>
          <p:cNvPr id="423" name="Google Shape;423;p50"/>
          <p:cNvPicPr preferRelativeResize="0"/>
          <p:nvPr/>
        </p:nvPicPr>
        <p:blipFill rotWithShape="1">
          <a:blip r:embed="rId7">
            <a:alphaModFix/>
          </a:blip>
          <a:srcRect/>
          <a:stretch/>
        </p:blipFill>
        <p:spPr>
          <a:xfrm>
            <a:off x="6194229" y="2518124"/>
            <a:ext cx="2769198" cy="1385452"/>
          </a:xfrm>
          <a:prstGeom prst="rect">
            <a:avLst/>
          </a:prstGeom>
          <a:noFill/>
          <a:ln>
            <a:noFill/>
          </a:ln>
        </p:spPr>
      </p:pic>
      <p:sp>
        <p:nvSpPr>
          <p:cNvPr id="424" name="Google Shape;424;p50"/>
          <p:cNvSpPr txBox="1"/>
          <p:nvPr/>
        </p:nvSpPr>
        <p:spPr>
          <a:xfrm>
            <a:off x="6194230" y="2538228"/>
            <a:ext cx="2767200" cy="4047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2"/>
              </a:buClr>
              <a:buSzPts val="1500"/>
              <a:buFont typeface="Arial"/>
              <a:buNone/>
            </a:pPr>
            <a:r>
              <a:rPr lang="en" sz="1500" b="0" i="0" u="sng" strike="noStrike" cap="none">
                <a:solidFill>
                  <a:srgbClr val="0254EC"/>
                </a:solidFill>
                <a:latin typeface="Poppins Medium"/>
                <a:ea typeface="Poppins Medium"/>
                <a:cs typeface="Poppins Medium"/>
                <a:sym typeface="Poppins Medium"/>
                <a:hlinkClick r:id="rId14">
                  <a:extLst>
                    <a:ext uri="{A12FA001-AC4F-418D-AE19-62706E023703}">
                      <ahyp:hlinkClr xmlns:ahyp="http://schemas.microsoft.com/office/drawing/2018/hyperlinkcolor" val="tx"/>
                    </a:ext>
                  </a:extLst>
                </a:hlinkClick>
              </a:rPr>
              <a:t>Red Agent Scans</a:t>
            </a:r>
            <a:r>
              <a:rPr lang="en" sz="1500" b="0" i="0" u="none" strike="noStrike" cap="none">
                <a:solidFill>
                  <a:srgbClr val="0254EC"/>
                </a:solidFill>
                <a:latin typeface="Poppins Medium"/>
                <a:ea typeface="Poppins Medium"/>
                <a:cs typeface="Poppins Medium"/>
                <a:sym typeface="Poppins Medium"/>
              </a:rPr>
              <a:t> </a:t>
            </a:r>
            <a:r>
              <a:rPr lang="en" sz="1500" b="0" i="0" u="none" strike="noStrike" cap="none">
                <a:solidFill>
                  <a:srgbClr val="0254EC"/>
                </a:solidFill>
                <a:uFill>
                  <a:noFill/>
                </a:uFill>
                <a:latin typeface="Poppins Medium"/>
                <a:ea typeface="Poppins Medium"/>
                <a:cs typeface="Poppins Medium"/>
                <a:sym typeface="Poppins Medium"/>
                <a:hlinkClick r:id="rId13">
                  <a:extLst>
                    <a:ext uri="{A12FA001-AC4F-418D-AE19-62706E023703}">
                      <ahyp:hlinkClr xmlns:ahyp="http://schemas.microsoft.com/office/drawing/2018/hyperlinkcolor" val="tx"/>
                    </a:ext>
                  </a:extLst>
                </a:hlinkClick>
              </a:rPr>
              <a:t>↗</a:t>
            </a:r>
            <a:endParaRPr sz="1500" b="0" i="0" u="none" strike="noStrike" cap="none">
              <a:solidFill>
                <a:srgbClr val="0254EC"/>
              </a:solidFill>
              <a:latin typeface="Poppins Medium"/>
              <a:ea typeface="Poppins Medium"/>
              <a:cs typeface="Poppins Medium"/>
              <a:sym typeface="Poppins Medium"/>
            </a:endParaRPr>
          </a:p>
        </p:txBody>
      </p:sp>
      <p:sp>
        <p:nvSpPr>
          <p:cNvPr id="425" name="Google Shape;425;p50"/>
          <p:cNvSpPr txBox="1"/>
          <p:nvPr/>
        </p:nvSpPr>
        <p:spPr>
          <a:xfrm>
            <a:off x="6296001" y="3150231"/>
            <a:ext cx="2526300" cy="371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Poppins Light"/>
              <a:ea typeface="Poppins Light"/>
              <a:cs typeface="Poppins Light"/>
              <a:sym typeface="Poppins Light"/>
            </a:endParaRPr>
          </a:p>
        </p:txBody>
      </p:sp>
      <p:sp>
        <p:nvSpPr>
          <p:cNvPr id="426" name="Google Shape;426;p50"/>
          <p:cNvSpPr txBox="1"/>
          <p:nvPr/>
        </p:nvSpPr>
        <p:spPr>
          <a:xfrm>
            <a:off x="6236436" y="2843382"/>
            <a:ext cx="2651700" cy="3162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1155CC"/>
              </a:solidFill>
              <a:latin typeface="Poppins SemiBold"/>
              <a:ea typeface="Poppins SemiBold"/>
              <a:cs typeface="Poppins SemiBold"/>
              <a:sym typeface="Poppins SemiBold"/>
            </a:endParaRPr>
          </a:p>
        </p:txBody>
      </p:sp>
      <p:sp>
        <p:nvSpPr>
          <p:cNvPr id="427" name="Google Shape;427;p50"/>
          <p:cNvSpPr txBox="1"/>
          <p:nvPr/>
        </p:nvSpPr>
        <p:spPr>
          <a:xfrm>
            <a:off x="6203356" y="2861350"/>
            <a:ext cx="2764500" cy="2427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900"/>
              <a:buFont typeface="Arial"/>
              <a:buNone/>
            </a:pPr>
            <a:r>
              <a:rPr lang="en" sz="900" b="0" i="0" u="none" strike="noStrike" cap="none" dirty="0">
                <a:solidFill>
                  <a:srgbClr val="333333"/>
                </a:solidFill>
                <a:latin typeface="Poppins Medium"/>
                <a:ea typeface="Poppins Medium"/>
                <a:cs typeface="Poppins Medium"/>
                <a:sym typeface="Poppins Medium"/>
              </a:rPr>
              <a:t>DAST Attacker: {{RA_DAST}}</a:t>
            </a:r>
            <a:endParaRPr sz="900" b="0" i="0" u="none" strike="noStrike" cap="none" dirty="0">
              <a:solidFill>
                <a:srgbClr val="333333"/>
              </a:solidFill>
              <a:latin typeface="Poppins Medium"/>
              <a:ea typeface="Poppins Medium"/>
              <a:cs typeface="Poppins Medium"/>
              <a:sym typeface="Poppins Medium"/>
            </a:endParaRPr>
          </a:p>
        </p:txBody>
      </p:sp>
      <p:sp>
        <p:nvSpPr>
          <p:cNvPr id="428" name="Google Shape;428;p50"/>
          <p:cNvSpPr txBox="1"/>
          <p:nvPr/>
        </p:nvSpPr>
        <p:spPr>
          <a:xfrm>
            <a:off x="6202885" y="3097036"/>
            <a:ext cx="2764500" cy="2427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Medium"/>
                <a:ea typeface="Poppins Medium"/>
                <a:cs typeface="Poppins Medium"/>
                <a:sym typeface="Poppins Medium"/>
              </a:rPr>
              <a:t>Web Crawler: {{RA_WC}}</a:t>
            </a:r>
            <a:endParaRPr sz="900" b="0" i="0" u="none" strike="noStrike" cap="none">
              <a:solidFill>
                <a:srgbClr val="333333"/>
              </a:solidFill>
              <a:latin typeface="Poppins Medium"/>
              <a:ea typeface="Poppins Medium"/>
              <a:cs typeface="Poppins Medium"/>
              <a:sym typeface="Poppins Medium"/>
            </a:endParaRPr>
          </a:p>
        </p:txBody>
      </p:sp>
      <p:sp>
        <p:nvSpPr>
          <p:cNvPr id="429" name="Google Shape;429;p50"/>
          <p:cNvSpPr txBox="1"/>
          <p:nvPr/>
        </p:nvSpPr>
        <p:spPr>
          <a:xfrm>
            <a:off x="6202728" y="3332721"/>
            <a:ext cx="2764500" cy="2427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Medium"/>
                <a:ea typeface="Poppins Medium"/>
                <a:cs typeface="Poppins Medium"/>
                <a:sym typeface="Poppins Medium"/>
              </a:rPr>
              <a:t>Secret Impact: {{RA_SI}}</a:t>
            </a:r>
            <a:endParaRPr sz="900" b="0" i="0" u="none" strike="noStrike" cap="none">
              <a:solidFill>
                <a:srgbClr val="333333"/>
              </a:solidFill>
              <a:latin typeface="Poppins Medium"/>
              <a:ea typeface="Poppins Medium"/>
              <a:cs typeface="Poppins Medium"/>
              <a:sym typeface="Poppins Medium"/>
            </a:endParaRPr>
          </a:p>
        </p:txBody>
      </p:sp>
      <p:sp>
        <p:nvSpPr>
          <p:cNvPr id="430" name="Google Shape;430;p50"/>
          <p:cNvSpPr txBox="1"/>
          <p:nvPr/>
        </p:nvSpPr>
        <p:spPr>
          <a:xfrm>
            <a:off x="6192125" y="3519610"/>
            <a:ext cx="2764500" cy="2427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1100"/>
              <a:buFont typeface="Arial"/>
              <a:buNone/>
            </a:pPr>
            <a:r>
              <a:rPr lang="en" sz="1100" b="0" i="0" u="none" strike="noStrike" cap="none" dirty="0">
                <a:solidFill>
                  <a:srgbClr val="333333"/>
                </a:solidFill>
                <a:latin typeface="Poppins Medium"/>
                <a:ea typeface="Poppins Medium"/>
                <a:cs typeface="Poppins Medium"/>
                <a:sym typeface="Poppins Medium"/>
              </a:rPr>
              <a:t>Total Monthly Scans: {{RA_TOTS}}</a:t>
            </a:r>
            <a:endParaRPr sz="1100" b="0" i="0" u="none" strike="noStrike" cap="none" dirty="0">
              <a:solidFill>
                <a:srgbClr val="333333"/>
              </a:solidFill>
              <a:latin typeface="Poppins Medium"/>
              <a:ea typeface="Poppins Medium"/>
              <a:cs typeface="Poppins Medium"/>
              <a:sym typeface="Poppins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51"/>
          <p:cNvSpPr txBox="1">
            <a:spLocks noGrp="1"/>
          </p:cNvSpPr>
          <p:nvPr>
            <p:ph type="title" idx="4294967295"/>
          </p:nvPr>
        </p:nvSpPr>
        <p:spPr>
          <a:xfrm>
            <a:off x="150" y="249625"/>
            <a:ext cx="91440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Poppins Light"/>
                <a:ea typeface="Poppins Light"/>
                <a:cs typeface="Poppins Light"/>
                <a:sym typeface="Poppins Light"/>
              </a:rPr>
              <a:t>Wiz System Health &amp; Scans Snapshot</a:t>
            </a:r>
            <a:endParaRPr sz="2420">
              <a:latin typeface="Poppins Light"/>
              <a:ea typeface="Poppins Light"/>
              <a:cs typeface="Poppins Light"/>
              <a:sym typeface="Poppins Light"/>
            </a:endParaRPr>
          </a:p>
        </p:txBody>
      </p:sp>
      <p:pic>
        <p:nvPicPr>
          <p:cNvPr id="437" name="Google Shape;437;p51"/>
          <p:cNvPicPr preferRelativeResize="0"/>
          <p:nvPr/>
        </p:nvPicPr>
        <p:blipFill rotWithShape="1">
          <a:blip r:embed="rId3">
            <a:alphaModFix/>
          </a:blip>
          <a:srcRect/>
          <a:stretch/>
        </p:blipFill>
        <p:spPr>
          <a:xfrm>
            <a:off x="119827" y="933590"/>
            <a:ext cx="2755502" cy="1594700"/>
          </a:xfrm>
          <a:prstGeom prst="rect">
            <a:avLst/>
          </a:prstGeom>
          <a:noFill/>
          <a:ln>
            <a:noFill/>
          </a:ln>
        </p:spPr>
      </p:pic>
      <p:sp>
        <p:nvSpPr>
          <p:cNvPr id="438" name="Google Shape;438;p51"/>
          <p:cNvSpPr txBox="1"/>
          <p:nvPr/>
        </p:nvSpPr>
        <p:spPr>
          <a:xfrm>
            <a:off x="119827" y="1028050"/>
            <a:ext cx="2838300" cy="2259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dk2"/>
              </a:buClr>
              <a:buSzPts val="1500"/>
              <a:buFont typeface="Arial"/>
              <a:buNone/>
            </a:pPr>
            <a:r>
              <a:rPr lang="en" sz="1500" b="0" i="0" u="none" strike="noStrike" cap="none">
                <a:solidFill>
                  <a:schemeClr val="dk1"/>
                </a:solidFill>
                <a:latin typeface="Poppins"/>
                <a:ea typeface="Poppins"/>
                <a:cs typeface="Poppins"/>
                <a:sym typeface="Poppins"/>
              </a:rPr>
              <a:t>System Health Issues</a:t>
            </a:r>
            <a:endParaRPr sz="1500" b="0" i="0" u="none" strike="noStrike" cap="none">
              <a:solidFill>
                <a:schemeClr val="dk1"/>
              </a:solidFill>
              <a:latin typeface="Poppins"/>
              <a:ea typeface="Poppins"/>
              <a:cs typeface="Poppins"/>
              <a:sym typeface="Poppins"/>
            </a:endParaRPr>
          </a:p>
        </p:txBody>
      </p:sp>
      <p:sp>
        <p:nvSpPr>
          <p:cNvPr id="439" name="Google Shape;439;p51"/>
          <p:cNvSpPr txBox="1"/>
          <p:nvPr/>
        </p:nvSpPr>
        <p:spPr>
          <a:xfrm>
            <a:off x="224233" y="1475155"/>
            <a:ext cx="2591700" cy="336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Poppins Light"/>
              <a:ea typeface="Poppins Light"/>
              <a:cs typeface="Poppins Light"/>
              <a:sym typeface="Poppins Light"/>
            </a:endParaRPr>
          </a:p>
        </p:txBody>
      </p:sp>
      <p:sp>
        <p:nvSpPr>
          <p:cNvPr id="440" name="Google Shape;440;p51"/>
          <p:cNvSpPr txBox="1"/>
          <p:nvPr/>
        </p:nvSpPr>
        <p:spPr>
          <a:xfrm>
            <a:off x="163134" y="1196871"/>
            <a:ext cx="2720100" cy="2868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1155CC"/>
              </a:solidFill>
              <a:latin typeface="Poppins SemiBold"/>
              <a:ea typeface="Poppins SemiBold"/>
              <a:cs typeface="Poppins SemiBold"/>
              <a:sym typeface="Poppins SemiBold"/>
            </a:endParaRPr>
          </a:p>
        </p:txBody>
      </p:sp>
      <p:sp>
        <p:nvSpPr>
          <p:cNvPr id="441" name="Google Shape;441;p51"/>
          <p:cNvSpPr txBox="1"/>
          <p:nvPr/>
        </p:nvSpPr>
        <p:spPr>
          <a:xfrm>
            <a:off x="256245" y="1350741"/>
            <a:ext cx="1785000" cy="169800"/>
          </a:xfrm>
          <a:prstGeom prst="rect">
            <a:avLst/>
          </a:prstGeom>
          <a:noFill/>
          <a:ln>
            <a:noFill/>
          </a:ln>
        </p:spPr>
        <p:txBody>
          <a:bodyPr spcFirstLastPara="1" wrap="square" lIns="91250" tIns="91250" rIns="91250" bIns="91250"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Critical SHIs</a:t>
            </a:r>
            <a:endParaRPr sz="1000" b="0" i="0" u="none" strike="noStrike" cap="none" dirty="0">
              <a:solidFill>
                <a:srgbClr val="0254EC"/>
              </a:solidFill>
              <a:latin typeface="Poppins"/>
              <a:ea typeface="Poppins"/>
              <a:cs typeface="Poppins"/>
              <a:sym typeface="Poppins"/>
            </a:endParaRPr>
          </a:p>
        </p:txBody>
      </p:sp>
      <p:sp>
        <p:nvSpPr>
          <p:cNvPr id="442" name="Google Shape;442;p51"/>
          <p:cNvSpPr txBox="1"/>
          <p:nvPr/>
        </p:nvSpPr>
        <p:spPr>
          <a:xfrm>
            <a:off x="1713244" y="1340109"/>
            <a:ext cx="1115700" cy="169800"/>
          </a:xfrm>
          <a:prstGeom prst="rect">
            <a:avLst/>
          </a:prstGeom>
          <a:noFill/>
          <a:ln>
            <a:noFill/>
          </a:ln>
        </p:spPr>
        <p:txBody>
          <a:bodyPr spcFirstLastPara="1" wrap="square" lIns="91250" tIns="91250" rIns="91250" bIns="91250"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0" i="0" u="none" strike="noStrike" cap="none">
                <a:solidFill>
                  <a:srgbClr val="333333"/>
                </a:solidFill>
                <a:latin typeface="Poppins"/>
                <a:ea typeface="Poppins"/>
                <a:cs typeface="Poppins"/>
                <a:sym typeface="Poppins"/>
              </a:rPr>
              <a:t>{{SHI_C}}</a:t>
            </a:r>
            <a:endParaRPr sz="1000" b="0" i="0" u="none" strike="noStrike" cap="none">
              <a:solidFill>
                <a:srgbClr val="333333"/>
              </a:solidFill>
              <a:latin typeface="Poppins"/>
              <a:ea typeface="Poppins"/>
              <a:cs typeface="Poppins"/>
              <a:sym typeface="Poppins"/>
            </a:endParaRPr>
          </a:p>
        </p:txBody>
      </p:sp>
      <p:sp>
        <p:nvSpPr>
          <p:cNvPr id="443" name="Google Shape;443;p51"/>
          <p:cNvSpPr txBox="1"/>
          <p:nvPr/>
        </p:nvSpPr>
        <p:spPr>
          <a:xfrm>
            <a:off x="256245" y="1525050"/>
            <a:ext cx="1785000" cy="169800"/>
          </a:xfrm>
          <a:prstGeom prst="rect">
            <a:avLst/>
          </a:prstGeom>
          <a:noFill/>
          <a:ln>
            <a:noFill/>
          </a:ln>
        </p:spPr>
        <p:txBody>
          <a:bodyPr spcFirstLastPara="1" wrap="square" lIns="91250" tIns="91250" rIns="91250" bIns="91250"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sng" strike="noStrike" cap="none">
                <a:solidFill>
                  <a:srgbClr val="0254EC"/>
                </a:solidFill>
                <a:latin typeface="Poppins"/>
                <a:ea typeface="Poppins"/>
                <a:cs typeface="Poppins"/>
                <a:sym typeface="Poppins"/>
                <a:hlinkClick r:id="rId5">
                  <a:extLst>
                    <a:ext uri="{A12FA001-AC4F-418D-AE19-62706E023703}">
                      <ahyp:hlinkClr xmlns:ahyp="http://schemas.microsoft.com/office/drawing/2018/hyperlinkcolor" val="tx"/>
                    </a:ext>
                  </a:extLst>
                </a:hlinkClick>
              </a:rPr>
              <a:t>High SHIs</a:t>
            </a:r>
            <a:endParaRPr sz="1000" b="0" i="0" u="none" strike="noStrike" cap="none">
              <a:solidFill>
                <a:srgbClr val="0254EC"/>
              </a:solidFill>
              <a:latin typeface="Poppins"/>
              <a:ea typeface="Poppins"/>
              <a:cs typeface="Poppins"/>
              <a:sym typeface="Poppins"/>
            </a:endParaRPr>
          </a:p>
        </p:txBody>
      </p:sp>
      <p:sp>
        <p:nvSpPr>
          <p:cNvPr id="444" name="Google Shape;444;p51"/>
          <p:cNvSpPr txBox="1"/>
          <p:nvPr/>
        </p:nvSpPr>
        <p:spPr>
          <a:xfrm>
            <a:off x="1712251" y="1519655"/>
            <a:ext cx="1115700" cy="169800"/>
          </a:xfrm>
          <a:prstGeom prst="rect">
            <a:avLst/>
          </a:prstGeom>
          <a:noFill/>
          <a:ln>
            <a:noFill/>
          </a:ln>
        </p:spPr>
        <p:txBody>
          <a:bodyPr spcFirstLastPara="1" wrap="square" lIns="91250" tIns="91250" rIns="91250" bIns="91250"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0" i="0" u="none" strike="noStrike" cap="none">
                <a:solidFill>
                  <a:srgbClr val="333333"/>
                </a:solidFill>
                <a:latin typeface="Poppins"/>
                <a:ea typeface="Poppins"/>
                <a:cs typeface="Poppins"/>
                <a:sym typeface="Poppins"/>
              </a:rPr>
              <a:t>{{SHI_H}}</a:t>
            </a:r>
            <a:endParaRPr sz="1000" b="0" i="0" u="none" strike="noStrike" cap="none">
              <a:solidFill>
                <a:srgbClr val="333333"/>
              </a:solidFill>
              <a:latin typeface="Poppins"/>
              <a:ea typeface="Poppins"/>
              <a:cs typeface="Poppins"/>
              <a:sym typeface="Poppins"/>
            </a:endParaRPr>
          </a:p>
        </p:txBody>
      </p:sp>
      <p:sp>
        <p:nvSpPr>
          <p:cNvPr id="445" name="Google Shape;445;p51"/>
          <p:cNvSpPr txBox="1"/>
          <p:nvPr/>
        </p:nvSpPr>
        <p:spPr>
          <a:xfrm>
            <a:off x="256528" y="1974033"/>
            <a:ext cx="1785000" cy="169800"/>
          </a:xfrm>
          <a:prstGeom prst="rect">
            <a:avLst/>
          </a:prstGeom>
          <a:noFill/>
          <a:ln>
            <a:noFill/>
          </a:ln>
        </p:spPr>
        <p:txBody>
          <a:bodyPr spcFirstLastPara="1" wrap="square" lIns="91250" tIns="91250" rIns="91250" bIns="91250"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sng" strike="noStrike" cap="none">
                <a:solidFill>
                  <a:srgbClr val="0254EC"/>
                </a:solidFill>
                <a:latin typeface="Poppins"/>
                <a:ea typeface="Poppins"/>
                <a:cs typeface="Poppins"/>
                <a:sym typeface="Poppins"/>
                <a:hlinkClick r:id="rId6">
                  <a:extLst>
                    <a:ext uri="{A12FA001-AC4F-418D-AE19-62706E023703}">
                      <ahyp:hlinkClr xmlns:ahyp="http://schemas.microsoft.com/office/drawing/2018/hyperlinkcolor" val="tx"/>
                    </a:ext>
                  </a:extLst>
                </a:hlinkClick>
              </a:rPr>
              <a:t>Resolved Critical SHIs</a:t>
            </a:r>
            <a:endParaRPr sz="1000" b="0" i="0" u="none" strike="noStrike" cap="none">
              <a:solidFill>
                <a:srgbClr val="0254EC"/>
              </a:solidFill>
              <a:latin typeface="Poppins"/>
              <a:ea typeface="Poppins"/>
              <a:cs typeface="Poppins"/>
              <a:sym typeface="Poppins"/>
            </a:endParaRPr>
          </a:p>
        </p:txBody>
      </p:sp>
      <p:sp>
        <p:nvSpPr>
          <p:cNvPr id="446" name="Google Shape;446;p51"/>
          <p:cNvSpPr txBox="1"/>
          <p:nvPr/>
        </p:nvSpPr>
        <p:spPr>
          <a:xfrm>
            <a:off x="1735851" y="1974033"/>
            <a:ext cx="1115700" cy="169800"/>
          </a:xfrm>
          <a:prstGeom prst="rect">
            <a:avLst/>
          </a:prstGeom>
          <a:noFill/>
          <a:ln>
            <a:noFill/>
          </a:ln>
        </p:spPr>
        <p:txBody>
          <a:bodyPr spcFirstLastPara="1" wrap="square" lIns="91250" tIns="91250" rIns="91250" bIns="91250"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0" i="0" u="none" strike="noStrike" cap="none" dirty="0">
                <a:solidFill>
                  <a:srgbClr val="333333"/>
                </a:solidFill>
                <a:latin typeface="Poppins"/>
                <a:ea typeface="Poppins"/>
                <a:cs typeface="Poppins"/>
                <a:sym typeface="Poppins"/>
              </a:rPr>
              <a:t>{{SHI_R_C}}</a:t>
            </a:r>
            <a:endParaRPr sz="1000" b="0" i="0" u="none" strike="noStrike" cap="none" dirty="0">
              <a:solidFill>
                <a:srgbClr val="333333"/>
              </a:solidFill>
              <a:latin typeface="Poppins"/>
              <a:ea typeface="Poppins"/>
              <a:cs typeface="Poppins"/>
              <a:sym typeface="Poppins"/>
            </a:endParaRPr>
          </a:p>
        </p:txBody>
      </p:sp>
      <p:sp>
        <p:nvSpPr>
          <p:cNvPr id="447" name="Google Shape;447;p51"/>
          <p:cNvSpPr txBox="1"/>
          <p:nvPr/>
        </p:nvSpPr>
        <p:spPr>
          <a:xfrm>
            <a:off x="256528" y="2153659"/>
            <a:ext cx="1785000" cy="169800"/>
          </a:xfrm>
          <a:prstGeom prst="rect">
            <a:avLst/>
          </a:prstGeom>
          <a:noFill/>
          <a:ln>
            <a:noFill/>
          </a:ln>
        </p:spPr>
        <p:txBody>
          <a:bodyPr spcFirstLastPara="1" wrap="square" lIns="91250" tIns="91250" rIns="91250" bIns="91250"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sng" strike="noStrike" cap="none">
                <a:solidFill>
                  <a:srgbClr val="0254EC"/>
                </a:solidFill>
                <a:latin typeface="Poppins"/>
                <a:ea typeface="Poppins"/>
                <a:cs typeface="Poppins"/>
                <a:sym typeface="Poppins"/>
                <a:hlinkClick r:id="rId7">
                  <a:extLst>
                    <a:ext uri="{A12FA001-AC4F-418D-AE19-62706E023703}">
                      <ahyp:hlinkClr xmlns:ahyp="http://schemas.microsoft.com/office/drawing/2018/hyperlinkcolor" val="tx"/>
                    </a:ext>
                  </a:extLst>
                </a:hlinkClick>
              </a:rPr>
              <a:t>Resolved High SHIs</a:t>
            </a:r>
            <a:endParaRPr sz="1000" b="0" i="0" u="none" strike="noStrike" cap="none">
              <a:solidFill>
                <a:srgbClr val="0254EC"/>
              </a:solidFill>
              <a:latin typeface="Poppins"/>
              <a:ea typeface="Poppins"/>
              <a:cs typeface="Poppins"/>
              <a:sym typeface="Poppins"/>
            </a:endParaRPr>
          </a:p>
        </p:txBody>
      </p:sp>
      <p:sp>
        <p:nvSpPr>
          <p:cNvPr id="448" name="Google Shape;448;p51"/>
          <p:cNvSpPr txBox="1"/>
          <p:nvPr/>
        </p:nvSpPr>
        <p:spPr>
          <a:xfrm>
            <a:off x="1735851" y="2153659"/>
            <a:ext cx="1115700" cy="169800"/>
          </a:xfrm>
          <a:prstGeom prst="rect">
            <a:avLst/>
          </a:prstGeom>
          <a:noFill/>
          <a:ln>
            <a:noFill/>
          </a:ln>
        </p:spPr>
        <p:txBody>
          <a:bodyPr spcFirstLastPara="1" wrap="square" lIns="91250" tIns="91250" rIns="91250" bIns="91250"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0" i="0" u="none" strike="noStrike" cap="none" dirty="0">
                <a:solidFill>
                  <a:srgbClr val="333333"/>
                </a:solidFill>
                <a:latin typeface="Poppins"/>
                <a:ea typeface="Poppins"/>
                <a:cs typeface="Poppins"/>
                <a:sym typeface="Poppins"/>
              </a:rPr>
              <a:t>{{SHI_R_H}}</a:t>
            </a:r>
            <a:endParaRPr sz="1000" b="0" i="0" u="none" strike="noStrike" cap="none" dirty="0">
              <a:solidFill>
                <a:srgbClr val="333333"/>
              </a:solidFill>
              <a:latin typeface="Poppins"/>
              <a:ea typeface="Poppins"/>
              <a:cs typeface="Poppins"/>
              <a:sym typeface="Poppins"/>
            </a:endParaRPr>
          </a:p>
        </p:txBody>
      </p:sp>
      <p:sp>
        <p:nvSpPr>
          <p:cNvPr id="449" name="Google Shape;449;p51"/>
          <p:cNvSpPr txBox="1"/>
          <p:nvPr/>
        </p:nvSpPr>
        <p:spPr>
          <a:xfrm>
            <a:off x="244065" y="1774709"/>
            <a:ext cx="2655300" cy="219900"/>
          </a:xfrm>
          <a:prstGeom prst="rect">
            <a:avLst/>
          </a:prstGeom>
          <a:noFill/>
          <a:ln>
            <a:noFill/>
          </a:ln>
        </p:spPr>
        <p:txBody>
          <a:bodyPr spcFirstLastPara="1" wrap="square" lIns="91250" tIns="91250" rIns="91250" bIns="91250"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none" strike="noStrike" cap="none">
                <a:solidFill>
                  <a:srgbClr val="333333"/>
                </a:solidFill>
                <a:latin typeface="Poppins SemiBold"/>
                <a:ea typeface="Poppins SemiBold"/>
                <a:cs typeface="Poppins SemiBold"/>
                <a:sym typeface="Poppins SemiBold"/>
              </a:rPr>
              <a:t>Resolved SHIs in Past 30 Days</a:t>
            </a:r>
            <a:endParaRPr sz="1000" b="0" i="0" u="none" strike="noStrike" cap="none">
              <a:solidFill>
                <a:srgbClr val="333333"/>
              </a:solidFill>
              <a:latin typeface="Poppins SemiBold"/>
              <a:ea typeface="Poppins SemiBold"/>
              <a:cs typeface="Poppins SemiBold"/>
              <a:sym typeface="Poppins SemiBold"/>
            </a:endParaRPr>
          </a:p>
        </p:txBody>
      </p:sp>
      <p:pic>
        <p:nvPicPr>
          <p:cNvPr id="450" name="Google Shape;450;p51"/>
          <p:cNvPicPr preferRelativeResize="0"/>
          <p:nvPr/>
        </p:nvPicPr>
        <p:blipFill rotWithShape="1">
          <a:blip r:embed="rId8">
            <a:alphaModFix amt="79000"/>
          </a:blip>
          <a:srcRect/>
          <a:stretch/>
        </p:blipFill>
        <p:spPr>
          <a:xfrm>
            <a:off x="3091600" y="2638250"/>
            <a:ext cx="2755502" cy="2427451"/>
          </a:xfrm>
          <a:prstGeom prst="rect">
            <a:avLst/>
          </a:prstGeom>
          <a:noFill/>
          <a:ln>
            <a:noFill/>
          </a:ln>
        </p:spPr>
      </p:pic>
      <p:sp>
        <p:nvSpPr>
          <p:cNvPr id="451" name="Google Shape;451;p51"/>
          <p:cNvSpPr txBox="1"/>
          <p:nvPr/>
        </p:nvSpPr>
        <p:spPr>
          <a:xfrm>
            <a:off x="3091590" y="2718202"/>
            <a:ext cx="2753400" cy="3456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2"/>
              </a:buClr>
              <a:buSzPts val="1500"/>
              <a:buFont typeface="Arial"/>
              <a:buNone/>
            </a:pPr>
            <a:r>
              <a:rPr lang="en" sz="1500" b="0" i="0" u="none" strike="noStrike" cap="none">
                <a:solidFill>
                  <a:schemeClr val="dk1"/>
                </a:solidFill>
                <a:latin typeface="Poppins"/>
                <a:ea typeface="Poppins"/>
                <a:cs typeface="Poppins"/>
                <a:sym typeface="Poppins"/>
              </a:rPr>
              <a:t>Non-OS, Registry &amp; VM Image Scans</a:t>
            </a:r>
            <a:endParaRPr sz="1500" b="0" i="0" u="none" strike="noStrike" cap="none">
              <a:solidFill>
                <a:schemeClr val="dk1"/>
              </a:solidFill>
              <a:latin typeface="Poppins"/>
              <a:ea typeface="Poppins"/>
              <a:cs typeface="Poppins"/>
              <a:sym typeface="Poppins"/>
            </a:endParaRPr>
          </a:p>
        </p:txBody>
      </p:sp>
      <p:sp>
        <p:nvSpPr>
          <p:cNvPr id="452" name="Google Shape;452;p51"/>
          <p:cNvSpPr txBox="1"/>
          <p:nvPr/>
        </p:nvSpPr>
        <p:spPr>
          <a:xfrm>
            <a:off x="3097638" y="3166433"/>
            <a:ext cx="2742900" cy="207300"/>
          </a:xfrm>
          <a:prstGeom prst="rect">
            <a:avLst/>
          </a:prstGeom>
          <a:solidFill>
            <a:schemeClr val="lt1"/>
          </a:solid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dirty="0">
                <a:solidFill>
                  <a:srgbClr val="333333"/>
                </a:solidFill>
                <a:latin typeface="Poppins Medium"/>
                <a:ea typeface="Poppins Medium"/>
                <a:cs typeface="Poppins Medium"/>
                <a:sym typeface="Poppins Medium"/>
              </a:rPr>
              <a:t>Non-OS Disk Scans: {{NON_T}}</a:t>
            </a:r>
            <a:endParaRPr sz="1000" b="0" i="0" u="none" strike="noStrike" cap="none" dirty="0">
              <a:solidFill>
                <a:srgbClr val="333333"/>
              </a:solidFill>
              <a:latin typeface="Poppins Medium"/>
              <a:ea typeface="Poppins Medium"/>
              <a:cs typeface="Poppins Medium"/>
              <a:sym typeface="Poppins Medium"/>
            </a:endParaRPr>
          </a:p>
        </p:txBody>
      </p:sp>
      <p:sp>
        <p:nvSpPr>
          <p:cNvPr id="453" name="Google Shape;453;p51"/>
          <p:cNvSpPr txBox="1"/>
          <p:nvPr/>
        </p:nvSpPr>
        <p:spPr>
          <a:xfrm>
            <a:off x="3116051" y="3365306"/>
            <a:ext cx="2715979" cy="176808"/>
          </a:xfrm>
          <a:prstGeom prst="rect">
            <a:avLst/>
          </a:prstGeom>
          <a:solidFill>
            <a:schemeClr val="lt1"/>
          </a:solid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dirty="0">
                <a:solidFill>
                  <a:srgbClr val="333333"/>
                </a:solidFill>
                <a:latin typeface="Poppins Medium"/>
                <a:ea typeface="Poppins Medium"/>
                <a:cs typeface="Poppins Medium"/>
                <a:sym typeface="Poppins Medium"/>
              </a:rPr>
              <a:t>Failed: {{NON_F}} / Skipped: {{NON_S}}</a:t>
            </a:r>
            <a:endParaRPr sz="900" b="0" i="0" u="none" strike="noStrike" cap="none" dirty="0">
              <a:solidFill>
                <a:srgbClr val="333333"/>
              </a:solidFill>
              <a:latin typeface="Poppins Medium"/>
              <a:ea typeface="Poppins Medium"/>
              <a:cs typeface="Poppins Medium"/>
              <a:sym typeface="Poppins Medium"/>
            </a:endParaRPr>
          </a:p>
        </p:txBody>
      </p:sp>
      <p:pic>
        <p:nvPicPr>
          <p:cNvPr id="454" name="Google Shape;454;p51"/>
          <p:cNvPicPr preferRelativeResize="0"/>
          <p:nvPr/>
        </p:nvPicPr>
        <p:blipFill rotWithShape="1">
          <a:blip r:embed="rId3">
            <a:alphaModFix/>
          </a:blip>
          <a:srcRect/>
          <a:stretch/>
        </p:blipFill>
        <p:spPr>
          <a:xfrm>
            <a:off x="6074877" y="933600"/>
            <a:ext cx="2941998" cy="1594700"/>
          </a:xfrm>
          <a:prstGeom prst="rect">
            <a:avLst/>
          </a:prstGeom>
          <a:noFill/>
          <a:ln>
            <a:noFill/>
          </a:ln>
        </p:spPr>
      </p:pic>
      <p:sp>
        <p:nvSpPr>
          <p:cNvPr id="455" name="Google Shape;455;p51"/>
          <p:cNvSpPr txBox="1"/>
          <p:nvPr/>
        </p:nvSpPr>
        <p:spPr>
          <a:xfrm>
            <a:off x="6074879" y="1016199"/>
            <a:ext cx="2939700" cy="3456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2"/>
              </a:buClr>
              <a:buSzPts val="1500"/>
              <a:buFont typeface="Arial"/>
              <a:buNone/>
            </a:pPr>
            <a:r>
              <a:rPr lang="en" sz="1500" b="0" i="0" u="none" strike="noStrike" cap="none">
                <a:solidFill>
                  <a:schemeClr val="dk1"/>
                </a:solidFill>
                <a:latin typeface="Poppins"/>
                <a:ea typeface="Poppins"/>
                <a:cs typeface="Poppins"/>
                <a:sym typeface="Poppins"/>
              </a:rPr>
              <a:t>Data Security (DSPM) Scans</a:t>
            </a:r>
            <a:endParaRPr sz="1500" b="0" i="0" u="none" strike="noStrike" cap="none">
              <a:solidFill>
                <a:schemeClr val="dk1"/>
              </a:solidFill>
              <a:latin typeface="Poppins"/>
              <a:ea typeface="Poppins"/>
              <a:cs typeface="Poppins"/>
              <a:sym typeface="Poppins"/>
            </a:endParaRPr>
          </a:p>
        </p:txBody>
      </p:sp>
      <p:sp>
        <p:nvSpPr>
          <p:cNvPr id="456" name="Google Shape;456;p51"/>
          <p:cNvSpPr txBox="1"/>
          <p:nvPr/>
        </p:nvSpPr>
        <p:spPr>
          <a:xfrm>
            <a:off x="6183001" y="1483537"/>
            <a:ext cx="2684100" cy="3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Poppins Light"/>
              <a:ea typeface="Poppins Light"/>
              <a:cs typeface="Poppins Light"/>
              <a:sym typeface="Poppins Light"/>
            </a:endParaRPr>
          </a:p>
        </p:txBody>
      </p:sp>
      <p:sp>
        <p:nvSpPr>
          <p:cNvPr id="457" name="Google Shape;457;p51"/>
          <p:cNvSpPr txBox="1"/>
          <p:nvPr/>
        </p:nvSpPr>
        <p:spPr>
          <a:xfrm>
            <a:off x="6119719" y="1221521"/>
            <a:ext cx="2817300" cy="2700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1155CC"/>
              </a:solidFill>
              <a:latin typeface="Poppins SemiBold"/>
              <a:ea typeface="Poppins SemiBold"/>
              <a:cs typeface="Poppins SemiBold"/>
              <a:sym typeface="Poppins SemiBold"/>
            </a:endParaRPr>
          </a:p>
        </p:txBody>
      </p:sp>
      <p:sp>
        <p:nvSpPr>
          <p:cNvPr id="458" name="Google Shape;458;p51"/>
          <p:cNvSpPr txBox="1"/>
          <p:nvPr/>
        </p:nvSpPr>
        <p:spPr>
          <a:xfrm>
            <a:off x="6255252" y="1382791"/>
            <a:ext cx="2643900" cy="2343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9">
                  <a:extLst>
                    <a:ext uri="{A12FA001-AC4F-418D-AE19-62706E023703}">
                      <ahyp:hlinkClr xmlns:ahyp="http://schemas.microsoft.com/office/drawing/2018/hyperlinkcolor" val="tx"/>
                    </a:ext>
                  </a:extLst>
                </a:hlinkClick>
              </a:rPr>
              <a:t>Total</a:t>
            </a:r>
            <a:r>
              <a:rPr lang="en" sz="1000" b="0" i="0" u="none" strike="noStrike" cap="none" dirty="0">
                <a:solidFill>
                  <a:srgbClr val="333333"/>
                </a:solidFill>
                <a:latin typeface="Poppins Medium"/>
                <a:ea typeface="Poppins Medium"/>
                <a:cs typeface="Poppins Medium"/>
                <a:sym typeface="Poppins Medium"/>
              </a:rPr>
              <a:t>: {{DS_T}}</a:t>
            </a:r>
            <a:endParaRPr sz="1000" b="0" i="0" u="none" strike="noStrike" cap="none" dirty="0">
              <a:solidFill>
                <a:srgbClr val="333333"/>
              </a:solidFill>
              <a:latin typeface="Poppins Medium"/>
              <a:ea typeface="Poppins Medium"/>
              <a:cs typeface="Poppins Medium"/>
              <a:sym typeface="Poppins Medium"/>
            </a:endParaRPr>
          </a:p>
        </p:txBody>
      </p:sp>
      <p:sp>
        <p:nvSpPr>
          <p:cNvPr id="459" name="Google Shape;459;p51"/>
          <p:cNvSpPr txBox="1"/>
          <p:nvPr/>
        </p:nvSpPr>
        <p:spPr>
          <a:xfrm>
            <a:off x="6254802" y="1635952"/>
            <a:ext cx="2643900" cy="2343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10">
                  <a:extLst>
                    <a:ext uri="{A12FA001-AC4F-418D-AE19-62706E023703}">
                      <ahyp:hlinkClr xmlns:ahyp="http://schemas.microsoft.com/office/drawing/2018/hyperlinkcolor" val="tx"/>
                    </a:ext>
                  </a:extLst>
                </a:hlinkClick>
              </a:rPr>
              <a:t>Failed</a:t>
            </a:r>
            <a:r>
              <a:rPr lang="en" sz="1000" b="0" i="0" u="none" strike="noStrike" cap="none" dirty="0">
                <a:solidFill>
                  <a:srgbClr val="333333"/>
                </a:solidFill>
                <a:latin typeface="Poppins Medium"/>
                <a:ea typeface="Poppins Medium"/>
                <a:cs typeface="Poppins Medium"/>
                <a:sym typeface="Poppins Medium"/>
              </a:rPr>
              <a:t>: {{DS_F}}</a:t>
            </a:r>
            <a:endParaRPr sz="1000" b="0" i="0" u="none" strike="noStrike" cap="none" dirty="0">
              <a:solidFill>
                <a:srgbClr val="333333"/>
              </a:solidFill>
              <a:latin typeface="Poppins Medium"/>
              <a:ea typeface="Poppins Medium"/>
              <a:cs typeface="Poppins Medium"/>
              <a:sym typeface="Poppins Medium"/>
            </a:endParaRPr>
          </a:p>
        </p:txBody>
      </p:sp>
      <p:sp>
        <p:nvSpPr>
          <p:cNvPr id="460" name="Google Shape;460;p51"/>
          <p:cNvSpPr txBox="1"/>
          <p:nvPr/>
        </p:nvSpPr>
        <p:spPr>
          <a:xfrm>
            <a:off x="6088076" y="2142274"/>
            <a:ext cx="2928300" cy="2343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1000"/>
              <a:buFont typeface="Arial"/>
              <a:buNone/>
            </a:pPr>
            <a:r>
              <a:rPr lang="en" sz="1000" b="0" i="0" u="none" strike="noStrike" cap="none">
                <a:solidFill>
                  <a:srgbClr val="000000"/>
                </a:solidFill>
                <a:latin typeface="Poppins Medium"/>
                <a:ea typeface="Poppins Medium"/>
                <a:cs typeface="Poppins Medium"/>
                <a:sym typeface="Poppins Medium"/>
              </a:rPr>
              <a:t>Data Scan Coverage:</a:t>
            </a:r>
            <a:r>
              <a:rPr lang="en" sz="1000" b="0" i="0" u="none" strike="noStrike" cap="none">
                <a:solidFill>
                  <a:srgbClr val="333333"/>
                </a:solidFill>
                <a:latin typeface="Poppins Medium"/>
                <a:ea typeface="Poppins Medium"/>
                <a:cs typeface="Poppins Medium"/>
                <a:sym typeface="Poppins Medium"/>
              </a:rPr>
              <a:t> {{DS_P}}</a:t>
            </a:r>
            <a:endParaRPr sz="1000" b="0" i="0" u="none" strike="noStrike" cap="none">
              <a:solidFill>
                <a:srgbClr val="333333"/>
              </a:solidFill>
              <a:latin typeface="Poppins Medium"/>
              <a:ea typeface="Poppins Medium"/>
              <a:cs typeface="Poppins Medium"/>
              <a:sym typeface="Poppins Medium"/>
            </a:endParaRPr>
          </a:p>
        </p:txBody>
      </p:sp>
      <p:sp>
        <p:nvSpPr>
          <p:cNvPr id="461" name="Google Shape;461;p51"/>
          <p:cNvSpPr txBox="1"/>
          <p:nvPr/>
        </p:nvSpPr>
        <p:spPr>
          <a:xfrm>
            <a:off x="6248593" y="1889113"/>
            <a:ext cx="2643900" cy="2343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11">
                  <a:extLst>
                    <a:ext uri="{A12FA001-AC4F-418D-AE19-62706E023703}">
                      <ahyp:hlinkClr xmlns:ahyp="http://schemas.microsoft.com/office/drawing/2018/hyperlinkcolor" val="tx"/>
                    </a:ext>
                  </a:extLst>
                </a:hlinkClick>
              </a:rPr>
              <a:t>Skipped</a:t>
            </a:r>
            <a:r>
              <a:rPr lang="en" sz="1000" b="0" i="0" u="none" strike="noStrike" cap="none" dirty="0">
                <a:solidFill>
                  <a:srgbClr val="333333"/>
                </a:solidFill>
                <a:latin typeface="Poppins Medium"/>
                <a:ea typeface="Poppins Medium"/>
                <a:cs typeface="Poppins Medium"/>
                <a:sym typeface="Poppins Medium"/>
              </a:rPr>
              <a:t>: {{DS_SK}}</a:t>
            </a:r>
            <a:endParaRPr sz="1000" b="0" i="0" u="none" strike="noStrike" cap="none" dirty="0">
              <a:solidFill>
                <a:srgbClr val="333333"/>
              </a:solidFill>
              <a:latin typeface="Poppins Medium"/>
              <a:ea typeface="Poppins Medium"/>
              <a:cs typeface="Poppins Medium"/>
              <a:sym typeface="Poppins Medium"/>
            </a:endParaRPr>
          </a:p>
        </p:txBody>
      </p:sp>
      <p:pic>
        <p:nvPicPr>
          <p:cNvPr id="462" name="Google Shape;462;p51"/>
          <p:cNvPicPr preferRelativeResize="0"/>
          <p:nvPr/>
        </p:nvPicPr>
        <p:blipFill rotWithShape="1">
          <a:blip r:embed="rId3">
            <a:alphaModFix/>
          </a:blip>
          <a:srcRect/>
          <a:stretch/>
        </p:blipFill>
        <p:spPr>
          <a:xfrm>
            <a:off x="6071616" y="2962656"/>
            <a:ext cx="2939187" cy="2033900"/>
          </a:xfrm>
          <a:prstGeom prst="rect">
            <a:avLst/>
          </a:prstGeom>
          <a:noFill/>
          <a:ln>
            <a:noFill/>
          </a:ln>
        </p:spPr>
      </p:pic>
      <p:sp>
        <p:nvSpPr>
          <p:cNvPr id="463" name="Google Shape;463;p51"/>
          <p:cNvSpPr txBox="1"/>
          <p:nvPr/>
        </p:nvSpPr>
        <p:spPr>
          <a:xfrm>
            <a:off x="6074177" y="3001318"/>
            <a:ext cx="2937000" cy="5361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2"/>
              </a:buClr>
              <a:buSzPts val="1500"/>
              <a:buFont typeface="Arial"/>
              <a:buNone/>
            </a:pPr>
            <a:r>
              <a:rPr lang="en" sz="1500" b="0" i="0" u="none" strike="noStrike" cap="none">
                <a:solidFill>
                  <a:schemeClr val="dk1"/>
                </a:solidFill>
                <a:latin typeface="Poppins"/>
                <a:ea typeface="Poppins"/>
                <a:cs typeface="Poppins"/>
                <a:sym typeface="Poppins"/>
              </a:rPr>
              <a:t>Data Security Scans</a:t>
            </a:r>
            <a:br>
              <a:rPr lang="en" sz="1500" b="0" i="0" u="none" strike="noStrike" cap="none">
                <a:solidFill>
                  <a:schemeClr val="dk1"/>
                </a:solidFill>
                <a:latin typeface="Poppins"/>
                <a:ea typeface="Poppins"/>
                <a:cs typeface="Poppins"/>
                <a:sym typeface="Poppins"/>
              </a:rPr>
            </a:br>
            <a:r>
              <a:rPr lang="en" sz="1300" b="0" i="0" u="none" strike="noStrike" cap="none">
                <a:solidFill>
                  <a:schemeClr val="dk1"/>
                </a:solidFill>
                <a:latin typeface="Poppins"/>
                <a:ea typeface="Poppins"/>
                <a:cs typeface="Poppins"/>
                <a:sym typeface="Poppins"/>
              </a:rPr>
              <a:t>Counts by Resource Type</a:t>
            </a:r>
            <a:r>
              <a:rPr lang="en" sz="1500" b="0" i="0" u="none" strike="noStrike" cap="none">
                <a:solidFill>
                  <a:schemeClr val="dk1"/>
                </a:solidFill>
                <a:latin typeface="Poppins"/>
                <a:ea typeface="Poppins"/>
                <a:cs typeface="Poppins"/>
                <a:sym typeface="Poppins"/>
              </a:rPr>
              <a:t> </a:t>
            </a:r>
            <a:endParaRPr sz="1500" b="0" i="0" u="none" strike="noStrike" cap="none">
              <a:solidFill>
                <a:schemeClr val="dk1"/>
              </a:solidFill>
              <a:latin typeface="Poppins"/>
              <a:ea typeface="Poppins"/>
              <a:cs typeface="Poppins"/>
              <a:sym typeface="Poppins"/>
            </a:endParaRPr>
          </a:p>
        </p:txBody>
      </p:sp>
      <p:sp>
        <p:nvSpPr>
          <p:cNvPr id="464" name="Google Shape;464;p51"/>
          <p:cNvSpPr txBox="1"/>
          <p:nvPr/>
        </p:nvSpPr>
        <p:spPr>
          <a:xfrm>
            <a:off x="6182195" y="3512872"/>
            <a:ext cx="2681400" cy="3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Poppins Light"/>
              <a:ea typeface="Poppins Light"/>
              <a:cs typeface="Poppins Light"/>
              <a:sym typeface="Poppins Light"/>
            </a:endParaRPr>
          </a:p>
        </p:txBody>
      </p:sp>
      <p:sp>
        <p:nvSpPr>
          <p:cNvPr id="465" name="Google Shape;465;p51"/>
          <p:cNvSpPr txBox="1"/>
          <p:nvPr/>
        </p:nvSpPr>
        <p:spPr>
          <a:xfrm>
            <a:off x="6080958" y="3553677"/>
            <a:ext cx="2925600" cy="207300"/>
          </a:xfrm>
          <a:prstGeom prst="rect">
            <a:avLst/>
          </a:prstGeom>
          <a:solidFill>
            <a:schemeClr val="lt1"/>
          </a:solid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12">
                  <a:extLst>
                    <a:ext uri="{A12FA001-AC4F-418D-AE19-62706E023703}">
                      <ahyp:hlinkClr xmlns:ahyp="http://schemas.microsoft.com/office/drawing/2018/hyperlinkcolor" val="tx"/>
                    </a:ext>
                  </a:extLst>
                </a:hlinkClick>
              </a:rPr>
              <a:t>Buckets</a:t>
            </a:r>
            <a:r>
              <a:rPr lang="en" sz="1000" b="0" i="0" u="none" strike="noStrike" cap="none" dirty="0">
                <a:solidFill>
                  <a:srgbClr val="333333"/>
                </a:solidFill>
                <a:latin typeface="Poppins Medium"/>
                <a:ea typeface="Poppins Medium"/>
                <a:cs typeface="Poppins Medium"/>
                <a:sym typeface="Poppins Medium"/>
              </a:rPr>
              <a:t>: {{DS_B}}</a:t>
            </a:r>
            <a:endParaRPr sz="1000" b="0" i="0" u="none" strike="noStrike" cap="none" dirty="0">
              <a:solidFill>
                <a:srgbClr val="333333"/>
              </a:solidFill>
              <a:latin typeface="Poppins Medium"/>
              <a:ea typeface="Poppins Medium"/>
              <a:cs typeface="Poppins Medium"/>
              <a:sym typeface="Poppins Medium"/>
            </a:endParaRPr>
          </a:p>
        </p:txBody>
      </p:sp>
      <p:sp>
        <p:nvSpPr>
          <p:cNvPr id="466" name="Google Shape;466;p51"/>
          <p:cNvSpPr txBox="1"/>
          <p:nvPr/>
        </p:nvSpPr>
        <p:spPr>
          <a:xfrm>
            <a:off x="6076847" y="3787606"/>
            <a:ext cx="2939400" cy="2073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13">
                  <a:extLst>
                    <a:ext uri="{A12FA001-AC4F-418D-AE19-62706E023703}">
                      <ahyp:hlinkClr xmlns:ahyp="http://schemas.microsoft.com/office/drawing/2018/hyperlinkcolor" val="tx"/>
                    </a:ext>
                  </a:extLst>
                </a:hlinkClick>
              </a:rPr>
              <a:t>PaaS Databases</a:t>
            </a:r>
            <a:r>
              <a:rPr lang="en" sz="1000" b="0" i="0" u="none" strike="noStrike" cap="none" dirty="0">
                <a:solidFill>
                  <a:srgbClr val="333333"/>
                </a:solidFill>
                <a:latin typeface="Poppins Medium"/>
                <a:ea typeface="Poppins Medium"/>
                <a:cs typeface="Poppins Medium"/>
                <a:sym typeface="Poppins Medium"/>
              </a:rPr>
              <a:t>: {{DS_PD}}</a:t>
            </a:r>
            <a:endParaRPr sz="1000" b="0" i="0" u="none" strike="noStrike" cap="none" dirty="0">
              <a:solidFill>
                <a:srgbClr val="333333"/>
              </a:solidFill>
              <a:latin typeface="Poppins Medium"/>
              <a:ea typeface="Poppins Medium"/>
              <a:cs typeface="Poppins Medium"/>
              <a:sym typeface="Poppins Medium"/>
            </a:endParaRPr>
          </a:p>
        </p:txBody>
      </p:sp>
      <p:sp>
        <p:nvSpPr>
          <p:cNvPr id="467" name="Google Shape;467;p51"/>
          <p:cNvSpPr txBox="1"/>
          <p:nvPr/>
        </p:nvSpPr>
        <p:spPr>
          <a:xfrm>
            <a:off x="6087369" y="4266098"/>
            <a:ext cx="2925600" cy="2073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14">
                  <a:extLst>
                    <a:ext uri="{A12FA001-AC4F-418D-AE19-62706E023703}">
                      <ahyp:hlinkClr xmlns:ahyp="http://schemas.microsoft.com/office/drawing/2018/hyperlinkcolor" val="tx"/>
                    </a:ext>
                  </a:extLst>
                </a:hlinkClick>
              </a:rPr>
              <a:t>Virtual Drives</a:t>
            </a:r>
            <a:r>
              <a:rPr lang="en" sz="1000" b="0" i="0" u="none" strike="noStrike" cap="none" dirty="0">
                <a:solidFill>
                  <a:srgbClr val="333333"/>
                </a:solidFill>
                <a:latin typeface="Poppins Medium"/>
                <a:ea typeface="Poppins Medium"/>
                <a:cs typeface="Poppins Medium"/>
                <a:sym typeface="Poppins Medium"/>
              </a:rPr>
              <a:t>: {{DS_VD}}</a:t>
            </a:r>
            <a:endParaRPr sz="1000" b="0" i="0" u="none" strike="noStrike" cap="none" dirty="0">
              <a:solidFill>
                <a:srgbClr val="333333"/>
              </a:solidFill>
              <a:latin typeface="Poppins Medium"/>
              <a:ea typeface="Poppins Medium"/>
              <a:cs typeface="Poppins Medium"/>
              <a:sym typeface="Poppins Medium"/>
            </a:endParaRPr>
          </a:p>
        </p:txBody>
      </p:sp>
      <p:sp>
        <p:nvSpPr>
          <p:cNvPr id="468" name="Google Shape;468;p51"/>
          <p:cNvSpPr txBox="1"/>
          <p:nvPr/>
        </p:nvSpPr>
        <p:spPr>
          <a:xfrm>
            <a:off x="6084243" y="4026852"/>
            <a:ext cx="2925600" cy="2073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15">
                  <a:extLst>
                    <a:ext uri="{A12FA001-AC4F-418D-AE19-62706E023703}">
                      <ahyp:hlinkClr xmlns:ahyp="http://schemas.microsoft.com/office/drawing/2018/hyperlinkcolor" val="tx"/>
                    </a:ext>
                  </a:extLst>
                </a:hlinkClick>
              </a:rPr>
              <a:t>Data Warehouses</a:t>
            </a:r>
            <a:r>
              <a:rPr lang="en" sz="1000" b="0" i="0" u="none" strike="noStrike" cap="none" dirty="0">
                <a:solidFill>
                  <a:srgbClr val="333333"/>
                </a:solidFill>
                <a:latin typeface="Poppins Medium"/>
                <a:ea typeface="Poppins Medium"/>
                <a:cs typeface="Poppins Medium"/>
                <a:sym typeface="Poppins Medium"/>
              </a:rPr>
              <a:t>: {{DS_DW}}</a:t>
            </a:r>
            <a:endParaRPr sz="1000" b="0" i="0" u="none" strike="noStrike" cap="none" dirty="0">
              <a:solidFill>
                <a:srgbClr val="333333"/>
              </a:solidFill>
              <a:latin typeface="Poppins Medium"/>
              <a:ea typeface="Poppins Medium"/>
              <a:cs typeface="Poppins Medium"/>
              <a:sym typeface="Poppins Medium"/>
            </a:endParaRPr>
          </a:p>
        </p:txBody>
      </p:sp>
      <p:sp>
        <p:nvSpPr>
          <p:cNvPr id="469" name="Google Shape;469;p51"/>
          <p:cNvSpPr txBox="1"/>
          <p:nvPr/>
        </p:nvSpPr>
        <p:spPr>
          <a:xfrm>
            <a:off x="6085707" y="4505344"/>
            <a:ext cx="2925600" cy="2073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16">
                  <a:extLst>
                    <a:ext uri="{A12FA001-AC4F-418D-AE19-62706E023703}">
                      <ahyp:hlinkClr xmlns:ahyp="http://schemas.microsoft.com/office/drawing/2018/hyperlinkcolor" val="tx"/>
                    </a:ext>
                  </a:extLst>
                </a:hlinkClick>
              </a:rPr>
              <a:t>AI Datastores</a:t>
            </a:r>
            <a:r>
              <a:rPr lang="en" sz="1000" b="0" i="0" u="none" strike="noStrike" cap="none" dirty="0">
                <a:solidFill>
                  <a:srgbClr val="333333"/>
                </a:solidFill>
                <a:latin typeface="Poppins Medium"/>
                <a:ea typeface="Poppins Medium"/>
                <a:cs typeface="Poppins Medium"/>
                <a:sym typeface="Poppins Medium"/>
              </a:rPr>
              <a:t>: {{DS_AI}}</a:t>
            </a:r>
            <a:endParaRPr sz="1000" b="0" i="0" u="none" strike="noStrike" cap="none" dirty="0">
              <a:solidFill>
                <a:srgbClr val="333333"/>
              </a:solidFill>
              <a:latin typeface="Poppins Medium"/>
              <a:ea typeface="Poppins Medium"/>
              <a:cs typeface="Poppins Medium"/>
              <a:sym typeface="Poppins Medium"/>
            </a:endParaRPr>
          </a:p>
        </p:txBody>
      </p:sp>
      <p:sp>
        <p:nvSpPr>
          <p:cNvPr id="470" name="Google Shape;470;p51"/>
          <p:cNvSpPr txBox="1"/>
          <p:nvPr/>
        </p:nvSpPr>
        <p:spPr>
          <a:xfrm>
            <a:off x="6085192" y="4744589"/>
            <a:ext cx="2925600" cy="2073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17">
                  <a:extLst>
                    <a:ext uri="{A12FA001-AC4F-418D-AE19-62706E023703}">
                      <ahyp:hlinkClr xmlns:ahyp="http://schemas.microsoft.com/office/drawing/2018/hyperlinkcolor" val="tx"/>
                    </a:ext>
                  </a:extLst>
                </a:hlinkClick>
              </a:rPr>
              <a:t>File System Services</a:t>
            </a:r>
            <a:r>
              <a:rPr lang="en" sz="1000" b="0" i="0" u="none" strike="noStrike" cap="none" dirty="0">
                <a:solidFill>
                  <a:srgbClr val="333333"/>
                </a:solidFill>
                <a:latin typeface="Poppins Medium"/>
                <a:ea typeface="Poppins Medium"/>
                <a:cs typeface="Poppins Medium"/>
                <a:sym typeface="Poppins Medium"/>
              </a:rPr>
              <a:t>: {{DS_FSS}}</a:t>
            </a:r>
            <a:endParaRPr sz="1000" b="0" i="0" u="none" strike="noStrike" cap="none" dirty="0">
              <a:solidFill>
                <a:srgbClr val="333333"/>
              </a:solidFill>
              <a:latin typeface="Poppins Medium"/>
              <a:ea typeface="Poppins Medium"/>
              <a:cs typeface="Poppins Medium"/>
              <a:sym typeface="Poppins Medium"/>
            </a:endParaRPr>
          </a:p>
        </p:txBody>
      </p:sp>
      <p:pic>
        <p:nvPicPr>
          <p:cNvPr id="471" name="Google Shape;471;p51"/>
          <p:cNvPicPr preferRelativeResize="0"/>
          <p:nvPr/>
        </p:nvPicPr>
        <p:blipFill rotWithShape="1">
          <a:blip r:embed="rId3">
            <a:alphaModFix/>
          </a:blip>
          <a:srcRect/>
          <a:stretch/>
        </p:blipFill>
        <p:spPr>
          <a:xfrm>
            <a:off x="3080275" y="933600"/>
            <a:ext cx="2789652" cy="1542625"/>
          </a:xfrm>
          <a:prstGeom prst="rect">
            <a:avLst/>
          </a:prstGeom>
          <a:noFill/>
          <a:ln>
            <a:noFill/>
          </a:ln>
        </p:spPr>
      </p:pic>
      <p:sp>
        <p:nvSpPr>
          <p:cNvPr id="472" name="Google Shape;472;p51"/>
          <p:cNvSpPr txBox="1"/>
          <p:nvPr/>
        </p:nvSpPr>
        <p:spPr>
          <a:xfrm>
            <a:off x="3080277" y="1001134"/>
            <a:ext cx="2782200" cy="3456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2"/>
              </a:buClr>
              <a:buSzPts val="1500"/>
              <a:buFont typeface="Arial"/>
              <a:buNone/>
            </a:pPr>
            <a:r>
              <a:rPr lang="en" sz="1500" b="0" i="0" u="none" strike="noStrike" cap="none">
                <a:solidFill>
                  <a:schemeClr val="dk1"/>
                </a:solidFill>
                <a:latin typeface="Poppins"/>
                <a:ea typeface="Poppins"/>
                <a:cs typeface="Poppins"/>
                <a:sym typeface="Poppins"/>
              </a:rPr>
              <a:t>Workload Scans</a:t>
            </a:r>
            <a:endParaRPr sz="1500" b="0" i="0" u="none" strike="noStrike" cap="none">
              <a:solidFill>
                <a:schemeClr val="dk1"/>
              </a:solidFill>
              <a:latin typeface="Poppins"/>
              <a:ea typeface="Poppins"/>
              <a:cs typeface="Poppins"/>
              <a:sym typeface="Poppins"/>
            </a:endParaRPr>
          </a:p>
        </p:txBody>
      </p:sp>
      <p:sp>
        <p:nvSpPr>
          <p:cNvPr id="473" name="Google Shape;473;p51"/>
          <p:cNvSpPr txBox="1"/>
          <p:nvPr/>
        </p:nvSpPr>
        <p:spPr>
          <a:xfrm>
            <a:off x="3158346" y="1578966"/>
            <a:ext cx="2540400" cy="3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Poppins Light"/>
              <a:ea typeface="Poppins Light"/>
              <a:cs typeface="Poppins Light"/>
              <a:sym typeface="Poppins Light"/>
            </a:endParaRPr>
          </a:p>
        </p:txBody>
      </p:sp>
      <p:sp>
        <p:nvSpPr>
          <p:cNvPr id="474" name="Google Shape;474;p51"/>
          <p:cNvSpPr txBox="1"/>
          <p:nvPr/>
        </p:nvSpPr>
        <p:spPr>
          <a:xfrm>
            <a:off x="3226732" y="1361234"/>
            <a:ext cx="2502000" cy="2073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18">
                  <a:extLst>
                    <a:ext uri="{A12FA001-AC4F-418D-AE19-62706E023703}">
                      <ahyp:hlinkClr xmlns:ahyp="http://schemas.microsoft.com/office/drawing/2018/hyperlinkcolor" val="tx"/>
                    </a:ext>
                  </a:extLst>
                </a:hlinkClick>
              </a:rPr>
              <a:t>Total</a:t>
            </a:r>
            <a:r>
              <a:rPr lang="en" sz="1000" b="0" i="0" u="none" strike="noStrike" cap="none" dirty="0">
                <a:solidFill>
                  <a:srgbClr val="333333"/>
                </a:solidFill>
                <a:latin typeface="Poppins Medium"/>
                <a:ea typeface="Poppins Medium"/>
                <a:cs typeface="Poppins Medium"/>
                <a:sym typeface="Poppins Medium"/>
              </a:rPr>
              <a:t>: {{WS_T}}</a:t>
            </a:r>
            <a:endParaRPr sz="1000" b="0" i="0" u="none" strike="noStrike" cap="none" dirty="0">
              <a:solidFill>
                <a:srgbClr val="333333"/>
              </a:solidFill>
              <a:latin typeface="Poppins Medium"/>
              <a:ea typeface="Poppins Medium"/>
              <a:cs typeface="Poppins Medium"/>
              <a:sym typeface="Poppins Medium"/>
            </a:endParaRPr>
          </a:p>
        </p:txBody>
      </p:sp>
      <p:sp>
        <p:nvSpPr>
          <p:cNvPr id="475" name="Google Shape;475;p51"/>
          <p:cNvSpPr txBox="1"/>
          <p:nvPr/>
        </p:nvSpPr>
        <p:spPr>
          <a:xfrm>
            <a:off x="3226306" y="1591491"/>
            <a:ext cx="2502000" cy="2073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19">
                  <a:extLst>
                    <a:ext uri="{A12FA001-AC4F-418D-AE19-62706E023703}">
                      <ahyp:hlinkClr xmlns:ahyp="http://schemas.microsoft.com/office/drawing/2018/hyperlinkcolor" val="tx"/>
                    </a:ext>
                  </a:extLst>
                </a:hlinkClick>
              </a:rPr>
              <a:t>Failed</a:t>
            </a:r>
            <a:r>
              <a:rPr lang="en" sz="1000" b="0" i="0" u="none" strike="noStrike" cap="none" dirty="0">
                <a:solidFill>
                  <a:srgbClr val="333333"/>
                </a:solidFill>
                <a:latin typeface="Poppins Medium"/>
                <a:ea typeface="Poppins Medium"/>
                <a:cs typeface="Poppins Medium"/>
                <a:sym typeface="Poppins Medium"/>
              </a:rPr>
              <a:t>: {{WS_F}}</a:t>
            </a:r>
            <a:endParaRPr sz="1000" b="0" i="0" u="none" strike="noStrike" cap="none" dirty="0">
              <a:solidFill>
                <a:srgbClr val="333333"/>
              </a:solidFill>
              <a:latin typeface="Poppins Medium"/>
              <a:ea typeface="Poppins Medium"/>
              <a:cs typeface="Poppins Medium"/>
              <a:sym typeface="Poppins Medium"/>
            </a:endParaRPr>
          </a:p>
        </p:txBody>
      </p:sp>
      <p:sp>
        <p:nvSpPr>
          <p:cNvPr id="476" name="Google Shape;476;p51"/>
          <p:cNvSpPr txBox="1"/>
          <p:nvPr/>
        </p:nvSpPr>
        <p:spPr>
          <a:xfrm>
            <a:off x="3231506" y="2052005"/>
            <a:ext cx="2502000" cy="2073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18">
                  <a:extLst>
                    <a:ext uri="{A12FA001-AC4F-418D-AE19-62706E023703}">
                      <ahyp:hlinkClr xmlns:ahyp="http://schemas.microsoft.com/office/drawing/2018/hyperlinkcolor" val="tx"/>
                    </a:ext>
                  </a:extLst>
                </a:hlinkClick>
              </a:rPr>
              <a:t>Scan Coverage</a:t>
            </a:r>
            <a:r>
              <a:rPr lang="en" sz="1000" b="0" i="0" u="none" strike="noStrike" cap="none" dirty="0">
                <a:solidFill>
                  <a:srgbClr val="333333"/>
                </a:solidFill>
                <a:latin typeface="Poppins Medium"/>
                <a:ea typeface="Poppins Medium"/>
                <a:cs typeface="Poppins Medium"/>
                <a:sym typeface="Poppins Medium"/>
              </a:rPr>
              <a:t>: {{WS_P}}</a:t>
            </a:r>
            <a:endParaRPr sz="1000" b="0" i="0" u="none" strike="noStrike" cap="none" dirty="0">
              <a:solidFill>
                <a:srgbClr val="333333"/>
              </a:solidFill>
              <a:latin typeface="Poppins Medium"/>
              <a:ea typeface="Poppins Medium"/>
              <a:cs typeface="Poppins Medium"/>
              <a:sym typeface="Poppins Medium"/>
            </a:endParaRPr>
          </a:p>
        </p:txBody>
      </p:sp>
      <p:sp>
        <p:nvSpPr>
          <p:cNvPr id="477" name="Google Shape;477;p51"/>
          <p:cNvSpPr txBox="1"/>
          <p:nvPr/>
        </p:nvSpPr>
        <p:spPr>
          <a:xfrm>
            <a:off x="3231499" y="1821748"/>
            <a:ext cx="2502000" cy="207300"/>
          </a:xfrm>
          <a:prstGeom prst="rect">
            <a:avLst/>
          </a:prstGeom>
          <a:noFill/>
          <a:ln>
            <a:noFill/>
          </a:ln>
        </p:spPr>
        <p:txBody>
          <a:bodyPr spcFirstLastPara="1" wrap="square" lIns="91250" tIns="91250" rIns="91250" bIns="91250" anchor="t" anchorCtr="0">
            <a:noAutofit/>
          </a:bodyPr>
          <a:lstStyle/>
          <a:p>
            <a:pPr marL="0" marR="0" lvl="0" indent="0" algn="ctr" rtl="0">
              <a:lnSpc>
                <a:spcPct val="15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20">
                  <a:extLst>
                    <a:ext uri="{A12FA001-AC4F-418D-AE19-62706E023703}">
                      <ahyp:hlinkClr xmlns:ahyp="http://schemas.microsoft.com/office/drawing/2018/hyperlinkcolor" val="tx"/>
                    </a:ext>
                  </a:extLst>
                </a:hlinkClick>
              </a:rPr>
              <a:t>Skipped</a:t>
            </a:r>
            <a:r>
              <a:rPr lang="en" sz="1000" b="0" i="0" u="none" strike="noStrike" cap="none" dirty="0">
                <a:solidFill>
                  <a:srgbClr val="333333"/>
                </a:solidFill>
                <a:latin typeface="Poppins Medium"/>
                <a:ea typeface="Poppins Medium"/>
                <a:cs typeface="Poppins Medium"/>
                <a:sym typeface="Poppins Medium"/>
              </a:rPr>
              <a:t>: {{WS_SK}}</a:t>
            </a:r>
            <a:endParaRPr sz="1000" b="0" i="0" u="none" strike="noStrike" cap="none" dirty="0">
              <a:solidFill>
                <a:srgbClr val="333333"/>
              </a:solidFill>
              <a:latin typeface="Poppins Medium"/>
              <a:ea typeface="Poppins Medium"/>
              <a:cs typeface="Poppins Medium"/>
              <a:sym typeface="Poppins Medium"/>
            </a:endParaRPr>
          </a:p>
        </p:txBody>
      </p:sp>
      <p:sp>
        <p:nvSpPr>
          <p:cNvPr id="478" name="Google Shape;478;p51"/>
          <p:cNvSpPr/>
          <p:nvPr/>
        </p:nvSpPr>
        <p:spPr>
          <a:xfrm>
            <a:off x="1335452" y="2575004"/>
            <a:ext cx="269400" cy="345600"/>
          </a:xfrm>
          <a:prstGeom prst="downArrow">
            <a:avLst>
              <a:gd name="adj1" fmla="val 50000"/>
              <a:gd name="adj2" fmla="val 50000"/>
            </a:avLst>
          </a:prstGeom>
          <a:solidFill>
            <a:srgbClr val="014FF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79" name="Google Shape;479;p51"/>
          <p:cNvPicPr preferRelativeResize="0"/>
          <p:nvPr/>
        </p:nvPicPr>
        <p:blipFill rotWithShape="1">
          <a:blip r:embed="rId3">
            <a:alphaModFix/>
          </a:blip>
          <a:srcRect/>
          <a:stretch/>
        </p:blipFill>
        <p:spPr>
          <a:xfrm>
            <a:off x="119827" y="2962925"/>
            <a:ext cx="2755502" cy="2126475"/>
          </a:xfrm>
          <a:prstGeom prst="rect">
            <a:avLst/>
          </a:prstGeom>
          <a:noFill/>
          <a:ln>
            <a:noFill/>
          </a:ln>
        </p:spPr>
      </p:pic>
      <p:sp>
        <p:nvSpPr>
          <p:cNvPr id="480" name="Google Shape;480;p51"/>
          <p:cNvSpPr txBox="1"/>
          <p:nvPr/>
        </p:nvSpPr>
        <p:spPr>
          <a:xfrm>
            <a:off x="119827" y="2984749"/>
            <a:ext cx="2753400" cy="5361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2"/>
              </a:buClr>
              <a:buSzPts val="1500"/>
              <a:buFont typeface="Arial"/>
              <a:buNone/>
            </a:pPr>
            <a:r>
              <a:rPr lang="en" sz="1500" b="0" i="0" u="none" strike="noStrike" cap="none">
                <a:solidFill>
                  <a:schemeClr val="dk1"/>
                </a:solidFill>
                <a:latin typeface="Poppins"/>
                <a:ea typeface="Poppins"/>
                <a:cs typeface="Poppins"/>
                <a:sym typeface="Poppins"/>
              </a:rPr>
              <a:t>System Health Issues</a:t>
            </a:r>
            <a:br>
              <a:rPr lang="en" sz="1500" b="0" i="0" u="none" strike="noStrike" cap="none">
                <a:solidFill>
                  <a:schemeClr val="dk1"/>
                </a:solidFill>
                <a:latin typeface="Poppins"/>
                <a:ea typeface="Poppins"/>
                <a:cs typeface="Poppins"/>
                <a:sym typeface="Poppins"/>
              </a:rPr>
            </a:br>
            <a:r>
              <a:rPr lang="en" sz="1300" b="0" i="0" u="none" strike="noStrike" cap="none">
                <a:solidFill>
                  <a:schemeClr val="dk1"/>
                </a:solidFill>
                <a:latin typeface="Poppins"/>
                <a:ea typeface="Poppins"/>
                <a:cs typeface="Poppins"/>
                <a:sym typeface="Poppins"/>
              </a:rPr>
              <a:t>Counts by Resource Type</a:t>
            </a:r>
            <a:r>
              <a:rPr lang="en" sz="1500" b="0" i="0" u="none" strike="noStrike" cap="none">
                <a:solidFill>
                  <a:schemeClr val="dk1"/>
                </a:solidFill>
                <a:latin typeface="Poppins"/>
                <a:ea typeface="Poppins"/>
                <a:cs typeface="Poppins"/>
                <a:sym typeface="Poppins"/>
              </a:rPr>
              <a:t> </a:t>
            </a:r>
            <a:endParaRPr sz="1500" b="0" i="0" u="none" strike="noStrike" cap="none">
              <a:solidFill>
                <a:schemeClr val="dk1"/>
              </a:solidFill>
              <a:latin typeface="Poppins"/>
              <a:ea typeface="Poppins"/>
              <a:cs typeface="Poppins"/>
              <a:sym typeface="Poppins"/>
            </a:endParaRPr>
          </a:p>
        </p:txBody>
      </p:sp>
      <p:sp>
        <p:nvSpPr>
          <p:cNvPr id="481" name="Google Shape;481;p51"/>
          <p:cNvSpPr txBox="1"/>
          <p:nvPr/>
        </p:nvSpPr>
        <p:spPr>
          <a:xfrm>
            <a:off x="157649" y="3766713"/>
            <a:ext cx="2690181" cy="188771"/>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21">
                  <a:extLst>
                    <a:ext uri="{A12FA001-AC4F-418D-AE19-62706E023703}">
                      <ahyp:hlinkClr xmlns:ahyp="http://schemas.microsoft.com/office/drawing/2018/hyperlinkcolor" val="tx"/>
                    </a:ext>
                  </a:extLst>
                </a:hlinkClick>
              </a:rPr>
              <a:t>Outposts</a:t>
            </a:r>
            <a:r>
              <a:rPr lang="en" sz="1000" b="0" i="0" u="none" strike="noStrike" cap="none" dirty="0">
                <a:solidFill>
                  <a:srgbClr val="333333"/>
                </a:solidFill>
                <a:latin typeface="Poppins Medium"/>
                <a:ea typeface="Poppins Medium"/>
                <a:cs typeface="Poppins Medium"/>
                <a:sym typeface="Poppins Medium"/>
              </a:rPr>
              <a:t>: {{SHI_O}}</a:t>
            </a:r>
            <a:endParaRPr sz="1000" b="0" i="0" u="none" strike="noStrike" cap="none" dirty="0">
              <a:solidFill>
                <a:srgbClr val="333333"/>
              </a:solidFill>
              <a:latin typeface="Poppins Medium"/>
              <a:ea typeface="Poppins Medium"/>
              <a:cs typeface="Poppins Medium"/>
              <a:sym typeface="Poppins Medium"/>
            </a:endParaRPr>
          </a:p>
        </p:txBody>
      </p:sp>
      <p:sp>
        <p:nvSpPr>
          <p:cNvPr id="482" name="Google Shape;482;p51"/>
          <p:cNvSpPr txBox="1"/>
          <p:nvPr/>
        </p:nvSpPr>
        <p:spPr>
          <a:xfrm>
            <a:off x="142826" y="4203392"/>
            <a:ext cx="2695757" cy="2235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22">
                  <a:extLst>
                    <a:ext uri="{A12FA001-AC4F-418D-AE19-62706E023703}">
                      <ahyp:hlinkClr xmlns:ahyp="http://schemas.microsoft.com/office/drawing/2018/hyperlinkcolor" val="tx"/>
                    </a:ext>
                  </a:extLst>
                </a:hlinkClick>
              </a:rPr>
              <a:t>Registry Connectors</a:t>
            </a:r>
            <a:r>
              <a:rPr lang="en" sz="1000" b="0" i="0" u="none" strike="noStrike" cap="none" dirty="0">
                <a:solidFill>
                  <a:srgbClr val="333333"/>
                </a:solidFill>
                <a:latin typeface="Poppins Medium"/>
                <a:ea typeface="Poppins Medium"/>
                <a:cs typeface="Poppins Medium"/>
                <a:sym typeface="Poppins Medium"/>
              </a:rPr>
              <a:t>: {{SHI_RC}}</a:t>
            </a:r>
            <a:endParaRPr sz="1000" b="0" i="0" u="none" strike="noStrike" cap="none" dirty="0">
              <a:solidFill>
                <a:srgbClr val="333333"/>
              </a:solidFill>
              <a:latin typeface="Poppins Medium"/>
              <a:ea typeface="Poppins Medium"/>
              <a:cs typeface="Poppins Medium"/>
              <a:sym typeface="Poppins Medium"/>
            </a:endParaRPr>
          </a:p>
        </p:txBody>
      </p:sp>
      <p:sp>
        <p:nvSpPr>
          <p:cNvPr id="483" name="Google Shape;483;p51"/>
          <p:cNvSpPr txBox="1"/>
          <p:nvPr/>
        </p:nvSpPr>
        <p:spPr>
          <a:xfrm>
            <a:off x="147275" y="3985053"/>
            <a:ext cx="2696624" cy="19981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23">
                  <a:extLst>
                    <a:ext uri="{A12FA001-AC4F-418D-AE19-62706E023703}">
                      <ahyp:hlinkClr xmlns:ahyp="http://schemas.microsoft.com/office/drawing/2018/hyperlinkcolor" val="tx"/>
                    </a:ext>
                  </a:extLst>
                </a:hlinkClick>
              </a:rPr>
              <a:t>Integrations</a:t>
            </a:r>
            <a:r>
              <a:rPr lang="en" sz="1000" b="0" i="0" u="none" strike="noStrike" cap="none" dirty="0">
                <a:solidFill>
                  <a:srgbClr val="333333"/>
                </a:solidFill>
                <a:latin typeface="Poppins Medium"/>
                <a:ea typeface="Poppins Medium"/>
                <a:cs typeface="Poppins Medium"/>
                <a:sym typeface="Poppins Medium"/>
              </a:rPr>
              <a:t>: {{SHI_I}}</a:t>
            </a:r>
            <a:endParaRPr sz="1000" b="0" i="0" u="none" strike="noStrike" cap="none" dirty="0">
              <a:solidFill>
                <a:srgbClr val="333333"/>
              </a:solidFill>
              <a:latin typeface="Poppins Medium"/>
              <a:ea typeface="Poppins Medium"/>
              <a:cs typeface="Poppins Medium"/>
              <a:sym typeface="Poppins Medium"/>
            </a:endParaRPr>
          </a:p>
        </p:txBody>
      </p:sp>
      <p:sp>
        <p:nvSpPr>
          <p:cNvPr id="484" name="Google Shape;484;p51"/>
          <p:cNvSpPr txBox="1"/>
          <p:nvPr/>
        </p:nvSpPr>
        <p:spPr>
          <a:xfrm>
            <a:off x="157216" y="4421732"/>
            <a:ext cx="2685297" cy="202588"/>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24">
                  <a:extLst>
                    <a:ext uri="{A12FA001-AC4F-418D-AE19-62706E023703}">
                      <ahyp:hlinkClr xmlns:ahyp="http://schemas.microsoft.com/office/drawing/2018/hyperlinkcolor" val="tx"/>
                    </a:ext>
                  </a:extLst>
                </a:hlinkClick>
              </a:rPr>
              <a:t>K8S Connectors</a:t>
            </a:r>
            <a:r>
              <a:rPr lang="en" sz="1000" b="0" i="0" u="none" strike="noStrike" cap="none" dirty="0">
                <a:solidFill>
                  <a:srgbClr val="333333"/>
                </a:solidFill>
                <a:latin typeface="Poppins Medium"/>
                <a:ea typeface="Poppins Medium"/>
                <a:cs typeface="Poppins Medium"/>
                <a:sym typeface="Poppins Medium"/>
              </a:rPr>
              <a:t>: {{SHI_KC}}</a:t>
            </a:r>
            <a:endParaRPr sz="1000" b="0" i="0" u="none" strike="noStrike" cap="none" dirty="0">
              <a:solidFill>
                <a:srgbClr val="333333"/>
              </a:solidFill>
              <a:latin typeface="Poppins Medium"/>
              <a:ea typeface="Poppins Medium"/>
              <a:cs typeface="Poppins Medium"/>
              <a:sym typeface="Poppins Medium"/>
            </a:endParaRPr>
          </a:p>
        </p:txBody>
      </p:sp>
      <p:sp>
        <p:nvSpPr>
          <p:cNvPr id="485" name="Google Shape;485;p51"/>
          <p:cNvSpPr txBox="1"/>
          <p:nvPr/>
        </p:nvSpPr>
        <p:spPr>
          <a:xfrm>
            <a:off x="140785" y="4640071"/>
            <a:ext cx="2695757" cy="21834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25">
                  <a:extLst>
                    <a:ext uri="{A12FA001-AC4F-418D-AE19-62706E023703}">
                      <ahyp:hlinkClr xmlns:ahyp="http://schemas.microsoft.com/office/drawing/2018/hyperlinkcolor" val="tx"/>
                    </a:ext>
                  </a:extLst>
                </a:hlinkClick>
              </a:rPr>
              <a:t>VCS Connectors</a:t>
            </a:r>
            <a:r>
              <a:rPr lang="en" sz="1000" b="0" i="0" u="none" strike="noStrike" cap="none" dirty="0">
                <a:solidFill>
                  <a:srgbClr val="333333"/>
                </a:solidFill>
                <a:latin typeface="Poppins Medium"/>
                <a:ea typeface="Poppins Medium"/>
                <a:cs typeface="Poppins Medium"/>
                <a:sym typeface="Poppins Medium"/>
              </a:rPr>
              <a:t>: {{SHI_VCS}}</a:t>
            </a:r>
            <a:endParaRPr sz="1000" b="0" i="0" u="none" strike="noStrike" cap="none" dirty="0">
              <a:solidFill>
                <a:srgbClr val="333333"/>
              </a:solidFill>
              <a:latin typeface="Poppins Medium"/>
              <a:ea typeface="Poppins Medium"/>
              <a:cs typeface="Poppins Medium"/>
              <a:sym typeface="Poppins Medium"/>
            </a:endParaRPr>
          </a:p>
        </p:txBody>
      </p:sp>
      <p:sp>
        <p:nvSpPr>
          <p:cNvPr id="486" name="Google Shape;486;p51"/>
          <p:cNvSpPr txBox="1"/>
          <p:nvPr/>
        </p:nvSpPr>
        <p:spPr>
          <a:xfrm>
            <a:off x="154650" y="4858411"/>
            <a:ext cx="2682547" cy="19465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26">
                  <a:extLst>
                    <a:ext uri="{A12FA001-AC4F-418D-AE19-62706E023703}">
                      <ahyp:hlinkClr xmlns:ahyp="http://schemas.microsoft.com/office/drawing/2018/hyperlinkcolor" val="tx"/>
                    </a:ext>
                  </a:extLst>
                </a:hlinkClick>
              </a:rPr>
              <a:t>Brokers</a:t>
            </a:r>
            <a:r>
              <a:rPr lang="en" sz="1000" b="0" i="0" u="none" strike="noStrike" cap="none" dirty="0">
                <a:solidFill>
                  <a:srgbClr val="333333"/>
                </a:solidFill>
                <a:latin typeface="Poppins Medium"/>
                <a:ea typeface="Poppins Medium"/>
                <a:cs typeface="Poppins Medium"/>
                <a:sym typeface="Poppins Medium"/>
              </a:rPr>
              <a:t>: {{SHI_B}}</a:t>
            </a:r>
            <a:endParaRPr sz="1000" b="0" i="0" u="none" strike="noStrike" cap="none" dirty="0">
              <a:solidFill>
                <a:srgbClr val="333333"/>
              </a:solidFill>
              <a:latin typeface="Poppins Medium"/>
              <a:ea typeface="Poppins Medium"/>
              <a:cs typeface="Poppins Medium"/>
              <a:sym typeface="Poppins Medium"/>
            </a:endParaRPr>
          </a:p>
        </p:txBody>
      </p:sp>
      <p:sp>
        <p:nvSpPr>
          <p:cNvPr id="487" name="Google Shape;487;p51"/>
          <p:cNvSpPr txBox="1"/>
          <p:nvPr/>
        </p:nvSpPr>
        <p:spPr>
          <a:xfrm>
            <a:off x="136809" y="3548374"/>
            <a:ext cx="2725374" cy="194650"/>
          </a:xfrm>
          <a:prstGeom prst="rect">
            <a:avLst/>
          </a:prstGeom>
          <a:solidFill>
            <a:schemeClr val="lt1"/>
          </a:solid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Medium"/>
                <a:ea typeface="Poppins Medium"/>
                <a:cs typeface="Poppins Medium"/>
                <a:sym typeface="Poppins Medium"/>
                <a:hlinkClick r:id="rId27">
                  <a:extLst>
                    <a:ext uri="{A12FA001-AC4F-418D-AE19-62706E023703}">
                      <ahyp:hlinkClr xmlns:ahyp="http://schemas.microsoft.com/office/drawing/2018/hyperlinkcolor" val="tx"/>
                    </a:ext>
                  </a:extLst>
                </a:hlinkClick>
              </a:rPr>
              <a:t>Cloud Connectors</a:t>
            </a:r>
            <a:r>
              <a:rPr lang="en" sz="1000" b="0" i="0" u="none" strike="noStrike" cap="none" dirty="0">
                <a:solidFill>
                  <a:srgbClr val="333333"/>
                </a:solidFill>
                <a:latin typeface="Poppins Medium"/>
                <a:ea typeface="Poppins Medium"/>
                <a:cs typeface="Poppins Medium"/>
                <a:sym typeface="Poppins Medium"/>
              </a:rPr>
              <a:t>: {{SHI_CC}}</a:t>
            </a:r>
            <a:endParaRPr sz="1000" b="0" i="0" u="none" strike="noStrike" cap="none" dirty="0">
              <a:solidFill>
                <a:srgbClr val="333333"/>
              </a:solidFill>
              <a:latin typeface="Poppins Medium"/>
              <a:ea typeface="Poppins Medium"/>
              <a:cs typeface="Poppins Medium"/>
              <a:sym typeface="Poppins Medium"/>
            </a:endParaRPr>
          </a:p>
        </p:txBody>
      </p:sp>
      <p:sp>
        <p:nvSpPr>
          <p:cNvPr id="488" name="Google Shape;488;p51"/>
          <p:cNvSpPr/>
          <p:nvPr/>
        </p:nvSpPr>
        <p:spPr>
          <a:xfrm>
            <a:off x="7428227" y="2578608"/>
            <a:ext cx="269400" cy="345600"/>
          </a:xfrm>
          <a:prstGeom prst="downArrow">
            <a:avLst>
              <a:gd name="adj1" fmla="val 50000"/>
              <a:gd name="adj2" fmla="val 50000"/>
            </a:avLst>
          </a:prstGeom>
          <a:solidFill>
            <a:srgbClr val="014FF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9" name="Google Shape;489;p51"/>
          <p:cNvSpPr txBox="1"/>
          <p:nvPr/>
        </p:nvSpPr>
        <p:spPr>
          <a:xfrm>
            <a:off x="3125493" y="3816773"/>
            <a:ext cx="2684101" cy="192498"/>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dirty="0">
                <a:solidFill>
                  <a:srgbClr val="333333"/>
                </a:solidFill>
                <a:latin typeface="Poppins Medium"/>
                <a:ea typeface="Poppins Medium"/>
                <a:cs typeface="Poppins Medium"/>
                <a:sym typeface="Poppins Medium"/>
              </a:rPr>
              <a:t>Container Image Scans: {{RCI_T}}</a:t>
            </a:r>
            <a:endParaRPr sz="1000" b="0" i="0" u="none" strike="noStrike" cap="none" dirty="0">
              <a:solidFill>
                <a:srgbClr val="333333"/>
              </a:solidFill>
              <a:latin typeface="Poppins Medium"/>
              <a:ea typeface="Poppins Medium"/>
              <a:cs typeface="Poppins Medium"/>
              <a:sym typeface="Poppins Medium"/>
            </a:endParaRPr>
          </a:p>
        </p:txBody>
      </p:sp>
      <p:sp>
        <p:nvSpPr>
          <p:cNvPr id="490" name="Google Shape;490;p51"/>
          <p:cNvSpPr txBox="1"/>
          <p:nvPr/>
        </p:nvSpPr>
        <p:spPr>
          <a:xfrm>
            <a:off x="3121350" y="3994034"/>
            <a:ext cx="2684100" cy="2073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rgbClr val="333333"/>
                </a:solidFill>
                <a:latin typeface="Poppins Medium"/>
                <a:ea typeface="Poppins Medium"/>
                <a:cs typeface="Poppins Medium"/>
                <a:sym typeface="Poppins Medium"/>
              </a:rPr>
              <a:t>Failed: {{RCI_F}} / Skipped: {{RCI_S}}</a:t>
            </a:r>
            <a:endParaRPr sz="900" b="0" i="0" u="none" strike="noStrike" cap="none">
              <a:solidFill>
                <a:srgbClr val="333333"/>
              </a:solidFill>
              <a:latin typeface="Poppins Medium"/>
              <a:ea typeface="Poppins Medium"/>
              <a:cs typeface="Poppins Medium"/>
              <a:sym typeface="Poppins Medium"/>
            </a:endParaRPr>
          </a:p>
        </p:txBody>
      </p:sp>
      <p:sp>
        <p:nvSpPr>
          <p:cNvPr id="491" name="Google Shape;491;p51"/>
          <p:cNvSpPr txBox="1"/>
          <p:nvPr/>
        </p:nvSpPr>
        <p:spPr>
          <a:xfrm>
            <a:off x="3115085" y="4449820"/>
            <a:ext cx="2715979" cy="201611"/>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333333"/>
                </a:solidFill>
                <a:latin typeface="Poppins Medium"/>
                <a:ea typeface="Poppins Medium"/>
                <a:cs typeface="Poppins Medium"/>
                <a:sym typeface="Poppins Medium"/>
              </a:rPr>
              <a:t>VM Image Scans: {{VMI_T}}</a:t>
            </a:r>
            <a:endParaRPr sz="1000" b="0" i="0" u="none" strike="noStrike" cap="none">
              <a:solidFill>
                <a:srgbClr val="333333"/>
              </a:solidFill>
              <a:latin typeface="Poppins Medium"/>
              <a:ea typeface="Poppins Medium"/>
              <a:cs typeface="Poppins Medium"/>
              <a:sym typeface="Poppins Medium"/>
            </a:endParaRPr>
          </a:p>
        </p:txBody>
      </p:sp>
      <p:sp>
        <p:nvSpPr>
          <p:cNvPr id="492" name="Google Shape;492;p51"/>
          <p:cNvSpPr txBox="1"/>
          <p:nvPr/>
        </p:nvSpPr>
        <p:spPr>
          <a:xfrm>
            <a:off x="3132188" y="4624320"/>
            <a:ext cx="2684100" cy="2073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rgbClr val="333333"/>
                </a:solidFill>
                <a:latin typeface="Poppins Medium"/>
                <a:ea typeface="Poppins Medium"/>
                <a:cs typeface="Poppins Medium"/>
                <a:sym typeface="Poppins Medium"/>
              </a:rPr>
              <a:t>Failed: {{VMI_F}} / Skipped: {{VMI_S}}</a:t>
            </a:r>
            <a:endParaRPr sz="900" b="0" i="0" u="none" strike="noStrike" cap="none">
              <a:solidFill>
                <a:srgbClr val="333333"/>
              </a:solidFill>
              <a:latin typeface="Poppins Medium"/>
              <a:ea typeface="Poppins Medium"/>
              <a:cs typeface="Poppins Medium"/>
              <a:sym typeface="Poppins Medium"/>
            </a:endParaRPr>
          </a:p>
        </p:txBody>
      </p:sp>
      <p:sp>
        <p:nvSpPr>
          <p:cNvPr id="493" name="Google Shape;493;p51"/>
          <p:cNvSpPr txBox="1"/>
          <p:nvPr/>
        </p:nvSpPr>
        <p:spPr>
          <a:xfrm>
            <a:off x="3121555" y="3532304"/>
            <a:ext cx="2701695" cy="207299"/>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rgbClr val="333333"/>
                </a:solidFill>
                <a:latin typeface="Poppins SemiBold"/>
                <a:ea typeface="Poppins SemiBold"/>
                <a:cs typeface="Poppins SemiBold"/>
                <a:sym typeface="Poppins SemiBold"/>
              </a:rPr>
              <a:t>Non-OS Disk Scan Coverage: {{NON_C}}</a:t>
            </a:r>
            <a:endParaRPr sz="900" b="0" i="0" u="none" strike="noStrike" cap="none">
              <a:solidFill>
                <a:srgbClr val="333333"/>
              </a:solidFill>
              <a:latin typeface="Poppins SemiBold"/>
              <a:ea typeface="Poppins SemiBold"/>
              <a:cs typeface="Poppins SemiBold"/>
              <a:sym typeface="Poppins SemiBold"/>
            </a:endParaRPr>
          </a:p>
        </p:txBody>
      </p:sp>
      <p:sp>
        <p:nvSpPr>
          <p:cNvPr id="494" name="Google Shape;494;p51"/>
          <p:cNvSpPr txBox="1"/>
          <p:nvPr/>
        </p:nvSpPr>
        <p:spPr>
          <a:xfrm>
            <a:off x="3116240" y="4171296"/>
            <a:ext cx="2715978" cy="201611"/>
          </a:xfrm>
          <a:prstGeom prst="rect">
            <a:avLst/>
          </a:prstGeom>
          <a:noFill/>
          <a:ln>
            <a:noFill/>
          </a:ln>
        </p:spPr>
        <p:txBody>
          <a:bodyPr spcFirstLastPara="1" wrap="square" lIns="0" tIns="91250" rIns="0" bIns="9125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rgbClr val="333333"/>
                </a:solidFill>
                <a:latin typeface="Poppins SemiBold"/>
                <a:ea typeface="Poppins SemiBold"/>
                <a:cs typeface="Poppins SemiBold"/>
                <a:sym typeface="Poppins SemiBold"/>
              </a:rPr>
              <a:t>Container Image Scan Coverage: {{RCI_C}}</a:t>
            </a:r>
            <a:endParaRPr sz="900" b="0" i="0" u="none" strike="noStrike" cap="none">
              <a:solidFill>
                <a:srgbClr val="333333"/>
              </a:solidFill>
              <a:latin typeface="Poppins SemiBold"/>
              <a:ea typeface="Poppins SemiBold"/>
              <a:cs typeface="Poppins SemiBold"/>
              <a:sym typeface="Poppins SemiBold"/>
            </a:endParaRPr>
          </a:p>
        </p:txBody>
      </p:sp>
      <p:sp>
        <p:nvSpPr>
          <p:cNvPr id="495" name="Google Shape;495;p51"/>
          <p:cNvSpPr txBox="1"/>
          <p:nvPr/>
        </p:nvSpPr>
        <p:spPr>
          <a:xfrm>
            <a:off x="3114023" y="4798820"/>
            <a:ext cx="2742900" cy="207300"/>
          </a:xfrm>
          <a:prstGeom prst="rect">
            <a:avLst/>
          </a:prstGeom>
          <a:noFill/>
          <a:ln>
            <a:noFill/>
          </a:ln>
        </p:spPr>
        <p:txBody>
          <a:bodyPr spcFirstLastPara="1" wrap="square" lIns="91250" tIns="91250" rIns="91250" bIns="9125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rgbClr val="333333"/>
                </a:solidFill>
                <a:latin typeface="Poppins SemiBold"/>
                <a:ea typeface="Poppins SemiBold"/>
                <a:cs typeface="Poppins SemiBold"/>
                <a:sym typeface="Poppins SemiBold"/>
              </a:rPr>
              <a:t>VM Image Scan Coverage: {{VMI_C}}</a:t>
            </a:r>
            <a:endParaRPr sz="900" b="0" i="0" u="none" strike="noStrike" cap="none">
              <a:solidFill>
                <a:srgbClr val="333333"/>
              </a:solidFill>
              <a:latin typeface="Poppins SemiBold"/>
              <a:ea typeface="Poppins SemiBold"/>
              <a:cs typeface="Poppins SemiBold"/>
              <a:sym typeface="Poppins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52"/>
          <p:cNvSpPr txBox="1">
            <a:spLocks noGrp="1"/>
          </p:cNvSpPr>
          <p:nvPr>
            <p:ph type="title" idx="4294967295"/>
          </p:nvPr>
        </p:nvSpPr>
        <p:spPr>
          <a:xfrm>
            <a:off x="150" y="266150"/>
            <a:ext cx="91440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Poppins Light"/>
                <a:ea typeface="Poppins Light"/>
                <a:cs typeface="Poppins Light"/>
                <a:sym typeface="Poppins Light"/>
              </a:rPr>
              <a:t>Democratization Snapshot</a:t>
            </a:r>
            <a:endParaRPr sz="2420">
              <a:latin typeface="Poppins Light"/>
              <a:ea typeface="Poppins Light"/>
              <a:cs typeface="Poppins Light"/>
              <a:sym typeface="Poppins Light"/>
            </a:endParaRPr>
          </a:p>
        </p:txBody>
      </p:sp>
      <p:sp>
        <p:nvSpPr>
          <p:cNvPr id="502" name="Google Shape;502;p52"/>
          <p:cNvSpPr/>
          <p:nvPr/>
        </p:nvSpPr>
        <p:spPr>
          <a:xfrm>
            <a:off x="145225" y="1212546"/>
            <a:ext cx="2401200" cy="953400"/>
          </a:xfrm>
          <a:prstGeom prst="roundRect">
            <a:avLst>
              <a:gd name="adj" fmla="val 16667"/>
            </a:avLst>
          </a:prstGeom>
          <a:noFill/>
          <a:ln w="9650" cap="flat" cmpd="sng">
            <a:solidFill>
              <a:srgbClr val="595959"/>
            </a:solidFill>
            <a:prstDash val="solid"/>
            <a:round/>
            <a:headEnd type="none" w="sm" len="sm"/>
            <a:tailEnd type="none" w="sm" len="sm"/>
          </a:ln>
        </p:spPr>
        <p:txBody>
          <a:bodyPr spcFirstLastPara="1" wrap="square" lIns="92600" tIns="92600" rIns="92600" bIns="926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DM Sans"/>
              <a:ea typeface="DM Sans"/>
              <a:cs typeface="DM Sans"/>
              <a:sym typeface="DM Sans"/>
            </a:endParaRPr>
          </a:p>
        </p:txBody>
      </p:sp>
      <p:sp>
        <p:nvSpPr>
          <p:cNvPr id="503" name="Google Shape;503;p52"/>
          <p:cNvSpPr txBox="1"/>
          <p:nvPr/>
        </p:nvSpPr>
        <p:spPr>
          <a:xfrm>
            <a:off x="145225" y="914076"/>
            <a:ext cx="2401200" cy="303900"/>
          </a:xfrm>
          <a:prstGeom prst="rect">
            <a:avLst/>
          </a:prstGeom>
          <a:noFill/>
          <a:ln>
            <a:noFill/>
          </a:ln>
        </p:spPr>
        <p:txBody>
          <a:bodyPr spcFirstLastPara="1" wrap="square" lIns="92600" tIns="92600" rIns="92600" bIns="9260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rgbClr val="333333"/>
                </a:solidFill>
                <a:latin typeface="Poppins"/>
                <a:ea typeface="Poppins"/>
                <a:cs typeface="Poppins"/>
                <a:sym typeface="Poppins"/>
              </a:rPr>
              <a:t>Users &amp; Engagement</a:t>
            </a:r>
            <a:endParaRPr sz="1300" b="0" i="0" u="none" strike="noStrike" cap="none">
              <a:solidFill>
                <a:srgbClr val="333333"/>
              </a:solidFill>
              <a:latin typeface="Poppins"/>
              <a:ea typeface="Poppins"/>
              <a:cs typeface="Poppins"/>
              <a:sym typeface="Poppins"/>
            </a:endParaRPr>
          </a:p>
        </p:txBody>
      </p:sp>
      <p:sp>
        <p:nvSpPr>
          <p:cNvPr id="504" name="Google Shape;504;p52"/>
          <p:cNvSpPr txBox="1"/>
          <p:nvPr/>
        </p:nvSpPr>
        <p:spPr>
          <a:xfrm>
            <a:off x="178750" y="1248140"/>
            <a:ext cx="1723200" cy="172500"/>
          </a:xfrm>
          <a:prstGeom prst="rect">
            <a:avLst/>
          </a:prstGeom>
          <a:noFill/>
          <a:ln>
            <a:noFill/>
          </a:ln>
        </p:spPr>
        <p:txBody>
          <a:bodyPr spcFirstLastPara="1" wrap="square" lIns="92600" tIns="92600" rIns="92600" bIns="92600"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sng" strike="noStrike" cap="none">
                <a:solidFill>
                  <a:srgbClr val="0254EC"/>
                </a:solidFill>
                <a:latin typeface="DM Sans"/>
                <a:ea typeface="DM Sans"/>
                <a:cs typeface="DM Sans"/>
                <a:sym typeface="DM Sans"/>
                <a:hlinkClick r:id="rId3">
                  <a:extLst>
                    <a:ext uri="{A12FA001-AC4F-418D-AE19-62706E023703}">
                      <ahyp:hlinkClr xmlns:ahyp="http://schemas.microsoft.com/office/drawing/2018/hyperlinkcolor" val="tx"/>
                    </a:ext>
                  </a:extLst>
                </a:hlinkClick>
              </a:rPr>
              <a:t>Total Users</a:t>
            </a:r>
            <a:endParaRPr sz="1000" b="0" i="0" u="none" strike="noStrike" cap="none" dirty="0">
              <a:solidFill>
                <a:srgbClr val="0254EC"/>
              </a:solidFill>
              <a:latin typeface="DM Sans"/>
              <a:ea typeface="DM Sans"/>
              <a:cs typeface="DM Sans"/>
              <a:sym typeface="DM Sans"/>
            </a:endParaRPr>
          </a:p>
        </p:txBody>
      </p:sp>
      <p:sp>
        <p:nvSpPr>
          <p:cNvPr id="505" name="Google Shape;505;p52"/>
          <p:cNvSpPr txBox="1"/>
          <p:nvPr/>
        </p:nvSpPr>
        <p:spPr>
          <a:xfrm>
            <a:off x="1496720" y="1248135"/>
            <a:ext cx="953400" cy="172500"/>
          </a:xfrm>
          <a:prstGeom prst="rect">
            <a:avLst/>
          </a:prstGeom>
          <a:noFill/>
          <a:ln>
            <a:noFill/>
          </a:ln>
        </p:spPr>
        <p:txBody>
          <a:bodyPr spcFirstLastPara="1" wrap="square" lIns="92600" tIns="92600" rIns="92600" bIns="92600"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dirty="0">
                <a:solidFill>
                  <a:srgbClr val="333333"/>
                </a:solidFill>
                <a:latin typeface="DM Sans"/>
                <a:ea typeface="DM Sans"/>
                <a:cs typeface="DM Sans"/>
                <a:sym typeface="DM Sans"/>
              </a:rPr>
              <a:t>{{U_TOT}}</a:t>
            </a:r>
            <a:endParaRPr sz="1000" b="1" i="0" u="none" strike="noStrike" cap="none" dirty="0">
              <a:solidFill>
                <a:srgbClr val="333333"/>
              </a:solidFill>
              <a:latin typeface="DM Sans"/>
              <a:ea typeface="DM Sans"/>
              <a:cs typeface="DM Sans"/>
              <a:sym typeface="DM Sans"/>
            </a:endParaRPr>
          </a:p>
        </p:txBody>
      </p:sp>
      <p:sp>
        <p:nvSpPr>
          <p:cNvPr id="506" name="Google Shape;506;p52"/>
          <p:cNvSpPr txBox="1"/>
          <p:nvPr/>
        </p:nvSpPr>
        <p:spPr>
          <a:xfrm>
            <a:off x="178750" y="1430476"/>
            <a:ext cx="1723200" cy="172500"/>
          </a:xfrm>
          <a:prstGeom prst="rect">
            <a:avLst/>
          </a:prstGeom>
          <a:noFill/>
          <a:ln>
            <a:noFill/>
          </a:ln>
        </p:spPr>
        <p:txBody>
          <a:bodyPr spcFirstLastPara="1" wrap="square" lIns="92600" tIns="92600" rIns="92600" bIns="92600"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sng" strike="noStrike" cap="none">
                <a:solidFill>
                  <a:srgbClr val="0254EC"/>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Active (Last 30 Days)</a:t>
            </a:r>
            <a:endParaRPr sz="1000" b="0" i="0" u="none" strike="noStrike" cap="none">
              <a:solidFill>
                <a:srgbClr val="0254EC"/>
              </a:solidFill>
              <a:latin typeface="DM Sans"/>
              <a:ea typeface="DM Sans"/>
              <a:cs typeface="DM Sans"/>
              <a:sym typeface="DM Sans"/>
            </a:endParaRPr>
          </a:p>
        </p:txBody>
      </p:sp>
      <p:sp>
        <p:nvSpPr>
          <p:cNvPr id="507" name="Google Shape;507;p52"/>
          <p:cNvSpPr txBox="1"/>
          <p:nvPr/>
        </p:nvSpPr>
        <p:spPr>
          <a:xfrm>
            <a:off x="1496720" y="1430472"/>
            <a:ext cx="953400" cy="172500"/>
          </a:xfrm>
          <a:prstGeom prst="rect">
            <a:avLst/>
          </a:prstGeom>
          <a:noFill/>
          <a:ln>
            <a:noFill/>
          </a:ln>
        </p:spPr>
        <p:txBody>
          <a:bodyPr spcFirstLastPara="1" wrap="square" lIns="92600" tIns="92600" rIns="92600" bIns="92600"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dirty="0">
                <a:solidFill>
                  <a:srgbClr val="333333"/>
                </a:solidFill>
                <a:latin typeface="DM Sans"/>
                <a:ea typeface="DM Sans"/>
                <a:cs typeface="DM Sans"/>
                <a:sym typeface="DM Sans"/>
              </a:rPr>
              <a:t>{{U_ACT}}</a:t>
            </a:r>
            <a:endParaRPr sz="1000" b="1" i="0" u="none" strike="noStrike" cap="none" dirty="0">
              <a:solidFill>
                <a:srgbClr val="333333"/>
              </a:solidFill>
              <a:latin typeface="DM Sans"/>
              <a:ea typeface="DM Sans"/>
              <a:cs typeface="DM Sans"/>
              <a:sym typeface="DM Sans"/>
            </a:endParaRPr>
          </a:p>
        </p:txBody>
      </p:sp>
      <p:sp>
        <p:nvSpPr>
          <p:cNvPr id="508" name="Google Shape;508;p52"/>
          <p:cNvSpPr txBox="1"/>
          <p:nvPr/>
        </p:nvSpPr>
        <p:spPr>
          <a:xfrm>
            <a:off x="178750" y="1612811"/>
            <a:ext cx="1723200" cy="172500"/>
          </a:xfrm>
          <a:prstGeom prst="rect">
            <a:avLst/>
          </a:prstGeom>
          <a:noFill/>
          <a:ln>
            <a:noFill/>
          </a:ln>
        </p:spPr>
        <p:txBody>
          <a:bodyPr spcFirstLastPara="1" wrap="square" lIns="92600" tIns="92600" rIns="92600" bIns="92600"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none" strike="noStrike" cap="none">
                <a:solidFill>
                  <a:srgbClr val="0254EC"/>
                </a:solidFill>
                <a:latin typeface="DM Sans"/>
                <a:ea typeface="DM Sans"/>
                <a:cs typeface="DM Sans"/>
                <a:sym typeface="DM Sans"/>
              </a:rPr>
              <a:t>Engagement Rate</a:t>
            </a:r>
            <a:endParaRPr sz="1000" b="0" i="0" u="none" strike="noStrike" cap="none">
              <a:solidFill>
                <a:srgbClr val="0254EC"/>
              </a:solidFill>
              <a:latin typeface="DM Sans"/>
              <a:ea typeface="DM Sans"/>
              <a:cs typeface="DM Sans"/>
              <a:sym typeface="DM Sans"/>
            </a:endParaRPr>
          </a:p>
        </p:txBody>
      </p:sp>
      <p:sp>
        <p:nvSpPr>
          <p:cNvPr id="509" name="Google Shape;509;p52"/>
          <p:cNvSpPr txBox="1"/>
          <p:nvPr/>
        </p:nvSpPr>
        <p:spPr>
          <a:xfrm>
            <a:off x="1496720" y="1612810"/>
            <a:ext cx="953400" cy="172500"/>
          </a:xfrm>
          <a:prstGeom prst="rect">
            <a:avLst/>
          </a:prstGeom>
          <a:noFill/>
          <a:ln>
            <a:noFill/>
          </a:ln>
        </p:spPr>
        <p:txBody>
          <a:bodyPr spcFirstLastPara="1" wrap="square" lIns="92600" tIns="92600" rIns="92600" bIns="92600"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dirty="0">
                <a:solidFill>
                  <a:srgbClr val="333333"/>
                </a:solidFill>
                <a:latin typeface="DM Sans"/>
                <a:ea typeface="DM Sans"/>
                <a:cs typeface="DM Sans"/>
                <a:sym typeface="DM Sans"/>
              </a:rPr>
              <a:t>{{U_ENG}}</a:t>
            </a:r>
            <a:endParaRPr sz="1000" b="1" i="0" u="none" strike="noStrike" cap="none" dirty="0">
              <a:solidFill>
                <a:srgbClr val="333333"/>
              </a:solidFill>
              <a:latin typeface="DM Sans"/>
              <a:ea typeface="DM Sans"/>
              <a:cs typeface="DM Sans"/>
              <a:sym typeface="DM Sans"/>
            </a:endParaRPr>
          </a:p>
        </p:txBody>
      </p:sp>
      <p:sp>
        <p:nvSpPr>
          <p:cNvPr id="510" name="Google Shape;510;p52"/>
          <p:cNvSpPr/>
          <p:nvPr/>
        </p:nvSpPr>
        <p:spPr>
          <a:xfrm>
            <a:off x="2714775" y="1111825"/>
            <a:ext cx="2802600" cy="2119200"/>
          </a:xfrm>
          <a:prstGeom prst="roundRect">
            <a:avLst>
              <a:gd name="adj" fmla="val 16667"/>
            </a:avLst>
          </a:prstGeom>
          <a:noFill/>
          <a:ln w="9525" cap="flat" cmpd="sng">
            <a:solidFill>
              <a:srgbClr val="595959"/>
            </a:solidFill>
            <a:prstDash val="solid"/>
            <a:round/>
            <a:headEnd type="none" w="sm" len="sm"/>
            <a:tailEnd type="none" w="sm" len="sm"/>
          </a:ln>
        </p:spPr>
        <p:txBody>
          <a:bodyPr spcFirstLastPara="1" wrap="square" lIns="87225" tIns="87225" rIns="87225" bIns="87225" anchor="ctr" anchorCtr="0">
            <a:noAutofit/>
          </a:bodyPr>
          <a:lstStyle/>
          <a:p>
            <a:pPr marL="0" marR="0" lvl="0" indent="0" algn="ctr" rtl="0">
              <a:lnSpc>
                <a:spcPct val="100000"/>
              </a:lnSpc>
              <a:spcBef>
                <a:spcPts val="0"/>
              </a:spcBef>
              <a:spcAft>
                <a:spcPts val="0"/>
              </a:spcAft>
              <a:buClr>
                <a:srgbClr val="000000"/>
              </a:buClr>
              <a:buSzPts val="1319"/>
              <a:buFont typeface="Arial"/>
              <a:buNone/>
            </a:pPr>
            <a:endParaRPr sz="1319" b="0" i="0" u="none" strike="noStrike" cap="none">
              <a:solidFill>
                <a:srgbClr val="000000"/>
              </a:solidFill>
              <a:latin typeface="DM Sans"/>
              <a:ea typeface="DM Sans"/>
              <a:cs typeface="DM Sans"/>
              <a:sym typeface="DM Sans"/>
            </a:endParaRPr>
          </a:p>
        </p:txBody>
      </p:sp>
      <p:sp>
        <p:nvSpPr>
          <p:cNvPr id="511" name="Google Shape;511;p52"/>
          <p:cNvSpPr txBox="1"/>
          <p:nvPr/>
        </p:nvSpPr>
        <p:spPr>
          <a:xfrm>
            <a:off x="2891015" y="1529715"/>
            <a:ext cx="1596300" cy="146100"/>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DM Sans"/>
                <a:ea typeface="DM Sans"/>
                <a:cs typeface="DM Sans"/>
                <a:sym typeface="DM Sans"/>
              </a:rPr>
              <a:t>{{IA_2}}</a:t>
            </a:r>
            <a:endParaRPr sz="848" b="0" i="0" u="none" strike="noStrike" cap="none">
              <a:solidFill>
                <a:srgbClr val="333333"/>
              </a:solidFill>
              <a:latin typeface="DM Sans"/>
              <a:ea typeface="DM Sans"/>
              <a:cs typeface="DM Sans"/>
              <a:sym typeface="DM Sans"/>
            </a:endParaRPr>
          </a:p>
        </p:txBody>
      </p:sp>
      <p:sp>
        <p:nvSpPr>
          <p:cNvPr id="512" name="Google Shape;512;p52"/>
          <p:cNvSpPr txBox="1"/>
          <p:nvPr/>
        </p:nvSpPr>
        <p:spPr>
          <a:xfrm>
            <a:off x="2891015" y="1705039"/>
            <a:ext cx="1596300" cy="146100"/>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DM Sans"/>
                <a:ea typeface="DM Sans"/>
                <a:cs typeface="DM Sans"/>
                <a:sym typeface="DM Sans"/>
              </a:rPr>
              <a:t>{{IA_3}}</a:t>
            </a:r>
            <a:endParaRPr sz="848" b="0" i="0" u="none" strike="noStrike" cap="none">
              <a:solidFill>
                <a:srgbClr val="333333"/>
              </a:solidFill>
              <a:latin typeface="DM Sans"/>
              <a:ea typeface="DM Sans"/>
              <a:cs typeface="DM Sans"/>
              <a:sym typeface="DM Sans"/>
            </a:endParaRPr>
          </a:p>
        </p:txBody>
      </p:sp>
      <p:sp>
        <p:nvSpPr>
          <p:cNvPr id="513" name="Google Shape;513;p52"/>
          <p:cNvSpPr txBox="1"/>
          <p:nvPr/>
        </p:nvSpPr>
        <p:spPr>
          <a:xfrm>
            <a:off x="2891013" y="1880390"/>
            <a:ext cx="1596300" cy="162600"/>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DM Sans"/>
                <a:ea typeface="DM Sans"/>
                <a:cs typeface="DM Sans"/>
                <a:sym typeface="DM Sans"/>
              </a:rPr>
              <a:t>{{IA_4}}</a:t>
            </a:r>
            <a:endParaRPr sz="848" b="0" i="0" u="none" strike="noStrike" cap="none">
              <a:solidFill>
                <a:srgbClr val="333333"/>
              </a:solidFill>
              <a:latin typeface="DM Sans"/>
              <a:ea typeface="DM Sans"/>
              <a:cs typeface="DM Sans"/>
              <a:sym typeface="DM Sans"/>
            </a:endParaRPr>
          </a:p>
        </p:txBody>
      </p:sp>
      <p:sp>
        <p:nvSpPr>
          <p:cNvPr id="514" name="Google Shape;514;p52"/>
          <p:cNvSpPr txBox="1"/>
          <p:nvPr/>
        </p:nvSpPr>
        <p:spPr>
          <a:xfrm>
            <a:off x="2891015" y="2055722"/>
            <a:ext cx="1596300" cy="146100"/>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DM Sans"/>
                <a:ea typeface="DM Sans"/>
                <a:cs typeface="DM Sans"/>
                <a:sym typeface="DM Sans"/>
              </a:rPr>
              <a:t>{{IA_5}}</a:t>
            </a:r>
            <a:endParaRPr sz="848" b="0" i="0" u="none" strike="noStrike" cap="none">
              <a:solidFill>
                <a:srgbClr val="333333"/>
              </a:solidFill>
              <a:latin typeface="DM Sans"/>
              <a:ea typeface="DM Sans"/>
              <a:cs typeface="DM Sans"/>
              <a:sym typeface="DM Sans"/>
            </a:endParaRPr>
          </a:p>
        </p:txBody>
      </p:sp>
      <p:sp>
        <p:nvSpPr>
          <p:cNvPr id="515" name="Google Shape;515;p52"/>
          <p:cNvSpPr txBox="1"/>
          <p:nvPr/>
        </p:nvSpPr>
        <p:spPr>
          <a:xfrm>
            <a:off x="2891015" y="2231057"/>
            <a:ext cx="1596300" cy="146100"/>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DM Sans"/>
                <a:ea typeface="DM Sans"/>
                <a:cs typeface="DM Sans"/>
                <a:sym typeface="DM Sans"/>
              </a:rPr>
              <a:t>{{IA_6}}</a:t>
            </a:r>
            <a:endParaRPr sz="848" b="0" i="0" u="none" strike="noStrike" cap="none">
              <a:solidFill>
                <a:srgbClr val="333333"/>
              </a:solidFill>
              <a:latin typeface="DM Sans"/>
              <a:ea typeface="DM Sans"/>
              <a:cs typeface="DM Sans"/>
              <a:sym typeface="DM Sans"/>
            </a:endParaRPr>
          </a:p>
        </p:txBody>
      </p:sp>
      <p:sp>
        <p:nvSpPr>
          <p:cNvPr id="516" name="Google Shape;516;p52"/>
          <p:cNvSpPr txBox="1"/>
          <p:nvPr/>
        </p:nvSpPr>
        <p:spPr>
          <a:xfrm>
            <a:off x="2891015" y="2406393"/>
            <a:ext cx="1596300" cy="146100"/>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DM Sans"/>
                <a:ea typeface="DM Sans"/>
                <a:cs typeface="DM Sans"/>
                <a:sym typeface="DM Sans"/>
              </a:rPr>
              <a:t>{{IA_7}}</a:t>
            </a:r>
            <a:endParaRPr sz="848" b="0" i="0" u="none" strike="noStrike" cap="none">
              <a:solidFill>
                <a:srgbClr val="333333"/>
              </a:solidFill>
              <a:latin typeface="DM Sans"/>
              <a:ea typeface="DM Sans"/>
              <a:cs typeface="DM Sans"/>
              <a:sym typeface="DM Sans"/>
            </a:endParaRPr>
          </a:p>
        </p:txBody>
      </p:sp>
      <p:sp>
        <p:nvSpPr>
          <p:cNvPr id="517" name="Google Shape;517;p52"/>
          <p:cNvSpPr txBox="1"/>
          <p:nvPr/>
        </p:nvSpPr>
        <p:spPr>
          <a:xfrm>
            <a:off x="2891015" y="2581729"/>
            <a:ext cx="1596300" cy="146100"/>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DM Sans"/>
                <a:ea typeface="DM Sans"/>
                <a:cs typeface="DM Sans"/>
                <a:sym typeface="DM Sans"/>
              </a:rPr>
              <a:t>{{IA_8}}</a:t>
            </a:r>
            <a:endParaRPr sz="848" b="0" i="0" u="none" strike="noStrike" cap="none">
              <a:solidFill>
                <a:srgbClr val="333333"/>
              </a:solidFill>
              <a:latin typeface="DM Sans"/>
              <a:ea typeface="DM Sans"/>
              <a:cs typeface="DM Sans"/>
              <a:sym typeface="DM Sans"/>
            </a:endParaRPr>
          </a:p>
        </p:txBody>
      </p:sp>
      <p:sp>
        <p:nvSpPr>
          <p:cNvPr id="518" name="Google Shape;518;p52"/>
          <p:cNvSpPr txBox="1"/>
          <p:nvPr/>
        </p:nvSpPr>
        <p:spPr>
          <a:xfrm>
            <a:off x="2891015" y="2757064"/>
            <a:ext cx="1596300" cy="146100"/>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DM Sans"/>
                <a:ea typeface="DM Sans"/>
                <a:cs typeface="DM Sans"/>
                <a:sym typeface="DM Sans"/>
              </a:rPr>
              <a:t>{{IA_9}}</a:t>
            </a:r>
            <a:endParaRPr sz="848" b="0" i="0" u="none" strike="noStrike" cap="none">
              <a:solidFill>
                <a:srgbClr val="333333"/>
              </a:solidFill>
              <a:latin typeface="DM Sans"/>
              <a:ea typeface="DM Sans"/>
              <a:cs typeface="DM Sans"/>
              <a:sym typeface="DM Sans"/>
            </a:endParaRPr>
          </a:p>
        </p:txBody>
      </p:sp>
      <p:sp>
        <p:nvSpPr>
          <p:cNvPr id="519" name="Google Shape;519;p52"/>
          <p:cNvSpPr txBox="1"/>
          <p:nvPr/>
        </p:nvSpPr>
        <p:spPr>
          <a:xfrm>
            <a:off x="2885479" y="2932400"/>
            <a:ext cx="1596300" cy="146100"/>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dirty="0">
                <a:solidFill>
                  <a:srgbClr val="333333"/>
                </a:solidFill>
                <a:latin typeface="DM Sans"/>
                <a:ea typeface="DM Sans"/>
                <a:cs typeface="DM Sans"/>
                <a:sym typeface="DM Sans"/>
              </a:rPr>
              <a:t>{{IA_10}}</a:t>
            </a:r>
            <a:endParaRPr sz="848" b="0" i="0" u="none" strike="noStrike" cap="none" dirty="0">
              <a:solidFill>
                <a:srgbClr val="333333"/>
              </a:solidFill>
              <a:latin typeface="DM Sans"/>
              <a:ea typeface="DM Sans"/>
              <a:cs typeface="DM Sans"/>
              <a:sym typeface="DM Sans"/>
            </a:endParaRPr>
          </a:p>
        </p:txBody>
      </p:sp>
      <p:sp>
        <p:nvSpPr>
          <p:cNvPr id="520" name="Google Shape;520;p52"/>
          <p:cNvSpPr txBox="1"/>
          <p:nvPr/>
        </p:nvSpPr>
        <p:spPr>
          <a:xfrm>
            <a:off x="2891013" y="1352375"/>
            <a:ext cx="1596300" cy="148200"/>
          </a:xfrm>
          <a:prstGeom prst="rect">
            <a:avLst/>
          </a:prstGeom>
          <a:noFill/>
          <a:ln>
            <a:noFill/>
          </a:ln>
        </p:spPr>
        <p:txBody>
          <a:bodyPr spcFirstLastPara="1" wrap="square" lIns="87225" tIns="87225" rIns="87225" bIns="87225" anchor="t" anchorCtr="0">
            <a:noAutofit/>
          </a:bodyPr>
          <a:lstStyle/>
          <a:p>
            <a:pPr marL="0" marR="0" lvl="0" indent="0" algn="l" rtl="0">
              <a:lnSpc>
                <a:spcPct val="100000"/>
              </a:lnSpc>
              <a:spcBef>
                <a:spcPts val="0"/>
              </a:spcBef>
              <a:spcAft>
                <a:spcPts val="0"/>
              </a:spcAft>
              <a:buClr>
                <a:srgbClr val="000000"/>
              </a:buClr>
              <a:buSzPts val="847"/>
              <a:buFont typeface="Arial"/>
              <a:buNone/>
            </a:pPr>
            <a:r>
              <a:rPr lang="en" sz="848" b="0" i="0" u="none" strike="noStrike" cap="none">
                <a:solidFill>
                  <a:srgbClr val="333333"/>
                </a:solidFill>
                <a:latin typeface="DM Sans"/>
                <a:ea typeface="DM Sans"/>
                <a:cs typeface="DM Sans"/>
                <a:sym typeface="DM Sans"/>
              </a:rPr>
              <a:t>{{IA_1}}</a:t>
            </a:r>
            <a:endParaRPr sz="848" b="0" i="0" u="none" strike="noStrike" cap="none">
              <a:solidFill>
                <a:srgbClr val="333333"/>
              </a:solidFill>
              <a:latin typeface="DM Sans"/>
              <a:ea typeface="DM Sans"/>
              <a:cs typeface="DM Sans"/>
              <a:sym typeface="DM Sans"/>
            </a:endParaRPr>
          </a:p>
        </p:txBody>
      </p:sp>
      <p:sp>
        <p:nvSpPr>
          <p:cNvPr id="521" name="Google Shape;521;p52"/>
          <p:cNvSpPr txBox="1"/>
          <p:nvPr/>
        </p:nvSpPr>
        <p:spPr>
          <a:xfrm>
            <a:off x="4474074" y="1343525"/>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i="0" u="none" strike="noStrike" cap="none">
                <a:solidFill>
                  <a:srgbClr val="333333"/>
                </a:solidFill>
                <a:latin typeface="DM Sans"/>
                <a:ea typeface="DM Sans"/>
                <a:cs typeface="DM Sans"/>
                <a:sym typeface="DM Sans"/>
              </a:rPr>
              <a:t>{{IR_1}}</a:t>
            </a:r>
            <a:endParaRPr sz="848" i="0" u="none" strike="noStrike" cap="none">
              <a:solidFill>
                <a:srgbClr val="333333"/>
              </a:solidFill>
              <a:latin typeface="DM Sans"/>
              <a:ea typeface="DM Sans"/>
              <a:cs typeface="DM Sans"/>
              <a:sym typeface="DM Sans"/>
            </a:endParaRPr>
          </a:p>
        </p:txBody>
      </p:sp>
      <p:sp>
        <p:nvSpPr>
          <p:cNvPr id="522" name="Google Shape;522;p52"/>
          <p:cNvSpPr txBox="1"/>
          <p:nvPr/>
        </p:nvSpPr>
        <p:spPr>
          <a:xfrm>
            <a:off x="4474074" y="1519058"/>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i="0" u="none" strike="noStrike" cap="none">
                <a:solidFill>
                  <a:srgbClr val="333333"/>
                </a:solidFill>
                <a:latin typeface="DM Sans"/>
                <a:ea typeface="DM Sans"/>
                <a:cs typeface="DM Sans"/>
                <a:sym typeface="DM Sans"/>
              </a:rPr>
              <a:t>{{IR_2}}</a:t>
            </a:r>
            <a:endParaRPr sz="848" i="0" u="none" strike="noStrike" cap="none">
              <a:solidFill>
                <a:srgbClr val="333333"/>
              </a:solidFill>
              <a:latin typeface="DM Sans"/>
              <a:ea typeface="DM Sans"/>
              <a:cs typeface="DM Sans"/>
              <a:sym typeface="DM Sans"/>
            </a:endParaRPr>
          </a:p>
        </p:txBody>
      </p:sp>
      <p:sp>
        <p:nvSpPr>
          <p:cNvPr id="523" name="Google Shape;523;p52"/>
          <p:cNvSpPr txBox="1"/>
          <p:nvPr/>
        </p:nvSpPr>
        <p:spPr>
          <a:xfrm>
            <a:off x="4474074" y="1694592"/>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i="0" u="none" strike="noStrike" cap="none">
                <a:solidFill>
                  <a:srgbClr val="333333"/>
                </a:solidFill>
                <a:latin typeface="DM Sans"/>
                <a:ea typeface="DM Sans"/>
                <a:cs typeface="DM Sans"/>
                <a:sym typeface="DM Sans"/>
              </a:rPr>
              <a:t>{{IR_3}}</a:t>
            </a:r>
            <a:endParaRPr sz="848" i="0" u="none" strike="noStrike" cap="none">
              <a:solidFill>
                <a:srgbClr val="333333"/>
              </a:solidFill>
              <a:latin typeface="DM Sans"/>
              <a:ea typeface="DM Sans"/>
              <a:cs typeface="DM Sans"/>
              <a:sym typeface="DM Sans"/>
            </a:endParaRPr>
          </a:p>
        </p:txBody>
      </p:sp>
      <p:sp>
        <p:nvSpPr>
          <p:cNvPr id="524" name="Google Shape;524;p52"/>
          <p:cNvSpPr txBox="1"/>
          <p:nvPr/>
        </p:nvSpPr>
        <p:spPr>
          <a:xfrm>
            <a:off x="4474074" y="1870125"/>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i="0" u="none" strike="noStrike" cap="none">
                <a:solidFill>
                  <a:srgbClr val="333333"/>
                </a:solidFill>
                <a:latin typeface="DM Sans"/>
                <a:ea typeface="DM Sans"/>
                <a:cs typeface="DM Sans"/>
                <a:sym typeface="DM Sans"/>
              </a:rPr>
              <a:t>{{IR_4}}</a:t>
            </a:r>
            <a:endParaRPr sz="848" i="0" u="none" strike="noStrike" cap="none">
              <a:solidFill>
                <a:srgbClr val="333333"/>
              </a:solidFill>
              <a:latin typeface="DM Sans"/>
              <a:ea typeface="DM Sans"/>
              <a:cs typeface="DM Sans"/>
              <a:sym typeface="DM Sans"/>
            </a:endParaRPr>
          </a:p>
        </p:txBody>
      </p:sp>
      <p:sp>
        <p:nvSpPr>
          <p:cNvPr id="525" name="Google Shape;525;p52"/>
          <p:cNvSpPr txBox="1"/>
          <p:nvPr/>
        </p:nvSpPr>
        <p:spPr>
          <a:xfrm>
            <a:off x="4474074" y="2045659"/>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i="0" u="none" strike="noStrike" cap="none">
                <a:solidFill>
                  <a:srgbClr val="333333"/>
                </a:solidFill>
                <a:latin typeface="DM Sans"/>
                <a:ea typeface="DM Sans"/>
                <a:cs typeface="DM Sans"/>
                <a:sym typeface="DM Sans"/>
              </a:rPr>
              <a:t>{{IR_5}}</a:t>
            </a:r>
            <a:endParaRPr sz="848" i="0" u="none" strike="noStrike" cap="none">
              <a:solidFill>
                <a:srgbClr val="333333"/>
              </a:solidFill>
              <a:latin typeface="DM Sans"/>
              <a:ea typeface="DM Sans"/>
              <a:cs typeface="DM Sans"/>
              <a:sym typeface="DM Sans"/>
            </a:endParaRPr>
          </a:p>
        </p:txBody>
      </p:sp>
      <p:sp>
        <p:nvSpPr>
          <p:cNvPr id="526" name="Google Shape;526;p52"/>
          <p:cNvSpPr txBox="1"/>
          <p:nvPr/>
        </p:nvSpPr>
        <p:spPr>
          <a:xfrm>
            <a:off x="4474074" y="2221192"/>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i="0" u="none" strike="noStrike" cap="none">
                <a:solidFill>
                  <a:srgbClr val="333333"/>
                </a:solidFill>
                <a:latin typeface="DM Sans"/>
                <a:ea typeface="DM Sans"/>
                <a:cs typeface="DM Sans"/>
                <a:sym typeface="DM Sans"/>
              </a:rPr>
              <a:t>{{IR_6}}</a:t>
            </a:r>
            <a:endParaRPr sz="848" i="0" u="none" strike="noStrike" cap="none">
              <a:solidFill>
                <a:srgbClr val="333333"/>
              </a:solidFill>
              <a:latin typeface="DM Sans"/>
              <a:ea typeface="DM Sans"/>
              <a:cs typeface="DM Sans"/>
              <a:sym typeface="DM Sans"/>
            </a:endParaRPr>
          </a:p>
        </p:txBody>
      </p:sp>
      <p:sp>
        <p:nvSpPr>
          <p:cNvPr id="527" name="Google Shape;527;p52"/>
          <p:cNvSpPr txBox="1"/>
          <p:nvPr/>
        </p:nvSpPr>
        <p:spPr>
          <a:xfrm>
            <a:off x="4474074" y="2396725"/>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i="0" u="none" strike="noStrike" cap="none">
                <a:solidFill>
                  <a:srgbClr val="333333"/>
                </a:solidFill>
                <a:latin typeface="DM Sans"/>
                <a:ea typeface="DM Sans"/>
                <a:cs typeface="DM Sans"/>
                <a:sym typeface="DM Sans"/>
              </a:rPr>
              <a:t>{{IR_7}}</a:t>
            </a:r>
            <a:endParaRPr sz="848" i="0" u="none" strike="noStrike" cap="none">
              <a:solidFill>
                <a:srgbClr val="333333"/>
              </a:solidFill>
              <a:latin typeface="DM Sans"/>
              <a:ea typeface="DM Sans"/>
              <a:cs typeface="DM Sans"/>
              <a:sym typeface="DM Sans"/>
            </a:endParaRPr>
          </a:p>
        </p:txBody>
      </p:sp>
      <p:sp>
        <p:nvSpPr>
          <p:cNvPr id="528" name="Google Shape;528;p52"/>
          <p:cNvSpPr txBox="1"/>
          <p:nvPr/>
        </p:nvSpPr>
        <p:spPr>
          <a:xfrm>
            <a:off x="4474074" y="2572259"/>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i="0" u="none" strike="noStrike" cap="none">
                <a:solidFill>
                  <a:srgbClr val="333333"/>
                </a:solidFill>
                <a:latin typeface="DM Sans"/>
                <a:ea typeface="DM Sans"/>
                <a:cs typeface="DM Sans"/>
                <a:sym typeface="DM Sans"/>
              </a:rPr>
              <a:t>{{IR_8}}</a:t>
            </a:r>
            <a:endParaRPr sz="848" i="0" u="none" strike="noStrike" cap="none">
              <a:solidFill>
                <a:srgbClr val="333333"/>
              </a:solidFill>
              <a:latin typeface="DM Sans"/>
              <a:ea typeface="DM Sans"/>
              <a:cs typeface="DM Sans"/>
              <a:sym typeface="DM Sans"/>
            </a:endParaRPr>
          </a:p>
        </p:txBody>
      </p:sp>
      <p:sp>
        <p:nvSpPr>
          <p:cNvPr id="529" name="Google Shape;529;p52"/>
          <p:cNvSpPr txBox="1"/>
          <p:nvPr/>
        </p:nvSpPr>
        <p:spPr>
          <a:xfrm>
            <a:off x="4474074" y="2747792"/>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i="0" u="none" strike="noStrike" cap="none">
                <a:solidFill>
                  <a:srgbClr val="333333"/>
                </a:solidFill>
                <a:latin typeface="DM Sans"/>
                <a:ea typeface="DM Sans"/>
                <a:cs typeface="DM Sans"/>
                <a:sym typeface="DM Sans"/>
              </a:rPr>
              <a:t>{{IR_9}}</a:t>
            </a:r>
            <a:endParaRPr sz="848" i="0" u="none" strike="noStrike" cap="none">
              <a:solidFill>
                <a:srgbClr val="333333"/>
              </a:solidFill>
              <a:latin typeface="DM Sans"/>
              <a:ea typeface="DM Sans"/>
              <a:cs typeface="DM Sans"/>
              <a:sym typeface="DM Sans"/>
            </a:endParaRPr>
          </a:p>
        </p:txBody>
      </p:sp>
      <p:sp>
        <p:nvSpPr>
          <p:cNvPr id="530" name="Google Shape;530;p52"/>
          <p:cNvSpPr txBox="1"/>
          <p:nvPr/>
        </p:nvSpPr>
        <p:spPr>
          <a:xfrm>
            <a:off x="4484485" y="2923326"/>
            <a:ext cx="912300" cy="148200"/>
          </a:xfrm>
          <a:prstGeom prst="rect">
            <a:avLst/>
          </a:prstGeom>
          <a:noFill/>
          <a:ln>
            <a:noFill/>
          </a:ln>
        </p:spPr>
        <p:txBody>
          <a:bodyPr spcFirstLastPara="1" wrap="square" lIns="87225" tIns="87225" rIns="87225" bIns="87225" anchor="t" anchorCtr="0">
            <a:noAutofit/>
          </a:bodyPr>
          <a:lstStyle/>
          <a:p>
            <a:pPr marL="0" marR="0" lvl="0" indent="0" algn="ctr" rtl="0">
              <a:lnSpc>
                <a:spcPct val="100000"/>
              </a:lnSpc>
              <a:spcBef>
                <a:spcPts val="0"/>
              </a:spcBef>
              <a:spcAft>
                <a:spcPts val="0"/>
              </a:spcAft>
              <a:buClr>
                <a:srgbClr val="000000"/>
              </a:buClr>
              <a:buSzPts val="847"/>
              <a:buFont typeface="Arial"/>
              <a:buNone/>
            </a:pPr>
            <a:r>
              <a:rPr lang="en" sz="848" i="0" u="none" strike="noStrike" cap="none">
                <a:solidFill>
                  <a:srgbClr val="333333"/>
                </a:solidFill>
                <a:latin typeface="DM Sans"/>
                <a:ea typeface="DM Sans"/>
                <a:cs typeface="DM Sans"/>
                <a:sym typeface="DM Sans"/>
              </a:rPr>
              <a:t>{{IR_10}}</a:t>
            </a:r>
            <a:endParaRPr sz="848" i="0" u="none" strike="noStrike" cap="none">
              <a:solidFill>
                <a:srgbClr val="333333"/>
              </a:solidFill>
              <a:latin typeface="DM Sans"/>
              <a:ea typeface="DM Sans"/>
              <a:cs typeface="DM Sans"/>
              <a:sym typeface="DM Sans"/>
            </a:endParaRPr>
          </a:p>
        </p:txBody>
      </p:sp>
      <p:sp>
        <p:nvSpPr>
          <p:cNvPr id="531" name="Google Shape;531;p52"/>
          <p:cNvSpPr txBox="1"/>
          <p:nvPr/>
        </p:nvSpPr>
        <p:spPr>
          <a:xfrm>
            <a:off x="2857049" y="792813"/>
            <a:ext cx="2547300" cy="301800"/>
          </a:xfrm>
          <a:prstGeom prst="rect">
            <a:avLst/>
          </a:prstGeom>
          <a:noFill/>
          <a:ln>
            <a:noFill/>
          </a:ln>
        </p:spPr>
        <p:txBody>
          <a:bodyPr spcFirstLastPara="1" wrap="square" lIns="87225" tIns="87225" rIns="87225" bIns="872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0" i="0" u="sng" strike="noStrike" cap="none" dirty="0">
                <a:solidFill>
                  <a:srgbClr val="0254EC"/>
                </a:solidFill>
                <a:latin typeface="Poppins"/>
                <a:ea typeface="Poppins"/>
                <a:cs typeface="Poppins"/>
                <a:sym typeface="Poppins"/>
                <a:hlinkClick r:id="rId5">
                  <a:extLst>
                    <a:ext uri="{A12FA001-AC4F-418D-AE19-62706E023703}">
                      <ahyp:hlinkClr xmlns:ahyp="http://schemas.microsoft.com/office/drawing/2018/hyperlinkcolor" val="tx"/>
                    </a:ext>
                  </a:extLst>
                </a:hlinkClick>
              </a:rPr>
              <a:t>Active Integrations</a:t>
            </a:r>
            <a:r>
              <a:rPr lang="en" sz="1300" b="0" i="0" u="none" strike="noStrike" cap="none" dirty="0">
                <a:solidFill>
                  <a:srgbClr val="0254EC"/>
                </a:solidFill>
                <a:latin typeface="Poppins"/>
                <a:ea typeface="Poppins"/>
                <a:cs typeface="Poppins"/>
                <a:sym typeface="Poppins"/>
              </a:rPr>
              <a:t> </a:t>
            </a:r>
            <a:r>
              <a:rPr lang="en" sz="1500" b="0" i="0" u="none" strike="noStrike" cap="none" dirty="0">
                <a:solidFill>
                  <a:srgbClr val="0254EC"/>
                </a:solidFill>
                <a:uFill>
                  <a:noFill/>
                </a:uFill>
                <a:latin typeface="Poppins Medium"/>
                <a:ea typeface="Poppins Medium"/>
                <a:cs typeface="Poppins Medium"/>
                <a:sym typeface="Poppins Medium"/>
                <a:hlinkClick r:id="rId6">
                  <a:extLst>
                    <a:ext uri="{A12FA001-AC4F-418D-AE19-62706E023703}">
                      <ahyp:hlinkClr xmlns:ahyp="http://schemas.microsoft.com/office/drawing/2018/hyperlinkcolor" val="tx"/>
                    </a:ext>
                  </a:extLst>
                </a:hlinkClick>
              </a:rPr>
              <a:t>↗</a:t>
            </a:r>
            <a:endParaRPr sz="1300" b="0" i="0" u="none" strike="noStrike" cap="none" dirty="0">
              <a:solidFill>
                <a:srgbClr val="0254EC"/>
              </a:solidFill>
              <a:latin typeface="Poppins"/>
              <a:ea typeface="Poppins"/>
              <a:cs typeface="Poppins"/>
              <a:sym typeface="Poppins"/>
            </a:endParaRPr>
          </a:p>
        </p:txBody>
      </p:sp>
      <p:sp>
        <p:nvSpPr>
          <p:cNvPr id="532" name="Google Shape;532;p52"/>
          <p:cNvSpPr txBox="1"/>
          <p:nvPr/>
        </p:nvSpPr>
        <p:spPr>
          <a:xfrm>
            <a:off x="2880894" y="1082262"/>
            <a:ext cx="2524500" cy="148200"/>
          </a:xfrm>
          <a:prstGeom prst="rect">
            <a:avLst/>
          </a:prstGeom>
          <a:noFill/>
          <a:ln>
            <a:noFill/>
          </a:ln>
        </p:spPr>
        <p:txBody>
          <a:bodyPr spcFirstLastPara="1" wrap="square" lIns="87225" tIns="87225" rIns="87225" bIns="87225" anchor="t" anchorCtr="0">
            <a:noAutofit/>
          </a:bodyPr>
          <a:lstStyle/>
          <a:p>
            <a:pPr marL="0" marR="0" lvl="0" indent="0" algn="ctr" rtl="0">
              <a:spcBef>
                <a:spcPts val="0"/>
              </a:spcBef>
              <a:spcAft>
                <a:spcPts val="0"/>
              </a:spcAft>
              <a:buClr>
                <a:srgbClr val="000000"/>
              </a:buClr>
              <a:buSzPts val="1136"/>
              <a:buFont typeface="Arial"/>
              <a:buNone/>
            </a:pPr>
            <a:r>
              <a:rPr lang="en" sz="1136" b="0" i="0" u="none" strike="noStrike" cap="none" dirty="0">
                <a:solidFill>
                  <a:srgbClr val="333333"/>
                </a:solidFill>
                <a:latin typeface="Poppins Medium"/>
                <a:ea typeface="Poppins Medium"/>
                <a:cs typeface="Poppins Medium"/>
                <a:sym typeface="Poppins Medium"/>
              </a:rPr>
              <a:t>Integration                     Last Seen</a:t>
            </a:r>
            <a:endParaRPr sz="1136" b="0" i="0" u="none" strike="noStrike" cap="none" dirty="0">
              <a:solidFill>
                <a:srgbClr val="333333"/>
              </a:solidFill>
              <a:latin typeface="Poppins Medium"/>
              <a:ea typeface="Poppins Medium"/>
              <a:cs typeface="Poppins Medium"/>
              <a:sym typeface="Poppins Medium"/>
            </a:endParaRPr>
          </a:p>
        </p:txBody>
      </p:sp>
      <p:sp>
        <p:nvSpPr>
          <p:cNvPr id="533" name="Google Shape;533;p52"/>
          <p:cNvSpPr/>
          <p:nvPr/>
        </p:nvSpPr>
        <p:spPr>
          <a:xfrm>
            <a:off x="145250" y="2537551"/>
            <a:ext cx="2401200" cy="1159200"/>
          </a:xfrm>
          <a:prstGeom prst="roundRect">
            <a:avLst>
              <a:gd name="adj" fmla="val 16667"/>
            </a:avLst>
          </a:prstGeom>
          <a:noFill/>
          <a:ln w="9525" cap="flat" cmpd="sng">
            <a:solidFill>
              <a:srgbClr val="595959"/>
            </a:solidFill>
            <a:prstDash val="solid"/>
            <a:round/>
            <a:headEnd type="none" w="sm" len="sm"/>
            <a:tailEnd type="none" w="sm" len="sm"/>
          </a:ln>
        </p:spPr>
        <p:txBody>
          <a:bodyPr spcFirstLastPara="1" wrap="square" lIns="83375" tIns="83375" rIns="83375" bIns="83375" anchor="ctr" anchorCtr="0">
            <a:noAutofit/>
          </a:bodyPr>
          <a:lstStyle/>
          <a:p>
            <a:pPr marL="0" marR="0" lvl="0" indent="0" algn="ctr" rtl="0">
              <a:lnSpc>
                <a:spcPct val="100000"/>
              </a:lnSpc>
              <a:spcBef>
                <a:spcPts val="0"/>
              </a:spcBef>
              <a:spcAft>
                <a:spcPts val="0"/>
              </a:spcAft>
              <a:buClr>
                <a:srgbClr val="000000"/>
              </a:buClr>
              <a:buSzPts val="1261"/>
              <a:buFont typeface="Arial"/>
              <a:buNone/>
            </a:pPr>
            <a:endParaRPr sz="1261" b="0" i="0" u="none" strike="noStrike" cap="none">
              <a:solidFill>
                <a:srgbClr val="000000"/>
              </a:solidFill>
              <a:latin typeface="DM Sans"/>
              <a:ea typeface="DM Sans"/>
              <a:cs typeface="DM Sans"/>
              <a:sym typeface="DM Sans"/>
            </a:endParaRPr>
          </a:p>
        </p:txBody>
      </p:sp>
      <p:sp>
        <p:nvSpPr>
          <p:cNvPr id="534" name="Google Shape;534;p52"/>
          <p:cNvSpPr txBox="1"/>
          <p:nvPr/>
        </p:nvSpPr>
        <p:spPr>
          <a:xfrm>
            <a:off x="178755" y="3027738"/>
            <a:ext cx="1609200" cy="155400"/>
          </a:xfrm>
          <a:prstGeom prst="rect">
            <a:avLst/>
          </a:prstGeom>
          <a:noFill/>
          <a:ln>
            <a:noFill/>
          </a:ln>
        </p:spPr>
        <p:txBody>
          <a:bodyPr spcFirstLastPara="1" wrap="square" lIns="83375" tIns="83375" rIns="83375" bIns="83375" anchor="t" anchorCtr="0">
            <a:noAutofit/>
          </a:bodyPr>
          <a:lstStyle/>
          <a:p>
            <a:pPr marL="0" marR="0" lvl="0" indent="0" algn="l" rtl="0">
              <a:lnSpc>
                <a:spcPct val="150000"/>
              </a:lnSpc>
              <a:spcBef>
                <a:spcPts val="0"/>
              </a:spcBef>
              <a:spcAft>
                <a:spcPts val="0"/>
              </a:spcAft>
              <a:buClr>
                <a:srgbClr val="000000"/>
              </a:buClr>
              <a:buSzPts val="810"/>
              <a:buFont typeface="Arial"/>
              <a:buNone/>
            </a:pPr>
            <a:r>
              <a:rPr lang="en" sz="810" b="0" i="0" u="sng" strike="noStrike" cap="none" dirty="0">
                <a:solidFill>
                  <a:schemeClr val="hlink"/>
                </a:solidFill>
                <a:latin typeface="DM Sans"/>
                <a:ea typeface="DM Sans"/>
                <a:cs typeface="DM Sans"/>
                <a:sym typeface="DM Sans"/>
                <a:hlinkClick r:id="rId7"/>
              </a:rPr>
              <a:t>HBI</a:t>
            </a:r>
            <a:r>
              <a:rPr lang="en" sz="810" b="0" i="0" u="none" strike="noStrike" cap="none" dirty="0">
                <a:solidFill>
                  <a:srgbClr val="333333"/>
                </a:solidFill>
                <a:latin typeface="DM Sans"/>
                <a:ea typeface="DM Sans"/>
                <a:cs typeface="DM Sans"/>
                <a:sym typeface="DM Sans"/>
              </a:rPr>
              <a:t> (High Business Impact)</a:t>
            </a:r>
            <a:endParaRPr sz="810" b="0" i="0" u="none" strike="noStrike" cap="none" dirty="0">
              <a:solidFill>
                <a:srgbClr val="333333"/>
              </a:solidFill>
              <a:latin typeface="DM Sans"/>
              <a:ea typeface="DM Sans"/>
              <a:cs typeface="DM Sans"/>
              <a:sym typeface="DM Sans"/>
            </a:endParaRPr>
          </a:p>
        </p:txBody>
      </p:sp>
      <p:sp>
        <p:nvSpPr>
          <p:cNvPr id="535" name="Google Shape;535;p52"/>
          <p:cNvSpPr txBox="1"/>
          <p:nvPr/>
        </p:nvSpPr>
        <p:spPr>
          <a:xfrm>
            <a:off x="1499205" y="3036972"/>
            <a:ext cx="912300" cy="155400"/>
          </a:xfrm>
          <a:prstGeom prst="rect">
            <a:avLst/>
          </a:prstGeom>
          <a:noFill/>
          <a:ln>
            <a:noFill/>
          </a:ln>
        </p:spPr>
        <p:txBody>
          <a:bodyPr spcFirstLastPara="1" wrap="square" lIns="83375" tIns="83375" rIns="83375" bIns="83375" anchor="t" anchorCtr="0">
            <a:noAutofit/>
          </a:bodyPr>
          <a:lstStyle/>
          <a:p>
            <a:pPr marL="0" marR="0" lvl="0" indent="0" algn="r" rtl="0">
              <a:lnSpc>
                <a:spcPct val="150000"/>
              </a:lnSpc>
              <a:spcBef>
                <a:spcPts val="0"/>
              </a:spcBef>
              <a:spcAft>
                <a:spcPts val="0"/>
              </a:spcAft>
              <a:buClr>
                <a:srgbClr val="000000"/>
              </a:buClr>
              <a:buSzPts val="810"/>
              <a:buFont typeface="Arial"/>
              <a:buNone/>
            </a:pPr>
            <a:r>
              <a:rPr lang="en" sz="810" b="1" i="0" u="none" strike="noStrike" cap="none" dirty="0">
                <a:solidFill>
                  <a:srgbClr val="333333"/>
                </a:solidFill>
                <a:latin typeface="DM Sans"/>
                <a:ea typeface="DM Sans"/>
                <a:cs typeface="DM Sans"/>
                <a:sym typeface="DM Sans"/>
              </a:rPr>
              <a:t>{{P_HBI}}</a:t>
            </a:r>
            <a:endParaRPr sz="810" b="1" i="0" u="none" strike="noStrike" cap="none" dirty="0">
              <a:solidFill>
                <a:srgbClr val="333333"/>
              </a:solidFill>
              <a:latin typeface="DM Sans"/>
              <a:ea typeface="DM Sans"/>
              <a:cs typeface="DM Sans"/>
              <a:sym typeface="DM Sans"/>
            </a:endParaRPr>
          </a:p>
        </p:txBody>
      </p:sp>
      <p:sp>
        <p:nvSpPr>
          <p:cNvPr id="536" name="Google Shape;536;p52"/>
          <p:cNvSpPr txBox="1"/>
          <p:nvPr/>
        </p:nvSpPr>
        <p:spPr>
          <a:xfrm>
            <a:off x="178763" y="3191899"/>
            <a:ext cx="1650000" cy="164100"/>
          </a:xfrm>
          <a:prstGeom prst="rect">
            <a:avLst/>
          </a:prstGeom>
          <a:noFill/>
          <a:ln>
            <a:noFill/>
          </a:ln>
        </p:spPr>
        <p:txBody>
          <a:bodyPr spcFirstLastPara="1" wrap="square" lIns="83375" tIns="83375" rIns="83375" bIns="83375" anchor="t" anchorCtr="0">
            <a:noAutofit/>
          </a:bodyPr>
          <a:lstStyle/>
          <a:p>
            <a:pPr marL="0" marR="0" lvl="0" indent="0" algn="l" rtl="0">
              <a:lnSpc>
                <a:spcPct val="150000"/>
              </a:lnSpc>
              <a:spcBef>
                <a:spcPts val="0"/>
              </a:spcBef>
              <a:spcAft>
                <a:spcPts val="0"/>
              </a:spcAft>
              <a:buClr>
                <a:srgbClr val="000000"/>
              </a:buClr>
              <a:buSzPts val="810"/>
              <a:buFont typeface="Arial"/>
              <a:buNone/>
            </a:pPr>
            <a:r>
              <a:rPr lang="en" sz="810" b="0" i="0" u="sng" strike="noStrike" cap="none" dirty="0">
                <a:solidFill>
                  <a:schemeClr val="hlink"/>
                </a:solidFill>
                <a:latin typeface="DM Sans"/>
                <a:ea typeface="DM Sans"/>
                <a:cs typeface="DM Sans"/>
                <a:sym typeface="DM Sans"/>
                <a:hlinkClick r:id="rId8"/>
              </a:rPr>
              <a:t>MBI</a:t>
            </a:r>
            <a:r>
              <a:rPr lang="en" sz="810" b="0" i="0" u="none" strike="noStrike" cap="none" dirty="0">
                <a:solidFill>
                  <a:srgbClr val="333333"/>
                </a:solidFill>
                <a:latin typeface="DM Sans"/>
                <a:ea typeface="DM Sans"/>
                <a:cs typeface="DM Sans"/>
                <a:sym typeface="DM Sans"/>
              </a:rPr>
              <a:t> (Medium Business Impact)</a:t>
            </a:r>
            <a:endParaRPr sz="810" b="0" i="0" u="none" strike="noStrike" cap="none" dirty="0">
              <a:solidFill>
                <a:srgbClr val="333333"/>
              </a:solidFill>
              <a:latin typeface="DM Sans"/>
              <a:ea typeface="DM Sans"/>
              <a:cs typeface="DM Sans"/>
              <a:sym typeface="DM Sans"/>
            </a:endParaRPr>
          </a:p>
        </p:txBody>
      </p:sp>
      <p:sp>
        <p:nvSpPr>
          <p:cNvPr id="537" name="Google Shape;537;p52"/>
          <p:cNvSpPr txBox="1"/>
          <p:nvPr/>
        </p:nvSpPr>
        <p:spPr>
          <a:xfrm>
            <a:off x="1499205" y="3194673"/>
            <a:ext cx="912300" cy="155400"/>
          </a:xfrm>
          <a:prstGeom prst="rect">
            <a:avLst/>
          </a:prstGeom>
          <a:noFill/>
          <a:ln>
            <a:noFill/>
          </a:ln>
        </p:spPr>
        <p:txBody>
          <a:bodyPr spcFirstLastPara="1" wrap="square" lIns="83375" tIns="83375" rIns="83375" bIns="83375" anchor="t" anchorCtr="0">
            <a:noAutofit/>
          </a:bodyPr>
          <a:lstStyle/>
          <a:p>
            <a:pPr marL="0" marR="0" lvl="0" indent="0" algn="r" rtl="0">
              <a:lnSpc>
                <a:spcPct val="150000"/>
              </a:lnSpc>
              <a:spcBef>
                <a:spcPts val="0"/>
              </a:spcBef>
              <a:spcAft>
                <a:spcPts val="0"/>
              </a:spcAft>
              <a:buClr>
                <a:srgbClr val="000000"/>
              </a:buClr>
              <a:buSzPts val="810"/>
              <a:buFont typeface="Arial"/>
              <a:buNone/>
            </a:pPr>
            <a:r>
              <a:rPr lang="en" sz="810" b="1" i="0" u="none" strike="noStrike" cap="none" dirty="0">
                <a:solidFill>
                  <a:srgbClr val="333333"/>
                </a:solidFill>
                <a:latin typeface="DM Sans"/>
                <a:ea typeface="DM Sans"/>
                <a:cs typeface="DM Sans"/>
                <a:sym typeface="DM Sans"/>
              </a:rPr>
              <a:t>{{P_MBI}}</a:t>
            </a:r>
            <a:endParaRPr sz="810" b="1" i="0" u="none" strike="noStrike" cap="none" dirty="0">
              <a:solidFill>
                <a:srgbClr val="333333"/>
              </a:solidFill>
              <a:latin typeface="DM Sans"/>
              <a:ea typeface="DM Sans"/>
              <a:cs typeface="DM Sans"/>
              <a:sym typeface="DM Sans"/>
            </a:endParaRPr>
          </a:p>
        </p:txBody>
      </p:sp>
      <p:sp>
        <p:nvSpPr>
          <p:cNvPr id="538" name="Google Shape;538;p52"/>
          <p:cNvSpPr txBox="1"/>
          <p:nvPr/>
        </p:nvSpPr>
        <p:spPr>
          <a:xfrm>
            <a:off x="103249" y="2268903"/>
            <a:ext cx="2443200" cy="273600"/>
          </a:xfrm>
          <a:prstGeom prst="rect">
            <a:avLst/>
          </a:prstGeom>
          <a:noFill/>
          <a:ln>
            <a:noFill/>
          </a:ln>
        </p:spPr>
        <p:txBody>
          <a:bodyPr spcFirstLastPara="1" wrap="square" lIns="83375" tIns="83375" rIns="83375" bIns="8337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rgbClr val="333333"/>
                </a:solidFill>
                <a:latin typeface="Poppins"/>
                <a:ea typeface="Poppins"/>
                <a:cs typeface="Poppins"/>
                <a:sym typeface="Poppins"/>
              </a:rPr>
              <a:t>Projects</a:t>
            </a:r>
            <a:endParaRPr sz="1300" b="0" i="0" u="none" strike="noStrike" cap="none">
              <a:solidFill>
                <a:srgbClr val="333333"/>
              </a:solidFill>
              <a:latin typeface="Poppins"/>
              <a:ea typeface="Poppins"/>
              <a:cs typeface="Poppins"/>
              <a:sym typeface="Poppins"/>
            </a:endParaRPr>
          </a:p>
        </p:txBody>
      </p:sp>
      <p:sp>
        <p:nvSpPr>
          <p:cNvPr id="539" name="Google Shape;539;p52"/>
          <p:cNvSpPr txBox="1"/>
          <p:nvPr/>
        </p:nvSpPr>
        <p:spPr>
          <a:xfrm>
            <a:off x="201255" y="2589298"/>
            <a:ext cx="1550400" cy="141600"/>
          </a:xfrm>
          <a:prstGeom prst="rect">
            <a:avLst/>
          </a:prstGeom>
          <a:noFill/>
          <a:ln>
            <a:noFill/>
          </a:ln>
        </p:spPr>
        <p:txBody>
          <a:bodyPr spcFirstLastPara="1" wrap="square" lIns="83375" tIns="83375" rIns="83375" bIns="83375"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none" strike="noStrike" cap="none">
                <a:solidFill>
                  <a:schemeClr val="dk1"/>
                </a:solidFill>
                <a:latin typeface="Poppins Medium"/>
                <a:ea typeface="Poppins Medium"/>
                <a:cs typeface="Poppins Medium"/>
                <a:sym typeface="Poppins Medium"/>
              </a:rPr>
              <a:t>Total Parent</a:t>
            </a:r>
            <a:endParaRPr sz="1000" b="0" i="0" u="none" strike="noStrike" cap="none">
              <a:solidFill>
                <a:schemeClr val="dk1"/>
              </a:solidFill>
              <a:latin typeface="Poppins Medium"/>
              <a:ea typeface="Poppins Medium"/>
              <a:cs typeface="Poppins Medium"/>
              <a:sym typeface="Poppins Medium"/>
            </a:endParaRPr>
          </a:p>
        </p:txBody>
      </p:sp>
      <p:sp>
        <p:nvSpPr>
          <p:cNvPr id="540" name="Google Shape;540;p52"/>
          <p:cNvSpPr txBox="1"/>
          <p:nvPr/>
        </p:nvSpPr>
        <p:spPr>
          <a:xfrm>
            <a:off x="1401337" y="2571721"/>
            <a:ext cx="1003500" cy="141600"/>
          </a:xfrm>
          <a:prstGeom prst="rect">
            <a:avLst/>
          </a:prstGeom>
          <a:noFill/>
          <a:ln>
            <a:noFill/>
          </a:ln>
        </p:spPr>
        <p:txBody>
          <a:bodyPr spcFirstLastPara="1" wrap="square" lIns="83375" tIns="83375" rIns="83375" bIns="83375" anchor="t" anchorCtr="0">
            <a:noAutofit/>
          </a:bodyPr>
          <a:lstStyle/>
          <a:p>
            <a:pPr marL="0" marR="0" lvl="0" indent="0" algn="r" rtl="0">
              <a:lnSpc>
                <a:spcPct val="150000"/>
              </a:lnSpc>
              <a:spcBef>
                <a:spcPts val="0"/>
              </a:spcBef>
              <a:spcAft>
                <a:spcPts val="0"/>
              </a:spcAft>
              <a:buClr>
                <a:srgbClr val="000000"/>
              </a:buClr>
              <a:buSzPts val="989"/>
              <a:buFont typeface="Arial"/>
              <a:buNone/>
            </a:pPr>
            <a:r>
              <a:rPr lang="en" sz="990" b="1" i="0" u="none" strike="noStrike" cap="none">
                <a:solidFill>
                  <a:srgbClr val="333333"/>
                </a:solidFill>
                <a:latin typeface="DM Sans"/>
                <a:ea typeface="DM Sans"/>
                <a:cs typeface="DM Sans"/>
                <a:sym typeface="DM Sans"/>
              </a:rPr>
              <a:t>{{P_TOT}}</a:t>
            </a:r>
            <a:endParaRPr sz="990" b="1" i="0" u="none" strike="noStrike" cap="none">
              <a:solidFill>
                <a:srgbClr val="333333"/>
              </a:solidFill>
              <a:latin typeface="DM Sans"/>
              <a:ea typeface="DM Sans"/>
              <a:cs typeface="DM Sans"/>
              <a:sym typeface="DM Sans"/>
            </a:endParaRPr>
          </a:p>
        </p:txBody>
      </p:sp>
      <p:sp>
        <p:nvSpPr>
          <p:cNvPr id="541" name="Google Shape;541;p52"/>
          <p:cNvSpPr txBox="1"/>
          <p:nvPr/>
        </p:nvSpPr>
        <p:spPr>
          <a:xfrm>
            <a:off x="181215" y="3356084"/>
            <a:ext cx="1459200" cy="155400"/>
          </a:xfrm>
          <a:prstGeom prst="rect">
            <a:avLst/>
          </a:prstGeom>
          <a:noFill/>
          <a:ln>
            <a:noFill/>
          </a:ln>
        </p:spPr>
        <p:txBody>
          <a:bodyPr spcFirstLastPara="1" wrap="square" lIns="83375" tIns="83375" rIns="83375" bIns="83375" anchor="t" anchorCtr="0">
            <a:noAutofit/>
          </a:bodyPr>
          <a:lstStyle/>
          <a:p>
            <a:pPr marL="0" marR="0" lvl="0" indent="0" algn="l" rtl="0">
              <a:lnSpc>
                <a:spcPct val="150000"/>
              </a:lnSpc>
              <a:spcBef>
                <a:spcPts val="0"/>
              </a:spcBef>
              <a:spcAft>
                <a:spcPts val="0"/>
              </a:spcAft>
              <a:buClr>
                <a:srgbClr val="000000"/>
              </a:buClr>
              <a:buSzPts val="810"/>
              <a:buFont typeface="Arial"/>
              <a:buNone/>
            </a:pPr>
            <a:r>
              <a:rPr lang="en" sz="810" b="0" i="0" u="sng" strike="noStrike" cap="none" dirty="0">
                <a:solidFill>
                  <a:schemeClr val="hlink"/>
                </a:solidFill>
                <a:latin typeface="DM Sans"/>
                <a:ea typeface="DM Sans"/>
                <a:cs typeface="DM Sans"/>
                <a:sym typeface="DM Sans"/>
                <a:hlinkClick r:id="rId9"/>
              </a:rPr>
              <a:t>LBI</a:t>
            </a:r>
            <a:r>
              <a:rPr lang="en" sz="810" b="0" i="0" u="none" strike="noStrike" cap="none" dirty="0">
                <a:solidFill>
                  <a:srgbClr val="333333"/>
                </a:solidFill>
                <a:latin typeface="DM Sans"/>
                <a:ea typeface="DM Sans"/>
                <a:cs typeface="DM Sans"/>
                <a:sym typeface="DM Sans"/>
              </a:rPr>
              <a:t> (Low Business Impact)</a:t>
            </a:r>
            <a:endParaRPr sz="810" b="0" i="0" u="none" strike="noStrike" cap="none" dirty="0">
              <a:solidFill>
                <a:srgbClr val="333333"/>
              </a:solidFill>
              <a:latin typeface="DM Sans"/>
              <a:ea typeface="DM Sans"/>
              <a:cs typeface="DM Sans"/>
              <a:sym typeface="DM Sans"/>
            </a:endParaRPr>
          </a:p>
        </p:txBody>
      </p:sp>
      <p:sp>
        <p:nvSpPr>
          <p:cNvPr id="542" name="Google Shape;542;p52"/>
          <p:cNvSpPr txBox="1"/>
          <p:nvPr/>
        </p:nvSpPr>
        <p:spPr>
          <a:xfrm>
            <a:off x="1500450" y="3352374"/>
            <a:ext cx="912300" cy="155400"/>
          </a:xfrm>
          <a:prstGeom prst="rect">
            <a:avLst/>
          </a:prstGeom>
          <a:noFill/>
          <a:ln>
            <a:noFill/>
          </a:ln>
        </p:spPr>
        <p:txBody>
          <a:bodyPr spcFirstLastPara="1" wrap="square" lIns="83375" tIns="83375" rIns="83375" bIns="83375" anchor="t" anchorCtr="0">
            <a:noAutofit/>
          </a:bodyPr>
          <a:lstStyle/>
          <a:p>
            <a:pPr marL="0" marR="0" lvl="0" indent="0" algn="r" rtl="0">
              <a:lnSpc>
                <a:spcPct val="150000"/>
              </a:lnSpc>
              <a:spcBef>
                <a:spcPts val="0"/>
              </a:spcBef>
              <a:spcAft>
                <a:spcPts val="0"/>
              </a:spcAft>
              <a:buClr>
                <a:srgbClr val="000000"/>
              </a:buClr>
              <a:buSzPts val="810"/>
              <a:buFont typeface="Arial"/>
              <a:buNone/>
            </a:pPr>
            <a:r>
              <a:rPr lang="en" sz="810" b="1" i="0" u="none" strike="noStrike" cap="none" dirty="0">
                <a:solidFill>
                  <a:srgbClr val="333333"/>
                </a:solidFill>
                <a:latin typeface="DM Sans"/>
                <a:ea typeface="DM Sans"/>
                <a:cs typeface="DM Sans"/>
                <a:sym typeface="DM Sans"/>
              </a:rPr>
              <a:t>{{P_LBI}}</a:t>
            </a:r>
            <a:endParaRPr sz="810" b="1" i="0" u="none" strike="noStrike" cap="none" dirty="0">
              <a:solidFill>
                <a:srgbClr val="333333"/>
              </a:solidFill>
              <a:latin typeface="DM Sans"/>
              <a:ea typeface="DM Sans"/>
              <a:cs typeface="DM Sans"/>
              <a:sym typeface="DM Sans"/>
            </a:endParaRPr>
          </a:p>
        </p:txBody>
      </p:sp>
      <p:sp>
        <p:nvSpPr>
          <p:cNvPr id="543" name="Google Shape;543;p52"/>
          <p:cNvSpPr txBox="1"/>
          <p:nvPr/>
        </p:nvSpPr>
        <p:spPr>
          <a:xfrm>
            <a:off x="200888" y="2781549"/>
            <a:ext cx="1550400" cy="141600"/>
          </a:xfrm>
          <a:prstGeom prst="rect">
            <a:avLst/>
          </a:prstGeom>
          <a:noFill/>
          <a:ln>
            <a:noFill/>
          </a:ln>
        </p:spPr>
        <p:txBody>
          <a:bodyPr spcFirstLastPara="1" wrap="square" lIns="83375" tIns="83375" rIns="83375" bIns="83375"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none" strike="noStrike" cap="none">
                <a:solidFill>
                  <a:schemeClr val="dk1"/>
                </a:solidFill>
                <a:latin typeface="Poppins Medium"/>
                <a:ea typeface="Poppins Medium"/>
                <a:cs typeface="Poppins Medium"/>
                <a:sym typeface="Poppins Medium"/>
              </a:rPr>
              <a:t>Total Child</a:t>
            </a:r>
            <a:endParaRPr sz="1000" b="0" i="0" u="none" strike="noStrike" cap="none">
              <a:solidFill>
                <a:schemeClr val="dk1"/>
              </a:solidFill>
              <a:latin typeface="Poppins Medium"/>
              <a:ea typeface="Poppins Medium"/>
              <a:cs typeface="Poppins Medium"/>
              <a:sym typeface="Poppins Medium"/>
            </a:endParaRPr>
          </a:p>
        </p:txBody>
      </p:sp>
      <p:sp>
        <p:nvSpPr>
          <p:cNvPr id="544" name="Google Shape;544;p52"/>
          <p:cNvSpPr txBox="1"/>
          <p:nvPr/>
        </p:nvSpPr>
        <p:spPr>
          <a:xfrm>
            <a:off x="1400970" y="2763973"/>
            <a:ext cx="1003500" cy="141600"/>
          </a:xfrm>
          <a:prstGeom prst="rect">
            <a:avLst/>
          </a:prstGeom>
          <a:noFill/>
          <a:ln>
            <a:noFill/>
          </a:ln>
        </p:spPr>
        <p:txBody>
          <a:bodyPr spcFirstLastPara="1" wrap="square" lIns="83375" tIns="83375" rIns="83375" bIns="83375" anchor="t" anchorCtr="0">
            <a:noAutofit/>
          </a:bodyPr>
          <a:lstStyle/>
          <a:p>
            <a:pPr marL="0" marR="0" lvl="0" indent="0" algn="r" rtl="0">
              <a:lnSpc>
                <a:spcPct val="150000"/>
              </a:lnSpc>
              <a:spcBef>
                <a:spcPts val="0"/>
              </a:spcBef>
              <a:spcAft>
                <a:spcPts val="0"/>
              </a:spcAft>
              <a:buClr>
                <a:srgbClr val="000000"/>
              </a:buClr>
              <a:buSzPts val="989"/>
              <a:buFont typeface="Arial"/>
              <a:buNone/>
            </a:pPr>
            <a:r>
              <a:rPr lang="en" sz="990" b="1" i="0" u="none" strike="noStrike" cap="none">
                <a:solidFill>
                  <a:srgbClr val="333333"/>
                </a:solidFill>
                <a:latin typeface="DM Sans"/>
                <a:ea typeface="DM Sans"/>
                <a:cs typeface="DM Sans"/>
                <a:sym typeface="DM Sans"/>
              </a:rPr>
              <a:t>{{PC_TOT}}</a:t>
            </a:r>
            <a:endParaRPr sz="990" b="1" i="0" u="none" strike="noStrike" cap="none">
              <a:solidFill>
                <a:srgbClr val="333333"/>
              </a:solidFill>
              <a:latin typeface="DM Sans"/>
              <a:ea typeface="DM Sans"/>
              <a:cs typeface="DM Sans"/>
              <a:sym typeface="DM Sans"/>
            </a:endParaRPr>
          </a:p>
        </p:txBody>
      </p:sp>
      <p:sp>
        <p:nvSpPr>
          <p:cNvPr id="545" name="Google Shape;545;p52"/>
          <p:cNvSpPr txBox="1"/>
          <p:nvPr/>
        </p:nvSpPr>
        <p:spPr>
          <a:xfrm>
            <a:off x="5657650" y="792816"/>
            <a:ext cx="3193800" cy="301800"/>
          </a:xfrm>
          <a:prstGeom prst="rect">
            <a:avLst/>
          </a:prstGeom>
          <a:noFill/>
          <a:ln>
            <a:noFill/>
          </a:ln>
        </p:spPr>
        <p:txBody>
          <a:bodyPr spcFirstLastPara="1" wrap="square" lIns="87225" tIns="87225" rIns="87225" bIns="872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rgbClr val="333333"/>
                </a:solidFill>
                <a:latin typeface="Poppins"/>
                <a:ea typeface="Poppins"/>
                <a:cs typeface="Poppins"/>
                <a:sym typeface="Poppins"/>
              </a:rPr>
              <a:t>Features / Functionality Usage</a:t>
            </a:r>
            <a:endParaRPr sz="1300" b="0" i="0" u="none" strike="noStrike" cap="none">
              <a:solidFill>
                <a:srgbClr val="333333"/>
              </a:solidFill>
              <a:latin typeface="Poppins"/>
              <a:ea typeface="Poppins"/>
              <a:cs typeface="Poppins"/>
              <a:sym typeface="Poppins"/>
            </a:endParaRPr>
          </a:p>
        </p:txBody>
      </p:sp>
      <p:sp>
        <p:nvSpPr>
          <p:cNvPr id="546" name="Google Shape;546;p52"/>
          <p:cNvSpPr/>
          <p:nvPr/>
        </p:nvSpPr>
        <p:spPr>
          <a:xfrm>
            <a:off x="5657625" y="1111700"/>
            <a:ext cx="3193800" cy="2585100"/>
          </a:xfrm>
          <a:prstGeom prst="roundRect">
            <a:avLst>
              <a:gd name="adj" fmla="val 16667"/>
            </a:avLst>
          </a:prstGeom>
          <a:noFill/>
          <a:ln w="9525" cap="flat" cmpd="sng">
            <a:solidFill>
              <a:srgbClr val="595959"/>
            </a:solidFill>
            <a:prstDash val="solid"/>
            <a:round/>
            <a:headEnd type="none" w="sm" len="sm"/>
            <a:tailEnd type="none" w="sm" len="sm"/>
          </a:ln>
        </p:spPr>
        <p:txBody>
          <a:bodyPr spcFirstLastPara="1" wrap="square" lIns="91225" tIns="91225" rIns="91225" bIns="912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DM Sans"/>
              <a:ea typeface="DM Sans"/>
              <a:cs typeface="DM Sans"/>
              <a:sym typeface="DM Sans"/>
            </a:endParaRPr>
          </a:p>
        </p:txBody>
      </p:sp>
      <p:sp>
        <p:nvSpPr>
          <p:cNvPr id="547" name="Google Shape;547;p52"/>
          <p:cNvSpPr txBox="1"/>
          <p:nvPr/>
        </p:nvSpPr>
        <p:spPr>
          <a:xfrm>
            <a:off x="5738075" y="1326355"/>
            <a:ext cx="32676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DM Sans"/>
                <a:ea typeface="DM Sans"/>
                <a:cs typeface="DM Sans"/>
                <a:sym typeface="DM Sans"/>
                <a:hlinkClick r:id="rId10">
                  <a:extLst>
                    <a:ext uri="{A12FA001-AC4F-418D-AE19-62706E023703}">
                      <ahyp:hlinkClr xmlns:ahyp="http://schemas.microsoft.com/office/drawing/2018/hyperlinkcolor" val="tx"/>
                    </a:ext>
                  </a:extLst>
                </a:hlinkClick>
              </a:rPr>
              <a:t>Custom Compliance Frameworks</a:t>
            </a:r>
            <a:endParaRPr sz="900" b="0" i="0" u="none" strike="noStrike" cap="none">
              <a:solidFill>
                <a:srgbClr val="0254EC"/>
              </a:solidFill>
              <a:latin typeface="DM Sans"/>
              <a:ea typeface="DM Sans"/>
              <a:cs typeface="DM Sans"/>
              <a:sym typeface="DM Sans"/>
            </a:endParaRPr>
          </a:p>
        </p:txBody>
      </p:sp>
      <p:sp>
        <p:nvSpPr>
          <p:cNvPr id="548" name="Google Shape;548;p52"/>
          <p:cNvSpPr txBox="1"/>
          <p:nvPr/>
        </p:nvSpPr>
        <p:spPr>
          <a:xfrm>
            <a:off x="7118060" y="1340774"/>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{{F_FW}}</a:t>
            </a:r>
            <a:endParaRPr sz="900" b="1" i="0" u="none" strike="noStrike" cap="none">
              <a:solidFill>
                <a:srgbClr val="333333"/>
              </a:solidFill>
              <a:latin typeface="DM Sans"/>
              <a:ea typeface="DM Sans"/>
              <a:cs typeface="DM Sans"/>
              <a:sym typeface="DM Sans"/>
            </a:endParaRPr>
          </a:p>
        </p:txBody>
      </p:sp>
      <p:sp>
        <p:nvSpPr>
          <p:cNvPr id="549" name="Google Shape;549;p52"/>
          <p:cNvSpPr txBox="1"/>
          <p:nvPr/>
        </p:nvSpPr>
        <p:spPr>
          <a:xfrm>
            <a:off x="5738075" y="1525883"/>
            <a:ext cx="32676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DM Sans"/>
                <a:ea typeface="DM Sans"/>
                <a:cs typeface="DM Sans"/>
                <a:sym typeface="DM Sans"/>
                <a:hlinkClick r:id="rId11">
                  <a:extLst>
                    <a:ext uri="{A12FA001-AC4F-418D-AE19-62706E023703}">
                      <ahyp:hlinkClr xmlns:ahyp="http://schemas.microsoft.com/office/drawing/2018/hyperlinkcolor" val="tx"/>
                    </a:ext>
                  </a:extLst>
                </a:hlinkClick>
              </a:rPr>
              <a:t>Resource Tag Rules (On / Off)</a:t>
            </a:r>
            <a:endParaRPr sz="900" b="0" i="0" u="none" strike="noStrike" cap="none">
              <a:solidFill>
                <a:srgbClr val="0254EC"/>
              </a:solidFill>
              <a:latin typeface="DM Sans"/>
              <a:ea typeface="DM Sans"/>
              <a:cs typeface="DM Sans"/>
              <a:sym typeface="DM Sans"/>
            </a:endParaRPr>
          </a:p>
        </p:txBody>
      </p:sp>
      <p:sp>
        <p:nvSpPr>
          <p:cNvPr id="550" name="Google Shape;550;p52"/>
          <p:cNvSpPr txBox="1"/>
          <p:nvPr/>
        </p:nvSpPr>
        <p:spPr>
          <a:xfrm>
            <a:off x="7118060" y="1540302"/>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{{F_TR}}</a:t>
            </a:r>
            <a:endParaRPr sz="900" b="1" i="0" u="none" strike="noStrike" cap="none">
              <a:solidFill>
                <a:srgbClr val="333333"/>
              </a:solidFill>
              <a:latin typeface="DM Sans"/>
              <a:ea typeface="DM Sans"/>
              <a:cs typeface="DM Sans"/>
              <a:sym typeface="DM Sans"/>
            </a:endParaRPr>
          </a:p>
        </p:txBody>
      </p:sp>
      <p:sp>
        <p:nvSpPr>
          <p:cNvPr id="551" name="Google Shape;551;p52"/>
          <p:cNvSpPr txBox="1"/>
          <p:nvPr/>
        </p:nvSpPr>
        <p:spPr>
          <a:xfrm>
            <a:off x="5738075" y="1725412"/>
            <a:ext cx="32676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DM Sans"/>
                <a:ea typeface="DM Sans"/>
                <a:cs typeface="DM Sans"/>
                <a:sym typeface="DM Sans"/>
                <a:hlinkClick r:id="rId12">
                  <a:extLst>
                    <a:ext uri="{A12FA001-AC4F-418D-AE19-62706E023703}">
                      <ahyp:hlinkClr xmlns:ahyp="http://schemas.microsoft.com/office/drawing/2018/hyperlinkcolor" val="tx"/>
                    </a:ext>
                  </a:extLst>
                </a:hlinkClick>
              </a:rPr>
              <a:t>Service Catalog Discovery Rules</a:t>
            </a:r>
            <a:endParaRPr sz="900" b="0" i="0" u="none" strike="noStrike" cap="none">
              <a:solidFill>
                <a:srgbClr val="0254EC"/>
              </a:solidFill>
              <a:latin typeface="DM Sans"/>
              <a:ea typeface="DM Sans"/>
              <a:cs typeface="DM Sans"/>
              <a:sym typeface="DM Sans"/>
            </a:endParaRPr>
          </a:p>
        </p:txBody>
      </p:sp>
      <p:sp>
        <p:nvSpPr>
          <p:cNvPr id="552" name="Google Shape;552;p52"/>
          <p:cNvSpPr txBox="1"/>
          <p:nvPr/>
        </p:nvSpPr>
        <p:spPr>
          <a:xfrm>
            <a:off x="7118060" y="1739831"/>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{{F_DR}}</a:t>
            </a:r>
            <a:endParaRPr sz="900" b="1" i="0" u="none" strike="noStrike" cap="none">
              <a:solidFill>
                <a:srgbClr val="333333"/>
              </a:solidFill>
              <a:latin typeface="DM Sans"/>
              <a:ea typeface="DM Sans"/>
              <a:cs typeface="DM Sans"/>
              <a:sym typeface="DM Sans"/>
            </a:endParaRPr>
          </a:p>
        </p:txBody>
      </p:sp>
      <p:sp>
        <p:nvSpPr>
          <p:cNvPr id="553" name="Google Shape;553;p52"/>
          <p:cNvSpPr txBox="1"/>
          <p:nvPr/>
        </p:nvSpPr>
        <p:spPr>
          <a:xfrm>
            <a:off x="5738075" y="1918199"/>
            <a:ext cx="32676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DM Sans"/>
                <a:ea typeface="DM Sans"/>
                <a:cs typeface="DM Sans"/>
                <a:sym typeface="DM Sans"/>
                <a:hlinkClick r:id="rId13">
                  <a:extLst>
                    <a:ext uri="{A12FA001-AC4F-418D-AE19-62706E023703}">
                      <ahyp:hlinkClr xmlns:ahyp="http://schemas.microsoft.com/office/drawing/2018/hyperlinkcolor" val="tx"/>
                    </a:ext>
                  </a:extLst>
                </a:hlinkClick>
              </a:rPr>
              <a:t>Inventory Management Rules</a:t>
            </a:r>
            <a:endParaRPr sz="900" b="0" i="0" u="none" strike="noStrike" cap="none">
              <a:solidFill>
                <a:srgbClr val="0254EC"/>
              </a:solidFill>
              <a:latin typeface="DM Sans"/>
              <a:ea typeface="DM Sans"/>
              <a:cs typeface="DM Sans"/>
              <a:sym typeface="DM Sans"/>
            </a:endParaRPr>
          </a:p>
        </p:txBody>
      </p:sp>
      <p:sp>
        <p:nvSpPr>
          <p:cNvPr id="554" name="Google Shape;554;p52"/>
          <p:cNvSpPr txBox="1"/>
          <p:nvPr/>
        </p:nvSpPr>
        <p:spPr>
          <a:xfrm>
            <a:off x="7118060" y="1932618"/>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{{F_IR}}</a:t>
            </a:r>
            <a:endParaRPr sz="900" b="1" i="0" u="none" strike="noStrike" cap="none">
              <a:solidFill>
                <a:srgbClr val="333333"/>
              </a:solidFill>
              <a:latin typeface="DM Sans"/>
              <a:ea typeface="DM Sans"/>
              <a:cs typeface="DM Sans"/>
              <a:sym typeface="DM Sans"/>
            </a:endParaRPr>
          </a:p>
        </p:txBody>
      </p:sp>
      <p:sp>
        <p:nvSpPr>
          <p:cNvPr id="555" name="Google Shape;555;p52"/>
          <p:cNvSpPr txBox="1"/>
          <p:nvPr/>
        </p:nvSpPr>
        <p:spPr>
          <a:xfrm>
            <a:off x="5738075" y="2117727"/>
            <a:ext cx="32676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DM Sans"/>
                <a:ea typeface="DM Sans"/>
                <a:cs typeface="DM Sans"/>
                <a:sym typeface="DM Sans"/>
                <a:hlinkClick r:id="rId14">
                  <a:extLst>
                    <a:ext uri="{A12FA001-AC4F-418D-AE19-62706E023703}">
                      <ahyp:hlinkClr xmlns:ahyp="http://schemas.microsoft.com/office/drawing/2018/hyperlinkcolor" val="tx"/>
                    </a:ext>
                  </a:extLst>
                </a:hlinkClick>
              </a:rPr>
              <a:t>User Created Posture Policies</a:t>
            </a:r>
            <a:endParaRPr sz="900" b="0" i="0" u="none" strike="noStrike" cap="none">
              <a:solidFill>
                <a:srgbClr val="0254EC"/>
              </a:solidFill>
              <a:latin typeface="DM Sans"/>
              <a:ea typeface="DM Sans"/>
              <a:cs typeface="DM Sans"/>
              <a:sym typeface="DM Sans"/>
            </a:endParaRPr>
          </a:p>
        </p:txBody>
      </p:sp>
      <p:sp>
        <p:nvSpPr>
          <p:cNvPr id="556" name="Google Shape;556;p52"/>
          <p:cNvSpPr txBox="1"/>
          <p:nvPr/>
        </p:nvSpPr>
        <p:spPr>
          <a:xfrm>
            <a:off x="7118060" y="2132146"/>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{{F_PP}}</a:t>
            </a:r>
            <a:endParaRPr sz="900" b="1" i="0" u="none" strike="noStrike" cap="none">
              <a:solidFill>
                <a:srgbClr val="333333"/>
              </a:solidFill>
              <a:latin typeface="DM Sans"/>
              <a:ea typeface="DM Sans"/>
              <a:cs typeface="DM Sans"/>
              <a:sym typeface="DM Sans"/>
            </a:endParaRPr>
          </a:p>
        </p:txBody>
      </p:sp>
      <p:sp>
        <p:nvSpPr>
          <p:cNvPr id="557" name="Google Shape;557;p52"/>
          <p:cNvSpPr txBox="1"/>
          <p:nvPr/>
        </p:nvSpPr>
        <p:spPr>
          <a:xfrm>
            <a:off x="5738075" y="2317256"/>
            <a:ext cx="32676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DM Sans"/>
                <a:ea typeface="DM Sans"/>
                <a:cs typeface="DM Sans"/>
                <a:sym typeface="DM Sans"/>
                <a:hlinkClick r:id="rId15">
                  <a:extLst>
                    <a:ext uri="{A12FA001-AC4F-418D-AE19-62706E023703}">
                      <ahyp:hlinkClr xmlns:ahyp="http://schemas.microsoft.com/office/drawing/2018/hyperlinkcolor" val="tx"/>
                    </a:ext>
                  </a:extLst>
                </a:hlinkClick>
              </a:rPr>
              <a:t>User Created Monitored Metrics</a:t>
            </a:r>
            <a:endParaRPr sz="900" b="0" i="0" u="none" strike="noStrike" cap="none">
              <a:solidFill>
                <a:srgbClr val="0254EC"/>
              </a:solidFill>
              <a:latin typeface="DM Sans"/>
              <a:ea typeface="DM Sans"/>
              <a:cs typeface="DM Sans"/>
              <a:sym typeface="DM Sans"/>
            </a:endParaRPr>
          </a:p>
        </p:txBody>
      </p:sp>
      <p:sp>
        <p:nvSpPr>
          <p:cNvPr id="558" name="Google Shape;558;p52"/>
          <p:cNvSpPr txBox="1"/>
          <p:nvPr/>
        </p:nvSpPr>
        <p:spPr>
          <a:xfrm>
            <a:off x="7118060" y="2331675"/>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{{F_MM}}</a:t>
            </a:r>
            <a:endParaRPr sz="900" b="1" i="0" u="none" strike="noStrike" cap="none">
              <a:solidFill>
                <a:srgbClr val="333333"/>
              </a:solidFill>
              <a:latin typeface="DM Sans"/>
              <a:ea typeface="DM Sans"/>
              <a:cs typeface="DM Sans"/>
              <a:sym typeface="DM Sans"/>
            </a:endParaRPr>
          </a:p>
        </p:txBody>
      </p:sp>
      <p:sp>
        <p:nvSpPr>
          <p:cNvPr id="559" name="Google Shape;559;p52"/>
          <p:cNvSpPr txBox="1"/>
          <p:nvPr/>
        </p:nvSpPr>
        <p:spPr>
          <a:xfrm>
            <a:off x="5730809" y="2513785"/>
            <a:ext cx="32676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DM Sans"/>
                <a:ea typeface="DM Sans"/>
                <a:cs typeface="DM Sans"/>
                <a:sym typeface="DM Sans"/>
                <a:hlinkClick r:id="rId16">
                  <a:extLst>
                    <a:ext uri="{A12FA001-AC4F-418D-AE19-62706E023703}">
                      <ahyp:hlinkClr xmlns:ahyp="http://schemas.microsoft.com/office/drawing/2018/hyperlinkcolor" val="tx"/>
                    </a:ext>
                  </a:extLst>
                </a:hlinkClick>
              </a:rPr>
              <a:t>Champion Center Owners</a:t>
            </a:r>
            <a:endParaRPr sz="900" b="0" i="0" u="none" strike="noStrike" cap="none">
              <a:solidFill>
                <a:srgbClr val="0254EC"/>
              </a:solidFill>
              <a:latin typeface="DM Sans"/>
              <a:ea typeface="DM Sans"/>
              <a:cs typeface="DM Sans"/>
              <a:sym typeface="DM Sans"/>
            </a:endParaRPr>
          </a:p>
        </p:txBody>
      </p:sp>
      <p:sp>
        <p:nvSpPr>
          <p:cNvPr id="560" name="Google Shape;560;p52"/>
          <p:cNvSpPr txBox="1"/>
          <p:nvPr/>
        </p:nvSpPr>
        <p:spPr>
          <a:xfrm>
            <a:off x="7110793" y="2516800"/>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{{CC_TOT}}</a:t>
            </a:r>
            <a:endParaRPr sz="900" b="1" i="0" u="none" strike="noStrike" cap="none">
              <a:solidFill>
                <a:srgbClr val="333333"/>
              </a:solidFill>
              <a:latin typeface="DM Sans"/>
              <a:ea typeface="DM Sans"/>
              <a:cs typeface="DM Sans"/>
              <a:sym typeface="DM Sans"/>
            </a:endParaRPr>
          </a:p>
        </p:txBody>
      </p:sp>
      <p:sp>
        <p:nvSpPr>
          <p:cNvPr id="561" name="Google Shape;561;p52"/>
          <p:cNvSpPr txBox="1"/>
          <p:nvPr/>
        </p:nvSpPr>
        <p:spPr>
          <a:xfrm>
            <a:off x="5734950" y="2700400"/>
            <a:ext cx="22236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DM Sans"/>
                <a:ea typeface="DM Sans"/>
                <a:cs typeface="DM Sans"/>
                <a:sym typeface="DM Sans"/>
                <a:hlinkClick r:id="rId17">
                  <a:extLst>
                    <a:ext uri="{A12FA001-AC4F-418D-AE19-62706E023703}">
                      <ahyp:hlinkClr xmlns:ahyp="http://schemas.microsoft.com/office/drawing/2018/hyperlinkcolor" val="tx"/>
                    </a:ext>
                  </a:extLst>
                </a:hlinkClick>
              </a:rPr>
              <a:t>Using Wiz Browser Extension</a:t>
            </a:r>
            <a:endParaRPr sz="900" b="0" i="0" u="none" strike="noStrike" cap="none">
              <a:solidFill>
                <a:srgbClr val="0254EC"/>
              </a:solidFill>
              <a:latin typeface="DM Sans"/>
              <a:ea typeface="DM Sans"/>
              <a:cs typeface="DM Sans"/>
              <a:sym typeface="DM Sans"/>
            </a:endParaRPr>
          </a:p>
        </p:txBody>
      </p:sp>
      <p:sp>
        <p:nvSpPr>
          <p:cNvPr id="562" name="Google Shape;562;p52"/>
          <p:cNvSpPr txBox="1"/>
          <p:nvPr/>
        </p:nvSpPr>
        <p:spPr>
          <a:xfrm>
            <a:off x="7114933" y="2703414"/>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{{F_BE}}</a:t>
            </a:r>
            <a:endParaRPr sz="900" b="1" i="0" u="none" strike="noStrike" cap="none">
              <a:solidFill>
                <a:srgbClr val="333333"/>
              </a:solidFill>
              <a:latin typeface="DM Sans"/>
              <a:ea typeface="DM Sans"/>
              <a:cs typeface="DM Sans"/>
              <a:sym typeface="DM Sans"/>
            </a:endParaRPr>
          </a:p>
        </p:txBody>
      </p:sp>
      <p:pic>
        <p:nvPicPr>
          <p:cNvPr id="563" name="Google Shape;563;p52" title="Group 1000004640.png"/>
          <p:cNvPicPr preferRelativeResize="0"/>
          <p:nvPr/>
        </p:nvPicPr>
        <p:blipFill rotWithShape="1">
          <a:blip r:embed="rId18">
            <a:alphaModFix/>
          </a:blip>
          <a:srcRect/>
          <a:stretch/>
        </p:blipFill>
        <p:spPr>
          <a:xfrm>
            <a:off x="6701399" y="3945838"/>
            <a:ext cx="1202026" cy="1216270"/>
          </a:xfrm>
          <a:prstGeom prst="rect">
            <a:avLst/>
          </a:prstGeom>
          <a:noFill/>
          <a:ln>
            <a:noFill/>
          </a:ln>
        </p:spPr>
      </p:pic>
      <p:pic>
        <p:nvPicPr>
          <p:cNvPr id="564" name="Google Shape;564;p52" title="Group 1000004641.png"/>
          <p:cNvPicPr preferRelativeResize="0"/>
          <p:nvPr/>
        </p:nvPicPr>
        <p:blipFill rotWithShape="1">
          <a:blip r:embed="rId19">
            <a:alphaModFix/>
          </a:blip>
          <a:srcRect/>
          <a:stretch/>
        </p:blipFill>
        <p:spPr>
          <a:xfrm>
            <a:off x="4245479" y="3945838"/>
            <a:ext cx="1202026" cy="1216270"/>
          </a:xfrm>
          <a:prstGeom prst="rect">
            <a:avLst/>
          </a:prstGeom>
          <a:noFill/>
          <a:ln>
            <a:noFill/>
          </a:ln>
        </p:spPr>
      </p:pic>
      <p:pic>
        <p:nvPicPr>
          <p:cNvPr id="565" name="Google Shape;565;p52" title="Group 1000004639.png"/>
          <p:cNvPicPr preferRelativeResize="0"/>
          <p:nvPr/>
        </p:nvPicPr>
        <p:blipFill rotWithShape="1">
          <a:blip r:embed="rId20">
            <a:alphaModFix/>
          </a:blip>
          <a:srcRect/>
          <a:stretch/>
        </p:blipFill>
        <p:spPr>
          <a:xfrm>
            <a:off x="1789559" y="3945838"/>
            <a:ext cx="1202026" cy="1216270"/>
          </a:xfrm>
          <a:prstGeom prst="rect">
            <a:avLst/>
          </a:prstGeom>
          <a:noFill/>
          <a:ln>
            <a:noFill/>
          </a:ln>
        </p:spPr>
      </p:pic>
      <p:sp>
        <p:nvSpPr>
          <p:cNvPr id="566" name="Google Shape;566;p52"/>
          <p:cNvSpPr/>
          <p:nvPr/>
        </p:nvSpPr>
        <p:spPr>
          <a:xfrm>
            <a:off x="1826818" y="4593453"/>
            <a:ext cx="1115100" cy="120300"/>
          </a:xfrm>
          <a:prstGeom prst="rect">
            <a:avLst/>
          </a:prstGeom>
          <a:noFill/>
          <a:ln>
            <a:noFill/>
          </a:ln>
        </p:spPr>
        <p:txBody>
          <a:bodyPr spcFirstLastPara="1" wrap="square" lIns="0" tIns="0" rIns="0" bIns="0" anchor="ctr" anchorCtr="0">
            <a:noAutofit/>
          </a:bodyPr>
          <a:lstStyle/>
          <a:p>
            <a:pPr marL="0" marR="0" lvl="0" indent="0" algn="ctr" rtl="0">
              <a:lnSpc>
                <a:spcPct val="112258"/>
              </a:lnSpc>
              <a:spcBef>
                <a:spcPts val="0"/>
              </a:spcBef>
              <a:spcAft>
                <a:spcPts val="0"/>
              </a:spcAft>
              <a:buClr>
                <a:srgbClr val="0254EC"/>
              </a:buClr>
              <a:buSzPts val="736"/>
              <a:buFont typeface="DM Sans"/>
              <a:buNone/>
            </a:pPr>
            <a:r>
              <a:rPr lang="en" sz="731" b="1" i="0" u="none" strike="noStrike" cap="none">
                <a:solidFill>
                  <a:srgbClr val="0254EC"/>
                </a:solidFill>
                <a:latin typeface="Poppins"/>
                <a:ea typeface="Poppins"/>
                <a:cs typeface="Poppins"/>
                <a:sym typeface="Poppins"/>
              </a:rPr>
              <a:t>Green Agent</a:t>
            </a:r>
            <a:endParaRPr sz="626" b="1" i="0" u="none" strike="noStrike" cap="none">
              <a:solidFill>
                <a:srgbClr val="000000"/>
              </a:solidFill>
              <a:latin typeface="Poppins"/>
              <a:ea typeface="Poppins"/>
              <a:cs typeface="Poppins"/>
              <a:sym typeface="Poppins"/>
            </a:endParaRPr>
          </a:p>
        </p:txBody>
      </p:sp>
      <p:sp>
        <p:nvSpPr>
          <p:cNvPr id="567" name="Google Shape;567;p52"/>
          <p:cNvSpPr/>
          <p:nvPr/>
        </p:nvSpPr>
        <p:spPr>
          <a:xfrm>
            <a:off x="1842610" y="4876841"/>
            <a:ext cx="1093200" cy="176100"/>
          </a:xfrm>
          <a:prstGeom prst="rect">
            <a:avLst/>
          </a:prstGeom>
          <a:noFill/>
          <a:ln>
            <a:noFill/>
          </a:ln>
        </p:spPr>
        <p:txBody>
          <a:bodyPr spcFirstLastPara="1" wrap="square" lIns="0" tIns="0" rIns="0" bIns="0" anchor="ctr" anchorCtr="0">
            <a:noAutofit/>
          </a:bodyPr>
          <a:lstStyle/>
          <a:p>
            <a:pPr marL="0" marR="0" lvl="0" indent="0" algn="ctr" rtl="0">
              <a:lnSpc>
                <a:spcPct val="110576"/>
              </a:lnSpc>
              <a:spcBef>
                <a:spcPts val="0"/>
              </a:spcBef>
              <a:spcAft>
                <a:spcPts val="0"/>
              </a:spcAft>
              <a:buClr>
                <a:srgbClr val="001741"/>
              </a:buClr>
              <a:buSzPts val="631"/>
              <a:buFont typeface="DM Sans"/>
              <a:buNone/>
            </a:pPr>
            <a:r>
              <a:rPr lang="en" sz="1021" b="0" i="0" u="none" strike="noStrike" cap="none">
                <a:solidFill>
                  <a:srgbClr val="000000"/>
                </a:solidFill>
                <a:latin typeface="Poppins"/>
                <a:ea typeface="Poppins"/>
                <a:cs typeface="Poppins"/>
                <a:sym typeface="Poppins"/>
              </a:rPr>
              <a:t>Enabled</a:t>
            </a:r>
            <a:br>
              <a:rPr lang="en" sz="1021" b="0" i="0" u="none" strike="noStrike" cap="none">
                <a:solidFill>
                  <a:srgbClr val="000000"/>
                </a:solidFill>
                <a:latin typeface="Poppins"/>
                <a:ea typeface="Poppins"/>
                <a:cs typeface="Poppins"/>
                <a:sym typeface="Poppins"/>
              </a:rPr>
            </a:br>
            <a:r>
              <a:rPr lang="en" sz="1021" b="0" i="0" u="none" strike="noStrike" cap="none">
                <a:solidFill>
                  <a:srgbClr val="000000"/>
                </a:solidFill>
                <a:latin typeface="Poppins"/>
                <a:ea typeface="Poppins"/>
                <a:cs typeface="Poppins"/>
                <a:sym typeface="Poppins"/>
              </a:rPr>
              <a:t>{{F_GA}}</a:t>
            </a:r>
            <a:br>
              <a:rPr lang="en" sz="1021" b="0" i="0" u="none" strike="noStrike" cap="none">
                <a:solidFill>
                  <a:srgbClr val="000000"/>
                </a:solidFill>
                <a:latin typeface="Poppins"/>
                <a:ea typeface="Poppins"/>
                <a:cs typeface="Poppins"/>
                <a:sym typeface="Poppins"/>
              </a:rPr>
            </a:br>
            <a:endParaRPr sz="1021" b="0" i="0" u="none" strike="noStrike" cap="none">
              <a:solidFill>
                <a:srgbClr val="000000"/>
              </a:solidFill>
              <a:latin typeface="Poppins"/>
              <a:ea typeface="Poppins"/>
              <a:cs typeface="Poppins"/>
              <a:sym typeface="Poppins"/>
            </a:endParaRPr>
          </a:p>
        </p:txBody>
      </p:sp>
      <p:sp>
        <p:nvSpPr>
          <p:cNvPr id="568" name="Google Shape;568;p52"/>
          <p:cNvSpPr/>
          <p:nvPr/>
        </p:nvSpPr>
        <p:spPr>
          <a:xfrm>
            <a:off x="792658" y="4512343"/>
            <a:ext cx="938400" cy="205800"/>
          </a:xfrm>
          <a:prstGeom prst="rect">
            <a:avLst/>
          </a:prstGeom>
          <a:noFill/>
          <a:ln>
            <a:noFill/>
          </a:ln>
        </p:spPr>
        <p:txBody>
          <a:bodyPr spcFirstLastPara="1" wrap="square" lIns="0" tIns="0" rIns="0" bIns="0" anchor="ctr" anchorCtr="0">
            <a:noAutofit/>
          </a:bodyPr>
          <a:lstStyle/>
          <a:p>
            <a:pPr marL="0" marR="0" lvl="0" indent="0" algn="ctr" rtl="0">
              <a:lnSpc>
                <a:spcPct val="112255"/>
              </a:lnSpc>
              <a:spcBef>
                <a:spcPts val="0"/>
              </a:spcBef>
              <a:spcAft>
                <a:spcPts val="0"/>
              </a:spcAft>
              <a:buClr>
                <a:srgbClr val="0254EC"/>
              </a:buClr>
              <a:buSzPts val="736"/>
              <a:buFont typeface="DM Sans"/>
              <a:buNone/>
            </a:pPr>
            <a:r>
              <a:rPr lang="en" sz="730" b="1" i="0" u="none" strike="noStrike" cap="none" dirty="0">
                <a:solidFill>
                  <a:srgbClr val="0254EC"/>
                </a:solidFill>
                <a:latin typeface="Poppins"/>
                <a:ea typeface="Poppins"/>
                <a:cs typeface="Poppins"/>
                <a:sym typeface="Poppins"/>
              </a:rPr>
              <a:t>Preventive Security</a:t>
            </a:r>
            <a:endParaRPr sz="730" b="1" i="0" u="none" strike="noStrike" cap="none" dirty="0">
              <a:solidFill>
                <a:srgbClr val="000000"/>
              </a:solidFill>
              <a:latin typeface="Poppins"/>
              <a:ea typeface="Poppins"/>
              <a:cs typeface="Poppins"/>
              <a:sym typeface="Poppins"/>
            </a:endParaRPr>
          </a:p>
        </p:txBody>
      </p:sp>
      <p:sp>
        <p:nvSpPr>
          <p:cNvPr id="569" name="Google Shape;569;p52"/>
          <p:cNvSpPr/>
          <p:nvPr/>
        </p:nvSpPr>
        <p:spPr>
          <a:xfrm>
            <a:off x="755800" y="4748530"/>
            <a:ext cx="1029300" cy="314700"/>
          </a:xfrm>
          <a:prstGeom prst="rect">
            <a:avLst/>
          </a:prstGeom>
          <a:noFill/>
          <a:ln>
            <a:noFill/>
          </a:ln>
        </p:spPr>
        <p:txBody>
          <a:bodyPr spcFirstLastPara="1" wrap="square" lIns="0" tIns="0" rIns="0" bIns="0" anchor="b" anchorCtr="0">
            <a:noAutofit/>
          </a:bodyPr>
          <a:lstStyle/>
          <a:p>
            <a:pPr marL="0" marR="0" lvl="0" indent="0" algn="ctr" rtl="0">
              <a:lnSpc>
                <a:spcPct val="110576"/>
              </a:lnSpc>
              <a:spcBef>
                <a:spcPts val="0"/>
              </a:spcBef>
              <a:spcAft>
                <a:spcPts val="0"/>
              </a:spcAft>
              <a:buClr>
                <a:srgbClr val="001741"/>
              </a:buClr>
              <a:buSzPts val="631"/>
              <a:buFont typeface="DM Sans"/>
              <a:buNone/>
            </a:pPr>
            <a:r>
              <a:rPr lang="en" sz="730" b="0" i="0" u="none" strike="noStrike" cap="none">
                <a:solidFill>
                  <a:srgbClr val="001741"/>
                </a:solidFill>
                <a:latin typeface="Poppins"/>
                <a:ea typeface="Poppins"/>
                <a:cs typeface="Poppins"/>
                <a:sym typeface="Poppins"/>
              </a:rPr>
              <a:t>Build securely and </a:t>
            </a:r>
            <a:br>
              <a:rPr lang="en" sz="730" b="0" i="0" u="none" strike="noStrike" cap="none">
                <a:solidFill>
                  <a:srgbClr val="001741"/>
                </a:solidFill>
                <a:latin typeface="Poppins"/>
                <a:ea typeface="Poppins"/>
                <a:cs typeface="Poppins"/>
                <a:sym typeface="Poppins"/>
              </a:rPr>
            </a:br>
            <a:r>
              <a:rPr lang="en" sz="730" b="0" i="0" u="none" strike="noStrike" cap="none">
                <a:solidFill>
                  <a:srgbClr val="001741"/>
                </a:solidFill>
                <a:latin typeface="Poppins"/>
                <a:ea typeface="Poppins"/>
                <a:cs typeface="Poppins"/>
                <a:sym typeface="Poppins"/>
              </a:rPr>
              <a:t>remediate at the source</a:t>
            </a:r>
            <a:endParaRPr sz="730" b="0" i="0" u="none" strike="noStrike" cap="none">
              <a:solidFill>
                <a:srgbClr val="000000"/>
              </a:solidFill>
              <a:latin typeface="Poppins"/>
              <a:ea typeface="Poppins"/>
              <a:cs typeface="Poppins"/>
              <a:sym typeface="Poppins"/>
            </a:endParaRPr>
          </a:p>
        </p:txBody>
      </p:sp>
      <p:sp>
        <p:nvSpPr>
          <p:cNvPr id="570" name="Google Shape;570;p52"/>
          <p:cNvSpPr/>
          <p:nvPr/>
        </p:nvSpPr>
        <p:spPr>
          <a:xfrm>
            <a:off x="3258006" y="4512343"/>
            <a:ext cx="938400" cy="205800"/>
          </a:xfrm>
          <a:prstGeom prst="rect">
            <a:avLst/>
          </a:prstGeom>
          <a:noFill/>
          <a:ln>
            <a:noFill/>
          </a:ln>
        </p:spPr>
        <p:txBody>
          <a:bodyPr spcFirstLastPara="1" wrap="square" lIns="0" tIns="0" rIns="0" bIns="0" anchor="ctr" anchorCtr="0">
            <a:noAutofit/>
          </a:bodyPr>
          <a:lstStyle/>
          <a:p>
            <a:pPr marL="0" marR="0" lvl="0" indent="0" algn="ctr" rtl="0">
              <a:lnSpc>
                <a:spcPct val="112255"/>
              </a:lnSpc>
              <a:spcBef>
                <a:spcPts val="0"/>
              </a:spcBef>
              <a:spcAft>
                <a:spcPts val="0"/>
              </a:spcAft>
              <a:buClr>
                <a:srgbClr val="0254EC"/>
              </a:buClr>
              <a:buSzPts val="736"/>
              <a:buFont typeface="DM Sans"/>
              <a:buNone/>
            </a:pPr>
            <a:r>
              <a:rPr lang="en" sz="730" b="1" i="0" u="none" strike="noStrike" cap="none">
                <a:solidFill>
                  <a:srgbClr val="0254EC"/>
                </a:solidFill>
                <a:latin typeface="Poppins"/>
                <a:ea typeface="Poppins"/>
                <a:cs typeface="Poppins"/>
                <a:sym typeface="Poppins"/>
              </a:rPr>
              <a:t>Reactive Security</a:t>
            </a:r>
            <a:endParaRPr sz="730" b="1" i="0" u="none" strike="noStrike" cap="none">
              <a:solidFill>
                <a:srgbClr val="000000"/>
              </a:solidFill>
              <a:latin typeface="Poppins"/>
              <a:ea typeface="Poppins"/>
              <a:cs typeface="Poppins"/>
              <a:sym typeface="Poppins"/>
            </a:endParaRPr>
          </a:p>
        </p:txBody>
      </p:sp>
      <p:sp>
        <p:nvSpPr>
          <p:cNvPr id="571" name="Google Shape;571;p52"/>
          <p:cNvSpPr/>
          <p:nvPr/>
        </p:nvSpPr>
        <p:spPr>
          <a:xfrm>
            <a:off x="3173074" y="4738385"/>
            <a:ext cx="1117800" cy="314700"/>
          </a:xfrm>
          <a:prstGeom prst="rect">
            <a:avLst/>
          </a:prstGeom>
          <a:noFill/>
          <a:ln>
            <a:noFill/>
          </a:ln>
        </p:spPr>
        <p:txBody>
          <a:bodyPr spcFirstLastPara="1" wrap="square" lIns="0" tIns="0" rIns="0" bIns="0" anchor="ctr" anchorCtr="0">
            <a:noAutofit/>
          </a:bodyPr>
          <a:lstStyle/>
          <a:p>
            <a:pPr marL="0" marR="0" lvl="0" indent="0" algn="ctr" rtl="0">
              <a:lnSpc>
                <a:spcPct val="110576"/>
              </a:lnSpc>
              <a:spcBef>
                <a:spcPts val="0"/>
              </a:spcBef>
              <a:spcAft>
                <a:spcPts val="0"/>
              </a:spcAft>
              <a:buClr>
                <a:srgbClr val="001741"/>
              </a:buClr>
              <a:buSzPts val="631"/>
              <a:buFont typeface="DM Sans"/>
              <a:buNone/>
            </a:pPr>
            <a:r>
              <a:rPr lang="en" sz="730" b="0" i="0" u="none" strike="noStrike" cap="none">
                <a:solidFill>
                  <a:srgbClr val="001741"/>
                </a:solidFill>
                <a:latin typeface="Poppins"/>
                <a:ea typeface="Poppins"/>
                <a:cs typeface="Poppins"/>
                <a:sym typeface="Poppins"/>
              </a:rPr>
              <a:t>Investigate and </a:t>
            </a:r>
            <a:br>
              <a:rPr lang="en" sz="730" b="0" i="0" u="none" strike="noStrike" cap="none">
                <a:solidFill>
                  <a:srgbClr val="001741"/>
                </a:solidFill>
                <a:latin typeface="Poppins"/>
                <a:ea typeface="Poppins"/>
                <a:cs typeface="Poppins"/>
                <a:sym typeface="Poppins"/>
              </a:rPr>
            </a:br>
            <a:r>
              <a:rPr lang="en" sz="730" b="0" i="0" u="none" strike="noStrike" cap="none">
                <a:solidFill>
                  <a:srgbClr val="001741"/>
                </a:solidFill>
                <a:latin typeface="Poppins"/>
                <a:ea typeface="Poppins"/>
                <a:cs typeface="Poppins"/>
                <a:sym typeface="Poppins"/>
              </a:rPr>
              <a:t>triage high-fidelity threats</a:t>
            </a:r>
            <a:endParaRPr sz="730" b="0" i="0" u="none" strike="noStrike" cap="none">
              <a:solidFill>
                <a:srgbClr val="000000"/>
              </a:solidFill>
              <a:latin typeface="Poppins"/>
              <a:ea typeface="Poppins"/>
              <a:cs typeface="Poppins"/>
              <a:sym typeface="Poppins"/>
            </a:endParaRPr>
          </a:p>
        </p:txBody>
      </p:sp>
      <p:sp>
        <p:nvSpPr>
          <p:cNvPr id="572" name="Google Shape;572;p52"/>
          <p:cNvSpPr/>
          <p:nvPr/>
        </p:nvSpPr>
        <p:spPr>
          <a:xfrm>
            <a:off x="5714491" y="4512343"/>
            <a:ext cx="938400" cy="205800"/>
          </a:xfrm>
          <a:prstGeom prst="rect">
            <a:avLst/>
          </a:prstGeom>
          <a:noFill/>
          <a:ln>
            <a:noFill/>
          </a:ln>
        </p:spPr>
        <p:txBody>
          <a:bodyPr spcFirstLastPara="1" wrap="square" lIns="0" tIns="0" rIns="0" bIns="0" anchor="ctr" anchorCtr="0">
            <a:noAutofit/>
          </a:bodyPr>
          <a:lstStyle/>
          <a:p>
            <a:pPr marL="0" marR="0" lvl="0" indent="0" algn="ctr" rtl="0">
              <a:lnSpc>
                <a:spcPct val="112255"/>
              </a:lnSpc>
              <a:spcBef>
                <a:spcPts val="0"/>
              </a:spcBef>
              <a:spcAft>
                <a:spcPts val="0"/>
              </a:spcAft>
              <a:buClr>
                <a:srgbClr val="0254EC"/>
              </a:buClr>
              <a:buSzPts val="736"/>
              <a:buFont typeface="DM Sans"/>
              <a:buNone/>
            </a:pPr>
            <a:r>
              <a:rPr lang="en" sz="730" b="1" i="0" u="none" strike="noStrike" cap="none">
                <a:solidFill>
                  <a:srgbClr val="0254EC"/>
                </a:solidFill>
                <a:latin typeface="Poppins"/>
                <a:ea typeface="Poppins"/>
                <a:cs typeface="Poppins"/>
                <a:sym typeface="Poppins"/>
              </a:rPr>
              <a:t>Proactive Security</a:t>
            </a:r>
            <a:endParaRPr sz="730" b="1" i="0" u="none" strike="noStrike" cap="none">
              <a:solidFill>
                <a:srgbClr val="000000"/>
              </a:solidFill>
              <a:latin typeface="Poppins"/>
              <a:ea typeface="Poppins"/>
              <a:cs typeface="Poppins"/>
              <a:sym typeface="Poppins"/>
            </a:endParaRPr>
          </a:p>
        </p:txBody>
      </p:sp>
      <p:sp>
        <p:nvSpPr>
          <p:cNvPr id="573" name="Google Shape;573;p52"/>
          <p:cNvSpPr/>
          <p:nvPr/>
        </p:nvSpPr>
        <p:spPr>
          <a:xfrm>
            <a:off x="5629558" y="4738385"/>
            <a:ext cx="1117800" cy="314700"/>
          </a:xfrm>
          <a:prstGeom prst="rect">
            <a:avLst/>
          </a:prstGeom>
          <a:noFill/>
          <a:ln>
            <a:noFill/>
          </a:ln>
        </p:spPr>
        <p:txBody>
          <a:bodyPr spcFirstLastPara="1" wrap="square" lIns="0" tIns="0" rIns="0" bIns="0" anchor="b" anchorCtr="0">
            <a:noAutofit/>
          </a:bodyPr>
          <a:lstStyle/>
          <a:p>
            <a:pPr marL="0" marR="0" lvl="0" indent="0" algn="ctr" rtl="0">
              <a:lnSpc>
                <a:spcPct val="110576"/>
              </a:lnSpc>
              <a:spcBef>
                <a:spcPts val="0"/>
              </a:spcBef>
              <a:spcAft>
                <a:spcPts val="0"/>
              </a:spcAft>
              <a:buClr>
                <a:srgbClr val="001741"/>
              </a:buClr>
              <a:buSzPts val="631"/>
              <a:buFont typeface="DM Sans"/>
              <a:buNone/>
            </a:pPr>
            <a:r>
              <a:rPr lang="en" sz="730" b="0" i="0" u="none" strike="noStrike" cap="none">
                <a:solidFill>
                  <a:srgbClr val="001741"/>
                </a:solidFill>
                <a:latin typeface="Poppins"/>
                <a:ea typeface="Poppins"/>
                <a:cs typeface="Poppins"/>
                <a:sym typeface="Poppins"/>
              </a:rPr>
              <a:t>Identify high-risk </a:t>
            </a:r>
            <a:br>
              <a:rPr lang="en" sz="730" b="0" i="0" u="none" strike="noStrike" cap="none">
                <a:solidFill>
                  <a:srgbClr val="001741"/>
                </a:solidFill>
                <a:latin typeface="Poppins"/>
                <a:ea typeface="Poppins"/>
                <a:cs typeface="Poppins"/>
                <a:sym typeface="Poppins"/>
              </a:rPr>
            </a:br>
            <a:r>
              <a:rPr lang="en" sz="730" b="0" i="0" u="none" strike="noStrike" cap="none">
                <a:solidFill>
                  <a:srgbClr val="001741"/>
                </a:solidFill>
                <a:latin typeface="Poppins"/>
                <a:ea typeface="Poppins"/>
                <a:cs typeface="Poppins"/>
                <a:sym typeface="Poppins"/>
              </a:rPr>
              <a:t>issues before they </a:t>
            </a:r>
            <a:br>
              <a:rPr lang="en" sz="730" b="0" i="0" u="none" strike="noStrike" cap="none">
                <a:solidFill>
                  <a:srgbClr val="001741"/>
                </a:solidFill>
                <a:latin typeface="Poppins"/>
                <a:ea typeface="Poppins"/>
                <a:cs typeface="Poppins"/>
                <a:sym typeface="Poppins"/>
              </a:rPr>
            </a:br>
            <a:r>
              <a:rPr lang="en" sz="730" b="0" i="0" u="none" strike="noStrike" cap="none">
                <a:solidFill>
                  <a:srgbClr val="001741"/>
                </a:solidFill>
                <a:latin typeface="Poppins"/>
                <a:ea typeface="Poppins"/>
                <a:cs typeface="Poppins"/>
                <a:sym typeface="Poppins"/>
              </a:rPr>
              <a:t>can be exploited</a:t>
            </a:r>
            <a:endParaRPr sz="730" b="0" i="0" u="none" strike="noStrike" cap="none">
              <a:solidFill>
                <a:srgbClr val="000000"/>
              </a:solidFill>
              <a:latin typeface="Poppins"/>
              <a:ea typeface="Poppins"/>
              <a:cs typeface="Poppins"/>
              <a:sym typeface="Poppins"/>
            </a:endParaRPr>
          </a:p>
        </p:txBody>
      </p:sp>
      <p:sp>
        <p:nvSpPr>
          <p:cNvPr id="574" name="Google Shape;574;p52"/>
          <p:cNvSpPr/>
          <p:nvPr/>
        </p:nvSpPr>
        <p:spPr>
          <a:xfrm>
            <a:off x="4293866" y="4602589"/>
            <a:ext cx="1115100" cy="120300"/>
          </a:xfrm>
          <a:prstGeom prst="rect">
            <a:avLst/>
          </a:prstGeom>
          <a:noFill/>
          <a:ln>
            <a:noFill/>
          </a:ln>
        </p:spPr>
        <p:txBody>
          <a:bodyPr spcFirstLastPara="1" wrap="square" lIns="0" tIns="0" rIns="0" bIns="0" anchor="ctr" anchorCtr="0">
            <a:noAutofit/>
          </a:bodyPr>
          <a:lstStyle/>
          <a:p>
            <a:pPr marL="0" marR="0" lvl="0" indent="0" algn="ctr" rtl="0">
              <a:lnSpc>
                <a:spcPct val="112258"/>
              </a:lnSpc>
              <a:spcBef>
                <a:spcPts val="0"/>
              </a:spcBef>
              <a:spcAft>
                <a:spcPts val="0"/>
              </a:spcAft>
              <a:buClr>
                <a:srgbClr val="0254EC"/>
              </a:buClr>
              <a:buSzPts val="736"/>
              <a:buFont typeface="DM Sans"/>
              <a:buNone/>
            </a:pPr>
            <a:r>
              <a:rPr lang="en" sz="731" b="1" i="0" u="none" strike="noStrike" cap="none">
                <a:solidFill>
                  <a:srgbClr val="0254EC"/>
                </a:solidFill>
                <a:latin typeface="Poppins"/>
                <a:ea typeface="Poppins"/>
                <a:cs typeface="Poppins"/>
                <a:sym typeface="Poppins"/>
              </a:rPr>
              <a:t>Blue Agent</a:t>
            </a:r>
            <a:endParaRPr sz="626" b="1" i="0" u="none" strike="noStrike" cap="none">
              <a:solidFill>
                <a:srgbClr val="000000"/>
              </a:solidFill>
              <a:latin typeface="Poppins"/>
              <a:ea typeface="Poppins"/>
              <a:cs typeface="Poppins"/>
              <a:sym typeface="Poppins"/>
            </a:endParaRPr>
          </a:p>
        </p:txBody>
      </p:sp>
      <p:sp>
        <p:nvSpPr>
          <p:cNvPr id="575" name="Google Shape;575;p52"/>
          <p:cNvSpPr/>
          <p:nvPr/>
        </p:nvSpPr>
        <p:spPr>
          <a:xfrm>
            <a:off x="4309658" y="4885978"/>
            <a:ext cx="1093200" cy="176100"/>
          </a:xfrm>
          <a:prstGeom prst="rect">
            <a:avLst/>
          </a:prstGeom>
          <a:noFill/>
          <a:ln>
            <a:noFill/>
          </a:ln>
        </p:spPr>
        <p:txBody>
          <a:bodyPr spcFirstLastPara="1" wrap="square" lIns="0" tIns="0" rIns="0" bIns="0" anchor="ctr" anchorCtr="0">
            <a:noAutofit/>
          </a:bodyPr>
          <a:lstStyle/>
          <a:p>
            <a:pPr marL="0" marR="0" lvl="0" indent="0" algn="ctr" rtl="0">
              <a:lnSpc>
                <a:spcPct val="110576"/>
              </a:lnSpc>
              <a:spcBef>
                <a:spcPts val="0"/>
              </a:spcBef>
              <a:spcAft>
                <a:spcPts val="0"/>
              </a:spcAft>
              <a:buClr>
                <a:srgbClr val="001741"/>
              </a:buClr>
              <a:buSzPts val="631"/>
              <a:buFont typeface="DM Sans"/>
              <a:buNone/>
            </a:pPr>
            <a:r>
              <a:rPr lang="en" sz="1021" b="0" i="0" u="none" strike="noStrike" cap="none">
                <a:solidFill>
                  <a:srgbClr val="000000"/>
                </a:solidFill>
                <a:latin typeface="Poppins"/>
                <a:ea typeface="Poppins"/>
                <a:cs typeface="Poppins"/>
                <a:sym typeface="Poppins"/>
              </a:rPr>
              <a:t>Enabled</a:t>
            </a:r>
            <a:br>
              <a:rPr lang="en" sz="1021" b="0" i="0" u="none" strike="noStrike" cap="none">
                <a:solidFill>
                  <a:srgbClr val="000000"/>
                </a:solidFill>
                <a:latin typeface="Poppins"/>
                <a:ea typeface="Poppins"/>
                <a:cs typeface="Poppins"/>
                <a:sym typeface="Poppins"/>
              </a:rPr>
            </a:br>
            <a:r>
              <a:rPr lang="en" sz="1021" b="0" i="0" u="none" strike="noStrike" cap="none">
                <a:solidFill>
                  <a:srgbClr val="000000"/>
                </a:solidFill>
                <a:latin typeface="Poppins"/>
                <a:ea typeface="Poppins"/>
                <a:cs typeface="Poppins"/>
                <a:sym typeface="Poppins"/>
              </a:rPr>
              <a:t>{{F_BA}}</a:t>
            </a:r>
            <a:br>
              <a:rPr lang="en" sz="1021" b="0" i="0" u="none" strike="noStrike" cap="none">
                <a:solidFill>
                  <a:srgbClr val="000000"/>
                </a:solidFill>
                <a:latin typeface="Poppins"/>
                <a:ea typeface="Poppins"/>
                <a:cs typeface="Poppins"/>
                <a:sym typeface="Poppins"/>
              </a:rPr>
            </a:br>
            <a:endParaRPr sz="1021" b="0" i="0" u="none" strike="noStrike" cap="none">
              <a:solidFill>
                <a:srgbClr val="000000"/>
              </a:solidFill>
              <a:latin typeface="Poppins"/>
              <a:ea typeface="Poppins"/>
              <a:cs typeface="Poppins"/>
              <a:sym typeface="Poppins"/>
            </a:endParaRPr>
          </a:p>
        </p:txBody>
      </p:sp>
      <p:sp>
        <p:nvSpPr>
          <p:cNvPr id="576" name="Google Shape;576;p52"/>
          <p:cNvSpPr/>
          <p:nvPr/>
        </p:nvSpPr>
        <p:spPr>
          <a:xfrm>
            <a:off x="6751047" y="4611991"/>
            <a:ext cx="1115100" cy="120300"/>
          </a:xfrm>
          <a:prstGeom prst="rect">
            <a:avLst/>
          </a:prstGeom>
          <a:noFill/>
          <a:ln>
            <a:noFill/>
          </a:ln>
        </p:spPr>
        <p:txBody>
          <a:bodyPr spcFirstLastPara="1" wrap="square" lIns="0" tIns="0" rIns="0" bIns="0" anchor="ctr" anchorCtr="0">
            <a:noAutofit/>
          </a:bodyPr>
          <a:lstStyle/>
          <a:p>
            <a:pPr marL="0" marR="0" lvl="0" indent="0" algn="ctr" rtl="0">
              <a:lnSpc>
                <a:spcPct val="112258"/>
              </a:lnSpc>
              <a:spcBef>
                <a:spcPts val="0"/>
              </a:spcBef>
              <a:spcAft>
                <a:spcPts val="0"/>
              </a:spcAft>
              <a:buClr>
                <a:srgbClr val="0254EC"/>
              </a:buClr>
              <a:buSzPts val="736"/>
              <a:buFont typeface="DM Sans"/>
              <a:buNone/>
            </a:pPr>
            <a:r>
              <a:rPr lang="en" sz="731" b="1" i="0" u="none" strike="noStrike" cap="none">
                <a:solidFill>
                  <a:srgbClr val="0254EC"/>
                </a:solidFill>
                <a:latin typeface="Poppins"/>
                <a:ea typeface="Poppins"/>
                <a:cs typeface="Poppins"/>
                <a:sym typeface="Poppins"/>
              </a:rPr>
              <a:t>Red Agent</a:t>
            </a:r>
            <a:endParaRPr sz="626" b="1" i="0" u="none" strike="noStrike" cap="none">
              <a:solidFill>
                <a:srgbClr val="000000"/>
              </a:solidFill>
              <a:latin typeface="Poppins"/>
              <a:ea typeface="Poppins"/>
              <a:cs typeface="Poppins"/>
              <a:sym typeface="Poppins"/>
            </a:endParaRPr>
          </a:p>
        </p:txBody>
      </p:sp>
      <p:sp>
        <p:nvSpPr>
          <p:cNvPr id="577" name="Google Shape;577;p52"/>
          <p:cNvSpPr/>
          <p:nvPr/>
        </p:nvSpPr>
        <p:spPr>
          <a:xfrm>
            <a:off x="6766839" y="4895379"/>
            <a:ext cx="1093200" cy="176100"/>
          </a:xfrm>
          <a:prstGeom prst="rect">
            <a:avLst/>
          </a:prstGeom>
          <a:noFill/>
          <a:ln>
            <a:noFill/>
          </a:ln>
        </p:spPr>
        <p:txBody>
          <a:bodyPr spcFirstLastPara="1" wrap="square" lIns="0" tIns="0" rIns="0" bIns="0" anchor="ctr" anchorCtr="0">
            <a:noAutofit/>
          </a:bodyPr>
          <a:lstStyle/>
          <a:p>
            <a:pPr marL="0" marR="0" lvl="0" indent="0" algn="ctr" rtl="0">
              <a:lnSpc>
                <a:spcPct val="110576"/>
              </a:lnSpc>
              <a:spcBef>
                <a:spcPts val="0"/>
              </a:spcBef>
              <a:spcAft>
                <a:spcPts val="0"/>
              </a:spcAft>
              <a:buClr>
                <a:srgbClr val="001741"/>
              </a:buClr>
              <a:buSzPts val="631"/>
              <a:buFont typeface="DM Sans"/>
              <a:buNone/>
            </a:pPr>
            <a:r>
              <a:rPr lang="en" sz="1021" b="0" i="0" u="none" strike="noStrike" cap="none">
                <a:solidFill>
                  <a:srgbClr val="000000"/>
                </a:solidFill>
                <a:latin typeface="Poppins"/>
                <a:ea typeface="Poppins"/>
                <a:cs typeface="Poppins"/>
                <a:sym typeface="Poppins"/>
              </a:rPr>
              <a:t>Enabled</a:t>
            </a:r>
            <a:br>
              <a:rPr lang="en" sz="1021" b="0" i="0" u="none" strike="noStrike" cap="none">
                <a:solidFill>
                  <a:srgbClr val="000000"/>
                </a:solidFill>
                <a:latin typeface="Poppins"/>
                <a:ea typeface="Poppins"/>
                <a:cs typeface="Poppins"/>
                <a:sym typeface="Poppins"/>
              </a:rPr>
            </a:br>
            <a:r>
              <a:rPr lang="en" sz="1021" b="0" i="0" u="none" strike="noStrike" cap="none">
                <a:solidFill>
                  <a:srgbClr val="000000"/>
                </a:solidFill>
                <a:latin typeface="Poppins"/>
                <a:ea typeface="Poppins"/>
                <a:cs typeface="Poppins"/>
                <a:sym typeface="Poppins"/>
              </a:rPr>
              <a:t>{{F_RA}}</a:t>
            </a:r>
            <a:br>
              <a:rPr lang="en" sz="1021" b="0" i="0" u="none" strike="noStrike" cap="none">
                <a:solidFill>
                  <a:srgbClr val="000000"/>
                </a:solidFill>
                <a:latin typeface="Poppins"/>
                <a:ea typeface="Poppins"/>
                <a:cs typeface="Poppins"/>
                <a:sym typeface="Poppins"/>
              </a:rPr>
            </a:br>
            <a:endParaRPr sz="1021" b="0" i="0" u="none" strike="noStrike" cap="none">
              <a:solidFill>
                <a:srgbClr val="000000"/>
              </a:solidFill>
              <a:latin typeface="Poppins"/>
              <a:ea typeface="Poppins"/>
              <a:cs typeface="Poppins"/>
              <a:sym typeface="Poppins"/>
            </a:endParaRPr>
          </a:p>
        </p:txBody>
      </p:sp>
      <p:sp>
        <p:nvSpPr>
          <p:cNvPr id="578" name="Google Shape;578;p52"/>
          <p:cNvSpPr/>
          <p:nvPr/>
        </p:nvSpPr>
        <p:spPr>
          <a:xfrm>
            <a:off x="2714775" y="3315775"/>
            <a:ext cx="2859600" cy="563100"/>
          </a:xfrm>
          <a:prstGeom prst="roundRect">
            <a:avLst>
              <a:gd name="adj" fmla="val 16667"/>
            </a:avLst>
          </a:prstGeom>
          <a:noFill/>
          <a:ln w="9525" cap="flat" cmpd="sng">
            <a:solidFill>
              <a:srgbClr val="595959"/>
            </a:solidFill>
            <a:prstDash val="solid"/>
            <a:round/>
            <a:headEnd type="none" w="sm" len="sm"/>
            <a:tailEnd type="none" w="sm" len="sm"/>
          </a:ln>
        </p:spPr>
        <p:txBody>
          <a:bodyPr spcFirstLastPara="1" wrap="square" lIns="87225" tIns="87225" rIns="87225" bIns="87225" anchor="ctr" anchorCtr="0">
            <a:noAutofit/>
          </a:bodyPr>
          <a:lstStyle/>
          <a:p>
            <a:pPr marL="0" marR="0" lvl="0" indent="0" algn="ctr" rtl="0">
              <a:lnSpc>
                <a:spcPct val="100000"/>
              </a:lnSpc>
              <a:spcBef>
                <a:spcPts val="0"/>
              </a:spcBef>
              <a:spcAft>
                <a:spcPts val="0"/>
              </a:spcAft>
              <a:buClr>
                <a:srgbClr val="000000"/>
              </a:buClr>
              <a:buSzPts val="1319"/>
              <a:buFont typeface="Arial"/>
              <a:buNone/>
            </a:pPr>
            <a:endParaRPr sz="1319" b="0" i="0" u="none" strike="noStrike" cap="none">
              <a:solidFill>
                <a:srgbClr val="000000"/>
              </a:solidFill>
              <a:latin typeface="DM Sans"/>
              <a:ea typeface="DM Sans"/>
              <a:cs typeface="DM Sans"/>
              <a:sym typeface="DM Sans"/>
            </a:endParaRPr>
          </a:p>
        </p:txBody>
      </p:sp>
      <p:sp>
        <p:nvSpPr>
          <p:cNvPr id="579" name="Google Shape;579;p52"/>
          <p:cNvSpPr txBox="1"/>
          <p:nvPr/>
        </p:nvSpPr>
        <p:spPr>
          <a:xfrm>
            <a:off x="2787193" y="3282974"/>
            <a:ext cx="26364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DM Sans"/>
                <a:ea typeface="DM Sans"/>
                <a:cs typeface="DM Sans"/>
                <a:sym typeface="DM Sans"/>
                <a:hlinkClick r:id="rId21">
                  <a:extLst>
                    <a:ext uri="{A12FA001-AC4F-418D-AE19-62706E023703}">
                      <ahyp:hlinkClr xmlns:ahyp="http://schemas.microsoft.com/office/drawing/2018/hyperlinkcolor" val="tx"/>
                    </a:ext>
                  </a:extLst>
                </a:hlinkClick>
              </a:rPr>
              <a:t>Automation Workflows</a:t>
            </a:r>
            <a:endParaRPr sz="900" b="0" i="0" u="none" strike="noStrike" cap="none">
              <a:solidFill>
                <a:srgbClr val="0254EC"/>
              </a:solidFill>
              <a:latin typeface="DM Sans"/>
              <a:ea typeface="DM Sans"/>
              <a:cs typeface="DM Sans"/>
              <a:sym typeface="DM Sans"/>
            </a:endParaRPr>
          </a:p>
        </p:txBody>
      </p:sp>
      <p:sp>
        <p:nvSpPr>
          <p:cNvPr id="580" name="Google Shape;580;p52"/>
          <p:cNvSpPr txBox="1"/>
          <p:nvPr/>
        </p:nvSpPr>
        <p:spPr>
          <a:xfrm>
            <a:off x="3719963" y="3297383"/>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{{F_WF}}</a:t>
            </a:r>
            <a:endParaRPr sz="900" b="1" i="0" u="none" strike="noStrike" cap="none">
              <a:solidFill>
                <a:srgbClr val="333333"/>
              </a:solidFill>
              <a:latin typeface="DM Sans"/>
              <a:ea typeface="DM Sans"/>
              <a:cs typeface="DM Sans"/>
              <a:sym typeface="DM Sans"/>
            </a:endParaRPr>
          </a:p>
        </p:txBody>
      </p:sp>
      <p:sp>
        <p:nvSpPr>
          <p:cNvPr id="581" name="Google Shape;581;p52"/>
          <p:cNvSpPr txBox="1"/>
          <p:nvPr/>
        </p:nvSpPr>
        <p:spPr>
          <a:xfrm>
            <a:off x="2787193" y="3482499"/>
            <a:ext cx="21714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DM Sans"/>
                <a:ea typeface="DM Sans"/>
                <a:cs typeface="DM Sans"/>
                <a:sym typeface="DM Sans"/>
                <a:hlinkClick r:id="rId22">
                  <a:extLst>
                    <a:ext uri="{A12FA001-AC4F-418D-AE19-62706E023703}">
                      <ahyp:hlinkClr xmlns:ahyp="http://schemas.microsoft.com/office/drawing/2018/hyperlinkcolor" val="tx"/>
                    </a:ext>
                  </a:extLst>
                </a:hlinkClick>
              </a:rPr>
              <a:t>Automation Rules (On / Off)</a:t>
            </a:r>
            <a:endParaRPr sz="900" b="0" i="0" u="none" strike="noStrike" cap="none">
              <a:solidFill>
                <a:srgbClr val="0254EC"/>
              </a:solidFill>
              <a:latin typeface="DM Sans"/>
              <a:ea typeface="DM Sans"/>
              <a:cs typeface="DM Sans"/>
              <a:sym typeface="DM Sans"/>
            </a:endParaRPr>
          </a:p>
        </p:txBody>
      </p:sp>
      <p:sp>
        <p:nvSpPr>
          <p:cNvPr id="582" name="Google Shape;582;p52"/>
          <p:cNvSpPr txBox="1"/>
          <p:nvPr/>
        </p:nvSpPr>
        <p:spPr>
          <a:xfrm>
            <a:off x="3719963" y="3496912"/>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{{F_AR}}</a:t>
            </a:r>
            <a:endParaRPr sz="900" b="1" i="0" u="none" strike="noStrike" cap="none">
              <a:solidFill>
                <a:srgbClr val="333333"/>
              </a:solidFill>
              <a:latin typeface="DM Sans"/>
              <a:ea typeface="DM Sans"/>
              <a:cs typeface="DM Sans"/>
              <a:sym typeface="DM Sans"/>
            </a:endParaRPr>
          </a:p>
        </p:txBody>
      </p:sp>
      <p:sp>
        <p:nvSpPr>
          <p:cNvPr id="583" name="Google Shape;583;p52"/>
          <p:cNvSpPr txBox="1"/>
          <p:nvPr/>
        </p:nvSpPr>
        <p:spPr>
          <a:xfrm>
            <a:off x="5741582" y="2894448"/>
            <a:ext cx="2223600" cy="1797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DM Sans"/>
                <a:ea typeface="DM Sans"/>
                <a:cs typeface="DM Sans"/>
                <a:sym typeface="DM Sans"/>
                <a:hlinkClick r:id="rId23">
                  <a:extLst>
                    <a:ext uri="{A12FA001-AC4F-418D-AE19-62706E023703}">
                      <ahyp:hlinkClr xmlns:ahyp="http://schemas.microsoft.com/office/drawing/2018/hyperlinkcolor" val="tx"/>
                    </a:ext>
                  </a:extLst>
                </a:hlinkClick>
              </a:rPr>
              <a:t>Wiz MCP Users</a:t>
            </a:r>
            <a:endParaRPr sz="900" b="0" i="0" u="none" strike="noStrike" cap="none">
              <a:solidFill>
                <a:srgbClr val="0254EC"/>
              </a:solidFill>
              <a:latin typeface="DM Sans"/>
              <a:ea typeface="DM Sans"/>
              <a:cs typeface="DM Sans"/>
              <a:sym typeface="DM Sans"/>
            </a:endParaRPr>
          </a:p>
        </p:txBody>
      </p:sp>
      <p:sp>
        <p:nvSpPr>
          <p:cNvPr id="584" name="Google Shape;584;p52"/>
          <p:cNvSpPr txBox="1"/>
          <p:nvPr/>
        </p:nvSpPr>
        <p:spPr>
          <a:xfrm>
            <a:off x="7121566" y="2897461"/>
            <a:ext cx="1596300" cy="1797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{{F_WMCP}}</a:t>
            </a:r>
            <a:endParaRPr sz="900" b="1" i="0" u="none" strike="noStrike" cap="none">
              <a:solidFill>
                <a:srgbClr val="333333"/>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pic>
        <p:nvPicPr>
          <p:cNvPr id="590" name="Google Shape;590;p53"/>
          <p:cNvPicPr preferRelativeResize="0"/>
          <p:nvPr/>
        </p:nvPicPr>
        <p:blipFill rotWithShape="1">
          <a:blip r:embed="rId3">
            <a:alphaModFix/>
          </a:blip>
          <a:srcRect/>
          <a:stretch/>
        </p:blipFill>
        <p:spPr>
          <a:xfrm>
            <a:off x="110700" y="514955"/>
            <a:ext cx="4359173" cy="4230574"/>
          </a:xfrm>
          <a:prstGeom prst="rect">
            <a:avLst/>
          </a:prstGeom>
          <a:noFill/>
          <a:ln>
            <a:noFill/>
          </a:ln>
        </p:spPr>
      </p:pic>
      <p:sp>
        <p:nvSpPr>
          <p:cNvPr id="591" name="Google Shape;591;p53"/>
          <p:cNvSpPr txBox="1">
            <a:spLocks noGrp="1"/>
          </p:cNvSpPr>
          <p:nvPr>
            <p:ph type="title" idx="4294967295"/>
          </p:nvPr>
        </p:nvSpPr>
        <p:spPr>
          <a:xfrm>
            <a:off x="150" y="112783"/>
            <a:ext cx="91440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Poppins Light"/>
                <a:ea typeface="Poppins Light"/>
                <a:cs typeface="Poppins Light"/>
                <a:sym typeface="Poppins Light"/>
              </a:rPr>
              <a:t>Preview Hub Availability vs Usage</a:t>
            </a:r>
            <a:endParaRPr sz="2420">
              <a:latin typeface="Poppins Light"/>
              <a:ea typeface="Poppins Light"/>
              <a:cs typeface="Poppins Light"/>
              <a:sym typeface="Poppins Light"/>
            </a:endParaRPr>
          </a:p>
        </p:txBody>
      </p:sp>
      <p:sp>
        <p:nvSpPr>
          <p:cNvPr id="592" name="Google Shape;592;p53"/>
          <p:cNvSpPr txBox="1"/>
          <p:nvPr/>
        </p:nvSpPr>
        <p:spPr>
          <a:xfrm>
            <a:off x="110700" y="583584"/>
            <a:ext cx="4359000" cy="3462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dk2"/>
              </a:buClr>
              <a:buSzPts val="1500"/>
              <a:buFont typeface="Arial"/>
              <a:buNone/>
            </a:pPr>
            <a:r>
              <a:rPr lang="en" sz="1600" b="0" i="0" u="sng" strike="noStrike" cap="none">
                <a:solidFill>
                  <a:srgbClr val="0254EC"/>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Public Future-Billable Previews</a:t>
            </a:r>
            <a:r>
              <a:rPr lang="en" sz="1600" b="0" i="0" u="none" strike="noStrike" cap="none">
                <a:solidFill>
                  <a:srgbClr val="0254EC"/>
                </a:solidFill>
                <a:uFill>
                  <a:noFill/>
                </a:uFill>
                <a:latin typeface="Poppins"/>
                <a:ea typeface="Poppins"/>
                <a:cs typeface="Poppins"/>
                <a:sym typeface="Poppins"/>
                <a:hlinkClick r:id="rId4">
                  <a:extLst>
                    <a:ext uri="{A12FA001-AC4F-418D-AE19-62706E023703}">
                      <ahyp:hlinkClr xmlns:ahyp="http://schemas.microsoft.com/office/drawing/2018/hyperlinkcolor" val="tx"/>
                    </a:ext>
                  </a:extLst>
                </a:hlinkClick>
              </a:rPr>
              <a:t> ↗</a:t>
            </a:r>
            <a:endParaRPr sz="1600" b="0" i="0" u="none" strike="noStrike" cap="none">
              <a:solidFill>
                <a:srgbClr val="0254EC"/>
              </a:solidFill>
              <a:latin typeface="Poppins"/>
              <a:ea typeface="Poppins"/>
              <a:cs typeface="Poppins"/>
              <a:sym typeface="Poppins"/>
            </a:endParaRPr>
          </a:p>
        </p:txBody>
      </p:sp>
      <p:sp>
        <p:nvSpPr>
          <p:cNvPr id="593" name="Google Shape;593;p53"/>
          <p:cNvSpPr/>
          <p:nvPr/>
        </p:nvSpPr>
        <p:spPr>
          <a:xfrm>
            <a:off x="165200" y="983157"/>
            <a:ext cx="4313400" cy="209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A4A4A"/>
              </a:buClr>
              <a:buSzPts val="1100"/>
              <a:buFont typeface="Arial"/>
              <a:buNone/>
            </a:pPr>
            <a:r>
              <a:rPr lang="en" sz="1100" b="0" i="0" u="none" strike="noStrike" cap="none" dirty="0">
                <a:solidFill>
                  <a:srgbClr val="4A4A4A"/>
                </a:solidFill>
                <a:latin typeface="Poppins SemiBold"/>
                <a:ea typeface="Poppins SemiBold"/>
                <a:cs typeface="Poppins SemiBold"/>
                <a:sym typeface="Poppins SemiBold"/>
              </a:rPr>
              <a:t>Advanced License:</a:t>
            </a:r>
            <a:br>
              <a:rPr lang="en" sz="1100" b="0" i="0" u="none" strike="noStrike" cap="none" dirty="0">
                <a:solidFill>
                  <a:srgbClr val="4A4A4A"/>
                </a:solidFill>
                <a:latin typeface="Poppins"/>
                <a:ea typeface="Poppins"/>
                <a:cs typeface="Poppins"/>
                <a:sym typeface="Poppins"/>
              </a:rPr>
            </a:br>
            <a:r>
              <a:rPr lang="en" sz="900" i="0" u="none" strike="noStrike" cap="none" dirty="0">
                <a:solidFill>
                  <a:srgbClr val="4A4A4A"/>
                </a:solidFill>
                <a:latin typeface="Poppins"/>
                <a:ea typeface="Poppins"/>
                <a:cs typeface="Poppins"/>
                <a:sym typeface="Poppins"/>
              </a:rPr>
              <a:t>{{BILLABLE_ADVANCED}}</a:t>
            </a:r>
            <a:br>
              <a:rPr lang="en" sz="1100" b="0" i="0" u="none" strike="noStrike" cap="none" dirty="0">
                <a:solidFill>
                  <a:srgbClr val="4A4A4A"/>
                </a:solidFill>
                <a:latin typeface="Poppins"/>
                <a:ea typeface="Poppins"/>
                <a:cs typeface="Poppins"/>
                <a:sym typeface="Poppins"/>
              </a:rPr>
            </a:br>
            <a:br>
              <a:rPr lang="en" sz="1100" b="0" i="0" u="none" strike="noStrike" cap="none" dirty="0">
                <a:solidFill>
                  <a:srgbClr val="4A4A4A"/>
                </a:solidFill>
                <a:latin typeface="Poppins"/>
                <a:ea typeface="Poppins"/>
                <a:cs typeface="Poppins"/>
                <a:sym typeface="Poppins"/>
              </a:rPr>
            </a:br>
            <a:r>
              <a:rPr lang="en" sz="1100" b="0" i="0" u="none" strike="noStrike" cap="none" dirty="0">
                <a:solidFill>
                  <a:srgbClr val="4A4A4A"/>
                </a:solidFill>
                <a:latin typeface="Poppins SemiBold"/>
                <a:ea typeface="Poppins SemiBold"/>
                <a:cs typeface="Poppins SemiBold"/>
                <a:sym typeface="Poppins SemiBold"/>
              </a:rPr>
              <a:t>Sensor / Defend License:</a:t>
            </a:r>
            <a:br>
              <a:rPr lang="en" sz="1100" b="0" i="0" u="none" strike="noStrike" cap="none" dirty="0">
                <a:solidFill>
                  <a:srgbClr val="4A4A4A"/>
                </a:solidFill>
                <a:latin typeface="Poppins"/>
                <a:ea typeface="Poppins"/>
                <a:cs typeface="Poppins"/>
                <a:sym typeface="Poppins"/>
              </a:rPr>
            </a:br>
            <a:r>
              <a:rPr lang="en" sz="900" b="0" i="0" u="none" strike="noStrike" cap="none" dirty="0">
                <a:solidFill>
                  <a:srgbClr val="4A4A4A"/>
                </a:solidFill>
                <a:latin typeface="Poppins"/>
                <a:ea typeface="Poppins"/>
                <a:cs typeface="Poppins"/>
                <a:sym typeface="Poppins"/>
              </a:rPr>
              <a:t>{{BILLABLE_SENSOR}}</a:t>
            </a:r>
            <a:br>
              <a:rPr lang="en" sz="900" b="0" i="0" u="none" strike="noStrike" cap="none" dirty="0">
                <a:solidFill>
                  <a:srgbClr val="4A4A4A"/>
                </a:solidFill>
                <a:latin typeface="Poppins"/>
                <a:ea typeface="Poppins"/>
                <a:cs typeface="Poppins"/>
                <a:sym typeface="Poppins"/>
              </a:rPr>
            </a:br>
            <a:r>
              <a:rPr lang="en" sz="900" b="0" i="0" u="none" strike="noStrike" cap="none" dirty="0">
                <a:solidFill>
                  <a:srgbClr val="4A4A4A"/>
                </a:solidFill>
                <a:latin typeface="Poppins"/>
                <a:ea typeface="Poppins"/>
                <a:cs typeface="Poppins"/>
                <a:sym typeface="Poppins"/>
              </a:rPr>
              <a:t>{{BILLABLE_DEFEND}}</a:t>
            </a:r>
            <a:endParaRPr sz="900" b="0" i="0" u="none" strike="noStrike" cap="none" dirty="0">
              <a:solidFill>
                <a:srgbClr val="4A4A4A"/>
              </a:solidFill>
              <a:latin typeface="Poppins"/>
              <a:ea typeface="Poppins"/>
              <a:cs typeface="Poppins"/>
              <a:sym typeface="Poppins"/>
            </a:endParaRPr>
          </a:p>
          <a:p>
            <a:pPr marL="0" marR="0" lvl="0" indent="0" algn="l" rtl="0">
              <a:lnSpc>
                <a:spcPct val="100000"/>
              </a:lnSpc>
              <a:spcBef>
                <a:spcPts val="0"/>
              </a:spcBef>
              <a:spcAft>
                <a:spcPts val="0"/>
              </a:spcAft>
              <a:buClr>
                <a:srgbClr val="4A4A4A"/>
              </a:buClr>
              <a:buSzPts val="1100"/>
              <a:buFont typeface="Arial"/>
              <a:buNone/>
            </a:pPr>
            <a:endParaRPr sz="1100" b="0" i="0" u="none" strike="noStrike" cap="none" dirty="0">
              <a:solidFill>
                <a:srgbClr val="4A4A4A"/>
              </a:solidFill>
              <a:latin typeface="Poppins"/>
              <a:ea typeface="Poppins"/>
              <a:cs typeface="Poppins"/>
              <a:sym typeface="Poppins"/>
            </a:endParaRPr>
          </a:p>
          <a:p>
            <a:pPr marL="0" marR="0" lvl="0" indent="0" algn="l" rtl="0">
              <a:lnSpc>
                <a:spcPct val="100000"/>
              </a:lnSpc>
              <a:spcBef>
                <a:spcPts val="0"/>
              </a:spcBef>
              <a:spcAft>
                <a:spcPts val="0"/>
              </a:spcAft>
              <a:buClr>
                <a:srgbClr val="4A4A4A"/>
              </a:buClr>
              <a:buSzPts val="1100"/>
              <a:buFont typeface="Arial"/>
              <a:buNone/>
            </a:pPr>
            <a:r>
              <a:rPr lang="en" sz="1100" b="0" i="0" u="none" strike="noStrike" cap="none" dirty="0">
                <a:solidFill>
                  <a:srgbClr val="4A4A4A"/>
                </a:solidFill>
                <a:latin typeface="Poppins SemiBold"/>
                <a:ea typeface="Poppins SemiBold"/>
                <a:cs typeface="Poppins SemiBold"/>
                <a:sym typeface="Poppins SemiBold"/>
              </a:rPr>
              <a:t>Wiz Code License:</a:t>
            </a:r>
            <a:br>
              <a:rPr lang="en" sz="1100" b="0" i="0" u="none" strike="noStrike" cap="none" dirty="0">
                <a:solidFill>
                  <a:srgbClr val="4A4A4A"/>
                </a:solidFill>
                <a:latin typeface="Poppins"/>
                <a:ea typeface="Poppins"/>
                <a:cs typeface="Poppins"/>
                <a:sym typeface="Poppins"/>
              </a:rPr>
            </a:br>
            <a:r>
              <a:rPr lang="en" sz="900" b="0" i="0" u="none" strike="noStrike" cap="none" dirty="0">
                <a:solidFill>
                  <a:srgbClr val="4A4A4A"/>
                </a:solidFill>
                <a:latin typeface="Poppins"/>
                <a:ea typeface="Poppins"/>
                <a:cs typeface="Poppins"/>
                <a:sym typeface="Poppins"/>
              </a:rPr>
              <a:t>{{BILLABLE_CODE}}</a:t>
            </a:r>
            <a:endParaRPr sz="900" b="0" i="0" u="none" strike="noStrike" cap="none" dirty="0">
              <a:solidFill>
                <a:srgbClr val="4A4A4A"/>
              </a:solidFill>
              <a:latin typeface="Poppins"/>
              <a:ea typeface="Poppins"/>
              <a:cs typeface="Poppins"/>
              <a:sym typeface="Poppins"/>
            </a:endParaRPr>
          </a:p>
        </p:txBody>
      </p:sp>
      <p:pic>
        <p:nvPicPr>
          <p:cNvPr id="594" name="Google Shape;594;p53"/>
          <p:cNvPicPr preferRelativeResize="0"/>
          <p:nvPr/>
        </p:nvPicPr>
        <p:blipFill rotWithShape="1">
          <a:blip r:embed="rId3">
            <a:alphaModFix/>
          </a:blip>
          <a:srcRect/>
          <a:stretch/>
        </p:blipFill>
        <p:spPr>
          <a:xfrm>
            <a:off x="4636225" y="519525"/>
            <a:ext cx="4359173" cy="4230574"/>
          </a:xfrm>
          <a:prstGeom prst="rect">
            <a:avLst/>
          </a:prstGeom>
          <a:noFill/>
          <a:ln>
            <a:noFill/>
          </a:ln>
        </p:spPr>
      </p:pic>
      <p:sp>
        <p:nvSpPr>
          <p:cNvPr id="595" name="Google Shape;595;p53"/>
          <p:cNvSpPr txBox="1"/>
          <p:nvPr/>
        </p:nvSpPr>
        <p:spPr>
          <a:xfrm>
            <a:off x="4636222" y="584617"/>
            <a:ext cx="4359000" cy="3579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dk2"/>
              </a:buClr>
              <a:buSzPts val="1500"/>
              <a:buFont typeface="Arial"/>
              <a:buNone/>
            </a:pPr>
            <a:r>
              <a:rPr lang="en" sz="1600" b="0" i="0" u="sng" strike="noStrike" cap="none">
                <a:solidFill>
                  <a:srgbClr val="0254EC"/>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Public Non-Billable Previews</a:t>
            </a:r>
            <a:r>
              <a:rPr lang="en" sz="1600" b="0" i="0" u="none" strike="noStrike" cap="none">
                <a:solidFill>
                  <a:srgbClr val="0254EC"/>
                </a:solidFill>
                <a:uFill>
                  <a:noFill/>
                </a:uFill>
                <a:latin typeface="Poppins"/>
                <a:ea typeface="Poppins"/>
                <a:cs typeface="Poppins"/>
                <a:sym typeface="Poppins"/>
                <a:hlinkClick r:id="rId4">
                  <a:extLst>
                    <a:ext uri="{A12FA001-AC4F-418D-AE19-62706E023703}">
                      <ahyp:hlinkClr xmlns:ahyp="http://schemas.microsoft.com/office/drawing/2018/hyperlinkcolor" val="tx"/>
                    </a:ext>
                  </a:extLst>
                </a:hlinkClick>
              </a:rPr>
              <a:t> ↗</a:t>
            </a:r>
            <a:endParaRPr sz="1600" b="0" i="0" u="none" strike="noStrike" cap="none">
              <a:solidFill>
                <a:srgbClr val="0254EC"/>
              </a:solidFill>
              <a:latin typeface="Poppins"/>
              <a:ea typeface="Poppins"/>
              <a:cs typeface="Poppins"/>
              <a:sym typeface="Poppins"/>
            </a:endParaRPr>
          </a:p>
        </p:txBody>
      </p:sp>
      <p:sp>
        <p:nvSpPr>
          <p:cNvPr id="596" name="Google Shape;596;p53"/>
          <p:cNvSpPr/>
          <p:nvPr/>
        </p:nvSpPr>
        <p:spPr>
          <a:xfrm>
            <a:off x="4690701" y="997376"/>
            <a:ext cx="4313400" cy="2213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A4A4A"/>
              </a:buClr>
              <a:buSzPts val="1100"/>
              <a:buFont typeface="Arial"/>
              <a:buNone/>
            </a:pPr>
            <a:r>
              <a:rPr lang="en" sz="900" b="0" i="0" u="none" strike="noStrike" cap="none" dirty="0">
                <a:solidFill>
                  <a:srgbClr val="4A4A4A"/>
                </a:solidFill>
                <a:latin typeface="Poppins"/>
                <a:ea typeface="Poppins"/>
                <a:cs typeface="Poppins"/>
                <a:sym typeface="Poppins"/>
              </a:rPr>
              <a:t>{{ALL_NON_BILLABLE_PREVIEW}}</a:t>
            </a:r>
            <a:br>
              <a:rPr lang="en" sz="1000" b="0" i="0" u="none" strike="noStrike" cap="none" dirty="0">
                <a:solidFill>
                  <a:srgbClr val="4A4A4A"/>
                </a:solidFill>
                <a:latin typeface="Poppins"/>
                <a:ea typeface="Poppins"/>
                <a:cs typeface="Poppins"/>
                <a:sym typeface="Poppins"/>
              </a:rPr>
            </a:br>
            <a:endParaRPr sz="1000" b="0" i="0" u="none" strike="noStrike" cap="none" dirty="0">
              <a:solidFill>
                <a:srgbClr val="4A4A4A"/>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pic>
        <p:nvPicPr>
          <p:cNvPr id="602" name="Google Shape;602;p54"/>
          <p:cNvPicPr preferRelativeResize="0"/>
          <p:nvPr/>
        </p:nvPicPr>
        <p:blipFill rotWithShape="1">
          <a:blip r:embed="rId3">
            <a:alphaModFix/>
          </a:blip>
          <a:srcRect/>
          <a:stretch/>
        </p:blipFill>
        <p:spPr>
          <a:xfrm>
            <a:off x="110700" y="514953"/>
            <a:ext cx="4359173" cy="3657923"/>
          </a:xfrm>
          <a:prstGeom prst="rect">
            <a:avLst/>
          </a:prstGeom>
          <a:noFill/>
          <a:ln>
            <a:noFill/>
          </a:ln>
        </p:spPr>
      </p:pic>
      <p:sp>
        <p:nvSpPr>
          <p:cNvPr id="603" name="Google Shape;603;p54"/>
          <p:cNvSpPr txBox="1">
            <a:spLocks noGrp="1"/>
          </p:cNvSpPr>
          <p:nvPr>
            <p:ph type="title" idx="4294967295"/>
          </p:nvPr>
        </p:nvSpPr>
        <p:spPr>
          <a:xfrm>
            <a:off x="150" y="112783"/>
            <a:ext cx="91440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Poppins Light"/>
                <a:ea typeface="Poppins Light"/>
                <a:cs typeface="Poppins Light"/>
                <a:sym typeface="Poppins Light"/>
              </a:rPr>
              <a:t>Preview Hub Availability vs Usage</a:t>
            </a:r>
            <a:endParaRPr sz="2420">
              <a:latin typeface="Poppins Light"/>
              <a:ea typeface="Poppins Light"/>
              <a:cs typeface="Poppins Light"/>
              <a:sym typeface="Poppins Light"/>
            </a:endParaRPr>
          </a:p>
        </p:txBody>
      </p:sp>
      <p:sp>
        <p:nvSpPr>
          <p:cNvPr id="604" name="Google Shape;604;p54"/>
          <p:cNvSpPr txBox="1"/>
          <p:nvPr/>
        </p:nvSpPr>
        <p:spPr>
          <a:xfrm>
            <a:off x="110700" y="573172"/>
            <a:ext cx="4359000" cy="3462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dk2"/>
              </a:buClr>
              <a:buSzPts val="1500"/>
              <a:buFont typeface="Arial"/>
              <a:buNone/>
            </a:pPr>
            <a:r>
              <a:rPr lang="en" sz="1600" b="0" i="0" u="sng" strike="noStrike" cap="none">
                <a:solidFill>
                  <a:srgbClr val="0254EC"/>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Private Future-Billable Previews</a:t>
            </a:r>
            <a:r>
              <a:rPr lang="en" sz="1600" b="0" i="0" u="none" strike="noStrike" cap="none">
                <a:solidFill>
                  <a:srgbClr val="0254EC"/>
                </a:solidFill>
                <a:uFill>
                  <a:noFill/>
                </a:uFill>
                <a:latin typeface="Poppins"/>
                <a:ea typeface="Poppins"/>
                <a:cs typeface="Poppins"/>
                <a:sym typeface="Poppins"/>
                <a:hlinkClick r:id="rId4">
                  <a:extLst>
                    <a:ext uri="{A12FA001-AC4F-418D-AE19-62706E023703}">
                      <ahyp:hlinkClr xmlns:ahyp="http://schemas.microsoft.com/office/drawing/2018/hyperlinkcolor" val="tx"/>
                    </a:ext>
                  </a:extLst>
                </a:hlinkClick>
              </a:rPr>
              <a:t> ↗</a:t>
            </a:r>
            <a:endParaRPr sz="1600" b="0" i="0" u="none" strike="noStrike" cap="none">
              <a:solidFill>
                <a:srgbClr val="0254EC"/>
              </a:solidFill>
              <a:latin typeface="Poppins"/>
              <a:ea typeface="Poppins"/>
              <a:cs typeface="Poppins"/>
              <a:sym typeface="Poppins"/>
            </a:endParaRPr>
          </a:p>
        </p:txBody>
      </p:sp>
      <p:sp>
        <p:nvSpPr>
          <p:cNvPr id="605" name="Google Shape;605;p54"/>
          <p:cNvSpPr/>
          <p:nvPr/>
        </p:nvSpPr>
        <p:spPr>
          <a:xfrm>
            <a:off x="165200" y="979468"/>
            <a:ext cx="4313400" cy="212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A4A4A"/>
              </a:buClr>
              <a:buSzPts val="1100"/>
              <a:buFont typeface="Arial"/>
              <a:buNone/>
            </a:pPr>
            <a:r>
              <a:rPr lang="en" sz="1000" b="0" i="0" u="none" strike="noStrike" cap="none">
                <a:solidFill>
                  <a:srgbClr val="4A4A4A"/>
                </a:solidFill>
                <a:latin typeface="Poppins"/>
                <a:ea typeface="Poppins"/>
                <a:cs typeface="Poppins"/>
                <a:sym typeface="Poppins"/>
              </a:rPr>
              <a:t>{{PRIVATE_BILLABLE}}</a:t>
            </a:r>
            <a:endParaRPr sz="1000" b="0" i="0" u="none" strike="noStrike" cap="none">
              <a:solidFill>
                <a:srgbClr val="4A4A4A"/>
              </a:solidFill>
              <a:latin typeface="Poppins"/>
              <a:ea typeface="Poppins"/>
              <a:cs typeface="Poppins"/>
              <a:sym typeface="Poppins"/>
            </a:endParaRPr>
          </a:p>
          <a:p>
            <a:pPr marL="0" marR="0" lvl="0" indent="0" algn="l" rtl="0">
              <a:lnSpc>
                <a:spcPct val="100000"/>
              </a:lnSpc>
              <a:spcBef>
                <a:spcPts val="0"/>
              </a:spcBef>
              <a:spcAft>
                <a:spcPts val="0"/>
              </a:spcAft>
              <a:buClr>
                <a:srgbClr val="4A4A4A"/>
              </a:buClr>
              <a:buSzPts val="1100"/>
              <a:buFont typeface="Arial"/>
              <a:buNone/>
            </a:pPr>
            <a:endParaRPr sz="1200" b="0" i="0" u="none" strike="noStrike" cap="none">
              <a:solidFill>
                <a:srgbClr val="4A4A4A"/>
              </a:solidFill>
              <a:latin typeface="Poppins SemiBold"/>
              <a:ea typeface="Poppins SemiBold"/>
              <a:cs typeface="Poppins SemiBold"/>
              <a:sym typeface="Poppins SemiBold"/>
            </a:endParaRPr>
          </a:p>
        </p:txBody>
      </p:sp>
      <p:pic>
        <p:nvPicPr>
          <p:cNvPr id="606" name="Google Shape;606;p54"/>
          <p:cNvPicPr preferRelativeResize="0"/>
          <p:nvPr/>
        </p:nvPicPr>
        <p:blipFill rotWithShape="1">
          <a:blip r:embed="rId3">
            <a:alphaModFix/>
          </a:blip>
          <a:srcRect/>
          <a:stretch/>
        </p:blipFill>
        <p:spPr>
          <a:xfrm>
            <a:off x="4636225" y="519525"/>
            <a:ext cx="4359173" cy="3657923"/>
          </a:xfrm>
          <a:prstGeom prst="rect">
            <a:avLst/>
          </a:prstGeom>
          <a:noFill/>
          <a:ln>
            <a:noFill/>
          </a:ln>
        </p:spPr>
      </p:pic>
      <p:sp>
        <p:nvSpPr>
          <p:cNvPr id="607" name="Google Shape;607;p54"/>
          <p:cNvSpPr txBox="1"/>
          <p:nvPr/>
        </p:nvSpPr>
        <p:spPr>
          <a:xfrm>
            <a:off x="4636222" y="574205"/>
            <a:ext cx="4359000" cy="3579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dk2"/>
              </a:buClr>
              <a:buSzPts val="1500"/>
              <a:buFont typeface="Arial"/>
              <a:buNone/>
            </a:pPr>
            <a:r>
              <a:rPr lang="en" sz="1600" b="0" i="0" u="sng" strike="noStrike" cap="none">
                <a:solidFill>
                  <a:srgbClr val="0254EC"/>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Private Non-Billable Previews</a:t>
            </a:r>
            <a:r>
              <a:rPr lang="en" sz="1600" b="0" i="0" u="none" strike="noStrike" cap="none">
                <a:solidFill>
                  <a:srgbClr val="0254EC"/>
                </a:solidFill>
                <a:uFill>
                  <a:noFill/>
                </a:uFill>
                <a:latin typeface="Poppins"/>
                <a:ea typeface="Poppins"/>
                <a:cs typeface="Poppins"/>
                <a:sym typeface="Poppins"/>
                <a:hlinkClick r:id="rId4">
                  <a:extLst>
                    <a:ext uri="{A12FA001-AC4F-418D-AE19-62706E023703}">
                      <ahyp:hlinkClr xmlns:ahyp="http://schemas.microsoft.com/office/drawing/2018/hyperlinkcolor" val="tx"/>
                    </a:ext>
                  </a:extLst>
                </a:hlinkClick>
              </a:rPr>
              <a:t> ↗</a:t>
            </a:r>
            <a:endParaRPr sz="1600" b="0" i="0" u="none" strike="noStrike" cap="none">
              <a:solidFill>
                <a:srgbClr val="0254EC"/>
              </a:solidFill>
              <a:latin typeface="Poppins"/>
              <a:ea typeface="Poppins"/>
              <a:cs typeface="Poppins"/>
              <a:sym typeface="Poppins"/>
            </a:endParaRPr>
          </a:p>
        </p:txBody>
      </p:sp>
      <p:sp>
        <p:nvSpPr>
          <p:cNvPr id="608" name="Google Shape;608;p54"/>
          <p:cNvSpPr/>
          <p:nvPr/>
        </p:nvSpPr>
        <p:spPr>
          <a:xfrm>
            <a:off x="4690701" y="972864"/>
            <a:ext cx="4313400" cy="2213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A4A4A"/>
              </a:buClr>
              <a:buSzPts val="1100"/>
              <a:buFont typeface="Arial"/>
              <a:buNone/>
            </a:pPr>
            <a:r>
              <a:rPr lang="en" sz="1000" b="0" i="0" u="none" strike="noStrike" cap="none">
                <a:solidFill>
                  <a:srgbClr val="4A4A4A"/>
                </a:solidFill>
                <a:latin typeface="Poppins"/>
                <a:ea typeface="Poppins"/>
                <a:cs typeface="Poppins"/>
                <a:sym typeface="Poppins"/>
              </a:rPr>
              <a:t>{{PRIVATE_NON_BILLABLE}}</a:t>
            </a:r>
            <a:endParaRPr sz="1000" b="0" i="0" u="none" strike="noStrike" cap="none">
              <a:solidFill>
                <a:srgbClr val="4A4A4A"/>
              </a:solidFill>
              <a:latin typeface="Poppins"/>
              <a:ea typeface="Poppins"/>
              <a:cs typeface="Poppins"/>
              <a:sym typeface="Poppins"/>
            </a:endParaRPr>
          </a:p>
          <a:p>
            <a:pPr marL="0" marR="0" lvl="0" indent="0" algn="l" rtl="0">
              <a:lnSpc>
                <a:spcPct val="100000"/>
              </a:lnSpc>
              <a:spcBef>
                <a:spcPts val="0"/>
              </a:spcBef>
              <a:spcAft>
                <a:spcPts val="0"/>
              </a:spcAft>
              <a:buClr>
                <a:srgbClr val="4A4A4A"/>
              </a:buClr>
              <a:buSzPts val="1100"/>
              <a:buFont typeface="Arial"/>
              <a:buNone/>
            </a:pPr>
            <a:endParaRPr sz="1000" b="0" i="0" u="none" strike="noStrike" cap="none">
              <a:solidFill>
                <a:srgbClr val="4A4A4A"/>
              </a:solidFill>
              <a:latin typeface="Poppins"/>
              <a:ea typeface="Poppins"/>
              <a:cs typeface="Poppins"/>
              <a:sym typeface="Poppins"/>
            </a:endParaRPr>
          </a:p>
        </p:txBody>
      </p:sp>
      <p:sp>
        <p:nvSpPr>
          <p:cNvPr id="609" name="Google Shape;609;p54"/>
          <p:cNvSpPr txBox="1"/>
          <p:nvPr/>
        </p:nvSpPr>
        <p:spPr>
          <a:xfrm>
            <a:off x="-100" y="4435475"/>
            <a:ext cx="9144000" cy="1899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dk2"/>
              </a:buClr>
              <a:buSzPts val="1500"/>
              <a:buFont typeface="Arial"/>
              <a:buNone/>
            </a:pPr>
            <a:r>
              <a:rPr lang="en" sz="1100" b="1" i="0" u="none" strike="noStrike" cap="none">
                <a:solidFill>
                  <a:schemeClr val="dk1"/>
                </a:solidFill>
                <a:latin typeface="Poppins"/>
                <a:ea typeface="Poppins"/>
                <a:cs typeface="Poppins"/>
                <a:sym typeface="Poppins"/>
              </a:rPr>
              <a:t>**Private Features are typically only available upon request and approval</a:t>
            </a:r>
            <a:endParaRPr sz="1100" b="1"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pic>
        <p:nvPicPr>
          <p:cNvPr id="615" name="Google Shape;615;p55"/>
          <p:cNvPicPr preferRelativeResize="0"/>
          <p:nvPr/>
        </p:nvPicPr>
        <p:blipFill rotWithShape="1">
          <a:blip r:embed="rId3">
            <a:alphaModFix/>
          </a:blip>
          <a:srcRect/>
          <a:stretch/>
        </p:blipFill>
        <p:spPr>
          <a:xfrm>
            <a:off x="329350" y="1194925"/>
            <a:ext cx="8466125" cy="3904599"/>
          </a:xfrm>
          <a:prstGeom prst="rect">
            <a:avLst/>
          </a:prstGeom>
          <a:noFill/>
          <a:ln>
            <a:noFill/>
          </a:ln>
        </p:spPr>
      </p:pic>
      <p:sp>
        <p:nvSpPr>
          <p:cNvPr id="616" name="Google Shape;616;p55"/>
          <p:cNvSpPr txBox="1">
            <a:spLocks noGrp="1"/>
          </p:cNvSpPr>
          <p:nvPr>
            <p:ph type="title" idx="4294967295"/>
          </p:nvPr>
        </p:nvSpPr>
        <p:spPr>
          <a:xfrm>
            <a:off x="150" y="112783"/>
            <a:ext cx="91440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Poppins Light"/>
                <a:ea typeface="Poppins Light"/>
                <a:cs typeface="Poppins Light"/>
                <a:sym typeface="Poppins Light"/>
              </a:rPr>
              <a:t>Roadmap Tracker Usage</a:t>
            </a:r>
            <a:endParaRPr sz="2420">
              <a:latin typeface="Poppins Light"/>
              <a:ea typeface="Poppins Light"/>
              <a:cs typeface="Poppins Light"/>
              <a:sym typeface="Poppins Light"/>
            </a:endParaRPr>
          </a:p>
        </p:txBody>
      </p:sp>
      <p:sp>
        <p:nvSpPr>
          <p:cNvPr id="617" name="Google Shape;617;p55"/>
          <p:cNvSpPr txBox="1"/>
          <p:nvPr/>
        </p:nvSpPr>
        <p:spPr>
          <a:xfrm>
            <a:off x="318475" y="1210557"/>
            <a:ext cx="8465700" cy="3756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dk2"/>
              </a:buClr>
              <a:buSzPts val="1500"/>
              <a:buFont typeface="Arial"/>
              <a:buNone/>
            </a:pPr>
            <a:r>
              <a:rPr lang="en" sz="1800" b="0" i="0" u="sng" strike="noStrike" cap="none">
                <a:solidFill>
                  <a:srgbClr val="0254EC"/>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Tracked Roadmap Items</a:t>
            </a:r>
            <a:r>
              <a:rPr lang="en" sz="1800" b="0" i="0" u="none" strike="noStrike" cap="none">
                <a:solidFill>
                  <a:srgbClr val="0254EC"/>
                </a:solidFill>
                <a:uFill>
                  <a:noFill/>
                </a:uFill>
                <a:latin typeface="Poppins"/>
                <a:ea typeface="Poppins"/>
                <a:cs typeface="Poppins"/>
                <a:sym typeface="Poppins"/>
                <a:hlinkClick r:id="rId4">
                  <a:extLst>
                    <a:ext uri="{A12FA001-AC4F-418D-AE19-62706E023703}">
                      <ahyp:hlinkClr xmlns:ahyp="http://schemas.microsoft.com/office/drawing/2018/hyperlinkcolor" val="tx"/>
                    </a:ext>
                  </a:extLst>
                </a:hlinkClick>
              </a:rPr>
              <a:t> ↗</a:t>
            </a:r>
            <a:endParaRPr sz="1800" b="0" i="0" u="none" strike="noStrike" cap="none">
              <a:solidFill>
                <a:srgbClr val="0254EC"/>
              </a:solidFill>
              <a:latin typeface="Poppins"/>
              <a:ea typeface="Poppins"/>
              <a:cs typeface="Poppins"/>
              <a:sym typeface="Poppins"/>
            </a:endParaRPr>
          </a:p>
        </p:txBody>
      </p:sp>
      <p:sp>
        <p:nvSpPr>
          <p:cNvPr id="618" name="Google Shape;618;p55"/>
          <p:cNvSpPr/>
          <p:nvPr/>
        </p:nvSpPr>
        <p:spPr>
          <a:xfrm>
            <a:off x="435197" y="1658861"/>
            <a:ext cx="8377200" cy="2010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A4A4A"/>
              </a:buClr>
              <a:buSzPts val="1100"/>
              <a:buFont typeface="Arial"/>
              <a:buNone/>
            </a:pPr>
            <a:r>
              <a:rPr lang="en" sz="1100" b="0" i="0" u="none" strike="noStrike" cap="none">
                <a:solidFill>
                  <a:srgbClr val="4A4A4A"/>
                </a:solidFill>
                <a:latin typeface="Poppins Light"/>
                <a:ea typeface="Poppins Light"/>
                <a:cs typeface="Poppins Light"/>
                <a:sym typeface="Poppins Light"/>
              </a:rPr>
              <a:t>{{ROADMAP_TRACKER}}</a:t>
            </a:r>
            <a:endParaRPr sz="1100" b="0" i="0" u="none" strike="noStrike" cap="none">
              <a:solidFill>
                <a:srgbClr val="4A4A4A"/>
              </a:solidFill>
              <a:latin typeface="Poppins Light"/>
              <a:ea typeface="Poppins Light"/>
              <a:cs typeface="Poppins Light"/>
              <a:sym typeface="Poppins Light"/>
            </a:endParaRPr>
          </a:p>
          <a:p>
            <a:pPr marL="0" marR="0" lvl="0" indent="0" algn="l" rtl="0">
              <a:lnSpc>
                <a:spcPct val="100000"/>
              </a:lnSpc>
              <a:spcBef>
                <a:spcPts val="0"/>
              </a:spcBef>
              <a:spcAft>
                <a:spcPts val="0"/>
              </a:spcAft>
              <a:buClr>
                <a:srgbClr val="4A4A4A"/>
              </a:buClr>
              <a:buSzPts val="1100"/>
              <a:buFont typeface="Arial"/>
              <a:buNone/>
            </a:pPr>
            <a:endParaRPr sz="1300" b="0" i="0" u="none" strike="noStrike" cap="none">
              <a:solidFill>
                <a:srgbClr val="4A4A4A"/>
              </a:solidFill>
              <a:latin typeface="Poppins Light"/>
              <a:ea typeface="Poppins Light"/>
              <a:cs typeface="Poppins Light"/>
              <a:sym typeface="Poppins Light"/>
            </a:endParaRPr>
          </a:p>
        </p:txBody>
      </p:sp>
      <p:sp>
        <p:nvSpPr>
          <p:cNvPr id="619" name="Google Shape;619;p55"/>
          <p:cNvSpPr txBox="1"/>
          <p:nvPr/>
        </p:nvSpPr>
        <p:spPr>
          <a:xfrm>
            <a:off x="150" y="498025"/>
            <a:ext cx="9144000" cy="696900"/>
          </a:xfrm>
          <a:prstGeom prst="rect">
            <a:avLst/>
          </a:prstGeom>
          <a:noFill/>
          <a:ln>
            <a:noFill/>
          </a:ln>
        </p:spPr>
        <p:txBody>
          <a:bodyPr spcFirstLastPara="1" wrap="square" lIns="68575" tIns="34275" rIns="68575" bIns="34275" anchor="t" anchorCtr="0">
            <a:noAutofit/>
          </a:bodyPr>
          <a:lstStyle/>
          <a:p>
            <a:pPr marL="0" marR="0" lvl="0" indent="0" algn="ctr" rtl="0">
              <a:lnSpc>
                <a:spcPct val="115000"/>
              </a:lnSpc>
              <a:spcBef>
                <a:spcPts val="0"/>
              </a:spcBef>
              <a:spcAft>
                <a:spcPts val="0"/>
              </a:spcAft>
              <a:buClr>
                <a:schemeClr val="dk1"/>
              </a:buClr>
              <a:buSzPts val="1100"/>
              <a:buFont typeface="Arial"/>
              <a:buNone/>
            </a:pPr>
            <a:r>
              <a:rPr lang="en" sz="800" b="0" i="0" u="none" strike="noStrike" cap="none">
                <a:solidFill>
                  <a:srgbClr val="60646C"/>
                </a:solidFill>
                <a:latin typeface="Poppins"/>
                <a:ea typeface="Poppins"/>
                <a:cs typeface="Poppins"/>
                <a:sym typeface="Poppins"/>
              </a:rPr>
              <a:t>Discover, track, and monitor roadmap features. All quarters listed refer to the calendar year, and represent Wiz goals,  meaning some features will be pushed to later quarters. Also, the quarters listed may reflect when features become available to preview, with general availability (GA) following. Some support tiers allow you to track up to 20 non-highlight features, of which 5 can be marked high priority. Product managers review the most popular features when deciding what to work on next, so your votes really count. Features remain trackable until one quarter after release. Some features may not have a timeline. A planned timeline is added once available.</a:t>
            </a:r>
            <a:endParaRPr sz="800" b="0" i="0" u="none" strike="noStrike" cap="none">
              <a:solidFill>
                <a:srgbClr val="60646C"/>
              </a:solidFill>
              <a:latin typeface="Poppins"/>
              <a:ea typeface="Poppins"/>
              <a:cs typeface="Poppins"/>
              <a:sym typeface="Poppins"/>
            </a:endParaRPr>
          </a:p>
          <a:p>
            <a:pPr marL="0" marR="0" lvl="0" indent="0" algn="ctr" rtl="0">
              <a:lnSpc>
                <a:spcPct val="90000"/>
              </a:lnSpc>
              <a:spcBef>
                <a:spcPts val="600"/>
              </a:spcBef>
              <a:spcAft>
                <a:spcPts val="0"/>
              </a:spcAft>
              <a:buClr>
                <a:schemeClr val="dk2"/>
              </a:buClr>
              <a:buSzPts val="1500"/>
              <a:buFont typeface="Arial"/>
              <a:buNone/>
            </a:pPr>
            <a:endParaRPr sz="800" b="0" i="0" u="none" strike="noStrike" cap="none">
              <a:solidFill>
                <a:schemeClr val="dk1"/>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56"/>
          <p:cNvSpPr txBox="1"/>
          <p:nvPr/>
        </p:nvSpPr>
        <p:spPr>
          <a:xfrm>
            <a:off x="468449" y="2215800"/>
            <a:ext cx="3273600" cy="9003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700" b="0" i="0" u="none" strike="noStrike" cap="none">
                <a:solidFill>
                  <a:schemeClr val="lt1"/>
                </a:solidFill>
                <a:latin typeface="Poppins"/>
                <a:ea typeface="Poppins"/>
                <a:cs typeface="Poppins"/>
                <a:sym typeface="Poppins"/>
              </a:rPr>
              <a:t>Reducing Critical Risk and Beyond</a:t>
            </a:r>
            <a:endParaRPr sz="2700" b="0" i="0" u="none" strike="noStrike" cap="none">
              <a:solidFill>
                <a:schemeClr val="lt1"/>
              </a:solidFill>
              <a:latin typeface="Poppins"/>
              <a:ea typeface="Poppins"/>
              <a:cs typeface="Poppins"/>
              <a:sym typeface="Poppins"/>
            </a:endParaRPr>
          </a:p>
        </p:txBody>
      </p:sp>
      <p:pic>
        <p:nvPicPr>
          <p:cNvPr id="626" name="Google Shape;626;p56" title="opening_photo.png"/>
          <p:cNvPicPr preferRelativeResize="0"/>
          <p:nvPr/>
        </p:nvPicPr>
        <p:blipFill rotWithShape="1">
          <a:blip r:embed="rId3">
            <a:alphaModFix/>
          </a:blip>
          <a:srcRect/>
          <a:stretch/>
        </p:blipFill>
        <p:spPr>
          <a:xfrm>
            <a:off x="4256533" y="1409675"/>
            <a:ext cx="4306800" cy="2143875"/>
          </a:xfrm>
          <a:prstGeom prst="rect">
            <a:avLst/>
          </a:prstGeom>
          <a:noFill/>
          <a:ln>
            <a:noFill/>
          </a:ln>
        </p:spPr>
      </p:pic>
      <p:pic>
        <p:nvPicPr>
          <p:cNvPr id="627" name="Google Shape;627;p56" title="cloud.png"/>
          <p:cNvPicPr preferRelativeResize="0"/>
          <p:nvPr/>
        </p:nvPicPr>
        <p:blipFill rotWithShape="1">
          <a:blip r:embed="rId4">
            <a:alphaModFix/>
          </a:blip>
          <a:srcRect/>
          <a:stretch/>
        </p:blipFill>
        <p:spPr>
          <a:xfrm>
            <a:off x="6699300" y="3318246"/>
            <a:ext cx="2444700" cy="1825254"/>
          </a:xfrm>
          <a:prstGeom prst="rect">
            <a:avLst/>
          </a:prstGeom>
          <a:noFill/>
          <a:ln>
            <a:noFill/>
          </a:ln>
        </p:spPr>
      </p:pic>
      <p:pic>
        <p:nvPicPr>
          <p:cNvPr id="628" name="Google Shape;628;p56" title="logo.png"/>
          <p:cNvPicPr preferRelativeResize="0"/>
          <p:nvPr/>
        </p:nvPicPr>
        <p:blipFill rotWithShape="1">
          <a:blip r:embed="rId5">
            <a:alphaModFix/>
          </a:blip>
          <a:srcRect/>
          <a:stretch/>
        </p:blipFill>
        <p:spPr>
          <a:xfrm>
            <a:off x="553277" y="1726800"/>
            <a:ext cx="637001" cy="304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57"/>
          <p:cNvSpPr txBox="1"/>
          <p:nvPr/>
        </p:nvSpPr>
        <p:spPr>
          <a:xfrm>
            <a:off x="6799450" y="3138000"/>
            <a:ext cx="2010300" cy="2018161"/>
          </a:xfrm>
          <a:prstGeom prst="rect">
            <a:avLst/>
          </a:prstGeom>
          <a:gradFill>
            <a:gsLst>
              <a:gs pos="0">
                <a:srgbClr val="FFE0FF">
                  <a:alpha val="50196"/>
                </a:srgbClr>
              </a:gs>
              <a:gs pos="100000">
                <a:schemeClr val="lt1"/>
              </a:gs>
            </a:gsLst>
            <a:lin ang="5400012" scaled="0"/>
          </a:gra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Medium"/>
              <a:ea typeface="DM Sans Medium"/>
              <a:cs typeface="DM Sans Medium"/>
              <a:sym typeface="DM Sans Medium"/>
            </a:endParaRPr>
          </a:p>
        </p:txBody>
      </p:sp>
      <p:sp>
        <p:nvSpPr>
          <p:cNvPr id="635" name="Google Shape;635;p57"/>
          <p:cNvSpPr txBox="1"/>
          <p:nvPr/>
        </p:nvSpPr>
        <p:spPr>
          <a:xfrm>
            <a:off x="799800" y="4324999"/>
            <a:ext cx="2010300" cy="831300"/>
          </a:xfrm>
          <a:prstGeom prst="rect">
            <a:avLst/>
          </a:prstGeom>
          <a:gradFill>
            <a:gsLst>
              <a:gs pos="0">
                <a:srgbClr val="FFE0FF">
                  <a:alpha val="50196"/>
                </a:srgbClr>
              </a:gs>
              <a:gs pos="100000">
                <a:schemeClr val="lt1"/>
              </a:gs>
            </a:gsLst>
            <a:lin ang="5400012" scaled="0"/>
          </a:gra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Medium"/>
              <a:ea typeface="DM Sans Medium"/>
              <a:cs typeface="DM Sans Medium"/>
              <a:sym typeface="DM Sans Medium"/>
            </a:endParaRPr>
          </a:p>
        </p:txBody>
      </p:sp>
      <p:sp>
        <p:nvSpPr>
          <p:cNvPr id="636" name="Google Shape;636;p57"/>
          <p:cNvSpPr txBox="1"/>
          <p:nvPr/>
        </p:nvSpPr>
        <p:spPr>
          <a:xfrm>
            <a:off x="4803550" y="3675175"/>
            <a:ext cx="2005200" cy="1468200"/>
          </a:xfrm>
          <a:prstGeom prst="rect">
            <a:avLst/>
          </a:prstGeom>
          <a:gradFill>
            <a:gsLst>
              <a:gs pos="0">
                <a:srgbClr val="FFE0FF">
                  <a:alpha val="50196"/>
                </a:srgbClr>
              </a:gs>
              <a:gs pos="100000">
                <a:schemeClr val="lt1"/>
              </a:gs>
            </a:gsLst>
            <a:lin ang="5400012" scaled="0"/>
          </a:gra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Medium"/>
              <a:ea typeface="DM Sans Medium"/>
              <a:cs typeface="DM Sans Medium"/>
              <a:sym typeface="DM Sans Medium"/>
            </a:endParaRPr>
          </a:p>
        </p:txBody>
      </p:sp>
      <p:sp>
        <p:nvSpPr>
          <p:cNvPr id="637" name="Google Shape;637;p57"/>
          <p:cNvSpPr txBox="1"/>
          <p:nvPr/>
        </p:nvSpPr>
        <p:spPr>
          <a:xfrm>
            <a:off x="2815700" y="3916475"/>
            <a:ext cx="1987500" cy="1227025"/>
          </a:xfrm>
          <a:prstGeom prst="rect">
            <a:avLst/>
          </a:prstGeom>
          <a:gradFill>
            <a:gsLst>
              <a:gs pos="0">
                <a:srgbClr val="FFE0FF">
                  <a:alpha val="50196"/>
                </a:srgbClr>
              </a:gs>
              <a:gs pos="100000">
                <a:schemeClr val="lt1"/>
              </a:gs>
            </a:gsLst>
            <a:lin ang="5400012" scaled="0"/>
          </a:gra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DM Sans Medium"/>
              <a:ea typeface="DM Sans Medium"/>
              <a:cs typeface="DM Sans Medium"/>
              <a:sym typeface="DM Sans Medium"/>
            </a:endParaRPr>
          </a:p>
        </p:txBody>
      </p:sp>
      <p:cxnSp>
        <p:nvCxnSpPr>
          <p:cNvPr id="638" name="Google Shape;638;p57"/>
          <p:cNvCxnSpPr>
            <a:cxnSpLocks/>
          </p:cNvCxnSpPr>
          <p:nvPr/>
        </p:nvCxnSpPr>
        <p:spPr>
          <a:xfrm flipV="1">
            <a:off x="2813100" y="2136400"/>
            <a:ext cx="0" cy="3019761"/>
          </a:xfrm>
          <a:prstGeom prst="straightConnector1">
            <a:avLst/>
          </a:prstGeom>
          <a:noFill/>
          <a:ln w="9525" cap="flat" cmpd="sng">
            <a:solidFill>
              <a:srgbClr val="0254EC"/>
            </a:solidFill>
            <a:prstDash val="solid"/>
            <a:round/>
            <a:headEnd type="none" w="sm" len="sm"/>
            <a:tailEnd type="none" w="sm" len="sm"/>
          </a:ln>
        </p:spPr>
      </p:cxnSp>
      <p:cxnSp>
        <p:nvCxnSpPr>
          <p:cNvPr id="639" name="Google Shape;639;p57"/>
          <p:cNvCxnSpPr>
            <a:cxnSpLocks/>
          </p:cNvCxnSpPr>
          <p:nvPr/>
        </p:nvCxnSpPr>
        <p:spPr>
          <a:xfrm flipV="1">
            <a:off x="4804975" y="1525650"/>
            <a:ext cx="0" cy="3617850"/>
          </a:xfrm>
          <a:prstGeom prst="straightConnector1">
            <a:avLst/>
          </a:prstGeom>
          <a:noFill/>
          <a:ln w="9525" cap="flat" cmpd="sng">
            <a:solidFill>
              <a:srgbClr val="0254EC"/>
            </a:solidFill>
            <a:prstDash val="solid"/>
            <a:round/>
            <a:headEnd type="none" w="sm" len="sm"/>
            <a:tailEnd type="none" w="sm" len="sm"/>
          </a:ln>
        </p:spPr>
      </p:cxnSp>
      <p:cxnSp>
        <p:nvCxnSpPr>
          <p:cNvPr id="640" name="Google Shape;640;p57"/>
          <p:cNvCxnSpPr>
            <a:cxnSpLocks/>
          </p:cNvCxnSpPr>
          <p:nvPr/>
        </p:nvCxnSpPr>
        <p:spPr>
          <a:xfrm flipV="1">
            <a:off x="6799450" y="910700"/>
            <a:ext cx="5225" cy="4232800"/>
          </a:xfrm>
          <a:prstGeom prst="straightConnector1">
            <a:avLst/>
          </a:prstGeom>
          <a:noFill/>
          <a:ln w="9525" cap="flat" cmpd="sng">
            <a:solidFill>
              <a:srgbClr val="0254EC"/>
            </a:solidFill>
            <a:prstDash val="solid"/>
            <a:round/>
            <a:headEnd type="none" w="sm" len="sm"/>
            <a:tailEnd type="none" w="sm" len="sm"/>
          </a:ln>
        </p:spPr>
      </p:cxnSp>
      <p:cxnSp>
        <p:nvCxnSpPr>
          <p:cNvPr id="641" name="Google Shape;641;p57"/>
          <p:cNvCxnSpPr/>
          <p:nvPr/>
        </p:nvCxnSpPr>
        <p:spPr>
          <a:xfrm rot="10800000" flipH="1">
            <a:off x="983850" y="193650"/>
            <a:ext cx="8194200" cy="2507100"/>
          </a:xfrm>
          <a:prstGeom prst="straightConnector1">
            <a:avLst/>
          </a:prstGeom>
          <a:noFill/>
          <a:ln w="9525" cap="flat" cmpd="sng">
            <a:solidFill>
              <a:srgbClr val="0254EC"/>
            </a:solidFill>
            <a:prstDash val="lgDash"/>
            <a:round/>
            <a:headEnd type="none" w="sm" len="sm"/>
            <a:tailEnd type="none" w="sm" len="sm"/>
          </a:ln>
        </p:spPr>
      </p:cxnSp>
      <p:cxnSp>
        <p:nvCxnSpPr>
          <p:cNvPr id="642" name="Google Shape;642;p57"/>
          <p:cNvCxnSpPr/>
          <p:nvPr/>
        </p:nvCxnSpPr>
        <p:spPr>
          <a:xfrm rot="10800000">
            <a:off x="807946" y="2756762"/>
            <a:ext cx="0" cy="2399400"/>
          </a:xfrm>
          <a:prstGeom prst="straightConnector1">
            <a:avLst/>
          </a:prstGeom>
          <a:noFill/>
          <a:ln w="9525" cap="flat" cmpd="sng">
            <a:solidFill>
              <a:srgbClr val="0254EC"/>
            </a:solidFill>
            <a:prstDash val="solid"/>
            <a:round/>
            <a:headEnd type="none" w="sm" len="sm"/>
            <a:tailEnd type="none" w="sm" len="sm"/>
          </a:ln>
        </p:spPr>
      </p:cxnSp>
      <p:pic>
        <p:nvPicPr>
          <p:cNvPr id="643" name="Google Shape;643;p57" title="Hardening_infinity.png"/>
          <p:cNvPicPr preferRelativeResize="0"/>
          <p:nvPr/>
        </p:nvPicPr>
        <p:blipFill rotWithShape="1">
          <a:blip r:embed="rId3">
            <a:alphaModFix/>
          </a:blip>
          <a:srcRect/>
          <a:stretch/>
        </p:blipFill>
        <p:spPr>
          <a:xfrm rot="-964393">
            <a:off x="4764150" y="359985"/>
            <a:ext cx="2802000" cy="1505395"/>
          </a:xfrm>
          <a:prstGeom prst="rect">
            <a:avLst/>
          </a:prstGeom>
          <a:noFill/>
          <a:ln>
            <a:noFill/>
          </a:ln>
        </p:spPr>
      </p:pic>
      <p:sp>
        <p:nvSpPr>
          <p:cNvPr id="644" name="Google Shape;644;p57"/>
          <p:cNvSpPr txBox="1">
            <a:spLocks noGrp="1"/>
          </p:cNvSpPr>
          <p:nvPr>
            <p:ph type="title" idx="4294967295"/>
          </p:nvPr>
        </p:nvSpPr>
        <p:spPr>
          <a:xfrm>
            <a:off x="304850" y="182250"/>
            <a:ext cx="7550100" cy="646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chemeClr val="dk1"/>
              </a:buClr>
              <a:buSzPts val="1800"/>
              <a:buFont typeface="DM Sans"/>
              <a:buNone/>
            </a:pPr>
            <a:r>
              <a:rPr lang="en" sz="2420">
                <a:latin typeface="Poppins Light"/>
                <a:ea typeface="Poppins Light"/>
                <a:cs typeface="Poppins Light"/>
                <a:sym typeface="Poppins Light"/>
              </a:rPr>
              <a:t>Wiz Security</a:t>
            </a:r>
            <a:endParaRPr sz="2420">
              <a:latin typeface="Poppins Light"/>
              <a:ea typeface="Poppins Light"/>
              <a:cs typeface="Poppins Light"/>
              <a:sym typeface="Poppins Light"/>
            </a:endParaRPr>
          </a:p>
          <a:p>
            <a:pPr marL="0" lvl="0" indent="0" algn="l" rtl="0">
              <a:lnSpc>
                <a:spcPct val="100000"/>
              </a:lnSpc>
              <a:spcBef>
                <a:spcPts val="0"/>
              </a:spcBef>
              <a:spcAft>
                <a:spcPts val="0"/>
              </a:spcAft>
              <a:buClr>
                <a:schemeClr val="dk1"/>
              </a:buClr>
              <a:buSzPts val="1800"/>
              <a:buFont typeface="DM Sans"/>
              <a:buNone/>
            </a:pPr>
            <a:r>
              <a:rPr lang="en" sz="2420">
                <a:latin typeface="Poppins Light"/>
                <a:ea typeface="Poppins Light"/>
                <a:cs typeface="Poppins Light"/>
                <a:sym typeface="Poppins Light"/>
              </a:rPr>
              <a:t>Maturity Model </a:t>
            </a:r>
            <a:endParaRPr sz="2420">
              <a:latin typeface="Poppins Light"/>
              <a:ea typeface="Poppins Light"/>
              <a:cs typeface="Poppins Light"/>
              <a:sym typeface="Poppins Light"/>
            </a:endParaRPr>
          </a:p>
        </p:txBody>
      </p:sp>
      <p:sp>
        <p:nvSpPr>
          <p:cNvPr id="645" name="Google Shape;645;p57"/>
          <p:cNvSpPr txBox="1"/>
          <p:nvPr/>
        </p:nvSpPr>
        <p:spPr>
          <a:xfrm>
            <a:off x="6914847" y="1709849"/>
            <a:ext cx="1575300" cy="346200"/>
          </a:xfrm>
          <a:prstGeom prst="rect">
            <a:avLst/>
          </a:prstGeom>
          <a:noFill/>
          <a:ln>
            <a:noFill/>
          </a:ln>
        </p:spPr>
        <p:txBody>
          <a:bodyPr spcFirstLastPara="1" wrap="square" lIns="0" tIns="34275" rIns="68575" bIns="34275" anchor="t" anchorCtr="0">
            <a:spAutoFit/>
          </a:bodyPr>
          <a:lstStyle/>
          <a:p>
            <a:pPr marL="0" marR="0" lvl="0" indent="0" algn="l" rtl="0">
              <a:lnSpc>
                <a:spcPct val="100000"/>
              </a:lnSpc>
              <a:spcBef>
                <a:spcPts val="0"/>
              </a:spcBef>
              <a:spcAft>
                <a:spcPts val="0"/>
              </a:spcAft>
              <a:buClr>
                <a:srgbClr val="001741"/>
              </a:buClr>
              <a:buSzPts val="900"/>
              <a:buFont typeface="DM Sans Medium"/>
              <a:buNone/>
            </a:pPr>
            <a:r>
              <a:rPr lang="en" sz="900" b="0" i="0" u="none" strike="noStrike" cap="none">
                <a:solidFill>
                  <a:schemeClr val="dk1"/>
                </a:solidFill>
                <a:latin typeface="Poppins SemiBold"/>
                <a:ea typeface="Poppins SemiBold"/>
                <a:cs typeface="Poppins SemiBold"/>
                <a:sym typeface="Poppins SemiBold"/>
              </a:rPr>
              <a:t>BACKLOG PREVENTION - DEVELOP SECURELY</a:t>
            </a:r>
            <a:endParaRPr sz="900" b="0" i="0" u="none" strike="noStrike" cap="none">
              <a:solidFill>
                <a:schemeClr val="dk1"/>
              </a:solidFill>
              <a:latin typeface="Poppins SemiBold"/>
              <a:ea typeface="Poppins SemiBold"/>
              <a:cs typeface="Poppins SemiBold"/>
              <a:sym typeface="Poppins SemiBold"/>
            </a:endParaRPr>
          </a:p>
        </p:txBody>
      </p:sp>
      <p:sp>
        <p:nvSpPr>
          <p:cNvPr id="646" name="Google Shape;646;p57"/>
          <p:cNvSpPr txBox="1"/>
          <p:nvPr/>
        </p:nvSpPr>
        <p:spPr>
          <a:xfrm>
            <a:off x="6810807" y="2070332"/>
            <a:ext cx="1811700" cy="972300"/>
          </a:xfrm>
          <a:prstGeom prst="rect">
            <a:avLst/>
          </a:prstGeom>
          <a:noFill/>
          <a:ln>
            <a:noFill/>
          </a:ln>
        </p:spPr>
        <p:txBody>
          <a:bodyPr spcFirstLastPara="1" wrap="square" lIns="68575" tIns="34275" rIns="68575" bIns="34275" anchor="t" anchorCtr="0">
            <a:normAutofit/>
          </a:bodyPr>
          <a:lstStyle/>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Poppins Light"/>
                <a:ea typeface="Poppins Light"/>
                <a:cs typeface="Poppins Light"/>
                <a:sym typeface="Poppins Light"/>
              </a:rPr>
              <a:t>Enforce code-to-cloud guardrails to prevent issues from ever being deployed with Wiz Code</a:t>
            </a:r>
            <a:endParaRPr sz="800" b="0" i="0" u="none" strike="noStrike" cap="none">
              <a:solidFill>
                <a:srgbClr val="01123F"/>
              </a:solidFill>
              <a:latin typeface="Poppins Light"/>
              <a:ea typeface="Poppins Light"/>
              <a:cs typeface="Poppins Light"/>
              <a:sym typeface="Poppins Light"/>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Poppins Light"/>
              <a:ea typeface="Poppins Light"/>
              <a:cs typeface="Poppins Light"/>
              <a:sym typeface="Poppins Light"/>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Poppins Light"/>
                <a:ea typeface="Poppins Light"/>
                <a:cs typeface="Poppins Light"/>
                <a:sym typeface="Poppins Light"/>
              </a:rPr>
              <a:t>Give devs cloud context directly in IDEs and code for secure by design</a:t>
            </a:r>
            <a:endParaRPr sz="800" b="0" i="0" u="none" strike="noStrike" cap="none">
              <a:solidFill>
                <a:srgbClr val="01123F"/>
              </a:solidFill>
              <a:latin typeface="Poppins Light"/>
              <a:ea typeface="Poppins Light"/>
              <a:cs typeface="Poppins Light"/>
              <a:sym typeface="Poppins Light"/>
            </a:endParaRPr>
          </a:p>
        </p:txBody>
      </p:sp>
      <p:sp>
        <p:nvSpPr>
          <p:cNvPr id="647" name="Google Shape;647;p57"/>
          <p:cNvSpPr txBox="1"/>
          <p:nvPr/>
        </p:nvSpPr>
        <p:spPr>
          <a:xfrm>
            <a:off x="5006084" y="2154770"/>
            <a:ext cx="1575300" cy="207900"/>
          </a:xfrm>
          <a:prstGeom prst="rect">
            <a:avLst/>
          </a:prstGeom>
          <a:noFill/>
          <a:ln>
            <a:noFill/>
          </a:ln>
        </p:spPr>
        <p:txBody>
          <a:bodyPr spcFirstLastPara="1" wrap="square" lIns="0" tIns="34275" rIns="68575" bIns="34275" anchor="t" anchorCtr="0">
            <a:spAutoFit/>
          </a:bodyPr>
          <a:lstStyle/>
          <a:p>
            <a:pPr marL="0" marR="0" lvl="0" indent="0" algn="l" rtl="0">
              <a:lnSpc>
                <a:spcPct val="100000"/>
              </a:lnSpc>
              <a:spcBef>
                <a:spcPts val="0"/>
              </a:spcBef>
              <a:spcAft>
                <a:spcPts val="0"/>
              </a:spcAft>
              <a:buClr>
                <a:srgbClr val="001741"/>
              </a:buClr>
              <a:buSzPts val="900"/>
              <a:buFont typeface="DM Sans Medium"/>
              <a:buNone/>
            </a:pPr>
            <a:r>
              <a:rPr lang="en" sz="900" b="0" i="0" u="none" strike="noStrike" cap="none">
                <a:solidFill>
                  <a:schemeClr val="dk1"/>
                </a:solidFill>
                <a:latin typeface="Poppins SemiBold"/>
                <a:ea typeface="Poppins SemiBold"/>
                <a:cs typeface="Poppins SemiBold"/>
                <a:sym typeface="Poppins SemiBold"/>
              </a:rPr>
              <a:t>POSTURE HARDENING</a:t>
            </a:r>
            <a:endParaRPr sz="900" b="0" i="0" u="none" strike="noStrike" cap="none">
              <a:solidFill>
                <a:schemeClr val="dk1"/>
              </a:solidFill>
              <a:latin typeface="Poppins SemiBold"/>
              <a:ea typeface="Poppins SemiBold"/>
              <a:cs typeface="Poppins SemiBold"/>
              <a:sym typeface="Poppins SemiBold"/>
            </a:endParaRPr>
          </a:p>
        </p:txBody>
      </p:sp>
      <p:sp>
        <p:nvSpPr>
          <p:cNvPr id="648" name="Google Shape;648;p57"/>
          <p:cNvSpPr txBox="1"/>
          <p:nvPr/>
        </p:nvSpPr>
        <p:spPr>
          <a:xfrm>
            <a:off x="4902050" y="2387075"/>
            <a:ext cx="1811700" cy="1149900"/>
          </a:xfrm>
          <a:prstGeom prst="rect">
            <a:avLst/>
          </a:prstGeom>
          <a:noFill/>
          <a:ln>
            <a:noFill/>
          </a:ln>
        </p:spPr>
        <p:txBody>
          <a:bodyPr spcFirstLastPara="1" wrap="square" lIns="68575" tIns="34275" rIns="68575" bIns="34275" anchor="t" anchorCtr="0">
            <a:normAutofit lnSpcReduction="10000"/>
          </a:bodyPr>
          <a:lstStyle/>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Poppins Light"/>
                <a:ea typeface="Poppins Light"/>
                <a:cs typeface="Poppins Light"/>
                <a:sym typeface="Poppins Light"/>
              </a:rPr>
              <a:t>Address non-urgent findings impacting overall security posture, including Posture Issues</a:t>
            </a:r>
            <a:endParaRPr sz="800" b="0" i="0" u="none" strike="noStrike" cap="none">
              <a:solidFill>
                <a:srgbClr val="01123F"/>
              </a:solidFill>
              <a:latin typeface="Poppins Light"/>
              <a:ea typeface="Poppins Light"/>
              <a:cs typeface="Poppins Light"/>
              <a:sym typeface="Poppins Light"/>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Poppins Light"/>
              <a:ea typeface="Poppins Light"/>
              <a:cs typeface="Poppins Light"/>
              <a:sym typeface="Poppins Light"/>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Poppins Light"/>
                <a:ea typeface="Poppins Light"/>
                <a:cs typeface="Poppins Light"/>
                <a:sym typeface="Poppins Light"/>
              </a:rPr>
              <a:t>Manage exposures in the environment with Wiz XM</a:t>
            </a:r>
            <a:endParaRPr sz="800" b="0" i="0" u="none" strike="noStrike" cap="none">
              <a:solidFill>
                <a:srgbClr val="01123F"/>
              </a:solidFill>
              <a:latin typeface="Poppins Light"/>
              <a:ea typeface="Poppins Light"/>
              <a:cs typeface="Poppins Light"/>
              <a:sym typeface="Poppins Light"/>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Poppins Light"/>
              <a:ea typeface="Poppins Light"/>
              <a:cs typeface="Poppins Light"/>
              <a:sym typeface="Poppins Light"/>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Poppins Light"/>
                <a:ea typeface="Poppins Light"/>
                <a:cs typeface="Poppins Light"/>
                <a:sym typeface="Poppins Light"/>
              </a:rPr>
              <a:t>Consolidate remediation for greater impact in a shorter      time frame</a:t>
            </a:r>
            <a:endParaRPr sz="800" b="0" i="0" u="none" strike="noStrike" cap="none">
              <a:solidFill>
                <a:srgbClr val="01123F"/>
              </a:solidFill>
              <a:latin typeface="Poppins Light"/>
              <a:ea typeface="Poppins Light"/>
              <a:cs typeface="Poppins Light"/>
              <a:sym typeface="Poppins Light"/>
            </a:endParaRPr>
          </a:p>
        </p:txBody>
      </p:sp>
      <p:sp>
        <p:nvSpPr>
          <p:cNvPr id="649" name="Google Shape;649;p57"/>
          <p:cNvSpPr txBox="1"/>
          <p:nvPr/>
        </p:nvSpPr>
        <p:spPr>
          <a:xfrm>
            <a:off x="3007222" y="2625304"/>
            <a:ext cx="1575300" cy="207900"/>
          </a:xfrm>
          <a:prstGeom prst="rect">
            <a:avLst/>
          </a:prstGeom>
          <a:noFill/>
          <a:ln>
            <a:noFill/>
          </a:ln>
        </p:spPr>
        <p:txBody>
          <a:bodyPr spcFirstLastPara="1" wrap="square" lIns="0" tIns="34275" rIns="68575" bIns="34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900" b="0" i="0" u="none" strike="noStrike" cap="none">
                <a:solidFill>
                  <a:schemeClr val="dk1"/>
                </a:solidFill>
                <a:latin typeface="Poppins SemiBold"/>
                <a:ea typeface="Poppins SemiBold"/>
                <a:cs typeface="Poppins SemiBold"/>
                <a:sym typeface="Poppins SemiBold"/>
              </a:rPr>
              <a:t>REDUCE CRITICAL RISK</a:t>
            </a:r>
            <a:endParaRPr sz="900" b="0" i="0" u="none" strike="noStrike" cap="none">
              <a:solidFill>
                <a:schemeClr val="dk1"/>
              </a:solidFill>
              <a:latin typeface="Poppins SemiBold"/>
              <a:ea typeface="Poppins SemiBold"/>
              <a:cs typeface="Poppins SemiBold"/>
              <a:sym typeface="Poppins SemiBold"/>
            </a:endParaRPr>
          </a:p>
        </p:txBody>
      </p:sp>
      <p:sp>
        <p:nvSpPr>
          <p:cNvPr id="650" name="Google Shape;650;p57"/>
          <p:cNvSpPr txBox="1"/>
          <p:nvPr/>
        </p:nvSpPr>
        <p:spPr>
          <a:xfrm>
            <a:off x="2903188" y="2857610"/>
            <a:ext cx="1811700" cy="1262400"/>
          </a:xfrm>
          <a:prstGeom prst="rect">
            <a:avLst/>
          </a:prstGeom>
          <a:noFill/>
          <a:ln>
            <a:noFill/>
          </a:ln>
        </p:spPr>
        <p:txBody>
          <a:bodyPr spcFirstLastPara="1" wrap="square" lIns="68575" tIns="34275" rIns="68575" bIns="34275" anchor="t" anchorCtr="0">
            <a:normAutofit/>
          </a:bodyPr>
          <a:lstStyle/>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Poppins Light"/>
                <a:ea typeface="Poppins Light"/>
                <a:cs typeface="Poppins Light"/>
                <a:sym typeface="Poppins Light"/>
              </a:rPr>
              <a:t>Prioritize immediately  exploitable attack paths   (validate with Wiz ASM)</a:t>
            </a:r>
            <a:endParaRPr sz="800" b="0" i="0" u="none" strike="noStrike" cap="none">
              <a:solidFill>
                <a:srgbClr val="01123F"/>
              </a:solidFill>
              <a:latin typeface="Poppins Light"/>
              <a:ea typeface="Poppins Light"/>
              <a:cs typeface="Poppins Light"/>
              <a:sym typeface="Poppins Light"/>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Poppins Light"/>
              <a:ea typeface="Poppins Light"/>
              <a:cs typeface="Poppins Light"/>
              <a:sym typeface="Poppins Light"/>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Poppins Light"/>
                <a:ea typeface="Poppins Light"/>
                <a:cs typeface="Poppins Light"/>
                <a:sym typeface="Poppins Light"/>
              </a:rPr>
              <a:t>Achieve Zero Critical Risk Issues</a:t>
            </a:r>
            <a:endParaRPr sz="800" b="0" i="0" u="none" strike="noStrike" cap="none">
              <a:solidFill>
                <a:srgbClr val="01123F"/>
              </a:solidFill>
              <a:latin typeface="Poppins Light"/>
              <a:ea typeface="Poppins Light"/>
              <a:cs typeface="Poppins Light"/>
              <a:sym typeface="Poppins Light"/>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Poppins Light"/>
              <a:ea typeface="Poppins Light"/>
              <a:cs typeface="Poppins Light"/>
              <a:sym typeface="Poppins Light"/>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Poppins Light"/>
                <a:ea typeface="Poppins Light"/>
                <a:cs typeface="Poppins Light"/>
                <a:sym typeface="Poppins Light"/>
              </a:rPr>
              <a:t>Prioritize external findings (UVM) with Wiz context</a:t>
            </a:r>
            <a:endParaRPr sz="800" b="0" i="0" u="none" strike="noStrike" cap="none">
              <a:solidFill>
                <a:srgbClr val="01123F"/>
              </a:solidFill>
              <a:latin typeface="Poppins Light"/>
              <a:ea typeface="Poppins Light"/>
              <a:cs typeface="Poppins Light"/>
              <a:sym typeface="Poppins Light"/>
            </a:endParaRPr>
          </a:p>
        </p:txBody>
      </p:sp>
      <p:sp>
        <p:nvSpPr>
          <p:cNvPr id="651" name="Google Shape;651;p57"/>
          <p:cNvSpPr txBox="1"/>
          <p:nvPr/>
        </p:nvSpPr>
        <p:spPr>
          <a:xfrm>
            <a:off x="1008697" y="3209104"/>
            <a:ext cx="1575300" cy="207900"/>
          </a:xfrm>
          <a:prstGeom prst="rect">
            <a:avLst/>
          </a:prstGeom>
          <a:noFill/>
          <a:ln>
            <a:noFill/>
          </a:ln>
        </p:spPr>
        <p:txBody>
          <a:bodyPr spcFirstLastPara="1" wrap="square" lIns="0" tIns="34275" rIns="68575" bIns="34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900" b="0" i="0" u="none" strike="noStrike" cap="none">
                <a:solidFill>
                  <a:schemeClr val="dk1"/>
                </a:solidFill>
                <a:latin typeface="Poppins SemiBold"/>
                <a:ea typeface="Poppins SemiBold"/>
                <a:cs typeface="Poppins SemiBold"/>
                <a:sym typeface="Poppins SemiBold"/>
              </a:rPr>
              <a:t>GAIN VISIBILITY</a:t>
            </a:r>
            <a:endParaRPr sz="900" b="0" i="0" u="none" strike="noStrike" cap="none">
              <a:solidFill>
                <a:schemeClr val="dk1"/>
              </a:solidFill>
              <a:latin typeface="Poppins SemiBold"/>
              <a:ea typeface="Poppins SemiBold"/>
              <a:cs typeface="Poppins SemiBold"/>
              <a:sym typeface="Poppins SemiBold"/>
            </a:endParaRPr>
          </a:p>
        </p:txBody>
      </p:sp>
      <p:sp>
        <p:nvSpPr>
          <p:cNvPr id="652" name="Google Shape;652;p57"/>
          <p:cNvSpPr txBox="1"/>
          <p:nvPr/>
        </p:nvSpPr>
        <p:spPr>
          <a:xfrm>
            <a:off x="904663" y="3441410"/>
            <a:ext cx="1811700" cy="1262400"/>
          </a:xfrm>
          <a:prstGeom prst="rect">
            <a:avLst/>
          </a:prstGeom>
          <a:noFill/>
          <a:ln>
            <a:noFill/>
          </a:ln>
        </p:spPr>
        <p:txBody>
          <a:bodyPr spcFirstLastPara="1" wrap="square" lIns="68575" tIns="34275" rIns="68575" bIns="34275" anchor="t" anchorCtr="0">
            <a:normAutofit/>
          </a:bodyPr>
          <a:lstStyle/>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Poppins Light"/>
                <a:ea typeface="Poppins Light"/>
                <a:cs typeface="Poppins Light"/>
                <a:sym typeface="Poppins Light"/>
              </a:rPr>
              <a:t>100% code-to-cloud visibility into any repo, pipeline, or cloud</a:t>
            </a:r>
            <a:endParaRPr sz="800" b="0" i="0" u="none" strike="noStrike" cap="none">
              <a:solidFill>
                <a:srgbClr val="01123F"/>
              </a:solidFill>
              <a:latin typeface="Poppins Light"/>
              <a:ea typeface="Poppins Light"/>
              <a:cs typeface="Poppins Light"/>
              <a:sym typeface="Poppins Light"/>
            </a:endParaRPr>
          </a:p>
          <a:p>
            <a:pPr marL="0" marR="0" lvl="0" indent="0" algn="l" rtl="0">
              <a:lnSpc>
                <a:spcPct val="92000"/>
              </a:lnSpc>
              <a:spcBef>
                <a:spcPts val="0"/>
              </a:spcBef>
              <a:spcAft>
                <a:spcPts val="0"/>
              </a:spcAft>
              <a:buClr>
                <a:srgbClr val="000000"/>
              </a:buClr>
              <a:buSzPts val="500"/>
              <a:buFont typeface="Arial"/>
              <a:buNone/>
            </a:pPr>
            <a:endParaRPr sz="500" b="0" i="0" u="none" strike="noStrike" cap="none">
              <a:solidFill>
                <a:srgbClr val="01123F"/>
              </a:solidFill>
              <a:latin typeface="Poppins Light"/>
              <a:ea typeface="Poppins Light"/>
              <a:cs typeface="Poppins Light"/>
              <a:sym typeface="Poppins Light"/>
            </a:endParaRPr>
          </a:p>
          <a:p>
            <a:pPr marL="114300" marR="0" lvl="0" indent="-88900" algn="l" rtl="0">
              <a:lnSpc>
                <a:spcPct val="92000"/>
              </a:lnSpc>
              <a:spcBef>
                <a:spcPts val="0"/>
              </a:spcBef>
              <a:spcAft>
                <a:spcPts val="0"/>
              </a:spcAft>
              <a:buClr>
                <a:srgbClr val="01123F"/>
              </a:buClr>
              <a:buSzPts val="500"/>
              <a:buFont typeface="Poppins Light"/>
              <a:buChar char="●"/>
            </a:pPr>
            <a:r>
              <a:rPr lang="en" sz="800" b="0" i="0" u="none" strike="noStrike" cap="none">
                <a:solidFill>
                  <a:srgbClr val="01123F"/>
                </a:solidFill>
                <a:latin typeface="Poppins Light"/>
                <a:ea typeface="Poppins Light"/>
                <a:cs typeface="Poppins Light"/>
                <a:sym typeface="Poppins Light"/>
              </a:rPr>
              <a:t>Centralize visibility across on-prem, hybrid, cloud, code with UVM</a:t>
            </a:r>
            <a:endParaRPr sz="800" b="0" i="0" u="none" strike="noStrike" cap="none">
              <a:solidFill>
                <a:srgbClr val="01123F"/>
              </a:solidFill>
              <a:latin typeface="Poppins Light"/>
              <a:ea typeface="Poppins Light"/>
              <a:cs typeface="Poppins Light"/>
              <a:sym typeface="Poppins Light"/>
            </a:endParaRPr>
          </a:p>
        </p:txBody>
      </p:sp>
      <p:cxnSp>
        <p:nvCxnSpPr>
          <p:cNvPr id="653" name="Google Shape;653;p57"/>
          <p:cNvCxnSpPr>
            <a:cxnSpLocks/>
          </p:cNvCxnSpPr>
          <p:nvPr/>
        </p:nvCxnSpPr>
        <p:spPr>
          <a:xfrm flipV="1">
            <a:off x="8809750" y="306800"/>
            <a:ext cx="100" cy="4836700"/>
          </a:xfrm>
          <a:prstGeom prst="straightConnector1">
            <a:avLst/>
          </a:prstGeom>
          <a:noFill/>
          <a:ln w="9525" cap="flat" cmpd="sng">
            <a:solidFill>
              <a:srgbClr val="0254EC"/>
            </a:solidFill>
            <a:prstDash val="solid"/>
            <a:round/>
            <a:headEnd type="none" w="sm" len="sm"/>
            <a:tailEnd type="none" w="sm" len="sm"/>
          </a:ln>
        </p:spPr>
      </p:cxnSp>
      <p:sp>
        <p:nvSpPr>
          <p:cNvPr id="654" name="Google Shape;654;p57"/>
          <p:cNvSpPr txBox="1"/>
          <p:nvPr/>
        </p:nvSpPr>
        <p:spPr>
          <a:xfrm>
            <a:off x="6929000" y="3214200"/>
            <a:ext cx="1732800" cy="954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Poppins Medium"/>
                <a:ea typeface="Poppins Medium"/>
                <a:cs typeface="Poppins Medium"/>
                <a:sym typeface="Poppins Medium"/>
              </a:rPr>
              <a:t>Goal: Harden the SDLC while maintaining “Zero Criticals” and SLA compliance requirements</a:t>
            </a:r>
            <a:endParaRPr sz="1000" b="0" i="0" u="none" strike="noStrike" cap="none">
              <a:solidFill>
                <a:schemeClr val="dk1"/>
              </a:solidFill>
              <a:latin typeface="Poppins Medium"/>
              <a:ea typeface="Poppins Medium"/>
              <a:cs typeface="Poppins Medium"/>
              <a:sym typeface="Poppins Medium"/>
            </a:endParaRPr>
          </a:p>
        </p:txBody>
      </p:sp>
      <p:cxnSp>
        <p:nvCxnSpPr>
          <p:cNvPr id="655" name="Google Shape;655;p57"/>
          <p:cNvCxnSpPr/>
          <p:nvPr/>
        </p:nvCxnSpPr>
        <p:spPr>
          <a:xfrm>
            <a:off x="6804671" y="3138012"/>
            <a:ext cx="2005500" cy="0"/>
          </a:xfrm>
          <a:prstGeom prst="straightConnector1">
            <a:avLst/>
          </a:prstGeom>
          <a:noFill/>
          <a:ln w="9525" cap="flat" cmpd="sng">
            <a:solidFill>
              <a:srgbClr val="0254EC"/>
            </a:solidFill>
            <a:prstDash val="solid"/>
            <a:round/>
            <a:headEnd type="none" w="sm" len="sm"/>
            <a:tailEnd type="none" w="sm" len="sm"/>
          </a:ln>
        </p:spPr>
      </p:cxnSp>
      <p:cxnSp>
        <p:nvCxnSpPr>
          <p:cNvPr id="656" name="Google Shape;656;p57"/>
          <p:cNvCxnSpPr/>
          <p:nvPr/>
        </p:nvCxnSpPr>
        <p:spPr>
          <a:xfrm>
            <a:off x="805008" y="4325009"/>
            <a:ext cx="2005500" cy="0"/>
          </a:xfrm>
          <a:prstGeom prst="straightConnector1">
            <a:avLst/>
          </a:prstGeom>
          <a:noFill/>
          <a:ln w="9525" cap="flat" cmpd="sng">
            <a:solidFill>
              <a:srgbClr val="0254EC"/>
            </a:solidFill>
            <a:prstDash val="solid"/>
            <a:round/>
            <a:headEnd type="none" w="sm" len="sm"/>
            <a:tailEnd type="none" w="sm" len="sm"/>
          </a:ln>
        </p:spPr>
      </p:cxnSp>
      <p:cxnSp>
        <p:nvCxnSpPr>
          <p:cNvPr id="657" name="Google Shape;657;p57"/>
          <p:cNvCxnSpPr/>
          <p:nvPr/>
        </p:nvCxnSpPr>
        <p:spPr>
          <a:xfrm>
            <a:off x="4808759" y="3675191"/>
            <a:ext cx="2000400" cy="0"/>
          </a:xfrm>
          <a:prstGeom prst="straightConnector1">
            <a:avLst/>
          </a:prstGeom>
          <a:noFill/>
          <a:ln w="9525" cap="flat" cmpd="sng">
            <a:solidFill>
              <a:srgbClr val="0254EC"/>
            </a:solidFill>
            <a:prstDash val="solid"/>
            <a:round/>
            <a:headEnd type="none" w="sm" len="sm"/>
            <a:tailEnd type="none" w="sm" len="sm"/>
          </a:ln>
        </p:spPr>
      </p:cxnSp>
      <p:cxnSp>
        <p:nvCxnSpPr>
          <p:cNvPr id="658" name="Google Shape;658;p57"/>
          <p:cNvCxnSpPr/>
          <p:nvPr/>
        </p:nvCxnSpPr>
        <p:spPr>
          <a:xfrm>
            <a:off x="2820861" y="3916487"/>
            <a:ext cx="1982700" cy="0"/>
          </a:xfrm>
          <a:prstGeom prst="straightConnector1">
            <a:avLst/>
          </a:prstGeom>
          <a:noFill/>
          <a:ln w="9525" cap="flat" cmpd="sng">
            <a:solidFill>
              <a:srgbClr val="0254EC"/>
            </a:solidFill>
            <a:prstDash val="solid"/>
            <a:round/>
            <a:headEnd type="none" w="sm" len="sm"/>
            <a:tailEnd type="none" w="sm" len="sm"/>
          </a:ln>
        </p:spPr>
      </p:cxnSp>
      <p:sp>
        <p:nvSpPr>
          <p:cNvPr id="659" name="Google Shape;659;p57"/>
          <p:cNvSpPr txBox="1"/>
          <p:nvPr/>
        </p:nvSpPr>
        <p:spPr>
          <a:xfrm>
            <a:off x="904675" y="4416650"/>
            <a:ext cx="17328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dirty="0">
                <a:solidFill>
                  <a:schemeClr val="dk1"/>
                </a:solidFill>
                <a:latin typeface="Poppins Medium"/>
                <a:ea typeface="Poppins Medium"/>
                <a:cs typeface="Poppins Medium"/>
                <a:sym typeface="Poppins Medium"/>
              </a:rPr>
              <a:t>Goal: Full visibility into vulnerabilities across all environments</a:t>
            </a:r>
            <a:endParaRPr sz="1000" b="0" i="0" u="none" strike="noStrike" cap="none" dirty="0">
              <a:solidFill>
                <a:schemeClr val="dk1"/>
              </a:solidFill>
              <a:latin typeface="Poppins Medium"/>
              <a:ea typeface="Poppins Medium"/>
              <a:cs typeface="Poppins Medium"/>
              <a:sym typeface="Poppins Medium"/>
            </a:endParaRPr>
          </a:p>
        </p:txBody>
      </p:sp>
      <p:sp>
        <p:nvSpPr>
          <p:cNvPr id="660" name="Google Shape;660;p57"/>
          <p:cNvSpPr txBox="1"/>
          <p:nvPr/>
        </p:nvSpPr>
        <p:spPr>
          <a:xfrm>
            <a:off x="2942638" y="3992675"/>
            <a:ext cx="17328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Poppins Medium"/>
                <a:ea typeface="Poppins Medium"/>
                <a:cs typeface="Poppins Medium"/>
                <a:sym typeface="Poppins Medium"/>
              </a:rPr>
              <a:t>Goal: Achieve “Zero Critical” Risk Issues</a:t>
            </a:r>
            <a:endParaRPr sz="1000" b="0" i="0" u="none" strike="noStrike" cap="none">
              <a:solidFill>
                <a:schemeClr val="dk1"/>
              </a:solidFill>
              <a:latin typeface="Poppins Medium"/>
              <a:ea typeface="Poppins Medium"/>
              <a:cs typeface="Poppins Medium"/>
              <a:sym typeface="Poppins Medium"/>
            </a:endParaRPr>
          </a:p>
        </p:txBody>
      </p:sp>
      <p:sp>
        <p:nvSpPr>
          <p:cNvPr id="661" name="Google Shape;661;p57"/>
          <p:cNvSpPr txBox="1"/>
          <p:nvPr/>
        </p:nvSpPr>
        <p:spPr>
          <a:xfrm>
            <a:off x="4934925" y="3751400"/>
            <a:ext cx="17328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Poppins Medium"/>
                <a:ea typeface="Poppins Medium"/>
                <a:cs typeface="Poppins Medium"/>
                <a:sym typeface="Poppins Medium"/>
              </a:rPr>
              <a:t>Goal: Meet all SLAs for Posture Issues</a:t>
            </a:r>
            <a:endParaRPr sz="1000" b="0" i="0" u="none" strike="noStrike" cap="none">
              <a:solidFill>
                <a:schemeClr val="dk1"/>
              </a:solidFill>
              <a:latin typeface="Poppins Medium"/>
              <a:ea typeface="Poppins Medium"/>
              <a:cs typeface="Poppins Medium"/>
              <a:sym typeface="Poppins Medium"/>
            </a:endParaRPr>
          </a:p>
        </p:txBody>
      </p:sp>
      <p:pic>
        <p:nvPicPr>
          <p:cNvPr id="662" name="Google Shape;662;p57" title="Group 1000004546.png"/>
          <p:cNvPicPr preferRelativeResize="0"/>
          <p:nvPr/>
        </p:nvPicPr>
        <p:blipFill rotWithShape="1">
          <a:blip r:embed="rId4">
            <a:alphaModFix/>
          </a:blip>
          <a:srcRect/>
          <a:stretch/>
        </p:blipFill>
        <p:spPr>
          <a:xfrm>
            <a:off x="6717625" y="465775"/>
            <a:ext cx="883400" cy="883400"/>
          </a:xfrm>
          <a:prstGeom prst="rect">
            <a:avLst/>
          </a:prstGeom>
          <a:noFill/>
          <a:ln>
            <a:noFill/>
          </a:ln>
        </p:spPr>
      </p:pic>
      <p:pic>
        <p:nvPicPr>
          <p:cNvPr id="663" name="Google Shape;663;p57" title="Group 1000004545.png"/>
          <p:cNvPicPr preferRelativeResize="0"/>
          <p:nvPr/>
        </p:nvPicPr>
        <p:blipFill rotWithShape="1">
          <a:blip r:embed="rId5">
            <a:alphaModFix/>
          </a:blip>
          <a:srcRect/>
          <a:stretch/>
        </p:blipFill>
        <p:spPr>
          <a:xfrm>
            <a:off x="4685600" y="1077601"/>
            <a:ext cx="883400" cy="883400"/>
          </a:xfrm>
          <a:prstGeom prst="rect">
            <a:avLst/>
          </a:prstGeom>
          <a:noFill/>
          <a:ln>
            <a:noFill/>
          </a:ln>
        </p:spPr>
      </p:pic>
      <p:pic>
        <p:nvPicPr>
          <p:cNvPr id="664" name="Google Shape;664;p57" title="Group 1000004543_1.png"/>
          <p:cNvPicPr preferRelativeResize="0"/>
          <p:nvPr/>
        </p:nvPicPr>
        <p:blipFill rotWithShape="1">
          <a:blip r:embed="rId6">
            <a:alphaModFix/>
          </a:blip>
          <a:srcRect/>
          <a:stretch/>
        </p:blipFill>
        <p:spPr>
          <a:xfrm>
            <a:off x="685650" y="2277531"/>
            <a:ext cx="883400" cy="883400"/>
          </a:xfrm>
          <a:prstGeom prst="rect">
            <a:avLst/>
          </a:prstGeom>
          <a:noFill/>
          <a:ln>
            <a:noFill/>
          </a:ln>
        </p:spPr>
      </p:pic>
      <p:pic>
        <p:nvPicPr>
          <p:cNvPr id="665" name="Google Shape;665;p57" title="Group 1000004544.png"/>
          <p:cNvPicPr preferRelativeResize="0"/>
          <p:nvPr/>
        </p:nvPicPr>
        <p:blipFill rotWithShape="1">
          <a:blip r:embed="rId7">
            <a:alphaModFix/>
          </a:blip>
          <a:srcRect/>
          <a:stretch/>
        </p:blipFill>
        <p:spPr>
          <a:xfrm>
            <a:off x="2698497" y="1693375"/>
            <a:ext cx="883400" cy="883400"/>
          </a:xfrm>
          <a:prstGeom prst="rect">
            <a:avLst/>
          </a:prstGeom>
          <a:noFill/>
          <a:ln>
            <a:noFill/>
          </a:ln>
        </p:spPr>
      </p:pic>
      <p:sp>
        <p:nvSpPr>
          <p:cNvPr id="666" name="Google Shape;666;p57"/>
          <p:cNvSpPr/>
          <p:nvPr/>
        </p:nvSpPr>
        <p:spPr>
          <a:xfrm>
            <a:off x="3212396" y="629773"/>
            <a:ext cx="1453800" cy="252300"/>
          </a:xfrm>
          <a:prstGeom prst="roundRect">
            <a:avLst>
              <a:gd name="adj" fmla="val 50000"/>
            </a:avLst>
          </a:prstGeom>
          <a:solidFill>
            <a:srgbClr val="FFFFFF"/>
          </a:solidFill>
          <a:ln w="11350" cap="flat" cmpd="sng">
            <a:solidFill>
              <a:srgbClr val="CADAFF"/>
            </a:solidFill>
            <a:prstDash val="solid"/>
            <a:miter lim="80"/>
            <a:headEnd type="none" w="sm" len="sm"/>
            <a:tailEnd type="none" w="sm" len="sm"/>
          </a:ln>
        </p:spPr>
        <p:txBody>
          <a:bodyPr spcFirstLastPara="1" wrap="square" lIns="61300" tIns="30650" rIns="61300" bIns="30650" anchor="t" anchorCtr="0">
            <a:noAutofit/>
          </a:bodyPr>
          <a:lstStyle/>
          <a:p>
            <a:pPr marL="0" marR="0" lvl="0" indent="0" algn="ctr" rtl="0">
              <a:lnSpc>
                <a:spcPct val="100000"/>
              </a:lnSpc>
              <a:spcBef>
                <a:spcPts val="0"/>
              </a:spcBef>
              <a:spcAft>
                <a:spcPts val="0"/>
              </a:spcAft>
              <a:buClr>
                <a:srgbClr val="0153EB"/>
              </a:buClr>
              <a:buSzPts val="596"/>
              <a:buFont typeface="Calibri"/>
              <a:buNone/>
            </a:pPr>
            <a:endParaRPr sz="596" b="1" i="0" u="none" strike="noStrike" cap="none">
              <a:solidFill>
                <a:srgbClr val="000000"/>
              </a:solidFill>
              <a:latin typeface="DM Sans"/>
              <a:ea typeface="DM Sans"/>
              <a:cs typeface="DM Sans"/>
              <a:sym typeface="DM Sans"/>
            </a:endParaRPr>
          </a:p>
        </p:txBody>
      </p:sp>
      <p:sp>
        <p:nvSpPr>
          <p:cNvPr id="667" name="Google Shape;667;p57"/>
          <p:cNvSpPr txBox="1"/>
          <p:nvPr/>
        </p:nvSpPr>
        <p:spPr>
          <a:xfrm>
            <a:off x="3497502" y="635426"/>
            <a:ext cx="1289400" cy="247800"/>
          </a:xfrm>
          <a:prstGeom prst="rect">
            <a:avLst/>
          </a:prstGeom>
          <a:noFill/>
          <a:ln>
            <a:noFill/>
          </a:ln>
        </p:spPr>
        <p:txBody>
          <a:bodyPr spcFirstLastPara="1" wrap="square" lIns="0" tIns="40875" rIns="81750" bIns="40875" anchor="t" anchorCtr="0">
            <a:spAutoFit/>
          </a:bodyPr>
          <a:lstStyle/>
          <a:p>
            <a:pPr marL="0" marR="0" lvl="0" indent="0" algn="l" rtl="0">
              <a:lnSpc>
                <a:spcPct val="100000"/>
              </a:lnSpc>
              <a:spcBef>
                <a:spcPts val="0"/>
              </a:spcBef>
              <a:spcAft>
                <a:spcPts val="0"/>
              </a:spcAft>
              <a:buClr>
                <a:srgbClr val="0153EB"/>
              </a:buClr>
              <a:buSzPts val="1073"/>
              <a:buFont typeface="DM Sans Medium"/>
              <a:buNone/>
            </a:pPr>
            <a:r>
              <a:rPr lang="en" sz="1073" b="0" i="0" u="none" strike="noStrike" cap="none">
                <a:solidFill>
                  <a:srgbClr val="0153EB"/>
                </a:solidFill>
                <a:latin typeface="Poppins Medium"/>
                <a:ea typeface="Poppins Medium"/>
                <a:cs typeface="Poppins Medium"/>
                <a:sym typeface="Poppins Medium"/>
              </a:rPr>
              <a:t>Where are you?</a:t>
            </a:r>
            <a:endParaRPr sz="1311" b="0" i="0" u="none" strike="noStrike" cap="none">
              <a:solidFill>
                <a:srgbClr val="000000"/>
              </a:solidFill>
              <a:latin typeface="Poppins"/>
              <a:ea typeface="Poppins"/>
              <a:cs typeface="Poppins"/>
              <a:sym typeface="Poppins"/>
            </a:endParaRPr>
          </a:p>
        </p:txBody>
      </p:sp>
      <p:pic>
        <p:nvPicPr>
          <p:cNvPr id="668" name="Google Shape;668;p57" title="icon.png"/>
          <p:cNvPicPr preferRelativeResize="0"/>
          <p:nvPr/>
        </p:nvPicPr>
        <p:blipFill rotWithShape="1">
          <a:blip r:embed="rId8">
            <a:alphaModFix/>
          </a:blip>
          <a:srcRect/>
          <a:stretch/>
        </p:blipFill>
        <p:spPr>
          <a:xfrm>
            <a:off x="3149780" y="617823"/>
            <a:ext cx="272612" cy="27261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58"/>
          <p:cNvSpPr txBox="1">
            <a:spLocks noGrp="1"/>
          </p:cNvSpPr>
          <p:nvPr>
            <p:ph type="title" idx="4294967295"/>
          </p:nvPr>
        </p:nvSpPr>
        <p:spPr>
          <a:xfrm>
            <a:off x="150" y="166650"/>
            <a:ext cx="91440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Poppins Light"/>
                <a:ea typeface="Poppins Light"/>
                <a:cs typeface="Poppins Light"/>
                <a:sym typeface="Poppins Light"/>
              </a:rPr>
              <a:t>Cloud Security Posture Snapshot</a:t>
            </a:r>
            <a:endParaRPr sz="2420">
              <a:latin typeface="Poppins Light"/>
              <a:ea typeface="Poppins Light"/>
              <a:cs typeface="Poppins Light"/>
              <a:sym typeface="Poppins Light"/>
            </a:endParaRPr>
          </a:p>
        </p:txBody>
      </p:sp>
      <p:pic>
        <p:nvPicPr>
          <p:cNvPr id="675" name="Google Shape;675;p58"/>
          <p:cNvPicPr preferRelativeResize="0"/>
          <p:nvPr/>
        </p:nvPicPr>
        <p:blipFill rotWithShape="1">
          <a:blip r:embed="rId3">
            <a:alphaModFix/>
          </a:blip>
          <a:srcRect/>
          <a:stretch/>
        </p:blipFill>
        <p:spPr>
          <a:xfrm>
            <a:off x="328386" y="891625"/>
            <a:ext cx="2104822" cy="1177356"/>
          </a:xfrm>
          <a:prstGeom prst="rect">
            <a:avLst/>
          </a:prstGeom>
          <a:noFill/>
          <a:ln>
            <a:noFill/>
          </a:ln>
        </p:spPr>
      </p:pic>
      <p:sp>
        <p:nvSpPr>
          <p:cNvPr id="676" name="Google Shape;676;p58"/>
          <p:cNvSpPr txBox="1"/>
          <p:nvPr/>
        </p:nvSpPr>
        <p:spPr>
          <a:xfrm>
            <a:off x="328224" y="961165"/>
            <a:ext cx="2105100" cy="2691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200" b="0" i="0" u="none" strike="noStrike" cap="none">
                <a:solidFill>
                  <a:schemeClr val="dk1"/>
                </a:solidFill>
                <a:latin typeface="Poppins"/>
                <a:ea typeface="Poppins"/>
                <a:cs typeface="Poppins"/>
                <a:sym typeface="Poppins"/>
              </a:rPr>
              <a:t>Current Security Score</a:t>
            </a:r>
            <a:endParaRPr sz="1200" b="0" i="0" u="none" strike="noStrike" cap="none">
              <a:solidFill>
                <a:schemeClr val="dk1"/>
              </a:solidFill>
              <a:latin typeface="Poppins"/>
              <a:ea typeface="Poppins"/>
              <a:cs typeface="Poppins"/>
              <a:sym typeface="Poppins"/>
            </a:endParaRPr>
          </a:p>
        </p:txBody>
      </p:sp>
      <p:sp>
        <p:nvSpPr>
          <p:cNvPr id="677" name="Google Shape;677;p58"/>
          <p:cNvSpPr txBox="1"/>
          <p:nvPr/>
        </p:nvSpPr>
        <p:spPr>
          <a:xfrm>
            <a:off x="328682" y="1709240"/>
            <a:ext cx="2104800" cy="401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Poppins"/>
                <a:ea typeface="Poppins"/>
                <a:cs typeface="Poppins"/>
                <a:sym typeface="Poppins"/>
              </a:rPr>
              <a:t>90 Day Trend {{s1d}}</a:t>
            </a:r>
            <a:endParaRPr sz="1000" b="0" i="0" u="none" strike="noStrike" cap="none">
              <a:solidFill>
                <a:schemeClr val="dk1"/>
              </a:solidFill>
              <a:latin typeface="Poppins"/>
              <a:ea typeface="Poppins"/>
              <a:cs typeface="Poppins"/>
              <a:sym typeface="Poppins"/>
            </a:endParaRPr>
          </a:p>
        </p:txBody>
      </p:sp>
      <p:sp>
        <p:nvSpPr>
          <p:cNvPr id="678" name="Google Shape;678;p58"/>
          <p:cNvSpPr txBox="1"/>
          <p:nvPr/>
        </p:nvSpPr>
        <p:spPr>
          <a:xfrm>
            <a:off x="325825" y="1275254"/>
            <a:ext cx="2104800" cy="3423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0" i="0" u="none" strike="noStrike" cap="none">
                <a:solidFill>
                  <a:srgbClr val="1155CC"/>
                </a:solidFill>
                <a:latin typeface="Poppins SemiBold"/>
                <a:ea typeface="Poppins SemiBold"/>
                <a:cs typeface="Poppins SemiBold"/>
                <a:sym typeface="Poppins SemiBold"/>
              </a:rPr>
              <a:t>{{SS}}%</a:t>
            </a:r>
            <a:endParaRPr sz="2100" b="0" i="0" u="none" strike="noStrike" cap="none">
              <a:solidFill>
                <a:srgbClr val="1155CC"/>
              </a:solidFill>
              <a:latin typeface="Poppins SemiBold"/>
              <a:ea typeface="Poppins SemiBold"/>
              <a:cs typeface="Poppins SemiBold"/>
              <a:sym typeface="Poppins SemiBold"/>
            </a:endParaRPr>
          </a:p>
        </p:txBody>
      </p:sp>
      <p:pic>
        <p:nvPicPr>
          <p:cNvPr id="679" name="Google Shape;679;p58"/>
          <p:cNvPicPr preferRelativeResize="0"/>
          <p:nvPr/>
        </p:nvPicPr>
        <p:blipFill rotWithShape="1">
          <a:blip r:embed="rId3">
            <a:alphaModFix/>
          </a:blip>
          <a:srcRect/>
          <a:stretch/>
        </p:blipFill>
        <p:spPr>
          <a:xfrm>
            <a:off x="2581991" y="897686"/>
            <a:ext cx="2072709" cy="1177356"/>
          </a:xfrm>
          <a:prstGeom prst="rect">
            <a:avLst/>
          </a:prstGeom>
          <a:noFill/>
          <a:ln>
            <a:noFill/>
          </a:ln>
        </p:spPr>
      </p:pic>
      <p:sp>
        <p:nvSpPr>
          <p:cNvPr id="680" name="Google Shape;680;p58"/>
          <p:cNvSpPr txBox="1"/>
          <p:nvPr/>
        </p:nvSpPr>
        <p:spPr>
          <a:xfrm>
            <a:off x="2581870" y="966862"/>
            <a:ext cx="2067300" cy="2610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200" b="0" i="0" u="none" strike="noStrike" cap="none">
                <a:solidFill>
                  <a:schemeClr val="dk1"/>
                </a:solidFill>
                <a:latin typeface="Poppins"/>
                <a:ea typeface="Poppins"/>
                <a:cs typeface="Poppins"/>
                <a:sym typeface="Poppins"/>
              </a:rPr>
              <a:t>Industry Benchmark</a:t>
            </a:r>
            <a:endParaRPr sz="1200" b="0" i="0" u="none" strike="noStrike" cap="none">
              <a:solidFill>
                <a:schemeClr val="dk1"/>
              </a:solidFill>
              <a:latin typeface="Poppins"/>
              <a:ea typeface="Poppins"/>
              <a:cs typeface="Poppins"/>
              <a:sym typeface="Poppins"/>
            </a:endParaRPr>
          </a:p>
        </p:txBody>
      </p:sp>
      <p:sp>
        <p:nvSpPr>
          <p:cNvPr id="681" name="Google Shape;681;p58"/>
          <p:cNvSpPr txBox="1"/>
          <p:nvPr/>
        </p:nvSpPr>
        <p:spPr>
          <a:xfrm>
            <a:off x="2582409" y="1756556"/>
            <a:ext cx="2065500" cy="389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Poppins"/>
                <a:ea typeface="Poppins"/>
                <a:cs typeface="Poppins"/>
                <a:sym typeface="Poppins"/>
              </a:rPr>
              <a:t>Security Score Gap {{SG}}%</a:t>
            </a:r>
            <a:endParaRPr sz="900" b="0" i="0" u="none" strike="noStrike" cap="none">
              <a:solidFill>
                <a:schemeClr val="dk1"/>
              </a:solidFill>
              <a:latin typeface="Poppins"/>
              <a:ea typeface="Poppins"/>
              <a:cs typeface="Poppins"/>
              <a:sym typeface="Poppins"/>
            </a:endParaRPr>
          </a:p>
        </p:txBody>
      </p:sp>
      <p:sp>
        <p:nvSpPr>
          <p:cNvPr id="682" name="Google Shape;682;p58"/>
          <p:cNvSpPr txBox="1"/>
          <p:nvPr/>
        </p:nvSpPr>
        <p:spPr>
          <a:xfrm>
            <a:off x="2580848" y="1468922"/>
            <a:ext cx="2065500" cy="3318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en" sz="1700" b="0" i="0" u="none" strike="noStrike" cap="none">
                <a:solidFill>
                  <a:srgbClr val="1155CC"/>
                </a:solidFill>
                <a:latin typeface="Poppins SemiBold"/>
                <a:ea typeface="Poppins SemiBold"/>
                <a:cs typeface="Poppins SemiBold"/>
                <a:sym typeface="Poppins SemiBold"/>
              </a:rPr>
              <a:t>{{SP}}%</a:t>
            </a:r>
            <a:endParaRPr sz="1700" b="0" i="0" u="none" strike="noStrike" cap="none">
              <a:solidFill>
                <a:srgbClr val="1155CC"/>
              </a:solidFill>
              <a:latin typeface="Poppins SemiBold"/>
              <a:ea typeface="Poppins SemiBold"/>
              <a:cs typeface="Poppins SemiBold"/>
              <a:sym typeface="Poppins SemiBold"/>
            </a:endParaRPr>
          </a:p>
        </p:txBody>
      </p:sp>
      <p:pic>
        <p:nvPicPr>
          <p:cNvPr id="683" name="Google Shape;683;p58"/>
          <p:cNvPicPr preferRelativeResize="0"/>
          <p:nvPr/>
        </p:nvPicPr>
        <p:blipFill rotWithShape="1">
          <a:blip r:embed="rId3">
            <a:alphaModFix/>
          </a:blip>
          <a:srcRect/>
          <a:stretch/>
        </p:blipFill>
        <p:spPr>
          <a:xfrm>
            <a:off x="4776020" y="897687"/>
            <a:ext cx="1951974" cy="1177356"/>
          </a:xfrm>
          <a:prstGeom prst="rect">
            <a:avLst/>
          </a:prstGeom>
          <a:noFill/>
          <a:ln>
            <a:noFill/>
          </a:ln>
        </p:spPr>
      </p:pic>
      <p:sp>
        <p:nvSpPr>
          <p:cNvPr id="684" name="Google Shape;684;p58"/>
          <p:cNvSpPr txBox="1"/>
          <p:nvPr/>
        </p:nvSpPr>
        <p:spPr>
          <a:xfrm>
            <a:off x="4775870" y="955658"/>
            <a:ext cx="1952100" cy="2691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200" b="0" i="0" u="sng" strike="noStrike" cap="none">
                <a:solidFill>
                  <a:srgbClr val="0254EC"/>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Open Critical Issues</a:t>
            </a:r>
            <a:r>
              <a:rPr lang="en" sz="1200" b="0" i="0" u="none" strike="noStrike" cap="none">
                <a:solidFill>
                  <a:srgbClr val="0254EC"/>
                </a:solidFill>
                <a:latin typeface="Poppins"/>
                <a:ea typeface="Poppins"/>
                <a:cs typeface="Poppins"/>
                <a:sym typeface="Poppins"/>
              </a:rPr>
              <a:t> ↗</a:t>
            </a:r>
            <a:endParaRPr sz="1200" b="0" i="0" u="none" strike="noStrike" cap="none">
              <a:solidFill>
                <a:srgbClr val="0254EC"/>
              </a:solidFill>
              <a:latin typeface="Poppins"/>
              <a:ea typeface="Poppins"/>
              <a:cs typeface="Poppins"/>
              <a:sym typeface="Poppins"/>
            </a:endParaRPr>
          </a:p>
        </p:txBody>
      </p:sp>
      <p:sp>
        <p:nvSpPr>
          <p:cNvPr id="685" name="Google Shape;685;p58"/>
          <p:cNvSpPr txBox="1"/>
          <p:nvPr/>
        </p:nvSpPr>
        <p:spPr>
          <a:xfrm>
            <a:off x="4775970" y="1697930"/>
            <a:ext cx="1952100" cy="401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rgbClr val="0254EC"/>
                </a:solidFill>
                <a:latin typeface="Poppins"/>
                <a:ea typeface="Poppins"/>
                <a:cs typeface="Poppins"/>
                <a:sym typeface="Poppins"/>
                <a:hlinkClick r:id="rId5">
                  <a:extLst>
                    <a:ext uri="{A12FA001-AC4F-418D-AE19-62706E023703}">
                      <ahyp:hlinkClr xmlns:ahyp="http://schemas.microsoft.com/office/drawing/2018/hyperlinkcolor" val="tx"/>
                    </a:ext>
                  </a:extLst>
                </a:hlinkClick>
              </a:rPr>
              <a:t>Resolved Criticals </a:t>
            </a:r>
            <a:r>
              <a:rPr lang="en" sz="1100" b="0" i="0" u="none" strike="noStrike" cap="none">
                <a:solidFill>
                  <a:srgbClr val="0254EC"/>
                </a:solidFill>
                <a:uFill>
                  <a:noFill/>
                </a:uFill>
                <a:latin typeface="Poppins"/>
                <a:ea typeface="Poppins"/>
                <a:cs typeface="Poppins"/>
                <a:sym typeface="Poppins"/>
                <a:hlinkClick r:id="rId5">
                  <a:extLst>
                    <a:ext uri="{A12FA001-AC4F-418D-AE19-62706E023703}">
                      <ahyp:hlinkClr xmlns:ahyp="http://schemas.microsoft.com/office/drawing/2018/hyperlinkcolor" val="tx"/>
                    </a:ext>
                  </a:extLst>
                </a:hlinkClick>
              </a:rPr>
              <a:t>↗</a:t>
            </a:r>
            <a:r>
              <a:rPr lang="en" sz="1000" b="0" i="0" u="none" strike="noStrike" cap="none">
                <a:solidFill>
                  <a:srgbClr val="0254EC"/>
                </a:solidFill>
                <a:latin typeface="Poppins"/>
                <a:ea typeface="Poppins"/>
                <a:cs typeface="Poppins"/>
                <a:sym typeface="Poppins"/>
              </a:rPr>
              <a:t> </a:t>
            </a:r>
            <a:r>
              <a:rPr lang="en" sz="1000" b="1" i="0" u="none" strike="noStrike" cap="none">
                <a:solidFill>
                  <a:srgbClr val="0254EC"/>
                </a:solidFill>
                <a:latin typeface="Poppins"/>
                <a:ea typeface="Poppins"/>
                <a:cs typeface="Poppins"/>
                <a:sym typeface="Poppins"/>
              </a:rPr>
              <a:t>{{RC}}</a:t>
            </a:r>
            <a:endParaRPr sz="1000" b="1" i="0" u="none" strike="noStrike" cap="none">
              <a:solidFill>
                <a:srgbClr val="0254EC"/>
              </a:solidFill>
              <a:latin typeface="Poppins"/>
              <a:ea typeface="Poppins"/>
              <a:cs typeface="Poppins"/>
              <a:sym typeface="Poppins"/>
            </a:endParaRPr>
          </a:p>
        </p:txBody>
      </p:sp>
      <p:sp>
        <p:nvSpPr>
          <p:cNvPr id="686" name="Google Shape;686;p58"/>
          <p:cNvSpPr txBox="1"/>
          <p:nvPr/>
        </p:nvSpPr>
        <p:spPr>
          <a:xfrm>
            <a:off x="4773495" y="1274373"/>
            <a:ext cx="1951800" cy="3423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0" i="0" u="none" strike="noStrike" cap="none">
                <a:solidFill>
                  <a:srgbClr val="1155CC"/>
                </a:solidFill>
                <a:latin typeface="Poppins SemiBold"/>
                <a:ea typeface="Poppins SemiBold"/>
                <a:cs typeface="Poppins SemiBold"/>
                <a:sym typeface="Poppins SemiBold"/>
              </a:rPr>
              <a:t>{{OC}}</a:t>
            </a:r>
            <a:endParaRPr sz="2100" b="0" i="0" u="none" strike="noStrike" cap="none">
              <a:solidFill>
                <a:srgbClr val="1155CC"/>
              </a:solidFill>
              <a:latin typeface="Poppins SemiBold"/>
              <a:ea typeface="Poppins SemiBold"/>
              <a:cs typeface="Poppins SemiBold"/>
              <a:sym typeface="Poppins SemiBold"/>
            </a:endParaRPr>
          </a:p>
        </p:txBody>
      </p:sp>
      <p:pic>
        <p:nvPicPr>
          <p:cNvPr id="687" name="Google Shape;687;p58"/>
          <p:cNvPicPr preferRelativeResize="0"/>
          <p:nvPr/>
        </p:nvPicPr>
        <p:blipFill rotWithShape="1">
          <a:blip r:embed="rId3">
            <a:alphaModFix/>
          </a:blip>
          <a:srcRect/>
          <a:stretch/>
        </p:blipFill>
        <p:spPr>
          <a:xfrm>
            <a:off x="6866110" y="897687"/>
            <a:ext cx="1951974" cy="1177356"/>
          </a:xfrm>
          <a:prstGeom prst="rect">
            <a:avLst/>
          </a:prstGeom>
          <a:noFill/>
          <a:ln>
            <a:noFill/>
          </a:ln>
        </p:spPr>
      </p:pic>
      <p:sp>
        <p:nvSpPr>
          <p:cNvPr id="688" name="Google Shape;688;p58"/>
          <p:cNvSpPr txBox="1"/>
          <p:nvPr/>
        </p:nvSpPr>
        <p:spPr>
          <a:xfrm>
            <a:off x="6865973" y="948265"/>
            <a:ext cx="1952100" cy="2577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200" b="0" i="0" u="sng" strike="noStrike" cap="none">
                <a:solidFill>
                  <a:srgbClr val="0254EC"/>
                </a:solidFill>
                <a:latin typeface="Poppins"/>
                <a:ea typeface="Poppins"/>
                <a:cs typeface="Poppins"/>
                <a:sym typeface="Poppins"/>
                <a:hlinkClick r:id="rId6">
                  <a:extLst>
                    <a:ext uri="{A12FA001-AC4F-418D-AE19-62706E023703}">
                      <ahyp:hlinkClr xmlns:ahyp="http://schemas.microsoft.com/office/drawing/2018/hyperlinkcolor" val="tx"/>
                    </a:ext>
                  </a:extLst>
                </a:hlinkClick>
              </a:rPr>
              <a:t>Open High Issues</a:t>
            </a:r>
            <a:r>
              <a:rPr lang="en" sz="1200" b="0" i="0" u="none" strike="noStrike" cap="none">
                <a:solidFill>
                  <a:srgbClr val="0254EC"/>
                </a:solidFill>
                <a:latin typeface="Poppins"/>
                <a:ea typeface="Poppins"/>
                <a:cs typeface="Poppins"/>
                <a:sym typeface="Poppins"/>
              </a:rPr>
              <a:t> ↗</a:t>
            </a:r>
            <a:endParaRPr sz="1200" b="0" i="0" u="none" strike="noStrike" cap="none">
              <a:solidFill>
                <a:srgbClr val="0254EC"/>
              </a:solidFill>
              <a:latin typeface="Poppins"/>
              <a:ea typeface="Poppins"/>
              <a:cs typeface="Poppins"/>
              <a:sym typeface="Poppins"/>
            </a:endParaRPr>
          </a:p>
        </p:txBody>
      </p:sp>
      <p:sp>
        <p:nvSpPr>
          <p:cNvPr id="689" name="Google Shape;689;p58"/>
          <p:cNvSpPr txBox="1"/>
          <p:nvPr/>
        </p:nvSpPr>
        <p:spPr>
          <a:xfrm>
            <a:off x="6866072" y="1682413"/>
            <a:ext cx="1952100" cy="384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dirty="0">
                <a:solidFill>
                  <a:srgbClr val="0254EC"/>
                </a:solidFill>
                <a:latin typeface="Poppins"/>
                <a:ea typeface="Poppins"/>
                <a:cs typeface="Poppins"/>
                <a:sym typeface="Poppins"/>
                <a:hlinkClick r:id="rId7">
                  <a:extLst>
                    <a:ext uri="{A12FA001-AC4F-418D-AE19-62706E023703}">
                      <ahyp:hlinkClr xmlns:ahyp="http://schemas.microsoft.com/office/drawing/2018/hyperlinkcolor" val="tx"/>
                    </a:ext>
                  </a:extLst>
                </a:hlinkClick>
              </a:rPr>
              <a:t>Resolved Highs</a:t>
            </a:r>
            <a:r>
              <a:rPr lang="en" sz="1000" b="0" i="0" u="none" strike="noStrike" cap="none" dirty="0">
                <a:solidFill>
                  <a:srgbClr val="0254EC"/>
                </a:solidFill>
                <a:latin typeface="Poppins"/>
                <a:ea typeface="Poppins"/>
                <a:cs typeface="Poppins"/>
                <a:sym typeface="Poppins"/>
              </a:rPr>
              <a:t> </a:t>
            </a:r>
            <a:r>
              <a:rPr lang="en" sz="1100" b="0" i="0" u="none" strike="noStrike" cap="none" dirty="0">
                <a:solidFill>
                  <a:srgbClr val="0254EC"/>
                </a:solidFill>
                <a:uFill>
                  <a:noFill/>
                </a:uFill>
                <a:latin typeface="Poppins"/>
                <a:ea typeface="Poppins"/>
                <a:cs typeface="Poppins"/>
                <a:sym typeface="Poppins"/>
                <a:hlinkClick r:id="rId7">
                  <a:extLst>
                    <a:ext uri="{A12FA001-AC4F-418D-AE19-62706E023703}">
                      <ahyp:hlinkClr xmlns:ahyp="http://schemas.microsoft.com/office/drawing/2018/hyperlinkcolor" val="tx"/>
                    </a:ext>
                  </a:extLst>
                </a:hlinkClick>
              </a:rPr>
              <a:t>↗</a:t>
            </a:r>
            <a:r>
              <a:rPr lang="en" sz="1000" b="0" i="0" u="none" strike="noStrike" cap="none" dirty="0">
                <a:solidFill>
                  <a:srgbClr val="0254EC"/>
                </a:solidFill>
                <a:latin typeface="Poppins"/>
                <a:ea typeface="Poppins"/>
                <a:cs typeface="Poppins"/>
                <a:sym typeface="Poppins"/>
              </a:rPr>
              <a:t> </a:t>
            </a:r>
            <a:r>
              <a:rPr lang="en" sz="1000" b="1" i="0" u="none" strike="noStrike" cap="none" dirty="0">
                <a:solidFill>
                  <a:srgbClr val="0254EC"/>
                </a:solidFill>
                <a:latin typeface="Poppins"/>
                <a:ea typeface="Poppins"/>
                <a:cs typeface="Poppins"/>
                <a:sym typeface="Poppins"/>
              </a:rPr>
              <a:t>{{RH}}</a:t>
            </a:r>
            <a:endParaRPr sz="900" b="1" i="0" u="none" strike="noStrike" cap="none" dirty="0">
              <a:solidFill>
                <a:srgbClr val="0254EC"/>
              </a:solidFill>
              <a:latin typeface="Poppins"/>
              <a:ea typeface="Poppins"/>
              <a:cs typeface="Poppins"/>
              <a:sym typeface="Poppins"/>
            </a:endParaRPr>
          </a:p>
        </p:txBody>
      </p:sp>
      <p:sp>
        <p:nvSpPr>
          <p:cNvPr id="690" name="Google Shape;690;p58"/>
          <p:cNvSpPr txBox="1"/>
          <p:nvPr/>
        </p:nvSpPr>
        <p:spPr>
          <a:xfrm>
            <a:off x="6863397" y="1267303"/>
            <a:ext cx="1952100" cy="3273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0" i="0" u="none" strike="noStrike" cap="none">
                <a:solidFill>
                  <a:srgbClr val="1155CC"/>
                </a:solidFill>
                <a:latin typeface="Poppins SemiBold"/>
                <a:ea typeface="Poppins SemiBold"/>
                <a:cs typeface="Poppins SemiBold"/>
                <a:sym typeface="Poppins SemiBold"/>
              </a:rPr>
              <a:t>{{OH}}</a:t>
            </a:r>
            <a:endParaRPr sz="2100" b="0" i="0" u="none" strike="noStrike" cap="none">
              <a:solidFill>
                <a:srgbClr val="1155CC"/>
              </a:solidFill>
              <a:latin typeface="Poppins SemiBold"/>
              <a:ea typeface="Poppins SemiBold"/>
              <a:cs typeface="Poppins SemiBold"/>
              <a:sym typeface="Poppins SemiBold"/>
            </a:endParaRPr>
          </a:p>
        </p:txBody>
      </p:sp>
      <p:pic>
        <p:nvPicPr>
          <p:cNvPr id="691" name="Google Shape;691;p58"/>
          <p:cNvPicPr preferRelativeResize="0"/>
          <p:nvPr/>
        </p:nvPicPr>
        <p:blipFill rotWithShape="1">
          <a:blip r:embed="rId3">
            <a:alphaModFix/>
          </a:blip>
          <a:srcRect/>
          <a:stretch/>
        </p:blipFill>
        <p:spPr>
          <a:xfrm>
            <a:off x="331250" y="2224649"/>
            <a:ext cx="2100500" cy="1268051"/>
          </a:xfrm>
          <a:prstGeom prst="rect">
            <a:avLst/>
          </a:prstGeom>
          <a:noFill/>
          <a:ln>
            <a:noFill/>
          </a:ln>
        </p:spPr>
      </p:pic>
      <p:sp>
        <p:nvSpPr>
          <p:cNvPr id="692" name="Google Shape;692;p58"/>
          <p:cNvSpPr txBox="1"/>
          <p:nvPr/>
        </p:nvSpPr>
        <p:spPr>
          <a:xfrm>
            <a:off x="331089" y="2303994"/>
            <a:ext cx="2100600" cy="2691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200" b="0" i="0" u="none" strike="noStrike" cap="none">
                <a:solidFill>
                  <a:schemeClr val="dk1"/>
                </a:solidFill>
                <a:latin typeface="Poppins"/>
                <a:ea typeface="Poppins"/>
                <a:cs typeface="Poppins"/>
                <a:sym typeface="Poppins"/>
              </a:rPr>
              <a:t>Ignored Issues</a:t>
            </a:r>
            <a:endParaRPr sz="1200" b="0" i="0" u="none" strike="noStrike" cap="none">
              <a:solidFill>
                <a:schemeClr val="dk1"/>
              </a:solidFill>
              <a:latin typeface="Poppins"/>
              <a:ea typeface="Poppins"/>
              <a:cs typeface="Poppins"/>
              <a:sym typeface="Poppins"/>
            </a:endParaRPr>
          </a:p>
        </p:txBody>
      </p:sp>
      <p:sp>
        <p:nvSpPr>
          <p:cNvPr id="693" name="Google Shape;693;p58"/>
          <p:cNvSpPr txBox="1"/>
          <p:nvPr/>
        </p:nvSpPr>
        <p:spPr>
          <a:xfrm>
            <a:off x="331546" y="3000634"/>
            <a:ext cx="2100300" cy="401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sng" strike="noStrike" cap="none">
                <a:solidFill>
                  <a:srgbClr val="0254EC"/>
                </a:solidFill>
                <a:latin typeface="Poppins"/>
                <a:ea typeface="Poppins"/>
                <a:cs typeface="Poppins"/>
                <a:sym typeface="Poppins"/>
                <a:hlinkClick r:id="rId8">
                  <a:extLst>
                    <a:ext uri="{A12FA001-AC4F-418D-AE19-62706E023703}">
                      <ahyp:hlinkClr xmlns:ahyp="http://schemas.microsoft.com/office/drawing/2018/hyperlinkcolor" val="tx"/>
                    </a:ext>
                  </a:extLst>
                </a:hlinkClick>
              </a:rPr>
              <a:t>Total Ignored Issues</a:t>
            </a:r>
            <a:endParaRPr sz="1000" b="0" i="0" u="none" strike="noStrike" cap="none">
              <a:solidFill>
                <a:srgbClr val="0254EC"/>
              </a:solidFill>
              <a:latin typeface="Poppins"/>
              <a:ea typeface="Poppins"/>
              <a:cs typeface="Poppins"/>
              <a:sym typeface="Poppins"/>
            </a:endParaRPr>
          </a:p>
        </p:txBody>
      </p:sp>
      <p:sp>
        <p:nvSpPr>
          <p:cNvPr id="694" name="Google Shape;694;p58"/>
          <p:cNvSpPr txBox="1"/>
          <p:nvPr/>
        </p:nvSpPr>
        <p:spPr>
          <a:xfrm>
            <a:off x="328694" y="2629117"/>
            <a:ext cx="2100300" cy="3423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0" i="0" u="none" strike="noStrike" cap="none">
                <a:solidFill>
                  <a:srgbClr val="1155CC"/>
                </a:solidFill>
                <a:latin typeface="Poppins SemiBold"/>
                <a:ea typeface="Poppins SemiBold"/>
                <a:cs typeface="Poppins SemiBold"/>
                <a:sym typeface="Poppins SemiBold"/>
              </a:rPr>
              <a:t>{{RJ}}</a:t>
            </a:r>
            <a:endParaRPr sz="2100" b="0" i="0" u="none" strike="noStrike" cap="none">
              <a:solidFill>
                <a:srgbClr val="1155CC"/>
              </a:solidFill>
              <a:latin typeface="Poppins SemiBold"/>
              <a:ea typeface="Poppins SemiBold"/>
              <a:cs typeface="Poppins SemiBold"/>
              <a:sym typeface="Poppins SemiBold"/>
            </a:endParaRPr>
          </a:p>
        </p:txBody>
      </p:sp>
      <p:pic>
        <p:nvPicPr>
          <p:cNvPr id="695" name="Google Shape;695;p58"/>
          <p:cNvPicPr preferRelativeResize="0"/>
          <p:nvPr/>
        </p:nvPicPr>
        <p:blipFill rotWithShape="1">
          <a:blip r:embed="rId3">
            <a:alphaModFix/>
          </a:blip>
          <a:srcRect/>
          <a:stretch/>
        </p:blipFill>
        <p:spPr>
          <a:xfrm>
            <a:off x="2586575" y="2230725"/>
            <a:ext cx="2100372" cy="1268051"/>
          </a:xfrm>
          <a:prstGeom prst="rect">
            <a:avLst/>
          </a:prstGeom>
          <a:noFill/>
          <a:ln>
            <a:noFill/>
          </a:ln>
        </p:spPr>
      </p:pic>
      <p:sp>
        <p:nvSpPr>
          <p:cNvPr id="696" name="Google Shape;696;p58"/>
          <p:cNvSpPr txBox="1"/>
          <p:nvPr/>
        </p:nvSpPr>
        <p:spPr>
          <a:xfrm>
            <a:off x="2586459" y="2311150"/>
            <a:ext cx="2100300" cy="2772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200" b="0" i="0" u="sng" strike="noStrike" cap="none">
                <a:solidFill>
                  <a:srgbClr val="0254EC"/>
                </a:solidFill>
                <a:latin typeface="Poppins"/>
                <a:ea typeface="Poppins"/>
                <a:cs typeface="Poppins"/>
                <a:sym typeface="Poppins"/>
                <a:hlinkClick r:id="rId9">
                  <a:extLst>
                    <a:ext uri="{A12FA001-AC4F-418D-AE19-62706E023703}">
                      <ahyp:hlinkClr xmlns:ahyp="http://schemas.microsoft.com/office/drawing/2018/hyperlinkcolor" val="tx"/>
                    </a:ext>
                  </a:extLst>
                </a:hlinkClick>
              </a:rPr>
              <a:t>AI Findings</a:t>
            </a:r>
            <a:r>
              <a:rPr lang="en" sz="1200" b="0" i="0" u="none" strike="noStrike" cap="none">
                <a:solidFill>
                  <a:srgbClr val="0254EC"/>
                </a:solidFill>
                <a:latin typeface="Poppins"/>
                <a:ea typeface="Poppins"/>
                <a:cs typeface="Poppins"/>
                <a:sym typeface="Poppins"/>
              </a:rPr>
              <a:t> ↗</a:t>
            </a:r>
            <a:endParaRPr sz="1200" b="0" i="0" u="none" strike="noStrike" cap="none">
              <a:solidFill>
                <a:srgbClr val="0254EC"/>
              </a:solidFill>
              <a:latin typeface="Poppins"/>
              <a:ea typeface="Poppins"/>
              <a:cs typeface="Poppins"/>
              <a:sym typeface="Poppins"/>
            </a:endParaRPr>
          </a:p>
        </p:txBody>
      </p:sp>
      <p:sp>
        <p:nvSpPr>
          <p:cNvPr id="697" name="Google Shape;697;p58"/>
          <p:cNvSpPr txBox="1"/>
          <p:nvPr/>
        </p:nvSpPr>
        <p:spPr>
          <a:xfrm>
            <a:off x="2583825" y="2603552"/>
            <a:ext cx="2100300" cy="10188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000"/>
              <a:buFont typeface="Arial"/>
              <a:buNone/>
            </a:pPr>
            <a:r>
              <a:rPr lang="en" sz="1000" b="0" i="0" u="none" strike="noStrike" cap="none">
                <a:solidFill>
                  <a:srgbClr val="1155CC"/>
                </a:solidFill>
                <a:latin typeface="Poppins SemiBold"/>
                <a:ea typeface="Poppins SemiBold"/>
                <a:cs typeface="Poppins SemiBold"/>
                <a:sym typeface="Poppins SemiBold"/>
              </a:rPr>
              <a:t>Security Findings: {{AI_SF}}</a:t>
            </a:r>
            <a:br>
              <a:rPr lang="en" sz="1000" b="0" i="0" u="none" strike="noStrike" cap="none">
                <a:solidFill>
                  <a:srgbClr val="1155CC"/>
                </a:solidFill>
                <a:latin typeface="Poppins SemiBold"/>
                <a:ea typeface="Poppins SemiBold"/>
                <a:cs typeface="Poppins SemiBold"/>
                <a:sym typeface="Poppins SemiBold"/>
              </a:rPr>
            </a:br>
            <a:r>
              <a:rPr lang="en" sz="1000" b="0" i="0" u="none" strike="noStrike" cap="none">
                <a:solidFill>
                  <a:srgbClr val="1155CC"/>
                </a:solidFill>
                <a:latin typeface="Poppins SemiBold"/>
                <a:ea typeface="Poppins SemiBold"/>
                <a:cs typeface="Poppins SemiBold"/>
                <a:sym typeface="Poppins SemiBold"/>
              </a:rPr>
              <a:t>Configuration Findings: {{AI_MF}}</a:t>
            </a:r>
            <a:endParaRPr sz="1000" b="0" i="0" u="none" strike="noStrike" cap="none">
              <a:solidFill>
                <a:srgbClr val="1155CC"/>
              </a:solidFill>
              <a:latin typeface="Poppins SemiBold"/>
              <a:ea typeface="Poppins SemiBold"/>
              <a:cs typeface="Poppins SemiBold"/>
              <a:sym typeface="Poppins SemiBold"/>
            </a:endParaRPr>
          </a:p>
          <a:p>
            <a:pPr marL="0" marR="0" lvl="0" indent="0" algn="l" rtl="0">
              <a:lnSpc>
                <a:spcPct val="150000"/>
              </a:lnSpc>
              <a:spcBef>
                <a:spcPts val="0"/>
              </a:spcBef>
              <a:spcAft>
                <a:spcPts val="0"/>
              </a:spcAft>
              <a:buClr>
                <a:srgbClr val="000000"/>
              </a:buClr>
              <a:buSzPts val="1000"/>
              <a:buFont typeface="Arial"/>
              <a:buNone/>
            </a:pPr>
            <a:r>
              <a:rPr lang="en" sz="1000" b="0" i="0" u="none" strike="noStrike" cap="none">
                <a:solidFill>
                  <a:srgbClr val="1155CC"/>
                </a:solidFill>
                <a:latin typeface="Poppins SemiBold"/>
                <a:ea typeface="Poppins SemiBold"/>
                <a:cs typeface="Poppins SemiBold"/>
                <a:sym typeface="Poppins SemiBold"/>
              </a:rPr>
              <a:t>AI Inventory Findings: {{AI_IF}}</a:t>
            </a:r>
            <a:endParaRPr sz="1000" b="0" i="0" u="none" strike="noStrike" cap="none">
              <a:solidFill>
                <a:srgbClr val="1155CC"/>
              </a:solidFill>
              <a:latin typeface="Poppins SemiBold"/>
              <a:ea typeface="Poppins SemiBold"/>
              <a:cs typeface="Poppins SemiBold"/>
              <a:sym typeface="Poppins SemiBold"/>
            </a:endParaRPr>
          </a:p>
        </p:txBody>
      </p:sp>
      <p:pic>
        <p:nvPicPr>
          <p:cNvPr id="698" name="Google Shape;698;p58"/>
          <p:cNvPicPr preferRelativeResize="0"/>
          <p:nvPr/>
        </p:nvPicPr>
        <p:blipFill rotWithShape="1">
          <a:blip r:embed="rId10">
            <a:alphaModFix/>
          </a:blip>
          <a:srcRect/>
          <a:stretch/>
        </p:blipFill>
        <p:spPr>
          <a:xfrm>
            <a:off x="334850" y="3601610"/>
            <a:ext cx="2100726" cy="1404216"/>
          </a:xfrm>
          <a:prstGeom prst="rect">
            <a:avLst/>
          </a:prstGeom>
          <a:noFill/>
          <a:ln>
            <a:noFill/>
          </a:ln>
        </p:spPr>
      </p:pic>
      <p:sp>
        <p:nvSpPr>
          <p:cNvPr id="699" name="Google Shape;699;p58"/>
          <p:cNvSpPr txBox="1"/>
          <p:nvPr/>
        </p:nvSpPr>
        <p:spPr>
          <a:xfrm>
            <a:off x="377423" y="3721314"/>
            <a:ext cx="2028884" cy="3846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300" b="0" i="0" u="sng" strike="noStrike" cap="none" dirty="0">
                <a:solidFill>
                  <a:srgbClr val="0254EC"/>
                </a:solidFill>
                <a:latin typeface="Poppins"/>
                <a:ea typeface="Poppins"/>
                <a:cs typeface="Poppins"/>
                <a:sym typeface="Poppins"/>
                <a:hlinkClick r:id="rId11">
                  <a:extLst>
                    <a:ext uri="{A12FA001-AC4F-418D-AE19-62706E023703}">
                      <ahyp:hlinkClr xmlns:ahyp="http://schemas.microsoft.com/office/drawing/2018/hyperlinkcolor" val="tx"/>
                    </a:ext>
                  </a:extLst>
                </a:hlinkClick>
              </a:rPr>
              <a:t>Threats MTTR </a:t>
            </a:r>
            <a:r>
              <a:rPr lang="en" sz="1300" b="0" i="0" u="none" strike="noStrike" cap="none" dirty="0">
                <a:solidFill>
                  <a:srgbClr val="0254EC"/>
                </a:solidFill>
                <a:uFill>
                  <a:noFill/>
                </a:uFill>
                <a:latin typeface="Poppins"/>
                <a:ea typeface="Poppins"/>
                <a:cs typeface="Poppins"/>
                <a:sym typeface="Poppins"/>
                <a:hlinkClick r:id="rId11">
                  <a:extLst>
                    <a:ext uri="{A12FA001-AC4F-418D-AE19-62706E023703}">
                      <ahyp:hlinkClr xmlns:ahyp="http://schemas.microsoft.com/office/drawing/2018/hyperlinkcolor" val="tx"/>
                    </a:ext>
                  </a:extLst>
                </a:hlinkClick>
              </a:rPr>
              <a:t>↗</a:t>
            </a:r>
            <a:endParaRPr sz="1300" b="0" i="0" u="none" strike="noStrike" cap="none" dirty="0">
              <a:solidFill>
                <a:srgbClr val="0254EC"/>
              </a:solidFill>
              <a:latin typeface="Poppins"/>
              <a:ea typeface="Poppins"/>
              <a:cs typeface="Poppins"/>
              <a:sym typeface="Poppins"/>
            </a:endParaRPr>
          </a:p>
        </p:txBody>
      </p:sp>
      <p:sp>
        <p:nvSpPr>
          <p:cNvPr id="700" name="Google Shape;700;p58"/>
          <p:cNvSpPr txBox="1"/>
          <p:nvPr/>
        </p:nvSpPr>
        <p:spPr>
          <a:xfrm>
            <a:off x="368756" y="4062355"/>
            <a:ext cx="2028884" cy="3822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0" i="0" u="none" strike="noStrike" cap="none">
                <a:solidFill>
                  <a:srgbClr val="1155CC"/>
                </a:solidFill>
                <a:latin typeface="Poppins SemiBold"/>
                <a:ea typeface="Poppins SemiBold"/>
                <a:cs typeface="Poppins SemiBold"/>
                <a:sym typeface="Poppins SemiBold"/>
              </a:rPr>
              <a:t>{{MTTR_O}}</a:t>
            </a:r>
            <a:endParaRPr sz="2100" b="0" i="0" u="none" strike="noStrike" cap="none">
              <a:solidFill>
                <a:srgbClr val="1155CC"/>
              </a:solidFill>
              <a:latin typeface="Poppins SemiBold"/>
              <a:ea typeface="Poppins SemiBold"/>
              <a:cs typeface="Poppins SemiBold"/>
              <a:sym typeface="Poppins SemiBold"/>
            </a:endParaRPr>
          </a:p>
        </p:txBody>
      </p:sp>
      <p:sp>
        <p:nvSpPr>
          <p:cNvPr id="701" name="Google Shape;701;p58"/>
          <p:cNvSpPr txBox="1"/>
          <p:nvPr/>
        </p:nvSpPr>
        <p:spPr>
          <a:xfrm>
            <a:off x="368756" y="4505977"/>
            <a:ext cx="2028884" cy="23013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Poppins"/>
                <a:ea typeface="Poppins"/>
                <a:cs typeface="Poppins"/>
                <a:sym typeface="Poppins"/>
              </a:rPr>
              <a:t>Days</a:t>
            </a:r>
            <a:endParaRPr sz="1200" b="0" i="0" u="none" strike="noStrike" cap="none">
              <a:solidFill>
                <a:schemeClr val="dk1"/>
              </a:solidFill>
              <a:latin typeface="Poppins"/>
              <a:ea typeface="Poppins"/>
              <a:cs typeface="Poppins"/>
              <a:sym typeface="Poppins"/>
            </a:endParaRPr>
          </a:p>
        </p:txBody>
      </p:sp>
      <p:pic>
        <p:nvPicPr>
          <p:cNvPr id="702" name="Google Shape;702;p58"/>
          <p:cNvPicPr preferRelativeResize="0"/>
          <p:nvPr/>
        </p:nvPicPr>
        <p:blipFill rotWithShape="1">
          <a:blip r:embed="rId10">
            <a:alphaModFix/>
          </a:blip>
          <a:srcRect/>
          <a:stretch/>
        </p:blipFill>
        <p:spPr>
          <a:xfrm>
            <a:off x="2585906" y="3601600"/>
            <a:ext cx="2100895" cy="1404216"/>
          </a:xfrm>
          <a:prstGeom prst="rect">
            <a:avLst/>
          </a:prstGeom>
          <a:noFill/>
          <a:ln>
            <a:noFill/>
          </a:ln>
        </p:spPr>
      </p:pic>
      <p:sp>
        <p:nvSpPr>
          <p:cNvPr id="703" name="Google Shape;703;p58"/>
          <p:cNvSpPr txBox="1"/>
          <p:nvPr/>
        </p:nvSpPr>
        <p:spPr>
          <a:xfrm>
            <a:off x="2644411" y="3707460"/>
            <a:ext cx="1986065" cy="38460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2"/>
              </a:buClr>
              <a:buSzPts val="1500"/>
              <a:buFont typeface="Arial"/>
              <a:buNone/>
            </a:pPr>
            <a:r>
              <a:rPr lang="en" sz="1300" b="0" i="0" u="sng" strike="noStrike" cap="none">
                <a:solidFill>
                  <a:srgbClr val="0254EC"/>
                </a:solidFill>
                <a:latin typeface="Poppins"/>
                <a:ea typeface="Poppins"/>
                <a:cs typeface="Poppins"/>
                <a:sym typeface="Poppins"/>
                <a:hlinkClick r:id="rId12">
                  <a:extLst>
                    <a:ext uri="{A12FA001-AC4F-418D-AE19-62706E023703}">
                      <ahyp:hlinkClr xmlns:ahyp="http://schemas.microsoft.com/office/drawing/2018/hyperlinkcolor" val="tx"/>
                    </a:ext>
                  </a:extLst>
                </a:hlinkClick>
              </a:rPr>
              <a:t>Open Threats</a:t>
            </a:r>
            <a:r>
              <a:rPr lang="en" sz="1300" b="0" i="0" u="none" strike="noStrike" cap="none">
                <a:solidFill>
                  <a:srgbClr val="0254EC"/>
                </a:solidFill>
                <a:latin typeface="Poppins"/>
                <a:ea typeface="Poppins"/>
                <a:cs typeface="Poppins"/>
                <a:sym typeface="Poppins"/>
              </a:rPr>
              <a:t> ↗</a:t>
            </a:r>
            <a:endParaRPr sz="1300" b="0" i="0" u="none" strike="noStrike" cap="none">
              <a:solidFill>
                <a:srgbClr val="0254EC"/>
              </a:solidFill>
              <a:latin typeface="Poppins"/>
              <a:ea typeface="Poppins"/>
              <a:cs typeface="Poppins"/>
              <a:sym typeface="Poppins"/>
            </a:endParaRPr>
          </a:p>
        </p:txBody>
      </p:sp>
      <p:sp>
        <p:nvSpPr>
          <p:cNvPr id="704" name="Google Shape;704;p58"/>
          <p:cNvSpPr txBox="1"/>
          <p:nvPr/>
        </p:nvSpPr>
        <p:spPr>
          <a:xfrm>
            <a:off x="2609187" y="4107445"/>
            <a:ext cx="2047876" cy="382200"/>
          </a:xfrm>
          <a:prstGeom prst="rect">
            <a:avLst/>
          </a:prstGeom>
          <a:noFill/>
          <a:ln>
            <a:noFill/>
          </a:ln>
          <a:effectLst>
            <a:outerShdw blurRad="57150" dist="19050" dir="5400000" algn="bl" rotWithShape="0">
              <a:srgbClr val="674EA7">
                <a:alpha val="56078"/>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0" i="0" u="none" strike="noStrike" cap="none">
                <a:solidFill>
                  <a:srgbClr val="1155CC"/>
                </a:solidFill>
                <a:latin typeface="Poppins SemiBold"/>
                <a:ea typeface="Poppins SemiBold"/>
                <a:cs typeface="Poppins SemiBold"/>
                <a:sym typeface="Poppins SemiBold"/>
              </a:rPr>
              <a:t>{{OT}}</a:t>
            </a:r>
            <a:endParaRPr sz="2100" b="0" i="0" u="none" strike="noStrike" cap="none">
              <a:solidFill>
                <a:srgbClr val="1155CC"/>
              </a:solidFill>
              <a:latin typeface="Poppins SemiBold"/>
              <a:ea typeface="Poppins SemiBold"/>
              <a:cs typeface="Poppins SemiBold"/>
              <a:sym typeface="Poppins SemiBold"/>
            </a:endParaRPr>
          </a:p>
        </p:txBody>
      </p:sp>
      <p:sp>
        <p:nvSpPr>
          <p:cNvPr id="705" name="Google Shape;705;p58"/>
          <p:cNvSpPr txBox="1"/>
          <p:nvPr/>
        </p:nvSpPr>
        <p:spPr>
          <a:xfrm>
            <a:off x="2609180" y="4597077"/>
            <a:ext cx="2047876" cy="327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Poppins"/>
                <a:ea typeface="Poppins"/>
                <a:cs typeface="Poppins"/>
                <a:sym typeface="Poppins"/>
              </a:rPr>
              <a:t>Resolved Threats: {{RT}}</a:t>
            </a:r>
            <a:br>
              <a:rPr lang="en" sz="1200" b="0" i="0" u="none" strike="noStrike" cap="none">
                <a:solidFill>
                  <a:schemeClr val="dk1"/>
                </a:solidFill>
                <a:latin typeface="Poppins"/>
                <a:ea typeface="Poppins"/>
                <a:cs typeface="Poppins"/>
                <a:sym typeface="Poppins"/>
              </a:rPr>
            </a:br>
            <a:r>
              <a:rPr lang="en" sz="1200" b="0" i="0" u="none" strike="noStrike" cap="none">
                <a:solidFill>
                  <a:schemeClr val="dk1"/>
                </a:solidFill>
                <a:latin typeface="Poppins"/>
                <a:ea typeface="Poppins"/>
                <a:cs typeface="Poppins"/>
                <a:sym typeface="Poppins"/>
              </a:rPr>
              <a:t>Past 90 Days</a:t>
            </a:r>
            <a:endParaRPr sz="1200" b="0" i="0" u="none" strike="noStrike" cap="none">
              <a:solidFill>
                <a:schemeClr val="dk1"/>
              </a:solidFill>
              <a:latin typeface="Poppins"/>
              <a:ea typeface="Poppins"/>
              <a:cs typeface="Poppins"/>
              <a:sym typeface="Poppins"/>
            </a:endParaRPr>
          </a:p>
        </p:txBody>
      </p:sp>
      <p:sp>
        <p:nvSpPr>
          <p:cNvPr id="706" name="Google Shape;706;p58"/>
          <p:cNvSpPr txBox="1"/>
          <p:nvPr/>
        </p:nvSpPr>
        <p:spPr>
          <a:xfrm>
            <a:off x="2587908" y="1206673"/>
            <a:ext cx="2067000" cy="331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Poppins"/>
                <a:ea typeface="Poppins"/>
                <a:cs typeface="Poppins"/>
                <a:sym typeface="Poppins"/>
              </a:rPr>
              <a:t>Industry: {{SS_I}}</a:t>
            </a:r>
            <a:endParaRPr sz="800" b="0" i="0" u="none" strike="noStrike" cap="none">
              <a:solidFill>
                <a:schemeClr val="dk1"/>
              </a:solidFill>
              <a:latin typeface="Poppins"/>
              <a:ea typeface="Poppins"/>
              <a:cs typeface="Poppins"/>
              <a:sym typeface="Poppins"/>
            </a:endParaRPr>
          </a:p>
        </p:txBody>
      </p:sp>
      <p:pic>
        <p:nvPicPr>
          <p:cNvPr id="707" name="Google Shape;707;p58"/>
          <p:cNvPicPr preferRelativeResize="0"/>
          <p:nvPr/>
        </p:nvPicPr>
        <p:blipFill rotWithShape="1">
          <a:blip r:embed="rId13">
            <a:alphaModFix/>
          </a:blip>
          <a:srcRect/>
          <a:stretch/>
        </p:blipFill>
        <p:spPr>
          <a:xfrm>
            <a:off x="4848909" y="2345935"/>
            <a:ext cx="3994750" cy="1755250"/>
          </a:xfrm>
          <a:prstGeom prst="rect">
            <a:avLst/>
          </a:prstGeom>
          <a:noFill/>
          <a:ln>
            <a:noFill/>
          </a:ln>
        </p:spPr>
      </p:pic>
      <p:pic>
        <p:nvPicPr>
          <p:cNvPr id="708" name="Google Shape;708;p58"/>
          <p:cNvPicPr preferRelativeResize="0"/>
          <p:nvPr/>
        </p:nvPicPr>
        <p:blipFill rotWithShape="1">
          <a:blip r:embed="rId14">
            <a:alphaModFix/>
          </a:blip>
          <a:srcRect/>
          <a:stretch/>
        </p:blipFill>
        <p:spPr>
          <a:xfrm>
            <a:off x="5470184" y="3177785"/>
            <a:ext cx="687200" cy="382200"/>
          </a:xfrm>
          <a:prstGeom prst="rect">
            <a:avLst/>
          </a:prstGeom>
          <a:noFill/>
          <a:ln>
            <a:noFill/>
          </a:ln>
        </p:spPr>
      </p:pic>
      <p:sp>
        <p:nvSpPr>
          <p:cNvPr id="709" name="Google Shape;709;p58"/>
          <p:cNvSpPr txBox="1"/>
          <p:nvPr/>
        </p:nvSpPr>
        <p:spPr>
          <a:xfrm>
            <a:off x="5161247" y="2989098"/>
            <a:ext cx="1306500" cy="363900"/>
          </a:xfrm>
          <a:prstGeom prst="rect">
            <a:avLst/>
          </a:prstGeom>
          <a:noFill/>
          <a:ln>
            <a:noFill/>
          </a:ln>
        </p:spPr>
        <p:txBody>
          <a:bodyPr spcFirstLastPara="1" wrap="square" lIns="101700" tIns="101700" rIns="101700" bIns="1017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chemeClr val="dk1"/>
                </a:solidFill>
                <a:latin typeface="Poppins"/>
                <a:ea typeface="Poppins"/>
                <a:cs typeface="Poppins"/>
                <a:sym typeface="Poppins"/>
              </a:rPr>
              <a:t>{{AVG_AGEC}}</a:t>
            </a:r>
            <a:r>
              <a:rPr lang="en" sz="1200" b="1" i="0" u="none" strike="noStrike" cap="none">
                <a:solidFill>
                  <a:schemeClr val="dk1"/>
                </a:solidFill>
                <a:latin typeface="Poppins"/>
                <a:ea typeface="Poppins"/>
                <a:cs typeface="Poppins"/>
                <a:sym typeface="Poppins"/>
              </a:rPr>
              <a:t> </a:t>
            </a:r>
            <a:br>
              <a:rPr lang="en" sz="1200" b="1" i="0" u="none" strike="noStrike" cap="none">
                <a:solidFill>
                  <a:schemeClr val="dk1"/>
                </a:solidFill>
                <a:latin typeface="Poppins"/>
                <a:ea typeface="Poppins"/>
                <a:cs typeface="Poppins"/>
                <a:sym typeface="Poppins"/>
              </a:rPr>
            </a:br>
            <a:r>
              <a:rPr lang="en" sz="1300" b="1" i="0" u="none" strike="noStrike" cap="none">
                <a:solidFill>
                  <a:schemeClr val="dk1"/>
                </a:solidFill>
                <a:latin typeface="Poppins"/>
                <a:ea typeface="Poppins"/>
                <a:cs typeface="Poppins"/>
                <a:sym typeface="Poppins"/>
              </a:rPr>
              <a:t>Days</a:t>
            </a:r>
            <a:endParaRPr sz="1101" b="1" i="0" u="none" strike="noStrike" cap="none">
              <a:solidFill>
                <a:srgbClr val="1155CC"/>
              </a:solidFill>
              <a:latin typeface="Poppins"/>
              <a:ea typeface="Poppins"/>
              <a:cs typeface="Poppins"/>
              <a:sym typeface="Poppins"/>
            </a:endParaRPr>
          </a:p>
        </p:txBody>
      </p:sp>
      <p:pic>
        <p:nvPicPr>
          <p:cNvPr id="710" name="Google Shape;710;p58"/>
          <p:cNvPicPr preferRelativeResize="0"/>
          <p:nvPr/>
        </p:nvPicPr>
        <p:blipFill rotWithShape="1">
          <a:blip r:embed="rId14">
            <a:alphaModFix/>
          </a:blip>
          <a:srcRect/>
          <a:stretch/>
        </p:blipFill>
        <p:spPr>
          <a:xfrm>
            <a:off x="7458900" y="3219400"/>
            <a:ext cx="760050" cy="382200"/>
          </a:xfrm>
          <a:prstGeom prst="rect">
            <a:avLst/>
          </a:prstGeom>
          <a:noFill/>
          <a:ln>
            <a:noFill/>
          </a:ln>
        </p:spPr>
      </p:pic>
      <p:sp>
        <p:nvSpPr>
          <p:cNvPr id="711" name="Google Shape;711;p58"/>
          <p:cNvSpPr txBox="1"/>
          <p:nvPr/>
        </p:nvSpPr>
        <p:spPr>
          <a:xfrm>
            <a:off x="7188866" y="2990088"/>
            <a:ext cx="1306500" cy="363900"/>
          </a:xfrm>
          <a:prstGeom prst="rect">
            <a:avLst/>
          </a:prstGeom>
          <a:noFill/>
          <a:ln>
            <a:noFill/>
          </a:ln>
        </p:spPr>
        <p:txBody>
          <a:bodyPr spcFirstLastPara="1" wrap="square" lIns="101700" tIns="101700" rIns="101700" bIns="1017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chemeClr val="dk1"/>
                </a:solidFill>
                <a:latin typeface="Poppins"/>
                <a:ea typeface="Poppins"/>
                <a:cs typeface="Poppins"/>
                <a:sym typeface="Poppins"/>
              </a:rPr>
              <a:t>{{AVG_AGEH}} </a:t>
            </a:r>
            <a:br>
              <a:rPr lang="en" sz="1212" b="1" i="0" u="none" strike="noStrike" cap="none">
                <a:solidFill>
                  <a:schemeClr val="dk1"/>
                </a:solidFill>
                <a:latin typeface="Poppins"/>
                <a:ea typeface="Poppins"/>
                <a:cs typeface="Poppins"/>
                <a:sym typeface="Poppins"/>
              </a:rPr>
            </a:br>
            <a:r>
              <a:rPr lang="en" sz="1324" b="1" i="0" u="none" strike="noStrike" cap="none">
                <a:solidFill>
                  <a:schemeClr val="dk1"/>
                </a:solidFill>
                <a:latin typeface="Poppins"/>
                <a:ea typeface="Poppins"/>
                <a:cs typeface="Poppins"/>
                <a:sym typeface="Poppins"/>
              </a:rPr>
              <a:t>Days</a:t>
            </a:r>
            <a:endParaRPr sz="1101" b="1" i="0" u="none" strike="noStrike" cap="none" dirty="0">
              <a:solidFill>
                <a:srgbClr val="1155CC"/>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59"/>
          <p:cNvSpPr txBox="1">
            <a:spLocks noGrp="1"/>
          </p:cNvSpPr>
          <p:nvPr>
            <p:ph type="title" idx="4294967295"/>
          </p:nvPr>
        </p:nvSpPr>
        <p:spPr>
          <a:xfrm>
            <a:off x="150" y="166650"/>
            <a:ext cx="91440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Poppins Light"/>
                <a:ea typeface="Poppins Light"/>
                <a:cs typeface="Poppins Light"/>
                <a:sym typeface="Poppins Light"/>
              </a:rPr>
              <a:t>Cloud Security Risk Snapshot</a:t>
            </a:r>
            <a:endParaRPr sz="2420">
              <a:latin typeface="Poppins Light"/>
              <a:ea typeface="Poppins Light"/>
              <a:cs typeface="Poppins Light"/>
              <a:sym typeface="Poppins Light"/>
            </a:endParaRPr>
          </a:p>
        </p:txBody>
      </p:sp>
      <p:pic>
        <p:nvPicPr>
          <p:cNvPr id="718" name="Google Shape;718;p59"/>
          <p:cNvPicPr preferRelativeResize="0"/>
          <p:nvPr/>
        </p:nvPicPr>
        <p:blipFill rotWithShape="1">
          <a:blip r:embed="rId3">
            <a:alphaModFix/>
          </a:blip>
          <a:srcRect/>
          <a:stretch/>
        </p:blipFill>
        <p:spPr>
          <a:xfrm>
            <a:off x="107950" y="673900"/>
            <a:ext cx="7440046" cy="1064875"/>
          </a:xfrm>
          <a:prstGeom prst="rect">
            <a:avLst/>
          </a:prstGeom>
          <a:noFill/>
          <a:ln>
            <a:noFill/>
          </a:ln>
        </p:spPr>
      </p:pic>
      <p:sp>
        <p:nvSpPr>
          <p:cNvPr id="719" name="Google Shape;719;p59"/>
          <p:cNvSpPr txBox="1"/>
          <p:nvPr/>
        </p:nvSpPr>
        <p:spPr>
          <a:xfrm>
            <a:off x="375179" y="700094"/>
            <a:ext cx="1928400" cy="361500"/>
          </a:xfrm>
          <a:prstGeom prst="rect">
            <a:avLst/>
          </a:prstGeom>
          <a:noFill/>
          <a:ln>
            <a:noFill/>
          </a:ln>
        </p:spPr>
        <p:txBody>
          <a:bodyPr spcFirstLastPara="1" wrap="square" lIns="68575" tIns="34275" rIns="68575" bIns="34275" anchor="t" anchorCtr="0">
            <a:normAutofit/>
          </a:bodyPr>
          <a:lstStyle/>
          <a:p>
            <a:pPr marL="0" marR="0" lvl="0" indent="0" algn="l" rtl="0">
              <a:lnSpc>
                <a:spcPct val="90000"/>
              </a:lnSpc>
              <a:spcBef>
                <a:spcPts val="0"/>
              </a:spcBef>
              <a:spcAft>
                <a:spcPts val="0"/>
              </a:spcAft>
              <a:buClr>
                <a:schemeClr val="dk2"/>
              </a:buClr>
              <a:buSzPts val="1500"/>
              <a:buFont typeface="Arial"/>
              <a:buNone/>
            </a:pPr>
            <a:r>
              <a:rPr lang="en" sz="1400" b="0" i="0" u="none" strike="noStrike" cap="none">
                <a:solidFill>
                  <a:schemeClr val="dk1"/>
                </a:solidFill>
                <a:latin typeface="Poppins"/>
                <a:ea typeface="Poppins"/>
                <a:cs typeface="Poppins"/>
                <a:sym typeface="Poppins"/>
              </a:rPr>
              <a:t>External Exposure</a:t>
            </a:r>
            <a:endParaRPr sz="1400" b="0" i="0" u="none" strike="noStrike" cap="none">
              <a:solidFill>
                <a:schemeClr val="dk1"/>
              </a:solidFill>
              <a:latin typeface="Poppins"/>
              <a:ea typeface="Poppins"/>
              <a:cs typeface="Poppins"/>
              <a:sym typeface="Poppins"/>
            </a:endParaRPr>
          </a:p>
        </p:txBody>
      </p:sp>
      <p:sp>
        <p:nvSpPr>
          <p:cNvPr id="720" name="Google Shape;720;p59"/>
          <p:cNvSpPr txBox="1"/>
          <p:nvPr/>
        </p:nvSpPr>
        <p:spPr>
          <a:xfrm>
            <a:off x="269504" y="1081747"/>
            <a:ext cx="3964500" cy="359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1155CC"/>
                </a:solidFill>
                <a:latin typeface="Poppins SemiBold"/>
                <a:ea typeface="Poppins SemiBold"/>
                <a:cs typeface="Poppins SemiBold"/>
                <a:sym typeface="Poppins SemiBold"/>
              </a:rPr>
              <a:t>HTTP Application Endpoints  {{AE_HTTP}}</a:t>
            </a:r>
            <a:endParaRPr sz="1000" b="0" i="0" u="none" strike="noStrike" cap="none">
              <a:solidFill>
                <a:srgbClr val="1155CC"/>
              </a:solidFill>
              <a:latin typeface="Poppins SemiBold"/>
              <a:ea typeface="Poppins SemiBold"/>
              <a:cs typeface="Poppins SemiBold"/>
              <a:sym typeface="Poppins SemiBold"/>
            </a:endParaRPr>
          </a:p>
        </p:txBody>
      </p:sp>
      <p:sp>
        <p:nvSpPr>
          <p:cNvPr id="721" name="Google Shape;721;p59"/>
          <p:cNvSpPr txBox="1"/>
          <p:nvPr/>
        </p:nvSpPr>
        <p:spPr>
          <a:xfrm>
            <a:off x="273692" y="1374797"/>
            <a:ext cx="3964500" cy="359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1155CC"/>
                </a:solidFill>
                <a:latin typeface="Poppins SemiBold"/>
                <a:ea typeface="Poppins SemiBold"/>
                <a:cs typeface="Poppins SemiBold"/>
                <a:sym typeface="Poppins SemiBold"/>
              </a:rPr>
              <a:t>Non-HTTP Application Endpoints  {{AE_NHTTP}}</a:t>
            </a:r>
            <a:endParaRPr sz="1000" b="0" i="0" u="none" strike="noStrike" cap="none">
              <a:solidFill>
                <a:srgbClr val="1155CC"/>
              </a:solidFill>
              <a:latin typeface="Poppins SemiBold"/>
              <a:ea typeface="Poppins SemiBold"/>
              <a:cs typeface="Poppins SemiBold"/>
              <a:sym typeface="Poppins SemiBold"/>
            </a:endParaRPr>
          </a:p>
        </p:txBody>
      </p:sp>
      <p:sp>
        <p:nvSpPr>
          <p:cNvPr id="722" name="Google Shape;722;p59"/>
          <p:cNvSpPr txBox="1"/>
          <p:nvPr/>
        </p:nvSpPr>
        <p:spPr>
          <a:xfrm>
            <a:off x="3418767" y="1130944"/>
            <a:ext cx="1848000" cy="462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Poppins"/>
                <a:ea typeface="Poppins"/>
                <a:cs typeface="Poppins"/>
                <a:sym typeface="Poppins"/>
              </a:rPr>
              <a:t>Estimated # of Additional Workloads to Scan via Advanced ASM</a:t>
            </a:r>
            <a:endParaRPr sz="1000" b="0" i="0" u="none" strike="noStrike" cap="none">
              <a:solidFill>
                <a:schemeClr val="dk1"/>
              </a:solidFill>
              <a:latin typeface="Poppins"/>
              <a:ea typeface="Poppins"/>
              <a:cs typeface="Poppins"/>
              <a:sym typeface="Poppins"/>
            </a:endParaRPr>
          </a:p>
        </p:txBody>
      </p:sp>
      <p:sp>
        <p:nvSpPr>
          <p:cNvPr id="723" name="Google Shape;723;p59"/>
          <p:cNvSpPr txBox="1"/>
          <p:nvPr/>
        </p:nvSpPr>
        <p:spPr>
          <a:xfrm>
            <a:off x="5162479" y="1199657"/>
            <a:ext cx="2395200" cy="40770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Clr>
                <a:schemeClr val="dk1"/>
              </a:buClr>
              <a:buSzPts val="1100"/>
              <a:buFont typeface="Arial"/>
              <a:buNone/>
            </a:pPr>
            <a:r>
              <a:rPr lang="en" sz="1300" b="0" i="0" u="none" strike="noStrike" cap="none">
                <a:solidFill>
                  <a:schemeClr val="dk1"/>
                </a:solidFill>
                <a:latin typeface="Poppins"/>
                <a:ea typeface="Poppins"/>
                <a:cs typeface="Poppins"/>
                <a:sym typeface="Poppins"/>
              </a:rPr>
              <a:t>=  </a:t>
            </a:r>
            <a:r>
              <a:rPr lang="en" sz="1300" b="0" i="0" u="none" strike="noStrike" cap="none">
                <a:solidFill>
                  <a:srgbClr val="333333"/>
                </a:solidFill>
                <a:latin typeface="Poppins Medium"/>
                <a:ea typeface="Poppins Medium"/>
                <a:cs typeface="Poppins Medium"/>
                <a:sym typeface="Poppins Medium"/>
              </a:rPr>
              <a:t>{{AE_TOT}} Workloads</a:t>
            </a:r>
            <a:endParaRPr sz="1400" b="0" i="0" u="none" strike="noStrike" cap="none">
              <a:solidFill>
                <a:schemeClr val="dk1"/>
              </a:solidFill>
              <a:latin typeface="Poppins Medium"/>
              <a:ea typeface="Poppins Medium"/>
              <a:cs typeface="Poppins Medium"/>
              <a:sym typeface="Poppins Medium"/>
            </a:endParaRPr>
          </a:p>
        </p:txBody>
      </p:sp>
      <p:pic>
        <p:nvPicPr>
          <p:cNvPr id="724" name="Google Shape;724;p59" title="Group 1000004640.png"/>
          <p:cNvPicPr preferRelativeResize="0"/>
          <p:nvPr/>
        </p:nvPicPr>
        <p:blipFill rotWithShape="1">
          <a:blip r:embed="rId4">
            <a:alphaModFix/>
          </a:blip>
          <a:srcRect/>
          <a:stretch/>
        </p:blipFill>
        <p:spPr>
          <a:xfrm>
            <a:off x="7919913" y="1035264"/>
            <a:ext cx="1042416" cy="905256"/>
          </a:xfrm>
          <a:prstGeom prst="rect">
            <a:avLst/>
          </a:prstGeom>
          <a:noFill/>
          <a:ln>
            <a:noFill/>
          </a:ln>
        </p:spPr>
      </p:pic>
      <p:pic>
        <p:nvPicPr>
          <p:cNvPr id="725" name="Google Shape;725;p59" title="Group 1000004641.png"/>
          <p:cNvPicPr preferRelativeResize="0"/>
          <p:nvPr/>
        </p:nvPicPr>
        <p:blipFill rotWithShape="1">
          <a:blip r:embed="rId5">
            <a:alphaModFix/>
          </a:blip>
          <a:srcRect/>
          <a:stretch/>
        </p:blipFill>
        <p:spPr>
          <a:xfrm>
            <a:off x="7919916" y="4118017"/>
            <a:ext cx="1042416" cy="905256"/>
          </a:xfrm>
          <a:prstGeom prst="rect">
            <a:avLst/>
          </a:prstGeom>
          <a:noFill/>
          <a:ln>
            <a:noFill/>
          </a:ln>
        </p:spPr>
      </p:pic>
      <p:pic>
        <p:nvPicPr>
          <p:cNvPr id="726" name="Google Shape;726;p59" title="Group 1000004639.png"/>
          <p:cNvPicPr preferRelativeResize="0"/>
          <p:nvPr/>
        </p:nvPicPr>
        <p:blipFill rotWithShape="1">
          <a:blip r:embed="rId6">
            <a:alphaModFix/>
          </a:blip>
          <a:srcRect/>
          <a:stretch/>
        </p:blipFill>
        <p:spPr>
          <a:xfrm>
            <a:off x="7911668" y="2520408"/>
            <a:ext cx="1038900" cy="904938"/>
          </a:xfrm>
          <a:prstGeom prst="rect">
            <a:avLst/>
          </a:prstGeom>
          <a:noFill/>
          <a:ln>
            <a:noFill/>
          </a:ln>
        </p:spPr>
      </p:pic>
      <p:sp>
        <p:nvSpPr>
          <p:cNvPr id="727" name="Google Shape;727;p59"/>
          <p:cNvSpPr/>
          <p:nvPr/>
        </p:nvSpPr>
        <p:spPr>
          <a:xfrm>
            <a:off x="7955120" y="3009372"/>
            <a:ext cx="963600" cy="93900"/>
          </a:xfrm>
          <a:prstGeom prst="rect">
            <a:avLst/>
          </a:prstGeom>
          <a:noFill/>
          <a:ln>
            <a:noFill/>
          </a:ln>
        </p:spPr>
        <p:txBody>
          <a:bodyPr spcFirstLastPara="1" wrap="square" lIns="0" tIns="0" rIns="0" bIns="0" anchor="ctr" anchorCtr="0">
            <a:noAutofit/>
          </a:bodyPr>
          <a:lstStyle/>
          <a:p>
            <a:pPr marL="0" marR="0" lvl="0" indent="0" algn="ctr" rtl="0">
              <a:lnSpc>
                <a:spcPct val="112258"/>
              </a:lnSpc>
              <a:spcBef>
                <a:spcPts val="0"/>
              </a:spcBef>
              <a:spcAft>
                <a:spcPts val="0"/>
              </a:spcAft>
              <a:buClr>
                <a:srgbClr val="0254EC"/>
              </a:buClr>
              <a:buSzPts val="574"/>
              <a:buFont typeface="DM Sans"/>
              <a:buNone/>
            </a:pPr>
            <a:r>
              <a:rPr lang="en" sz="700" b="1" i="0" u="none" strike="noStrike" cap="none">
                <a:solidFill>
                  <a:srgbClr val="0254EC"/>
                </a:solidFill>
                <a:latin typeface="Poppins"/>
                <a:ea typeface="Poppins"/>
                <a:cs typeface="Poppins"/>
                <a:sym typeface="Poppins"/>
              </a:rPr>
              <a:t>Green Agent</a:t>
            </a:r>
            <a:endParaRPr sz="700" b="1" i="0" u="none" strike="noStrike" cap="none">
              <a:solidFill>
                <a:srgbClr val="000000"/>
              </a:solidFill>
              <a:latin typeface="Poppins"/>
              <a:ea typeface="Poppins"/>
              <a:cs typeface="Poppins"/>
              <a:sym typeface="Poppins"/>
            </a:endParaRPr>
          </a:p>
        </p:txBody>
      </p:sp>
      <p:sp>
        <p:nvSpPr>
          <p:cNvPr id="728" name="Google Shape;728;p59"/>
          <p:cNvSpPr/>
          <p:nvPr/>
        </p:nvSpPr>
        <p:spPr>
          <a:xfrm>
            <a:off x="7954004" y="3158849"/>
            <a:ext cx="944700" cy="137400"/>
          </a:xfrm>
          <a:prstGeom prst="rect">
            <a:avLst/>
          </a:prstGeom>
          <a:noFill/>
          <a:ln>
            <a:noFill/>
          </a:ln>
        </p:spPr>
        <p:txBody>
          <a:bodyPr spcFirstLastPara="1" wrap="square" lIns="0" tIns="0" rIns="0" bIns="0" anchor="ctr" anchorCtr="0">
            <a:noAutofit/>
          </a:bodyPr>
          <a:lstStyle/>
          <a:p>
            <a:pPr marL="0" marR="0" lvl="0" indent="0" algn="ctr" rtl="0">
              <a:lnSpc>
                <a:spcPct val="110576"/>
              </a:lnSpc>
              <a:spcBef>
                <a:spcPts val="0"/>
              </a:spcBef>
              <a:spcAft>
                <a:spcPts val="0"/>
              </a:spcAft>
              <a:buClr>
                <a:srgbClr val="001741"/>
              </a:buClr>
              <a:buSzPts val="492"/>
              <a:buFont typeface="DM Sans"/>
              <a:buNone/>
            </a:pPr>
            <a:r>
              <a:rPr lang="en" sz="800" b="0" i="0" u="none" strike="noStrike" cap="none">
                <a:solidFill>
                  <a:srgbClr val="000000"/>
                </a:solidFill>
                <a:latin typeface="Poppins"/>
                <a:ea typeface="Poppins"/>
                <a:cs typeface="Poppins"/>
                <a:sym typeface="Poppins"/>
              </a:rPr>
              <a:t>Enabled</a:t>
            </a:r>
            <a:br>
              <a:rPr lang="en" sz="800" b="0" i="0" u="none" strike="noStrike" cap="none">
                <a:solidFill>
                  <a:srgbClr val="000000"/>
                </a:solidFill>
                <a:latin typeface="Poppins"/>
                <a:ea typeface="Poppins"/>
                <a:cs typeface="Poppins"/>
                <a:sym typeface="Poppins"/>
              </a:rPr>
            </a:br>
            <a:r>
              <a:rPr lang="en" sz="800" b="0" i="0" u="none" strike="noStrike" cap="none">
                <a:solidFill>
                  <a:srgbClr val="000000"/>
                </a:solidFill>
                <a:latin typeface="Poppins"/>
                <a:ea typeface="Poppins"/>
                <a:cs typeface="Poppins"/>
                <a:sym typeface="Poppins"/>
              </a:rPr>
              <a:t>{{F_GA}}</a:t>
            </a:r>
            <a:endParaRPr sz="800" b="0" i="0" u="none" strike="noStrike" cap="none">
              <a:solidFill>
                <a:srgbClr val="000000"/>
              </a:solidFill>
              <a:latin typeface="Poppins"/>
              <a:ea typeface="Poppins"/>
              <a:cs typeface="Poppins"/>
              <a:sym typeface="Poppins"/>
            </a:endParaRPr>
          </a:p>
        </p:txBody>
      </p:sp>
      <p:sp>
        <p:nvSpPr>
          <p:cNvPr id="729" name="Google Shape;729;p59"/>
          <p:cNvSpPr/>
          <p:nvPr/>
        </p:nvSpPr>
        <p:spPr>
          <a:xfrm>
            <a:off x="7906406" y="2038924"/>
            <a:ext cx="1038900" cy="205800"/>
          </a:xfrm>
          <a:prstGeom prst="rect">
            <a:avLst/>
          </a:prstGeom>
          <a:noFill/>
          <a:ln>
            <a:noFill/>
          </a:ln>
        </p:spPr>
        <p:txBody>
          <a:bodyPr spcFirstLastPara="1" wrap="square" lIns="0" tIns="0" rIns="0" bIns="0" anchor="ctr" anchorCtr="0">
            <a:noAutofit/>
          </a:bodyPr>
          <a:lstStyle/>
          <a:p>
            <a:pPr marL="0" marR="0" lvl="0" indent="0" algn="ctr" rtl="0">
              <a:lnSpc>
                <a:spcPct val="112255"/>
              </a:lnSpc>
              <a:spcBef>
                <a:spcPts val="0"/>
              </a:spcBef>
              <a:spcAft>
                <a:spcPts val="0"/>
              </a:spcAft>
              <a:buClr>
                <a:srgbClr val="0254EC"/>
              </a:buClr>
              <a:buSzPts val="736"/>
              <a:buFont typeface="DM Sans"/>
              <a:buNone/>
            </a:pPr>
            <a:r>
              <a:rPr lang="en" sz="731" b="1" i="0" u="none" strike="noStrike" cap="none">
                <a:solidFill>
                  <a:srgbClr val="0254EC"/>
                </a:solidFill>
                <a:latin typeface="Poppins"/>
                <a:ea typeface="Poppins"/>
                <a:cs typeface="Poppins"/>
                <a:sym typeface="Poppins"/>
              </a:rPr>
              <a:t>Preventive Security</a:t>
            </a:r>
            <a:endParaRPr sz="626" b="1" i="0" u="none" strike="noStrike" cap="none">
              <a:solidFill>
                <a:srgbClr val="000000"/>
              </a:solidFill>
              <a:latin typeface="Poppins"/>
              <a:ea typeface="Poppins"/>
              <a:cs typeface="Poppins"/>
              <a:sym typeface="Poppins"/>
            </a:endParaRPr>
          </a:p>
        </p:txBody>
      </p:sp>
      <p:sp>
        <p:nvSpPr>
          <p:cNvPr id="730" name="Google Shape;730;p59"/>
          <p:cNvSpPr/>
          <p:nvPr/>
        </p:nvSpPr>
        <p:spPr>
          <a:xfrm>
            <a:off x="7719100" y="2133912"/>
            <a:ext cx="1425000" cy="314700"/>
          </a:xfrm>
          <a:prstGeom prst="rect">
            <a:avLst/>
          </a:prstGeom>
          <a:noFill/>
          <a:ln>
            <a:noFill/>
          </a:ln>
        </p:spPr>
        <p:txBody>
          <a:bodyPr spcFirstLastPara="1" wrap="square" lIns="0" tIns="0" rIns="0" bIns="0" anchor="b" anchorCtr="0">
            <a:noAutofit/>
          </a:bodyPr>
          <a:lstStyle/>
          <a:p>
            <a:pPr marL="0" marR="0" lvl="0" indent="0" algn="ctr" rtl="0">
              <a:lnSpc>
                <a:spcPct val="110576"/>
              </a:lnSpc>
              <a:spcBef>
                <a:spcPts val="0"/>
              </a:spcBef>
              <a:spcAft>
                <a:spcPts val="0"/>
              </a:spcAft>
              <a:buClr>
                <a:srgbClr val="001741"/>
              </a:buClr>
              <a:buSzPts val="631"/>
              <a:buFont typeface="DM Sans"/>
              <a:buNone/>
            </a:pPr>
            <a:r>
              <a:rPr lang="en" sz="726" b="0" i="0" u="none" strike="noStrike" cap="none">
                <a:solidFill>
                  <a:srgbClr val="001741"/>
                </a:solidFill>
                <a:latin typeface="Poppins"/>
                <a:ea typeface="Poppins"/>
                <a:cs typeface="Poppins"/>
                <a:sym typeface="Poppins"/>
              </a:rPr>
              <a:t>Build securely and </a:t>
            </a:r>
            <a:br>
              <a:rPr lang="en" sz="726" b="0" i="0" u="none" strike="noStrike" cap="none">
                <a:solidFill>
                  <a:srgbClr val="001741"/>
                </a:solidFill>
                <a:latin typeface="Poppins"/>
                <a:ea typeface="Poppins"/>
                <a:cs typeface="Poppins"/>
                <a:sym typeface="Poppins"/>
              </a:rPr>
            </a:br>
            <a:r>
              <a:rPr lang="en" sz="726" b="0" i="0" u="none" strike="noStrike" cap="none">
                <a:solidFill>
                  <a:srgbClr val="001741"/>
                </a:solidFill>
                <a:latin typeface="Poppins"/>
                <a:ea typeface="Poppins"/>
                <a:cs typeface="Poppins"/>
                <a:sym typeface="Poppins"/>
              </a:rPr>
              <a:t>remediate at the source</a:t>
            </a:r>
            <a:endParaRPr sz="621" b="0" i="0" u="none" strike="noStrike" cap="none">
              <a:solidFill>
                <a:srgbClr val="000000"/>
              </a:solidFill>
              <a:latin typeface="Poppins"/>
              <a:ea typeface="Poppins"/>
              <a:cs typeface="Poppins"/>
              <a:sym typeface="Poppins"/>
            </a:endParaRPr>
          </a:p>
        </p:txBody>
      </p:sp>
      <p:sp>
        <p:nvSpPr>
          <p:cNvPr id="731" name="Google Shape;731;p59"/>
          <p:cNvSpPr/>
          <p:nvPr/>
        </p:nvSpPr>
        <p:spPr>
          <a:xfrm>
            <a:off x="7936234" y="3618692"/>
            <a:ext cx="1038900" cy="205800"/>
          </a:xfrm>
          <a:prstGeom prst="rect">
            <a:avLst/>
          </a:prstGeom>
          <a:noFill/>
          <a:ln>
            <a:noFill/>
          </a:ln>
        </p:spPr>
        <p:txBody>
          <a:bodyPr spcFirstLastPara="1" wrap="square" lIns="0" tIns="0" rIns="0" bIns="0" anchor="ctr" anchorCtr="0">
            <a:noAutofit/>
          </a:bodyPr>
          <a:lstStyle/>
          <a:p>
            <a:pPr marL="0" marR="0" lvl="0" indent="0" algn="ctr" rtl="0">
              <a:lnSpc>
                <a:spcPct val="112255"/>
              </a:lnSpc>
              <a:spcBef>
                <a:spcPts val="0"/>
              </a:spcBef>
              <a:spcAft>
                <a:spcPts val="0"/>
              </a:spcAft>
              <a:buClr>
                <a:srgbClr val="0254EC"/>
              </a:buClr>
              <a:buSzPts val="736"/>
              <a:buFont typeface="DM Sans"/>
              <a:buNone/>
            </a:pPr>
            <a:r>
              <a:rPr lang="en" sz="731" b="1" i="0" u="none" strike="noStrike" cap="none">
                <a:solidFill>
                  <a:srgbClr val="0254EC"/>
                </a:solidFill>
                <a:latin typeface="Poppins"/>
                <a:ea typeface="Poppins"/>
                <a:cs typeface="Poppins"/>
                <a:sym typeface="Poppins"/>
              </a:rPr>
              <a:t>Reactive Security</a:t>
            </a:r>
            <a:endParaRPr sz="626" b="1" i="0" u="none" strike="noStrike" cap="none">
              <a:solidFill>
                <a:srgbClr val="000000"/>
              </a:solidFill>
              <a:latin typeface="Poppins"/>
              <a:ea typeface="Poppins"/>
              <a:cs typeface="Poppins"/>
              <a:sym typeface="Poppins"/>
            </a:endParaRPr>
          </a:p>
        </p:txBody>
      </p:sp>
      <p:sp>
        <p:nvSpPr>
          <p:cNvPr id="732" name="Google Shape;732;p59"/>
          <p:cNvSpPr/>
          <p:nvPr/>
        </p:nvSpPr>
        <p:spPr>
          <a:xfrm>
            <a:off x="7718900" y="3785755"/>
            <a:ext cx="1425000" cy="314700"/>
          </a:xfrm>
          <a:prstGeom prst="rect">
            <a:avLst/>
          </a:prstGeom>
          <a:noFill/>
          <a:ln>
            <a:noFill/>
          </a:ln>
        </p:spPr>
        <p:txBody>
          <a:bodyPr spcFirstLastPara="1" wrap="square" lIns="0" tIns="0" rIns="0" bIns="0" anchor="ctr" anchorCtr="0">
            <a:noAutofit/>
          </a:bodyPr>
          <a:lstStyle/>
          <a:p>
            <a:pPr marL="0" marR="0" lvl="0" indent="0" algn="ctr" rtl="0">
              <a:lnSpc>
                <a:spcPct val="110576"/>
              </a:lnSpc>
              <a:spcBef>
                <a:spcPts val="0"/>
              </a:spcBef>
              <a:spcAft>
                <a:spcPts val="0"/>
              </a:spcAft>
              <a:buClr>
                <a:srgbClr val="001741"/>
              </a:buClr>
              <a:buSzPts val="631"/>
              <a:buFont typeface="DM Sans"/>
              <a:buNone/>
            </a:pPr>
            <a:r>
              <a:rPr lang="en" sz="726" b="0" i="0" u="none" strike="noStrike" cap="none">
                <a:solidFill>
                  <a:srgbClr val="001741"/>
                </a:solidFill>
                <a:latin typeface="Poppins"/>
                <a:ea typeface="Poppins"/>
                <a:cs typeface="Poppins"/>
                <a:sym typeface="Poppins"/>
              </a:rPr>
              <a:t>Investigate and triage high-fidelity threats</a:t>
            </a:r>
            <a:endParaRPr sz="621" b="0" i="0" u="none" strike="noStrike" cap="none">
              <a:solidFill>
                <a:srgbClr val="000000"/>
              </a:solidFill>
              <a:latin typeface="Poppins"/>
              <a:ea typeface="Poppins"/>
              <a:cs typeface="Poppins"/>
              <a:sym typeface="Poppins"/>
            </a:endParaRPr>
          </a:p>
        </p:txBody>
      </p:sp>
      <p:sp>
        <p:nvSpPr>
          <p:cNvPr id="733" name="Google Shape;733;p59"/>
          <p:cNvSpPr/>
          <p:nvPr/>
        </p:nvSpPr>
        <p:spPr>
          <a:xfrm>
            <a:off x="7916398" y="550119"/>
            <a:ext cx="1038900" cy="205800"/>
          </a:xfrm>
          <a:prstGeom prst="rect">
            <a:avLst/>
          </a:prstGeom>
          <a:noFill/>
          <a:ln>
            <a:noFill/>
          </a:ln>
        </p:spPr>
        <p:txBody>
          <a:bodyPr spcFirstLastPara="1" wrap="square" lIns="0" tIns="0" rIns="0" bIns="0" anchor="ctr" anchorCtr="0">
            <a:noAutofit/>
          </a:bodyPr>
          <a:lstStyle/>
          <a:p>
            <a:pPr marL="0" marR="0" lvl="0" indent="0" algn="ctr" rtl="0">
              <a:lnSpc>
                <a:spcPct val="112255"/>
              </a:lnSpc>
              <a:spcBef>
                <a:spcPts val="0"/>
              </a:spcBef>
              <a:spcAft>
                <a:spcPts val="0"/>
              </a:spcAft>
              <a:buClr>
                <a:srgbClr val="0254EC"/>
              </a:buClr>
              <a:buSzPts val="736"/>
              <a:buFont typeface="DM Sans"/>
              <a:buNone/>
            </a:pPr>
            <a:r>
              <a:rPr lang="en" sz="731" b="1" i="0" u="none" strike="noStrike" cap="none">
                <a:solidFill>
                  <a:srgbClr val="0254EC"/>
                </a:solidFill>
                <a:latin typeface="Poppins"/>
                <a:ea typeface="Poppins"/>
                <a:cs typeface="Poppins"/>
                <a:sym typeface="Poppins"/>
              </a:rPr>
              <a:t>Proactive Security</a:t>
            </a:r>
            <a:endParaRPr sz="626" b="1" i="0" u="none" strike="noStrike" cap="none">
              <a:solidFill>
                <a:srgbClr val="000000"/>
              </a:solidFill>
              <a:latin typeface="Poppins"/>
              <a:ea typeface="Poppins"/>
              <a:cs typeface="Poppins"/>
              <a:sym typeface="Poppins"/>
            </a:endParaRPr>
          </a:p>
        </p:txBody>
      </p:sp>
      <p:sp>
        <p:nvSpPr>
          <p:cNvPr id="734" name="Google Shape;734;p59"/>
          <p:cNvSpPr/>
          <p:nvPr/>
        </p:nvSpPr>
        <p:spPr>
          <a:xfrm>
            <a:off x="7634875" y="651660"/>
            <a:ext cx="1509000" cy="314700"/>
          </a:xfrm>
          <a:prstGeom prst="rect">
            <a:avLst/>
          </a:prstGeom>
          <a:noFill/>
          <a:ln>
            <a:noFill/>
          </a:ln>
        </p:spPr>
        <p:txBody>
          <a:bodyPr spcFirstLastPara="1" wrap="square" lIns="0" tIns="0" rIns="0" bIns="0" anchor="b" anchorCtr="0">
            <a:noAutofit/>
          </a:bodyPr>
          <a:lstStyle/>
          <a:p>
            <a:pPr marL="0" marR="0" lvl="0" indent="0" algn="ctr" rtl="0">
              <a:lnSpc>
                <a:spcPct val="110576"/>
              </a:lnSpc>
              <a:spcBef>
                <a:spcPts val="0"/>
              </a:spcBef>
              <a:spcAft>
                <a:spcPts val="0"/>
              </a:spcAft>
              <a:buClr>
                <a:srgbClr val="001741"/>
              </a:buClr>
              <a:buSzPts val="631"/>
              <a:buFont typeface="DM Sans"/>
              <a:buNone/>
            </a:pPr>
            <a:r>
              <a:rPr lang="en" sz="726" b="0" i="0" u="none" strike="noStrike" cap="none">
                <a:solidFill>
                  <a:srgbClr val="001741"/>
                </a:solidFill>
                <a:latin typeface="Poppins"/>
                <a:ea typeface="Poppins"/>
                <a:cs typeface="Poppins"/>
                <a:sym typeface="Poppins"/>
              </a:rPr>
              <a:t>Identify high-risk issues before they can be exploited</a:t>
            </a:r>
            <a:endParaRPr sz="621" b="0" i="0" u="none" strike="noStrike" cap="none">
              <a:solidFill>
                <a:srgbClr val="000000"/>
              </a:solidFill>
              <a:latin typeface="Poppins"/>
              <a:ea typeface="Poppins"/>
              <a:cs typeface="Poppins"/>
              <a:sym typeface="Poppins"/>
            </a:endParaRPr>
          </a:p>
        </p:txBody>
      </p:sp>
      <p:sp>
        <p:nvSpPr>
          <p:cNvPr id="735" name="Google Shape;735;p59"/>
          <p:cNvSpPr/>
          <p:nvPr/>
        </p:nvSpPr>
        <p:spPr>
          <a:xfrm>
            <a:off x="7961878" y="4610410"/>
            <a:ext cx="966900" cy="94500"/>
          </a:xfrm>
          <a:prstGeom prst="rect">
            <a:avLst/>
          </a:prstGeom>
          <a:noFill/>
          <a:ln>
            <a:noFill/>
          </a:ln>
        </p:spPr>
        <p:txBody>
          <a:bodyPr spcFirstLastPara="1" wrap="square" lIns="0" tIns="0" rIns="0" bIns="0" anchor="ctr" anchorCtr="0">
            <a:noAutofit/>
          </a:bodyPr>
          <a:lstStyle/>
          <a:p>
            <a:pPr marL="0" marR="0" lvl="0" indent="0" algn="ctr" rtl="0">
              <a:lnSpc>
                <a:spcPct val="112258"/>
              </a:lnSpc>
              <a:spcBef>
                <a:spcPts val="0"/>
              </a:spcBef>
              <a:spcAft>
                <a:spcPts val="0"/>
              </a:spcAft>
              <a:buClr>
                <a:srgbClr val="0254EC"/>
              </a:buClr>
              <a:buSzPts val="736"/>
              <a:buFont typeface="DM Sans"/>
              <a:buNone/>
            </a:pPr>
            <a:r>
              <a:rPr lang="en" sz="731" b="1" i="0" u="none" strike="noStrike" cap="none">
                <a:solidFill>
                  <a:srgbClr val="0254EC"/>
                </a:solidFill>
                <a:latin typeface="Poppins"/>
                <a:ea typeface="Poppins"/>
                <a:cs typeface="Poppins"/>
                <a:sym typeface="Poppins"/>
              </a:rPr>
              <a:t>Blue Agent</a:t>
            </a:r>
            <a:endParaRPr sz="626" b="1" i="0" u="none" strike="noStrike" cap="none">
              <a:solidFill>
                <a:srgbClr val="000000"/>
              </a:solidFill>
              <a:latin typeface="Poppins"/>
              <a:ea typeface="Poppins"/>
              <a:cs typeface="Poppins"/>
              <a:sym typeface="Poppins"/>
            </a:endParaRPr>
          </a:p>
        </p:txBody>
      </p:sp>
      <p:sp>
        <p:nvSpPr>
          <p:cNvPr id="736" name="Google Shape;736;p59"/>
          <p:cNvSpPr/>
          <p:nvPr/>
        </p:nvSpPr>
        <p:spPr>
          <a:xfrm>
            <a:off x="7965161" y="4837773"/>
            <a:ext cx="948000" cy="138000"/>
          </a:xfrm>
          <a:prstGeom prst="rect">
            <a:avLst/>
          </a:prstGeom>
          <a:noFill/>
          <a:ln>
            <a:noFill/>
          </a:ln>
        </p:spPr>
        <p:txBody>
          <a:bodyPr spcFirstLastPara="1" wrap="square" lIns="0" tIns="0" rIns="0" bIns="0" anchor="ctr" anchorCtr="0">
            <a:noAutofit/>
          </a:bodyPr>
          <a:lstStyle/>
          <a:p>
            <a:pPr marL="0" marR="0" lvl="0" indent="0" algn="ctr" rtl="0">
              <a:lnSpc>
                <a:spcPct val="110576"/>
              </a:lnSpc>
              <a:spcBef>
                <a:spcPts val="0"/>
              </a:spcBef>
              <a:spcAft>
                <a:spcPts val="0"/>
              </a:spcAft>
              <a:buClr>
                <a:srgbClr val="001741"/>
              </a:buClr>
              <a:buSzPts val="631"/>
              <a:buFont typeface="DM Sans"/>
              <a:buNone/>
            </a:pPr>
            <a:r>
              <a:rPr lang="en" sz="800" b="0" i="0" u="none" strike="noStrike" cap="none">
                <a:solidFill>
                  <a:srgbClr val="000000"/>
                </a:solidFill>
                <a:latin typeface="Poppins"/>
                <a:ea typeface="Poppins"/>
                <a:cs typeface="Poppins"/>
                <a:sym typeface="Poppins"/>
              </a:rPr>
              <a:t>Enabled</a:t>
            </a:r>
            <a:br>
              <a:rPr lang="en" sz="800" b="0" i="0" u="none" strike="noStrike" cap="none">
                <a:solidFill>
                  <a:srgbClr val="000000"/>
                </a:solidFill>
                <a:latin typeface="Poppins"/>
                <a:ea typeface="Poppins"/>
                <a:cs typeface="Poppins"/>
                <a:sym typeface="Poppins"/>
              </a:rPr>
            </a:br>
            <a:r>
              <a:rPr lang="en" sz="800" b="0" i="0" u="none" strike="noStrike" cap="none">
                <a:solidFill>
                  <a:srgbClr val="000000"/>
                </a:solidFill>
                <a:latin typeface="Poppins"/>
                <a:ea typeface="Poppins"/>
                <a:cs typeface="Poppins"/>
                <a:sym typeface="Poppins"/>
              </a:rPr>
              <a:t>{{F_BA}}</a:t>
            </a:r>
            <a:br>
              <a:rPr lang="en" sz="800" b="0" i="0" u="none" strike="noStrike" cap="none">
                <a:solidFill>
                  <a:srgbClr val="000000"/>
                </a:solidFill>
                <a:latin typeface="Poppins"/>
                <a:ea typeface="Poppins"/>
                <a:cs typeface="Poppins"/>
                <a:sym typeface="Poppins"/>
              </a:rPr>
            </a:br>
            <a:endParaRPr sz="800" b="0" i="0" u="none" strike="noStrike" cap="none">
              <a:solidFill>
                <a:srgbClr val="000000"/>
              </a:solidFill>
              <a:latin typeface="Poppins"/>
              <a:ea typeface="Poppins"/>
              <a:cs typeface="Poppins"/>
              <a:sym typeface="Poppins"/>
            </a:endParaRPr>
          </a:p>
        </p:txBody>
      </p:sp>
      <p:sp>
        <p:nvSpPr>
          <p:cNvPr id="737" name="Google Shape;737;p59"/>
          <p:cNvSpPr/>
          <p:nvPr/>
        </p:nvSpPr>
        <p:spPr>
          <a:xfrm>
            <a:off x="7964150" y="1534962"/>
            <a:ext cx="948000" cy="96900"/>
          </a:xfrm>
          <a:prstGeom prst="rect">
            <a:avLst/>
          </a:prstGeom>
          <a:noFill/>
          <a:ln>
            <a:noFill/>
          </a:ln>
        </p:spPr>
        <p:txBody>
          <a:bodyPr spcFirstLastPara="1" wrap="square" lIns="0" tIns="0" rIns="0" bIns="0" anchor="ctr" anchorCtr="0">
            <a:noAutofit/>
          </a:bodyPr>
          <a:lstStyle/>
          <a:p>
            <a:pPr marL="0" marR="0" lvl="0" indent="0" algn="ctr" rtl="0">
              <a:lnSpc>
                <a:spcPct val="112258"/>
              </a:lnSpc>
              <a:spcBef>
                <a:spcPts val="0"/>
              </a:spcBef>
              <a:spcAft>
                <a:spcPts val="0"/>
              </a:spcAft>
              <a:buClr>
                <a:srgbClr val="0254EC"/>
              </a:buClr>
              <a:buSzPts val="592"/>
              <a:buFont typeface="DM Sans"/>
              <a:buNone/>
            </a:pPr>
            <a:r>
              <a:rPr lang="en" sz="700" b="1" i="0" u="none" strike="noStrike" cap="none">
                <a:solidFill>
                  <a:srgbClr val="0254EC"/>
                </a:solidFill>
                <a:latin typeface="Poppins"/>
                <a:ea typeface="Poppins"/>
                <a:cs typeface="Poppins"/>
                <a:sym typeface="Poppins"/>
              </a:rPr>
              <a:t>Red Agent</a:t>
            </a:r>
            <a:endParaRPr sz="700" b="1" i="0" u="none" strike="noStrike" cap="none">
              <a:solidFill>
                <a:srgbClr val="000000"/>
              </a:solidFill>
              <a:latin typeface="Poppins"/>
              <a:ea typeface="Poppins"/>
              <a:cs typeface="Poppins"/>
              <a:sym typeface="Poppins"/>
            </a:endParaRPr>
          </a:p>
        </p:txBody>
      </p:sp>
      <p:sp>
        <p:nvSpPr>
          <p:cNvPr id="738" name="Google Shape;738;p59"/>
          <p:cNvSpPr/>
          <p:nvPr/>
        </p:nvSpPr>
        <p:spPr>
          <a:xfrm>
            <a:off x="7968735" y="1752675"/>
            <a:ext cx="944700" cy="141900"/>
          </a:xfrm>
          <a:prstGeom prst="rect">
            <a:avLst/>
          </a:prstGeom>
          <a:noFill/>
          <a:ln>
            <a:noFill/>
          </a:ln>
        </p:spPr>
        <p:txBody>
          <a:bodyPr spcFirstLastPara="1" wrap="square" lIns="0" tIns="0" rIns="0" bIns="0" anchor="ctr" anchorCtr="0">
            <a:noAutofit/>
          </a:bodyPr>
          <a:lstStyle/>
          <a:p>
            <a:pPr marL="0" marR="0" lvl="0" indent="0" algn="ctr" rtl="0">
              <a:lnSpc>
                <a:spcPct val="110576"/>
              </a:lnSpc>
              <a:spcBef>
                <a:spcPts val="0"/>
              </a:spcBef>
              <a:spcAft>
                <a:spcPts val="0"/>
              </a:spcAft>
              <a:buClr>
                <a:srgbClr val="001741"/>
              </a:buClr>
              <a:buSzPts val="508"/>
              <a:buFont typeface="DM Sans"/>
              <a:buNone/>
            </a:pPr>
            <a:r>
              <a:rPr lang="en" sz="821" b="0" i="0" u="none" strike="noStrike" cap="none">
                <a:solidFill>
                  <a:srgbClr val="000000"/>
                </a:solidFill>
                <a:latin typeface="Poppins"/>
                <a:ea typeface="Poppins"/>
                <a:cs typeface="Poppins"/>
                <a:sym typeface="Poppins"/>
              </a:rPr>
              <a:t>Enabled</a:t>
            </a:r>
            <a:br>
              <a:rPr lang="en" sz="821" b="0" i="0" u="none" strike="noStrike" cap="none">
                <a:solidFill>
                  <a:srgbClr val="000000"/>
                </a:solidFill>
                <a:latin typeface="Poppins"/>
                <a:ea typeface="Poppins"/>
                <a:cs typeface="Poppins"/>
                <a:sym typeface="Poppins"/>
              </a:rPr>
            </a:br>
            <a:r>
              <a:rPr lang="en" sz="821" b="0" i="0" u="none" strike="noStrike" cap="none">
                <a:solidFill>
                  <a:srgbClr val="000000"/>
                </a:solidFill>
                <a:latin typeface="Poppins"/>
                <a:ea typeface="Poppins"/>
                <a:cs typeface="Poppins"/>
                <a:sym typeface="Poppins"/>
              </a:rPr>
              <a:t>{{F_RA}}</a:t>
            </a:r>
            <a:br>
              <a:rPr lang="en" sz="821" b="0" i="0" u="none" strike="noStrike" cap="none">
                <a:solidFill>
                  <a:srgbClr val="000000"/>
                </a:solidFill>
                <a:latin typeface="Poppins"/>
                <a:ea typeface="Poppins"/>
                <a:cs typeface="Poppins"/>
                <a:sym typeface="Poppins"/>
              </a:rPr>
            </a:br>
            <a:endParaRPr sz="821" b="0" i="0" u="none" strike="noStrike" cap="none">
              <a:solidFill>
                <a:srgbClr val="000000"/>
              </a:solidFill>
              <a:latin typeface="Poppins"/>
              <a:ea typeface="Poppins"/>
              <a:cs typeface="Poppins"/>
              <a:sym typeface="Poppins"/>
            </a:endParaRPr>
          </a:p>
        </p:txBody>
      </p:sp>
      <p:pic>
        <p:nvPicPr>
          <p:cNvPr id="739" name="Google Shape;739;p59"/>
          <p:cNvPicPr preferRelativeResize="0"/>
          <p:nvPr/>
        </p:nvPicPr>
        <p:blipFill rotWithShape="1">
          <a:blip r:embed="rId3">
            <a:alphaModFix/>
          </a:blip>
          <a:srcRect/>
          <a:stretch/>
        </p:blipFill>
        <p:spPr>
          <a:xfrm>
            <a:off x="107954" y="1893191"/>
            <a:ext cx="7613696" cy="1578100"/>
          </a:xfrm>
          <a:prstGeom prst="rect">
            <a:avLst/>
          </a:prstGeom>
          <a:noFill/>
          <a:ln>
            <a:noFill/>
          </a:ln>
        </p:spPr>
      </p:pic>
      <p:sp>
        <p:nvSpPr>
          <p:cNvPr id="740" name="Google Shape;740;p59"/>
          <p:cNvSpPr txBox="1"/>
          <p:nvPr/>
        </p:nvSpPr>
        <p:spPr>
          <a:xfrm>
            <a:off x="326125" y="2004575"/>
            <a:ext cx="4782900" cy="3615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chemeClr val="dk2"/>
              </a:buClr>
              <a:buSzPts val="1500"/>
              <a:buFont typeface="Arial"/>
              <a:buNone/>
            </a:pPr>
            <a:r>
              <a:rPr lang="en" sz="1500" b="0" i="0" u="sng" strike="noStrike" cap="none">
                <a:solidFill>
                  <a:srgbClr val="0254EC"/>
                </a:solidFill>
                <a:latin typeface="Poppins"/>
                <a:ea typeface="Poppins"/>
                <a:cs typeface="Poppins"/>
                <a:sym typeface="Poppins"/>
                <a:hlinkClick r:id="rId7">
                  <a:extLst>
                    <a:ext uri="{A12FA001-AC4F-418D-AE19-62706E023703}">
                      <ahyp:hlinkClr xmlns:ahyp="http://schemas.microsoft.com/office/drawing/2018/hyperlinkcolor" val="tx"/>
                    </a:ext>
                  </a:extLst>
                </a:hlinkClick>
              </a:rPr>
              <a:t>Top 3 Wiz Critical Risk Issues by Count</a:t>
            </a:r>
            <a:r>
              <a:rPr lang="en" sz="1500" b="0" i="0" u="none" strike="noStrike" cap="none">
                <a:solidFill>
                  <a:srgbClr val="0254EC"/>
                </a:solidFill>
                <a:latin typeface="Poppins"/>
                <a:ea typeface="Poppins"/>
                <a:cs typeface="Poppins"/>
                <a:sym typeface="Poppins"/>
              </a:rPr>
              <a:t> </a:t>
            </a:r>
            <a:r>
              <a:rPr lang="en" sz="1500" b="0" i="0" u="none" strike="noStrike" cap="none">
                <a:solidFill>
                  <a:srgbClr val="0254EC"/>
                </a:solidFill>
                <a:uFill>
                  <a:noFill/>
                </a:uFill>
                <a:latin typeface="Poppins"/>
                <a:ea typeface="Poppins"/>
                <a:cs typeface="Poppins"/>
                <a:sym typeface="Poppins"/>
                <a:hlinkClick r:id="rId8">
                  <a:extLst>
                    <a:ext uri="{A12FA001-AC4F-418D-AE19-62706E023703}">
                      <ahyp:hlinkClr xmlns:ahyp="http://schemas.microsoft.com/office/drawing/2018/hyperlinkcolor" val="tx"/>
                    </a:ext>
                  </a:extLst>
                </a:hlinkClick>
              </a:rPr>
              <a:t>↗</a:t>
            </a:r>
            <a:endParaRPr sz="1500" b="0" i="0" u="none" strike="noStrike" cap="none">
              <a:solidFill>
                <a:srgbClr val="0254EC"/>
              </a:solidFill>
              <a:latin typeface="Poppins"/>
              <a:ea typeface="Poppins"/>
              <a:cs typeface="Poppins"/>
              <a:sym typeface="Poppins"/>
            </a:endParaRPr>
          </a:p>
        </p:txBody>
      </p:sp>
      <p:sp>
        <p:nvSpPr>
          <p:cNvPr id="741" name="Google Shape;741;p59"/>
          <p:cNvSpPr txBox="1"/>
          <p:nvPr/>
        </p:nvSpPr>
        <p:spPr>
          <a:xfrm>
            <a:off x="112373" y="2363761"/>
            <a:ext cx="6979500" cy="1244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rgbClr val="0254EC"/>
                </a:solidFill>
                <a:highlight>
                  <a:srgbClr val="F9FAFB"/>
                </a:highlight>
                <a:latin typeface="Poppins Medium"/>
                <a:ea typeface="Poppins Medium"/>
                <a:cs typeface="Poppins Medium"/>
                <a:sym typeface="Poppins Medium"/>
              </a:rPr>
              <a:t>{{CI_CONTROL_1}}</a:t>
            </a:r>
            <a:endParaRPr sz="900" b="0" i="0" u="sng" strike="noStrike" cap="none">
              <a:solidFill>
                <a:srgbClr val="0254EC"/>
              </a:solidFill>
              <a:highlight>
                <a:srgbClr val="F9FAFB"/>
              </a:highlight>
              <a:latin typeface="Poppins Medium"/>
              <a:ea typeface="Poppins Medium"/>
              <a:cs typeface="Poppins Medium"/>
              <a:sym typeface="Poppins Medium"/>
            </a:endParaRPr>
          </a:p>
          <a:p>
            <a:pPr marL="0" marR="0" lvl="0" indent="0" algn="l" rtl="0">
              <a:lnSpc>
                <a:spcPct val="100000"/>
              </a:lnSpc>
              <a:spcBef>
                <a:spcPts val="0"/>
              </a:spcBef>
              <a:spcAft>
                <a:spcPts val="0"/>
              </a:spcAft>
              <a:buClr>
                <a:schemeClr val="dk1"/>
              </a:buClr>
              <a:buSzPts val="1100"/>
              <a:buFont typeface="Arial"/>
              <a:buNone/>
            </a:pPr>
            <a:r>
              <a:rPr lang="en" sz="800" b="0" i="0" u="none" strike="noStrike" cap="none">
                <a:solidFill>
                  <a:srgbClr val="991B1B"/>
                </a:solidFill>
                <a:highlight>
                  <a:srgbClr val="FEE2E2"/>
                </a:highlight>
                <a:latin typeface="Poppins Medium"/>
                <a:ea typeface="Poppins Medium"/>
                <a:cs typeface="Poppins Medium"/>
                <a:sym typeface="Poppins Medium"/>
              </a:rPr>
              <a:t>CRITICAL</a:t>
            </a:r>
            <a:endParaRPr sz="800" b="0" i="0" u="none" strike="noStrike" cap="none">
              <a:solidFill>
                <a:srgbClr val="991B1B"/>
              </a:solidFill>
              <a:highlight>
                <a:srgbClr val="FEE2E2"/>
              </a:highlight>
              <a:latin typeface="Poppins Medium"/>
              <a:ea typeface="Poppins Medium"/>
              <a:cs typeface="Poppins Medium"/>
              <a:sym typeface="Poppins Medium"/>
            </a:endParaRPr>
          </a:p>
          <a:p>
            <a:pPr marL="0" marR="0" lvl="0" indent="0" algn="l" rtl="0">
              <a:lnSpc>
                <a:spcPct val="100000"/>
              </a:lnSpc>
              <a:spcBef>
                <a:spcPts val="700"/>
              </a:spcBef>
              <a:spcAft>
                <a:spcPts val="0"/>
              </a:spcAft>
              <a:buClr>
                <a:schemeClr val="dk1"/>
              </a:buClr>
              <a:buSzPts val="1100"/>
              <a:buFont typeface="Arial"/>
              <a:buNone/>
            </a:pPr>
            <a:r>
              <a:rPr lang="en" sz="900" b="0" i="0" u="sng" strike="noStrike" cap="none">
                <a:solidFill>
                  <a:srgbClr val="0254EC"/>
                </a:solidFill>
                <a:highlight>
                  <a:srgbClr val="F9FAFB"/>
                </a:highlight>
                <a:latin typeface="Poppins Medium"/>
                <a:ea typeface="Poppins Medium"/>
                <a:cs typeface="Poppins Medium"/>
                <a:sym typeface="Poppins Medium"/>
              </a:rPr>
              <a:t>{{CI_CONTROL_2}}</a:t>
            </a:r>
            <a:br>
              <a:rPr lang="en" sz="800" b="0" i="0" u="sng" strike="noStrike" cap="none">
                <a:solidFill>
                  <a:schemeClr val="hlink"/>
                </a:solidFill>
                <a:highlight>
                  <a:srgbClr val="FFFFFF"/>
                </a:highlight>
                <a:latin typeface="Poppins Medium"/>
                <a:ea typeface="Poppins Medium"/>
                <a:cs typeface="Poppins Medium"/>
                <a:sym typeface="Poppins Medium"/>
              </a:rPr>
            </a:br>
            <a:r>
              <a:rPr lang="en" sz="800" b="0" i="0" u="none" strike="noStrike" cap="none">
                <a:solidFill>
                  <a:srgbClr val="991B1B"/>
                </a:solidFill>
                <a:highlight>
                  <a:srgbClr val="FEE2E2"/>
                </a:highlight>
                <a:latin typeface="Poppins Medium"/>
                <a:ea typeface="Poppins Medium"/>
                <a:cs typeface="Poppins Medium"/>
                <a:sym typeface="Poppins Medium"/>
              </a:rPr>
              <a:t>CRITICAL</a:t>
            </a:r>
            <a:endParaRPr sz="800" b="0" i="0" u="none" strike="noStrike" cap="none">
              <a:solidFill>
                <a:srgbClr val="991B1B"/>
              </a:solidFill>
              <a:highlight>
                <a:srgbClr val="FEE2E2"/>
              </a:highlight>
              <a:latin typeface="Poppins Medium"/>
              <a:ea typeface="Poppins Medium"/>
              <a:cs typeface="Poppins Medium"/>
              <a:sym typeface="Poppins Medium"/>
            </a:endParaRPr>
          </a:p>
          <a:p>
            <a:pPr marL="0" marR="0" lvl="0" indent="0" algn="l" rtl="0">
              <a:lnSpc>
                <a:spcPct val="100000"/>
              </a:lnSpc>
              <a:spcBef>
                <a:spcPts val="700"/>
              </a:spcBef>
              <a:spcAft>
                <a:spcPts val="0"/>
              </a:spcAft>
              <a:buClr>
                <a:schemeClr val="dk1"/>
              </a:buClr>
              <a:buSzPts val="1100"/>
              <a:buFont typeface="Arial"/>
              <a:buNone/>
            </a:pPr>
            <a:r>
              <a:rPr lang="en" sz="900" b="0" i="0" u="sng" strike="noStrike" cap="none">
                <a:solidFill>
                  <a:srgbClr val="0254EC"/>
                </a:solidFill>
                <a:highlight>
                  <a:srgbClr val="F9FAFB"/>
                </a:highlight>
                <a:latin typeface="Poppins Medium"/>
                <a:ea typeface="Poppins Medium"/>
                <a:cs typeface="Poppins Medium"/>
                <a:sym typeface="Poppins Medium"/>
              </a:rPr>
              <a:t>{{CI_CONTROL_3}}</a:t>
            </a:r>
            <a:br>
              <a:rPr lang="en" sz="800" b="0" i="0" u="sng" strike="noStrike" cap="none">
                <a:solidFill>
                  <a:schemeClr val="hlink"/>
                </a:solidFill>
                <a:highlight>
                  <a:srgbClr val="FFFFFF"/>
                </a:highlight>
                <a:latin typeface="Poppins Medium"/>
                <a:ea typeface="Poppins Medium"/>
                <a:cs typeface="Poppins Medium"/>
                <a:sym typeface="Poppins Medium"/>
              </a:rPr>
            </a:br>
            <a:r>
              <a:rPr lang="en" sz="800" b="0" i="0" u="none" strike="noStrike" cap="none">
                <a:solidFill>
                  <a:srgbClr val="991B1B"/>
                </a:solidFill>
                <a:highlight>
                  <a:srgbClr val="FEE2E2"/>
                </a:highlight>
                <a:latin typeface="Poppins Medium"/>
                <a:ea typeface="Poppins Medium"/>
                <a:cs typeface="Poppins Medium"/>
                <a:sym typeface="Poppins Medium"/>
              </a:rPr>
              <a:t>CRITICAL</a:t>
            </a:r>
            <a:endParaRPr sz="800" b="0" i="0" u="none" strike="noStrike" cap="none">
              <a:solidFill>
                <a:srgbClr val="991B1B"/>
              </a:solidFill>
              <a:highlight>
                <a:srgbClr val="FEE2E2"/>
              </a:highlight>
              <a:latin typeface="Poppins Medium"/>
              <a:ea typeface="Poppins Medium"/>
              <a:cs typeface="Poppins Medium"/>
              <a:sym typeface="Poppins Medium"/>
            </a:endParaRPr>
          </a:p>
          <a:p>
            <a:pPr marL="0" marR="0" lvl="0" indent="0" algn="r" rtl="0">
              <a:lnSpc>
                <a:spcPct val="115000"/>
              </a:lnSpc>
              <a:spcBef>
                <a:spcPts val="700"/>
              </a:spcBef>
              <a:spcAft>
                <a:spcPts val="0"/>
              </a:spcAft>
              <a:buClr>
                <a:srgbClr val="000000"/>
              </a:buClr>
              <a:buSzPts val="200"/>
              <a:buFont typeface="Arial"/>
              <a:buNone/>
            </a:pPr>
            <a:endParaRPr sz="200" b="0" i="0" u="none" strike="noStrike" cap="none">
              <a:solidFill>
                <a:srgbClr val="1155CC"/>
              </a:solidFill>
              <a:latin typeface="Poppins Medium"/>
              <a:ea typeface="Poppins Medium"/>
              <a:cs typeface="Poppins Medium"/>
              <a:sym typeface="Poppins Medium"/>
            </a:endParaRPr>
          </a:p>
        </p:txBody>
      </p:sp>
      <p:pic>
        <p:nvPicPr>
          <p:cNvPr id="742" name="Google Shape;742;p59"/>
          <p:cNvPicPr preferRelativeResize="0"/>
          <p:nvPr/>
        </p:nvPicPr>
        <p:blipFill rotWithShape="1">
          <a:blip r:embed="rId3">
            <a:alphaModFix/>
          </a:blip>
          <a:srcRect/>
          <a:stretch/>
        </p:blipFill>
        <p:spPr>
          <a:xfrm>
            <a:off x="107950" y="3625724"/>
            <a:ext cx="7613696" cy="1474550"/>
          </a:xfrm>
          <a:prstGeom prst="rect">
            <a:avLst/>
          </a:prstGeom>
          <a:noFill/>
          <a:ln>
            <a:noFill/>
          </a:ln>
        </p:spPr>
      </p:pic>
      <p:sp>
        <p:nvSpPr>
          <p:cNvPr id="743" name="Google Shape;743;p59"/>
          <p:cNvSpPr txBox="1"/>
          <p:nvPr/>
        </p:nvSpPr>
        <p:spPr>
          <a:xfrm>
            <a:off x="326125" y="3691225"/>
            <a:ext cx="4735500" cy="314700"/>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chemeClr val="dk2"/>
              </a:buClr>
              <a:buSzPts val="1500"/>
              <a:buFont typeface="Arial"/>
              <a:buNone/>
            </a:pPr>
            <a:r>
              <a:rPr lang="en" sz="1500" b="0" i="0" u="sng" strike="noStrike" cap="none">
                <a:solidFill>
                  <a:srgbClr val="0254EC"/>
                </a:solidFill>
                <a:latin typeface="Poppins"/>
                <a:ea typeface="Poppins"/>
                <a:cs typeface="Poppins"/>
                <a:sym typeface="Poppins"/>
                <a:hlinkClick r:id="rId9">
                  <a:extLst>
                    <a:ext uri="{A12FA001-AC4F-418D-AE19-62706E023703}">
                      <ahyp:hlinkClr xmlns:ahyp="http://schemas.microsoft.com/office/drawing/2018/hyperlinkcolor" val="tx"/>
                    </a:ext>
                  </a:extLst>
                </a:hlinkClick>
              </a:rPr>
              <a:t>Top 3 Wiz High Risk Issues by Count</a:t>
            </a:r>
            <a:r>
              <a:rPr lang="en" sz="1500" b="0" i="0" u="none" strike="noStrike" cap="none">
                <a:solidFill>
                  <a:srgbClr val="0254EC"/>
                </a:solidFill>
                <a:latin typeface="Poppins"/>
                <a:ea typeface="Poppins"/>
                <a:cs typeface="Poppins"/>
                <a:sym typeface="Poppins"/>
              </a:rPr>
              <a:t> </a:t>
            </a:r>
            <a:r>
              <a:rPr lang="en" sz="1500" b="0" i="0" u="none" strike="noStrike" cap="none">
                <a:solidFill>
                  <a:srgbClr val="0254EC"/>
                </a:solidFill>
                <a:uFill>
                  <a:noFill/>
                </a:uFill>
                <a:latin typeface="Poppins"/>
                <a:ea typeface="Poppins"/>
                <a:cs typeface="Poppins"/>
                <a:sym typeface="Poppins"/>
                <a:hlinkClick r:id="rId8">
                  <a:extLst>
                    <a:ext uri="{A12FA001-AC4F-418D-AE19-62706E023703}">
                      <ahyp:hlinkClr xmlns:ahyp="http://schemas.microsoft.com/office/drawing/2018/hyperlinkcolor" val="tx"/>
                    </a:ext>
                  </a:extLst>
                </a:hlinkClick>
              </a:rPr>
              <a:t>↗</a:t>
            </a:r>
            <a:endParaRPr sz="1700" b="0" i="0" u="none" strike="noStrike" cap="none">
              <a:solidFill>
                <a:srgbClr val="0254EC"/>
              </a:solidFill>
              <a:latin typeface="Poppins"/>
              <a:ea typeface="Poppins"/>
              <a:cs typeface="Poppins"/>
              <a:sym typeface="Poppins"/>
            </a:endParaRPr>
          </a:p>
        </p:txBody>
      </p:sp>
      <p:sp>
        <p:nvSpPr>
          <p:cNvPr id="744" name="Google Shape;744;p59"/>
          <p:cNvSpPr txBox="1"/>
          <p:nvPr/>
        </p:nvSpPr>
        <p:spPr>
          <a:xfrm>
            <a:off x="6213626" y="3912215"/>
            <a:ext cx="1425000" cy="1368000"/>
          </a:xfrm>
          <a:prstGeom prst="rect">
            <a:avLst/>
          </a:prstGeom>
          <a:noFill/>
          <a:ln>
            <a:noFill/>
          </a:ln>
        </p:spPr>
        <p:txBody>
          <a:bodyPr spcFirstLastPara="1" wrap="square" lIns="0" tIns="91425" rIns="0" bIns="91425" anchor="ctr" anchorCtr="0">
            <a:noAutofit/>
          </a:bodyPr>
          <a:lstStyle/>
          <a:p>
            <a:pPr marL="0" marR="0" lvl="0" indent="0" algn="r" rtl="0">
              <a:lnSpc>
                <a:spcPct val="100000"/>
              </a:lnSpc>
              <a:spcBef>
                <a:spcPts val="0"/>
              </a:spcBef>
              <a:spcAft>
                <a:spcPts val="0"/>
              </a:spcAft>
              <a:buClr>
                <a:schemeClr val="dk1"/>
              </a:buClr>
              <a:buSzPts val="1100"/>
              <a:buFont typeface="Arial"/>
              <a:buNone/>
            </a:pPr>
            <a:r>
              <a:rPr lang="en" sz="900" b="0" i="0" u="none" strike="noStrike" cap="none">
                <a:solidFill>
                  <a:schemeClr val="dk1"/>
                </a:solidFill>
                <a:latin typeface="Poppins Medium"/>
                <a:ea typeface="Poppins Medium"/>
                <a:cs typeface="Poppins Medium"/>
                <a:sym typeface="Poppins Medium"/>
              </a:rPr>
              <a:t>{{HI_CBC_1}} Issues</a:t>
            </a:r>
            <a:endParaRPr sz="900" b="0" i="0" u="none" strike="noStrike" cap="none">
              <a:solidFill>
                <a:schemeClr val="dk1"/>
              </a:solidFill>
              <a:latin typeface="Poppins Medium"/>
              <a:ea typeface="Poppins Medium"/>
              <a:cs typeface="Poppins Medium"/>
              <a:sym typeface="Poppins Medium"/>
            </a:endParaRPr>
          </a:p>
          <a:p>
            <a:pPr marL="0" marR="0" lvl="0" indent="0" algn="r"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Poppins Medium"/>
              <a:ea typeface="Poppins Medium"/>
              <a:cs typeface="Poppins Medium"/>
              <a:sym typeface="Poppins Medium"/>
            </a:endParaRPr>
          </a:p>
          <a:p>
            <a:pPr marL="0" marR="0" lvl="0" indent="0" algn="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Poppins Medium"/>
                <a:ea typeface="Poppins Medium"/>
                <a:cs typeface="Poppins Medium"/>
                <a:sym typeface="Poppins Medium"/>
              </a:rPr>
              <a:t>{{HI_CBC_2}} Issues</a:t>
            </a:r>
            <a:endParaRPr sz="900" b="0" i="0" u="none" strike="noStrike" cap="none">
              <a:solidFill>
                <a:schemeClr val="dk1"/>
              </a:solidFill>
              <a:latin typeface="Poppins Medium"/>
              <a:ea typeface="Poppins Medium"/>
              <a:cs typeface="Poppins Medium"/>
              <a:sym typeface="Poppins Medium"/>
            </a:endParaRPr>
          </a:p>
          <a:p>
            <a:pPr marL="0" marR="0" lvl="0" indent="0" algn="r"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Poppins Medium"/>
              <a:ea typeface="Poppins Medium"/>
              <a:cs typeface="Poppins Medium"/>
              <a:sym typeface="Poppins Medium"/>
            </a:endParaRPr>
          </a:p>
          <a:p>
            <a:pPr marL="0" marR="0" lvl="0" indent="0" algn="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Poppins Medium"/>
                <a:ea typeface="Poppins Medium"/>
                <a:cs typeface="Poppins Medium"/>
                <a:sym typeface="Poppins Medium"/>
              </a:rPr>
              <a:t>{{HI_CBC_3}} Issues</a:t>
            </a:r>
            <a:endParaRPr sz="900" b="0" i="0" u="none" strike="noStrike" cap="none">
              <a:solidFill>
                <a:schemeClr val="dk1"/>
              </a:solidFill>
              <a:latin typeface="Poppins"/>
              <a:ea typeface="Poppins"/>
              <a:cs typeface="Poppins"/>
              <a:sym typeface="Poppins"/>
            </a:endParaRPr>
          </a:p>
        </p:txBody>
      </p:sp>
      <p:sp>
        <p:nvSpPr>
          <p:cNvPr id="745" name="Google Shape;745;p59"/>
          <p:cNvSpPr txBox="1"/>
          <p:nvPr/>
        </p:nvSpPr>
        <p:spPr>
          <a:xfrm>
            <a:off x="6198064" y="2230298"/>
            <a:ext cx="1425000" cy="1368000"/>
          </a:xfrm>
          <a:prstGeom prst="rect">
            <a:avLst/>
          </a:prstGeom>
          <a:noFill/>
          <a:ln>
            <a:noFill/>
          </a:ln>
        </p:spPr>
        <p:txBody>
          <a:bodyPr spcFirstLastPara="1" wrap="square" lIns="0" tIns="91425" rIns="0" bIns="91425" anchor="ctr" anchorCtr="0">
            <a:noAutofit/>
          </a:bodyPr>
          <a:lstStyle/>
          <a:p>
            <a:pPr marL="0" marR="0" lvl="0" indent="0" algn="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Poppins Medium"/>
                <a:ea typeface="Poppins Medium"/>
                <a:cs typeface="Poppins Medium"/>
                <a:sym typeface="Poppins Medium"/>
              </a:rPr>
              <a:t>{{CI_CBC_1}} Issues</a:t>
            </a:r>
            <a:endParaRPr sz="900" b="0" i="0" u="none" strike="noStrike" cap="none">
              <a:solidFill>
                <a:schemeClr val="dk1"/>
              </a:solidFill>
              <a:latin typeface="Poppins Medium"/>
              <a:ea typeface="Poppins Medium"/>
              <a:cs typeface="Poppins Medium"/>
              <a:sym typeface="Poppins Medium"/>
            </a:endParaRPr>
          </a:p>
          <a:p>
            <a:pPr marL="0" marR="0" lvl="0" indent="0" algn="r"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Poppins Medium"/>
              <a:ea typeface="Poppins Medium"/>
              <a:cs typeface="Poppins Medium"/>
              <a:sym typeface="Poppins Medium"/>
            </a:endParaRPr>
          </a:p>
          <a:p>
            <a:pPr marL="0" marR="0" lvl="0" indent="0" algn="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Poppins Medium"/>
                <a:ea typeface="Poppins Medium"/>
                <a:cs typeface="Poppins Medium"/>
                <a:sym typeface="Poppins Medium"/>
              </a:rPr>
              <a:t>{{CI_CBC_2}} Issues</a:t>
            </a:r>
            <a:endParaRPr sz="900" b="0" i="0" u="none" strike="noStrike" cap="none">
              <a:solidFill>
                <a:schemeClr val="dk1"/>
              </a:solidFill>
              <a:latin typeface="Poppins Medium"/>
              <a:ea typeface="Poppins Medium"/>
              <a:cs typeface="Poppins Medium"/>
              <a:sym typeface="Poppins Medium"/>
            </a:endParaRPr>
          </a:p>
          <a:p>
            <a:pPr marL="0" marR="0" lvl="0" indent="0" algn="r"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Poppins Medium"/>
              <a:ea typeface="Poppins Medium"/>
              <a:cs typeface="Poppins Medium"/>
              <a:sym typeface="Poppins Medium"/>
            </a:endParaRPr>
          </a:p>
          <a:p>
            <a:pPr marL="0" marR="0" lvl="0" indent="0" algn="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Poppins Medium"/>
                <a:ea typeface="Poppins Medium"/>
                <a:cs typeface="Poppins Medium"/>
                <a:sym typeface="Poppins Medium"/>
              </a:rPr>
              <a:t>{{CI_CBC_3}} Issues</a:t>
            </a:r>
            <a:endParaRPr sz="900" b="0" i="0" u="none" strike="noStrike" cap="none">
              <a:solidFill>
                <a:schemeClr val="dk1"/>
              </a:solidFill>
              <a:latin typeface="Poppins"/>
              <a:ea typeface="Poppins"/>
              <a:cs typeface="Poppins"/>
              <a:sym typeface="Poppins"/>
            </a:endParaRPr>
          </a:p>
        </p:txBody>
      </p:sp>
      <p:sp>
        <p:nvSpPr>
          <p:cNvPr id="746" name="Google Shape;746;p59"/>
          <p:cNvSpPr txBox="1"/>
          <p:nvPr/>
        </p:nvSpPr>
        <p:spPr>
          <a:xfrm>
            <a:off x="112748" y="4015785"/>
            <a:ext cx="6979500" cy="127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rgbClr val="0254EC"/>
                </a:solidFill>
                <a:highlight>
                  <a:srgbClr val="F9FAFB"/>
                </a:highlight>
                <a:latin typeface="Poppins Medium"/>
                <a:ea typeface="Poppins Medium"/>
                <a:cs typeface="Poppins Medium"/>
                <a:sym typeface="Poppins Medium"/>
              </a:rPr>
              <a:t>{{HI_CONTROL_1}}</a:t>
            </a:r>
            <a:endParaRPr sz="900" b="0" i="0" u="sng" strike="noStrike" cap="none">
              <a:solidFill>
                <a:srgbClr val="0254EC"/>
              </a:solidFill>
              <a:highlight>
                <a:srgbClr val="F9FAFB"/>
              </a:highlight>
              <a:latin typeface="Poppins Medium"/>
              <a:ea typeface="Poppins Medium"/>
              <a:cs typeface="Poppins Medium"/>
              <a:sym typeface="Poppins Medium"/>
            </a:endParaRPr>
          </a:p>
          <a:p>
            <a:pPr marL="0" marR="0" lvl="0" indent="0" algn="l" rtl="0">
              <a:lnSpc>
                <a:spcPct val="100000"/>
              </a:lnSpc>
              <a:spcBef>
                <a:spcPts val="0"/>
              </a:spcBef>
              <a:spcAft>
                <a:spcPts val="0"/>
              </a:spcAft>
              <a:buClr>
                <a:schemeClr val="dk1"/>
              </a:buClr>
              <a:buSzPts val="1100"/>
              <a:buFont typeface="Arial"/>
              <a:buNone/>
            </a:pPr>
            <a:r>
              <a:rPr lang="en" sz="800" b="0" i="0" u="none" strike="noStrike" cap="none">
                <a:solidFill>
                  <a:srgbClr val="D97706"/>
                </a:solidFill>
                <a:highlight>
                  <a:srgbClr val="F9CB9C"/>
                </a:highlight>
                <a:latin typeface="Poppins Medium"/>
                <a:ea typeface="Poppins Medium"/>
                <a:cs typeface="Poppins Medium"/>
                <a:sym typeface="Poppins Medium"/>
              </a:rPr>
              <a:t>HIGH</a:t>
            </a:r>
            <a:endParaRPr sz="800" b="0" i="0" u="none" strike="noStrike" cap="none">
              <a:solidFill>
                <a:srgbClr val="D97706"/>
              </a:solidFill>
              <a:highlight>
                <a:srgbClr val="F9CB9C"/>
              </a:highlight>
              <a:latin typeface="Poppins Medium"/>
              <a:ea typeface="Poppins Medium"/>
              <a:cs typeface="Poppins Medium"/>
              <a:sym typeface="Poppins Medium"/>
            </a:endParaRPr>
          </a:p>
          <a:p>
            <a:pPr marL="0" marR="0" lvl="0" indent="0" algn="l" rtl="0">
              <a:lnSpc>
                <a:spcPct val="100000"/>
              </a:lnSpc>
              <a:spcBef>
                <a:spcPts val="700"/>
              </a:spcBef>
              <a:spcAft>
                <a:spcPts val="0"/>
              </a:spcAft>
              <a:buClr>
                <a:schemeClr val="dk1"/>
              </a:buClr>
              <a:buSzPts val="1100"/>
              <a:buFont typeface="Arial"/>
              <a:buNone/>
            </a:pPr>
            <a:r>
              <a:rPr lang="en" sz="900" b="0" i="0" u="sng" strike="noStrike" cap="none">
                <a:solidFill>
                  <a:srgbClr val="0254EC"/>
                </a:solidFill>
                <a:highlight>
                  <a:srgbClr val="F9FAFB"/>
                </a:highlight>
                <a:latin typeface="Poppins Medium"/>
                <a:ea typeface="Poppins Medium"/>
                <a:cs typeface="Poppins Medium"/>
                <a:sym typeface="Poppins Medium"/>
              </a:rPr>
              <a:t>{{HI_CONTROL_2}}</a:t>
            </a:r>
            <a:br>
              <a:rPr lang="en" sz="800" b="0" i="0" u="sng" strike="noStrike" cap="none">
                <a:solidFill>
                  <a:schemeClr val="hlink"/>
                </a:solidFill>
                <a:highlight>
                  <a:srgbClr val="FFFFFF"/>
                </a:highlight>
                <a:latin typeface="Poppins Medium"/>
                <a:ea typeface="Poppins Medium"/>
                <a:cs typeface="Poppins Medium"/>
                <a:sym typeface="Poppins Medium"/>
              </a:rPr>
            </a:br>
            <a:r>
              <a:rPr lang="en" sz="800" b="0" i="0" u="none" strike="noStrike" cap="none">
                <a:solidFill>
                  <a:srgbClr val="D97706"/>
                </a:solidFill>
                <a:highlight>
                  <a:srgbClr val="F9CB9C"/>
                </a:highlight>
                <a:latin typeface="Poppins Medium"/>
                <a:ea typeface="Poppins Medium"/>
                <a:cs typeface="Poppins Medium"/>
                <a:sym typeface="Poppins Medium"/>
              </a:rPr>
              <a:t>HIGH</a:t>
            </a:r>
            <a:endParaRPr sz="800" b="0" i="0" u="none" strike="noStrike" cap="none">
              <a:solidFill>
                <a:srgbClr val="991B1B"/>
              </a:solidFill>
              <a:highlight>
                <a:srgbClr val="FEE2E2"/>
              </a:highlight>
              <a:latin typeface="Poppins Medium"/>
              <a:ea typeface="Poppins Medium"/>
              <a:cs typeface="Poppins Medium"/>
              <a:sym typeface="Poppins Medium"/>
            </a:endParaRPr>
          </a:p>
          <a:p>
            <a:pPr marL="0" marR="0" lvl="0" indent="0" algn="l" rtl="0">
              <a:lnSpc>
                <a:spcPct val="100000"/>
              </a:lnSpc>
              <a:spcBef>
                <a:spcPts val="700"/>
              </a:spcBef>
              <a:spcAft>
                <a:spcPts val="0"/>
              </a:spcAft>
              <a:buClr>
                <a:schemeClr val="dk1"/>
              </a:buClr>
              <a:buSzPts val="1100"/>
              <a:buFont typeface="Arial"/>
              <a:buNone/>
            </a:pPr>
            <a:r>
              <a:rPr lang="en" sz="900" b="0" i="0" u="sng" strike="noStrike" cap="none">
                <a:solidFill>
                  <a:srgbClr val="0254EC"/>
                </a:solidFill>
                <a:highlight>
                  <a:srgbClr val="F9FAFB"/>
                </a:highlight>
                <a:latin typeface="Poppins Medium"/>
                <a:ea typeface="Poppins Medium"/>
                <a:cs typeface="Poppins Medium"/>
                <a:sym typeface="Poppins Medium"/>
              </a:rPr>
              <a:t>{{HI_CONTROL_3}}</a:t>
            </a:r>
            <a:br>
              <a:rPr lang="en" sz="800" b="0" i="0" u="sng" strike="noStrike" cap="none">
                <a:solidFill>
                  <a:schemeClr val="hlink"/>
                </a:solidFill>
                <a:highlight>
                  <a:srgbClr val="FFFFFF"/>
                </a:highlight>
                <a:latin typeface="Poppins Medium"/>
                <a:ea typeface="Poppins Medium"/>
                <a:cs typeface="Poppins Medium"/>
                <a:sym typeface="Poppins Medium"/>
              </a:rPr>
            </a:br>
            <a:r>
              <a:rPr lang="en" sz="800" b="0" i="0" u="none" strike="noStrike" cap="none">
                <a:solidFill>
                  <a:srgbClr val="D97706"/>
                </a:solidFill>
                <a:highlight>
                  <a:srgbClr val="F9CB9C"/>
                </a:highlight>
                <a:latin typeface="Poppins Medium"/>
                <a:ea typeface="Poppins Medium"/>
                <a:cs typeface="Poppins Medium"/>
                <a:sym typeface="Poppins Medium"/>
              </a:rPr>
              <a:t>HIGH</a:t>
            </a:r>
            <a:endParaRPr sz="800" b="0" i="0" u="none" strike="noStrike" cap="none">
              <a:solidFill>
                <a:srgbClr val="991B1B"/>
              </a:solidFill>
              <a:highlight>
                <a:srgbClr val="FEE2E2"/>
              </a:highlight>
              <a:latin typeface="Poppins Medium"/>
              <a:ea typeface="Poppins Medium"/>
              <a:cs typeface="Poppins Medium"/>
              <a:sym typeface="Poppins Medium"/>
            </a:endParaRPr>
          </a:p>
          <a:p>
            <a:pPr marL="0" marR="0" lvl="0" indent="0" algn="r" rtl="0">
              <a:lnSpc>
                <a:spcPct val="115000"/>
              </a:lnSpc>
              <a:spcBef>
                <a:spcPts val="700"/>
              </a:spcBef>
              <a:spcAft>
                <a:spcPts val="0"/>
              </a:spcAft>
              <a:buClr>
                <a:srgbClr val="000000"/>
              </a:buClr>
              <a:buSzPts val="200"/>
              <a:buFont typeface="Arial"/>
              <a:buNone/>
            </a:pPr>
            <a:endParaRPr sz="200" b="0" i="0" u="none" strike="noStrike" cap="none">
              <a:solidFill>
                <a:srgbClr val="1155CC"/>
              </a:solidFill>
              <a:latin typeface="Poppins Medium"/>
              <a:ea typeface="Poppins Medium"/>
              <a:cs typeface="Poppins Medium"/>
              <a:sym typeface="Poppins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60"/>
          <p:cNvSpPr txBox="1"/>
          <p:nvPr/>
        </p:nvSpPr>
        <p:spPr>
          <a:xfrm>
            <a:off x="468449" y="2483713"/>
            <a:ext cx="3273600" cy="484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700" b="0" i="0" u="none" strike="noStrike" cap="none">
                <a:solidFill>
                  <a:schemeClr val="lt1"/>
                </a:solidFill>
                <a:latin typeface="Poppins"/>
                <a:ea typeface="Poppins"/>
                <a:cs typeface="Poppins"/>
                <a:sym typeface="Poppins"/>
              </a:rPr>
              <a:t>Develop Securely</a:t>
            </a:r>
            <a:endParaRPr sz="2700" b="0" i="0" u="none" strike="noStrike" cap="none">
              <a:solidFill>
                <a:schemeClr val="lt1"/>
              </a:solidFill>
              <a:latin typeface="Poppins"/>
              <a:ea typeface="Poppins"/>
              <a:cs typeface="Poppins"/>
              <a:sym typeface="Poppins"/>
            </a:endParaRPr>
          </a:p>
        </p:txBody>
      </p:sp>
      <p:pic>
        <p:nvPicPr>
          <p:cNvPr id="753" name="Google Shape;753;p60" title="opening_photo.png"/>
          <p:cNvPicPr preferRelativeResize="0"/>
          <p:nvPr/>
        </p:nvPicPr>
        <p:blipFill rotWithShape="1">
          <a:blip r:embed="rId3">
            <a:alphaModFix/>
          </a:blip>
          <a:srcRect/>
          <a:stretch/>
        </p:blipFill>
        <p:spPr>
          <a:xfrm>
            <a:off x="4256533" y="1409675"/>
            <a:ext cx="4306800" cy="2143875"/>
          </a:xfrm>
          <a:prstGeom prst="rect">
            <a:avLst/>
          </a:prstGeom>
          <a:noFill/>
          <a:ln>
            <a:noFill/>
          </a:ln>
        </p:spPr>
      </p:pic>
      <p:pic>
        <p:nvPicPr>
          <p:cNvPr id="754" name="Google Shape;754;p60" title="cloud.png"/>
          <p:cNvPicPr preferRelativeResize="0"/>
          <p:nvPr/>
        </p:nvPicPr>
        <p:blipFill rotWithShape="1">
          <a:blip r:embed="rId4">
            <a:alphaModFix/>
          </a:blip>
          <a:srcRect/>
          <a:stretch/>
        </p:blipFill>
        <p:spPr>
          <a:xfrm>
            <a:off x="6699300" y="3318246"/>
            <a:ext cx="2444700" cy="1825254"/>
          </a:xfrm>
          <a:prstGeom prst="rect">
            <a:avLst/>
          </a:prstGeom>
          <a:noFill/>
          <a:ln>
            <a:noFill/>
          </a:ln>
        </p:spPr>
      </p:pic>
      <p:pic>
        <p:nvPicPr>
          <p:cNvPr id="755" name="Google Shape;755;p60" title="logo.png"/>
          <p:cNvPicPr preferRelativeResize="0"/>
          <p:nvPr/>
        </p:nvPicPr>
        <p:blipFill rotWithShape="1">
          <a:blip r:embed="rId5">
            <a:alphaModFix/>
          </a:blip>
          <a:srcRect/>
          <a:stretch/>
        </p:blipFill>
        <p:spPr>
          <a:xfrm>
            <a:off x="553277" y="1994713"/>
            <a:ext cx="637001" cy="304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61"/>
          <p:cNvSpPr txBox="1">
            <a:spLocks noGrp="1"/>
          </p:cNvSpPr>
          <p:nvPr>
            <p:ph type="title" idx="4294967295"/>
          </p:nvPr>
        </p:nvSpPr>
        <p:spPr>
          <a:xfrm>
            <a:off x="150" y="122125"/>
            <a:ext cx="9144000" cy="367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DM Sans"/>
              <a:buNone/>
            </a:pPr>
            <a:r>
              <a:rPr lang="en" sz="2420">
                <a:latin typeface="Poppins Light"/>
                <a:ea typeface="Poppins Light"/>
                <a:cs typeface="Poppins Light"/>
                <a:sym typeface="Poppins Light"/>
              </a:rPr>
              <a:t>Secure Development Snapshot</a:t>
            </a:r>
            <a:endParaRPr sz="2420">
              <a:latin typeface="Poppins Light"/>
              <a:ea typeface="Poppins Light"/>
              <a:cs typeface="Poppins Light"/>
              <a:sym typeface="Poppins Light"/>
            </a:endParaRPr>
          </a:p>
        </p:txBody>
      </p:sp>
      <p:sp>
        <p:nvSpPr>
          <p:cNvPr id="762" name="Google Shape;762;p61"/>
          <p:cNvSpPr/>
          <p:nvPr/>
        </p:nvSpPr>
        <p:spPr>
          <a:xfrm>
            <a:off x="219075" y="2736094"/>
            <a:ext cx="3229200" cy="2316300"/>
          </a:xfrm>
          <a:prstGeom prst="roundRect">
            <a:avLst>
              <a:gd name="adj" fmla="val 16667"/>
            </a:avLst>
          </a:prstGeom>
          <a:noFill/>
          <a:ln w="9575" cap="flat" cmpd="sng">
            <a:solidFill>
              <a:srgbClr val="595959"/>
            </a:solidFill>
            <a:prstDash val="solid"/>
            <a:round/>
            <a:headEnd type="none" w="sm" len="sm"/>
            <a:tailEnd type="none" w="sm" len="sm"/>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DM Sans"/>
              <a:ea typeface="DM Sans"/>
              <a:cs typeface="DM Sans"/>
              <a:sym typeface="DM Sans"/>
            </a:endParaRPr>
          </a:p>
        </p:txBody>
      </p:sp>
      <p:sp>
        <p:nvSpPr>
          <p:cNvPr id="763" name="Google Shape;763;p61"/>
          <p:cNvSpPr/>
          <p:nvPr/>
        </p:nvSpPr>
        <p:spPr>
          <a:xfrm>
            <a:off x="6193748" y="909833"/>
            <a:ext cx="2688900" cy="1410900"/>
          </a:xfrm>
          <a:prstGeom prst="roundRect">
            <a:avLst>
              <a:gd name="adj" fmla="val 16667"/>
            </a:avLst>
          </a:prstGeom>
          <a:noFill/>
          <a:ln w="9575" cap="flat" cmpd="sng">
            <a:solidFill>
              <a:srgbClr val="595959"/>
            </a:solidFill>
            <a:prstDash val="solid"/>
            <a:round/>
            <a:headEnd type="none" w="sm" len="sm"/>
            <a:tailEnd type="none" w="sm" len="sm"/>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DM Sans"/>
              <a:ea typeface="DM Sans"/>
              <a:cs typeface="DM Sans"/>
              <a:sym typeface="DM Sans"/>
            </a:endParaRPr>
          </a:p>
        </p:txBody>
      </p:sp>
      <p:sp>
        <p:nvSpPr>
          <p:cNvPr id="764" name="Google Shape;764;p61"/>
          <p:cNvSpPr/>
          <p:nvPr/>
        </p:nvSpPr>
        <p:spPr>
          <a:xfrm>
            <a:off x="3199649" y="894648"/>
            <a:ext cx="2688900" cy="1410900"/>
          </a:xfrm>
          <a:prstGeom prst="roundRect">
            <a:avLst>
              <a:gd name="adj" fmla="val 16667"/>
            </a:avLst>
          </a:prstGeom>
          <a:noFill/>
          <a:ln w="9575" cap="flat" cmpd="sng">
            <a:solidFill>
              <a:srgbClr val="595959"/>
            </a:solidFill>
            <a:prstDash val="solid"/>
            <a:round/>
            <a:headEnd type="none" w="sm" len="sm"/>
            <a:tailEnd type="none" w="sm" len="sm"/>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DM Sans"/>
              <a:ea typeface="DM Sans"/>
              <a:cs typeface="DM Sans"/>
              <a:sym typeface="DM Sans"/>
            </a:endParaRPr>
          </a:p>
        </p:txBody>
      </p:sp>
      <p:sp>
        <p:nvSpPr>
          <p:cNvPr id="765" name="Google Shape;765;p61"/>
          <p:cNvSpPr/>
          <p:nvPr/>
        </p:nvSpPr>
        <p:spPr>
          <a:xfrm>
            <a:off x="205550" y="886120"/>
            <a:ext cx="2688900" cy="1410900"/>
          </a:xfrm>
          <a:prstGeom prst="roundRect">
            <a:avLst>
              <a:gd name="adj" fmla="val 16667"/>
            </a:avLst>
          </a:prstGeom>
          <a:noFill/>
          <a:ln w="9575" cap="flat" cmpd="sng">
            <a:solidFill>
              <a:srgbClr val="595959"/>
            </a:solidFill>
            <a:prstDash val="solid"/>
            <a:round/>
            <a:headEnd type="none" w="sm" len="sm"/>
            <a:tailEnd type="none" w="sm" len="sm"/>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DM Sans"/>
              <a:ea typeface="DM Sans"/>
              <a:cs typeface="DM Sans"/>
              <a:sym typeface="DM Sans"/>
            </a:endParaRPr>
          </a:p>
        </p:txBody>
      </p:sp>
      <p:sp>
        <p:nvSpPr>
          <p:cNvPr id="766" name="Google Shape;766;p61"/>
          <p:cNvSpPr txBox="1"/>
          <p:nvPr/>
        </p:nvSpPr>
        <p:spPr>
          <a:xfrm>
            <a:off x="205550" y="635739"/>
            <a:ext cx="2688900" cy="279000"/>
          </a:xfrm>
          <a:prstGeom prst="rect">
            <a:avLst/>
          </a:prstGeom>
          <a:noFill/>
          <a:ln>
            <a:noFill/>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sng" strike="noStrike" cap="none">
                <a:solidFill>
                  <a:srgbClr val="0254EC"/>
                </a:solidFill>
                <a:latin typeface="Poppins"/>
                <a:ea typeface="Poppins"/>
                <a:cs typeface="Poppins"/>
                <a:sym typeface="Poppins"/>
                <a:hlinkClick r:id="rId3">
                  <a:extLst>
                    <a:ext uri="{A12FA001-AC4F-418D-AE19-62706E023703}">
                      <ahyp:hlinkClr xmlns:ahyp="http://schemas.microsoft.com/office/drawing/2018/hyperlinkcolor" val="tx"/>
                    </a:ext>
                  </a:extLst>
                </a:hlinkClick>
              </a:rPr>
              <a:t>Kubernetes Clusters </a:t>
            </a:r>
            <a:r>
              <a:rPr lang="en" sz="1300" b="0" i="0" u="none" strike="noStrike" cap="none">
                <a:solidFill>
                  <a:srgbClr val="0254EC"/>
                </a:solidFill>
                <a:uFill>
                  <a:noFill/>
                </a:uFill>
                <a:latin typeface="Poppins"/>
                <a:ea typeface="Poppins"/>
                <a:cs typeface="Poppins"/>
                <a:sym typeface="Poppins"/>
                <a:hlinkClick r:id="rId3">
                  <a:extLst>
                    <a:ext uri="{A12FA001-AC4F-418D-AE19-62706E023703}">
                      <ahyp:hlinkClr xmlns:ahyp="http://schemas.microsoft.com/office/drawing/2018/hyperlinkcolor" val="tx"/>
                    </a:ext>
                  </a:extLst>
                </a:hlinkClick>
              </a:rPr>
              <a:t>↗</a:t>
            </a:r>
            <a:r>
              <a:rPr lang="en" sz="1300" b="0" i="0" u="sng" strike="noStrike" cap="none">
                <a:solidFill>
                  <a:srgbClr val="0254EC"/>
                </a:solidFill>
                <a:latin typeface="Poppins"/>
                <a:ea typeface="Poppins"/>
                <a:cs typeface="Poppins"/>
                <a:sym typeface="Poppins"/>
                <a:hlinkClick r:id="rId3">
                  <a:extLst>
                    <a:ext uri="{A12FA001-AC4F-418D-AE19-62706E023703}">
                      <ahyp:hlinkClr xmlns:ahyp="http://schemas.microsoft.com/office/drawing/2018/hyperlinkcolor" val="tx"/>
                    </a:ext>
                  </a:extLst>
                </a:hlinkClick>
              </a:rPr>
              <a:t> </a:t>
            </a:r>
            <a:endParaRPr sz="1100" b="0" i="0" u="none" strike="noStrike" cap="none">
              <a:solidFill>
                <a:srgbClr val="0254EC"/>
              </a:solidFill>
              <a:latin typeface="Poppins"/>
              <a:ea typeface="Poppins"/>
              <a:cs typeface="Poppins"/>
              <a:sym typeface="Poppins"/>
            </a:endParaRPr>
          </a:p>
        </p:txBody>
      </p:sp>
      <p:sp>
        <p:nvSpPr>
          <p:cNvPr id="767" name="Google Shape;767;p61"/>
          <p:cNvSpPr txBox="1"/>
          <p:nvPr/>
        </p:nvSpPr>
        <p:spPr>
          <a:xfrm>
            <a:off x="385090" y="909480"/>
            <a:ext cx="1605900" cy="1581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a:ea typeface="Poppins"/>
                <a:cs typeface="Poppins"/>
                <a:sym typeface="Poppins"/>
              </a:rPr>
              <a:t>{{K8S_1}}</a:t>
            </a:r>
            <a:endParaRPr sz="900" b="0" i="0" u="none" strike="noStrike" cap="none">
              <a:solidFill>
                <a:srgbClr val="333333"/>
              </a:solidFill>
              <a:latin typeface="Poppins"/>
              <a:ea typeface="Poppins"/>
              <a:cs typeface="Poppins"/>
              <a:sym typeface="Poppins"/>
            </a:endParaRPr>
          </a:p>
        </p:txBody>
      </p:sp>
      <p:sp>
        <p:nvSpPr>
          <p:cNvPr id="768" name="Google Shape;768;p61"/>
          <p:cNvSpPr txBox="1"/>
          <p:nvPr/>
        </p:nvSpPr>
        <p:spPr>
          <a:xfrm>
            <a:off x="1633470" y="909480"/>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{{K8C_1}}</a:t>
            </a:r>
            <a:endParaRPr sz="900" b="1" i="0" u="none" strike="noStrike" cap="none">
              <a:solidFill>
                <a:srgbClr val="333333"/>
              </a:solidFill>
              <a:latin typeface="DM Sans"/>
              <a:ea typeface="DM Sans"/>
              <a:cs typeface="DM Sans"/>
              <a:sym typeface="DM Sans"/>
            </a:endParaRPr>
          </a:p>
        </p:txBody>
      </p:sp>
      <p:sp>
        <p:nvSpPr>
          <p:cNvPr id="769" name="Google Shape;769;p61"/>
          <p:cNvSpPr txBox="1"/>
          <p:nvPr/>
        </p:nvSpPr>
        <p:spPr>
          <a:xfrm>
            <a:off x="385090" y="1075974"/>
            <a:ext cx="1605900" cy="1581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1100"/>
              <a:buFont typeface="Arial"/>
              <a:buNone/>
            </a:pPr>
            <a:r>
              <a:rPr lang="en" sz="900" b="0" i="0" u="none" strike="noStrike" cap="none">
                <a:solidFill>
                  <a:srgbClr val="333333"/>
                </a:solidFill>
                <a:latin typeface="Poppins"/>
                <a:ea typeface="Poppins"/>
                <a:cs typeface="Poppins"/>
                <a:sym typeface="Poppins"/>
              </a:rPr>
              <a:t>{{K8S_2}}</a:t>
            </a:r>
            <a:endParaRPr sz="900" b="0" i="0" u="none" strike="noStrike" cap="none">
              <a:solidFill>
                <a:srgbClr val="333333"/>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900"/>
              <a:buFont typeface="Arial"/>
              <a:buNone/>
            </a:pPr>
            <a:endParaRPr sz="900" b="0" i="0" u="none" strike="noStrike" cap="none">
              <a:solidFill>
                <a:srgbClr val="333333"/>
              </a:solidFill>
              <a:latin typeface="Poppins"/>
              <a:ea typeface="Poppins"/>
              <a:cs typeface="Poppins"/>
              <a:sym typeface="Poppins"/>
            </a:endParaRPr>
          </a:p>
        </p:txBody>
      </p:sp>
      <p:sp>
        <p:nvSpPr>
          <p:cNvPr id="770" name="Google Shape;770;p61"/>
          <p:cNvSpPr txBox="1"/>
          <p:nvPr/>
        </p:nvSpPr>
        <p:spPr>
          <a:xfrm>
            <a:off x="1633470" y="1073429"/>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{{K8C_2}}</a:t>
            </a:r>
            <a:endParaRPr sz="900" b="1" i="0" u="none" strike="noStrike" cap="none">
              <a:solidFill>
                <a:srgbClr val="333333"/>
              </a:solidFill>
              <a:latin typeface="DM Sans"/>
              <a:ea typeface="DM Sans"/>
              <a:cs typeface="DM Sans"/>
              <a:sym typeface="DM Sans"/>
            </a:endParaRPr>
          </a:p>
        </p:txBody>
      </p:sp>
      <p:sp>
        <p:nvSpPr>
          <p:cNvPr id="771" name="Google Shape;771;p61"/>
          <p:cNvSpPr txBox="1"/>
          <p:nvPr/>
        </p:nvSpPr>
        <p:spPr>
          <a:xfrm>
            <a:off x="385090" y="1242467"/>
            <a:ext cx="1605900" cy="1581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1100"/>
              <a:buFont typeface="Arial"/>
              <a:buNone/>
            </a:pPr>
            <a:r>
              <a:rPr lang="en" sz="900" b="0" i="0" u="none" strike="noStrike" cap="none">
                <a:solidFill>
                  <a:srgbClr val="333333"/>
                </a:solidFill>
                <a:latin typeface="Poppins"/>
                <a:ea typeface="Poppins"/>
                <a:cs typeface="Poppins"/>
                <a:sym typeface="Poppins"/>
              </a:rPr>
              <a:t>{{K8S_3}}</a:t>
            </a:r>
            <a:endParaRPr sz="900" b="0" i="0" u="none" strike="noStrike" cap="none">
              <a:solidFill>
                <a:srgbClr val="333333"/>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900"/>
              <a:buFont typeface="Arial"/>
              <a:buNone/>
            </a:pPr>
            <a:endParaRPr sz="900" b="0" i="0" u="none" strike="noStrike" cap="none">
              <a:solidFill>
                <a:srgbClr val="333333"/>
              </a:solidFill>
              <a:latin typeface="Poppins"/>
              <a:ea typeface="Poppins"/>
              <a:cs typeface="Poppins"/>
              <a:sym typeface="Poppins"/>
            </a:endParaRPr>
          </a:p>
        </p:txBody>
      </p:sp>
      <p:sp>
        <p:nvSpPr>
          <p:cNvPr id="772" name="Google Shape;772;p61"/>
          <p:cNvSpPr txBox="1"/>
          <p:nvPr/>
        </p:nvSpPr>
        <p:spPr>
          <a:xfrm>
            <a:off x="1633470" y="1237378"/>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{{K8C_3}}</a:t>
            </a:r>
            <a:endParaRPr sz="900" b="1" i="0" u="none" strike="noStrike" cap="none">
              <a:solidFill>
                <a:srgbClr val="333333"/>
              </a:solidFill>
              <a:latin typeface="DM Sans"/>
              <a:ea typeface="DM Sans"/>
              <a:cs typeface="DM Sans"/>
              <a:sym typeface="DM Sans"/>
            </a:endParaRPr>
          </a:p>
        </p:txBody>
      </p:sp>
      <p:sp>
        <p:nvSpPr>
          <p:cNvPr id="773" name="Google Shape;773;p61"/>
          <p:cNvSpPr txBox="1"/>
          <p:nvPr/>
        </p:nvSpPr>
        <p:spPr>
          <a:xfrm>
            <a:off x="385090" y="1408961"/>
            <a:ext cx="1605900" cy="1581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1100"/>
              <a:buFont typeface="Arial"/>
              <a:buNone/>
            </a:pPr>
            <a:r>
              <a:rPr lang="en" sz="900" b="0" i="0" u="none" strike="noStrike" cap="none">
                <a:solidFill>
                  <a:srgbClr val="333333"/>
                </a:solidFill>
                <a:latin typeface="Poppins"/>
                <a:ea typeface="Poppins"/>
                <a:cs typeface="Poppins"/>
                <a:sym typeface="Poppins"/>
              </a:rPr>
              <a:t>{{K8S_4}}</a:t>
            </a:r>
            <a:endParaRPr sz="900" b="0" i="0" u="none" strike="noStrike" cap="none">
              <a:solidFill>
                <a:srgbClr val="333333"/>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900"/>
              <a:buFont typeface="Arial"/>
              <a:buNone/>
            </a:pPr>
            <a:endParaRPr sz="900" b="0" i="0" u="none" strike="noStrike" cap="none">
              <a:solidFill>
                <a:srgbClr val="333333"/>
              </a:solidFill>
              <a:latin typeface="Poppins"/>
              <a:ea typeface="Poppins"/>
              <a:cs typeface="Poppins"/>
              <a:sym typeface="Poppins"/>
            </a:endParaRPr>
          </a:p>
        </p:txBody>
      </p:sp>
      <p:sp>
        <p:nvSpPr>
          <p:cNvPr id="774" name="Google Shape;774;p61"/>
          <p:cNvSpPr txBox="1"/>
          <p:nvPr/>
        </p:nvSpPr>
        <p:spPr>
          <a:xfrm>
            <a:off x="1633470" y="1401326"/>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{{K8C_4}}</a:t>
            </a:r>
            <a:endParaRPr sz="900" b="1" i="0" u="none" strike="noStrike" cap="none">
              <a:solidFill>
                <a:srgbClr val="333333"/>
              </a:solidFill>
              <a:latin typeface="DM Sans"/>
              <a:ea typeface="DM Sans"/>
              <a:cs typeface="DM Sans"/>
              <a:sym typeface="DM Sans"/>
            </a:endParaRPr>
          </a:p>
        </p:txBody>
      </p:sp>
      <p:sp>
        <p:nvSpPr>
          <p:cNvPr id="775" name="Google Shape;775;p61"/>
          <p:cNvSpPr txBox="1"/>
          <p:nvPr/>
        </p:nvSpPr>
        <p:spPr>
          <a:xfrm>
            <a:off x="385090" y="1575455"/>
            <a:ext cx="2113800" cy="1581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1100"/>
              <a:buFont typeface="Arial"/>
              <a:buNone/>
            </a:pPr>
            <a:r>
              <a:rPr lang="en" sz="900" b="0" i="0" u="none" strike="noStrike" cap="none">
                <a:solidFill>
                  <a:srgbClr val="333333"/>
                </a:solidFill>
                <a:latin typeface="Poppins"/>
                <a:ea typeface="Poppins"/>
                <a:cs typeface="Poppins"/>
                <a:sym typeface="Poppins"/>
              </a:rPr>
              <a:t>{{K8S_5}}</a:t>
            </a:r>
            <a:endParaRPr sz="900" b="0" i="0" u="none" strike="noStrike" cap="none">
              <a:solidFill>
                <a:srgbClr val="333333"/>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333333"/>
              </a:solidFill>
              <a:latin typeface="Poppins"/>
              <a:ea typeface="Poppins"/>
              <a:cs typeface="Poppins"/>
              <a:sym typeface="Poppins"/>
            </a:endParaRPr>
          </a:p>
        </p:txBody>
      </p:sp>
      <p:sp>
        <p:nvSpPr>
          <p:cNvPr id="776" name="Google Shape;776;p61"/>
          <p:cNvSpPr txBox="1"/>
          <p:nvPr/>
        </p:nvSpPr>
        <p:spPr>
          <a:xfrm>
            <a:off x="1633470" y="1565275"/>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{{K8C_5}}</a:t>
            </a:r>
            <a:endParaRPr sz="900" b="1" i="0" u="none" strike="noStrike" cap="none">
              <a:solidFill>
                <a:srgbClr val="333333"/>
              </a:solidFill>
              <a:latin typeface="DM Sans"/>
              <a:ea typeface="DM Sans"/>
              <a:cs typeface="DM Sans"/>
              <a:sym typeface="DM Sans"/>
            </a:endParaRPr>
          </a:p>
        </p:txBody>
      </p:sp>
      <p:sp>
        <p:nvSpPr>
          <p:cNvPr id="777" name="Google Shape;777;p61"/>
          <p:cNvSpPr txBox="1"/>
          <p:nvPr/>
        </p:nvSpPr>
        <p:spPr>
          <a:xfrm>
            <a:off x="217670" y="1937845"/>
            <a:ext cx="2676900" cy="158100"/>
          </a:xfrm>
          <a:prstGeom prst="rect">
            <a:avLst/>
          </a:prstGeom>
          <a:noFill/>
          <a:ln>
            <a:noFill/>
          </a:ln>
        </p:spPr>
        <p:txBody>
          <a:bodyPr spcFirstLastPara="1" wrap="square" lIns="91775" tIns="91775" rIns="91775" bIns="91775" anchor="t" anchorCtr="0">
            <a:noAutofit/>
          </a:bodyPr>
          <a:lstStyle/>
          <a:p>
            <a:pPr marL="0" marR="0" lvl="0" indent="0" algn="ctr" rtl="0">
              <a:lnSpc>
                <a:spcPct val="150000"/>
              </a:lnSpc>
              <a:spcBef>
                <a:spcPts val="0"/>
              </a:spcBef>
              <a:spcAft>
                <a:spcPts val="0"/>
              </a:spcAft>
              <a:buClr>
                <a:srgbClr val="000000"/>
              </a:buClr>
              <a:buSzPts val="1100"/>
              <a:buFont typeface="Arial"/>
              <a:buNone/>
            </a:pPr>
            <a:r>
              <a:rPr lang="en" sz="1100" b="0" i="0" u="none" strike="noStrike" cap="none">
                <a:solidFill>
                  <a:srgbClr val="333333"/>
                </a:solidFill>
                <a:latin typeface="Poppins"/>
                <a:ea typeface="Poppins"/>
                <a:cs typeface="Poppins"/>
                <a:sym typeface="Poppins"/>
              </a:rPr>
              <a:t>Total {{K8C_TOT}}</a:t>
            </a:r>
            <a:endParaRPr sz="1100" b="0" i="0" u="none" strike="noStrike" cap="none">
              <a:solidFill>
                <a:srgbClr val="333333"/>
              </a:solidFill>
              <a:latin typeface="Poppins"/>
              <a:ea typeface="Poppins"/>
              <a:cs typeface="Poppins"/>
              <a:sym typeface="Poppins"/>
            </a:endParaRPr>
          </a:p>
        </p:txBody>
      </p:sp>
      <p:sp>
        <p:nvSpPr>
          <p:cNvPr id="778" name="Google Shape;778;p61"/>
          <p:cNvSpPr txBox="1"/>
          <p:nvPr/>
        </p:nvSpPr>
        <p:spPr>
          <a:xfrm>
            <a:off x="3238087" y="1038052"/>
            <a:ext cx="1680900" cy="1530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dirty="0">
                <a:solidFill>
                  <a:srgbClr val="0254EC"/>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Wiz Connector Deployed</a:t>
            </a:r>
            <a:endParaRPr sz="900" b="0" i="0" u="none" strike="noStrike" cap="none" dirty="0">
              <a:solidFill>
                <a:srgbClr val="0254EC"/>
              </a:solidFill>
              <a:latin typeface="Poppins"/>
              <a:ea typeface="Poppins"/>
              <a:cs typeface="Poppins"/>
              <a:sym typeface="Poppins"/>
            </a:endParaRPr>
          </a:p>
        </p:txBody>
      </p:sp>
      <p:sp>
        <p:nvSpPr>
          <p:cNvPr id="779" name="Google Shape;779;p61"/>
          <p:cNvSpPr txBox="1"/>
          <p:nvPr/>
        </p:nvSpPr>
        <p:spPr>
          <a:xfrm>
            <a:off x="4766331" y="1038062"/>
            <a:ext cx="1003500" cy="1530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DM Sans"/>
                <a:ea typeface="DM Sans"/>
                <a:cs typeface="DM Sans"/>
                <a:sym typeface="DM Sans"/>
              </a:rPr>
              <a:t>{{KC_WC}}</a:t>
            </a:r>
            <a:endParaRPr sz="1000" b="1" i="0" u="none" strike="noStrike" cap="none">
              <a:solidFill>
                <a:srgbClr val="333333"/>
              </a:solidFill>
              <a:latin typeface="DM Sans"/>
              <a:ea typeface="DM Sans"/>
              <a:cs typeface="DM Sans"/>
              <a:sym typeface="DM Sans"/>
            </a:endParaRPr>
          </a:p>
        </p:txBody>
      </p:sp>
      <p:sp>
        <p:nvSpPr>
          <p:cNvPr id="780" name="Google Shape;780;p61"/>
          <p:cNvSpPr txBox="1"/>
          <p:nvPr/>
        </p:nvSpPr>
        <p:spPr>
          <a:xfrm>
            <a:off x="3238089" y="1213479"/>
            <a:ext cx="1909200" cy="1548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Poppins"/>
                <a:ea typeface="Poppins"/>
                <a:cs typeface="Poppins"/>
                <a:sym typeface="Poppins"/>
                <a:hlinkClick r:id="rId5">
                  <a:extLst>
                    <a:ext uri="{A12FA001-AC4F-418D-AE19-62706E023703}">
                      <ahyp:hlinkClr xmlns:ahyp="http://schemas.microsoft.com/office/drawing/2018/hyperlinkcolor" val="tx"/>
                    </a:ext>
                  </a:extLst>
                </a:hlinkClick>
              </a:rPr>
              <a:t>Admission Controller</a:t>
            </a:r>
            <a:endParaRPr sz="900" b="0" i="0" u="none" strike="noStrike" cap="none">
              <a:solidFill>
                <a:srgbClr val="0254EC"/>
              </a:solidFill>
              <a:latin typeface="Poppins"/>
              <a:ea typeface="Poppins"/>
              <a:cs typeface="Poppins"/>
              <a:sym typeface="Poppins"/>
            </a:endParaRPr>
          </a:p>
        </p:txBody>
      </p:sp>
      <p:sp>
        <p:nvSpPr>
          <p:cNvPr id="781" name="Google Shape;781;p61"/>
          <p:cNvSpPr txBox="1"/>
          <p:nvPr/>
        </p:nvSpPr>
        <p:spPr>
          <a:xfrm>
            <a:off x="4764913" y="1211115"/>
            <a:ext cx="1003500" cy="1530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DM Sans"/>
                <a:ea typeface="DM Sans"/>
                <a:cs typeface="DM Sans"/>
                <a:sym typeface="DM Sans"/>
              </a:rPr>
              <a:t>{{KC_AC}}</a:t>
            </a:r>
            <a:endParaRPr sz="1000" b="1" i="0" u="none" strike="noStrike" cap="none">
              <a:solidFill>
                <a:srgbClr val="333333"/>
              </a:solidFill>
              <a:latin typeface="DM Sans"/>
              <a:ea typeface="DM Sans"/>
              <a:cs typeface="DM Sans"/>
              <a:sym typeface="DM Sans"/>
            </a:endParaRPr>
          </a:p>
        </p:txBody>
      </p:sp>
      <p:cxnSp>
        <p:nvCxnSpPr>
          <p:cNvPr id="782" name="Google Shape;782;p61"/>
          <p:cNvCxnSpPr/>
          <p:nvPr/>
        </p:nvCxnSpPr>
        <p:spPr>
          <a:xfrm>
            <a:off x="150000" y="2399129"/>
            <a:ext cx="8776500" cy="0"/>
          </a:xfrm>
          <a:prstGeom prst="straightConnector1">
            <a:avLst/>
          </a:prstGeom>
          <a:noFill/>
          <a:ln w="14300" cap="flat" cmpd="sng">
            <a:solidFill>
              <a:srgbClr val="0054EC"/>
            </a:solidFill>
            <a:prstDash val="solid"/>
            <a:round/>
            <a:headEnd type="none" w="sm" len="sm"/>
            <a:tailEnd type="none" w="sm" len="sm"/>
          </a:ln>
        </p:spPr>
      </p:cxnSp>
      <p:sp>
        <p:nvSpPr>
          <p:cNvPr id="783" name="Google Shape;783;p61"/>
          <p:cNvSpPr txBox="1"/>
          <p:nvPr/>
        </p:nvSpPr>
        <p:spPr>
          <a:xfrm>
            <a:off x="300000" y="2950479"/>
            <a:ext cx="3287400" cy="1806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a:ea typeface="Poppins"/>
                <a:cs typeface="Poppins"/>
                <a:sym typeface="Poppins"/>
              </a:rPr>
              <a:t>Cloud (Workload/K8s)</a:t>
            </a:r>
            <a:endParaRPr sz="900" b="0" i="0" u="none" strike="noStrike" cap="none">
              <a:solidFill>
                <a:srgbClr val="333333"/>
              </a:solidFill>
              <a:latin typeface="Poppins"/>
              <a:ea typeface="Poppins"/>
              <a:cs typeface="Poppins"/>
              <a:sym typeface="Poppins"/>
            </a:endParaRPr>
          </a:p>
        </p:txBody>
      </p:sp>
      <p:sp>
        <p:nvSpPr>
          <p:cNvPr id="784" name="Google Shape;784;p61"/>
          <p:cNvSpPr txBox="1"/>
          <p:nvPr/>
        </p:nvSpPr>
        <p:spPr>
          <a:xfrm>
            <a:off x="1751486" y="2964986"/>
            <a:ext cx="1605900" cy="1806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{{CL_CLD}}</a:t>
            </a:r>
            <a:endParaRPr sz="900" b="1" i="0" u="none" strike="noStrike" cap="none">
              <a:solidFill>
                <a:srgbClr val="333333"/>
              </a:solidFill>
              <a:latin typeface="DM Sans"/>
              <a:ea typeface="DM Sans"/>
              <a:cs typeface="DM Sans"/>
              <a:sym typeface="DM Sans"/>
            </a:endParaRPr>
          </a:p>
        </p:txBody>
      </p:sp>
      <p:sp>
        <p:nvSpPr>
          <p:cNvPr id="785" name="Google Shape;785;p61"/>
          <p:cNvSpPr txBox="1"/>
          <p:nvPr/>
        </p:nvSpPr>
        <p:spPr>
          <a:xfrm>
            <a:off x="300000" y="3152930"/>
            <a:ext cx="3287400" cy="1806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a:ea typeface="Poppins"/>
                <a:cs typeface="Poppins"/>
                <a:sym typeface="Poppins"/>
              </a:rPr>
              <a:t>Store (Registry Scans)</a:t>
            </a:r>
            <a:endParaRPr sz="900" b="0" i="0" u="none" strike="noStrike" cap="none">
              <a:solidFill>
                <a:srgbClr val="333333"/>
              </a:solidFill>
              <a:latin typeface="Poppins"/>
              <a:ea typeface="Poppins"/>
              <a:cs typeface="Poppins"/>
              <a:sym typeface="Poppins"/>
            </a:endParaRPr>
          </a:p>
        </p:txBody>
      </p:sp>
      <p:sp>
        <p:nvSpPr>
          <p:cNvPr id="786" name="Google Shape;786;p61"/>
          <p:cNvSpPr txBox="1"/>
          <p:nvPr/>
        </p:nvSpPr>
        <p:spPr>
          <a:xfrm>
            <a:off x="1751486" y="3167437"/>
            <a:ext cx="1605900" cy="1806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{{CL_STR}}</a:t>
            </a:r>
            <a:endParaRPr sz="900" b="1" i="0" u="none" strike="noStrike" cap="none">
              <a:solidFill>
                <a:srgbClr val="333333"/>
              </a:solidFill>
              <a:latin typeface="DM Sans"/>
              <a:ea typeface="DM Sans"/>
              <a:cs typeface="DM Sans"/>
              <a:sym typeface="DM Sans"/>
            </a:endParaRPr>
          </a:p>
        </p:txBody>
      </p:sp>
      <p:sp>
        <p:nvSpPr>
          <p:cNvPr id="787" name="Google Shape;787;p61"/>
          <p:cNvSpPr txBox="1"/>
          <p:nvPr/>
        </p:nvSpPr>
        <p:spPr>
          <a:xfrm>
            <a:off x="300000" y="3355380"/>
            <a:ext cx="3287400" cy="1806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a:ea typeface="Poppins"/>
                <a:cs typeface="Poppins"/>
                <a:sym typeface="Poppins"/>
              </a:rPr>
              <a:t>Runtime (Sensor)</a:t>
            </a:r>
            <a:endParaRPr sz="900" b="0" i="0" u="none" strike="noStrike" cap="none">
              <a:solidFill>
                <a:srgbClr val="333333"/>
              </a:solidFill>
              <a:latin typeface="Poppins"/>
              <a:ea typeface="Poppins"/>
              <a:cs typeface="Poppins"/>
              <a:sym typeface="Poppins"/>
            </a:endParaRPr>
          </a:p>
        </p:txBody>
      </p:sp>
      <p:sp>
        <p:nvSpPr>
          <p:cNvPr id="788" name="Google Shape;788;p61"/>
          <p:cNvSpPr txBox="1"/>
          <p:nvPr/>
        </p:nvSpPr>
        <p:spPr>
          <a:xfrm>
            <a:off x="1751486" y="3369887"/>
            <a:ext cx="1605900" cy="1806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{{CL_RT}}</a:t>
            </a:r>
            <a:endParaRPr sz="900" b="1" i="0" u="none" strike="noStrike" cap="none">
              <a:solidFill>
                <a:srgbClr val="333333"/>
              </a:solidFill>
              <a:latin typeface="DM Sans"/>
              <a:ea typeface="DM Sans"/>
              <a:cs typeface="DM Sans"/>
              <a:sym typeface="DM Sans"/>
            </a:endParaRPr>
          </a:p>
        </p:txBody>
      </p:sp>
      <p:sp>
        <p:nvSpPr>
          <p:cNvPr id="789" name="Google Shape;789;p61"/>
          <p:cNvSpPr txBox="1"/>
          <p:nvPr/>
        </p:nvSpPr>
        <p:spPr>
          <a:xfrm>
            <a:off x="300000" y="3557831"/>
            <a:ext cx="3287400" cy="1806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a:ea typeface="Poppins"/>
                <a:cs typeface="Poppins"/>
                <a:sym typeface="Poppins"/>
              </a:rPr>
              <a:t>Code (Wiz Code)</a:t>
            </a:r>
            <a:endParaRPr sz="900" b="0" i="0" u="none" strike="noStrike" cap="none">
              <a:solidFill>
                <a:srgbClr val="333333"/>
              </a:solidFill>
              <a:latin typeface="Poppins"/>
              <a:ea typeface="Poppins"/>
              <a:cs typeface="Poppins"/>
              <a:sym typeface="Poppins"/>
            </a:endParaRPr>
          </a:p>
        </p:txBody>
      </p:sp>
      <p:sp>
        <p:nvSpPr>
          <p:cNvPr id="790" name="Google Shape;790;p61"/>
          <p:cNvSpPr txBox="1"/>
          <p:nvPr/>
        </p:nvSpPr>
        <p:spPr>
          <a:xfrm>
            <a:off x="1751486" y="3572338"/>
            <a:ext cx="1605900" cy="1806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{{CL_CODE}}</a:t>
            </a:r>
            <a:endParaRPr sz="900" b="1" i="0" u="none" strike="noStrike" cap="none">
              <a:solidFill>
                <a:srgbClr val="333333"/>
              </a:solidFill>
              <a:latin typeface="DM Sans"/>
              <a:ea typeface="DM Sans"/>
              <a:cs typeface="DM Sans"/>
              <a:sym typeface="DM Sans"/>
            </a:endParaRPr>
          </a:p>
        </p:txBody>
      </p:sp>
      <p:sp>
        <p:nvSpPr>
          <p:cNvPr id="791" name="Google Shape;791;p61"/>
          <p:cNvSpPr txBox="1"/>
          <p:nvPr/>
        </p:nvSpPr>
        <p:spPr>
          <a:xfrm>
            <a:off x="300000" y="3760282"/>
            <a:ext cx="3287400" cy="1806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a:ea typeface="Poppins"/>
                <a:cs typeface="Poppins"/>
                <a:sym typeface="Poppins"/>
              </a:rPr>
              <a:t>Build (Wiz CLI + Tagged Images)</a:t>
            </a:r>
            <a:endParaRPr sz="900" b="0" i="0" u="none" strike="noStrike" cap="none">
              <a:solidFill>
                <a:srgbClr val="333333"/>
              </a:solidFill>
              <a:latin typeface="Poppins"/>
              <a:ea typeface="Poppins"/>
              <a:cs typeface="Poppins"/>
              <a:sym typeface="Poppins"/>
            </a:endParaRPr>
          </a:p>
        </p:txBody>
      </p:sp>
      <p:sp>
        <p:nvSpPr>
          <p:cNvPr id="792" name="Google Shape;792;p61"/>
          <p:cNvSpPr txBox="1"/>
          <p:nvPr/>
        </p:nvSpPr>
        <p:spPr>
          <a:xfrm>
            <a:off x="1751486" y="3774789"/>
            <a:ext cx="1605900" cy="1806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{{CL_BLD}}</a:t>
            </a:r>
            <a:endParaRPr sz="900" b="1" i="0" u="none" strike="noStrike" cap="none">
              <a:solidFill>
                <a:srgbClr val="333333"/>
              </a:solidFill>
              <a:latin typeface="DM Sans"/>
              <a:ea typeface="DM Sans"/>
              <a:cs typeface="DM Sans"/>
              <a:sym typeface="DM Sans"/>
            </a:endParaRPr>
          </a:p>
        </p:txBody>
      </p:sp>
      <p:sp>
        <p:nvSpPr>
          <p:cNvPr id="793" name="Google Shape;793;p61"/>
          <p:cNvSpPr txBox="1"/>
          <p:nvPr/>
        </p:nvSpPr>
        <p:spPr>
          <a:xfrm>
            <a:off x="300000" y="3962733"/>
            <a:ext cx="3287400" cy="1806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a:ea typeface="Poppins"/>
                <a:cs typeface="Poppins"/>
                <a:sym typeface="Poppins"/>
              </a:rPr>
              <a:t>Deploy (Admission Controller)</a:t>
            </a:r>
            <a:endParaRPr sz="900" b="0" i="0" u="none" strike="noStrike" cap="none">
              <a:solidFill>
                <a:srgbClr val="333333"/>
              </a:solidFill>
              <a:latin typeface="Poppins"/>
              <a:ea typeface="Poppins"/>
              <a:cs typeface="Poppins"/>
              <a:sym typeface="Poppins"/>
            </a:endParaRPr>
          </a:p>
        </p:txBody>
      </p:sp>
      <p:sp>
        <p:nvSpPr>
          <p:cNvPr id="794" name="Google Shape;794;p61"/>
          <p:cNvSpPr txBox="1"/>
          <p:nvPr/>
        </p:nvSpPr>
        <p:spPr>
          <a:xfrm>
            <a:off x="1751486" y="3977239"/>
            <a:ext cx="1605900" cy="1806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{{CL_DEP}}</a:t>
            </a:r>
            <a:endParaRPr sz="900" b="1" i="0" u="none" strike="noStrike" cap="none">
              <a:solidFill>
                <a:srgbClr val="333333"/>
              </a:solidFill>
              <a:latin typeface="DM Sans"/>
              <a:ea typeface="DM Sans"/>
              <a:cs typeface="DM Sans"/>
              <a:sym typeface="DM Sans"/>
            </a:endParaRPr>
          </a:p>
        </p:txBody>
      </p:sp>
      <p:sp>
        <p:nvSpPr>
          <p:cNvPr id="795" name="Google Shape;795;p61"/>
          <p:cNvSpPr txBox="1"/>
          <p:nvPr/>
        </p:nvSpPr>
        <p:spPr>
          <a:xfrm>
            <a:off x="223925" y="4650100"/>
            <a:ext cx="3201900" cy="220800"/>
          </a:xfrm>
          <a:prstGeom prst="rect">
            <a:avLst/>
          </a:prstGeom>
          <a:noFill/>
          <a:ln>
            <a:noFill/>
          </a:ln>
        </p:spPr>
        <p:txBody>
          <a:bodyPr spcFirstLastPara="1" wrap="square" lIns="91775" tIns="91775" rIns="91775" bIns="91775" anchor="t" anchorCtr="0">
            <a:noAutofit/>
          </a:bodyPr>
          <a:lstStyle/>
          <a:p>
            <a:pPr marL="0" marR="0" lvl="0" indent="0" algn="ctr" rtl="0">
              <a:lnSpc>
                <a:spcPct val="150000"/>
              </a:lnSpc>
              <a:spcBef>
                <a:spcPts val="0"/>
              </a:spcBef>
              <a:spcAft>
                <a:spcPts val="0"/>
              </a:spcAft>
              <a:buClr>
                <a:srgbClr val="000000"/>
              </a:buClr>
              <a:buSzPts val="1100"/>
              <a:buFont typeface="Arial"/>
              <a:buNone/>
            </a:pPr>
            <a:r>
              <a:rPr lang="en" sz="1100" b="0" i="0" u="none" strike="noStrike" cap="none">
                <a:solidFill>
                  <a:srgbClr val="333333"/>
                </a:solidFill>
                <a:latin typeface="Poppins"/>
                <a:ea typeface="Poppins"/>
                <a:cs typeface="Poppins"/>
                <a:sym typeface="Poppins"/>
              </a:rPr>
              <a:t>Total Images {{TI}}</a:t>
            </a:r>
            <a:endParaRPr sz="1100" b="0" i="0" u="none" strike="noStrike" cap="none">
              <a:solidFill>
                <a:srgbClr val="333333"/>
              </a:solidFill>
              <a:latin typeface="Poppins"/>
              <a:ea typeface="Poppins"/>
              <a:cs typeface="Poppins"/>
              <a:sym typeface="Poppins"/>
            </a:endParaRPr>
          </a:p>
        </p:txBody>
      </p:sp>
      <p:sp>
        <p:nvSpPr>
          <p:cNvPr id="796" name="Google Shape;796;p61"/>
          <p:cNvSpPr txBox="1"/>
          <p:nvPr/>
        </p:nvSpPr>
        <p:spPr>
          <a:xfrm>
            <a:off x="3199649" y="653779"/>
            <a:ext cx="2688900" cy="279000"/>
          </a:xfrm>
          <a:prstGeom prst="rect">
            <a:avLst/>
          </a:prstGeom>
          <a:noFill/>
          <a:ln>
            <a:noFill/>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333333"/>
                </a:solidFill>
                <a:latin typeface="Poppins"/>
                <a:ea typeface="Poppins"/>
                <a:cs typeface="Poppins"/>
                <a:sym typeface="Poppins"/>
              </a:rPr>
              <a:t>Kubernetes Coverage</a:t>
            </a:r>
            <a:endParaRPr sz="1100" b="0" i="0" u="none" strike="noStrike" cap="none">
              <a:solidFill>
                <a:srgbClr val="333333"/>
              </a:solidFill>
              <a:latin typeface="Poppins"/>
              <a:ea typeface="Poppins"/>
              <a:cs typeface="Poppins"/>
              <a:sym typeface="Poppins"/>
            </a:endParaRPr>
          </a:p>
        </p:txBody>
      </p:sp>
      <p:sp>
        <p:nvSpPr>
          <p:cNvPr id="797" name="Google Shape;797;p61"/>
          <p:cNvSpPr txBox="1"/>
          <p:nvPr/>
        </p:nvSpPr>
        <p:spPr>
          <a:xfrm>
            <a:off x="6193748" y="649827"/>
            <a:ext cx="2688900" cy="300900"/>
          </a:xfrm>
          <a:prstGeom prst="rect">
            <a:avLst/>
          </a:prstGeom>
          <a:noFill/>
          <a:ln>
            <a:noFill/>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333333"/>
                </a:solidFill>
                <a:latin typeface="Poppins"/>
                <a:ea typeface="Poppins"/>
                <a:cs typeface="Poppins"/>
                <a:sym typeface="Poppins"/>
              </a:rPr>
              <a:t>Gaps &amp; Exposure</a:t>
            </a:r>
            <a:endParaRPr sz="1100" b="0" i="0" u="none" strike="noStrike" cap="none">
              <a:solidFill>
                <a:srgbClr val="333333"/>
              </a:solidFill>
              <a:latin typeface="Poppins"/>
              <a:ea typeface="Poppins"/>
              <a:cs typeface="Poppins"/>
              <a:sym typeface="Poppins"/>
            </a:endParaRPr>
          </a:p>
        </p:txBody>
      </p:sp>
      <p:sp>
        <p:nvSpPr>
          <p:cNvPr id="798" name="Google Shape;798;p61"/>
          <p:cNvSpPr txBox="1"/>
          <p:nvPr/>
        </p:nvSpPr>
        <p:spPr>
          <a:xfrm>
            <a:off x="205545" y="2441805"/>
            <a:ext cx="3287400" cy="301200"/>
          </a:xfrm>
          <a:prstGeom prst="rect">
            <a:avLst/>
          </a:prstGeom>
          <a:noFill/>
          <a:ln>
            <a:noFill/>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sng" strike="noStrike" cap="none">
                <a:solidFill>
                  <a:srgbClr val="0254EC"/>
                </a:solidFill>
                <a:latin typeface="Poppins"/>
                <a:ea typeface="Poppins"/>
                <a:cs typeface="Poppins"/>
                <a:sym typeface="Poppins"/>
                <a:hlinkClick r:id="rId6">
                  <a:extLst>
                    <a:ext uri="{A12FA001-AC4F-418D-AE19-62706E023703}">
                      <ahyp:hlinkClr xmlns:ahyp="http://schemas.microsoft.com/office/drawing/2018/hyperlinkcolor" val="tx"/>
                    </a:ext>
                  </a:extLst>
                </a:hlinkClick>
              </a:rPr>
              <a:t>Container Images Lifecycle </a:t>
            </a:r>
            <a:r>
              <a:rPr lang="en" sz="1300" b="0" i="0" u="none" strike="noStrike" cap="none">
                <a:solidFill>
                  <a:srgbClr val="0254EC"/>
                </a:solidFill>
                <a:uFill>
                  <a:noFill/>
                </a:uFill>
                <a:latin typeface="Poppins"/>
                <a:ea typeface="Poppins"/>
                <a:cs typeface="Poppins"/>
                <a:sym typeface="Poppins"/>
                <a:hlinkClick r:id="rId6">
                  <a:extLst>
                    <a:ext uri="{A12FA001-AC4F-418D-AE19-62706E023703}">
                      <ahyp:hlinkClr xmlns:ahyp="http://schemas.microsoft.com/office/drawing/2018/hyperlinkcolor" val="tx"/>
                    </a:ext>
                  </a:extLst>
                </a:hlinkClick>
              </a:rPr>
              <a:t>↗</a:t>
            </a:r>
            <a:r>
              <a:rPr lang="en" sz="1100" b="0" i="0" u="none" strike="noStrike" cap="none">
                <a:solidFill>
                  <a:srgbClr val="0254EC"/>
                </a:solidFill>
                <a:uFill>
                  <a:noFill/>
                </a:uFill>
                <a:latin typeface="Poppins"/>
                <a:ea typeface="Poppins"/>
                <a:cs typeface="Poppins"/>
                <a:sym typeface="Poppins"/>
                <a:hlinkClick r:id="rId6">
                  <a:extLst>
                    <a:ext uri="{A12FA001-AC4F-418D-AE19-62706E023703}">
                      <ahyp:hlinkClr xmlns:ahyp="http://schemas.microsoft.com/office/drawing/2018/hyperlinkcolor" val="tx"/>
                    </a:ext>
                  </a:extLst>
                </a:hlinkClick>
              </a:rPr>
              <a:t> </a:t>
            </a:r>
            <a:endParaRPr sz="1100" b="0" i="0" u="none" strike="noStrike" cap="none">
              <a:solidFill>
                <a:srgbClr val="0254EC"/>
              </a:solidFill>
              <a:latin typeface="Poppins"/>
              <a:ea typeface="Poppins"/>
              <a:cs typeface="Poppins"/>
              <a:sym typeface="Poppins"/>
            </a:endParaRPr>
          </a:p>
        </p:txBody>
      </p:sp>
      <p:sp>
        <p:nvSpPr>
          <p:cNvPr id="799" name="Google Shape;799;p61"/>
          <p:cNvSpPr/>
          <p:nvPr/>
        </p:nvSpPr>
        <p:spPr>
          <a:xfrm>
            <a:off x="6419250" y="2723725"/>
            <a:ext cx="2579100" cy="2316300"/>
          </a:xfrm>
          <a:prstGeom prst="roundRect">
            <a:avLst>
              <a:gd name="adj" fmla="val 16667"/>
            </a:avLst>
          </a:prstGeom>
          <a:noFill/>
          <a:ln w="9575" cap="flat" cmpd="sng">
            <a:solidFill>
              <a:srgbClr val="595959"/>
            </a:solidFill>
            <a:prstDash val="solid"/>
            <a:round/>
            <a:headEnd type="none" w="sm" len="sm"/>
            <a:tailEnd type="none" w="sm" len="sm"/>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DM Sans"/>
              <a:ea typeface="DM Sans"/>
              <a:cs typeface="DM Sans"/>
              <a:sym typeface="DM Sans"/>
            </a:endParaRPr>
          </a:p>
        </p:txBody>
      </p:sp>
      <p:sp>
        <p:nvSpPr>
          <p:cNvPr id="800" name="Google Shape;800;p61"/>
          <p:cNvSpPr txBox="1"/>
          <p:nvPr/>
        </p:nvSpPr>
        <p:spPr>
          <a:xfrm>
            <a:off x="6421350" y="4112573"/>
            <a:ext cx="2571000" cy="220800"/>
          </a:xfrm>
          <a:prstGeom prst="rect">
            <a:avLst/>
          </a:prstGeom>
          <a:noFill/>
          <a:ln>
            <a:noFill/>
          </a:ln>
        </p:spPr>
        <p:txBody>
          <a:bodyPr spcFirstLastPara="1" wrap="square" lIns="91775" tIns="91775" rIns="91775" bIns="91775" anchor="t" anchorCtr="0">
            <a:noAutofit/>
          </a:bodyPr>
          <a:lstStyle/>
          <a:p>
            <a:pPr marL="0" marR="0" lvl="0" indent="0" algn="ctr" rtl="0">
              <a:lnSpc>
                <a:spcPct val="150000"/>
              </a:lnSpc>
              <a:spcBef>
                <a:spcPts val="0"/>
              </a:spcBef>
              <a:spcAft>
                <a:spcPts val="0"/>
              </a:spcAft>
              <a:buClr>
                <a:srgbClr val="000000"/>
              </a:buClr>
              <a:buSzPts val="1000"/>
              <a:buFont typeface="Arial"/>
              <a:buNone/>
            </a:pPr>
            <a:r>
              <a:rPr lang="en" sz="1000" b="0" i="0" u="none" strike="noStrike" cap="none">
                <a:solidFill>
                  <a:srgbClr val="333333"/>
                </a:solidFill>
                <a:latin typeface="Poppins"/>
                <a:ea typeface="Poppins"/>
                <a:cs typeface="Poppins"/>
                <a:sym typeface="Poppins"/>
              </a:rPr>
              <a:t>Total Registries  {{R_TOT}}</a:t>
            </a:r>
            <a:endParaRPr sz="1000" b="0" i="0" u="none" strike="noStrike" cap="none">
              <a:solidFill>
                <a:srgbClr val="333333"/>
              </a:solidFill>
              <a:latin typeface="Poppins"/>
              <a:ea typeface="Poppins"/>
              <a:cs typeface="Poppins"/>
              <a:sym typeface="Poppins"/>
            </a:endParaRPr>
          </a:p>
        </p:txBody>
      </p:sp>
      <p:sp>
        <p:nvSpPr>
          <p:cNvPr id="801" name="Google Shape;801;p61"/>
          <p:cNvSpPr txBox="1"/>
          <p:nvPr/>
        </p:nvSpPr>
        <p:spPr>
          <a:xfrm>
            <a:off x="6482720" y="3090648"/>
            <a:ext cx="1101300" cy="1743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1100"/>
              <a:buFont typeface="Arial"/>
              <a:buNone/>
            </a:pPr>
            <a:r>
              <a:rPr lang="en" sz="900" b="0" i="0" u="none" strike="noStrike" cap="none">
                <a:solidFill>
                  <a:srgbClr val="333333"/>
                </a:solidFill>
                <a:latin typeface="DM Sans"/>
                <a:ea typeface="DM Sans"/>
                <a:cs typeface="DM Sans"/>
                <a:sym typeface="DM Sans"/>
              </a:rPr>
              <a:t>{{R_2}}</a:t>
            </a:r>
            <a:endParaRPr sz="900" b="0" i="0" u="none" strike="noStrike" cap="none">
              <a:solidFill>
                <a:srgbClr val="333333"/>
              </a:solidFill>
              <a:latin typeface="DM Sans"/>
              <a:ea typeface="DM Sans"/>
              <a:cs typeface="DM Sans"/>
              <a:sym typeface="DM Sans"/>
            </a:endParaRPr>
          </a:p>
          <a:p>
            <a:pPr marL="0" marR="0" lvl="0" indent="0" algn="l" rtl="0">
              <a:lnSpc>
                <a:spcPct val="150000"/>
              </a:lnSpc>
              <a:spcBef>
                <a:spcPts val="0"/>
              </a:spcBef>
              <a:spcAft>
                <a:spcPts val="0"/>
              </a:spcAft>
              <a:buClr>
                <a:srgbClr val="000000"/>
              </a:buClr>
              <a:buSzPts val="900"/>
              <a:buFont typeface="Arial"/>
              <a:buNone/>
            </a:pPr>
            <a:endParaRPr sz="900" b="0" i="0" u="none" strike="noStrike" cap="none">
              <a:solidFill>
                <a:srgbClr val="333333"/>
              </a:solidFill>
              <a:latin typeface="DM Sans"/>
              <a:ea typeface="DM Sans"/>
              <a:cs typeface="DM Sans"/>
              <a:sym typeface="DM Sans"/>
            </a:endParaRPr>
          </a:p>
        </p:txBody>
      </p:sp>
      <p:sp>
        <p:nvSpPr>
          <p:cNvPr id="802" name="Google Shape;802;p61"/>
          <p:cNvSpPr txBox="1"/>
          <p:nvPr/>
        </p:nvSpPr>
        <p:spPr>
          <a:xfrm>
            <a:off x="6595982" y="3077858"/>
            <a:ext cx="1104000" cy="1743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a:ea typeface="Poppins"/>
                <a:cs typeface="Poppins"/>
                <a:sym typeface="Poppins"/>
              </a:rPr>
              <a:t>{{RC_2}}</a:t>
            </a:r>
            <a:endParaRPr sz="900" b="0" i="0" u="none" strike="noStrike" cap="none">
              <a:solidFill>
                <a:srgbClr val="333333"/>
              </a:solidFill>
              <a:latin typeface="Poppins"/>
              <a:ea typeface="Poppins"/>
              <a:cs typeface="Poppins"/>
              <a:sym typeface="Poppins"/>
            </a:endParaRPr>
          </a:p>
        </p:txBody>
      </p:sp>
      <p:sp>
        <p:nvSpPr>
          <p:cNvPr id="803" name="Google Shape;803;p61"/>
          <p:cNvSpPr txBox="1"/>
          <p:nvPr/>
        </p:nvSpPr>
        <p:spPr>
          <a:xfrm>
            <a:off x="6482720" y="3275456"/>
            <a:ext cx="1101300" cy="1743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1100"/>
              <a:buFont typeface="Arial"/>
              <a:buNone/>
            </a:pPr>
            <a:r>
              <a:rPr lang="en" sz="900" b="0" i="0" u="none" strike="noStrike" cap="none">
                <a:solidFill>
                  <a:srgbClr val="333333"/>
                </a:solidFill>
                <a:latin typeface="DM Sans"/>
                <a:ea typeface="DM Sans"/>
                <a:cs typeface="DM Sans"/>
                <a:sym typeface="DM Sans"/>
              </a:rPr>
              <a:t>{{R_3}}</a:t>
            </a:r>
            <a:endParaRPr sz="900" b="0" i="0" u="none" strike="noStrike" cap="none">
              <a:solidFill>
                <a:srgbClr val="333333"/>
              </a:solidFill>
              <a:latin typeface="DM Sans"/>
              <a:ea typeface="DM Sans"/>
              <a:cs typeface="DM Sans"/>
              <a:sym typeface="DM Sans"/>
            </a:endParaRPr>
          </a:p>
          <a:p>
            <a:pPr marL="0" marR="0" lvl="0" indent="0" algn="l" rtl="0">
              <a:lnSpc>
                <a:spcPct val="150000"/>
              </a:lnSpc>
              <a:spcBef>
                <a:spcPts val="0"/>
              </a:spcBef>
              <a:spcAft>
                <a:spcPts val="0"/>
              </a:spcAft>
              <a:buClr>
                <a:srgbClr val="000000"/>
              </a:buClr>
              <a:buSzPts val="900"/>
              <a:buFont typeface="Arial"/>
              <a:buNone/>
            </a:pPr>
            <a:endParaRPr sz="900" b="0" i="0" u="none" strike="noStrike" cap="none">
              <a:solidFill>
                <a:srgbClr val="333333"/>
              </a:solidFill>
              <a:latin typeface="DM Sans"/>
              <a:ea typeface="DM Sans"/>
              <a:cs typeface="DM Sans"/>
              <a:sym typeface="DM Sans"/>
            </a:endParaRPr>
          </a:p>
        </p:txBody>
      </p:sp>
      <p:sp>
        <p:nvSpPr>
          <p:cNvPr id="804" name="Google Shape;804;p61"/>
          <p:cNvSpPr txBox="1"/>
          <p:nvPr/>
        </p:nvSpPr>
        <p:spPr>
          <a:xfrm>
            <a:off x="6595982" y="3263116"/>
            <a:ext cx="1104000" cy="1743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a:ea typeface="Poppins"/>
                <a:cs typeface="Poppins"/>
                <a:sym typeface="Poppins"/>
              </a:rPr>
              <a:t>{{RC_3}}</a:t>
            </a:r>
            <a:endParaRPr sz="900" b="0" i="0" u="none" strike="noStrike" cap="none">
              <a:solidFill>
                <a:srgbClr val="333333"/>
              </a:solidFill>
              <a:latin typeface="Poppins"/>
              <a:ea typeface="Poppins"/>
              <a:cs typeface="Poppins"/>
              <a:sym typeface="Poppins"/>
            </a:endParaRPr>
          </a:p>
        </p:txBody>
      </p:sp>
      <p:sp>
        <p:nvSpPr>
          <p:cNvPr id="805" name="Google Shape;805;p61"/>
          <p:cNvSpPr txBox="1"/>
          <p:nvPr/>
        </p:nvSpPr>
        <p:spPr>
          <a:xfrm>
            <a:off x="6482720" y="3460264"/>
            <a:ext cx="1101300" cy="1743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1100"/>
              <a:buFont typeface="Arial"/>
              <a:buNone/>
            </a:pPr>
            <a:r>
              <a:rPr lang="en" sz="900" b="0" i="0" u="none" strike="noStrike" cap="none">
                <a:solidFill>
                  <a:srgbClr val="333333"/>
                </a:solidFill>
                <a:latin typeface="DM Sans"/>
                <a:ea typeface="DM Sans"/>
                <a:cs typeface="DM Sans"/>
                <a:sym typeface="DM Sans"/>
              </a:rPr>
              <a:t>{{R_4}}</a:t>
            </a:r>
            <a:endParaRPr sz="900" b="0" i="0" u="none" strike="noStrike" cap="none">
              <a:solidFill>
                <a:srgbClr val="333333"/>
              </a:solidFill>
              <a:latin typeface="DM Sans"/>
              <a:ea typeface="DM Sans"/>
              <a:cs typeface="DM Sans"/>
              <a:sym typeface="DM Sans"/>
            </a:endParaRPr>
          </a:p>
          <a:p>
            <a:pPr marL="0" marR="0" lvl="0" indent="0" algn="l" rtl="0">
              <a:lnSpc>
                <a:spcPct val="150000"/>
              </a:lnSpc>
              <a:spcBef>
                <a:spcPts val="0"/>
              </a:spcBef>
              <a:spcAft>
                <a:spcPts val="0"/>
              </a:spcAft>
              <a:buClr>
                <a:srgbClr val="000000"/>
              </a:buClr>
              <a:buSzPts val="900"/>
              <a:buFont typeface="Arial"/>
              <a:buNone/>
            </a:pPr>
            <a:endParaRPr sz="900" b="0" i="0" u="none" strike="noStrike" cap="none">
              <a:solidFill>
                <a:srgbClr val="333333"/>
              </a:solidFill>
              <a:latin typeface="DM Sans"/>
              <a:ea typeface="DM Sans"/>
              <a:cs typeface="DM Sans"/>
              <a:sym typeface="DM Sans"/>
            </a:endParaRPr>
          </a:p>
        </p:txBody>
      </p:sp>
      <p:sp>
        <p:nvSpPr>
          <p:cNvPr id="806" name="Google Shape;806;p61"/>
          <p:cNvSpPr txBox="1"/>
          <p:nvPr/>
        </p:nvSpPr>
        <p:spPr>
          <a:xfrm>
            <a:off x="6595982" y="3448374"/>
            <a:ext cx="1104000" cy="1743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a:ea typeface="Poppins"/>
                <a:cs typeface="Poppins"/>
                <a:sym typeface="Poppins"/>
              </a:rPr>
              <a:t>{{RC_4}}</a:t>
            </a:r>
            <a:endParaRPr sz="900" b="0" i="0" u="none" strike="noStrike" cap="none">
              <a:solidFill>
                <a:srgbClr val="333333"/>
              </a:solidFill>
              <a:latin typeface="Poppins"/>
              <a:ea typeface="Poppins"/>
              <a:cs typeface="Poppins"/>
              <a:sym typeface="Poppins"/>
            </a:endParaRPr>
          </a:p>
        </p:txBody>
      </p:sp>
      <p:sp>
        <p:nvSpPr>
          <p:cNvPr id="807" name="Google Shape;807;p61"/>
          <p:cNvSpPr txBox="1"/>
          <p:nvPr/>
        </p:nvSpPr>
        <p:spPr>
          <a:xfrm>
            <a:off x="6482720" y="3645072"/>
            <a:ext cx="1101300" cy="1743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DM Sans"/>
                <a:ea typeface="DM Sans"/>
                <a:cs typeface="DM Sans"/>
                <a:sym typeface="DM Sans"/>
              </a:rPr>
              <a:t>{{R_5}}</a:t>
            </a:r>
            <a:endParaRPr sz="900" b="0" i="0" u="none" strike="noStrike" cap="none">
              <a:solidFill>
                <a:srgbClr val="333333"/>
              </a:solidFill>
              <a:latin typeface="DM Sans"/>
              <a:ea typeface="DM Sans"/>
              <a:cs typeface="DM Sans"/>
              <a:sym typeface="DM Sans"/>
            </a:endParaRPr>
          </a:p>
        </p:txBody>
      </p:sp>
      <p:sp>
        <p:nvSpPr>
          <p:cNvPr id="808" name="Google Shape;808;p61"/>
          <p:cNvSpPr txBox="1"/>
          <p:nvPr/>
        </p:nvSpPr>
        <p:spPr>
          <a:xfrm>
            <a:off x="6595982" y="3633632"/>
            <a:ext cx="1104000" cy="1743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a:ea typeface="Poppins"/>
                <a:cs typeface="Poppins"/>
                <a:sym typeface="Poppins"/>
              </a:rPr>
              <a:t>{{RC_5}}</a:t>
            </a:r>
            <a:endParaRPr sz="900" b="0" i="0" u="none" strike="noStrike" cap="none">
              <a:solidFill>
                <a:srgbClr val="333333"/>
              </a:solidFill>
              <a:latin typeface="Poppins"/>
              <a:ea typeface="Poppins"/>
              <a:cs typeface="Poppins"/>
              <a:sym typeface="Poppins"/>
            </a:endParaRPr>
          </a:p>
        </p:txBody>
      </p:sp>
      <p:sp>
        <p:nvSpPr>
          <p:cNvPr id="809" name="Google Shape;809;p61"/>
          <p:cNvSpPr txBox="1"/>
          <p:nvPr/>
        </p:nvSpPr>
        <p:spPr>
          <a:xfrm>
            <a:off x="6482720" y="3829881"/>
            <a:ext cx="1101300" cy="1743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DM Sans"/>
                <a:ea typeface="DM Sans"/>
                <a:cs typeface="DM Sans"/>
                <a:sym typeface="DM Sans"/>
              </a:rPr>
              <a:t>{{R_6}}</a:t>
            </a:r>
            <a:endParaRPr sz="900" b="0" i="0" u="none" strike="noStrike" cap="none">
              <a:solidFill>
                <a:srgbClr val="333333"/>
              </a:solidFill>
              <a:latin typeface="DM Sans"/>
              <a:ea typeface="DM Sans"/>
              <a:cs typeface="DM Sans"/>
              <a:sym typeface="DM Sans"/>
            </a:endParaRPr>
          </a:p>
        </p:txBody>
      </p:sp>
      <p:sp>
        <p:nvSpPr>
          <p:cNvPr id="810" name="Google Shape;810;p61"/>
          <p:cNvSpPr txBox="1"/>
          <p:nvPr/>
        </p:nvSpPr>
        <p:spPr>
          <a:xfrm>
            <a:off x="6595982" y="3818890"/>
            <a:ext cx="1104000" cy="1743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a:ea typeface="Poppins"/>
                <a:cs typeface="Poppins"/>
                <a:sym typeface="Poppins"/>
              </a:rPr>
              <a:t>{{RC_6}}</a:t>
            </a:r>
            <a:endParaRPr sz="900" b="0" i="0" u="none" strike="noStrike" cap="none">
              <a:solidFill>
                <a:srgbClr val="333333"/>
              </a:solidFill>
              <a:latin typeface="Poppins"/>
              <a:ea typeface="Poppins"/>
              <a:cs typeface="Poppins"/>
              <a:sym typeface="Poppins"/>
            </a:endParaRPr>
          </a:p>
        </p:txBody>
      </p:sp>
      <p:sp>
        <p:nvSpPr>
          <p:cNvPr id="811" name="Google Shape;811;p61"/>
          <p:cNvSpPr txBox="1"/>
          <p:nvPr/>
        </p:nvSpPr>
        <p:spPr>
          <a:xfrm>
            <a:off x="6427050" y="2431400"/>
            <a:ext cx="2563500" cy="301200"/>
          </a:xfrm>
          <a:prstGeom prst="rect">
            <a:avLst/>
          </a:prstGeom>
          <a:noFill/>
          <a:ln>
            <a:noFill/>
          </a:ln>
        </p:spPr>
        <p:txBody>
          <a:bodyPr spcFirstLastPara="1" wrap="square" lIns="91775" tIns="91775" rIns="91775" bIns="91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sng" strike="noStrike" cap="none">
                <a:solidFill>
                  <a:srgbClr val="0254EC"/>
                </a:solidFill>
                <a:latin typeface="Poppins"/>
                <a:ea typeface="Poppins"/>
                <a:cs typeface="Poppins"/>
                <a:sym typeface="Poppins"/>
                <a:hlinkClick r:id="rId7">
                  <a:extLst>
                    <a:ext uri="{A12FA001-AC4F-418D-AE19-62706E023703}">
                      <ahyp:hlinkClr xmlns:ahyp="http://schemas.microsoft.com/office/drawing/2018/hyperlinkcolor" val="tx"/>
                    </a:ext>
                  </a:extLst>
                </a:hlinkClick>
              </a:rPr>
              <a:t>Container Registries </a:t>
            </a:r>
            <a:r>
              <a:rPr lang="en" sz="1300" b="0" i="0" u="none" strike="noStrike" cap="none">
                <a:solidFill>
                  <a:srgbClr val="0254EC"/>
                </a:solidFill>
                <a:uFill>
                  <a:noFill/>
                </a:uFill>
                <a:latin typeface="Poppins"/>
                <a:ea typeface="Poppins"/>
                <a:cs typeface="Poppins"/>
                <a:sym typeface="Poppins"/>
                <a:hlinkClick r:id="rId7">
                  <a:extLst>
                    <a:ext uri="{A12FA001-AC4F-418D-AE19-62706E023703}">
                      <ahyp:hlinkClr xmlns:ahyp="http://schemas.microsoft.com/office/drawing/2018/hyperlinkcolor" val="tx"/>
                    </a:ext>
                  </a:extLst>
                </a:hlinkClick>
              </a:rPr>
              <a:t>↗</a:t>
            </a:r>
            <a:endParaRPr sz="1100" b="0" i="0" u="none" strike="noStrike" cap="none">
              <a:solidFill>
                <a:srgbClr val="0254EC"/>
              </a:solidFill>
              <a:latin typeface="Poppins"/>
              <a:ea typeface="Poppins"/>
              <a:cs typeface="Poppins"/>
              <a:sym typeface="Poppins"/>
            </a:endParaRPr>
          </a:p>
        </p:txBody>
      </p:sp>
      <p:sp>
        <p:nvSpPr>
          <p:cNvPr id="812" name="Google Shape;812;p61"/>
          <p:cNvSpPr txBox="1"/>
          <p:nvPr/>
        </p:nvSpPr>
        <p:spPr>
          <a:xfrm>
            <a:off x="6480125" y="2905839"/>
            <a:ext cx="1101300" cy="1743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DM Sans"/>
                <a:ea typeface="DM Sans"/>
                <a:cs typeface="DM Sans"/>
                <a:sym typeface="DM Sans"/>
              </a:rPr>
              <a:t>{{R_1}}</a:t>
            </a:r>
            <a:endParaRPr sz="900" b="0" i="0" u="none" strike="noStrike" cap="none">
              <a:solidFill>
                <a:srgbClr val="333333"/>
              </a:solidFill>
              <a:latin typeface="DM Sans"/>
              <a:ea typeface="DM Sans"/>
              <a:cs typeface="DM Sans"/>
              <a:sym typeface="DM Sans"/>
            </a:endParaRPr>
          </a:p>
        </p:txBody>
      </p:sp>
      <p:sp>
        <p:nvSpPr>
          <p:cNvPr id="813" name="Google Shape;813;p61"/>
          <p:cNvSpPr txBox="1"/>
          <p:nvPr/>
        </p:nvSpPr>
        <p:spPr>
          <a:xfrm>
            <a:off x="6597131" y="2892600"/>
            <a:ext cx="1104000" cy="1743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a:ea typeface="Poppins"/>
                <a:cs typeface="Poppins"/>
                <a:sym typeface="Poppins"/>
              </a:rPr>
              <a:t>{{RC_1}}</a:t>
            </a:r>
            <a:endParaRPr sz="900" b="0" i="0" u="none" strike="noStrike" cap="none">
              <a:solidFill>
                <a:srgbClr val="333333"/>
              </a:solidFill>
              <a:latin typeface="Poppins"/>
              <a:ea typeface="Poppins"/>
              <a:cs typeface="Poppins"/>
              <a:sym typeface="Poppins"/>
            </a:endParaRPr>
          </a:p>
        </p:txBody>
      </p:sp>
      <p:sp>
        <p:nvSpPr>
          <p:cNvPr id="814" name="Google Shape;814;p61"/>
          <p:cNvSpPr txBox="1"/>
          <p:nvPr/>
        </p:nvSpPr>
        <p:spPr>
          <a:xfrm>
            <a:off x="6419250" y="4423386"/>
            <a:ext cx="2579100" cy="220800"/>
          </a:xfrm>
          <a:prstGeom prst="rect">
            <a:avLst/>
          </a:prstGeom>
          <a:noFill/>
          <a:ln>
            <a:noFill/>
          </a:ln>
        </p:spPr>
        <p:txBody>
          <a:bodyPr spcFirstLastPara="1" wrap="square" lIns="91775" tIns="91775" rIns="91775" bIns="91775"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rgbClr val="333333"/>
                </a:solidFill>
                <a:latin typeface="Poppins"/>
                <a:ea typeface="Poppins"/>
                <a:cs typeface="Poppins"/>
                <a:sym typeface="Poppins"/>
              </a:rPr>
              <a:t>Do you have visibility into </a:t>
            </a:r>
            <a:r>
              <a:rPr lang="en" sz="900" b="0" i="1" u="none" strike="noStrike" cap="none">
                <a:solidFill>
                  <a:srgbClr val="333333"/>
                </a:solidFill>
                <a:latin typeface="Poppins"/>
                <a:ea typeface="Poppins"/>
                <a:cs typeface="Poppins"/>
                <a:sym typeface="Poppins"/>
              </a:rPr>
              <a:t>all </a:t>
            </a:r>
            <a:br>
              <a:rPr lang="en" sz="900" b="0" i="1" u="none" strike="noStrike" cap="none">
                <a:solidFill>
                  <a:srgbClr val="333333"/>
                </a:solidFill>
                <a:latin typeface="Poppins"/>
                <a:ea typeface="Poppins"/>
                <a:cs typeface="Poppins"/>
                <a:sym typeface="Poppins"/>
              </a:rPr>
            </a:br>
            <a:r>
              <a:rPr lang="en" sz="900" b="0" i="0" u="none" strike="noStrike" cap="none">
                <a:solidFill>
                  <a:srgbClr val="333333"/>
                </a:solidFill>
                <a:latin typeface="Poppins"/>
                <a:ea typeface="Poppins"/>
                <a:cs typeface="Poppins"/>
                <a:sym typeface="Poppins"/>
              </a:rPr>
              <a:t>of your Registries?</a:t>
            </a:r>
            <a:br>
              <a:rPr lang="en" sz="900" b="0" i="0" u="none" strike="noStrike" cap="none">
                <a:solidFill>
                  <a:srgbClr val="333333"/>
                </a:solidFill>
                <a:latin typeface="Poppins"/>
                <a:ea typeface="Poppins"/>
                <a:cs typeface="Poppins"/>
                <a:sym typeface="Poppins"/>
              </a:rPr>
            </a:br>
            <a:r>
              <a:rPr lang="en" sz="900" b="0" i="0" u="none" strike="noStrike" cap="none">
                <a:solidFill>
                  <a:srgbClr val="333333"/>
                </a:solidFill>
                <a:latin typeface="Poppins"/>
                <a:ea typeface="Poppins"/>
                <a:cs typeface="Poppins"/>
                <a:sym typeface="Poppins"/>
              </a:rPr>
              <a:t>jFrog, Sonatype Nexus, etc. </a:t>
            </a:r>
            <a:endParaRPr sz="900" b="0" i="0" u="none" strike="noStrike" cap="none">
              <a:solidFill>
                <a:srgbClr val="333333"/>
              </a:solidFill>
              <a:latin typeface="Poppins"/>
              <a:ea typeface="Poppins"/>
              <a:cs typeface="Poppins"/>
              <a:sym typeface="Poppins"/>
            </a:endParaRPr>
          </a:p>
        </p:txBody>
      </p:sp>
      <p:sp>
        <p:nvSpPr>
          <p:cNvPr id="815" name="Google Shape;815;p61"/>
          <p:cNvSpPr txBox="1"/>
          <p:nvPr/>
        </p:nvSpPr>
        <p:spPr>
          <a:xfrm>
            <a:off x="388145" y="1741949"/>
            <a:ext cx="2113800" cy="1581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a:ea typeface="Poppins"/>
                <a:cs typeface="Poppins"/>
                <a:sym typeface="Poppins"/>
              </a:rPr>
              <a:t>Other</a:t>
            </a:r>
            <a:endParaRPr sz="900" b="0" i="0" u="none" strike="noStrike" cap="none">
              <a:solidFill>
                <a:srgbClr val="333333"/>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333333"/>
              </a:solidFill>
              <a:latin typeface="Poppins"/>
              <a:ea typeface="Poppins"/>
              <a:cs typeface="Poppins"/>
              <a:sym typeface="Poppins"/>
            </a:endParaRPr>
          </a:p>
        </p:txBody>
      </p:sp>
      <p:sp>
        <p:nvSpPr>
          <p:cNvPr id="816" name="Google Shape;816;p61"/>
          <p:cNvSpPr txBox="1"/>
          <p:nvPr/>
        </p:nvSpPr>
        <p:spPr>
          <a:xfrm>
            <a:off x="1631697" y="1729224"/>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{{K8C_OTH}}</a:t>
            </a:r>
            <a:endParaRPr sz="900" b="1" i="0" u="none" strike="noStrike" cap="none">
              <a:solidFill>
                <a:srgbClr val="333333"/>
              </a:solidFill>
              <a:latin typeface="DM Sans"/>
              <a:ea typeface="DM Sans"/>
              <a:cs typeface="DM Sans"/>
              <a:sym typeface="DM Sans"/>
            </a:endParaRPr>
          </a:p>
        </p:txBody>
      </p:sp>
      <p:sp>
        <p:nvSpPr>
          <p:cNvPr id="817" name="Google Shape;817;p61"/>
          <p:cNvSpPr txBox="1"/>
          <p:nvPr/>
        </p:nvSpPr>
        <p:spPr>
          <a:xfrm>
            <a:off x="3236233" y="1390756"/>
            <a:ext cx="1909200" cy="1548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Poppins"/>
                <a:ea typeface="Poppins"/>
                <a:cs typeface="Poppins"/>
                <a:sym typeface="Poppins"/>
                <a:hlinkClick r:id="rId8">
                  <a:extLst>
                    <a:ext uri="{A12FA001-AC4F-418D-AE19-62706E023703}">
                      <ahyp:hlinkClr xmlns:ahyp="http://schemas.microsoft.com/office/drawing/2018/hyperlinkcolor" val="tx"/>
                    </a:ext>
                  </a:extLst>
                </a:hlinkClick>
              </a:rPr>
              <a:t>K8S Audit Logs Onboarded</a:t>
            </a:r>
            <a:endParaRPr sz="900" b="0" i="0" u="none" strike="noStrike" cap="none">
              <a:solidFill>
                <a:srgbClr val="0254EC"/>
              </a:solidFill>
              <a:latin typeface="Poppins"/>
              <a:ea typeface="Poppins"/>
              <a:cs typeface="Poppins"/>
              <a:sym typeface="Poppins"/>
            </a:endParaRPr>
          </a:p>
        </p:txBody>
      </p:sp>
      <p:sp>
        <p:nvSpPr>
          <p:cNvPr id="818" name="Google Shape;818;p61"/>
          <p:cNvSpPr txBox="1"/>
          <p:nvPr/>
        </p:nvSpPr>
        <p:spPr>
          <a:xfrm>
            <a:off x="3239438" y="1568033"/>
            <a:ext cx="1909200" cy="1548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Poppins"/>
                <a:ea typeface="Poppins"/>
                <a:cs typeface="Poppins"/>
                <a:sym typeface="Poppins"/>
                <a:hlinkClick r:id="rId9">
                  <a:extLst>
                    <a:ext uri="{A12FA001-AC4F-418D-AE19-62706E023703}">
                      <ahyp:hlinkClr xmlns:ahyp="http://schemas.microsoft.com/office/drawing/2018/hyperlinkcolor" val="tx"/>
                    </a:ext>
                  </a:extLst>
                </a:hlinkClick>
              </a:rPr>
              <a:t>Sensor Active (Runtime)</a:t>
            </a:r>
            <a:endParaRPr sz="900" b="0" i="0" u="none" strike="noStrike" cap="none">
              <a:solidFill>
                <a:srgbClr val="0254EC"/>
              </a:solidFill>
              <a:latin typeface="Poppins"/>
              <a:ea typeface="Poppins"/>
              <a:cs typeface="Poppins"/>
              <a:sym typeface="Poppins"/>
            </a:endParaRPr>
          </a:p>
        </p:txBody>
      </p:sp>
      <p:sp>
        <p:nvSpPr>
          <p:cNvPr id="819" name="Google Shape;819;p61"/>
          <p:cNvSpPr txBox="1"/>
          <p:nvPr/>
        </p:nvSpPr>
        <p:spPr>
          <a:xfrm>
            <a:off x="4763494" y="1384168"/>
            <a:ext cx="1003500" cy="1530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DM Sans"/>
                <a:ea typeface="DM Sans"/>
                <a:cs typeface="DM Sans"/>
                <a:sym typeface="DM Sans"/>
              </a:rPr>
              <a:t>{{KC_SE}}</a:t>
            </a:r>
            <a:endParaRPr sz="1000" b="1" i="0" u="none" strike="noStrike" cap="none">
              <a:solidFill>
                <a:srgbClr val="333333"/>
              </a:solidFill>
              <a:latin typeface="DM Sans"/>
              <a:ea typeface="DM Sans"/>
              <a:cs typeface="DM Sans"/>
              <a:sym typeface="DM Sans"/>
            </a:endParaRPr>
          </a:p>
        </p:txBody>
      </p:sp>
      <p:sp>
        <p:nvSpPr>
          <p:cNvPr id="820" name="Google Shape;820;p61"/>
          <p:cNvSpPr txBox="1"/>
          <p:nvPr/>
        </p:nvSpPr>
        <p:spPr>
          <a:xfrm>
            <a:off x="4762076" y="1557221"/>
            <a:ext cx="1003500" cy="1530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DM Sans"/>
                <a:ea typeface="DM Sans"/>
                <a:cs typeface="DM Sans"/>
                <a:sym typeface="DM Sans"/>
              </a:rPr>
              <a:t>{{KC_CLI}}</a:t>
            </a:r>
            <a:endParaRPr sz="1000" b="1" i="0" u="none" strike="noStrike" cap="none">
              <a:solidFill>
                <a:srgbClr val="333333"/>
              </a:solidFill>
              <a:latin typeface="DM Sans"/>
              <a:ea typeface="DM Sans"/>
              <a:cs typeface="DM Sans"/>
              <a:sym typeface="DM Sans"/>
            </a:endParaRPr>
          </a:p>
        </p:txBody>
      </p:sp>
      <p:sp>
        <p:nvSpPr>
          <p:cNvPr id="821" name="Google Shape;821;p61"/>
          <p:cNvSpPr txBox="1"/>
          <p:nvPr/>
        </p:nvSpPr>
        <p:spPr>
          <a:xfrm>
            <a:off x="6233046" y="1113294"/>
            <a:ext cx="1720500" cy="1581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Poppins"/>
                <a:ea typeface="Poppins"/>
                <a:cs typeface="Poppins"/>
                <a:sym typeface="Poppins"/>
                <a:hlinkClick r:id="rId10">
                  <a:extLst>
                    <a:ext uri="{A12FA001-AC4F-418D-AE19-62706E023703}">
                      <ahyp:hlinkClr xmlns:ahyp="http://schemas.microsoft.com/office/drawing/2018/hyperlinkcolor" val="tx"/>
                    </a:ext>
                  </a:extLst>
                </a:hlinkClick>
              </a:rPr>
              <a:t>Internet-Accessible</a:t>
            </a:r>
            <a:endParaRPr sz="900" b="0" i="0" u="none" strike="noStrike" cap="none">
              <a:solidFill>
                <a:srgbClr val="0254EC"/>
              </a:solidFill>
              <a:latin typeface="Poppins"/>
              <a:ea typeface="Poppins"/>
              <a:cs typeface="Poppins"/>
              <a:sym typeface="Poppins"/>
            </a:endParaRPr>
          </a:p>
        </p:txBody>
      </p:sp>
      <p:sp>
        <p:nvSpPr>
          <p:cNvPr id="822" name="Google Shape;822;p61"/>
          <p:cNvSpPr txBox="1"/>
          <p:nvPr/>
        </p:nvSpPr>
        <p:spPr>
          <a:xfrm>
            <a:off x="7853359" y="1113282"/>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DM Sans"/>
                <a:ea typeface="DM Sans"/>
                <a:cs typeface="DM Sans"/>
                <a:sym typeface="DM Sans"/>
              </a:rPr>
              <a:t>{{KG_IA}}</a:t>
            </a:r>
            <a:endParaRPr sz="1000" b="1" i="0" u="none" strike="noStrike" cap="none">
              <a:solidFill>
                <a:srgbClr val="333333"/>
              </a:solidFill>
              <a:latin typeface="DM Sans"/>
              <a:ea typeface="DM Sans"/>
              <a:cs typeface="DM Sans"/>
              <a:sym typeface="DM Sans"/>
            </a:endParaRPr>
          </a:p>
        </p:txBody>
      </p:sp>
      <p:sp>
        <p:nvSpPr>
          <p:cNvPr id="823" name="Google Shape;823;p61"/>
          <p:cNvSpPr txBox="1"/>
          <p:nvPr/>
        </p:nvSpPr>
        <p:spPr>
          <a:xfrm>
            <a:off x="6233048" y="1280583"/>
            <a:ext cx="1953900" cy="1443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Poppins"/>
                <a:ea typeface="Poppins"/>
                <a:cs typeface="Poppins"/>
                <a:sym typeface="Poppins"/>
                <a:hlinkClick r:id="rId11">
                  <a:extLst>
                    <a:ext uri="{A12FA001-AC4F-418D-AE19-62706E023703}">
                      <ahyp:hlinkClr xmlns:ahyp="http://schemas.microsoft.com/office/drawing/2018/hyperlinkcolor" val="tx"/>
                    </a:ext>
                  </a:extLst>
                </a:hlinkClick>
              </a:rPr>
              <a:t>No Wiz Connector Deployed</a:t>
            </a:r>
            <a:endParaRPr sz="900" b="0" i="0" u="none" strike="noStrike" cap="none">
              <a:solidFill>
                <a:srgbClr val="0254EC"/>
              </a:solidFill>
              <a:latin typeface="Poppins"/>
              <a:ea typeface="Poppins"/>
              <a:cs typeface="Poppins"/>
              <a:sym typeface="Poppins"/>
            </a:endParaRPr>
          </a:p>
        </p:txBody>
      </p:sp>
      <p:sp>
        <p:nvSpPr>
          <p:cNvPr id="824" name="Google Shape;824;p61"/>
          <p:cNvSpPr txBox="1"/>
          <p:nvPr/>
        </p:nvSpPr>
        <p:spPr>
          <a:xfrm>
            <a:off x="7853359" y="1281379"/>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DM Sans"/>
                <a:ea typeface="DM Sans"/>
                <a:cs typeface="DM Sans"/>
                <a:sym typeface="DM Sans"/>
              </a:rPr>
              <a:t>{{KG_NC}}</a:t>
            </a:r>
            <a:endParaRPr sz="1000" b="1" i="0" u="none" strike="noStrike" cap="none">
              <a:solidFill>
                <a:srgbClr val="333333"/>
              </a:solidFill>
              <a:latin typeface="DM Sans"/>
              <a:ea typeface="DM Sans"/>
              <a:cs typeface="DM Sans"/>
              <a:sym typeface="DM Sans"/>
            </a:endParaRPr>
          </a:p>
        </p:txBody>
      </p:sp>
      <p:sp>
        <p:nvSpPr>
          <p:cNvPr id="825" name="Google Shape;825;p61"/>
          <p:cNvSpPr txBox="1"/>
          <p:nvPr/>
        </p:nvSpPr>
        <p:spPr>
          <a:xfrm>
            <a:off x="6231149" y="1453558"/>
            <a:ext cx="1953900" cy="1443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Poppins"/>
                <a:ea typeface="Poppins"/>
                <a:cs typeface="Poppins"/>
                <a:sym typeface="Poppins"/>
                <a:hlinkClick r:id="rId12">
                  <a:extLst>
                    <a:ext uri="{A12FA001-AC4F-418D-AE19-62706E023703}">
                      <ahyp:hlinkClr xmlns:ahyp="http://schemas.microsoft.com/office/drawing/2018/hyperlinkcolor" val="tx"/>
                    </a:ext>
                  </a:extLst>
                </a:hlinkClick>
              </a:rPr>
              <a:t>No K8S Audit Logs</a:t>
            </a:r>
            <a:endParaRPr sz="900" b="0" i="0" u="none" strike="noStrike" cap="none">
              <a:solidFill>
                <a:srgbClr val="0254EC"/>
              </a:solidFill>
              <a:latin typeface="Poppins"/>
              <a:ea typeface="Poppins"/>
              <a:cs typeface="Poppins"/>
              <a:sym typeface="Poppins"/>
            </a:endParaRPr>
          </a:p>
        </p:txBody>
      </p:sp>
      <p:sp>
        <p:nvSpPr>
          <p:cNvPr id="826" name="Google Shape;826;p61"/>
          <p:cNvSpPr txBox="1"/>
          <p:nvPr/>
        </p:nvSpPr>
        <p:spPr>
          <a:xfrm>
            <a:off x="6234434" y="1622052"/>
            <a:ext cx="2297400" cy="144300"/>
          </a:xfrm>
          <a:prstGeom prst="rect">
            <a:avLst/>
          </a:prstGeom>
          <a:noFill/>
          <a:ln>
            <a:noFill/>
          </a:ln>
        </p:spPr>
        <p:txBody>
          <a:bodyPr spcFirstLastPara="1" wrap="square" lIns="91775" tIns="91775" rIns="91775" bIns="9177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Poppins"/>
                <a:ea typeface="Poppins"/>
                <a:cs typeface="Poppins"/>
                <a:sym typeface="Poppins"/>
                <a:hlinkClick r:id="rId13">
                  <a:extLst>
                    <a:ext uri="{A12FA001-AC4F-418D-AE19-62706E023703}">
                      <ahyp:hlinkClr xmlns:ahyp="http://schemas.microsoft.com/office/drawing/2018/hyperlinkcolor" val="tx"/>
                    </a:ext>
                  </a:extLst>
                </a:hlinkClick>
              </a:rPr>
              <a:t>No Runtime Sensor</a:t>
            </a:r>
            <a:endParaRPr sz="900" b="0" i="0" u="none" strike="noStrike" cap="none">
              <a:solidFill>
                <a:srgbClr val="0254EC"/>
              </a:solidFill>
              <a:latin typeface="Poppins"/>
              <a:ea typeface="Poppins"/>
              <a:cs typeface="Poppins"/>
              <a:sym typeface="Poppins"/>
            </a:endParaRPr>
          </a:p>
        </p:txBody>
      </p:sp>
      <p:sp>
        <p:nvSpPr>
          <p:cNvPr id="827" name="Google Shape;827;p61"/>
          <p:cNvSpPr txBox="1"/>
          <p:nvPr/>
        </p:nvSpPr>
        <p:spPr>
          <a:xfrm>
            <a:off x="7851586" y="1449476"/>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DM Sans"/>
                <a:ea typeface="DM Sans"/>
                <a:cs typeface="DM Sans"/>
                <a:sym typeface="DM Sans"/>
              </a:rPr>
              <a:t>{{KG_NA}}</a:t>
            </a:r>
            <a:endParaRPr sz="1000" b="1" i="0" u="none" strike="noStrike" cap="none">
              <a:solidFill>
                <a:srgbClr val="333333"/>
              </a:solidFill>
              <a:latin typeface="DM Sans"/>
              <a:ea typeface="DM Sans"/>
              <a:cs typeface="DM Sans"/>
              <a:sym typeface="DM Sans"/>
            </a:endParaRPr>
          </a:p>
        </p:txBody>
      </p:sp>
      <p:sp>
        <p:nvSpPr>
          <p:cNvPr id="828" name="Google Shape;828;p61"/>
          <p:cNvSpPr txBox="1"/>
          <p:nvPr/>
        </p:nvSpPr>
        <p:spPr>
          <a:xfrm>
            <a:off x="7849813" y="1617573"/>
            <a:ext cx="1003500" cy="158100"/>
          </a:xfrm>
          <a:prstGeom prst="rect">
            <a:avLst/>
          </a:prstGeom>
          <a:noFill/>
          <a:ln>
            <a:noFill/>
          </a:ln>
        </p:spPr>
        <p:txBody>
          <a:bodyPr spcFirstLastPara="1" wrap="square" lIns="91775" tIns="91775" rIns="91775" bIns="91775" anchor="t" anchorCtr="0">
            <a:noAutofit/>
          </a:bodyPr>
          <a:lstStyle/>
          <a:p>
            <a:pPr marL="0" marR="0" lvl="0" indent="0" algn="r" rtl="0">
              <a:lnSpc>
                <a:spcPct val="150000"/>
              </a:lnSpc>
              <a:spcBef>
                <a:spcPts val="0"/>
              </a:spcBef>
              <a:spcAft>
                <a:spcPts val="0"/>
              </a:spcAft>
              <a:buClr>
                <a:srgbClr val="000000"/>
              </a:buClr>
              <a:buSzPts val="1000"/>
              <a:buFont typeface="Arial"/>
              <a:buNone/>
            </a:pPr>
            <a:r>
              <a:rPr lang="en" sz="1000" b="1" i="0" u="none" strike="noStrike" cap="none">
                <a:solidFill>
                  <a:srgbClr val="333333"/>
                </a:solidFill>
                <a:latin typeface="DM Sans"/>
                <a:ea typeface="DM Sans"/>
                <a:cs typeface="DM Sans"/>
                <a:sym typeface="DM Sans"/>
              </a:rPr>
              <a:t>{{KG_NS}}</a:t>
            </a:r>
            <a:endParaRPr sz="1000" b="1" i="0" u="none" strike="noStrike" cap="none">
              <a:solidFill>
                <a:srgbClr val="333333"/>
              </a:solidFill>
              <a:latin typeface="DM Sans"/>
              <a:ea typeface="DM Sans"/>
              <a:cs typeface="DM Sans"/>
              <a:sym typeface="DM Sans"/>
            </a:endParaRPr>
          </a:p>
        </p:txBody>
      </p:sp>
      <p:sp>
        <p:nvSpPr>
          <p:cNvPr id="829" name="Google Shape;829;p61"/>
          <p:cNvSpPr txBox="1"/>
          <p:nvPr/>
        </p:nvSpPr>
        <p:spPr>
          <a:xfrm>
            <a:off x="3205665" y="2023737"/>
            <a:ext cx="2676900" cy="204300"/>
          </a:xfrm>
          <a:prstGeom prst="rect">
            <a:avLst/>
          </a:prstGeom>
          <a:noFill/>
          <a:ln>
            <a:noFill/>
          </a:ln>
        </p:spPr>
        <p:txBody>
          <a:bodyPr spcFirstLastPara="1" wrap="square" lIns="91775" tIns="91775" rIns="91775" bIns="91775" anchor="ctr" anchorCtr="0">
            <a:noAutofit/>
          </a:bodyPr>
          <a:lstStyle/>
          <a:p>
            <a:pPr marL="0" marR="0" lvl="0" indent="0" algn="ctr" rtl="0">
              <a:lnSpc>
                <a:spcPct val="150000"/>
              </a:lnSpc>
              <a:spcBef>
                <a:spcPts val="0"/>
              </a:spcBef>
              <a:spcAft>
                <a:spcPts val="0"/>
              </a:spcAft>
              <a:buClr>
                <a:srgbClr val="000000"/>
              </a:buClr>
              <a:buSzPts val="1100"/>
              <a:buFont typeface="Arial"/>
              <a:buNone/>
            </a:pPr>
            <a:r>
              <a:rPr lang="en" sz="1100" b="0" i="0" u="none" strike="noStrike" cap="none">
                <a:solidFill>
                  <a:srgbClr val="333333"/>
                </a:solidFill>
                <a:latin typeface="Poppins"/>
                <a:ea typeface="Poppins"/>
                <a:cs typeface="Poppins"/>
                <a:sym typeface="Poppins"/>
              </a:rPr>
              <a:t>Do you have </a:t>
            </a:r>
            <a:r>
              <a:rPr lang="en" sz="1100" b="0" i="1" u="none" strike="noStrike" cap="none">
                <a:solidFill>
                  <a:srgbClr val="333333"/>
                </a:solidFill>
                <a:latin typeface="Poppins"/>
                <a:ea typeface="Poppins"/>
                <a:cs typeface="Poppins"/>
                <a:sym typeface="Poppins"/>
              </a:rPr>
              <a:t>full</a:t>
            </a:r>
            <a:r>
              <a:rPr lang="en" sz="1100" b="0" i="0" u="none" strike="noStrike" cap="none">
                <a:solidFill>
                  <a:srgbClr val="333333"/>
                </a:solidFill>
                <a:latin typeface="Poppins"/>
                <a:ea typeface="Poppins"/>
                <a:cs typeface="Poppins"/>
                <a:sym typeface="Poppins"/>
              </a:rPr>
              <a:t> visibility?</a:t>
            </a:r>
            <a:endParaRPr sz="1100" b="0" i="0" u="none" strike="noStrike" cap="none">
              <a:solidFill>
                <a:srgbClr val="333333"/>
              </a:solidFill>
              <a:latin typeface="Poppins"/>
              <a:ea typeface="Poppins"/>
              <a:cs typeface="Poppins"/>
              <a:sym typeface="Poppins"/>
            </a:endParaRPr>
          </a:p>
        </p:txBody>
      </p:sp>
      <p:pic>
        <p:nvPicPr>
          <p:cNvPr id="830" name="Google Shape;830;p61"/>
          <p:cNvPicPr preferRelativeResize="0"/>
          <p:nvPr/>
        </p:nvPicPr>
        <p:blipFill rotWithShape="1">
          <a:blip r:embed="rId14">
            <a:alphaModFix/>
          </a:blip>
          <a:srcRect/>
          <a:stretch/>
        </p:blipFill>
        <p:spPr>
          <a:xfrm>
            <a:off x="3566592" y="2777812"/>
            <a:ext cx="2785632" cy="527016"/>
          </a:xfrm>
          <a:prstGeom prst="rect">
            <a:avLst/>
          </a:prstGeom>
          <a:noFill/>
          <a:ln>
            <a:noFill/>
          </a:ln>
        </p:spPr>
      </p:pic>
      <p:sp>
        <p:nvSpPr>
          <p:cNvPr id="831" name="Google Shape;831;p61"/>
          <p:cNvSpPr/>
          <p:nvPr/>
        </p:nvSpPr>
        <p:spPr>
          <a:xfrm>
            <a:off x="3595375" y="3607213"/>
            <a:ext cx="2676900" cy="133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6B7280"/>
              </a:buClr>
              <a:buSzPts val="800"/>
              <a:buFont typeface="DM Sans"/>
              <a:buNone/>
            </a:pPr>
            <a:r>
              <a:rPr lang="en" sz="800" b="0" i="0" u="none" strike="noStrike" cap="none">
                <a:solidFill>
                  <a:srgbClr val="222222"/>
                </a:solidFill>
                <a:latin typeface="Poppins"/>
                <a:ea typeface="Poppins"/>
                <a:cs typeface="Poppins"/>
                <a:sym typeface="Poppins"/>
              </a:rPr>
              <a:t>Understanding where your images are scanned allows you to pinpoint and intercept vulnerabilities at the earliest possible moment. Identifying these specific scan sources is the key to an effective "shift left" strategy, ensuring you apply fixes where they have the most impact before they ever reach production.</a:t>
            </a:r>
            <a:endParaRPr sz="800" b="0" i="0" u="none" strike="noStrike" cap="none">
              <a:solidFill>
                <a:srgbClr val="222222"/>
              </a:solidFill>
              <a:latin typeface="Poppins"/>
              <a:ea typeface="Poppins"/>
              <a:cs typeface="Poppins"/>
              <a:sym typeface="Poppins"/>
            </a:endParaRPr>
          </a:p>
          <a:p>
            <a:pPr marL="0" marR="0" lvl="0" indent="0" algn="ctr" rtl="0">
              <a:lnSpc>
                <a:spcPct val="90000"/>
              </a:lnSpc>
              <a:spcBef>
                <a:spcPts val="0"/>
              </a:spcBef>
              <a:spcAft>
                <a:spcPts val="0"/>
              </a:spcAft>
              <a:buClr>
                <a:srgbClr val="6B7280"/>
              </a:buClr>
              <a:buSzPts val="800"/>
              <a:buFont typeface="DM Sans"/>
              <a:buNone/>
            </a:pPr>
            <a:endParaRPr sz="800" b="0" i="0" u="none" strike="noStrike" cap="none">
              <a:solidFill>
                <a:srgbClr val="222222"/>
              </a:solidFill>
              <a:latin typeface="Poppins"/>
              <a:ea typeface="Poppins"/>
              <a:cs typeface="Poppins"/>
              <a:sym typeface="Poppins"/>
            </a:endParaRPr>
          </a:p>
          <a:p>
            <a:pPr marL="0" marR="0" lvl="0" indent="0" algn="ctr" rtl="0">
              <a:lnSpc>
                <a:spcPct val="100000"/>
              </a:lnSpc>
              <a:spcBef>
                <a:spcPts val="0"/>
              </a:spcBef>
              <a:spcAft>
                <a:spcPts val="0"/>
              </a:spcAft>
              <a:buClr>
                <a:srgbClr val="1F2937"/>
              </a:buClr>
              <a:buSzPts val="800"/>
              <a:buFont typeface="JetBrains Mono"/>
              <a:buNone/>
            </a:pPr>
            <a:r>
              <a:rPr lang="en" sz="800" b="0" i="0" u="none" strike="noStrike" cap="none">
                <a:solidFill>
                  <a:srgbClr val="222222"/>
                </a:solidFill>
                <a:latin typeface="Poppins"/>
                <a:ea typeface="Poppins"/>
                <a:cs typeface="Poppins"/>
                <a:sym typeface="Poppins"/>
              </a:rPr>
              <a:t>Are you tagging your Images? Correlate the Docker image to the CI phase, gain further insights, and potentially improve your CI/CD pipeline conduct</a:t>
            </a:r>
            <a:endParaRPr sz="800" b="0" i="0" u="none" strike="noStrike" cap="none">
              <a:solidFill>
                <a:srgbClr val="222222"/>
              </a:solidFill>
              <a:latin typeface="Poppins"/>
              <a:ea typeface="Poppins"/>
              <a:cs typeface="Poppins"/>
              <a:sym typeface="Poppins"/>
            </a:endParaRPr>
          </a:p>
        </p:txBody>
      </p:sp>
      <p:sp>
        <p:nvSpPr>
          <p:cNvPr id="832" name="Google Shape;832;p61"/>
          <p:cNvSpPr txBox="1"/>
          <p:nvPr/>
        </p:nvSpPr>
        <p:spPr>
          <a:xfrm>
            <a:off x="5383579" y="3261513"/>
            <a:ext cx="512100" cy="220800"/>
          </a:xfrm>
          <a:prstGeom prst="rect">
            <a:avLst/>
          </a:prstGeom>
          <a:noFill/>
          <a:ln>
            <a:noFill/>
          </a:ln>
        </p:spPr>
        <p:txBody>
          <a:bodyPr spcFirstLastPara="1" wrap="square" lIns="91775" tIns="91775" rIns="91775" bIns="91775" anchor="t" anchorCtr="0">
            <a:noAutofit/>
          </a:bodyPr>
          <a:lstStyle/>
          <a:p>
            <a:pPr marL="0" marR="0" lvl="0" indent="0" algn="ct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{{CL_CLD}}</a:t>
            </a:r>
            <a:endParaRPr sz="900" b="1" i="0" u="none" strike="noStrike" cap="none">
              <a:solidFill>
                <a:srgbClr val="333333"/>
              </a:solidFill>
              <a:latin typeface="DM Sans"/>
              <a:ea typeface="DM Sans"/>
              <a:cs typeface="DM Sans"/>
              <a:sym typeface="DM Sans"/>
            </a:endParaRPr>
          </a:p>
        </p:txBody>
      </p:sp>
      <p:sp>
        <p:nvSpPr>
          <p:cNvPr id="833" name="Google Shape;833;p61"/>
          <p:cNvSpPr txBox="1"/>
          <p:nvPr/>
        </p:nvSpPr>
        <p:spPr>
          <a:xfrm>
            <a:off x="5855777" y="3267116"/>
            <a:ext cx="512100" cy="220800"/>
          </a:xfrm>
          <a:prstGeom prst="rect">
            <a:avLst/>
          </a:prstGeom>
          <a:noFill/>
          <a:ln>
            <a:noFill/>
          </a:ln>
        </p:spPr>
        <p:txBody>
          <a:bodyPr spcFirstLastPara="1" wrap="square" lIns="91775" tIns="91775" rIns="91775" bIns="91775" anchor="t" anchorCtr="0">
            <a:noAutofit/>
          </a:bodyPr>
          <a:lstStyle/>
          <a:p>
            <a:pPr marL="0" marR="0" lvl="0" indent="0" algn="ct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{{CL_RT}}</a:t>
            </a:r>
            <a:endParaRPr sz="900" b="1" i="0" u="none" strike="noStrike" cap="none">
              <a:solidFill>
                <a:srgbClr val="333333"/>
              </a:solidFill>
              <a:latin typeface="DM Sans"/>
              <a:ea typeface="DM Sans"/>
              <a:cs typeface="DM Sans"/>
              <a:sym typeface="DM Sans"/>
            </a:endParaRPr>
          </a:p>
        </p:txBody>
      </p:sp>
      <p:sp>
        <p:nvSpPr>
          <p:cNvPr id="834" name="Google Shape;834;p61"/>
          <p:cNvSpPr txBox="1"/>
          <p:nvPr/>
        </p:nvSpPr>
        <p:spPr>
          <a:xfrm>
            <a:off x="4911380" y="3268983"/>
            <a:ext cx="512100" cy="220800"/>
          </a:xfrm>
          <a:prstGeom prst="rect">
            <a:avLst/>
          </a:prstGeom>
          <a:noFill/>
          <a:ln>
            <a:noFill/>
          </a:ln>
        </p:spPr>
        <p:txBody>
          <a:bodyPr spcFirstLastPara="1" wrap="square" lIns="91775" tIns="91775" rIns="91775" bIns="91775" anchor="t" anchorCtr="0">
            <a:noAutofit/>
          </a:bodyPr>
          <a:lstStyle/>
          <a:p>
            <a:pPr marL="0" marR="0" lvl="0" indent="0" algn="ct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{{CL_DEP}}</a:t>
            </a:r>
            <a:endParaRPr sz="900" b="1" i="0" u="none" strike="noStrike" cap="none">
              <a:solidFill>
                <a:srgbClr val="333333"/>
              </a:solidFill>
              <a:latin typeface="DM Sans"/>
              <a:ea typeface="DM Sans"/>
              <a:cs typeface="DM Sans"/>
              <a:sym typeface="DM Sans"/>
            </a:endParaRPr>
          </a:p>
        </p:txBody>
      </p:sp>
      <p:sp>
        <p:nvSpPr>
          <p:cNvPr id="835" name="Google Shape;835;p61"/>
          <p:cNvSpPr txBox="1"/>
          <p:nvPr/>
        </p:nvSpPr>
        <p:spPr>
          <a:xfrm>
            <a:off x="3966984" y="3259646"/>
            <a:ext cx="512100" cy="220800"/>
          </a:xfrm>
          <a:prstGeom prst="rect">
            <a:avLst/>
          </a:prstGeom>
          <a:noFill/>
          <a:ln>
            <a:noFill/>
          </a:ln>
        </p:spPr>
        <p:txBody>
          <a:bodyPr spcFirstLastPara="1" wrap="square" lIns="91775" tIns="91775" rIns="91775" bIns="91775" anchor="t" anchorCtr="0">
            <a:noAutofit/>
          </a:bodyPr>
          <a:lstStyle/>
          <a:p>
            <a:pPr marL="0" marR="0" lvl="0" indent="0" algn="ct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{{CL_BLD}}</a:t>
            </a:r>
            <a:endParaRPr sz="900" b="1" i="0" u="none" strike="noStrike" cap="none">
              <a:solidFill>
                <a:srgbClr val="333333"/>
              </a:solidFill>
              <a:latin typeface="DM Sans"/>
              <a:ea typeface="DM Sans"/>
              <a:cs typeface="DM Sans"/>
              <a:sym typeface="DM Sans"/>
            </a:endParaRPr>
          </a:p>
        </p:txBody>
      </p:sp>
      <p:sp>
        <p:nvSpPr>
          <p:cNvPr id="836" name="Google Shape;836;p61"/>
          <p:cNvSpPr txBox="1"/>
          <p:nvPr/>
        </p:nvSpPr>
        <p:spPr>
          <a:xfrm>
            <a:off x="4439182" y="3263381"/>
            <a:ext cx="512100" cy="220800"/>
          </a:xfrm>
          <a:prstGeom prst="rect">
            <a:avLst/>
          </a:prstGeom>
          <a:noFill/>
          <a:ln>
            <a:noFill/>
          </a:ln>
        </p:spPr>
        <p:txBody>
          <a:bodyPr spcFirstLastPara="1" wrap="square" lIns="91775" tIns="91775" rIns="91775" bIns="91775" anchor="t" anchorCtr="0">
            <a:noAutofit/>
          </a:bodyPr>
          <a:lstStyle/>
          <a:p>
            <a:pPr marL="0" marR="0" lvl="0" indent="0" algn="ct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{{CL_STR}}</a:t>
            </a:r>
            <a:endParaRPr sz="900" b="1" i="0" u="none" strike="noStrike" cap="none">
              <a:solidFill>
                <a:srgbClr val="333333"/>
              </a:solidFill>
              <a:latin typeface="DM Sans"/>
              <a:ea typeface="DM Sans"/>
              <a:cs typeface="DM Sans"/>
              <a:sym typeface="DM Sans"/>
            </a:endParaRPr>
          </a:p>
        </p:txBody>
      </p:sp>
      <p:sp>
        <p:nvSpPr>
          <p:cNvPr id="837" name="Google Shape;837;p61"/>
          <p:cNvSpPr txBox="1"/>
          <p:nvPr/>
        </p:nvSpPr>
        <p:spPr>
          <a:xfrm>
            <a:off x="3494786" y="3265248"/>
            <a:ext cx="512100" cy="220800"/>
          </a:xfrm>
          <a:prstGeom prst="rect">
            <a:avLst/>
          </a:prstGeom>
          <a:noFill/>
          <a:ln>
            <a:noFill/>
          </a:ln>
        </p:spPr>
        <p:txBody>
          <a:bodyPr spcFirstLastPara="1" wrap="square" lIns="91775" tIns="91775" rIns="91775" bIns="91775" anchor="t" anchorCtr="0">
            <a:noAutofit/>
          </a:bodyPr>
          <a:lstStyle/>
          <a:p>
            <a:pPr marL="0" marR="0" lvl="0" indent="0" algn="ctr" rtl="0">
              <a:lnSpc>
                <a:spcPct val="150000"/>
              </a:lnSpc>
              <a:spcBef>
                <a:spcPts val="0"/>
              </a:spcBef>
              <a:spcAft>
                <a:spcPts val="0"/>
              </a:spcAft>
              <a:buClr>
                <a:srgbClr val="000000"/>
              </a:buClr>
              <a:buSzPts val="900"/>
              <a:buFont typeface="Arial"/>
              <a:buNone/>
            </a:pPr>
            <a:r>
              <a:rPr lang="en" sz="900" b="1" i="0" u="none" strike="noStrike" cap="none">
                <a:solidFill>
                  <a:srgbClr val="333333"/>
                </a:solidFill>
                <a:latin typeface="DM Sans"/>
                <a:ea typeface="DM Sans"/>
                <a:cs typeface="DM Sans"/>
                <a:sym typeface="DM Sans"/>
              </a:rPr>
              <a:t>{{CL_CODE}}</a:t>
            </a:r>
            <a:endParaRPr sz="900" b="1" i="0" u="none" strike="noStrike" cap="none">
              <a:solidFill>
                <a:srgbClr val="333333"/>
              </a:solidFill>
              <a:latin typeface="DM Sans"/>
              <a:ea typeface="DM Sans"/>
              <a:cs typeface="DM Sans"/>
              <a:sym typeface="DM Sans"/>
            </a:endParaRPr>
          </a:p>
        </p:txBody>
      </p:sp>
      <p:sp>
        <p:nvSpPr>
          <p:cNvPr id="838" name="Google Shape;838;p61"/>
          <p:cNvSpPr txBox="1"/>
          <p:nvPr/>
        </p:nvSpPr>
        <p:spPr>
          <a:xfrm>
            <a:off x="7851954" y="3368391"/>
            <a:ext cx="1139700" cy="1548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a:ea typeface="Poppins"/>
                <a:cs typeface="Poppins"/>
                <a:sym typeface="Poppins"/>
              </a:rPr>
              <a:t>{{R_CON}}</a:t>
            </a:r>
            <a:endParaRPr sz="900" b="0" i="0" u="none" strike="noStrike" cap="none">
              <a:solidFill>
                <a:srgbClr val="333333"/>
              </a:solidFill>
              <a:latin typeface="Poppins"/>
              <a:ea typeface="Poppins"/>
              <a:cs typeface="Poppins"/>
              <a:sym typeface="Poppins"/>
            </a:endParaRPr>
          </a:p>
        </p:txBody>
      </p:sp>
      <p:sp>
        <p:nvSpPr>
          <p:cNvPr id="839" name="Google Shape;839;p61"/>
          <p:cNvSpPr txBox="1"/>
          <p:nvPr/>
        </p:nvSpPr>
        <p:spPr>
          <a:xfrm>
            <a:off x="7847951" y="3544289"/>
            <a:ext cx="1143000" cy="1548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a:ea typeface="Poppins"/>
                <a:cs typeface="Poppins"/>
                <a:sym typeface="Poppins"/>
              </a:rPr>
              <a:t>{{R_AUT}}</a:t>
            </a:r>
            <a:endParaRPr sz="900" b="0" i="0" u="none" strike="noStrike" cap="none">
              <a:solidFill>
                <a:srgbClr val="333333"/>
              </a:solidFill>
              <a:latin typeface="Poppins"/>
              <a:ea typeface="Poppins"/>
              <a:cs typeface="Poppins"/>
              <a:sym typeface="Poppins"/>
            </a:endParaRPr>
          </a:p>
        </p:txBody>
      </p:sp>
      <p:sp>
        <p:nvSpPr>
          <p:cNvPr id="840" name="Google Shape;840;p61"/>
          <p:cNvSpPr txBox="1"/>
          <p:nvPr/>
        </p:nvSpPr>
        <p:spPr>
          <a:xfrm>
            <a:off x="7743278" y="3375563"/>
            <a:ext cx="914700" cy="1548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Poppins"/>
                <a:ea typeface="Poppins"/>
                <a:cs typeface="Poppins"/>
                <a:sym typeface="Poppins"/>
                <a:hlinkClick r:id="rId15">
                  <a:extLst>
                    <a:ext uri="{A12FA001-AC4F-418D-AE19-62706E023703}">
                      <ahyp:hlinkClr xmlns:ahyp="http://schemas.microsoft.com/office/drawing/2018/hyperlinkcolor" val="tx"/>
                    </a:ext>
                  </a:extLst>
                </a:hlinkClick>
              </a:rPr>
              <a:t>Connector</a:t>
            </a:r>
            <a:endParaRPr sz="900" b="0" i="0" u="none" strike="noStrike" cap="none">
              <a:solidFill>
                <a:srgbClr val="0254EC"/>
              </a:solidFill>
              <a:latin typeface="Poppins"/>
              <a:ea typeface="Poppins"/>
              <a:cs typeface="Poppins"/>
              <a:sym typeface="Poppins"/>
            </a:endParaRPr>
          </a:p>
        </p:txBody>
      </p:sp>
      <p:sp>
        <p:nvSpPr>
          <p:cNvPr id="841" name="Google Shape;841;p61"/>
          <p:cNvSpPr txBox="1"/>
          <p:nvPr/>
        </p:nvSpPr>
        <p:spPr>
          <a:xfrm>
            <a:off x="7743278" y="3544276"/>
            <a:ext cx="914700" cy="1548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Poppins"/>
                <a:ea typeface="Poppins"/>
                <a:cs typeface="Poppins"/>
                <a:sym typeface="Poppins"/>
                <a:hlinkClick r:id="rId16">
                  <a:extLst>
                    <a:ext uri="{A12FA001-AC4F-418D-AE19-62706E023703}">
                      <ahyp:hlinkClr xmlns:ahyp="http://schemas.microsoft.com/office/drawing/2018/hyperlinkcolor" val="tx"/>
                    </a:ext>
                  </a:extLst>
                </a:hlinkClick>
              </a:rPr>
              <a:t>Global</a:t>
            </a:r>
            <a:endParaRPr sz="900" b="0" i="0" u="none" strike="noStrike" cap="none">
              <a:solidFill>
                <a:srgbClr val="0254EC"/>
              </a:solidFill>
              <a:latin typeface="Poppins"/>
              <a:ea typeface="Poppins"/>
              <a:cs typeface="Poppins"/>
              <a:sym typeface="Poppins"/>
            </a:endParaRPr>
          </a:p>
        </p:txBody>
      </p:sp>
      <p:sp>
        <p:nvSpPr>
          <p:cNvPr id="842" name="Google Shape;842;p61"/>
          <p:cNvSpPr txBox="1"/>
          <p:nvPr/>
        </p:nvSpPr>
        <p:spPr>
          <a:xfrm>
            <a:off x="7743747" y="3712990"/>
            <a:ext cx="914700" cy="154800"/>
          </a:xfrm>
          <a:prstGeom prst="rect">
            <a:avLst/>
          </a:prstGeom>
          <a:noFill/>
          <a:ln>
            <a:noFill/>
          </a:ln>
        </p:spPr>
        <p:txBody>
          <a:bodyPr spcFirstLastPara="1" wrap="square" lIns="91225" tIns="91225" rIns="91225" bIns="91225" anchor="t" anchorCtr="0">
            <a:noAutofit/>
          </a:bodyPr>
          <a:lstStyle/>
          <a:p>
            <a:pPr marL="0" marR="0" lvl="0" indent="0" algn="l" rtl="0">
              <a:lnSpc>
                <a:spcPct val="150000"/>
              </a:lnSpc>
              <a:spcBef>
                <a:spcPts val="0"/>
              </a:spcBef>
              <a:spcAft>
                <a:spcPts val="0"/>
              </a:spcAft>
              <a:buClr>
                <a:srgbClr val="000000"/>
              </a:buClr>
              <a:buSzPts val="900"/>
              <a:buFont typeface="Arial"/>
              <a:buNone/>
            </a:pPr>
            <a:r>
              <a:rPr lang="en" sz="900" b="0" i="0" u="sng" strike="noStrike" cap="none">
                <a:solidFill>
                  <a:srgbClr val="0254EC"/>
                </a:solidFill>
                <a:latin typeface="Poppins"/>
                <a:ea typeface="Poppins"/>
                <a:cs typeface="Poppins"/>
                <a:sym typeface="Poppins"/>
                <a:hlinkClick r:id="rId17">
                  <a:extLst>
                    <a:ext uri="{A12FA001-AC4F-418D-AE19-62706E023703}">
                      <ahyp:hlinkClr xmlns:ahyp="http://schemas.microsoft.com/office/drawing/2018/hyperlinkcolor" val="tx"/>
                    </a:ext>
                  </a:extLst>
                </a:hlinkClick>
              </a:rPr>
              <a:t>Custom</a:t>
            </a:r>
            <a:endParaRPr sz="900" b="0" i="0" u="none" strike="noStrike" cap="none">
              <a:solidFill>
                <a:srgbClr val="0254EC"/>
              </a:solidFill>
              <a:latin typeface="Poppins"/>
              <a:ea typeface="Poppins"/>
              <a:cs typeface="Poppins"/>
              <a:sym typeface="Poppins"/>
            </a:endParaRPr>
          </a:p>
        </p:txBody>
      </p:sp>
      <p:sp>
        <p:nvSpPr>
          <p:cNvPr id="843" name="Google Shape;843;p61"/>
          <p:cNvSpPr txBox="1"/>
          <p:nvPr/>
        </p:nvSpPr>
        <p:spPr>
          <a:xfrm>
            <a:off x="7847336" y="3720187"/>
            <a:ext cx="1143000" cy="155400"/>
          </a:xfrm>
          <a:prstGeom prst="rect">
            <a:avLst/>
          </a:prstGeom>
          <a:noFill/>
          <a:ln>
            <a:noFill/>
          </a:ln>
        </p:spPr>
        <p:txBody>
          <a:bodyPr spcFirstLastPara="1" wrap="square" lIns="91225" tIns="91225" rIns="91225" bIns="91225" anchor="t" anchorCtr="0">
            <a:noAutofit/>
          </a:bodyPr>
          <a:lstStyle/>
          <a:p>
            <a:pPr marL="0" marR="0" lvl="0" indent="0" algn="r" rtl="0">
              <a:lnSpc>
                <a:spcPct val="150000"/>
              </a:lnSpc>
              <a:spcBef>
                <a:spcPts val="0"/>
              </a:spcBef>
              <a:spcAft>
                <a:spcPts val="0"/>
              </a:spcAft>
              <a:buClr>
                <a:srgbClr val="000000"/>
              </a:buClr>
              <a:buSzPts val="900"/>
              <a:buFont typeface="Arial"/>
              <a:buNone/>
            </a:pPr>
            <a:r>
              <a:rPr lang="en" sz="900" b="0" i="0" u="none" strike="noStrike" cap="none">
                <a:solidFill>
                  <a:srgbClr val="333333"/>
                </a:solidFill>
                <a:latin typeface="Poppins"/>
                <a:ea typeface="Poppins"/>
                <a:cs typeface="Poppins"/>
                <a:sym typeface="Poppins"/>
              </a:rPr>
              <a:t>{{R_CUS}}</a:t>
            </a:r>
            <a:endParaRPr sz="900" b="0" i="0" u="none" strike="noStrike" cap="none">
              <a:solidFill>
                <a:srgbClr val="333333"/>
              </a:solidFill>
              <a:latin typeface="Poppins"/>
              <a:ea typeface="Poppins"/>
              <a:cs typeface="Poppins"/>
              <a:sym typeface="Poppins"/>
            </a:endParaRPr>
          </a:p>
        </p:txBody>
      </p:sp>
      <p:sp>
        <p:nvSpPr>
          <p:cNvPr id="844" name="Google Shape;844;p61"/>
          <p:cNvSpPr txBox="1"/>
          <p:nvPr/>
        </p:nvSpPr>
        <p:spPr>
          <a:xfrm>
            <a:off x="7683303" y="2828294"/>
            <a:ext cx="1275600" cy="219300"/>
          </a:xfrm>
          <a:prstGeom prst="rect">
            <a:avLst/>
          </a:prstGeom>
          <a:noFill/>
          <a:ln>
            <a:noFill/>
          </a:ln>
        </p:spPr>
        <p:txBody>
          <a:bodyPr spcFirstLastPara="1" wrap="square" lIns="91225" tIns="91225" rIns="91225" bIns="912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333333"/>
                </a:solidFill>
                <a:latin typeface="Poppins"/>
                <a:ea typeface="Poppins"/>
                <a:cs typeface="Poppins"/>
                <a:sym typeface="Poppins"/>
              </a:rPr>
              <a:t>Scanning Config Type</a:t>
            </a:r>
            <a:endParaRPr sz="1200" b="0" i="0" u="none" strike="noStrike" cap="none">
              <a:solidFill>
                <a:srgbClr val="333333"/>
              </a:solidFill>
              <a:latin typeface="Poppins"/>
              <a:ea typeface="Poppins"/>
              <a:cs typeface="Poppins"/>
              <a:sym typeface="Poppins"/>
            </a:endParaRPr>
          </a:p>
        </p:txBody>
      </p:sp>
      <p:cxnSp>
        <p:nvCxnSpPr>
          <p:cNvPr id="845" name="Google Shape;845;p61"/>
          <p:cNvCxnSpPr/>
          <p:nvPr/>
        </p:nvCxnSpPr>
        <p:spPr>
          <a:xfrm rot="10800000" flipH="1">
            <a:off x="7699350" y="2976423"/>
            <a:ext cx="15900" cy="1091400"/>
          </a:xfrm>
          <a:prstGeom prst="straightConnector1">
            <a:avLst/>
          </a:prstGeom>
          <a:noFill/>
          <a:ln w="9525" cap="flat" cmpd="sng">
            <a:solidFill>
              <a:srgbClr val="595959"/>
            </a:solidFill>
            <a:prstDash val="solid"/>
            <a:round/>
            <a:headEnd type="none" w="sm" len="sm"/>
            <a:tailEnd type="none" w="sm" len="sm"/>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p62"/>
          <p:cNvSpPr txBox="1"/>
          <p:nvPr/>
        </p:nvSpPr>
        <p:spPr>
          <a:xfrm>
            <a:off x="468449" y="2483713"/>
            <a:ext cx="3273600" cy="9003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700" b="0" i="0" u="none" strike="noStrike" cap="none">
                <a:solidFill>
                  <a:schemeClr val="lt1"/>
                </a:solidFill>
                <a:latin typeface="Poppins"/>
                <a:ea typeface="Poppins"/>
                <a:cs typeface="Poppins"/>
                <a:sym typeface="Poppins"/>
              </a:rPr>
              <a:t>Best Practice Review</a:t>
            </a:r>
            <a:endParaRPr sz="2700" b="0" i="0" u="none" strike="noStrike" cap="none">
              <a:solidFill>
                <a:schemeClr val="lt1"/>
              </a:solidFill>
              <a:latin typeface="Poppins"/>
              <a:ea typeface="Poppins"/>
              <a:cs typeface="Poppins"/>
              <a:sym typeface="Poppins"/>
            </a:endParaRPr>
          </a:p>
        </p:txBody>
      </p:sp>
      <p:pic>
        <p:nvPicPr>
          <p:cNvPr id="852" name="Google Shape;852;p62" title="opening_photo.png"/>
          <p:cNvPicPr preferRelativeResize="0"/>
          <p:nvPr/>
        </p:nvPicPr>
        <p:blipFill rotWithShape="1">
          <a:blip r:embed="rId3">
            <a:alphaModFix/>
          </a:blip>
          <a:srcRect/>
          <a:stretch/>
        </p:blipFill>
        <p:spPr>
          <a:xfrm>
            <a:off x="4256533" y="1409675"/>
            <a:ext cx="4306800" cy="2143875"/>
          </a:xfrm>
          <a:prstGeom prst="rect">
            <a:avLst/>
          </a:prstGeom>
          <a:noFill/>
          <a:ln>
            <a:noFill/>
          </a:ln>
        </p:spPr>
      </p:pic>
      <p:pic>
        <p:nvPicPr>
          <p:cNvPr id="853" name="Google Shape;853;p62" title="cloud.png"/>
          <p:cNvPicPr preferRelativeResize="0"/>
          <p:nvPr/>
        </p:nvPicPr>
        <p:blipFill rotWithShape="1">
          <a:blip r:embed="rId4">
            <a:alphaModFix/>
          </a:blip>
          <a:srcRect/>
          <a:stretch/>
        </p:blipFill>
        <p:spPr>
          <a:xfrm>
            <a:off x="6699300" y="3318246"/>
            <a:ext cx="2444700" cy="1825254"/>
          </a:xfrm>
          <a:prstGeom prst="rect">
            <a:avLst/>
          </a:prstGeom>
          <a:noFill/>
          <a:ln>
            <a:noFill/>
          </a:ln>
        </p:spPr>
      </p:pic>
      <p:pic>
        <p:nvPicPr>
          <p:cNvPr id="854" name="Google Shape;854;p62" title="logo.png"/>
          <p:cNvPicPr preferRelativeResize="0"/>
          <p:nvPr/>
        </p:nvPicPr>
        <p:blipFill rotWithShape="1">
          <a:blip r:embed="rId5">
            <a:alphaModFix/>
          </a:blip>
          <a:srcRect/>
          <a:stretch/>
        </p:blipFill>
        <p:spPr>
          <a:xfrm>
            <a:off x="553277" y="1994713"/>
            <a:ext cx="637001" cy="3041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859"/>
        <p:cNvGrpSpPr/>
        <p:nvPr/>
      </p:nvGrpSpPr>
      <p:grpSpPr>
        <a:xfrm>
          <a:off x="0" y="0"/>
          <a:ext cx="0" cy="0"/>
          <a:chOff x="0" y="0"/>
          <a:chExt cx="0" cy="0"/>
        </a:xfrm>
      </p:grpSpPr>
      <p:sp>
        <p:nvSpPr>
          <p:cNvPr id="860" name="Google Shape;860;p63"/>
          <p:cNvSpPr/>
          <p:nvPr/>
        </p:nvSpPr>
        <p:spPr>
          <a:xfrm>
            <a:off x="457190" y="1413775"/>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Scanning Non-OS Disks</a:t>
            </a:r>
            <a:endParaRPr sz="800" b="0" i="0" u="none" strike="noStrike" cap="none">
              <a:solidFill>
                <a:schemeClr val="dk1"/>
              </a:solidFill>
              <a:latin typeface="Calibri"/>
              <a:ea typeface="Calibri"/>
              <a:cs typeface="Calibri"/>
              <a:sym typeface="Calibri"/>
            </a:endParaRPr>
          </a:p>
        </p:txBody>
      </p:sp>
      <p:sp>
        <p:nvSpPr>
          <p:cNvPr id="861" name="Google Shape;861;p63"/>
          <p:cNvSpPr/>
          <p:nvPr/>
        </p:nvSpPr>
        <p:spPr>
          <a:xfrm>
            <a:off x="457190" y="1644569"/>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Virtual Machine Scanning</a:t>
            </a:r>
            <a:endParaRPr sz="800" b="0" i="0" u="none" strike="noStrike" cap="none">
              <a:solidFill>
                <a:schemeClr val="dk1"/>
              </a:solidFill>
              <a:latin typeface="Calibri"/>
              <a:ea typeface="Calibri"/>
              <a:cs typeface="Calibri"/>
              <a:sym typeface="Calibri"/>
            </a:endParaRPr>
          </a:p>
        </p:txBody>
      </p:sp>
      <p:sp>
        <p:nvSpPr>
          <p:cNvPr id="862" name="Google Shape;862;p63"/>
          <p:cNvSpPr/>
          <p:nvPr/>
        </p:nvSpPr>
        <p:spPr>
          <a:xfrm>
            <a:off x="457190" y="1875363"/>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Shared AWS CMKs</a:t>
            </a:r>
            <a:endParaRPr sz="800" b="0" i="0" u="none" strike="noStrike" cap="none">
              <a:solidFill>
                <a:schemeClr val="dk1"/>
              </a:solidFill>
              <a:latin typeface="Calibri"/>
              <a:ea typeface="Calibri"/>
              <a:cs typeface="Calibri"/>
              <a:sym typeface="Calibri"/>
            </a:endParaRPr>
          </a:p>
        </p:txBody>
      </p:sp>
      <p:sp>
        <p:nvSpPr>
          <p:cNvPr id="863" name="Google Shape;863;p63"/>
          <p:cNvSpPr/>
          <p:nvPr/>
        </p:nvSpPr>
        <p:spPr>
          <a:xfrm>
            <a:off x="457190" y="2106157"/>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AWS Scanning via Temp Volumes</a:t>
            </a:r>
            <a:endParaRPr sz="800" b="0" i="0" u="none" strike="noStrike" cap="none">
              <a:solidFill>
                <a:schemeClr val="dk1"/>
              </a:solidFill>
              <a:latin typeface="Calibri"/>
              <a:ea typeface="Calibri"/>
              <a:cs typeface="Calibri"/>
              <a:sym typeface="Calibri"/>
            </a:endParaRPr>
          </a:p>
        </p:txBody>
      </p:sp>
      <p:sp>
        <p:nvSpPr>
          <p:cNvPr id="864" name="Google Shape;864;p63"/>
          <p:cNvSpPr/>
          <p:nvPr/>
        </p:nvSpPr>
        <p:spPr>
          <a:xfrm>
            <a:off x="457190" y="2336951"/>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AWS LightSail Scanning</a:t>
            </a:r>
            <a:endParaRPr sz="800" b="0" i="0" u="none" strike="noStrike" cap="none">
              <a:solidFill>
                <a:schemeClr val="dk1"/>
              </a:solidFill>
              <a:latin typeface="Calibri"/>
              <a:ea typeface="Calibri"/>
              <a:cs typeface="Calibri"/>
              <a:sym typeface="Calibri"/>
            </a:endParaRPr>
          </a:p>
        </p:txBody>
      </p:sp>
      <p:sp>
        <p:nvSpPr>
          <p:cNvPr id="865" name="Google Shape;865;p63"/>
          <p:cNvSpPr/>
          <p:nvPr/>
        </p:nvSpPr>
        <p:spPr>
          <a:xfrm>
            <a:off x="457190" y="2567745"/>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AWS Lambda Version Scanning</a:t>
            </a:r>
            <a:endParaRPr sz="800" b="0" i="0" u="none" strike="noStrike" cap="none">
              <a:solidFill>
                <a:schemeClr val="dk1"/>
              </a:solidFill>
              <a:latin typeface="Calibri"/>
              <a:ea typeface="Calibri"/>
              <a:cs typeface="Calibri"/>
              <a:sym typeface="Calibri"/>
            </a:endParaRPr>
          </a:p>
        </p:txBody>
      </p:sp>
      <p:sp>
        <p:nvSpPr>
          <p:cNvPr id="866" name="Google Shape;866;p63"/>
          <p:cNvSpPr/>
          <p:nvPr/>
        </p:nvSpPr>
        <p:spPr>
          <a:xfrm>
            <a:off x="457190" y="2798539"/>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Custom Scanner Tags</a:t>
            </a:r>
            <a:endParaRPr sz="800" b="0" i="0" u="none" strike="noStrike" cap="none">
              <a:solidFill>
                <a:schemeClr val="dk1"/>
              </a:solidFill>
              <a:latin typeface="Calibri"/>
              <a:ea typeface="Calibri"/>
              <a:cs typeface="Calibri"/>
              <a:sym typeface="Calibri"/>
            </a:endParaRPr>
          </a:p>
        </p:txBody>
      </p:sp>
      <p:sp>
        <p:nvSpPr>
          <p:cNvPr id="867" name="Google Shape;867;p63"/>
          <p:cNvSpPr/>
          <p:nvPr/>
        </p:nvSpPr>
        <p:spPr>
          <a:xfrm>
            <a:off x="457190" y="3029333"/>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Workload Scanning Exclusions</a:t>
            </a:r>
            <a:endParaRPr sz="800" b="0" i="0" u="none" strike="noStrike" cap="none">
              <a:solidFill>
                <a:schemeClr val="dk1"/>
              </a:solidFill>
              <a:latin typeface="Calibri"/>
              <a:ea typeface="Calibri"/>
              <a:cs typeface="Calibri"/>
              <a:sym typeface="Calibri"/>
            </a:endParaRPr>
          </a:p>
        </p:txBody>
      </p:sp>
      <p:sp>
        <p:nvSpPr>
          <p:cNvPr id="868" name="Google Shape;868;p63"/>
          <p:cNvSpPr/>
          <p:nvPr/>
        </p:nvSpPr>
        <p:spPr>
          <a:xfrm>
            <a:off x="457190" y="3260127"/>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Compute Instance Group Sampling</a:t>
            </a:r>
            <a:endParaRPr sz="800" b="0" i="0" u="none" strike="noStrike" cap="none">
              <a:solidFill>
                <a:schemeClr val="dk1"/>
              </a:solidFill>
              <a:latin typeface="Calibri"/>
              <a:ea typeface="Calibri"/>
              <a:cs typeface="Calibri"/>
              <a:sym typeface="Calibri"/>
            </a:endParaRPr>
          </a:p>
        </p:txBody>
      </p:sp>
      <p:sp>
        <p:nvSpPr>
          <p:cNvPr id="869" name="Google Shape;869;p63"/>
          <p:cNvSpPr/>
          <p:nvPr/>
        </p:nvSpPr>
        <p:spPr>
          <a:xfrm>
            <a:off x="457190" y="3490921"/>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ADE Private Endpoints (Disabled Public)</a:t>
            </a:r>
            <a:endParaRPr sz="800" b="0" i="0" u="none" strike="noStrike" cap="none">
              <a:solidFill>
                <a:schemeClr val="dk1"/>
              </a:solidFill>
              <a:latin typeface="Calibri"/>
              <a:ea typeface="Calibri"/>
              <a:cs typeface="Calibri"/>
              <a:sym typeface="Calibri"/>
            </a:endParaRPr>
          </a:p>
        </p:txBody>
      </p:sp>
      <p:sp>
        <p:nvSpPr>
          <p:cNvPr id="870" name="Google Shape;870;p63"/>
          <p:cNvSpPr/>
          <p:nvPr/>
        </p:nvSpPr>
        <p:spPr>
          <a:xfrm>
            <a:off x="457190" y="3721715"/>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ADE Private Endpoints (Selected VNets)</a:t>
            </a:r>
            <a:endParaRPr sz="800" b="0" i="0" u="none" strike="noStrike" cap="none">
              <a:solidFill>
                <a:schemeClr val="dk1"/>
              </a:solidFill>
              <a:latin typeface="Calibri"/>
              <a:ea typeface="Calibri"/>
              <a:cs typeface="Calibri"/>
              <a:sym typeface="Calibri"/>
            </a:endParaRPr>
          </a:p>
        </p:txBody>
      </p:sp>
      <p:sp>
        <p:nvSpPr>
          <p:cNvPr id="871" name="Google Shape;871;p63"/>
          <p:cNvSpPr/>
          <p:nvPr/>
        </p:nvSpPr>
        <p:spPr>
          <a:xfrm>
            <a:off x="457190" y="3952509"/>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sng" strike="noStrike" cap="none">
                <a:solidFill>
                  <a:schemeClr val="hlink"/>
                </a:solidFill>
                <a:latin typeface="DM Sans"/>
                <a:ea typeface="DM Sans"/>
                <a:cs typeface="DM Sans"/>
                <a:sym typeface="DM Sans"/>
                <a:hlinkClick r:id="rId3"/>
              </a:rPr>
              <a:t>Near Real-Time Scanning</a:t>
            </a:r>
            <a:endParaRPr sz="800" b="0" i="0" u="none" strike="noStrike" cap="none">
              <a:solidFill>
                <a:schemeClr val="dk1"/>
              </a:solidFill>
              <a:latin typeface="Calibri"/>
              <a:ea typeface="Calibri"/>
              <a:cs typeface="Calibri"/>
              <a:sym typeface="Calibri"/>
            </a:endParaRPr>
          </a:p>
        </p:txBody>
      </p:sp>
      <p:sp>
        <p:nvSpPr>
          <p:cNvPr id="872" name="Google Shape;872;p63"/>
          <p:cNvSpPr/>
          <p:nvPr/>
        </p:nvSpPr>
        <p:spPr>
          <a:xfrm>
            <a:off x="458865" y="4183303"/>
            <a:ext cx="19704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sng" strike="noStrike" cap="none">
                <a:solidFill>
                  <a:schemeClr val="hlink"/>
                </a:solidFill>
                <a:latin typeface="DM Sans"/>
                <a:ea typeface="DM Sans"/>
                <a:cs typeface="DM Sans"/>
                <a:sym typeface="DM Sans"/>
                <a:hlinkClick r:id="rId3"/>
              </a:rPr>
              <a:t>Include NRT Workload Scanning</a:t>
            </a:r>
            <a:endParaRPr sz="800" b="0" i="0" u="none" strike="noStrike" cap="none">
              <a:solidFill>
                <a:schemeClr val="dk1"/>
              </a:solidFill>
              <a:latin typeface="Calibri"/>
              <a:ea typeface="Calibri"/>
              <a:cs typeface="Calibri"/>
              <a:sym typeface="Calibri"/>
            </a:endParaRPr>
          </a:p>
        </p:txBody>
      </p:sp>
      <p:sp>
        <p:nvSpPr>
          <p:cNvPr id="873" name="Google Shape;873;p63"/>
          <p:cNvSpPr/>
          <p:nvPr/>
        </p:nvSpPr>
        <p:spPr>
          <a:xfrm>
            <a:off x="454207" y="4414097"/>
            <a:ext cx="1978500" cy="22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86"/>
              <a:buFont typeface="DM Sans"/>
              <a:buNone/>
            </a:pPr>
            <a:r>
              <a:rPr lang="en" sz="783" b="0" i="0" u="sng" strike="noStrike" cap="none">
                <a:solidFill>
                  <a:schemeClr val="hlink"/>
                </a:solidFill>
                <a:latin typeface="DM Sans"/>
                <a:ea typeface="DM Sans"/>
                <a:cs typeface="DM Sans"/>
                <a:sym typeface="DM Sans"/>
                <a:hlinkClick r:id="rId4"/>
              </a:rPr>
              <a:t>Agentless File Integrity Monitoring</a:t>
            </a:r>
            <a:endParaRPr sz="783" b="0" i="0" u="none" strike="noStrike" cap="none">
              <a:solidFill>
                <a:srgbClr val="01123F"/>
              </a:solidFill>
              <a:latin typeface="Calibri"/>
              <a:ea typeface="Calibri"/>
              <a:cs typeface="Calibri"/>
              <a:sym typeface="Calibri"/>
            </a:endParaRPr>
          </a:p>
        </p:txBody>
      </p:sp>
      <p:sp>
        <p:nvSpPr>
          <p:cNvPr id="874" name="Google Shape;874;p63"/>
          <p:cNvSpPr/>
          <p:nvPr/>
        </p:nvSpPr>
        <p:spPr>
          <a:xfrm>
            <a:off x="4880822" y="1401575"/>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DM Sans"/>
                <a:ea typeface="DM Sans"/>
                <a:cs typeface="DM Sans"/>
                <a:sym typeface="DM Sans"/>
              </a:rPr>
              <a:t>Scanner Mode (Basic/Advanced)</a:t>
            </a:r>
            <a:endParaRPr sz="737" b="0" i="0" u="none" strike="noStrike" cap="none">
              <a:solidFill>
                <a:srgbClr val="1F2937"/>
              </a:solidFill>
              <a:latin typeface="DM Sans"/>
              <a:ea typeface="DM Sans"/>
              <a:cs typeface="DM Sans"/>
              <a:sym typeface="DM Sans"/>
            </a:endParaRPr>
          </a:p>
        </p:txBody>
      </p:sp>
      <p:sp>
        <p:nvSpPr>
          <p:cNvPr id="875" name="Google Shape;875;p63"/>
          <p:cNvSpPr/>
          <p:nvPr/>
        </p:nvSpPr>
        <p:spPr>
          <a:xfrm>
            <a:off x="4880822" y="1604536"/>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DM Sans"/>
                <a:ea typeface="DM Sans"/>
                <a:cs typeface="DM Sans"/>
                <a:sym typeface="DM Sans"/>
              </a:rPr>
              <a:t>Advanced Scan Source: Custom Targets</a:t>
            </a:r>
            <a:endParaRPr sz="737" b="0" i="0" u="none" strike="noStrike" cap="none">
              <a:solidFill>
                <a:srgbClr val="1F2937"/>
              </a:solidFill>
              <a:latin typeface="DM Sans"/>
              <a:ea typeface="DM Sans"/>
              <a:cs typeface="DM Sans"/>
              <a:sym typeface="DM Sans"/>
            </a:endParaRPr>
          </a:p>
        </p:txBody>
      </p:sp>
      <p:sp>
        <p:nvSpPr>
          <p:cNvPr id="876" name="Google Shape;876;p63"/>
          <p:cNvSpPr/>
          <p:nvPr/>
        </p:nvSpPr>
        <p:spPr>
          <a:xfrm>
            <a:off x="4880822" y="1807497"/>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DM Sans"/>
                <a:ea typeface="DM Sans"/>
                <a:cs typeface="DM Sans"/>
                <a:sym typeface="DM Sans"/>
              </a:rPr>
              <a:t>Advanced Scan Source: Reconnaissance</a:t>
            </a:r>
            <a:endParaRPr sz="737" b="0" i="0" u="none" strike="noStrike" cap="none">
              <a:solidFill>
                <a:srgbClr val="1F2937"/>
              </a:solidFill>
              <a:latin typeface="DM Sans"/>
              <a:ea typeface="DM Sans"/>
              <a:cs typeface="DM Sans"/>
              <a:sym typeface="DM Sans"/>
            </a:endParaRPr>
          </a:p>
        </p:txBody>
      </p:sp>
      <p:sp>
        <p:nvSpPr>
          <p:cNvPr id="877" name="Google Shape;877;p63"/>
          <p:cNvSpPr/>
          <p:nvPr/>
        </p:nvSpPr>
        <p:spPr>
          <a:xfrm>
            <a:off x="4880822" y="2010458"/>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DM Sans"/>
                <a:ea typeface="DM Sans"/>
                <a:cs typeface="DM Sans"/>
                <a:sym typeface="DM Sans"/>
              </a:rPr>
              <a:t>Advanced Scan Source: Code</a:t>
            </a:r>
            <a:endParaRPr sz="737" b="0" i="0" u="none" strike="noStrike" cap="none">
              <a:solidFill>
                <a:srgbClr val="1F2937"/>
              </a:solidFill>
              <a:latin typeface="DM Sans"/>
              <a:ea typeface="DM Sans"/>
              <a:cs typeface="DM Sans"/>
              <a:sym typeface="DM Sans"/>
            </a:endParaRPr>
          </a:p>
        </p:txBody>
      </p:sp>
      <p:sp>
        <p:nvSpPr>
          <p:cNvPr id="878" name="Google Shape;878;p63"/>
          <p:cNvSpPr/>
          <p:nvPr/>
        </p:nvSpPr>
        <p:spPr>
          <a:xfrm>
            <a:off x="4880822" y="2213419"/>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DM Sans"/>
                <a:ea typeface="DM Sans"/>
                <a:cs typeface="DM Sans"/>
                <a:sym typeface="DM Sans"/>
              </a:rPr>
              <a:t>Advanced Scan Source: API Security</a:t>
            </a:r>
            <a:endParaRPr sz="737" b="0" i="0" u="none" strike="noStrike" cap="none">
              <a:solidFill>
                <a:srgbClr val="1F2937"/>
              </a:solidFill>
              <a:latin typeface="DM Sans"/>
              <a:ea typeface="DM Sans"/>
              <a:cs typeface="DM Sans"/>
              <a:sym typeface="DM Sans"/>
            </a:endParaRPr>
          </a:p>
        </p:txBody>
      </p:sp>
      <p:sp>
        <p:nvSpPr>
          <p:cNvPr id="879" name="Google Shape;879;p63"/>
          <p:cNvSpPr/>
          <p:nvPr/>
        </p:nvSpPr>
        <p:spPr>
          <a:xfrm>
            <a:off x="4880822" y="2416380"/>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DM Sans"/>
                <a:ea typeface="DM Sans"/>
                <a:cs typeface="DM Sans"/>
                <a:sym typeface="DM Sans"/>
              </a:rPr>
              <a:t>Advanced Scan Source: Runtime Sensor</a:t>
            </a:r>
            <a:endParaRPr sz="737" b="0" i="0" u="none" strike="noStrike" cap="none">
              <a:solidFill>
                <a:srgbClr val="1F2937"/>
              </a:solidFill>
              <a:latin typeface="DM Sans"/>
              <a:ea typeface="DM Sans"/>
              <a:cs typeface="DM Sans"/>
              <a:sym typeface="DM Sans"/>
            </a:endParaRPr>
          </a:p>
        </p:txBody>
      </p:sp>
      <p:sp>
        <p:nvSpPr>
          <p:cNvPr id="880" name="Google Shape;880;p63"/>
          <p:cNvSpPr/>
          <p:nvPr/>
        </p:nvSpPr>
        <p:spPr>
          <a:xfrm>
            <a:off x="4880822" y="2619341"/>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DM Sans"/>
                <a:ea typeface="DM Sans"/>
                <a:cs typeface="DM Sans"/>
                <a:sym typeface="DM Sans"/>
              </a:rPr>
              <a:t>Advanced Scan Source: SaaS</a:t>
            </a:r>
            <a:endParaRPr sz="737" b="0" i="0" u="none" strike="noStrike" cap="none">
              <a:solidFill>
                <a:srgbClr val="1F2937"/>
              </a:solidFill>
              <a:latin typeface="DM Sans"/>
              <a:ea typeface="DM Sans"/>
              <a:cs typeface="DM Sans"/>
              <a:sym typeface="DM Sans"/>
            </a:endParaRPr>
          </a:p>
        </p:txBody>
      </p:sp>
      <p:sp>
        <p:nvSpPr>
          <p:cNvPr id="881" name="Google Shape;881;p63"/>
          <p:cNvSpPr/>
          <p:nvPr/>
        </p:nvSpPr>
        <p:spPr>
          <a:xfrm>
            <a:off x="4880822" y="2822303"/>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DM Sans"/>
                <a:ea typeface="DM Sans"/>
                <a:cs typeface="DM Sans"/>
                <a:sym typeface="DM Sans"/>
              </a:rPr>
              <a:t>Rules: Misconfiguration Detection</a:t>
            </a:r>
            <a:endParaRPr sz="737" b="0" i="0" u="none" strike="noStrike" cap="none">
              <a:solidFill>
                <a:schemeClr val="dk1"/>
              </a:solidFill>
              <a:latin typeface="Calibri"/>
              <a:ea typeface="Calibri"/>
              <a:cs typeface="Calibri"/>
              <a:sym typeface="Calibri"/>
            </a:endParaRPr>
          </a:p>
        </p:txBody>
      </p:sp>
      <p:sp>
        <p:nvSpPr>
          <p:cNvPr id="882" name="Google Shape;882;p63"/>
          <p:cNvSpPr/>
          <p:nvPr/>
        </p:nvSpPr>
        <p:spPr>
          <a:xfrm>
            <a:off x="4881077" y="3025264"/>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DM Sans"/>
                <a:ea typeface="DM Sans"/>
                <a:cs typeface="DM Sans"/>
                <a:sym typeface="DM Sans"/>
              </a:rPr>
              <a:t>Rules: Default Credentials Detection</a:t>
            </a:r>
            <a:endParaRPr sz="737" b="0" i="0" u="none" strike="noStrike" cap="none">
              <a:solidFill>
                <a:srgbClr val="1F2937"/>
              </a:solidFill>
              <a:latin typeface="DM Sans"/>
              <a:ea typeface="DM Sans"/>
              <a:cs typeface="DM Sans"/>
              <a:sym typeface="DM Sans"/>
            </a:endParaRPr>
          </a:p>
        </p:txBody>
      </p:sp>
      <p:sp>
        <p:nvSpPr>
          <p:cNvPr id="883" name="Google Shape;883;p63"/>
          <p:cNvSpPr/>
          <p:nvPr/>
        </p:nvSpPr>
        <p:spPr>
          <a:xfrm>
            <a:off x="4881333" y="3228225"/>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DM Sans"/>
                <a:ea typeface="DM Sans"/>
                <a:cs typeface="DM Sans"/>
                <a:sym typeface="DM Sans"/>
              </a:rPr>
              <a:t>Rules: High-Profile Threat Detection</a:t>
            </a:r>
            <a:endParaRPr sz="737" b="0" i="0" u="none" strike="noStrike" cap="none">
              <a:solidFill>
                <a:srgbClr val="1F2937"/>
              </a:solidFill>
              <a:latin typeface="DM Sans"/>
              <a:ea typeface="DM Sans"/>
              <a:cs typeface="DM Sans"/>
              <a:sym typeface="DM Sans"/>
            </a:endParaRPr>
          </a:p>
        </p:txBody>
      </p:sp>
      <p:sp>
        <p:nvSpPr>
          <p:cNvPr id="884" name="Google Shape;884;p63"/>
          <p:cNvSpPr/>
          <p:nvPr/>
        </p:nvSpPr>
        <p:spPr>
          <a:xfrm>
            <a:off x="4875837" y="3431186"/>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DM Sans"/>
                <a:ea typeface="DM Sans"/>
                <a:cs typeface="DM Sans"/>
                <a:sym typeface="DM Sans"/>
              </a:rPr>
              <a:t>Rules: DAST</a:t>
            </a:r>
            <a:endParaRPr sz="737" b="0" i="0" u="none" strike="noStrike" cap="none">
              <a:solidFill>
                <a:srgbClr val="1F2937"/>
              </a:solidFill>
              <a:latin typeface="DM Sans"/>
              <a:ea typeface="DM Sans"/>
              <a:cs typeface="DM Sans"/>
              <a:sym typeface="DM Sans"/>
            </a:endParaRPr>
          </a:p>
        </p:txBody>
      </p:sp>
      <p:sp>
        <p:nvSpPr>
          <p:cNvPr id="885" name="Google Shape;885;p63"/>
          <p:cNvSpPr/>
          <p:nvPr/>
        </p:nvSpPr>
        <p:spPr>
          <a:xfrm>
            <a:off x="4870341" y="3634147"/>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DM Sans"/>
                <a:ea typeface="DM Sans"/>
                <a:cs typeface="DM Sans"/>
                <a:sym typeface="DM Sans"/>
              </a:rPr>
              <a:t>Rules: Vulnerability Exploitability</a:t>
            </a:r>
            <a:endParaRPr sz="737" b="0" i="0" u="none" strike="noStrike" cap="none">
              <a:solidFill>
                <a:srgbClr val="1F2937"/>
              </a:solidFill>
              <a:latin typeface="DM Sans"/>
              <a:ea typeface="DM Sans"/>
              <a:cs typeface="DM Sans"/>
              <a:sym typeface="DM Sans"/>
            </a:endParaRPr>
          </a:p>
        </p:txBody>
      </p:sp>
      <p:sp>
        <p:nvSpPr>
          <p:cNvPr id="886" name="Google Shape;886;p63"/>
          <p:cNvSpPr/>
          <p:nvPr/>
        </p:nvSpPr>
        <p:spPr>
          <a:xfrm>
            <a:off x="4864845" y="3837108"/>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DM Sans"/>
                <a:ea typeface="DM Sans"/>
                <a:cs typeface="DM Sans"/>
                <a:sym typeface="DM Sans"/>
              </a:rPr>
              <a:t>Rules: Early Access Rules</a:t>
            </a:r>
            <a:endParaRPr sz="737" b="0" i="0" u="none" strike="noStrike" cap="none">
              <a:solidFill>
                <a:srgbClr val="1F2937"/>
              </a:solidFill>
              <a:latin typeface="DM Sans"/>
              <a:ea typeface="DM Sans"/>
              <a:cs typeface="DM Sans"/>
              <a:sym typeface="DM Sans"/>
            </a:endParaRPr>
          </a:p>
        </p:txBody>
      </p:sp>
      <p:sp>
        <p:nvSpPr>
          <p:cNvPr id="887" name="Google Shape;887;p63"/>
          <p:cNvSpPr/>
          <p:nvPr/>
        </p:nvSpPr>
        <p:spPr>
          <a:xfrm>
            <a:off x="4857389" y="4040069"/>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DM Sans"/>
                <a:ea typeface="DM Sans"/>
                <a:cs typeface="DM Sans"/>
                <a:sym typeface="DM Sans"/>
              </a:rPr>
              <a:t>Risk: Vulnerability Assessment</a:t>
            </a:r>
            <a:endParaRPr sz="737" b="0" i="0" u="none" strike="noStrike" cap="none">
              <a:solidFill>
                <a:schemeClr val="dk1"/>
              </a:solidFill>
              <a:latin typeface="Calibri"/>
              <a:ea typeface="Calibri"/>
              <a:cs typeface="Calibri"/>
              <a:sym typeface="Calibri"/>
            </a:endParaRPr>
          </a:p>
        </p:txBody>
      </p:sp>
      <p:sp>
        <p:nvSpPr>
          <p:cNvPr id="888" name="Google Shape;888;p63"/>
          <p:cNvSpPr/>
          <p:nvPr/>
        </p:nvSpPr>
        <p:spPr>
          <a:xfrm>
            <a:off x="4855344" y="4243030"/>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DM Sans"/>
                <a:ea typeface="DM Sans"/>
                <a:cs typeface="DM Sans"/>
                <a:sym typeface="DM Sans"/>
              </a:rPr>
              <a:t>Risk: Sensitive Data Findings Detection</a:t>
            </a:r>
            <a:endParaRPr sz="737" b="0" i="0" u="none" strike="noStrike" cap="none">
              <a:solidFill>
                <a:srgbClr val="1F2937"/>
              </a:solidFill>
              <a:latin typeface="DM Sans"/>
              <a:ea typeface="DM Sans"/>
              <a:cs typeface="DM Sans"/>
              <a:sym typeface="DM Sans"/>
            </a:endParaRPr>
          </a:p>
        </p:txBody>
      </p:sp>
      <p:sp>
        <p:nvSpPr>
          <p:cNvPr id="889" name="Google Shape;889;p63"/>
          <p:cNvSpPr/>
          <p:nvPr/>
        </p:nvSpPr>
        <p:spPr>
          <a:xfrm>
            <a:off x="7769390" y="1840063"/>
            <a:ext cx="1031700" cy="140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461"/>
              <a:buFont typeface="JetBrains Mono"/>
              <a:buNone/>
            </a:pPr>
            <a:r>
              <a:rPr lang="en" sz="737" b="0" i="0" u="none" strike="noStrike" cap="none">
                <a:solidFill>
                  <a:srgbClr val="595959"/>
                </a:solidFill>
                <a:latin typeface="DM Sans"/>
                <a:ea typeface="DM Sans"/>
                <a:cs typeface="DM Sans"/>
                <a:sym typeface="DM Sans"/>
              </a:rPr>
              <a:t>{{ASM_RECON_R}}</a:t>
            </a:r>
            <a:endParaRPr sz="737" b="0" i="0" u="none" strike="noStrike" cap="none">
              <a:solidFill>
                <a:srgbClr val="595959"/>
              </a:solidFill>
              <a:latin typeface="DM Sans"/>
              <a:ea typeface="DM Sans"/>
              <a:cs typeface="DM Sans"/>
              <a:sym typeface="DM Sans"/>
            </a:endParaRPr>
          </a:p>
        </p:txBody>
      </p:sp>
      <p:sp>
        <p:nvSpPr>
          <p:cNvPr id="890" name="Google Shape;890;p63"/>
          <p:cNvSpPr/>
          <p:nvPr/>
        </p:nvSpPr>
        <p:spPr>
          <a:xfrm>
            <a:off x="7769390" y="2856085"/>
            <a:ext cx="1031700" cy="140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461"/>
              <a:buFont typeface="JetBrains Mono"/>
              <a:buNone/>
            </a:pPr>
            <a:r>
              <a:rPr lang="en" sz="737" b="0" i="0" u="none" strike="noStrike" cap="none">
                <a:solidFill>
                  <a:srgbClr val="595959"/>
                </a:solidFill>
                <a:latin typeface="DM Sans"/>
                <a:ea typeface="DM Sans"/>
                <a:cs typeface="DM Sans"/>
                <a:sym typeface="DM Sans"/>
              </a:rPr>
              <a:t>{{ASM_MISC_R}}</a:t>
            </a:r>
            <a:endParaRPr sz="737" b="0" i="0" u="none" strike="noStrike" cap="none">
              <a:solidFill>
                <a:srgbClr val="595959"/>
              </a:solidFill>
              <a:latin typeface="DM Sans"/>
              <a:ea typeface="DM Sans"/>
              <a:cs typeface="DM Sans"/>
              <a:sym typeface="DM Sans"/>
            </a:endParaRPr>
          </a:p>
        </p:txBody>
      </p:sp>
      <p:sp>
        <p:nvSpPr>
          <p:cNvPr id="891" name="Google Shape;891;p63"/>
          <p:cNvSpPr txBox="1"/>
          <p:nvPr/>
        </p:nvSpPr>
        <p:spPr>
          <a:xfrm>
            <a:off x="7769386" y="1433654"/>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DM Sans"/>
                <a:ea typeface="DM Sans"/>
                <a:cs typeface="DM Sans"/>
                <a:sym typeface="DM Sans"/>
              </a:rPr>
              <a:t>{{ASM_MODE_R}}</a:t>
            </a:r>
            <a:endParaRPr sz="737" b="0" i="0" u="none" strike="noStrike" cap="none">
              <a:solidFill>
                <a:srgbClr val="595959"/>
              </a:solidFill>
              <a:latin typeface="DM Sans"/>
              <a:ea typeface="DM Sans"/>
              <a:cs typeface="DM Sans"/>
              <a:sym typeface="DM Sans"/>
            </a:endParaRPr>
          </a:p>
        </p:txBody>
      </p:sp>
      <p:sp>
        <p:nvSpPr>
          <p:cNvPr id="892" name="Google Shape;892;p63"/>
          <p:cNvSpPr txBox="1"/>
          <p:nvPr/>
        </p:nvSpPr>
        <p:spPr>
          <a:xfrm>
            <a:off x="7769386" y="1636859"/>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DM Sans"/>
                <a:ea typeface="DM Sans"/>
                <a:cs typeface="DM Sans"/>
                <a:sym typeface="DM Sans"/>
              </a:rPr>
              <a:t>{{ASM_CUST_R}}</a:t>
            </a:r>
            <a:endParaRPr sz="737" b="0" i="0" u="none" strike="noStrike" cap="none">
              <a:solidFill>
                <a:srgbClr val="595959"/>
              </a:solidFill>
              <a:latin typeface="DM Sans"/>
              <a:ea typeface="DM Sans"/>
              <a:cs typeface="DM Sans"/>
              <a:sym typeface="DM Sans"/>
            </a:endParaRPr>
          </a:p>
        </p:txBody>
      </p:sp>
      <p:sp>
        <p:nvSpPr>
          <p:cNvPr id="893" name="Google Shape;893;p63"/>
          <p:cNvSpPr txBox="1"/>
          <p:nvPr/>
        </p:nvSpPr>
        <p:spPr>
          <a:xfrm>
            <a:off x="7769381" y="2043268"/>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DM Sans"/>
                <a:ea typeface="DM Sans"/>
                <a:cs typeface="DM Sans"/>
                <a:sym typeface="DM Sans"/>
              </a:rPr>
              <a:t>{{ASM_CODE_R}}</a:t>
            </a:r>
            <a:endParaRPr sz="737" b="0" i="0" u="none" strike="noStrike" cap="none">
              <a:solidFill>
                <a:srgbClr val="595959"/>
              </a:solidFill>
              <a:latin typeface="DM Sans"/>
              <a:ea typeface="DM Sans"/>
              <a:cs typeface="DM Sans"/>
              <a:sym typeface="DM Sans"/>
            </a:endParaRPr>
          </a:p>
        </p:txBody>
      </p:sp>
      <p:sp>
        <p:nvSpPr>
          <p:cNvPr id="894" name="Google Shape;894;p63"/>
          <p:cNvSpPr txBox="1"/>
          <p:nvPr/>
        </p:nvSpPr>
        <p:spPr>
          <a:xfrm>
            <a:off x="7769386" y="2246472"/>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DM Sans"/>
                <a:ea typeface="DM Sans"/>
                <a:cs typeface="DM Sans"/>
                <a:sym typeface="DM Sans"/>
              </a:rPr>
              <a:t>{{ASM_API_R}}</a:t>
            </a:r>
            <a:endParaRPr sz="737" b="0" i="0" u="none" strike="noStrike" cap="none">
              <a:solidFill>
                <a:srgbClr val="595959"/>
              </a:solidFill>
              <a:latin typeface="DM Sans"/>
              <a:ea typeface="DM Sans"/>
              <a:cs typeface="DM Sans"/>
              <a:sym typeface="DM Sans"/>
            </a:endParaRPr>
          </a:p>
        </p:txBody>
      </p:sp>
      <p:sp>
        <p:nvSpPr>
          <p:cNvPr id="895" name="Google Shape;895;p63"/>
          <p:cNvSpPr txBox="1"/>
          <p:nvPr/>
        </p:nvSpPr>
        <p:spPr>
          <a:xfrm>
            <a:off x="7769381" y="2449676"/>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DM Sans"/>
                <a:ea typeface="DM Sans"/>
                <a:cs typeface="DM Sans"/>
                <a:sym typeface="DM Sans"/>
              </a:rPr>
              <a:t>{{ASM_RS_R}}</a:t>
            </a:r>
            <a:endParaRPr sz="737" b="0" i="0" u="none" strike="noStrike" cap="none">
              <a:solidFill>
                <a:srgbClr val="595959"/>
              </a:solidFill>
              <a:latin typeface="DM Sans"/>
              <a:ea typeface="DM Sans"/>
              <a:cs typeface="DM Sans"/>
              <a:sym typeface="DM Sans"/>
            </a:endParaRPr>
          </a:p>
        </p:txBody>
      </p:sp>
      <p:sp>
        <p:nvSpPr>
          <p:cNvPr id="896" name="Google Shape;896;p63"/>
          <p:cNvSpPr txBox="1"/>
          <p:nvPr/>
        </p:nvSpPr>
        <p:spPr>
          <a:xfrm>
            <a:off x="7769386" y="2652881"/>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DM Sans"/>
                <a:ea typeface="DM Sans"/>
                <a:cs typeface="DM Sans"/>
                <a:sym typeface="DM Sans"/>
              </a:rPr>
              <a:t>{{ASM_SASS_R}}</a:t>
            </a:r>
            <a:endParaRPr sz="737" b="0" i="0" u="none" strike="noStrike" cap="none">
              <a:solidFill>
                <a:srgbClr val="595959"/>
              </a:solidFill>
              <a:latin typeface="DM Sans"/>
              <a:ea typeface="DM Sans"/>
              <a:cs typeface="DM Sans"/>
              <a:sym typeface="DM Sans"/>
            </a:endParaRPr>
          </a:p>
        </p:txBody>
      </p:sp>
      <p:sp>
        <p:nvSpPr>
          <p:cNvPr id="897" name="Google Shape;897;p63"/>
          <p:cNvSpPr txBox="1"/>
          <p:nvPr/>
        </p:nvSpPr>
        <p:spPr>
          <a:xfrm>
            <a:off x="7775393" y="3059290"/>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DM Sans"/>
                <a:ea typeface="DM Sans"/>
                <a:cs typeface="DM Sans"/>
                <a:sym typeface="DM Sans"/>
              </a:rPr>
              <a:t>{{ASM_CRED_R}}</a:t>
            </a:r>
            <a:endParaRPr sz="737" b="0" i="0" u="none" strike="noStrike" cap="none">
              <a:solidFill>
                <a:srgbClr val="595959"/>
              </a:solidFill>
              <a:latin typeface="DM Sans"/>
              <a:ea typeface="DM Sans"/>
              <a:cs typeface="DM Sans"/>
              <a:sym typeface="DM Sans"/>
            </a:endParaRPr>
          </a:p>
        </p:txBody>
      </p:sp>
      <p:sp>
        <p:nvSpPr>
          <p:cNvPr id="898" name="Google Shape;898;p63"/>
          <p:cNvSpPr txBox="1"/>
          <p:nvPr/>
        </p:nvSpPr>
        <p:spPr>
          <a:xfrm>
            <a:off x="7781400" y="3262494"/>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DM Sans"/>
                <a:ea typeface="DM Sans"/>
                <a:cs typeface="DM Sans"/>
                <a:sym typeface="DM Sans"/>
              </a:rPr>
              <a:t>{{ASM_HPT_R}}</a:t>
            </a:r>
            <a:endParaRPr sz="737" b="0" i="0" u="none" strike="noStrike" cap="none">
              <a:solidFill>
                <a:srgbClr val="595959"/>
              </a:solidFill>
              <a:latin typeface="DM Sans"/>
              <a:ea typeface="DM Sans"/>
              <a:cs typeface="DM Sans"/>
              <a:sym typeface="DM Sans"/>
            </a:endParaRPr>
          </a:p>
        </p:txBody>
      </p:sp>
      <p:sp>
        <p:nvSpPr>
          <p:cNvPr id="899" name="Google Shape;899;p63"/>
          <p:cNvSpPr txBox="1"/>
          <p:nvPr/>
        </p:nvSpPr>
        <p:spPr>
          <a:xfrm>
            <a:off x="7775904" y="3465698"/>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DM Sans"/>
                <a:ea typeface="DM Sans"/>
                <a:cs typeface="DM Sans"/>
                <a:sym typeface="DM Sans"/>
              </a:rPr>
              <a:t>{{ASM_DAST_R}}</a:t>
            </a:r>
            <a:endParaRPr sz="737" b="0" i="0" u="none" strike="noStrike" cap="none">
              <a:solidFill>
                <a:srgbClr val="595959"/>
              </a:solidFill>
              <a:latin typeface="DM Sans"/>
              <a:ea typeface="DM Sans"/>
              <a:cs typeface="DM Sans"/>
              <a:sym typeface="DM Sans"/>
            </a:endParaRPr>
          </a:p>
        </p:txBody>
      </p:sp>
      <p:sp>
        <p:nvSpPr>
          <p:cNvPr id="900" name="Google Shape;900;p63"/>
          <p:cNvSpPr txBox="1"/>
          <p:nvPr/>
        </p:nvSpPr>
        <p:spPr>
          <a:xfrm>
            <a:off x="7770409" y="3668903"/>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DM Sans"/>
                <a:ea typeface="DM Sans"/>
                <a:cs typeface="DM Sans"/>
                <a:sym typeface="DM Sans"/>
              </a:rPr>
              <a:t>{{ASM_VEXP_R}}</a:t>
            </a:r>
            <a:endParaRPr sz="737" b="0" i="0" u="none" strike="noStrike" cap="none">
              <a:solidFill>
                <a:srgbClr val="595959"/>
              </a:solidFill>
              <a:latin typeface="DM Sans"/>
              <a:ea typeface="DM Sans"/>
              <a:cs typeface="DM Sans"/>
              <a:sym typeface="DM Sans"/>
            </a:endParaRPr>
          </a:p>
        </p:txBody>
      </p:sp>
      <p:sp>
        <p:nvSpPr>
          <p:cNvPr id="901" name="Google Shape;901;p63"/>
          <p:cNvSpPr txBox="1"/>
          <p:nvPr/>
        </p:nvSpPr>
        <p:spPr>
          <a:xfrm>
            <a:off x="7764913" y="3872107"/>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DM Sans"/>
                <a:ea typeface="DM Sans"/>
                <a:cs typeface="DM Sans"/>
                <a:sym typeface="DM Sans"/>
              </a:rPr>
              <a:t>{{ASM_EAR_R}}</a:t>
            </a:r>
            <a:endParaRPr sz="737" b="0" i="0" u="none" strike="noStrike" cap="none">
              <a:solidFill>
                <a:srgbClr val="595959"/>
              </a:solidFill>
              <a:latin typeface="DM Sans"/>
              <a:ea typeface="DM Sans"/>
              <a:cs typeface="DM Sans"/>
              <a:sym typeface="DM Sans"/>
            </a:endParaRPr>
          </a:p>
        </p:txBody>
      </p:sp>
      <p:sp>
        <p:nvSpPr>
          <p:cNvPr id="902" name="Google Shape;902;p63"/>
          <p:cNvSpPr txBox="1"/>
          <p:nvPr/>
        </p:nvSpPr>
        <p:spPr>
          <a:xfrm>
            <a:off x="7757456" y="4075312"/>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DM Sans"/>
                <a:ea typeface="DM Sans"/>
                <a:cs typeface="DM Sans"/>
                <a:sym typeface="DM Sans"/>
              </a:rPr>
              <a:t>{{ASM_VULN_R}}</a:t>
            </a:r>
            <a:endParaRPr sz="737" b="0" i="0" u="none" strike="noStrike" cap="none">
              <a:solidFill>
                <a:srgbClr val="595959"/>
              </a:solidFill>
              <a:latin typeface="DM Sans"/>
              <a:ea typeface="DM Sans"/>
              <a:cs typeface="DM Sans"/>
              <a:sym typeface="DM Sans"/>
            </a:endParaRPr>
          </a:p>
        </p:txBody>
      </p:sp>
      <p:sp>
        <p:nvSpPr>
          <p:cNvPr id="903" name="Google Shape;903;p63"/>
          <p:cNvSpPr txBox="1"/>
          <p:nvPr/>
        </p:nvSpPr>
        <p:spPr>
          <a:xfrm>
            <a:off x="7755412" y="4278516"/>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DM Sans"/>
                <a:ea typeface="DM Sans"/>
                <a:cs typeface="DM Sans"/>
                <a:sym typeface="DM Sans"/>
              </a:rPr>
              <a:t>{{ASM_DATA_R}}</a:t>
            </a:r>
            <a:endParaRPr sz="737" b="0" i="0" u="none" strike="noStrike" cap="none">
              <a:solidFill>
                <a:srgbClr val="595959"/>
              </a:solidFill>
              <a:latin typeface="DM Sans"/>
              <a:ea typeface="DM Sans"/>
              <a:cs typeface="DM Sans"/>
              <a:sym typeface="DM Sans"/>
            </a:endParaRPr>
          </a:p>
        </p:txBody>
      </p:sp>
      <p:sp>
        <p:nvSpPr>
          <p:cNvPr id="904" name="Google Shape;904;p63"/>
          <p:cNvSpPr/>
          <p:nvPr/>
        </p:nvSpPr>
        <p:spPr>
          <a:xfrm>
            <a:off x="6921549" y="1401575"/>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JetBrains Mono"/>
              <a:buNone/>
            </a:pPr>
            <a:r>
              <a:rPr lang="en" sz="645" b="0" i="0" u="none" strike="noStrike" cap="none">
                <a:solidFill>
                  <a:srgbClr val="1A56DB"/>
                </a:solidFill>
                <a:latin typeface="JetBrains Mono"/>
                <a:ea typeface="JetBrains Mono"/>
                <a:cs typeface="JetBrains Mono"/>
                <a:sym typeface="JetBrains Mono"/>
              </a:rPr>
              <a:t>{{ASM_MODE}}</a:t>
            </a:r>
            <a:endParaRPr sz="645" b="0" i="0" u="none" strike="noStrike" cap="none">
              <a:solidFill>
                <a:schemeClr val="dk1"/>
              </a:solidFill>
              <a:latin typeface="Calibri"/>
              <a:ea typeface="Calibri"/>
              <a:cs typeface="Calibri"/>
              <a:sym typeface="Calibri"/>
            </a:endParaRPr>
          </a:p>
        </p:txBody>
      </p:sp>
      <p:sp>
        <p:nvSpPr>
          <p:cNvPr id="905" name="Google Shape;905;p63"/>
          <p:cNvSpPr/>
          <p:nvPr/>
        </p:nvSpPr>
        <p:spPr>
          <a:xfrm>
            <a:off x="6921549" y="1604521"/>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JetBrains Mono"/>
              <a:buNone/>
            </a:pPr>
            <a:r>
              <a:rPr lang="en" sz="645" b="0" i="0" u="none" strike="noStrike" cap="none">
                <a:solidFill>
                  <a:srgbClr val="1A56DB"/>
                </a:solidFill>
                <a:latin typeface="JetBrains Mono"/>
                <a:ea typeface="JetBrains Mono"/>
                <a:cs typeface="JetBrains Mono"/>
                <a:sym typeface="JetBrains Mono"/>
              </a:rPr>
              <a:t>{{ASM_CUST}}</a:t>
            </a:r>
            <a:endParaRPr sz="645" b="0" i="0" u="none" strike="noStrike" cap="none">
              <a:solidFill>
                <a:schemeClr val="dk1"/>
              </a:solidFill>
              <a:latin typeface="Calibri"/>
              <a:ea typeface="Calibri"/>
              <a:cs typeface="Calibri"/>
              <a:sym typeface="Calibri"/>
            </a:endParaRPr>
          </a:p>
        </p:txBody>
      </p:sp>
      <p:sp>
        <p:nvSpPr>
          <p:cNvPr id="906" name="Google Shape;906;p63"/>
          <p:cNvSpPr/>
          <p:nvPr/>
        </p:nvSpPr>
        <p:spPr>
          <a:xfrm>
            <a:off x="6921549" y="1807466"/>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JetBrains Mono"/>
              <a:buNone/>
            </a:pPr>
            <a:r>
              <a:rPr lang="en" sz="645" b="0" i="0" u="none" strike="noStrike" cap="none">
                <a:solidFill>
                  <a:srgbClr val="1A56DB"/>
                </a:solidFill>
                <a:latin typeface="JetBrains Mono"/>
                <a:ea typeface="JetBrains Mono"/>
                <a:cs typeface="JetBrains Mono"/>
                <a:sym typeface="JetBrains Mono"/>
              </a:rPr>
              <a:t>{{ASM_RECON}}</a:t>
            </a:r>
            <a:endParaRPr sz="645" b="0" i="0" u="none" strike="noStrike" cap="none">
              <a:solidFill>
                <a:schemeClr val="dk1"/>
              </a:solidFill>
              <a:latin typeface="Calibri"/>
              <a:ea typeface="Calibri"/>
              <a:cs typeface="Calibri"/>
              <a:sym typeface="Calibri"/>
            </a:endParaRPr>
          </a:p>
        </p:txBody>
      </p:sp>
      <p:sp>
        <p:nvSpPr>
          <p:cNvPr id="907" name="Google Shape;907;p63"/>
          <p:cNvSpPr/>
          <p:nvPr/>
        </p:nvSpPr>
        <p:spPr>
          <a:xfrm>
            <a:off x="6921549" y="2010412"/>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JetBrains Mono"/>
              <a:buNone/>
            </a:pPr>
            <a:r>
              <a:rPr lang="en" sz="645" b="0" i="0" u="none" strike="noStrike" cap="none">
                <a:solidFill>
                  <a:srgbClr val="1A56DB"/>
                </a:solidFill>
                <a:latin typeface="JetBrains Mono"/>
                <a:ea typeface="JetBrains Mono"/>
                <a:cs typeface="JetBrains Mono"/>
                <a:sym typeface="JetBrains Mono"/>
              </a:rPr>
              <a:t>{{ASM_CODE}}</a:t>
            </a:r>
            <a:endParaRPr sz="645" b="0" i="0" u="none" strike="noStrike" cap="none">
              <a:solidFill>
                <a:schemeClr val="dk1"/>
              </a:solidFill>
              <a:latin typeface="Calibri"/>
              <a:ea typeface="Calibri"/>
              <a:cs typeface="Calibri"/>
              <a:sym typeface="Calibri"/>
            </a:endParaRPr>
          </a:p>
        </p:txBody>
      </p:sp>
      <p:sp>
        <p:nvSpPr>
          <p:cNvPr id="908" name="Google Shape;908;p63"/>
          <p:cNvSpPr/>
          <p:nvPr/>
        </p:nvSpPr>
        <p:spPr>
          <a:xfrm>
            <a:off x="6921549" y="2213357"/>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JetBrains Mono"/>
              <a:buNone/>
            </a:pPr>
            <a:r>
              <a:rPr lang="en" sz="645" b="0" i="0" u="none" strike="noStrike" cap="none">
                <a:solidFill>
                  <a:srgbClr val="1A56DB"/>
                </a:solidFill>
                <a:latin typeface="JetBrains Mono"/>
                <a:ea typeface="JetBrains Mono"/>
                <a:cs typeface="JetBrains Mono"/>
                <a:sym typeface="JetBrains Mono"/>
              </a:rPr>
              <a:t>{{ASM_API}}</a:t>
            </a:r>
            <a:endParaRPr sz="645" b="0" i="0" u="none" strike="noStrike" cap="none">
              <a:solidFill>
                <a:schemeClr val="dk1"/>
              </a:solidFill>
              <a:latin typeface="Calibri"/>
              <a:ea typeface="Calibri"/>
              <a:cs typeface="Calibri"/>
              <a:sym typeface="Calibri"/>
            </a:endParaRPr>
          </a:p>
        </p:txBody>
      </p:sp>
      <p:sp>
        <p:nvSpPr>
          <p:cNvPr id="909" name="Google Shape;909;p63"/>
          <p:cNvSpPr/>
          <p:nvPr/>
        </p:nvSpPr>
        <p:spPr>
          <a:xfrm>
            <a:off x="6921549" y="2416303"/>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JetBrains Mono"/>
              <a:buNone/>
            </a:pPr>
            <a:r>
              <a:rPr lang="en" sz="645" b="0" i="0" u="none" strike="noStrike" cap="none">
                <a:solidFill>
                  <a:srgbClr val="1A56DB"/>
                </a:solidFill>
                <a:latin typeface="JetBrains Mono"/>
                <a:ea typeface="JetBrains Mono"/>
                <a:cs typeface="JetBrains Mono"/>
                <a:sym typeface="JetBrains Mono"/>
              </a:rPr>
              <a:t>{{ASM_RS}}</a:t>
            </a:r>
            <a:endParaRPr sz="645" b="0" i="0" u="none" strike="noStrike" cap="none">
              <a:solidFill>
                <a:schemeClr val="dk1"/>
              </a:solidFill>
              <a:latin typeface="Calibri"/>
              <a:ea typeface="Calibri"/>
              <a:cs typeface="Calibri"/>
              <a:sym typeface="Calibri"/>
            </a:endParaRPr>
          </a:p>
        </p:txBody>
      </p:sp>
      <p:sp>
        <p:nvSpPr>
          <p:cNvPr id="910" name="Google Shape;910;p63"/>
          <p:cNvSpPr/>
          <p:nvPr/>
        </p:nvSpPr>
        <p:spPr>
          <a:xfrm>
            <a:off x="6921549" y="2619248"/>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JetBrains Mono"/>
              <a:buNone/>
            </a:pPr>
            <a:r>
              <a:rPr lang="en" sz="645" b="0" i="0" u="none" strike="noStrike" cap="none">
                <a:solidFill>
                  <a:srgbClr val="1A56DB"/>
                </a:solidFill>
                <a:latin typeface="JetBrains Mono"/>
                <a:ea typeface="JetBrains Mono"/>
                <a:cs typeface="JetBrains Mono"/>
                <a:sym typeface="JetBrains Mono"/>
              </a:rPr>
              <a:t>{{ASM_SAAS}}</a:t>
            </a:r>
            <a:endParaRPr sz="645" b="0" i="0" u="none" strike="noStrike" cap="none">
              <a:solidFill>
                <a:schemeClr val="dk1"/>
              </a:solidFill>
              <a:latin typeface="Calibri"/>
              <a:ea typeface="Calibri"/>
              <a:cs typeface="Calibri"/>
              <a:sym typeface="Calibri"/>
            </a:endParaRPr>
          </a:p>
        </p:txBody>
      </p:sp>
      <p:sp>
        <p:nvSpPr>
          <p:cNvPr id="911" name="Google Shape;911;p63"/>
          <p:cNvSpPr/>
          <p:nvPr/>
        </p:nvSpPr>
        <p:spPr>
          <a:xfrm>
            <a:off x="6921549" y="2822194"/>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JetBrains Mono"/>
              <a:buNone/>
            </a:pPr>
            <a:r>
              <a:rPr lang="en" sz="645" b="0" i="0" u="none" strike="noStrike" cap="none">
                <a:solidFill>
                  <a:srgbClr val="1A56DB"/>
                </a:solidFill>
                <a:latin typeface="JetBrains Mono"/>
                <a:ea typeface="JetBrains Mono"/>
                <a:cs typeface="JetBrains Mono"/>
                <a:sym typeface="JetBrains Mono"/>
              </a:rPr>
              <a:t>{{ASM_MISC}}</a:t>
            </a:r>
            <a:endParaRPr sz="645" b="0" i="0" u="none" strike="noStrike" cap="none">
              <a:solidFill>
                <a:schemeClr val="dk1"/>
              </a:solidFill>
              <a:latin typeface="Calibri"/>
              <a:ea typeface="Calibri"/>
              <a:cs typeface="Calibri"/>
              <a:sym typeface="Calibri"/>
            </a:endParaRPr>
          </a:p>
        </p:txBody>
      </p:sp>
      <p:sp>
        <p:nvSpPr>
          <p:cNvPr id="912" name="Google Shape;912;p63"/>
          <p:cNvSpPr/>
          <p:nvPr/>
        </p:nvSpPr>
        <p:spPr>
          <a:xfrm>
            <a:off x="6921216" y="3025139"/>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JetBrains Mono"/>
              <a:buNone/>
            </a:pPr>
            <a:r>
              <a:rPr lang="en" sz="645" b="0" i="0" u="none" strike="noStrike" cap="none">
                <a:solidFill>
                  <a:srgbClr val="1A56DB"/>
                </a:solidFill>
                <a:latin typeface="JetBrains Mono"/>
                <a:ea typeface="JetBrains Mono"/>
                <a:cs typeface="JetBrains Mono"/>
                <a:sym typeface="JetBrains Mono"/>
              </a:rPr>
              <a:t>{{ASM_CRED}}</a:t>
            </a:r>
            <a:endParaRPr sz="645" b="0" i="0" u="none" strike="noStrike" cap="none">
              <a:solidFill>
                <a:schemeClr val="dk1"/>
              </a:solidFill>
              <a:latin typeface="Calibri"/>
              <a:ea typeface="Calibri"/>
              <a:cs typeface="Calibri"/>
              <a:sym typeface="Calibri"/>
            </a:endParaRPr>
          </a:p>
        </p:txBody>
      </p:sp>
      <p:sp>
        <p:nvSpPr>
          <p:cNvPr id="913" name="Google Shape;913;p63"/>
          <p:cNvSpPr/>
          <p:nvPr/>
        </p:nvSpPr>
        <p:spPr>
          <a:xfrm>
            <a:off x="6927625" y="3228085"/>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JetBrains Mono"/>
              <a:buNone/>
            </a:pPr>
            <a:r>
              <a:rPr lang="en" sz="645" b="0" i="0" u="none" strike="noStrike" cap="none">
                <a:solidFill>
                  <a:srgbClr val="1A56DB"/>
                </a:solidFill>
                <a:latin typeface="JetBrains Mono"/>
                <a:ea typeface="JetBrains Mono"/>
                <a:cs typeface="JetBrains Mono"/>
                <a:sym typeface="JetBrains Mono"/>
              </a:rPr>
              <a:t>{{ASM_HPT}}</a:t>
            </a:r>
            <a:endParaRPr sz="645" b="0" i="0" u="none" strike="noStrike" cap="none">
              <a:solidFill>
                <a:schemeClr val="dk1"/>
              </a:solidFill>
              <a:latin typeface="Calibri"/>
              <a:ea typeface="Calibri"/>
              <a:cs typeface="Calibri"/>
              <a:sym typeface="Calibri"/>
            </a:endParaRPr>
          </a:p>
        </p:txBody>
      </p:sp>
      <p:sp>
        <p:nvSpPr>
          <p:cNvPr id="914" name="Google Shape;914;p63"/>
          <p:cNvSpPr/>
          <p:nvPr/>
        </p:nvSpPr>
        <p:spPr>
          <a:xfrm>
            <a:off x="6922129" y="3431030"/>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JetBrains Mono"/>
              <a:buNone/>
            </a:pPr>
            <a:r>
              <a:rPr lang="en" sz="645" b="0" i="0" u="none" strike="noStrike" cap="none">
                <a:solidFill>
                  <a:srgbClr val="1A56DB"/>
                </a:solidFill>
                <a:latin typeface="JetBrains Mono"/>
                <a:ea typeface="JetBrains Mono"/>
                <a:cs typeface="JetBrains Mono"/>
                <a:sym typeface="JetBrains Mono"/>
              </a:rPr>
              <a:t>{{ASM_DAST}}</a:t>
            </a:r>
            <a:endParaRPr sz="645" b="0" i="0" u="none" strike="noStrike" cap="none">
              <a:solidFill>
                <a:schemeClr val="dk1"/>
              </a:solidFill>
              <a:latin typeface="Calibri"/>
              <a:ea typeface="Calibri"/>
              <a:cs typeface="Calibri"/>
              <a:sym typeface="Calibri"/>
            </a:endParaRPr>
          </a:p>
        </p:txBody>
      </p:sp>
      <p:sp>
        <p:nvSpPr>
          <p:cNvPr id="915" name="Google Shape;915;p63"/>
          <p:cNvSpPr/>
          <p:nvPr/>
        </p:nvSpPr>
        <p:spPr>
          <a:xfrm>
            <a:off x="6916633" y="3633976"/>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JetBrains Mono"/>
              <a:buNone/>
            </a:pPr>
            <a:r>
              <a:rPr lang="en" sz="645" b="0" i="0" u="none" strike="noStrike" cap="none">
                <a:solidFill>
                  <a:srgbClr val="1A56DB"/>
                </a:solidFill>
                <a:latin typeface="JetBrains Mono"/>
                <a:ea typeface="JetBrains Mono"/>
                <a:cs typeface="JetBrains Mono"/>
                <a:sym typeface="JetBrains Mono"/>
              </a:rPr>
              <a:t>{{ASM_VEXP}}</a:t>
            </a:r>
            <a:endParaRPr sz="645" b="0" i="0" u="none" strike="noStrike" cap="none">
              <a:solidFill>
                <a:schemeClr val="dk1"/>
              </a:solidFill>
              <a:latin typeface="Calibri"/>
              <a:ea typeface="Calibri"/>
              <a:cs typeface="Calibri"/>
              <a:sym typeface="Calibri"/>
            </a:endParaRPr>
          </a:p>
        </p:txBody>
      </p:sp>
      <p:sp>
        <p:nvSpPr>
          <p:cNvPr id="916" name="Google Shape;916;p63"/>
          <p:cNvSpPr/>
          <p:nvPr/>
        </p:nvSpPr>
        <p:spPr>
          <a:xfrm>
            <a:off x="6911137" y="3836921"/>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JetBrains Mono"/>
              <a:buNone/>
            </a:pPr>
            <a:r>
              <a:rPr lang="en" sz="645" b="0" i="0" u="none" strike="noStrike" cap="none">
                <a:solidFill>
                  <a:srgbClr val="1A56DB"/>
                </a:solidFill>
                <a:latin typeface="JetBrains Mono"/>
                <a:ea typeface="JetBrains Mono"/>
                <a:cs typeface="JetBrains Mono"/>
                <a:sym typeface="JetBrains Mono"/>
              </a:rPr>
              <a:t>{{ASM_EAR}}</a:t>
            </a:r>
            <a:endParaRPr sz="645" b="0" i="0" u="none" strike="noStrike" cap="none">
              <a:solidFill>
                <a:schemeClr val="dk1"/>
              </a:solidFill>
              <a:latin typeface="Calibri"/>
              <a:ea typeface="Calibri"/>
              <a:cs typeface="Calibri"/>
              <a:sym typeface="Calibri"/>
            </a:endParaRPr>
          </a:p>
        </p:txBody>
      </p:sp>
      <p:sp>
        <p:nvSpPr>
          <p:cNvPr id="917" name="Google Shape;917;p63"/>
          <p:cNvSpPr/>
          <p:nvPr/>
        </p:nvSpPr>
        <p:spPr>
          <a:xfrm>
            <a:off x="6903681" y="4039867"/>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JetBrains Mono"/>
              <a:buNone/>
            </a:pPr>
            <a:r>
              <a:rPr lang="en" sz="645" b="0" i="0" u="none" strike="noStrike" cap="none">
                <a:solidFill>
                  <a:srgbClr val="1A56DB"/>
                </a:solidFill>
                <a:latin typeface="JetBrains Mono"/>
                <a:ea typeface="JetBrains Mono"/>
                <a:cs typeface="JetBrains Mono"/>
                <a:sym typeface="JetBrains Mono"/>
              </a:rPr>
              <a:t>{{ASM_VULN}}</a:t>
            </a:r>
            <a:endParaRPr sz="645" b="0" i="0" u="none" strike="noStrike" cap="none">
              <a:solidFill>
                <a:schemeClr val="dk1"/>
              </a:solidFill>
              <a:latin typeface="Calibri"/>
              <a:ea typeface="Calibri"/>
              <a:cs typeface="Calibri"/>
              <a:sym typeface="Calibri"/>
            </a:endParaRPr>
          </a:p>
        </p:txBody>
      </p:sp>
      <p:sp>
        <p:nvSpPr>
          <p:cNvPr id="918" name="Google Shape;918;p63"/>
          <p:cNvSpPr/>
          <p:nvPr/>
        </p:nvSpPr>
        <p:spPr>
          <a:xfrm>
            <a:off x="6901636" y="4242812"/>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JetBrains Mono"/>
              <a:buNone/>
            </a:pPr>
            <a:r>
              <a:rPr lang="en" sz="645" b="0" i="0" u="none" strike="noStrike" cap="none">
                <a:solidFill>
                  <a:srgbClr val="1A56DB"/>
                </a:solidFill>
                <a:latin typeface="JetBrains Mono"/>
                <a:ea typeface="JetBrains Mono"/>
                <a:cs typeface="JetBrains Mono"/>
                <a:sym typeface="JetBrains Mono"/>
              </a:rPr>
              <a:t>{{ASM_DATA}}</a:t>
            </a:r>
            <a:endParaRPr sz="645" b="0" i="0" u="none" strike="noStrike" cap="none">
              <a:solidFill>
                <a:schemeClr val="dk1"/>
              </a:solidFill>
              <a:latin typeface="Calibri"/>
              <a:ea typeface="Calibri"/>
              <a:cs typeface="Calibri"/>
              <a:sym typeface="Calibri"/>
            </a:endParaRPr>
          </a:p>
        </p:txBody>
      </p:sp>
      <p:sp>
        <p:nvSpPr>
          <p:cNvPr id="919" name="Google Shape;919;p63"/>
          <p:cNvSpPr/>
          <p:nvPr/>
        </p:nvSpPr>
        <p:spPr>
          <a:xfrm>
            <a:off x="0" y="0"/>
            <a:ext cx="9144000" cy="54900"/>
          </a:xfrm>
          <a:prstGeom prst="rect">
            <a:avLst/>
          </a:prstGeom>
          <a:solidFill>
            <a:srgbClr val="1A56D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0" name="Google Shape;920;p63"/>
          <p:cNvSpPr/>
          <p:nvPr/>
        </p:nvSpPr>
        <p:spPr>
          <a:xfrm>
            <a:off x="457200" y="164592"/>
            <a:ext cx="6400800" cy="365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1600"/>
              <a:buFont typeface="DM Sans"/>
              <a:buNone/>
            </a:pPr>
            <a:r>
              <a:rPr lang="en" sz="2000" b="0" i="0" u="none" strike="noStrike" cap="none">
                <a:solidFill>
                  <a:schemeClr val="dk2"/>
                </a:solidFill>
                <a:latin typeface="DM Sans"/>
                <a:ea typeface="DM Sans"/>
                <a:cs typeface="DM Sans"/>
                <a:sym typeface="DM Sans"/>
              </a:rPr>
              <a:t>Scanner Configuration — Workload &amp; Attack Surface</a:t>
            </a:r>
            <a:endParaRPr sz="2000" b="0" i="0" u="none" strike="noStrike" cap="none">
              <a:solidFill>
                <a:schemeClr val="dk2"/>
              </a:solidFill>
              <a:latin typeface="DM Sans"/>
              <a:ea typeface="DM Sans"/>
              <a:cs typeface="DM Sans"/>
              <a:sym typeface="DM Sans"/>
            </a:endParaRPr>
          </a:p>
        </p:txBody>
      </p:sp>
      <p:sp>
        <p:nvSpPr>
          <p:cNvPr id="921" name="Google Shape;921;p63"/>
          <p:cNvSpPr/>
          <p:nvPr/>
        </p:nvSpPr>
        <p:spPr>
          <a:xfrm>
            <a:off x="457200" y="548640"/>
            <a:ext cx="73152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900"/>
              <a:buFont typeface="DM Sans"/>
              <a:buNone/>
            </a:pPr>
            <a:r>
              <a:rPr lang="en" sz="1100" b="0" i="0" u="none" strike="noStrike" cap="none">
                <a:solidFill>
                  <a:srgbClr val="595959"/>
                </a:solidFill>
                <a:latin typeface="DM Sans"/>
                <a:ea typeface="DM Sans"/>
                <a:cs typeface="DM Sans"/>
                <a:sym typeface="DM Sans"/>
              </a:rPr>
              <a:t>Current workload scanner and attack surface management configuration settings.</a:t>
            </a:r>
            <a:endParaRPr sz="1100" b="0" i="0" u="none" strike="noStrike" cap="none">
              <a:solidFill>
                <a:srgbClr val="595959"/>
              </a:solidFill>
              <a:latin typeface="DM Sans"/>
              <a:ea typeface="DM Sans"/>
              <a:cs typeface="DM Sans"/>
              <a:sym typeface="DM Sans"/>
            </a:endParaRPr>
          </a:p>
        </p:txBody>
      </p:sp>
      <p:sp>
        <p:nvSpPr>
          <p:cNvPr id="922" name="Google Shape;922;p63"/>
          <p:cNvSpPr/>
          <p:nvPr/>
        </p:nvSpPr>
        <p:spPr>
          <a:xfrm>
            <a:off x="365760" y="868680"/>
            <a:ext cx="3977700" cy="274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3" name="Google Shape;923;p63"/>
          <p:cNvSpPr/>
          <p:nvPr/>
        </p:nvSpPr>
        <p:spPr>
          <a:xfrm>
            <a:off x="365760" y="868680"/>
            <a:ext cx="36600" cy="274200"/>
          </a:xfrm>
          <a:prstGeom prst="rect">
            <a:avLst/>
          </a:prstGeom>
          <a:solidFill>
            <a:srgbClr val="1A56D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4" name="Google Shape;924;p63"/>
          <p:cNvSpPr/>
          <p:nvPr/>
        </p:nvSpPr>
        <p:spPr>
          <a:xfrm>
            <a:off x="502920" y="858268"/>
            <a:ext cx="37947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1000"/>
              <a:buFont typeface="DM Sans"/>
              <a:buNone/>
            </a:pPr>
            <a:r>
              <a:rPr lang="en" sz="1100" b="1" i="0" u="sng" strike="noStrike" cap="none">
                <a:solidFill>
                  <a:schemeClr val="hlink"/>
                </a:solidFill>
                <a:latin typeface="DM Sans"/>
                <a:ea typeface="DM Sans"/>
                <a:cs typeface="DM Sans"/>
                <a:sym typeface="DM Sans"/>
                <a:hlinkClick r:id="rId5"/>
              </a:rPr>
              <a:t>WORKLOAD SCANNER</a:t>
            </a:r>
            <a:r>
              <a:rPr lang="en" sz="1100" b="0" i="0" u="none" strike="noStrike" cap="none">
                <a:solidFill>
                  <a:schemeClr val="dk1"/>
                </a:solidFill>
                <a:latin typeface="Calibri"/>
                <a:ea typeface="Calibri"/>
                <a:cs typeface="Calibri"/>
                <a:sym typeface="Calibri"/>
              </a:rPr>
              <a:t> </a:t>
            </a:r>
            <a:r>
              <a:rPr lang="en" sz="1300" b="0" i="0" u="none" strike="noStrike" cap="none">
                <a:solidFill>
                  <a:schemeClr val="hlink"/>
                </a:solidFill>
                <a:uFill>
                  <a:noFill/>
                </a:uFill>
                <a:latin typeface="Poppins"/>
                <a:ea typeface="Poppins"/>
                <a:cs typeface="Poppins"/>
                <a:sym typeface="Poppins"/>
                <a:hlinkClick r:id="rId6"/>
              </a:rPr>
              <a:t>↗</a:t>
            </a:r>
            <a:endParaRPr sz="900" b="0" i="0" u="none" strike="noStrike" cap="none">
              <a:solidFill>
                <a:srgbClr val="0254EC"/>
              </a:solidFill>
              <a:latin typeface="Calibri"/>
              <a:ea typeface="Calibri"/>
              <a:cs typeface="Calibri"/>
              <a:sym typeface="Calibri"/>
            </a:endParaRPr>
          </a:p>
        </p:txBody>
      </p:sp>
      <p:sp>
        <p:nvSpPr>
          <p:cNvPr id="925" name="Google Shape;925;p63"/>
          <p:cNvSpPr/>
          <p:nvPr/>
        </p:nvSpPr>
        <p:spPr>
          <a:xfrm>
            <a:off x="365760" y="1212609"/>
            <a:ext cx="3977700" cy="201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6" name="Google Shape;926;p63"/>
          <p:cNvSpPr/>
          <p:nvPr/>
        </p:nvSpPr>
        <p:spPr>
          <a:xfrm>
            <a:off x="457200" y="1212609"/>
            <a:ext cx="19887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Setting</a:t>
            </a:r>
            <a:endParaRPr sz="1000" b="0" i="0" u="none" strike="noStrike" cap="none">
              <a:solidFill>
                <a:schemeClr val="dk1"/>
              </a:solidFill>
              <a:latin typeface="Calibri"/>
              <a:ea typeface="Calibri"/>
              <a:cs typeface="Calibri"/>
              <a:sym typeface="Calibri"/>
            </a:endParaRPr>
          </a:p>
        </p:txBody>
      </p:sp>
      <p:sp>
        <p:nvSpPr>
          <p:cNvPr id="927" name="Google Shape;927;p63"/>
          <p:cNvSpPr/>
          <p:nvPr/>
        </p:nvSpPr>
        <p:spPr>
          <a:xfrm>
            <a:off x="2514439" y="1212602"/>
            <a:ext cx="10341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Status</a:t>
            </a:r>
            <a:endParaRPr sz="1000" b="0" i="0" u="none" strike="noStrike" cap="none">
              <a:solidFill>
                <a:schemeClr val="dk1"/>
              </a:solidFill>
              <a:latin typeface="Calibri"/>
              <a:ea typeface="Calibri"/>
              <a:cs typeface="Calibri"/>
              <a:sym typeface="Calibri"/>
            </a:endParaRPr>
          </a:p>
        </p:txBody>
      </p:sp>
      <p:sp>
        <p:nvSpPr>
          <p:cNvPr id="928" name="Google Shape;928;p63"/>
          <p:cNvSpPr/>
          <p:nvPr/>
        </p:nvSpPr>
        <p:spPr>
          <a:xfrm>
            <a:off x="3398583" y="1212602"/>
            <a:ext cx="9909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Recommended</a:t>
            </a:r>
            <a:endParaRPr sz="1000" b="0" i="0" u="none" strike="noStrike" cap="none">
              <a:solidFill>
                <a:schemeClr val="dk1"/>
              </a:solidFill>
              <a:latin typeface="Calibri"/>
              <a:ea typeface="Calibri"/>
              <a:cs typeface="Calibri"/>
              <a:sym typeface="Calibri"/>
            </a:endParaRPr>
          </a:p>
        </p:txBody>
      </p:sp>
      <p:cxnSp>
        <p:nvCxnSpPr>
          <p:cNvPr id="929" name="Google Shape;929;p63"/>
          <p:cNvCxnSpPr/>
          <p:nvPr/>
        </p:nvCxnSpPr>
        <p:spPr>
          <a:xfrm>
            <a:off x="365750" y="1644243"/>
            <a:ext cx="3977700" cy="0"/>
          </a:xfrm>
          <a:prstGeom prst="straightConnector1">
            <a:avLst/>
          </a:prstGeom>
          <a:noFill/>
          <a:ln w="9525" cap="flat" cmpd="sng">
            <a:solidFill>
              <a:srgbClr val="888888"/>
            </a:solidFill>
            <a:prstDash val="solid"/>
            <a:round/>
            <a:headEnd type="none" w="sm" len="sm"/>
            <a:tailEnd type="none" w="sm" len="sm"/>
          </a:ln>
        </p:spPr>
      </p:cxnSp>
      <p:sp>
        <p:nvSpPr>
          <p:cNvPr id="930" name="Google Shape;930;p63"/>
          <p:cNvSpPr/>
          <p:nvPr/>
        </p:nvSpPr>
        <p:spPr>
          <a:xfrm>
            <a:off x="2514443" y="1413775"/>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{{WS_NONOS}}</a:t>
            </a:r>
            <a:endParaRPr sz="700" b="0" i="0" u="none" strike="noStrike" cap="none">
              <a:solidFill>
                <a:schemeClr val="dk1"/>
              </a:solidFill>
              <a:latin typeface="Calibri"/>
              <a:ea typeface="Calibri"/>
              <a:cs typeface="Calibri"/>
              <a:sym typeface="Calibri"/>
            </a:endParaRPr>
          </a:p>
        </p:txBody>
      </p:sp>
      <p:sp>
        <p:nvSpPr>
          <p:cNvPr id="931" name="Google Shape;931;p63"/>
          <p:cNvSpPr/>
          <p:nvPr/>
        </p:nvSpPr>
        <p:spPr>
          <a:xfrm>
            <a:off x="3412672" y="1453521"/>
            <a:ext cx="939600" cy="175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500"/>
              <a:buFont typeface="JetBrains Mono"/>
              <a:buNone/>
            </a:pPr>
            <a:r>
              <a:rPr lang="en" sz="800" b="0" i="0" u="none" strike="noStrike" cap="none">
                <a:solidFill>
                  <a:srgbClr val="595959"/>
                </a:solidFill>
                <a:latin typeface="DM Sans"/>
                <a:ea typeface="DM Sans"/>
                <a:cs typeface="DM Sans"/>
                <a:sym typeface="DM Sans"/>
              </a:rPr>
              <a:t>{{WS_NONOS_R}}</a:t>
            </a:r>
            <a:endParaRPr sz="800" b="0" i="0" u="none" strike="noStrike" cap="none">
              <a:solidFill>
                <a:srgbClr val="595959"/>
              </a:solidFill>
              <a:latin typeface="DM Sans"/>
              <a:ea typeface="DM Sans"/>
              <a:cs typeface="DM Sans"/>
              <a:sym typeface="DM Sans"/>
            </a:endParaRPr>
          </a:p>
        </p:txBody>
      </p:sp>
      <p:cxnSp>
        <p:nvCxnSpPr>
          <p:cNvPr id="932" name="Google Shape;932;p63"/>
          <p:cNvCxnSpPr/>
          <p:nvPr/>
        </p:nvCxnSpPr>
        <p:spPr>
          <a:xfrm>
            <a:off x="365750" y="1874226"/>
            <a:ext cx="3977700" cy="0"/>
          </a:xfrm>
          <a:prstGeom prst="straightConnector1">
            <a:avLst/>
          </a:prstGeom>
          <a:noFill/>
          <a:ln w="9525" cap="flat" cmpd="sng">
            <a:solidFill>
              <a:srgbClr val="888888"/>
            </a:solidFill>
            <a:prstDash val="solid"/>
            <a:round/>
            <a:headEnd type="none" w="sm" len="sm"/>
            <a:tailEnd type="none" w="sm" len="sm"/>
          </a:ln>
        </p:spPr>
      </p:cxnSp>
      <p:sp>
        <p:nvSpPr>
          <p:cNvPr id="933" name="Google Shape;933;p63"/>
          <p:cNvSpPr/>
          <p:nvPr/>
        </p:nvSpPr>
        <p:spPr>
          <a:xfrm>
            <a:off x="2514443" y="1644569"/>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{{WS_VM}}</a:t>
            </a:r>
            <a:endParaRPr sz="700" b="0" i="0" u="none" strike="noStrike" cap="none">
              <a:solidFill>
                <a:schemeClr val="dk1"/>
              </a:solidFill>
              <a:latin typeface="Calibri"/>
              <a:ea typeface="Calibri"/>
              <a:cs typeface="Calibri"/>
              <a:sym typeface="Calibri"/>
            </a:endParaRPr>
          </a:p>
        </p:txBody>
      </p:sp>
      <p:sp>
        <p:nvSpPr>
          <p:cNvPr id="934" name="Google Shape;934;p63"/>
          <p:cNvSpPr/>
          <p:nvPr/>
        </p:nvSpPr>
        <p:spPr>
          <a:xfrm>
            <a:off x="3412669" y="1683431"/>
            <a:ext cx="939600" cy="175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500"/>
              <a:buFont typeface="JetBrains Mono"/>
              <a:buNone/>
            </a:pPr>
            <a:r>
              <a:rPr lang="en" sz="800" b="0" i="0" u="none" strike="noStrike" cap="none">
                <a:solidFill>
                  <a:srgbClr val="595959"/>
                </a:solidFill>
                <a:latin typeface="DM Sans"/>
                <a:ea typeface="DM Sans"/>
                <a:cs typeface="DM Sans"/>
                <a:sym typeface="DM Sans"/>
              </a:rPr>
              <a:t>{{WS_VM_R}}</a:t>
            </a:r>
            <a:endParaRPr sz="800" b="0" i="0" u="none" strike="noStrike" cap="none">
              <a:solidFill>
                <a:srgbClr val="595959"/>
              </a:solidFill>
              <a:latin typeface="DM Sans"/>
              <a:ea typeface="DM Sans"/>
              <a:cs typeface="DM Sans"/>
              <a:sym typeface="DM Sans"/>
            </a:endParaRPr>
          </a:p>
        </p:txBody>
      </p:sp>
      <p:sp>
        <p:nvSpPr>
          <p:cNvPr id="935" name="Google Shape;935;p63"/>
          <p:cNvSpPr/>
          <p:nvPr/>
        </p:nvSpPr>
        <p:spPr>
          <a:xfrm>
            <a:off x="2514443" y="1875363"/>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{{WS_CMK}}</a:t>
            </a:r>
            <a:endParaRPr sz="700" b="0" i="0" u="none" strike="noStrike" cap="none">
              <a:solidFill>
                <a:schemeClr val="dk1"/>
              </a:solidFill>
              <a:latin typeface="Calibri"/>
              <a:ea typeface="Calibri"/>
              <a:cs typeface="Calibri"/>
              <a:sym typeface="Calibri"/>
            </a:endParaRPr>
          </a:p>
        </p:txBody>
      </p:sp>
      <p:cxnSp>
        <p:nvCxnSpPr>
          <p:cNvPr id="936" name="Google Shape;936;p63"/>
          <p:cNvCxnSpPr/>
          <p:nvPr/>
        </p:nvCxnSpPr>
        <p:spPr>
          <a:xfrm>
            <a:off x="365750" y="2104209"/>
            <a:ext cx="3977700" cy="0"/>
          </a:xfrm>
          <a:prstGeom prst="straightConnector1">
            <a:avLst/>
          </a:prstGeom>
          <a:noFill/>
          <a:ln w="9525" cap="flat" cmpd="sng">
            <a:solidFill>
              <a:srgbClr val="888888"/>
            </a:solidFill>
            <a:prstDash val="solid"/>
            <a:round/>
            <a:headEnd type="none" w="sm" len="sm"/>
            <a:tailEnd type="none" w="sm" len="sm"/>
          </a:ln>
        </p:spPr>
      </p:cxnSp>
      <p:cxnSp>
        <p:nvCxnSpPr>
          <p:cNvPr id="937" name="Google Shape;937;p63"/>
          <p:cNvCxnSpPr/>
          <p:nvPr/>
        </p:nvCxnSpPr>
        <p:spPr>
          <a:xfrm>
            <a:off x="365750" y="2334193"/>
            <a:ext cx="3977700" cy="0"/>
          </a:xfrm>
          <a:prstGeom prst="straightConnector1">
            <a:avLst/>
          </a:prstGeom>
          <a:noFill/>
          <a:ln w="9525" cap="flat" cmpd="sng">
            <a:solidFill>
              <a:srgbClr val="888888"/>
            </a:solidFill>
            <a:prstDash val="solid"/>
            <a:round/>
            <a:headEnd type="none" w="sm" len="sm"/>
            <a:tailEnd type="none" w="sm" len="sm"/>
          </a:ln>
        </p:spPr>
      </p:cxnSp>
      <p:sp>
        <p:nvSpPr>
          <p:cNvPr id="938" name="Google Shape;938;p63"/>
          <p:cNvSpPr/>
          <p:nvPr/>
        </p:nvSpPr>
        <p:spPr>
          <a:xfrm>
            <a:off x="2514443" y="2106157"/>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{{WS_TVOL}}</a:t>
            </a:r>
            <a:endParaRPr sz="700" b="0" i="0" u="none" strike="noStrike" cap="none">
              <a:solidFill>
                <a:schemeClr val="dk1"/>
              </a:solidFill>
              <a:latin typeface="Calibri"/>
              <a:ea typeface="Calibri"/>
              <a:cs typeface="Calibri"/>
              <a:sym typeface="Calibri"/>
            </a:endParaRPr>
          </a:p>
        </p:txBody>
      </p:sp>
      <p:cxnSp>
        <p:nvCxnSpPr>
          <p:cNvPr id="939" name="Google Shape;939;p63"/>
          <p:cNvCxnSpPr/>
          <p:nvPr/>
        </p:nvCxnSpPr>
        <p:spPr>
          <a:xfrm>
            <a:off x="365750" y="2564176"/>
            <a:ext cx="3977700" cy="0"/>
          </a:xfrm>
          <a:prstGeom prst="straightConnector1">
            <a:avLst/>
          </a:prstGeom>
          <a:noFill/>
          <a:ln w="9525" cap="flat" cmpd="sng">
            <a:solidFill>
              <a:srgbClr val="888888"/>
            </a:solidFill>
            <a:prstDash val="solid"/>
            <a:round/>
            <a:headEnd type="none" w="sm" len="sm"/>
            <a:tailEnd type="none" w="sm" len="sm"/>
          </a:ln>
        </p:spPr>
      </p:cxnSp>
      <p:sp>
        <p:nvSpPr>
          <p:cNvPr id="940" name="Google Shape;940;p63"/>
          <p:cNvSpPr/>
          <p:nvPr/>
        </p:nvSpPr>
        <p:spPr>
          <a:xfrm>
            <a:off x="2514443" y="2336951"/>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{{WS_LSAIL}}</a:t>
            </a:r>
            <a:endParaRPr sz="700" b="0" i="0" u="none" strike="noStrike" cap="none">
              <a:solidFill>
                <a:schemeClr val="dk1"/>
              </a:solidFill>
              <a:latin typeface="Calibri"/>
              <a:ea typeface="Calibri"/>
              <a:cs typeface="Calibri"/>
              <a:sym typeface="Calibri"/>
            </a:endParaRPr>
          </a:p>
        </p:txBody>
      </p:sp>
      <p:cxnSp>
        <p:nvCxnSpPr>
          <p:cNvPr id="941" name="Google Shape;941;p63"/>
          <p:cNvCxnSpPr/>
          <p:nvPr/>
        </p:nvCxnSpPr>
        <p:spPr>
          <a:xfrm>
            <a:off x="365750" y="2794159"/>
            <a:ext cx="3977700" cy="0"/>
          </a:xfrm>
          <a:prstGeom prst="straightConnector1">
            <a:avLst/>
          </a:prstGeom>
          <a:noFill/>
          <a:ln w="9525" cap="flat" cmpd="sng">
            <a:solidFill>
              <a:srgbClr val="888888"/>
            </a:solidFill>
            <a:prstDash val="solid"/>
            <a:round/>
            <a:headEnd type="none" w="sm" len="sm"/>
            <a:tailEnd type="none" w="sm" len="sm"/>
          </a:ln>
        </p:spPr>
      </p:cxnSp>
      <p:sp>
        <p:nvSpPr>
          <p:cNvPr id="942" name="Google Shape;942;p63"/>
          <p:cNvSpPr/>
          <p:nvPr/>
        </p:nvSpPr>
        <p:spPr>
          <a:xfrm>
            <a:off x="2514443" y="2567745"/>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{{WS_LAMB}}</a:t>
            </a:r>
            <a:endParaRPr sz="700" b="0" i="0" u="none" strike="noStrike" cap="none">
              <a:solidFill>
                <a:schemeClr val="dk1"/>
              </a:solidFill>
              <a:latin typeface="Calibri"/>
              <a:ea typeface="Calibri"/>
              <a:cs typeface="Calibri"/>
              <a:sym typeface="Calibri"/>
            </a:endParaRPr>
          </a:p>
        </p:txBody>
      </p:sp>
      <p:cxnSp>
        <p:nvCxnSpPr>
          <p:cNvPr id="943" name="Google Shape;943;p63"/>
          <p:cNvCxnSpPr/>
          <p:nvPr/>
        </p:nvCxnSpPr>
        <p:spPr>
          <a:xfrm>
            <a:off x="365750" y="3024142"/>
            <a:ext cx="3977700" cy="0"/>
          </a:xfrm>
          <a:prstGeom prst="straightConnector1">
            <a:avLst/>
          </a:prstGeom>
          <a:noFill/>
          <a:ln w="9525" cap="flat" cmpd="sng">
            <a:solidFill>
              <a:srgbClr val="888888"/>
            </a:solidFill>
            <a:prstDash val="solid"/>
            <a:round/>
            <a:headEnd type="none" w="sm" len="sm"/>
            <a:tailEnd type="none" w="sm" len="sm"/>
          </a:ln>
        </p:spPr>
      </p:cxnSp>
      <p:sp>
        <p:nvSpPr>
          <p:cNvPr id="944" name="Google Shape;944;p63"/>
          <p:cNvSpPr/>
          <p:nvPr/>
        </p:nvSpPr>
        <p:spPr>
          <a:xfrm>
            <a:off x="2514443" y="2798539"/>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{{WS_TAGS}}</a:t>
            </a:r>
            <a:endParaRPr sz="700" b="0" i="0" u="none" strike="noStrike" cap="none">
              <a:solidFill>
                <a:schemeClr val="dk1"/>
              </a:solidFill>
              <a:latin typeface="Calibri"/>
              <a:ea typeface="Calibri"/>
              <a:cs typeface="Calibri"/>
              <a:sym typeface="Calibri"/>
            </a:endParaRPr>
          </a:p>
        </p:txBody>
      </p:sp>
      <p:cxnSp>
        <p:nvCxnSpPr>
          <p:cNvPr id="945" name="Google Shape;945;p63"/>
          <p:cNvCxnSpPr/>
          <p:nvPr/>
        </p:nvCxnSpPr>
        <p:spPr>
          <a:xfrm>
            <a:off x="365750" y="3254126"/>
            <a:ext cx="3977700" cy="0"/>
          </a:xfrm>
          <a:prstGeom prst="straightConnector1">
            <a:avLst/>
          </a:prstGeom>
          <a:noFill/>
          <a:ln w="9525" cap="flat" cmpd="sng">
            <a:solidFill>
              <a:srgbClr val="888888"/>
            </a:solidFill>
            <a:prstDash val="solid"/>
            <a:round/>
            <a:headEnd type="none" w="sm" len="sm"/>
            <a:tailEnd type="none" w="sm" len="sm"/>
          </a:ln>
        </p:spPr>
      </p:cxnSp>
      <p:sp>
        <p:nvSpPr>
          <p:cNvPr id="946" name="Google Shape;946;p63"/>
          <p:cNvSpPr/>
          <p:nvPr/>
        </p:nvSpPr>
        <p:spPr>
          <a:xfrm>
            <a:off x="2514443" y="3029333"/>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{{WS_EXCL}}</a:t>
            </a:r>
            <a:endParaRPr sz="700" b="0" i="0" u="none" strike="noStrike" cap="none">
              <a:solidFill>
                <a:schemeClr val="dk1"/>
              </a:solidFill>
              <a:latin typeface="Calibri"/>
              <a:ea typeface="Calibri"/>
              <a:cs typeface="Calibri"/>
              <a:sym typeface="Calibri"/>
            </a:endParaRPr>
          </a:p>
        </p:txBody>
      </p:sp>
      <p:sp>
        <p:nvSpPr>
          <p:cNvPr id="947" name="Google Shape;947;p63"/>
          <p:cNvSpPr/>
          <p:nvPr/>
        </p:nvSpPr>
        <p:spPr>
          <a:xfrm>
            <a:off x="3412669" y="3052388"/>
            <a:ext cx="939600" cy="175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500"/>
              <a:buFont typeface="JetBrains Mono"/>
              <a:buNone/>
            </a:pPr>
            <a:r>
              <a:rPr lang="en" sz="800" b="0" i="0" u="none" strike="noStrike" cap="none">
                <a:solidFill>
                  <a:srgbClr val="595959"/>
                </a:solidFill>
                <a:latin typeface="DM Sans"/>
                <a:ea typeface="DM Sans"/>
                <a:cs typeface="DM Sans"/>
                <a:sym typeface="DM Sans"/>
              </a:rPr>
              <a:t>{{WS_EXCL_R}}</a:t>
            </a:r>
            <a:endParaRPr sz="800" b="0" i="0" u="none" strike="noStrike" cap="none">
              <a:solidFill>
                <a:srgbClr val="595959"/>
              </a:solidFill>
              <a:latin typeface="DM Sans"/>
              <a:ea typeface="DM Sans"/>
              <a:cs typeface="DM Sans"/>
              <a:sym typeface="DM Sans"/>
            </a:endParaRPr>
          </a:p>
        </p:txBody>
      </p:sp>
      <p:cxnSp>
        <p:nvCxnSpPr>
          <p:cNvPr id="948" name="Google Shape;948;p63"/>
          <p:cNvCxnSpPr/>
          <p:nvPr/>
        </p:nvCxnSpPr>
        <p:spPr>
          <a:xfrm>
            <a:off x="365750" y="3484109"/>
            <a:ext cx="3977700" cy="0"/>
          </a:xfrm>
          <a:prstGeom prst="straightConnector1">
            <a:avLst/>
          </a:prstGeom>
          <a:noFill/>
          <a:ln w="9525" cap="flat" cmpd="sng">
            <a:solidFill>
              <a:srgbClr val="888888"/>
            </a:solidFill>
            <a:prstDash val="solid"/>
            <a:round/>
            <a:headEnd type="none" w="sm" len="sm"/>
            <a:tailEnd type="none" w="sm" len="sm"/>
          </a:ln>
        </p:spPr>
      </p:cxnSp>
      <p:sp>
        <p:nvSpPr>
          <p:cNvPr id="949" name="Google Shape;949;p63"/>
          <p:cNvSpPr/>
          <p:nvPr/>
        </p:nvSpPr>
        <p:spPr>
          <a:xfrm>
            <a:off x="2514443" y="3260127"/>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{{WS_CIGS}}</a:t>
            </a:r>
            <a:endParaRPr sz="700" b="0" i="0" u="none" strike="noStrike" cap="none">
              <a:solidFill>
                <a:schemeClr val="dk1"/>
              </a:solidFill>
              <a:latin typeface="Calibri"/>
              <a:ea typeface="Calibri"/>
              <a:cs typeface="Calibri"/>
              <a:sym typeface="Calibri"/>
            </a:endParaRPr>
          </a:p>
        </p:txBody>
      </p:sp>
      <p:sp>
        <p:nvSpPr>
          <p:cNvPr id="950" name="Google Shape;950;p63"/>
          <p:cNvSpPr/>
          <p:nvPr/>
        </p:nvSpPr>
        <p:spPr>
          <a:xfrm>
            <a:off x="3412669" y="3282298"/>
            <a:ext cx="939600" cy="175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500"/>
              <a:buFont typeface="JetBrains Mono"/>
              <a:buNone/>
            </a:pPr>
            <a:r>
              <a:rPr lang="en" sz="800" b="0" i="0" u="none" strike="noStrike" cap="none">
                <a:solidFill>
                  <a:srgbClr val="595959"/>
                </a:solidFill>
                <a:latin typeface="DM Sans"/>
                <a:ea typeface="DM Sans"/>
                <a:cs typeface="DM Sans"/>
                <a:sym typeface="DM Sans"/>
              </a:rPr>
              <a:t>{{WS_CIGS_R}}</a:t>
            </a:r>
            <a:endParaRPr sz="800" b="0" i="0" u="none" strike="noStrike" cap="none">
              <a:solidFill>
                <a:srgbClr val="595959"/>
              </a:solidFill>
              <a:latin typeface="DM Sans"/>
              <a:ea typeface="DM Sans"/>
              <a:cs typeface="DM Sans"/>
              <a:sym typeface="DM Sans"/>
            </a:endParaRPr>
          </a:p>
        </p:txBody>
      </p:sp>
      <p:cxnSp>
        <p:nvCxnSpPr>
          <p:cNvPr id="951" name="Google Shape;951;p63"/>
          <p:cNvCxnSpPr/>
          <p:nvPr/>
        </p:nvCxnSpPr>
        <p:spPr>
          <a:xfrm>
            <a:off x="365750" y="3714092"/>
            <a:ext cx="3977700" cy="0"/>
          </a:xfrm>
          <a:prstGeom prst="straightConnector1">
            <a:avLst/>
          </a:prstGeom>
          <a:noFill/>
          <a:ln w="9525" cap="flat" cmpd="sng">
            <a:solidFill>
              <a:srgbClr val="888888"/>
            </a:solidFill>
            <a:prstDash val="solid"/>
            <a:round/>
            <a:headEnd type="none" w="sm" len="sm"/>
            <a:tailEnd type="none" w="sm" len="sm"/>
          </a:ln>
        </p:spPr>
      </p:cxnSp>
      <p:sp>
        <p:nvSpPr>
          <p:cNvPr id="952" name="Google Shape;952;p63"/>
          <p:cNvSpPr/>
          <p:nvPr/>
        </p:nvSpPr>
        <p:spPr>
          <a:xfrm>
            <a:off x="2514443" y="3490921"/>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{{WS_ADE1}}</a:t>
            </a:r>
            <a:endParaRPr sz="700" b="0" i="0" u="none" strike="noStrike" cap="none">
              <a:solidFill>
                <a:schemeClr val="dk1"/>
              </a:solidFill>
              <a:latin typeface="Calibri"/>
              <a:ea typeface="Calibri"/>
              <a:cs typeface="Calibri"/>
              <a:sym typeface="Calibri"/>
            </a:endParaRPr>
          </a:p>
        </p:txBody>
      </p:sp>
      <p:cxnSp>
        <p:nvCxnSpPr>
          <p:cNvPr id="953" name="Google Shape;953;p63"/>
          <p:cNvCxnSpPr/>
          <p:nvPr/>
        </p:nvCxnSpPr>
        <p:spPr>
          <a:xfrm>
            <a:off x="365750" y="3944076"/>
            <a:ext cx="3977700" cy="0"/>
          </a:xfrm>
          <a:prstGeom prst="straightConnector1">
            <a:avLst/>
          </a:prstGeom>
          <a:noFill/>
          <a:ln w="9525" cap="flat" cmpd="sng">
            <a:solidFill>
              <a:srgbClr val="888888"/>
            </a:solidFill>
            <a:prstDash val="solid"/>
            <a:round/>
            <a:headEnd type="none" w="sm" len="sm"/>
            <a:tailEnd type="none" w="sm" len="sm"/>
          </a:ln>
        </p:spPr>
      </p:cxnSp>
      <p:sp>
        <p:nvSpPr>
          <p:cNvPr id="954" name="Google Shape;954;p63"/>
          <p:cNvSpPr/>
          <p:nvPr/>
        </p:nvSpPr>
        <p:spPr>
          <a:xfrm>
            <a:off x="2514443" y="3721715"/>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{{WS_ADE2}}</a:t>
            </a:r>
            <a:endParaRPr sz="700" b="0" i="0" u="none" strike="noStrike" cap="none">
              <a:solidFill>
                <a:schemeClr val="dk1"/>
              </a:solidFill>
              <a:latin typeface="Calibri"/>
              <a:ea typeface="Calibri"/>
              <a:cs typeface="Calibri"/>
              <a:sym typeface="Calibri"/>
            </a:endParaRPr>
          </a:p>
        </p:txBody>
      </p:sp>
      <p:cxnSp>
        <p:nvCxnSpPr>
          <p:cNvPr id="955" name="Google Shape;955;p63"/>
          <p:cNvCxnSpPr/>
          <p:nvPr/>
        </p:nvCxnSpPr>
        <p:spPr>
          <a:xfrm>
            <a:off x="365750" y="4174059"/>
            <a:ext cx="3977700" cy="0"/>
          </a:xfrm>
          <a:prstGeom prst="straightConnector1">
            <a:avLst/>
          </a:prstGeom>
          <a:noFill/>
          <a:ln w="9525" cap="flat" cmpd="sng">
            <a:solidFill>
              <a:srgbClr val="888888"/>
            </a:solidFill>
            <a:prstDash val="solid"/>
            <a:round/>
            <a:headEnd type="none" w="sm" len="sm"/>
            <a:tailEnd type="none" w="sm" len="sm"/>
          </a:ln>
        </p:spPr>
      </p:cxnSp>
      <p:sp>
        <p:nvSpPr>
          <p:cNvPr id="956" name="Google Shape;956;p63"/>
          <p:cNvSpPr/>
          <p:nvPr/>
        </p:nvSpPr>
        <p:spPr>
          <a:xfrm>
            <a:off x="2514443" y="3952509"/>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{{WS_NRT}}</a:t>
            </a:r>
            <a:endParaRPr sz="700" b="0" i="0" u="none" strike="noStrike" cap="none">
              <a:solidFill>
                <a:schemeClr val="dk1"/>
              </a:solidFill>
              <a:latin typeface="Calibri"/>
              <a:ea typeface="Calibri"/>
              <a:cs typeface="Calibri"/>
              <a:sym typeface="Calibri"/>
            </a:endParaRPr>
          </a:p>
        </p:txBody>
      </p:sp>
      <p:sp>
        <p:nvSpPr>
          <p:cNvPr id="957" name="Google Shape;957;p63"/>
          <p:cNvSpPr/>
          <p:nvPr/>
        </p:nvSpPr>
        <p:spPr>
          <a:xfrm>
            <a:off x="4800600" y="868680"/>
            <a:ext cx="3977700" cy="274200"/>
          </a:xfrm>
          <a:prstGeom prst="rect">
            <a:avLst/>
          </a:prstGeom>
          <a:solidFill>
            <a:srgbClr val="DCC0C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8" name="Google Shape;958;p63"/>
          <p:cNvSpPr/>
          <p:nvPr/>
        </p:nvSpPr>
        <p:spPr>
          <a:xfrm>
            <a:off x="4800600" y="868680"/>
            <a:ext cx="36600" cy="274200"/>
          </a:xfrm>
          <a:prstGeom prst="rect">
            <a:avLst/>
          </a:prstGeom>
          <a:solidFill>
            <a:srgbClr val="DC262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9" name="Google Shape;959;p63"/>
          <p:cNvSpPr/>
          <p:nvPr/>
        </p:nvSpPr>
        <p:spPr>
          <a:xfrm>
            <a:off x="4937760" y="858268"/>
            <a:ext cx="37947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2626"/>
              </a:buClr>
              <a:buSzPts val="1000"/>
              <a:buFont typeface="DM Sans"/>
              <a:buNone/>
            </a:pPr>
            <a:r>
              <a:rPr lang="en" sz="1100" b="1" i="0" u="sng" strike="noStrike" cap="none">
                <a:solidFill>
                  <a:schemeClr val="hlink"/>
                </a:solidFill>
                <a:latin typeface="DM Sans"/>
                <a:ea typeface="DM Sans"/>
                <a:cs typeface="DM Sans"/>
                <a:sym typeface="DM Sans"/>
                <a:hlinkClick r:id="rId7"/>
              </a:rPr>
              <a:t>ATTACK SURFACE MANAGEMENT</a:t>
            </a:r>
            <a:r>
              <a:rPr lang="en" sz="1100" b="0" i="0" u="none" strike="noStrike" cap="none">
                <a:solidFill>
                  <a:srgbClr val="CC0000"/>
                </a:solidFill>
                <a:latin typeface="Calibri"/>
                <a:ea typeface="Calibri"/>
                <a:cs typeface="Calibri"/>
                <a:sym typeface="Calibri"/>
              </a:rPr>
              <a:t> </a:t>
            </a:r>
            <a:r>
              <a:rPr lang="en" sz="1300" b="0" i="0" u="none" strike="noStrike" cap="none">
                <a:solidFill>
                  <a:schemeClr val="hlink"/>
                </a:solidFill>
                <a:uFill>
                  <a:noFill/>
                </a:uFill>
                <a:latin typeface="Poppins"/>
                <a:ea typeface="Poppins"/>
                <a:cs typeface="Poppins"/>
                <a:sym typeface="Poppins"/>
                <a:hlinkClick r:id="rId6"/>
              </a:rPr>
              <a:t>↗</a:t>
            </a:r>
            <a:endParaRPr sz="1100" b="0" i="0" u="none" strike="noStrike" cap="none">
              <a:solidFill>
                <a:srgbClr val="CC0000"/>
              </a:solidFill>
              <a:latin typeface="Calibri"/>
              <a:ea typeface="Calibri"/>
              <a:cs typeface="Calibri"/>
              <a:sym typeface="Calibri"/>
            </a:endParaRPr>
          </a:p>
        </p:txBody>
      </p:sp>
      <p:sp>
        <p:nvSpPr>
          <p:cNvPr id="960" name="Google Shape;960;p63"/>
          <p:cNvSpPr/>
          <p:nvPr/>
        </p:nvSpPr>
        <p:spPr>
          <a:xfrm>
            <a:off x="4788323" y="1204132"/>
            <a:ext cx="3947400" cy="197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1" name="Google Shape;961;p63"/>
          <p:cNvSpPr/>
          <p:nvPr/>
        </p:nvSpPr>
        <p:spPr>
          <a:xfrm>
            <a:off x="4879063" y="1204132"/>
            <a:ext cx="1973400" cy="197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Setting</a:t>
            </a:r>
            <a:endParaRPr sz="1000" b="0" i="0" u="none" strike="noStrike" cap="none">
              <a:solidFill>
                <a:schemeClr val="dk1"/>
              </a:solidFill>
              <a:latin typeface="Calibri"/>
              <a:ea typeface="Calibri"/>
              <a:cs typeface="Calibri"/>
              <a:sym typeface="Calibri"/>
            </a:endParaRPr>
          </a:p>
        </p:txBody>
      </p:sp>
      <p:sp>
        <p:nvSpPr>
          <p:cNvPr id="962" name="Google Shape;962;p63"/>
          <p:cNvSpPr/>
          <p:nvPr/>
        </p:nvSpPr>
        <p:spPr>
          <a:xfrm>
            <a:off x="6929140" y="1204132"/>
            <a:ext cx="868200" cy="197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Status</a:t>
            </a:r>
            <a:endParaRPr sz="1000" b="0" i="0" u="none" strike="noStrike" cap="none">
              <a:solidFill>
                <a:schemeClr val="dk1"/>
              </a:solidFill>
              <a:latin typeface="Calibri"/>
              <a:ea typeface="Calibri"/>
              <a:cs typeface="Calibri"/>
              <a:sym typeface="Calibri"/>
            </a:endParaRPr>
          </a:p>
        </p:txBody>
      </p:sp>
      <p:sp>
        <p:nvSpPr>
          <p:cNvPr id="963" name="Google Shape;963;p63"/>
          <p:cNvSpPr/>
          <p:nvPr/>
        </p:nvSpPr>
        <p:spPr>
          <a:xfrm>
            <a:off x="7777620" y="1204132"/>
            <a:ext cx="1026300" cy="197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Recommended</a:t>
            </a:r>
            <a:endParaRPr sz="1000" b="0" i="0" u="none" strike="noStrike" cap="none">
              <a:solidFill>
                <a:schemeClr val="dk1"/>
              </a:solidFill>
              <a:latin typeface="Calibri"/>
              <a:ea typeface="Calibri"/>
              <a:cs typeface="Calibri"/>
              <a:sym typeface="Calibri"/>
            </a:endParaRPr>
          </a:p>
        </p:txBody>
      </p:sp>
      <p:cxnSp>
        <p:nvCxnSpPr>
          <p:cNvPr id="964" name="Google Shape;964;p63"/>
          <p:cNvCxnSpPr/>
          <p:nvPr/>
        </p:nvCxnSpPr>
        <p:spPr>
          <a:xfrm>
            <a:off x="4788600" y="1598105"/>
            <a:ext cx="4012500" cy="0"/>
          </a:xfrm>
          <a:prstGeom prst="straightConnector1">
            <a:avLst/>
          </a:prstGeom>
          <a:noFill/>
          <a:ln w="9525" cap="flat" cmpd="sng">
            <a:solidFill>
              <a:srgbClr val="888888"/>
            </a:solidFill>
            <a:prstDash val="solid"/>
            <a:round/>
            <a:headEnd type="none" w="sm" len="sm"/>
            <a:tailEnd type="none" w="sm" len="sm"/>
          </a:ln>
        </p:spPr>
      </p:cxnSp>
      <p:cxnSp>
        <p:nvCxnSpPr>
          <p:cNvPr id="965" name="Google Shape;965;p63"/>
          <p:cNvCxnSpPr/>
          <p:nvPr/>
        </p:nvCxnSpPr>
        <p:spPr>
          <a:xfrm>
            <a:off x="4788600" y="1800944"/>
            <a:ext cx="4012500" cy="0"/>
          </a:xfrm>
          <a:prstGeom prst="straightConnector1">
            <a:avLst/>
          </a:prstGeom>
          <a:noFill/>
          <a:ln w="9525" cap="flat" cmpd="sng">
            <a:solidFill>
              <a:srgbClr val="888888"/>
            </a:solidFill>
            <a:prstDash val="solid"/>
            <a:round/>
            <a:headEnd type="none" w="sm" len="sm"/>
            <a:tailEnd type="none" w="sm" len="sm"/>
          </a:ln>
        </p:spPr>
      </p:cxnSp>
      <p:cxnSp>
        <p:nvCxnSpPr>
          <p:cNvPr id="966" name="Google Shape;966;p63"/>
          <p:cNvCxnSpPr/>
          <p:nvPr/>
        </p:nvCxnSpPr>
        <p:spPr>
          <a:xfrm>
            <a:off x="4788600" y="2003784"/>
            <a:ext cx="4012500" cy="0"/>
          </a:xfrm>
          <a:prstGeom prst="straightConnector1">
            <a:avLst/>
          </a:prstGeom>
          <a:noFill/>
          <a:ln w="9525" cap="flat" cmpd="sng">
            <a:solidFill>
              <a:srgbClr val="888888"/>
            </a:solidFill>
            <a:prstDash val="solid"/>
            <a:round/>
            <a:headEnd type="none" w="sm" len="sm"/>
            <a:tailEnd type="none" w="sm" len="sm"/>
          </a:ln>
        </p:spPr>
      </p:cxnSp>
      <p:cxnSp>
        <p:nvCxnSpPr>
          <p:cNvPr id="967" name="Google Shape;967;p63"/>
          <p:cNvCxnSpPr/>
          <p:nvPr/>
        </p:nvCxnSpPr>
        <p:spPr>
          <a:xfrm>
            <a:off x="4788600" y="2206623"/>
            <a:ext cx="4012500" cy="0"/>
          </a:xfrm>
          <a:prstGeom prst="straightConnector1">
            <a:avLst/>
          </a:prstGeom>
          <a:noFill/>
          <a:ln w="9525" cap="flat" cmpd="sng">
            <a:solidFill>
              <a:srgbClr val="888888"/>
            </a:solidFill>
            <a:prstDash val="solid"/>
            <a:round/>
            <a:headEnd type="none" w="sm" len="sm"/>
            <a:tailEnd type="none" w="sm" len="sm"/>
          </a:ln>
        </p:spPr>
      </p:cxnSp>
      <p:cxnSp>
        <p:nvCxnSpPr>
          <p:cNvPr id="968" name="Google Shape;968;p63"/>
          <p:cNvCxnSpPr/>
          <p:nvPr/>
        </p:nvCxnSpPr>
        <p:spPr>
          <a:xfrm>
            <a:off x="4788600" y="2409463"/>
            <a:ext cx="4012500" cy="0"/>
          </a:xfrm>
          <a:prstGeom prst="straightConnector1">
            <a:avLst/>
          </a:prstGeom>
          <a:noFill/>
          <a:ln w="9525" cap="flat" cmpd="sng">
            <a:solidFill>
              <a:srgbClr val="888888"/>
            </a:solidFill>
            <a:prstDash val="solid"/>
            <a:round/>
            <a:headEnd type="none" w="sm" len="sm"/>
            <a:tailEnd type="none" w="sm" len="sm"/>
          </a:ln>
        </p:spPr>
      </p:cxnSp>
      <p:cxnSp>
        <p:nvCxnSpPr>
          <p:cNvPr id="969" name="Google Shape;969;p63"/>
          <p:cNvCxnSpPr/>
          <p:nvPr/>
        </p:nvCxnSpPr>
        <p:spPr>
          <a:xfrm>
            <a:off x="4788600" y="2612303"/>
            <a:ext cx="4012500" cy="0"/>
          </a:xfrm>
          <a:prstGeom prst="straightConnector1">
            <a:avLst/>
          </a:prstGeom>
          <a:noFill/>
          <a:ln w="9525" cap="flat" cmpd="sng">
            <a:solidFill>
              <a:srgbClr val="888888"/>
            </a:solidFill>
            <a:prstDash val="solid"/>
            <a:round/>
            <a:headEnd type="none" w="sm" len="sm"/>
            <a:tailEnd type="none" w="sm" len="sm"/>
          </a:ln>
        </p:spPr>
      </p:cxnSp>
      <p:cxnSp>
        <p:nvCxnSpPr>
          <p:cNvPr id="970" name="Google Shape;970;p63"/>
          <p:cNvCxnSpPr/>
          <p:nvPr/>
        </p:nvCxnSpPr>
        <p:spPr>
          <a:xfrm>
            <a:off x="4788600" y="2815142"/>
            <a:ext cx="4012500" cy="0"/>
          </a:xfrm>
          <a:prstGeom prst="straightConnector1">
            <a:avLst/>
          </a:prstGeom>
          <a:noFill/>
          <a:ln w="9525" cap="flat" cmpd="sng">
            <a:solidFill>
              <a:srgbClr val="888888"/>
            </a:solidFill>
            <a:prstDash val="solid"/>
            <a:round/>
            <a:headEnd type="none" w="sm" len="sm"/>
            <a:tailEnd type="none" w="sm" len="sm"/>
          </a:ln>
        </p:spPr>
      </p:cxnSp>
      <p:cxnSp>
        <p:nvCxnSpPr>
          <p:cNvPr id="971" name="Google Shape;971;p63"/>
          <p:cNvCxnSpPr/>
          <p:nvPr/>
        </p:nvCxnSpPr>
        <p:spPr>
          <a:xfrm>
            <a:off x="4794352" y="3626501"/>
            <a:ext cx="4012500" cy="0"/>
          </a:xfrm>
          <a:prstGeom prst="straightConnector1">
            <a:avLst/>
          </a:prstGeom>
          <a:noFill/>
          <a:ln w="9525" cap="flat" cmpd="sng">
            <a:solidFill>
              <a:srgbClr val="888888"/>
            </a:solidFill>
            <a:prstDash val="solid"/>
            <a:round/>
            <a:headEnd type="none" w="sm" len="sm"/>
            <a:tailEnd type="none" w="sm" len="sm"/>
          </a:ln>
        </p:spPr>
      </p:cxnSp>
      <p:sp>
        <p:nvSpPr>
          <p:cNvPr id="972" name="Google Shape;972;p63"/>
          <p:cNvSpPr txBox="1"/>
          <p:nvPr/>
        </p:nvSpPr>
        <p:spPr>
          <a:xfrm>
            <a:off x="3412674" y="1913341"/>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{{WS_CMK_R}}</a:t>
            </a:r>
            <a:endParaRPr sz="800" b="0" i="0" u="none" strike="noStrike" cap="none">
              <a:solidFill>
                <a:srgbClr val="595959"/>
              </a:solidFill>
              <a:latin typeface="DM Sans"/>
              <a:ea typeface="DM Sans"/>
              <a:cs typeface="DM Sans"/>
              <a:sym typeface="DM Sans"/>
            </a:endParaRPr>
          </a:p>
        </p:txBody>
      </p:sp>
      <p:sp>
        <p:nvSpPr>
          <p:cNvPr id="973" name="Google Shape;973;p63"/>
          <p:cNvSpPr txBox="1"/>
          <p:nvPr/>
        </p:nvSpPr>
        <p:spPr>
          <a:xfrm>
            <a:off x="3412674" y="2141150"/>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{{WS_TVOL_R}}</a:t>
            </a:r>
            <a:endParaRPr sz="800" b="0" i="0" u="none" strike="noStrike" cap="none">
              <a:solidFill>
                <a:srgbClr val="595959"/>
              </a:solidFill>
              <a:latin typeface="DM Sans"/>
              <a:ea typeface="DM Sans"/>
              <a:cs typeface="DM Sans"/>
              <a:sym typeface="DM Sans"/>
            </a:endParaRPr>
          </a:p>
        </p:txBody>
      </p:sp>
      <p:sp>
        <p:nvSpPr>
          <p:cNvPr id="974" name="Google Shape;974;p63"/>
          <p:cNvSpPr txBox="1"/>
          <p:nvPr/>
        </p:nvSpPr>
        <p:spPr>
          <a:xfrm>
            <a:off x="3412674" y="2368960"/>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{{WS_LSAIL_R}}</a:t>
            </a:r>
            <a:endParaRPr sz="800" b="0" i="0" u="none" strike="noStrike" cap="none">
              <a:solidFill>
                <a:srgbClr val="595959"/>
              </a:solidFill>
              <a:latin typeface="DM Sans"/>
              <a:ea typeface="DM Sans"/>
              <a:cs typeface="DM Sans"/>
              <a:sym typeface="DM Sans"/>
            </a:endParaRPr>
          </a:p>
        </p:txBody>
      </p:sp>
      <p:sp>
        <p:nvSpPr>
          <p:cNvPr id="975" name="Google Shape;975;p63"/>
          <p:cNvSpPr txBox="1"/>
          <p:nvPr/>
        </p:nvSpPr>
        <p:spPr>
          <a:xfrm>
            <a:off x="3412674" y="2596769"/>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{{WS_LAMB_R}}</a:t>
            </a:r>
            <a:endParaRPr sz="800" b="0" i="0" u="none" strike="noStrike" cap="none">
              <a:solidFill>
                <a:srgbClr val="595959"/>
              </a:solidFill>
              <a:latin typeface="DM Sans"/>
              <a:ea typeface="DM Sans"/>
              <a:cs typeface="DM Sans"/>
              <a:sym typeface="DM Sans"/>
            </a:endParaRPr>
          </a:p>
        </p:txBody>
      </p:sp>
      <p:sp>
        <p:nvSpPr>
          <p:cNvPr id="976" name="Google Shape;976;p63"/>
          <p:cNvSpPr txBox="1"/>
          <p:nvPr/>
        </p:nvSpPr>
        <p:spPr>
          <a:xfrm>
            <a:off x="3412675" y="2824579"/>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{{WS_TAGS_R}}</a:t>
            </a:r>
            <a:endParaRPr sz="800" b="0" i="0" u="none" strike="noStrike" cap="none">
              <a:solidFill>
                <a:srgbClr val="595959"/>
              </a:solidFill>
              <a:latin typeface="DM Sans"/>
              <a:ea typeface="DM Sans"/>
              <a:cs typeface="DM Sans"/>
              <a:sym typeface="DM Sans"/>
            </a:endParaRPr>
          </a:p>
        </p:txBody>
      </p:sp>
      <p:sp>
        <p:nvSpPr>
          <p:cNvPr id="977" name="Google Shape;977;p63"/>
          <p:cNvSpPr txBox="1"/>
          <p:nvPr/>
        </p:nvSpPr>
        <p:spPr>
          <a:xfrm>
            <a:off x="3412674" y="3512208"/>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{{WS_ADE1_R}}</a:t>
            </a:r>
            <a:endParaRPr sz="800" b="0" i="0" u="none" strike="noStrike" cap="none">
              <a:solidFill>
                <a:srgbClr val="595959"/>
              </a:solidFill>
              <a:latin typeface="DM Sans"/>
              <a:ea typeface="DM Sans"/>
              <a:cs typeface="DM Sans"/>
              <a:sym typeface="DM Sans"/>
            </a:endParaRPr>
          </a:p>
        </p:txBody>
      </p:sp>
      <p:sp>
        <p:nvSpPr>
          <p:cNvPr id="978" name="Google Shape;978;p63"/>
          <p:cNvSpPr txBox="1"/>
          <p:nvPr/>
        </p:nvSpPr>
        <p:spPr>
          <a:xfrm>
            <a:off x="3412674" y="3740017"/>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{{WS_ADE2_R}}</a:t>
            </a:r>
            <a:endParaRPr sz="800" b="0" i="0" u="none" strike="noStrike" cap="none">
              <a:solidFill>
                <a:srgbClr val="595959"/>
              </a:solidFill>
              <a:latin typeface="DM Sans"/>
              <a:ea typeface="DM Sans"/>
              <a:cs typeface="DM Sans"/>
              <a:sym typeface="DM Sans"/>
            </a:endParaRPr>
          </a:p>
        </p:txBody>
      </p:sp>
      <p:sp>
        <p:nvSpPr>
          <p:cNvPr id="979" name="Google Shape;979;p63"/>
          <p:cNvSpPr txBox="1"/>
          <p:nvPr/>
        </p:nvSpPr>
        <p:spPr>
          <a:xfrm>
            <a:off x="3412674" y="3967827"/>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{{WS_NRT_R}}</a:t>
            </a:r>
            <a:endParaRPr sz="800" b="0" i="0" u="none" strike="noStrike" cap="none">
              <a:solidFill>
                <a:srgbClr val="595959"/>
              </a:solidFill>
              <a:latin typeface="DM Sans"/>
              <a:ea typeface="DM Sans"/>
              <a:cs typeface="DM Sans"/>
              <a:sym typeface="DM Sans"/>
            </a:endParaRPr>
          </a:p>
        </p:txBody>
      </p:sp>
      <p:cxnSp>
        <p:nvCxnSpPr>
          <p:cNvPr id="980" name="Google Shape;980;p63"/>
          <p:cNvCxnSpPr/>
          <p:nvPr/>
        </p:nvCxnSpPr>
        <p:spPr>
          <a:xfrm>
            <a:off x="4805551" y="1390969"/>
            <a:ext cx="3947400" cy="0"/>
          </a:xfrm>
          <a:prstGeom prst="straightConnector1">
            <a:avLst/>
          </a:prstGeom>
          <a:noFill/>
          <a:ln w="14300" cap="flat" cmpd="sng">
            <a:solidFill>
              <a:srgbClr val="888888"/>
            </a:solidFill>
            <a:prstDash val="solid"/>
            <a:round/>
            <a:headEnd type="none" w="sm" len="sm"/>
            <a:tailEnd type="none" w="sm" len="sm"/>
          </a:ln>
        </p:spPr>
      </p:cxnSp>
      <p:cxnSp>
        <p:nvCxnSpPr>
          <p:cNvPr id="981" name="Google Shape;981;p63"/>
          <p:cNvCxnSpPr/>
          <p:nvPr/>
        </p:nvCxnSpPr>
        <p:spPr>
          <a:xfrm>
            <a:off x="377157" y="1403236"/>
            <a:ext cx="3977700" cy="0"/>
          </a:xfrm>
          <a:prstGeom prst="straightConnector1">
            <a:avLst/>
          </a:prstGeom>
          <a:noFill/>
          <a:ln w="14300" cap="flat" cmpd="sng">
            <a:solidFill>
              <a:srgbClr val="888888"/>
            </a:solidFill>
            <a:prstDash val="solid"/>
            <a:round/>
            <a:headEnd type="none" w="sm" len="sm"/>
            <a:tailEnd type="none" w="sm" len="sm"/>
          </a:ln>
        </p:spPr>
      </p:cxnSp>
      <p:sp>
        <p:nvSpPr>
          <p:cNvPr id="982" name="Google Shape;982;p63"/>
          <p:cNvSpPr/>
          <p:nvPr/>
        </p:nvSpPr>
        <p:spPr>
          <a:xfrm>
            <a:off x="7010768" y="134170"/>
            <a:ext cx="2491200" cy="434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9CA3AF"/>
              </a:buClr>
              <a:buSzPts val="500"/>
              <a:buFont typeface="JetBrains Mono"/>
              <a:buNone/>
            </a:pPr>
            <a:r>
              <a:rPr lang="en" sz="800" b="1" i="0" u="none" strike="noStrike" cap="none">
                <a:solidFill>
                  <a:srgbClr val="218C21"/>
                </a:solidFill>
                <a:latin typeface="JetBrains Mono"/>
                <a:ea typeface="JetBrains Mono"/>
                <a:cs typeface="JetBrains Mono"/>
                <a:sym typeface="JetBrains Mono"/>
              </a:rPr>
              <a:t>✓</a:t>
            </a:r>
            <a:r>
              <a:rPr lang="en" sz="800" b="1" i="0" u="none" strike="noStrike" cap="none">
                <a:solidFill>
                  <a:srgbClr val="218C21"/>
                </a:solidFill>
                <a:latin typeface="DM Sans"/>
                <a:ea typeface="DM Sans"/>
                <a:cs typeface="DM Sans"/>
                <a:sym typeface="DM Sans"/>
              </a:rPr>
              <a:t> = Aligned with Wiz Recommendation</a:t>
            </a:r>
            <a:br>
              <a:rPr lang="en" sz="800" b="1" i="0" u="none" strike="noStrike" cap="none">
                <a:solidFill>
                  <a:srgbClr val="218C21"/>
                </a:solidFill>
                <a:latin typeface="DM Sans"/>
                <a:ea typeface="DM Sans"/>
                <a:cs typeface="DM Sans"/>
                <a:sym typeface="DM Sans"/>
              </a:rPr>
            </a:br>
            <a:r>
              <a:rPr lang="en" sz="800" b="1" i="0" u="none" strike="noStrike" cap="none">
                <a:solidFill>
                  <a:srgbClr val="CC1212"/>
                </a:solidFill>
                <a:latin typeface="DM Sans"/>
                <a:ea typeface="DM Sans"/>
                <a:cs typeface="DM Sans"/>
                <a:sym typeface="DM Sans"/>
              </a:rPr>
              <a:t>✗ = May want to revisit configuration </a:t>
            </a:r>
            <a:endParaRPr sz="800" b="1" i="0" u="none" strike="noStrike" cap="none">
              <a:solidFill>
                <a:srgbClr val="CC1212"/>
              </a:solidFill>
              <a:latin typeface="DM Sans"/>
              <a:ea typeface="DM Sans"/>
              <a:cs typeface="DM Sans"/>
              <a:sym typeface="DM Sans"/>
            </a:endParaRPr>
          </a:p>
          <a:p>
            <a:pPr marL="0" marR="0" lvl="0" indent="0" algn="l" rtl="0">
              <a:lnSpc>
                <a:spcPct val="100000"/>
              </a:lnSpc>
              <a:spcBef>
                <a:spcPts val="0"/>
              </a:spcBef>
              <a:spcAft>
                <a:spcPts val="0"/>
              </a:spcAft>
              <a:buClr>
                <a:srgbClr val="9CA3AF"/>
              </a:buClr>
              <a:buSzPts val="500"/>
              <a:buFont typeface="JetBrains Mono"/>
              <a:buNone/>
            </a:pPr>
            <a:r>
              <a:rPr lang="en" sz="800" b="1" i="0" u="none" strike="noStrike" cap="none">
                <a:solidFill>
                  <a:srgbClr val="595959"/>
                </a:solidFill>
                <a:latin typeface="DM Sans"/>
                <a:ea typeface="DM Sans"/>
                <a:cs typeface="DM Sans"/>
                <a:sym typeface="DM Sans"/>
              </a:rPr>
              <a:t>N/A = Informational, customer preference</a:t>
            </a:r>
            <a:endParaRPr sz="1000" b="0" i="0" u="none" strike="noStrike" cap="none">
              <a:solidFill>
                <a:srgbClr val="595959"/>
              </a:solidFill>
              <a:latin typeface="DM Sans"/>
              <a:ea typeface="DM Sans"/>
              <a:cs typeface="DM Sans"/>
              <a:sym typeface="DM Sans"/>
            </a:endParaRPr>
          </a:p>
        </p:txBody>
      </p:sp>
      <p:cxnSp>
        <p:nvCxnSpPr>
          <p:cNvPr id="983" name="Google Shape;983;p63"/>
          <p:cNvCxnSpPr/>
          <p:nvPr/>
        </p:nvCxnSpPr>
        <p:spPr>
          <a:xfrm>
            <a:off x="4794607" y="3017982"/>
            <a:ext cx="4012500" cy="0"/>
          </a:xfrm>
          <a:prstGeom prst="straightConnector1">
            <a:avLst/>
          </a:prstGeom>
          <a:noFill/>
          <a:ln w="9525" cap="flat" cmpd="sng">
            <a:solidFill>
              <a:srgbClr val="888888"/>
            </a:solidFill>
            <a:prstDash val="solid"/>
            <a:round/>
            <a:headEnd type="none" w="sm" len="sm"/>
            <a:tailEnd type="none" w="sm" len="sm"/>
          </a:ln>
        </p:spPr>
      </p:cxnSp>
      <p:cxnSp>
        <p:nvCxnSpPr>
          <p:cNvPr id="984" name="Google Shape;984;p63"/>
          <p:cNvCxnSpPr/>
          <p:nvPr/>
        </p:nvCxnSpPr>
        <p:spPr>
          <a:xfrm>
            <a:off x="4794607" y="3220821"/>
            <a:ext cx="4012500" cy="0"/>
          </a:xfrm>
          <a:prstGeom prst="straightConnector1">
            <a:avLst/>
          </a:prstGeom>
          <a:noFill/>
          <a:ln w="9525" cap="flat" cmpd="sng">
            <a:solidFill>
              <a:srgbClr val="888888"/>
            </a:solidFill>
            <a:prstDash val="solid"/>
            <a:round/>
            <a:headEnd type="none" w="sm" len="sm"/>
            <a:tailEnd type="none" w="sm" len="sm"/>
          </a:ln>
        </p:spPr>
      </p:cxnSp>
      <p:cxnSp>
        <p:nvCxnSpPr>
          <p:cNvPr id="985" name="Google Shape;985;p63"/>
          <p:cNvCxnSpPr/>
          <p:nvPr/>
        </p:nvCxnSpPr>
        <p:spPr>
          <a:xfrm>
            <a:off x="4800614" y="3423661"/>
            <a:ext cx="4012500" cy="0"/>
          </a:xfrm>
          <a:prstGeom prst="straightConnector1">
            <a:avLst/>
          </a:prstGeom>
          <a:noFill/>
          <a:ln w="9525" cap="flat" cmpd="sng">
            <a:solidFill>
              <a:srgbClr val="888888"/>
            </a:solidFill>
            <a:prstDash val="solid"/>
            <a:round/>
            <a:headEnd type="none" w="sm" len="sm"/>
            <a:tailEnd type="none" w="sm" len="sm"/>
          </a:ln>
        </p:spPr>
      </p:cxnSp>
      <p:cxnSp>
        <p:nvCxnSpPr>
          <p:cNvPr id="986" name="Google Shape;986;p63"/>
          <p:cNvCxnSpPr/>
          <p:nvPr/>
        </p:nvCxnSpPr>
        <p:spPr>
          <a:xfrm>
            <a:off x="4783871" y="3829340"/>
            <a:ext cx="4012500" cy="0"/>
          </a:xfrm>
          <a:prstGeom prst="straightConnector1">
            <a:avLst/>
          </a:prstGeom>
          <a:noFill/>
          <a:ln w="9525" cap="flat" cmpd="sng">
            <a:solidFill>
              <a:srgbClr val="888888"/>
            </a:solidFill>
            <a:prstDash val="solid"/>
            <a:round/>
            <a:headEnd type="none" w="sm" len="sm"/>
            <a:tailEnd type="none" w="sm" len="sm"/>
          </a:ln>
        </p:spPr>
      </p:cxnSp>
      <p:cxnSp>
        <p:nvCxnSpPr>
          <p:cNvPr id="987" name="Google Shape;987;p63"/>
          <p:cNvCxnSpPr/>
          <p:nvPr/>
        </p:nvCxnSpPr>
        <p:spPr>
          <a:xfrm>
            <a:off x="4778376" y="4032180"/>
            <a:ext cx="4012500" cy="0"/>
          </a:xfrm>
          <a:prstGeom prst="straightConnector1">
            <a:avLst/>
          </a:prstGeom>
          <a:noFill/>
          <a:ln w="9525" cap="flat" cmpd="sng">
            <a:solidFill>
              <a:srgbClr val="888888"/>
            </a:solidFill>
            <a:prstDash val="solid"/>
            <a:round/>
            <a:headEnd type="none" w="sm" len="sm"/>
            <a:tailEnd type="none" w="sm" len="sm"/>
          </a:ln>
        </p:spPr>
      </p:cxnSp>
      <p:cxnSp>
        <p:nvCxnSpPr>
          <p:cNvPr id="988" name="Google Shape;988;p63"/>
          <p:cNvCxnSpPr/>
          <p:nvPr/>
        </p:nvCxnSpPr>
        <p:spPr>
          <a:xfrm>
            <a:off x="4776331" y="4235019"/>
            <a:ext cx="4012500" cy="0"/>
          </a:xfrm>
          <a:prstGeom prst="straightConnector1">
            <a:avLst/>
          </a:prstGeom>
          <a:noFill/>
          <a:ln w="9525" cap="flat" cmpd="sng">
            <a:solidFill>
              <a:srgbClr val="888888"/>
            </a:solidFill>
            <a:prstDash val="solid"/>
            <a:round/>
            <a:headEnd type="none" w="sm" len="sm"/>
            <a:tailEnd type="none" w="sm" len="sm"/>
          </a:ln>
        </p:spPr>
      </p:cxnSp>
      <p:cxnSp>
        <p:nvCxnSpPr>
          <p:cNvPr id="989" name="Google Shape;989;p63"/>
          <p:cNvCxnSpPr/>
          <p:nvPr/>
        </p:nvCxnSpPr>
        <p:spPr>
          <a:xfrm>
            <a:off x="4774287" y="4437859"/>
            <a:ext cx="4012500" cy="0"/>
          </a:xfrm>
          <a:prstGeom prst="straightConnector1">
            <a:avLst/>
          </a:prstGeom>
          <a:noFill/>
          <a:ln w="9525" cap="flat" cmpd="sng">
            <a:solidFill>
              <a:srgbClr val="888888"/>
            </a:solidFill>
            <a:prstDash val="solid"/>
            <a:round/>
            <a:headEnd type="none" w="sm" len="sm"/>
            <a:tailEnd type="none" w="sm" len="sm"/>
          </a:ln>
        </p:spPr>
      </p:cxnSp>
      <p:sp>
        <p:nvSpPr>
          <p:cNvPr id="990" name="Google Shape;990;p63"/>
          <p:cNvSpPr/>
          <p:nvPr/>
        </p:nvSpPr>
        <p:spPr>
          <a:xfrm>
            <a:off x="2516118" y="4183303"/>
            <a:ext cx="875100" cy="23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{{WS_NRTW}}</a:t>
            </a:r>
            <a:endParaRPr sz="700" b="0" i="0" u="none" strike="noStrike" cap="none">
              <a:solidFill>
                <a:schemeClr val="dk1"/>
              </a:solidFill>
              <a:latin typeface="Calibri"/>
              <a:ea typeface="Calibri"/>
              <a:cs typeface="Calibri"/>
              <a:sym typeface="Calibri"/>
            </a:endParaRPr>
          </a:p>
        </p:txBody>
      </p:sp>
      <p:sp>
        <p:nvSpPr>
          <p:cNvPr id="991" name="Google Shape;991;p63"/>
          <p:cNvSpPr txBox="1"/>
          <p:nvPr/>
        </p:nvSpPr>
        <p:spPr>
          <a:xfrm>
            <a:off x="3408069" y="4195636"/>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{{WS_NRTW_R}}</a:t>
            </a:r>
            <a:endParaRPr sz="800" b="0" i="0" u="none" strike="noStrike" cap="none">
              <a:solidFill>
                <a:srgbClr val="595959"/>
              </a:solidFill>
              <a:latin typeface="DM Sans"/>
              <a:ea typeface="DM Sans"/>
              <a:cs typeface="DM Sans"/>
              <a:sym typeface="DM Sans"/>
            </a:endParaRPr>
          </a:p>
        </p:txBody>
      </p:sp>
      <p:sp>
        <p:nvSpPr>
          <p:cNvPr id="992" name="Google Shape;992;p63"/>
          <p:cNvSpPr/>
          <p:nvPr/>
        </p:nvSpPr>
        <p:spPr>
          <a:xfrm>
            <a:off x="2519847" y="4414097"/>
            <a:ext cx="878700" cy="22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{{WS_AFIM}}</a:t>
            </a:r>
            <a:endParaRPr sz="686" b="0" i="0" u="none" strike="noStrike" cap="none">
              <a:solidFill>
                <a:srgbClr val="1A56DB"/>
              </a:solidFill>
              <a:latin typeface="JetBrains Mono"/>
              <a:ea typeface="JetBrains Mono"/>
              <a:cs typeface="JetBrains Mono"/>
              <a:sym typeface="JetBrains Mono"/>
            </a:endParaRPr>
          </a:p>
        </p:txBody>
      </p:sp>
      <p:cxnSp>
        <p:nvCxnSpPr>
          <p:cNvPr id="993" name="Google Shape;993;p63"/>
          <p:cNvCxnSpPr/>
          <p:nvPr/>
        </p:nvCxnSpPr>
        <p:spPr>
          <a:xfrm>
            <a:off x="362488" y="4634025"/>
            <a:ext cx="3993600" cy="0"/>
          </a:xfrm>
          <a:prstGeom prst="straightConnector1">
            <a:avLst/>
          </a:prstGeom>
          <a:noFill/>
          <a:ln w="9525" cap="flat" cmpd="sng">
            <a:solidFill>
              <a:srgbClr val="888888"/>
            </a:solidFill>
            <a:prstDash val="solid"/>
            <a:round/>
            <a:headEnd type="none" w="sm" len="sm"/>
            <a:tailEnd type="none" w="sm" len="sm"/>
          </a:ln>
        </p:spPr>
      </p:cxnSp>
      <p:cxnSp>
        <p:nvCxnSpPr>
          <p:cNvPr id="994" name="Google Shape;994;p63"/>
          <p:cNvCxnSpPr/>
          <p:nvPr/>
        </p:nvCxnSpPr>
        <p:spPr>
          <a:xfrm>
            <a:off x="364163" y="4404042"/>
            <a:ext cx="3993600" cy="0"/>
          </a:xfrm>
          <a:prstGeom prst="straightConnector1">
            <a:avLst/>
          </a:prstGeom>
          <a:noFill/>
          <a:ln w="9525" cap="flat" cmpd="sng">
            <a:solidFill>
              <a:srgbClr val="888888"/>
            </a:solidFill>
            <a:prstDash val="solid"/>
            <a:round/>
            <a:headEnd type="none" w="sm" len="sm"/>
            <a:tailEnd type="none" w="sm" len="sm"/>
          </a:ln>
        </p:spPr>
      </p:cxnSp>
      <p:sp>
        <p:nvSpPr>
          <p:cNvPr id="995" name="Google Shape;995;p63"/>
          <p:cNvSpPr txBox="1"/>
          <p:nvPr/>
        </p:nvSpPr>
        <p:spPr>
          <a:xfrm>
            <a:off x="3403463" y="4423446"/>
            <a:ext cx="939600" cy="173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{{WS_AFIM_R}}</a:t>
            </a:r>
            <a:endParaRPr sz="800" b="0" i="0" u="none" strike="noStrike" cap="none">
              <a:solidFill>
                <a:srgbClr val="595959"/>
              </a:solidFill>
              <a:latin typeface="DM Sans"/>
              <a:ea typeface="DM Sans"/>
              <a:cs typeface="DM Sans"/>
              <a:sym typeface="DM Sans"/>
            </a:endParaRPr>
          </a:p>
        </p:txBody>
      </p:sp>
      <p:pic>
        <p:nvPicPr>
          <p:cNvPr id="996" name="Google Shape;996;p63"/>
          <p:cNvPicPr preferRelativeResize="0"/>
          <p:nvPr/>
        </p:nvPicPr>
        <p:blipFill rotWithShape="1">
          <a:blip r:embed="rId8">
            <a:alphaModFix/>
          </a:blip>
          <a:srcRect/>
          <a:stretch/>
        </p:blipFill>
        <p:spPr>
          <a:xfrm>
            <a:off x="8285539" y="4822005"/>
            <a:ext cx="733511" cy="212512"/>
          </a:xfrm>
          <a:prstGeom prst="rect">
            <a:avLst/>
          </a:prstGeom>
          <a:noFill/>
          <a:ln>
            <a:noFill/>
          </a:ln>
        </p:spPr>
      </p:pic>
      <p:cxnSp>
        <p:nvCxnSpPr>
          <p:cNvPr id="997" name="Google Shape;997;p63"/>
          <p:cNvCxnSpPr/>
          <p:nvPr/>
        </p:nvCxnSpPr>
        <p:spPr>
          <a:xfrm>
            <a:off x="4771650" y="4641518"/>
            <a:ext cx="4012500" cy="0"/>
          </a:xfrm>
          <a:prstGeom prst="straightConnector1">
            <a:avLst/>
          </a:prstGeom>
          <a:noFill/>
          <a:ln w="9525" cap="flat" cmpd="sng">
            <a:solidFill>
              <a:srgbClr val="888888"/>
            </a:solidFill>
            <a:prstDash val="solid"/>
            <a:round/>
            <a:headEnd type="none" w="sm" len="sm"/>
            <a:tailEnd type="none" w="sm" len="sm"/>
          </a:ln>
        </p:spPr>
      </p:cxnSp>
      <p:sp>
        <p:nvSpPr>
          <p:cNvPr id="998" name="Google Shape;998;p63"/>
          <p:cNvSpPr/>
          <p:nvPr/>
        </p:nvSpPr>
        <p:spPr>
          <a:xfrm>
            <a:off x="4852708" y="4446568"/>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DM Sans"/>
                <a:ea typeface="DM Sans"/>
                <a:cs typeface="DM Sans"/>
                <a:sym typeface="DM Sans"/>
              </a:rPr>
              <a:t>Risk: Secret Findings Detection</a:t>
            </a:r>
            <a:endParaRPr sz="737" b="0" i="0" u="none" strike="noStrike" cap="none">
              <a:solidFill>
                <a:srgbClr val="1F2937"/>
              </a:solidFill>
              <a:latin typeface="DM Sans"/>
              <a:ea typeface="DM Sans"/>
              <a:cs typeface="DM Sans"/>
              <a:sym typeface="DM Sans"/>
            </a:endParaRPr>
          </a:p>
        </p:txBody>
      </p:sp>
      <p:sp>
        <p:nvSpPr>
          <p:cNvPr id="999" name="Google Shape;999;p63"/>
          <p:cNvSpPr/>
          <p:nvPr/>
        </p:nvSpPr>
        <p:spPr>
          <a:xfrm>
            <a:off x="4850663" y="4649529"/>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DM Sans"/>
                <a:ea typeface="DM Sans"/>
                <a:cs typeface="DM Sans"/>
                <a:sym typeface="DM Sans"/>
              </a:rPr>
              <a:t>Risk: Secret Validation</a:t>
            </a:r>
            <a:endParaRPr sz="737" b="0" i="0" u="none" strike="noStrike" cap="none">
              <a:solidFill>
                <a:srgbClr val="1F2937"/>
              </a:solidFill>
              <a:latin typeface="DM Sans"/>
              <a:ea typeface="DM Sans"/>
              <a:cs typeface="DM Sans"/>
              <a:sym typeface="DM Sans"/>
            </a:endParaRPr>
          </a:p>
        </p:txBody>
      </p:sp>
      <p:sp>
        <p:nvSpPr>
          <p:cNvPr id="1000" name="Google Shape;1000;p63"/>
          <p:cNvSpPr txBox="1"/>
          <p:nvPr/>
        </p:nvSpPr>
        <p:spPr>
          <a:xfrm>
            <a:off x="7752775" y="4481811"/>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DM Sans"/>
                <a:ea typeface="DM Sans"/>
                <a:cs typeface="DM Sans"/>
                <a:sym typeface="DM Sans"/>
              </a:rPr>
              <a:t>{{ASM_SEC_R}}</a:t>
            </a:r>
            <a:endParaRPr sz="737" b="0" i="0" u="none" strike="noStrike" cap="none">
              <a:solidFill>
                <a:srgbClr val="595959"/>
              </a:solidFill>
              <a:latin typeface="DM Sans"/>
              <a:ea typeface="DM Sans"/>
              <a:cs typeface="DM Sans"/>
              <a:sym typeface="DM Sans"/>
            </a:endParaRPr>
          </a:p>
        </p:txBody>
      </p:sp>
      <p:sp>
        <p:nvSpPr>
          <p:cNvPr id="1001" name="Google Shape;1001;p63"/>
          <p:cNvSpPr txBox="1"/>
          <p:nvPr/>
        </p:nvSpPr>
        <p:spPr>
          <a:xfrm>
            <a:off x="7750731" y="4685015"/>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DM Sans"/>
                <a:ea typeface="DM Sans"/>
                <a:cs typeface="DM Sans"/>
                <a:sym typeface="DM Sans"/>
              </a:rPr>
              <a:t>{{ASM_SV_R}}</a:t>
            </a:r>
            <a:endParaRPr sz="737" b="0" i="0" u="none" strike="noStrike" cap="none">
              <a:solidFill>
                <a:srgbClr val="595959"/>
              </a:solidFill>
              <a:latin typeface="DM Sans"/>
              <a:ea typeface="DM Sans"/>
              <a:cs typeface="DM Sans"/>
              <a:sym typeface="DM Sans"/>
            </a:endParaRPr>
          </a:p>
        </p:txBody>
      </p:sp>
      <p:sp>
        <p:nvSpPr>
          <p:cNvPr id="1002" name="Google Shape;1002;p63"/>
          <p:cNvSpPr/>
          <p:nvPr/>
        </p:nvSpPr>
        <p:spPr>
          <a:xfrm>
            <a:off x="6899000" y="4446366"/>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JetBrains Mono"/>
              <a:buNone/>
            </a:pPr>
            <a:r>
              <a:rPr lang="en" sz="645" b="0" i="0" u="none" strike="noStrike" cap="none">
                <a:solidFill>
                  <a:srgbClr val="1A56DB"/>
                </a:solidFill>
                <a:latin typeface="JetBrains Mono"/>
                <a:ea typeface="JetBrains Mono"/>
                <a:cs typeface="JetBrains Mono"/>
                <a:sym typeface="JetBrains Mono"/>
              </a:rPr>
              <a:t>{{ASM_SEC}}</a:t>
            </a:r>
            <a:endParaRPr sz="645" b="0" i="0" u="none" strike="noStrike" cap="none">
              <a:solidFill>
                <a:schemeClr val="dk1"/>
              </a:solidFill>
              <a:latin typeface="Calibri"/>
              <a:ea typeface="Calibri"/>
              <a:cs typeface="Calibri"/>
              <a:sym typeface="Calibri"/>
            </a:endParaRPr>
          </a:p>
        </p:txBody>
      </p:sp>
      <p:sp>
        <p:nvSpPr>
          <p:cNvPr id="1003" name="Google Shape;1003;p63"/>
          <p:cNvSpPr/>
          <p:nvPr/>
        </p:nvSpPr>
        <p:spPr>
          <a:xfrm>
            <a:off x="6896955" y="4649311"/>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JetBrains Mono"/>
              <a:buNone/>
            </a:pPr>
            <a:r>
              <a:rPr lang="en" sz="645" b="0" i="0" u="none" strike="noStrike" cap="none">
                <a:solidFill>
                  <a:srgbClr val="1A56DB"/>
                </a:solidFill>
                <a:latin typeface="JetBrains Mono"/>
                <a:ea typeface="JetBrains Mono"/>
                <a:cs typeface="JetBrains Mono"/>
                <a:sym typeface="JetBrains Mono"/>
              </a:rPr>
              <a:t>{{ASM_SV}}</a:t>
            </a:r>
            <a:endParaRPr sz="645" b="0" i="0" u="none" strike="noStrike" cap="none">
              <a:solidFill>
                <a:schemeClr val="dk1"/>
              </a:solidFill>
              <a:latin typeface="Calibri"/>
              <a:ea typeface="Calibri"/>
              <a:cs typeface="Calibri"/>
              <a:sym typeface="Calibri"/>
            </a:endParaRPr>
          </a:p>
        </p:txBody>
      </p:sp>
      <p:cxnSp>
        <p:nvCxnSpPr>
          <p:cNvPr id="1004" name="Google Shape;1004;p63"/>
          <p:cNvCxnSpPr/>
          <p:nvPr/>
        </p:nvCxnSpPr>
        <p:spPr>
          <a:xfrm rot="10800000" flipH="1">
            <a:off x="4779864" y="4844405"/>
            <a:ext cx="4011300" cy="13800"/>
          </a:xfrm>
          <a:prstGeom prst="straightConnector1">
            <a:avLst/>
          </a:prstGeom>
          <a:noFill/>
          <a:ln w="9525" cap="flat" cmpd="sng">
            <a:solidFill>
              <a:srgbClr val="888888"/>
            </a:solidFill>
            <a:prstDash val="solid"/>
            <a:round/>
            <a:headEnd type="none" w="sm" len="sm"/>
            <a:tailEnd type="none" w="sm" len="sm"/>
          </a:ln>
        </p:spPr>
      </p:cxnSp>
      <p:sp>
        <p:nvSpPr>
          <p:cNvPr id="1005" name="Google Shape;1005;p63"/>
          <p:cNvSpPr/>
          <p:nvPr/>
        </p:nvSpPr>
        <p:spPr>
          <a:xfrm>
            <a:off x="4849232" y="4864397"/>
            <a:ext cx="1987200" cy="19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645"/>
              <a:buFont typeface="DM Sans"/>
              <a:buNone/>
            </a:pPr>
            <a:r>
              <a:rPr lang="en" sz="737" b="0" i="0" u="none" strike="noStrike" cap="none">
                <a:solidFill>
                  <a:srgbClr val="1F2937"/>
                </a:solidFill>
                <a:latin typeface="DM Sans"/>
                <a:ea typeface="DM Sans"/>
                <a:cs typeface="DM Sans"/>
                <a:sym typeface="DM Sans"/>
              </a:rPr>
              <a:t>Application Endpoint Exposure Level</a:t>
            </a:r>
            <a:endParaRPr sz="737" b="0" i="0" u="none" strike="noStrike" cap="none">
              <a:solidFill>
                <a:srgbClr val="1F2937"/>
              </a:solidFill>
              <a:latin typeface="DM Sans"/>
              <a:ea typeface="DM Sans"/>
              <a:cs typeface="DM Sans"/>
              <a:sym typeface="DM Sans"/>
            </a:endParaRPr>
          </a:p>
        </p:txBody>
      </p:sp>
      <p:sp>
        <p:nvSpPr>
          <p:cNvPr id="1006" name="Google Shape;1006;p63"/>
          <p:cNvSpPr txBox="1"/>
          <p:nvPr/>
        </p:nvSpPr>
        <p:spPr>
          <a:xfrm>
            <a:off x="7761860" y="4899639"/>
            <a:ext cx="1031700" cy="140400"/>
          </a:xfrm>
          <a:prstGeom prst="rect">
            <a:avLst/>
          </a:prstGeom>
          <a:noFill/>
          <a:ln>
            <a:noFill/>
          </a:ln>
        </p:spPr>
        <p:txBody>
          <a:bodyPr spcFirstLastPara="1" wrap="square" lIns="63150" tIns="63150" rIns="63150" bIns="63150" anchor="ctr" anchorCtr="0">
            <a:noAutofit/>
          </a:bodyPr>
          <a:lstStyle/>
          <a:p>
            <a:pPr marL="0" marR="0" lvl="0" indent="0" algn="ctr" rtl="0">
              <a:lnSpc>
                <a:spcPct val="100000"/>
              </a:lnSpc>
              <a:spcBef>
                <a:spcPts val="0"/>
              </a:spcBef>
              <a:spcAft>
                <a:spcPts val="0"/>
              </a:spcAft>
              <a:buClr>
                <a:srgbClr val="000000"/>
              </a:buClr>
              <a:buSzPts val="737"/>
              <a:buFont typeface="Arial"/>
              <a:buNone/>
            </a:pPr>
            <a:r>
              <a:rPr lang="en" sz="737" b="0" i="0" u="none" strike="noStrike" cap="none">
                <a:solidFill>
                  <a:srgbClr val="595959"/>
                </a:solidFill>
                <a:latin typeface="DM Sans"/>
                <a:ea typeface="DM Sans"/>
                <a:cs typeface="DM Sans"/>
                <a:sym typeface="DM Sans"/>
              </a:rPr>
              <a:t>{{ASM_EXPL_R}}</a:t>
            </a:r>
            <a:endParaRPr sz="737" b="0" i="0" u="none" strike="noStrike" cap="none">
              <a:solidFill>
                <a:srgbClr val="595959"/>
              </a:solidFill>
              <a:latin typeface="DM Sans"/>
              <a:ea typeface="DM Sans"/>
              <a:cs typeface="DM Sans"/>
              <a:sym typeface="DM Sans"/>
            </a:endParaRPr>
          </a:p>
        </p:txBody>
      </p:sp>
      <p:sp>
        <p:nvSpPr>
          <p:cNvPr id="1007" name="Google Shape;1007;p63"/>
          <p:cNvSpPr/>
          <p:nvPr/>
        </p:nvSpPr>
        <p:spPr>
          <a:xfrm>
            <a:off x="6895524" y="4864194"/>
            <a:ext cx="882000" cy="19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645"/>
              <a:buFont typeface="JetBrains Mono"/>
              <a:buNone/>
            </a:pPr>
            <a:r>
              <a:rPr lang="en" sz="645" b="0" i="0" u="none" strike="noStrike" cap="none">
                <a:solidFill>
                  <a:srgbClr val="1A56DB"/>
                </a:solidFill>
                <a:latin typeface="JetBrains Mono"/>
                <a:ea typeface="JetBrains Mono"/>
                <a:cs typeface="JetBrains Mono"/>
                <a:sym typeface="JetBrains Mono"/>
              </a:rPr>
              <a:t>{{ASM_EXPL}}</a:t>
            </a:r>
            <a:endParaRPr sz="645" b="0" i="0" u="none" strike="noStrike" cap="none">
              <a:solidFill>
                <a:schemeClr val="dk1"/>
              </a:solidFill>
              <a:latin typeface="Calibri"/>
              <a:ea typeface="Calibri"/>
              <a:cs typeface="Calibri"/>
              <a:sym typeface="Calibri"/>
            </a:endParaRPr>
          </a:p>
        </p:txBody>
      </p:sp>
      <p:cxnSp>
        <p:nvCxnSpPr>
          <p:cNvPr id="1008" name="Google Shape;1008;p63"/>
          <p:cNvCxnSpPr/>
          <p:nvPr/>
        </p:nvCxnSpPr>
        <p:spPr>
          <a:xfrm rot="10800000" flipH="1">
            <a:off x="4787783" y="5064960"/>
            <a:ext cx="4011300" cy="13800"/>
          </a:xfrm>
          <a:prstGeom prst="straightConnector1">
            <a:avLst/>
          </a:prstGeom>
          <a:noFill/>
          <a:ln w="9525" cap="flat" cmpd="sng">
            <a:solidFill>
              <a:srgbClr val="888888"/>
            </a:solidFill>
            <a:prstDash val="solid"/>
            <a:round/>
            <a:headEnd type="none" w="sm" len="sm"/>
            <a:tailEnd type="none" w="sm" len="sm"/>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13"/>
        <p:cNvGrpSpPr/>
        <p:nvPr/>
      </p:nvGrpSpPr>
      <p:grpSpPr>
        <a:xfrm>
          <a:off x="0" y="0"/>
          <a:ext cx="0" cy="0"/>
          <a:chOff x="0" y="0"/>
          <a:chExt cx="0" cy="0"/>
        </a:xfrm>
      </p:grpSpPr>
      <p:pic>
        <p:nvPicPr>
          <p:cNvPr id="1014" name="Google Shape;1014;p64"/>
          <p:cNvPicPr preferRelativeResize="0"/>
          <p:nvPr/>
        </p:nvPicPr>
        <p:blipFill rotWithShape="1">
          <a:blip r:embed="rId3">
            <a:alphaModFix/>
          </a:blip>
          <a:srcRect/>
          <a:stretch/>
        </p:blipFill>
        <p:spPr>
          <a:xfrm>
            <a:off x="8048746" y="4692300"/>
            <a:ext cx="943800" cy="381270"/>
          </a:xfrm>
          <a:prstGeom prst="rect">
            <a:avLst/>
          </a:prstGeom>
          <a:noFill/>
          <a:ln>
            <a:noFill/>
          </a:ln>
        </p:spPr>
      </p:pic>
      <p:sp>
        <p:nvSpPr>
          <p:cNvPr id="1015" name="Google Shape;1015;p64"/>
          <p:cNvSpPr/>
          <p:nvPr/>
        </p:nvSpPr>
        <p:spPr>
          <a:xfrm>
            <a:off x="0" y="0"/>
            <a:ext cx="9144000" cy="54900"/>
          </a:xfrm>
          <a:prstGeom prst="rect">
            <a:avLst/>
          </a:prstGeom>
          <a:solidFill>
            <a:srgbClr val="1A56D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6" name="Google Shape;1016;p64"/>
          <p:cNvSpPr/>
          <p:nvPr/>
        </p:nvSpPr>
        <p:spPr>
          <a:xfrm>
            <a:off x="457200" y="164588"/>
            <a:ext cx="6944400" cy="365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1600"/>
              <a:buFont typeface="DM Sans"/>
              <a:buNone/>
            </a:pPr>
            <a:r>
              <a:rPr lang="en" sz="2000" b="0" i="0" u="none" strike="noStrike" cap="none">
                <a:solidFill>
                  <a:schemeClr val="dk2"/>
                </a:solidFill>
                <a:latin typeface="DM Sans"/>
                <a:ea typeface="DM Sans"/>
                <a:cs typeface="DM Sans"/>
                <a:sym typeface="DM Sans"/>
              </a:rPr>
              <a:t>Scanner Configuration — Vulnerability &amp; Data Security</a:t>
            </a:r>
            <a:endParaRPr sz="2000" b="0" i="0" u="none" strike="noStrike" cap="none">
              <a:solidFill>
                <a:schemeClr val="dk2"/>
              </a:solidFill>
              <a:latin typeface="DM Sans"/>
              <a:ea typeface="DM Sans"/>
              <a:cs typeface="DM Sans"/>
              <a:sym typeface="DM Sans"/>
            </a:endParaRPr>
          </a:p>
        </p:txBody>
      </p:sp>
      <p:sp>
        <p:nvSpPr>
          <p:cNvPr id="1017" name="Google Shape;1017;p64"/>
          <p:cNvSpPr/>
          <p:nvPr/>
        </p:nvSpPr>
        <p:spPr>
          <a:xfrm>
            <a:off x="457200" y="548640"/>
            <a:ext cx="73152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900"/>
              <a:buFont typeface="DM Sans"/>
              <a:buNone/>
            </a:pPr>
            <a:r>
              <a:rPr lang="en" sz="1100" b="0" i="0" u="none" strike="noStrike" cap="none">
                <a:solidFill>
                  <a:srgbClr val="595959"/>
                </a:solidFill>
                <a:latin typeface="DM Sans"/>
                <a:ea typeface="DM Sans"/>
                <a:cs typeface="DM Sans"/>
                <a:sym typeface="DM Sans"/>
              </a:rPr>
              <a:t>Current vulnerability scanner tuning and data security scanning coverage.</a:t>
            </a:r>
            <a:endParaRPr sz="1100" b="0" i="0" u="none" strike="noStrike" cap="none">
              <a:solidFill>
                <a:srgbClr val="595959"/>
              </a:solidFill>
              <a:latin typeface="DM Sans"/>
              <a:ea typeface="DM Sans"/>
              <a:cs typeface="DM Sans"/>
              <a:sym typeface="DM Sans"/>
            </a:endParaRPr>
          </a:p>
        </p:txBody>
      </p:sp>
      <p:sp>
        <p:nvSpPr>
          <p:cNvPr id="1018" name="Google Shape;1018;p64"/>
          <p:cNvSpPr/>
          <p:nvPr/>
        </p:nvSpPr>
        <p:spPr>
          <a:xfrm>
            <a:off x="365760" y="868680"/>
            <a:ext cx="3977700" cy="274200"/>
          </a:xfrm>
          <a:prstGeom prst="rect">
            <a:avLst/>
          </a:prstGeom>
          <a:solidFill>
            <a:srgbClr val="EFE6C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9" name="Google Shape;1019;p64"/>
          <p:cNvSpPr/>
          <p:nvPr/>
        </p:nvSpPr>
        <p:spPr>
          <a:xfrm>
            <a:off x="365760" y="868680"/>
            <a:ext cx="36600" cy="274200"/>
          </a:xfrm>
          <a:prstGeom prst="rect">
            <a:avLst/>
          </a:prstGeom>
          <a:solidFill>
            <a:srgbClr val="D9770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0" name="Google Shape;1020;p64"/>
          <p:cNvSpPr/>
          <p:nvPr/>
        </p:nvSpPr>
        <p:spPr>
          <a:xfrm>
            <a:off x="502920" y="847856"/>
            <a:ext cx="37947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97706"/>
              </a:buClr>
              <a:buSzPts val="1000"/>
              <a:buFont typeface="DM Sans"/>
              <a:buNone/>
            </a:pPr>
            <a:r>
              <a:rPr lang="en" sz="1100" b="1" i="0" u="sng" strike="noStrike" cap="none">
                <a:solidFill>
                  <a:schemeClr val="hlink"/>
                </a:solidFill>
                <a:latin typeface="DM Sans"/>
                <a:ea typeface="DM Sans"/>
                <a:cs typeface="DM Sans"/>
                <a:sym typeface="DM Sans"/>
                <a:hlinkClick r:id="rId4"/>
              </a:rPr>
              <a:t>VULNERABILITY SCANNER</a:t>
            </a:r>
            <a:r>
              <a:rPr lang="en" sz="1100" b="0" i="0" u="none" strike="noStrike" cap="none">
                <a:solidFill>
                  <a:srgbClr val="D97706"/>
                </a:solidFill>
                <a:latin typeface="Calibri"/>
                <a:ea typeface="Calibri"/>
                <a:cs typeface="Calibri"/>
                <a:sym typeface="Calibri"/>
              </a:rPr>
              <a:t> </a:t>
            </a:r>
            <a:r>
              <a:rPr lang="en" sz="1300" b="0" i="0" u="none" strike="noStrike" cap="none">
                <a:solidFill>
                  <a:schemeClr val="hlink"/>
                </a:solidFill>
                <a:uFill>
                  <a:noFill/>
                </a:uFill>
                <a:latin typeface="Poppins"/>
                <a:ea typeface="Poppins"/>
                <a:cs typeface="Poppins"/>
                <a:sym typeface="Poppins"/>
                <a:hlinkClick r:id="rId5"/>
              </a:rPr>
              <a:t>↗</a:t>
            </a:r>
            <a:endParaRPr sz="900" b="0" i="0" u="none" strike="noStrike" cap="none">
              <a:solidFill>
                <a:srgbClr val="D97706"/>
              </a:solidFill>
              <a:latin typeface="Calibri"/>
              <a:ea typeface="Calibri"/>
              <a:cs typeface="Calibri"/>
              <a:sym typeface="Calibri"/>
            </a:endParaRPr>
          </a:p>
        </p:txBody>
      </p:sp>
      <p:sp>
        <p:nvSpPr>
          <p:cNvPr id="1021" name="Google Shape;1021;p64"/>
          <p:cNvSpPr/>
          <p:nvPr/>
        </p:nvSpPr>
        <p:spPr>
          <a:xfrm>
            <a:off x="371458" y="1191602"/>
            <a:ext cx="3977700" cy="240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2" name="Google Shape;1022;p64"/>
          <p:cNvSpPr/>
          <p:nvPr/>
        </p:nvSpPr>
        <p:spPr>
          <a:xfrm>
            <a:off x="371454" y="1180568"/>
            <a:ext cx="1988700" cy="240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Setting</a:t>
            </a:r>
            <a:endParaRPr sz="1000" b="0" i="0" u="none" strike="noStrike" cap="none">
              <a:solidFill>
                <a:schemeClr val="dk1"/>
              </a:solidFill>
              <a:latin typeface="Calibri"/>
              <a:ea typeface="Calibri"/>
              <a:cs typeface="Calibri"/>
              <a:sym typeface="Calibri"/>
            </a:endParaRPr>
          </a:p>
        </p:txBody>
      </p:sp>
      <p:sp>
        <p:nvSpPr>
          <p:cNvPr id="1023" name="Google Shape;1023;p64"/>
          <p:cNvSpPr/>
          <p:nvPr/>
        </p:nvSpPr>
        <p:spPr>
          <a:xfrm>
            <a:off x="2537260" y="1191602"/>
            <a:ext cx="875100" cy="240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Status</a:t>
            </a:r>
            <a:endParaRPr sz="1000" b="0" i="0" u="none" strike="noStrike" cap="none">
              <a:solidFill>
                <a:schemeClr val="dk1"/>
              </a:solidFill>
              <a:latin typeface="Calibri"/>
              <a:ea typeface="Calibri"/>
              <a:cs typeface="Calibri"/>
              <a:sym typeface="Calibri"/>
            </a:endParaRPr>
          </a:p>
        </p:txBody>
      </p:sp>
      <p:sp>
        <p:nvSpPr>
          <p:cNvPr id="1024" name="Google Shape;1024;p64"/>
          <p:cNvSpPr/>
          <p:nvPr/>
        </p:nvSpPr>
        <p:spPr>
          <a:xfrm>
            <a:off x="3429612" y="1186270"/>
            <a:ext cx="1034100" cy="240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Recommended</a:t>
            </a:r>
            <a:endParaRPr sz="1000" b="0" i="0" u="none" strike="noStrike" cap="none">
              <a:solidFill>
                <a:schemeClr val="dk1"/>
              </a:solidFill>
              <a:latin typeface="Calibri"/>
              <a:ea typeface="Calibri"/>
              <a:cs typeface="Calibri"/>
              <a:sym typeface="Calibri"/>
            </a:endParaRPr>
          </a:p>
        </p:txBody>
      </p:sp>
      <p:sp>
        <p:nvSpPr>
          <p:cNvPr id="1025" name="Google Shape;1025;p64"/>
          <p:cNvSpPr/>
          <p:nvPr/>
        </p:nvSpPr>
        <p:spPr>
          <a:xfrm>
            <a:off x="371449" y="1431983"/>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26" name="Google Shape;1026;p64"/>
          <p:cNvCxnSpPr/>
          <p:nvPr/>
        </p:nvCxnSpPr>
        <p:spPr>
          <a:xfrm>
            <a:off x="371449" y="1678076"/>
            <a:ext cx="3977700" cy="0"/>
          </a:xfrm>
          <a:prstGeom prst="straightConnector1">
            <a:avLst/>
          </a:prstGeom>
          <a:noFill/>
          <a:ln w="9525" cap="flat" cmpd="sng">
            <a:solidFill>
              <a:srgbClr val="E5E7EB"/>
            </a:solidFill>
            <a:prstDash val="solid"/>
            <a:round/>
            <a:headEnd type="none" w="sm" len="sm"/>
            <a:tailEnd type="none" w="sm" len="sm"/>
          </a:ln>
        </p:spPr>
      </p:cxnSp>
      <p:sp>
        <p:nvSpPr>
          <p:cNvPr id="1027" name="Google Shape;1027;p64"/>
          <p:cNvSpPr/>
          <p:nvPr/>
        </p:nvSpPr>
        <p:spPr>
          <a:xfrm>
            <a:off x="371445" y="1431975"/>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OS-Package Managed Code Libraries</a:t>
            </a:r>
            <a:endParaRPr sz="800" b="0" i="0" u="none" strike="noStrike" cap="none">
              <a:solidFill>
                <a:schemeClr val="dk1"/>
              </a:solidFill>
              <a:latin typeface="Calibri"/>
              <a:ea typeface="Calibri"/>
              <a:cs typeface="Calibri"/>
              <a:sym typeface="Calibri"/>
            </a:endParaRPr>
          </a:p>
        </p:txBody>
      </p:sp>
      <p:sp>
        <p:nvSpPr>
          <p:cNvPr id="1028" name="Google Shape;1028;p64"/>
          <p:cNvSpPr/>
          <p:nvPr/>
        </p:nvSpPr>
        <p:spPr>
          <a:xfrm>
            <a:off x="2569586" y="1431983"/>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{{VS_OSPKG}}</a:t>
            </a:r>
            <a:endParaRPr sz="700" b="0" i="0" u="none" strike="noStrike" cap="none">
              <a:solidFill>
                <a:schemeClr val="dk1"/>
              </a:solidFill>
              <a:latin typeface="Calibri"/>
              <a:ea typeface="Calibri"/>
              <a:cs typeface="Calibri"/>
              <a:sym typeface="Calibri"/>
            </a:endParaRPr>
          </a:p>
        </p:txBody>
      </p:sp>
      <p:sp>
        <p:nvSpPr>
          <p:cNvPr id="1029" name="Google Shape;1029;p64"/>
          <p:cNvSpPr/>
          <p:nvPr/>
        </p:nvSpPr>
        <p:spPr>
          <a:xfrm>
            <a:off x="371449" y="1678076"/>
            <a:ext cx="3977700" cy="24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30" name="Google Shape;1030;p64"/>
          <p:cNvCxnSpPr/>
          <p:nvPr/>
        </p:nvCxnSpPr>
        <p:spPr>
          <a:xfrm>
            <a:off x="355736" y="1916264"/>
            <a:ext cx="3977700" cy="0"/>
          </a:xfrm>
          <a:prstGeom prst="straightConnector1">
            <a:avLst/>
          </a:prstGeom>
          <a:noFill/>
          <a:ln w="9525" cap="flat" cmpd="sng">
            <a:solidFill>
              <a:srgbClr val="888888"/>
            </a:solidFill>
            <a:prstDash val="solid"/>
            <a:round/>
            <a:headEnd type="none" w="sm" len="sm"/>
            <a:tailEnd type="none" w="sm" len="sm"/>
          </a:ln>
        </p:spPr>
      </p:cxnSp>
      <p:sp>
        <p:nvSpPr>
          <p:cNvPr id="1031" name="Google Shape;1031;p64"/>
          <p:cNvSpPr/>
          <p:nvPr/>
        </p:nvSpPr>
        <p:spPr>
          <a:xfrm>
            <a:off x="371445" y="1678069"/>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Windows App Bundled Libraries</a:t>
            </a:r>
            <a:endParaRPr sz="800" b="0" i="0" u="none" strike="noStrike" cap="none">
              <a:solidFill>
                <a:schemeClr val="dk1"/>
              </a:solidFill>
              <a:latin typeface="Calibri"/>
              <a:ea typeface="Calibri"/>
              <a:cs typeface="Calibri"/>
              <a:sym typeface="Calibri"/>
            </a:endParaRPr>
          </a:p>
        </p:txBody>
      </p:sp>
      <p:sp>
        <p:nvSpPr>
          <p:cNvPr id="1032" name="Google Shape;1032;p64"/>
          <p:cNvSpPr/>
          <p:nvPr/>
        </p:nvSpPr>
        <p:spPr>
          <a:xfrm>
            <a:off x="2569586" y="1678076"/>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{{VS_WINB}}</a:t>
            </a:r>
            <a:endParaRPr sz="700" b="0" i="0" u="none" strike="noStrike" cap="none">
              <a:solidFill>
                <a:schemeClr val="dk1"/>
              </a:solidFill>
              <a:latin typeface="Calibri"/>
              <a:ea typeface="Calibri"/>
              <a:cs typeface="Calibri"/>
              <a:sym typeface="Calibri"/>
            </a:endParaRPr>
          </a:p>
        </p:txBody>
      </p:sp>
      <p:sp>
        <p:nvSpPr>
          <p:cNvPr id="1033" name="Google Shape;1033;p64"/>
          <p:cNvSpPr/>
          <p:nvPr/>
        </p:nvSpPr>
        <p:spPr>
          <a:xfrm>
            <a:off x="371449" y="1924169"/>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34" name="Google Shape;1034;p64"/>
          <p:cNvCxnSpPr/>
          <p:nvPr/>
        </p:nvCxnSpPr>
        <p:spPr>
          <a:xfrm>
            <a:off x="371449" y="2170262"/>
            <a:ext cx="3977700" cy="0"/>
          </a:xfrm>
          <a:prstGeom prst="straightConnector1">
            <a:avLst/>
          </a:prstGeom>
          <a:noFill/>
          <a:ln w="9525" cap="flat" cmpd="sng">
            <a:solidFill>
              <a:srgbClr val="E5E7EB"/>
            </a:solidFill>
            <a:prstDash val="solid"/>
            <a:round/>
            <a:headEnd type="none" w="sm" len="sm"/>
            <a:tailEnd type="none" w="sm" len="sm"/>
          </a:ln>
        </p:spPr>
      </p:cxnSp>
      <p:sp>
        <p:nvSpPr>
          <p:cNvPr id="1035" name="Google Shape;1035;p64"/>
          <p:cNvSpPr/>
          <p:nvPr/>
        </p:nvSpPr>
        <p:spPr>
          <a:xfrm>
            <a:off x="371445" y="1924162"/>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Go Standard Library</a:t>
            </a:r>
            <a:endParaRPr sz="800" b="0" i="0" u="none" strike="noStrike" cap="none">
              <a:solidFill>
                <a:schemeClr val="dk1"/>
              </a:solidFill>
              <a:latin typeface="Calibri"/>
              <a:ea typeface="Calibri"/>
              <a:cs typeface="Calibri"/>
              <a:sym typeface="Calibri"/>
            </a:endParaRPr>
          </a:p>
        </p:txBody>
      </p:sp>
      <p:sp>
        <p:nvSpPr>
          <p:cNvPr id="1036" name="Google Shape;1036;p64"/>
          <p:cNvSpPr/>
          <p:nvPr/>
        </p:nvSpPr>
        <p:spPr>
          <a:xfrm>
            <a:off x="2569586" y="1924169"/>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{{VS_GOSTD}}</a:t>
            </a:r>
            <a:endParaRPr sz="700" b="0" i="0" u="none" strike="noStrike" cap="none">
              <a:solidFill>
                <a:schemeClr val="dk1"/>
              </a:solidFill>
              <a:latin typeface="Calibri"/>
              <a:ea typeface="Calibri"/>
              <a:cs typeface="Calibri"/>
              <a:sym typeface="Calibri"/>
            </a:endParaRPr>
          </a:p>
        </p:txBody>
      </p:sp>
      <p:sp>
        <p:nvSpPr>
          <p:cNvPr id="1037" name="Google Shape;1037;p64"/>
          <p:cNvSpPr/>
          <p:nvPr/>
        </p:nvSpPr>
        <p:spPr>
          <a:xfrm>
            <a:off x="371449" y="2170262"/>
            <a:ext cx="3977700" cy="24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38" name="Google Shape;1038;p64"/>
          <p:cNvCxnSpPr/>
          <p:nvPr/>
        </p:nvCxnSpPr>
        <p:spPr>
          <a:xfrm>
            <a:off x="358777" y="2406445"/>
            <a:ext cx="3977700" cy="0"/>
          </a:xfrm>
          <a:prstGeom prst="straightConnector1">
            <a:avLst/>
          </a:prstGeom>
          <a:noFill/>
          <a:ln w="9525" cap="flat" cmpd="sng">
            <a:solidFill>
              <a:srgbClr val="888888"/>
            </a:solidFill>
            <a:prstDash val="solid"/>
            <a:round/>
            <a:headEnd type="none" w="sm" len="sm"/>
            <a:tailEnd type="none" w="sm" len="sm"/>
          </a:ln>
        </p:spPr>
      </p:cxnSp>
      <p:sp>
        <p:nvSpPr>
          <p:cNvPr id="1039" name="Google Shape;1039;p64"/>
          <p:cNvSpPr/>
          <p:nvPr/>
        </p:nvSpPr>
        <p:spPr>
          <a:xfrm>
            <a:off x="371445" y="2170256"/>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Code Library Exclusion Paths (Legacy)</a:t>
            </a:r>
            <a:endParaRPr sz="800" b="0" i="0" u="none" strike="noStrike" cap="none">
              <a:solidFill>
                <a:schemeClr val="dk1"/>
              </a:solidFill>
              <a:latin typeface="Calibri"/>
              <a:ea typeface="Calibri"/>
              <a:cs typeface="Calibri"/>
              <a:sym typeface="Calibri"/>
            </a:endParaRPr>
          </a:p>
        </p:txBody>
      </p:sp>
      <p:sp>
        <p:nvSpPr>
          <p:cNvPr id="1040" name="Google Shape;1040;p64"/>
          <p:cNvSpPr/>
          <p:nvPr/>
        </p:nvSpPr>
        <p:spPr>
          <a:xfrm>
            <a:off x="2569586" y="2170262"/>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{{VS_EXCL}}</a:t>
            </a:r>
            <a:endParaRPr sz="700" b="0" i="0" u="none" strike="noStrike" cap="none">
              <a:solidFill>
                <a:schemeClr val="dk1"/>
              </a:solidFill>
              <a:latin typeface="Calibri"/>
              <a:ea typeface="Calibri"/>
              <a:cs typeface="Calibri"/>
              <a:sym typeface="Calibri"/>
            </a:endParaRPr>
          </a:p>
        </p:txBody>
      </p:sp>
      <p:sp>
        <p:nvSpPr>
          <p:cNvPr id="1041" name="Google Shape;1041;p64"/>
          <p:cNvSpPr/>
          <p:nvPr/>
        </p:nvSpPr>
        <p:spPr>
          <a:xfrm>
            <a:off x="371449" y="2416355"/>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42" name="Google Shape;1042;p64"/>
          <p:cNvCxnSpPr/>
          <p:nvPr/>
        </p:nvCxnSpPr>
        <p:spPr>
          <a:xfrm>
            <a:off x="361818" y="2665905"/>
            <a:ext cx="3977700" cy="0"/>
          </a:xfrm>
          <a:prstGeom prst="straightConnector1">
            <a:avLst/>
          </a:prstGeom>
          <a:noFill/>
          <a:ln w="9525" cap="flat" cmpd="sng">
            <a:solidFill>
              <a:srgbClr val="E5E7EB"/>
            </a:solidFill>
            <a:prstDash val="solid"/>
            <a:round/>
            <a:headEnd type="none" w="sm" len="sm"/>
            <a:tailEnd type="none" w="sm" len="sm"/>
          </a:ln>
        </p:spPr>
      </p:cxnSp>
      <p:sp>
        <p:nvSpPr>
          <p:cNvPr id="1043" name="Google Shape;1043;p64"/>
          <p:cNvSpPr/>
          <p:nvPr/>
        </p:nvSpPr>
        <p:spPr>
          <a:xfrm>
            <a:off x="371445" y="2416350"/>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Ignore Red Hat OpenShift Vulns</a:t>
            </a:r>
            <a:endParaRPr sz="800" b="0" i="0" u="none" strike="noStrike" cap="none">
              <a:solidFill>
                <a:schemeClr val="dk1"/>
              </a:solidFill>
              <a:latin typeface="Calibri"/>
              <a:ea typeface="Calibri"/>
              <a:cs typeface="Calibri"/>
              <a:sym typeface="Calibri"/>
            </a:endParaRPr>
          </a:p>
        </p:txBody>
      </p:sp>
      <p:sp>
        <p:nvSpPr>
          <p:cNvPr id="1044" name="Google Shape;1044;p64"/>
          <p:cNvSpPr/>
          <p:nvPr/>
        </p:nvSpPr>
        <p:spPr>
          <a:xfrm>
            <a:off x="2569586" y="2416355"/>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{{VS_RHOS}}</a:t>
            </a:r>
            <a:endParaRPr sz="700" b="0" i="0" u="none" strike="noStrike" cap="none">
              <a:solidFill>
                <a:schemeClr val="dk1"/>
              </a:solidFill>
              <a:latin typeface="Calibri"/>
              <a:ea typeface="Calibri"/>
              <a:cs typeface="Calibri"/>
              <a:sym typeface="Calibri"/>
            </a:endParaRPr>
          </a:p>
        </p:txBody>
      </p:sp>
      <p:sp>
        <p:nvSpPr>
          <p:cNvPr id="1045" name="Google Shape;1045;p64"/>
          <p:cNvSpPr/>
          <p:nvPr/>
        </p:nvSpPr>
        <p:spPr>
          <a:xfrm>
            <a:off x="371449" y="2662448"/>
            <a:ext cx="3977700" cy="24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46" name="Google Shape;1046;p64"/>
          <p:cNvCxnSpPr/>
          <p:nvPr/>
        </p:nvCxnSpPr>
        <p:spPr>
          <a:xfrm>
            <a:off x="364860" y="2898661"/>
            <a:ext cx="3977700" cy="0"/>
          </a:xfrm>
          <a:prstGeom prst="straightConnector1">
            <a:avLst/>
          </a:prstGeom>
          <a:noFill/>
          <a:ln w="9525" cap="flat" cmpd="sng">
            <a:solidFill>
              <a:srgbClr val="888888"/>
            </a:solidFill>
            <a:prstDash val="solid"/>
            <a:round/>
            <a:headEnd type="none" w="sm" len="sm"/>
            <a:tailEnd type="none" w="sm" len="sm"/>
          </a:ln>
        </p:spPr>
      </p:cxnSp>
      <p:sp>
        <p:nvSpPr>
          <p:cNvPr id="1047" name="Google Shape;1047;p64"/>
          <p:cNvSpPr/>
          <p:nvPr/>
        </p:nvSpPr>
        <p:spPr>
          <a:xfrm>
            <a:off x="371445" y="2662444"/>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Manifest Files</a:t>
            </a:r>
            <a:endParaRPr sz="800" b="0" i="0" u="none" strike="noStrike" cap="none">
              <a:solidFill>
                <a:schemeClr val="dk1"/>
              </a:solidFill>
              <a:latin typeface="Calibri"/>
              <a:ea typeface="Calibri"/>
              <a:cs typeface="Calibri"/>
              <a:sym typeface="Calibri"/>
            </a:endParaRPr>
          </a:p>
        </p:txBody>
      </p:sp>
      <p:sp>
        <p:nvSpPr>
          <p:cNvPr id="1048" name="Google Shape;1048;p64"/>
          <p:cNvSpPr/>
          <p:nvPr/>
        </p:nvSpPr>
        <p:spPr>
          <a:xfrm>
            <a:off x="2569586" y="2662448"/>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{{VS_MANIF}}</a:t>
            </a:r>
            <a:endParaRPr sz="700" b="0" i="0" u="none" strike="noStrike" cap="none">
              <a:solidFill>
                <a:schemeClr val="dk1"/>
              </a:solidFill>
              <a:latin typeface="Calibri"/>
              <a:ea typeface="Calibri"/>
              <a:cs typeface="Calibri"/>
              <a:sym typeface="Calibri"/>
            </a:endParaRPr>
          </a:p>
        </p:txBody>
      </p:sp>
      <p:sp>
        <p:nvSpPr>
          <p:cNvPr id="1049" name="Google Shape;1049;p64"/>
          <p:cNvSpPr/>
          <p:nvPr/>
        </p:nvSpPr>
        <p:spPr>
          <a:xfrm>
            <a:off x="3395224" y="2698429"/>
            <a:ext cx="956400" cy="185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500"/>
              <a:buFont typeface="JetBrains Mono"/>
              <a:buNone/>
            </a:pPr>
            <a:r>
              <a:rPr lang="en" sz="800" b="0" i="0" u="none" strike="noStrike" cap="none">
                <a:solidFill>
                  <a:srgbClr val="595959"/>
                </a:solidFill>
                <a:latin typeface="JetBrains Mono"/>
                <a:ea typeface="JetBrains Mono"/>
                <a:cs typeface="JetBrains Mono"/>
                <a:sym typeface="JetBrains Mono"/>
              </a:rPr>
              <a:t>{{VS_MANIF_R}}</a:t>
            </a:r>
            <a:endParaRPr sz="800" b="0" i="0" u="none" strike="noStrike" cap="none">
              <a:solidFill>
                <a:srgbClr val="595959"/>
              </a:solidFill>
              <a:latin typeface="Calibri"/>
              <a:ea typeface="Calibri"/>
              <a:cs typeface="Calibri"/>
              <a:sym typeface="Calibri"/>
            </a:endParaRPr>
          </a:p>
        </p:txBody>
      </p:sp>
      <p:sp>
        <p:nvSpPr>
          <p:cNvPr id="1050" name="Google Shape;1050;p64"/>
          <p:cNvSpPr/>
          <p:nvPr/>
        </p:nvSpPr>
        <p:spPr>
          <a:xfrm>
            <a:off x="371449" y="2908541"/>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51" name="Google Shape;1051;p64"/>
          <p:cNvCxnSpPr/>
          <p:nvPr/>
        </p:nvCxnSpPr>
        <p:spPr>
          <a:xfrm>
            <a:off x="367901" y="3157103"/>
            <a:ext cx="3977700" cy="0"/>
          </a:xfrm>
          <a:prstGeom prst="straightConnector1">
            <a:avLst/>
          </a:prstGeom>
          <a:noFill/>
          <a:ln w="9525" cap="flat" cmpd="sng">
            <a:solidFill>
              <a:srgbClr val="E5E7EB"/>
            </a:solidFill>
            <a:prstDash val="solid"/>
            <a:round/>
            <a:headEnd type="none" w="sm" len="sm"/>
            <a:tailEnd type="none" w="sm" len="sm"/>
          </a:ln>
        </p:spPr>
      </p:cxnSp>
      <p:sp>
        <p:nvSpPr>
          <p:cNvPr id="1052" name="Google Shape;1052;p64"/>
          <p:cNvSpPr/>
          <p:nvPr/>
        </p:nvSpPr>
        <p:spPr>
          <a:xfrm>
            <a:off x="371445" y="2908538"/>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Lock Files</a:t>
            </a:r>
            <a:endParaRPr sz="800" b="0" i="0" u="none" strike="noStrike" cap="none">
              <a:solidFill>
                <a:schemeClr val="dk1"/>
              </a:solidFill>
              <a:latin typeface="Calibri"/>
              <a:ea typeface="Calibri"/>
              <a:cs typeface="Calibri"/>
              <a:sym typeface="Calibri"/>
            </a:endParaRPr>
          </a:p>
        </p:txBody>
      </p:sp>
      <p:sp>
        <p:nvSpPr>
          <p:cNvPr id="1053" name="Google Shape;1053;p64"/>
          <p:cNvSpPr/>
          <p:nvPr/>
        </p:nvSpPr>
        <p:spPr>
          <a:xfrm>
            <a:off x="2569586" y="2908541"/>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{{VS_LOCK}}</a:t>
            </a:r>
            <a:endParaRPr sz="700" b="0" i="0" u="none" strike="noStrike" cap="none">
              <a:solidFill>
                <a:schemeClr val="dk1"/>
              </a:solidFill>
              <a:latin typeface="Calibri"/>
              <a:ea typeface="Calibri"/>
              <a:cs typeface="Calibri"/>
              <a:sym typeface="Calibri"/>
            </a:endParaRPr>
          </a:p>
        </p:txBody>
      </p:sp>
      <p:sp>
        <p:nvSpPr>
          <p:cNvPr id="1054" name="Google Shape;1054;p64"/>
          <p:cNvSpPr/>
          <p:nvPr/>
        </p:nvSpPr>
        <p:spPr>
          <a:xfrm>
            <a:off x="3395224" y="2947594"/>
            <a:ext cx="956400" cy="185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500"/>
              <a:buFont typeface="JetBrains Mono"/>
              <a:buNone/>
            </a:pPr>
            <a:r>
              <a:rPr lang="en" sz="800" b="0" i="0" u="none" strike="noStrike" cap="none">
                <a:solidFill>
                  <a:srgbClr val="595959"/>
                </a:solidFill>
                <a:latin typeface="JetBrains Mono"/>
                <a:ea typeface="JetBrains Mono"/>
                <a:cs typeface="JetBrains Mono"/>
                <a:sym typeface="JetBrains Mono"/>
              </a:rPr>
              <a:t>{{VS_LOCK_R}}</a:t>
            </a:r>
            <a:endParaRPr sz="800" b="0" i="0" u="none" strike="noStrike" cap="none">
              <a:solidFill>
                <a:srgbClr val="595959"/>
              </a:solidFill>
              <a:latin typeface="Calibri"/>
              <a:ea typeface="Calibri"/>
              <a:cs typeface="Calibri"/>
              <a:sym typeface="Calibri"/>
            </a:endParaRPr>
          </a:p>
        </p:txBody>
      </p:sp>
      <p:sp>
        <p:nvSpPr>
          <p:cNvPr id="1055" name="Google Shape;1055;p64"/>
          <p:cNvSpPr/>
          <p:nvPr/>
        </p:nvSpPr>
        <p:spPr>
          <a:xfrm>
            <a:off x="371449" y="3154634"/>
            <a:ext cx="3977700" cy="24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56" name="Google Shape;1056;p64"/>
          <p:cNvCxnSpPr/>
          <p:nvPr/>
        </p:nvCxnSpPr>
        <p:spPr>
          <a:xfrm>
            <a:off x="370942" y="3389859"/>
            <a:ext cx="3977700" cy="0"/>
          </a:xfrm>
          <a:prstGeom prst="straightConnector1">
            <a:avLst/>
          </a:prstGeom>
          <a:noFill/>
          <a:ln w="9525" cap="flat" cmpd="sng">
            <a:solidFill>
              <a:srgbClr val="888888"/>
            </a:solidFill>
            <a:prstDash val="solid"/>
            <a:round/>
            <a:headEnd type="none" w="sm" len="sm"/>
            <a:tailEnd type="none" w="sm" len="sm"/>
          </a:ln>
        </p:spPr>
      </p:cxnSp>
      <p:sp>
        <p:nvSpPr>
          <p:cNvPr id="1057" name="Google Shape;1057;p64"/>
          <p:cNvSpPr/>
          <p:nvPr/>
        </p:nvSpPr>
        <p:spPr>
          <a:xfrm>
            <a:off x="371445" y="3154632"/>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Artifacts</a:t>
            </a:r>
            <a:endParaRPr sz="800" b="0" i="0" u="none" strike="noStrike" cap="none">
              <a:solidFill>
                <a:schemeClr val="dk1"/>
              </a:solidFill>
              <a:latin typeface="Calibri"/>
              <a:ea typeface="Calibri"/>
              <a:cs typeface="Calibri"/>
              <a:sym typeface="Calibri"/>
            </a:endParaRPr>
          </a:p>
        </p:txBody>
      </p:sp>
      <p:sp>
        <p:nvSpPr>
          <p:cNvPr id="1058" name="Google Shape;1058;p64"/>
          <p:cNvSpPr/>
          <p:nvPr/>
        </p:nvSpPr>
        <p:spPr>
          <a:xfrm>
            <a:off x="2569586" y="3154634"/>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{{VS_ARTIF}}</a:t>
            </a:r>
            <a:endParaRPr sz="700" b="0" i="0" u="none" strike="noStrike" cap="none">
              <a:solidFill>
                <a:schemeClr val="dk1"/>
              </a:solidFill>
              <a:latin typeface="Calibri"/>
              <a:ea typeface="Calibri"/>
              <a:cs typeface="Calibri"/>
              <a:sym typeface="Calibri"/>
            </a:endParaRPr>
          </a:p>
        </p:txBody>
      </p:sp>
      <p:sp>
        <p:nvSpPr>
          <p:cNvPr id="1059" name="Google Shape;1059;p64"/>
          <p:cNvSpPr/>
          <p:nvPr/>
        </p:nvSpPr>
        <p:spPr>
          <a:xfrm>
            <a:off x="3395224" y="3196759"/>
            <a:ext cx="956400" cy="185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500"/>
              <a:buFont typeface="JetBrains Mono"/>
              <a:buNone/>
            </a:pPr>
            <a:r>
              <a:rPr lang="en" sz="800" b="0" i="0" u="none" strike="noStrike" cap="none">
                <a:solidFill>
                  <a:srgbClr val="595959"/>
                </a:solidFill>
                <a:latin typeface="JetBrains Mono"/>
                <a:ea typeface="JetBrains Mono"/>
                <a:cs typeface="JetBrains Mono"/>
                <a:sym typeface="JetBrains Mono"/>
              </a:rPr>
              <a:t>{{VS_ARTIF_R}}</a:t>
            </a:r>
            <a:endParaRPr sz="800" b="0" i="0" u="none" strike="noStrike" cap="none">
              <a:solidFill>
                <a:srgbClr val="595959"/>
              </a:solidFill>
              <a:latin typeface="Calibri"/>
              <a:ea typeface="Calibri"/>
              <a:cs typeface="Calibri"/>
              <a:sym typeface="Calibri"/>
            </a:endParaRPr>
          </a:p>
        </p:txBody>
      </p:sp>
      <p:sp>
        <p:nvSpPr>
          <p:cNvPr id="1060" name="Google Shape;1060;p64"/>
          <p:cNvSpPr/>
          <p:nvPr/>
        </p:nvSpPr>
        <p:spPr>
          <a:xfrm>
            <a:off x="371449" y="3400727"/>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61" name="Google Shape;1061;p64"/>
          <p:cNvCxnSpPr/>
          <p:nvPr/>
        </p:nvCxnSpPr>
        <p:spPr>
          <a:xfrm>
            <a:off x="371449" y="3646820"/>
            <a:ext cx="3977700" cy="0"/>
          </a:xfrm>
          <a:prstGeom prst="straightConnector1">
            <a:avLst/>
          </a:prstGeom>
          <a:noFill/>
          <a:ln w="9525" cap="flat" cmpd="sng">
            <a:solidFill>
              <a:srgbClr val="E5E7EB"/>
            </a:solidFill>
            <a:prstDash val="solid"/>
            <a:round/>
            <a:headEnd type="none" w="sm" len="sm"/>
            <a:tailEnd type="none" w="sm" len="sm"/>
          </a:ln>
        </p:spPr>
      </p:cxnSp>
      <p:sp>
        <p:nvSpPr>
          <p:cNvPr id="1062" name="Google Shape;1062;p64"/>
          <p:cNvSpPr/>
          <p:nvPr/>
        </p:nvSpPr>
        <p:spPr>
          <a:xfrm>
            <a:off x="371445" y="3400726"/>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Dependency Scopes: Maven</a:t>
            </a:r>
            <a:endParaRPr sz="800" b="0" i="0" u="none" strike="noStrike" cap="none">
              <a:solidFill>
                <a:schemeClr val="dk1"/>
              </a:solidFill>
              <a:latin typeface="Calibri"/>
              <a:ea typeface="Calibri"/>
              <a:cs typeface="Calibri"/>
              <a:sym typeface="Calibri"/>
            </a:endParaRPr>
          </a:p>
        </p:txBody>
      </p:sp>
      <p:sp>
        <p:nvSpPr>
          <p:cNvPr id="1063" name="Google Shape;1063;p64"/>
          <p:cNvSpPr/>
          <p:nvPr/>
        </p:nvSpPr>
        <p:spPr>
          <a:xfrm>
            <a:off x="2569586" y="3400727"/>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{{VS_MAVEN}}</a:t>
            </a:r>
            <a:endParaRPr sz="700" b="0" i="0" u="none" strike="noStrike" cap="none">
              <a:solidFill>
                <a:schemeClr val="dk1"/>
              </a:solidFill>
              <a:latin typeface="Calibri"/>
              <a:ea typeface="Calibri"/>
              <a:cs typeface="Calibri"/>
              <a:sym typeface="Calibri"/>
            </a:endParaRPr>
          </a:p>
        </p:txBody>
      </p:sp>
      <p:sp>
        <p:nvSpPr>
          <p:cNvPr id="1064" name="Google Shape;1064;p64"/>
          <p:cNvSpPr/>
          <p:nvPr/>
        </p:nvSpPr>
        <p:spPr>
          <a:xfrm>
            <a:off x="371449" y="3646820"/>
            <a:ext cx="3977700" cy="24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65" name="Google Shape;1065;p64"/>
          <p:cNvCxnSpPr/>
          <p:nvPr/>
        </p:nvCxnSpPr>
        <p:spPr>
          <a:xfrm>
            <a:off x="373984" y="3874636"/>
            <a:ext cx="3977700" cy="0"/>
          </a:xfrm>
          <a:prstGeom prst="straightConnector1">
            <a:avLst/>
          </a:prstGeom>
          <a:noFill/>
          <a:ln w="9525" cap="flat" cmpd="sng">
            <a:solidFill>
              <a:srgbClr val="888888"/>
            </a:solidFill>
            <a:prstDash val="solid"/>
            <a:round/>
            <a:headEnd type="none" w="sm" len="sm"/>
            <a:tailEnd type="none" w="sm" len="sm"/>
          </a:ln>
        </p:spPr>
      </p:cxnSp>
      <p:sp>
        <p:nvSpPr>
          <p:cNvPr id="1066" name="Google Shape;1066;p64"/>
          <p:cNvSpPr/>
          <p:nvPr/>
        </p:nvSpPr>
        <p:spPr>
          <a:xfrm>
            <a:off x="371450" y="3646825"/>
            <a:ext cx="21657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Dependency Scopes: JS (npm/pnpm/Yarn)</a:t>
            </a:r>
            <a:endParaRPr sz="800" b="0" i="0" u="none" strike="noStrike" cap="none">
              <a:solidFill>
                <a:schemeClr val="dk1"/>
              </a:solidFill>
              <a:latin typeface="Calibri"/>
              <a:ea typeface="Calibri"/>
              <a:cs typeface="Calibri"/>
              <a:sym typeface="Calibri"/>
            </a:endParaRPr>
          </a:p>
        </p:txBody>
      </p:sp>
      <p:sp>
        <p:nvSpPr>
          <p:cNvPr id="1067" name="Google Shape;1067;p64"/>
          <p:cNvSpPr/>
          <p:nvPr/>
        </p:nvSpPr>
        <p:spPr>
          <a:xfrm>
            <a:off x="2569586" y="3646820"/>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{{VS_JSDEP}}</a:t>
            </a:r>
            <a:endParaRPr sz="700" b="0" i="0" u="none" strike="noStrike" cap="none">
              <a:solidFill>
                <a:schemeClr val="dk1"/>
              </a:solidFill>
              <a:latin typeface="Calibri"/>
              <a:ea typeface="Calibri"/>
              <a:cs typeface="Calibri"/>
              <a:sym typeface="Calibri"/>
            </a:endParaRPr>
          </a:p>
        </p:txBody>
      </p:sp>
      <p:sp>
        <p:nvSpPr>
          <p:cNvPr id="1068" name="Google Shape;1068;p64"/>
          <p:cNvSpPr/>
          <p:nvPr/>
        </p:nvSpPr>
        <p:spPr>
          <a:xfrm>
            <a:off x="371449" y="3892913"/>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69" name="Google Shape;1069;p64"/>
          <p:cNvCxnSpPr/>
          <p:nvPr/>
        </p:nvCxnSpPr>
        <p:spPr>
          <a:xfrm>
            <a:off x="371449" y="4139007"/>
            <a:ext cx="3977700" cy="0"/>
          </a:xfrm>
          <a:prstGeom prst="straightConnector1">
            <a:avLst/>
          </a:prstGeom>
          <a:noFill/>
          <a:ln w="9525" cap="flat" cmpd="sng">
            <a:solidFill>
              <a:srgbClr val="E5E7EB"/>
            </a:solidFill>
            <a:prstDash val="solid"/>
            <a:round/>
            <a:headEnd type="none" w="sm" len="sm"/>
            <a:tailEnd type="none" w="sm" len="sm"/>
          </a:ln>
        </p:spPr>
      </p:cxnSp>
      <p:sp>
        <p:nvSpPr>
          <p:cNvPr id="1070" name="Google Shape;1070;p64"/>
          <p:cNvSpPr/>
          <p:nvPr/>
        </p:nvSpPr>
        <p:spPr>
          <a:xfrm>
            <a:off x="371445" y="3892914"/>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Dependency Scopes: Gradle</a:t>
            </a:r>
            <a:endParaRPr sz="800" b="0" i="0" u="none" strike="noStrike" cap="none">
              <a:solidFill>
                <a:schemeClr val="dk1"/>
              </a:solidFill>
              <a:latin typeface="Calibri"/>
              <a:ea typeface="Calibri"/>
              <a:cs typeface="Calibri"/>
              <a:sym typeface="Calibri"/>
            </a:endParaRPr>
          </a:p>
        </p:txBody>
      </p:sp>
      <p:sp>
        <p:nvSpPr>
          <p:cNvPr id="1071" name="Google Shape;1071;p64"/>
          <p:cNvSpPr/>
          <p:nvPr/>
        </p:nvSpPr>
        <p:spPr>
          <a:xfrm>
            <a:off x="2569586" y="3892913"/>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{{VS_GRADL}}</a:t>
            </a:r>
            <a:endParaRPr sz="700" b="0" i="0" u="none" strike="noStrike" cap="none">
              <a:solidFill>
                <a:schemeClr val="dk1"/>
              </a:solidFill>
              <a:latin typeface="Calibri"/>
              <a:ea typeface="Calibri"/>
              <a:cs typeface="Calibri"/>
              <a:sym typeface="Calibri"/>
            </a:endParaRPr>
          </a:p>
        </p:txBody>
      </p:sp>
      <p:sp>
        <p:nvSpPr>
          <p:cNvPr id="1072" name="Google Shape;1072;p64"/>
          <p:cNvSpPr/>
          <p:nvPr/>
        </p:nvSpPr>
        <p:spPr>
          <a:xfrm>
            <a:off x="371449" y="4139007"/>
            <a:ext cx="3977700" cy="24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73" name="Google Shape;1073;p64"/>
          <p:cNvCxnSpPr/>
          <p:nvPr/>
        </p:nvCxnSpPr>
        <p:spPr>
          <a:xfrm>
            <a:off x="377025" y="4385100"/>
            <a:ext cx="3977700" cy="0"/>
          </a:xfrm>
          <a:prstGeom prst="straightConnector1">
            <a:avLst/>
          </a:prstGeom>
          <a:noFill/>
          <a:ln w="9525" cap="flat" cmpd="sng">
            <a:solidFill>
              <a:srgbClr val="888888"/>
            </a:solidFill>
            <a:prstDash val="solid"/>
            <a:round/>
            <a:headEnd type="none" w="sm" len="sm"/>
            <a:tailEnd type="none" w="sm" len="sm"/>
          </a:ln>
        </p:spPr>
      </p:cxnSp>
      <p:sp>
        <p:nvSpPr>
          <p:cNvPr id="1074" name="Google Shape;1074;p64"/>
          <p:cNvSpPr/>
          <p:nvPr/>
        </p:nvSpPr>
        <p:spPr>
          <a:xfrm>
            <a:off x="371445" y="4139008"/>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End of Life Detection</a:t>
            </a:r>
            <a:endParaRPr sz="800" b="0" i="0" u="none" strike="noStrike" cap="none">
              <a:solidFill>
                <a:schemeClr val="dk1"/>
              </a:solidFill>
              <a:latin typeface="Calibri"/>
              <a:ea typeface="Calibri"/>
              <a:cs typeface="Calibri"/>
              <a:sym typeface="Calibri"/>
            </a:endParaRPr>
          </a:p>
        </p:txBody>
      </p:sp>
      <p:sp>
        <p:nvSpPr>
          <p:cNvPr id="1075" name="Google Shape;1075;p64"/>
          <p:cNvSpPr/>
          <p:nvPr/>
        </p:nvSpPr>
        <p:spPr>
          <a:xfrm>
            <a:off x="2569586" y="4139007"/>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{{VS_EOL}}</a:t>
            </a:r>
            <a:endParaRPr sz="700" b="0" i="0" u="none" strike="noStrike" cap="none">
              <a:solidFill>
                <a:schemeClr val="dk1"/>
              </a:solidFill>
              <a:latin typeface="Calibri"/>
              <a:ea typeface="Calibri"/>
              <a:cs typeface="Calibri"/>
              <a:sym typeface="Calibri"/>
            </a:endParaRPr>
          </a:p>
        </p:txBody>
      </p:sp>
      <p:sp>
        <p:nvSpPr>
          <p:cNvPr id="1076" name="Google Shape;1076;p64"/>
          <p:cNvSpPr/>
          <p:nvPr/>
        </p:nvSpPr>
        <p:spPr>
          <a:xfrm>
            <a:off x="4800600" y="868680"/>
            <a:ext cx="3977700" cy="274200"/>
          </a:xfrm>
          <a:prstGeom prst="rect">
            <a:avLst/>
          </a:prstGeom>
          <a:solidFill>
            <a:srgbClr val="E6DDF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7" name="Google Shape;1077;p64"/>
          <p:cNvSpPr/>
          <p:nvPr/>
        </p:nvSpPr>
        <p:spPr>
          <a:xfrm>
            <a:off x="4800600" y="868680"/>
            <a:ext cx="36600" cy="274200"/>
          </a:xfrm>
          <a:prstGeom prst="rect">
            <a:avLst/>
          </a:prstGeom>
          <a:solidFill>
            <a:srgbClr val="7C3AE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8" name="Google Shape;1078;p64"/>
          <p:cNvSpPr/>
          <p:nvPr/>
        </p:nvSpPr>
        <p:spPr>
          <a:xfrm>
            <a:off x="4937760" y="847856"/>
            <a:ext cx="37947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C3AED"/>
              </a:buClr>
              <a:buSzPts val="1000"/>
              <a:buFont typeface="DM Sans"/>
              <a:buNone/>
            </a:pPr>
            <a:r>
              <a:rPr lang="en" sz="1100" b="1" i="0" u="sng" strike="noStrike" cap="none">
                <a:solidFill>
                  <a:schemeClr val="hlink"/>
                </a:solidFill>
                <a:latin typeface="DM Sans"/>
                <a:ea typeface="DM Sans"/>
                <a:cs typeface="DM Sans"/>
                <a:sym typeface="DM Sans"/>
                <a:hlinkClick r:id="rId6"/>
              </a:rPr>
              <a:t>DATA SECURITY SCANNER</a:t>
            </a:r>
            <a:r>
              <a:rPr lang="en" sz="1100" b="0" i="0" u="none" strike="noStrike" cap="none">
                <a:solidFill>
                  <a:srgbClr val="9900FF"/>
                </a:solidFill>
                <a:latin typeface="Calibri"/>
                <a:ea typeface="Calibri"/>
                <a:cs typeface="Calibri"/>
                <a:sym typeface="Calibri"/>
              </a:rPr>
              <a:t> </a:t>
            </a:r>
            <a:r>
              <a:rPr lang="en" sz="1300" b="0" i="0" u="none" strike="noStrike" cap="none">
                <a:solidFill>
                  <a:schemeClr val="hlink"/>
                </a:solidFill>
                <a:uFill>
                  <a:noFill/>
                </a:uFill>
                <a:latin typeface="Poppins"/>
                <a:ea typeface="Poppins"/>
                <a:cs typeface="Poppins"/>
                <a:sym typeface="Poppins"/>
                <a:hlinkClick r:id="rId5"/>
              </a:rPr>
              <a:t>↗</a:t>
            </a:r>
            <a:r>
              <a:rPr lang="en" sz="1200" b="0" i="0" u="none" strike="noStrike" cap="none">
                <a:solidFill>
                  <a:srgbClr val="000000"/>
                </a:solidFill>
                <a:latin typeface="Arial"/>
                <a:ea typeface="Arial"/>
                <a:cs typeface="Arial"/>
                <a:sym typeface="Arial"/>
              </a:rPr>
              <a:t> </a:t>
            </a:r>
            <a:endParaRPr sz="1100" b="0" i="0" u="none" strike="noStrike" cap="none">
              <a:solidFill>
                <a:srgbClr val="9900FF"/>
              </a:solidFill>
              <a:latin typeface="Calibri"/>
              <a:ea typeface="Calibri"/>
              <a:cs typeface="Calibri"/>
              <a:sym typeface="Calibri"/>
            </a:endParaRPr>
          </a:p>
        </p:txBody>
      </p:sp>
      <p:sp>
        <p:nvSpPr>
          <p:cNvPr id="1079" name="Google Shape;1079;p64"/>
          <p:cNvSpPr/>
          <p:nvPr/>
        </p:nvSpPr>
        <p:spPr>
          <a:xfrm>
            <a:off x="4800600" y="1201204"/>
            <a:ext cx="3977700" cy="201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0" name="Google Shape;1080;p64"/>
          <p:cNvSpPr/>
          <p:nvPr/>
        </p:nvSpPr>
        <p:spPr>
          <a:xfrm>
            <a:off x="4892040" y="1201204"/>
            <a:ext cx="19887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Setting</a:t>
            </a:r>
            <a:endParaRPr sz="1000" b="0" i="0" u="none" strike="noStrike" cap="none">
              <a:solidFill>
                <a:schemeClr val="dk1"/>
              </a:solidFill>
              <a:latin typeface="Calibri"/>
              <a:ea typeface="Calibri"/>
              <a:cs typeface="Calibri"/>
              <a:sym typeface="Calibri"/>
            </a:endParaRPr>
          </a:p>
        </p:txBody>
      </p:sp>
      <p:sp>
        <p:nvSpPr>
          <p:cNvPr id="1081" name="Google Shape;1081;p64"/>
          <p:cNvSpPr/>
          <p:nvPr/>
        </p:nvSpPr>
        <p:spPr>
          <a:xfrm>
            <a:off x="6916585" y="1201204"/>
            <a:ext cx="8751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Status</a:t>
            </a:r>
            <a:endParaRPr sz="1000" b="0" i="0" u="none" strike="noStrike" cap="none">
              <a:solidFill>
                <a:schemeClr val="dk1"/>
              </a:solidFill>
              <a:latin typeface="Calibri"/>
              <a:ea typeface="Calibri"/>
              <a:cs typeface="Calibri"/>
              <a:sym typeface="Calibri"/>
            </a:endParaRPr>
          </a:p>
        </p:txBody>
      </p:sp>
      <p:sp>
        <p:nvSpPr>
          <p:cNvPr id="1082" name="Google Shape;1082;p64"/>
          <p:cNvSpPr/>
          <p:nvPr/>
        </p:nvSpPr>
        <p:spPr>
          <a:xfrm>
            <a:off x="7869988" y="1201204"/>
            <a:ext cx="10341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Recommended</a:t>
            </a:r>
            <a:endParaRPr sz="1000" b="0" i="0" u="none" strike="noStrike" cap="none">
              <a:solidFill>
                <a:schemeClr val="dk1"/>
              </a:solidFill>
              <a:latin typeface="Calibri"/>
              <a:ea typeface="Calibri"/>
              <a:cs typeface="Calibri"/>
              <a:sym typeface="Calibri"/>
            </a:endParaRPr>
          </a:p>
        </p:txBody>
      </p:sp>
      <p:sp>
        <p:nvSpPr>
          <p:cNvPr id="1083" name="Google Shape;1083;p64"/>
          <p:cNvSpPr/>
          <p:nvPr/>
        </p:nvSpPr>
        <p:spPr>
          <a:xfrm>
            <a:off x="4800600" y="1402372"/>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84" name="Google Shape;1084;p64"/>
          <p:cNvCxnSpPr/>
          <p:nvPr/>
        </p:nvCxnSpPr>
        <p:spPr>
          <a:xfrm>
            <a:off x="4800600" y="1590526"/>
            <a:ext cx="3977700" cy="0"/>
          </a:xfrm>
          <a:prstGeom prst="straightConnector1">
            <a:avLst/>
          </a:prstGeom>
          <a:noFill/>
          <a:ln w="9525" cap="flat" cmpd="sng">
            <a:solidFill>
              <a:srgbClr val="888888"/>
            </a:solidFill>
            <a:prstDash val="solid"/>
            <a:round/>
            <a:headEnd type="none" w="sm" len="sm"/>
            <a:tailEnd type="none" w="sm" len="sm"/>
          </a:ln>
        </p:spPr>
      </p:cxnSp>
      <p:sp>
        <p:nvSpPr>
          <p:cNvPr id="1085" name="Google Shape;1085;p64"/>
          <p:cNvSpPr/>
          <p:nvPr/>
        </p:nvSpPr>
        <p:spPr>
          <a:xfrm>
            <a:off x="4892040" y="1402372"/>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Data Security Scanner</a:t>
            </a:r>
            <a:endParaRPr sz="800" b="0" i="0" u="none" strike="noStrike" cap="none">
              <a:solidFill>
                <a:schemeClr val="dk1"/>
              </a:solidFill>
              <a:latin typeface="Calibri"/>
              <a:ea typeface="Calibri"/>
              <a:cs typeface="Calibri"/>
              <a:sym typeface="Calibri"/>
            </a:endParaRPr>
          </a:p>
        </p:txBody>
      </p:sp>
      <p:sp>
        <p:nvSpPr>
          <p:cNvPr id="1086" name="Google Shape;1086;p64"/>
          <p:cNvSpPr/>
          <p:nvPr/>
        </p:nvSpPr>
        <p:spPr>
          <a:xfrm>
            <a:off x="6941699" y="1402372"/>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{{DSS_ON}}</a:t>
            </a:r>
            <a:endParaRPr sz="700" b="0" i="0" u="none" strike="noStrike" cap="none">
              <a:solidFill>
                <a:schemeClr val="dk1"/>
              </a:solidFill>
              <a:latin typeface="Calibri"/>
              <a:ea typeface="Calibri"/>
              <a:cs typeface="Calibri"/>
              <a:sym typeface="Calibri"/>
            </a:endParaRPr>
          </a:p>
        </p:txBody>
      </p:sp>
      <p:sp>
        <p:nvSpPr>
          <p:cNvPr id="1087" name="Google Shape;1087;p64"/>
          <p:cNvSpPr/>
          <p:nvPr/>
        </p:nvSpPr>
        <p:spPr>
          <a:xfrm>
            <a:off x="4800600" y="1590526"/>
            <a:ext cx="3977700" cy="18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88" name="Google Shape;1088;p64"/>
          <p:cNvCxnSpPr/>
          <p:nvPr/>
        </p:nvCxnSpPr>
        <p:spPr>
          <a:xfrm>
            <a:off x="4800600" y="1864215"/>
            <a:ext cx="3977700" cy="0"/>
          </a:xfrm>
          <a:prstGeom prst="straightConnector1">
            <a:avLst/>
          </a:prstGeom>
          <a:noFill/>
          <a:ln w="9525" cap="flat" cmpd="sng">
            <a:solidFill>
              <a:srgbClr val="888888"/>
            </a:solidFill>
            <a:prstDash val="solid"/>
            <a:round/>
            <a:headEnd type="none" w="sm" len="sm"/>
            <a:tailEnd type="none" w="sm" len="sm"/>
          </a:ln>
        </p:spPr>
      </p:cxnSp>
      <p:sp>
        <p:nvSpPr>
          <p:cNvPr id="1089" name="Google Shape;1089;p64"/>
          <p:cNvSpPr/>
          <p:nvPr/>
        </p:nvSpPr>
        <p:spPr>
          <a:xfrm>
            <a:off x="4892044" y="1592964"/>
            <a:ext cx="1970400" cy="26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Buckets (Public &amp; Private)</a:t>
            </a:r>
            <a:endParaRPr sz="800" b="0" i="0" u="none" strike="noStrike" cap="none">
              <a:solidFill>
                <a:schemeClr val="dk1"/>
              </a:solidFill>
              <a:latin typeface="Calibri"/>
              <a:ea typeface="Calibri"/>
              <a:cs typeface="Calibri"/>
              <a:sym typeface="Calibri"/>
            </a:endParaRPr>
          </a:p>
        </p:txBody>
      </p:sp>
      <p:sp>
        <p:nvSpPr>
          <p:cNvPr id="1090" name="Google Shape;1090;p64"/>
          <p:cNvSpPr/>
          <p:nvPr/>
        </p:nvSpPr>
        <p:spPr>
          <a:xfrm>
            <a:off x="6941698" y="1592525"/>
            <a:ext cx="1034100" cy="26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{{DSS_BUCK}}</a:t>
            </a:r>
            <a:endParaRPr sz="700" b="0" i="0" u="none" strike="noStrike" cap="none">
              <a:solidFill>
                <a:schemeClr val="dk1"/>
              </a:solidFill>
              <a:latin typeface="Calibri"/>
              <a:ea typeface="Calibri"/>
              <a:cs typeface="Calibri"/>
              <a:sym typeface="Calibri"/>
            </a:endParaRPr>
          </a:p>
        </p:txBody>
      </p:sp>
      <p:sp>
        <p:nvSpPr>
          <p:cNvPr id="1091" name="Google Shape;1091;p64"/>
          <p:cNvSpPr/>
          <p:nvPr/>
        </p:nvSpPr>
        <p:spPr>
          <a:xfrm>
            <a:off x="7864530" y="1596535"/>
            <a:ext cx="943800" cy="260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500"/>
              <a:buFont typeface="JetBrains Mono"/>
              <a:buNone/>
            </a:pPr>
            <a:r>
              <a:rPr lang="en" sz="800" b="0" i="0" u="none" strike="noStrike" cap="none">
                <a:solidFill>
                  <a:srgbClr val="595959"/>
                </a:solidFill>
                <a:latin typeface="JetBrains Mono"/>
                <a:ea typeface="JetBrains Mono"/>
                <a:cs typeface="JetBrains Mono"/>
                <a:sym typeface="JetBrains Mono"/>
              </a:rPr>
              <a:t>{{DSS_BUCK_R}}</a:t>
            </a:r>
            <a:endParaRPr sz="800" b="0" i="0" u="none" strike="noStrike" cap="none">
              <a:solidFill>
                <a:srgbClr val="595959"/>
              </a:solidFill>
              <a:latin typeface="Calibri"/>
              <a:ea typeface="Calibri"/>
              <a:cs typeface="Calibri"/>
              <a:sym typeface="Calibri"/>
            </a:endParaRPr>
          </a:p>
        </p:txBody>
      </p:sp>
      <p:sp>
        <p:nvSpPr>
          <p:cNvPr id="1092" name="Google Shape;1092;p64"/>
          <p:cNvSpPr/>
          <p:nvPr/>
        </p:nvSpPr>
        <p:spPr>
          <a:xfrm>
            <a:off x="4800600" y="1864215"/>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93" name="Google Shape;1093;p64"/>
          <p:cNvCxnSpPr/>
          <p:nvPr/>
        </p:nvCxnSpPr>
        <p:spPr>
          <a:xfrm>
            <a:off x="4800600" y="2052368"/>
            <a:ext cx="3977700" cy="0"/>
          </a:xfrm>
          <a:prstGeom prst="straightConnector1">
            <a:avLst/>
          </a:prstGeom>
          <a:noFill/>
          <a:ln w="9525" cap="flat" cmpd="sng">
            <a:solidFill>
              <a:srgbClr val="888888"/>
            </a:solidFill>
            <a:prstDash val="solid"/>
            <a:round/>
            <a:headEnd type="none" w="sm" len="sm"/>
            <a:tailEnd type="none" w="sm" len="sm"/>
          </a:ln>
        </p:spPr>
      </p:cxnSp>
      <p:sp>
        <p:nvSpPr>
          <p:cNvPr id="1094" name="Google Shape;1094;p64"/>
          <p:cNvSpPr/>
          <p:nvPr/>
        </p:nvSpPr>
        <p:spPr>
          <a:xfrm>
            <a:off x="4892040" y="1863056"/>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Storage: Azure PE (Disabled Public)</a:t>
            </a:r>
            <a:endParaRPr sz="800" b="0" i="0" u="none" strike="noStrike" cap="none">
              <a:solidFill>
                <a:schemeClr val="dk1"/>
              </a:solidFill>
              <a:latin typeface="Calibri"/>
              <a:ea typeface="Calibri"/>
              <a:cs typeface="Calibri"/>
              <a:sym typeface="Calibri"/>
            </a:endParaRPr>
          </a:p>
        </p:txBody>
      </p:sp>
      <p:sp>
        <p:nvSpPr>
          <p:cNvPr id="1095" name="Google Shape;1095;p64"/>
          <p:cNvSpPr/>
          <p:nvPr/>
        </p:nvSpPr>
        <p:spPr>
          <a:xfrm>
            <a:off x="6941699" y="1864215"/>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{{DSS_AZ1}}</a:t>
            </a:r>
            <a:endParaRPr sz="700" b="0" i="0" u="none" strike="noStrike" cap="none">
              <a:solidFill>
                <a:schemeClr val="dk1"/>
              </a:solidFill>
              <a:latin typeface="Calibri"/>
              <a:ea typeface="Calibri"/>
              <a:cs typeface="Calibri"/>
              <a:sym typeface="Calibri"/>
            </a:endParaRPr>
          </a:p>
        </p:txBody>
      </p:sp>
      <p:sp>
        <p:nvSpPr>
          <p:cNvPr id="1096" name="Google Shape;1096;p64"/>
          <p:cNvSpPr/>
          <p:nvPr/>
        </p:nvSpPr>
        <p:spPr>
          <a:xfrm>
            <a:off x="4800600" y="2052368"/>
            <a:ext cx="3977700" cy="18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97" name="Google Shape;1097;p64"/>
          <p:cNvCxnSpPr/>
          <p:nvPr/>
        </p:nvCxnSpPr>
        <p:spPr>
          <a:xfrm>
            <a:off x="4800600" y="2240522"/>
            <a:ext cx="3977700" cy="0"/>
          </a:xfrm>
          <a:prstGeom prst="straightConnector1">
            <a:avLst/>
          </a:prstGeom>
          <a:noFill/>
          <a:ln w="9525" cap="flat" cmpd="sng">
            <a:solidFill>
              <a:srgbClr val="888888"/>
            </a:solidFill>
            <a:prstDash val="solid"/>
            <a:round/>
            <a:headEnd type="none" w="sm" len="sm"/>
            <a:tailEnd type="none" w="sm" len="sm"/>
          </a:ln>
        </p:spPr>
      </p:cxnSp>
      <p:sp>
        <p:nvSpPr>
          <p:cNvPr id="1098" name="Google Shape;1098;p64"/>
          <p:cNvSpPr/>
          <p:nvPr/>
        </p:nvSpPr>
        <p:spPr>
          <a:xfrm>
            <a:off x="4892040" y="2053648"/>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Storage: Azure PE (Selected VNets)</a:t>
            </a:r>
            <a:endParaRPr sz="800" b="0" i="0" u="none" strike="noStrike" cap="none">
              <a:solidFill>
                <a:schemeClr val="dk1"/>
              </a:solidFill>
              <a:latin typeface="Calibri"/>
              <a:ea typeface="Calibri"/>
              <a:cs typeface="Calibri"/>
              <a:sym typeface="Calibri"/>
            </a:endParaRPr>
          </a:p>
        </p:txBody>
      </p:sp>
      <p:sp>
        <p:nvSpPr>
          <p:cNvPr id="1099" name="Google Shape;1099;p64"/>
          <p:cNvSpPr/>
          <p:nvPr/>
        </p:nvSpPr>
        <p:spPr>
          <a:xfrm>
            <a:off x="6941699" y="2052368"/>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{{DSS_AZ2}}</a:t>
            </a:r>
            <a:endParaRPr sz="700" b="0" i="0" u="none" strike="noStrike" cap="none">
              <a:solidFill>
                <a:schemeClr val="dk1"/>
              </a:solidFill>
              <a:latin typeface="Calibri"/>
              <a:ea typeface="Calibri"/>
              <a:cs typeface="Calibri"/>
              <a:sym typeface="Calibri"/>
            </a:endParaRPr>
          </a:p>
        </p:txBody>
      </p:sp>
      <p:sp>
        <p:nvSpPr>
          <p:cNvPr id="1100" name="Google Shape;1100;p64"/>
          <p:cNvSpPr/>
          <p:nvPr/>
        </p:nvSpPr>
        <p:spPr>
          <a:xfrm>
            <a:off x="4800600" y="2622578"/>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01" name="Google Shape;1101;p64"/>
          <p:cNvCxnSpPr/>
          <p:nvPr/>
        </p:nvCxnSpPr>
        <p:spPr>
          <a:xfrm>
            <a:off x="4800600" y="2810732"/>
            <a:ext cx="3977700" cy="0"/>
          </a:xfrm>
          <a:prstGeom prst="straightConnector1">
            <a:avLst/>
          </a:prstGeom>
          <a:noFill/>
          <a:ln w="9525" cap="flat" cmpd="sng">
            <a:solidFill>
              <a:srgbClr val="888888"/>
            </a:solidFill>
            <a:prstDash val="solid"/>
            <a:round/>
            <a:headEnd type="none" w="sm" len="sm"/>
            <a:tailEnd type="none" w="sm" len="sm"/>
          </a:ln>
        </p:spPr>
      </p:cxnSp>
      <p:sp>
        <p:nvSpPr>
          <p:cNvPr id="1102" name="Google Shape;1102;p64"/>
          <p:cNvSpPr/>
          <p:nvPr/>
        </p:nvSpPr>
        <p:spPr>
          <a:xfrm>
            <a:off x="4892040" y="2625424"/>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Virtual Drives</a:t>
            </a:r>
            <a:endParaRPr sz="800" b="0" i="0" u="none" strike="noStrike" cap="none">
              <a:solidFill>
                <a:schemeClr val="dk1"/>
              </a:solidFill>
              <a:latin typeface="Calibri"/>
              <a:ea typeface="Calibri"/>
              <a:cs typeface="Calibri"/>
              <a:sym typeface="Calibri"/>
            </a:endParaRPr>
          </a:p>
        </p:txBody>
      </p:sp>
      <p:sp>
        <p:nvSpPr>
          <p:cNvPr id="1103" name="Google Shape;1103;p64"/>
          <p:cNvSpPr/>
          <p:nvPr/>
        </p:nvSpPr>
        <p:spPr>
          <a:xfrm>
            <a:off x="6941699" y="2622578"/>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{{DSS_VDRV}}</a:t>
            </a:r>
            <a:endParaRPr sz="700" b="0" i="0" u="none" strike="noStrike" cap="none">
              <a:solidFill>
                <a:schemeClr val="dk1"/>
              </a:solidFill>
              <a:latin typeface="Calibri"/>
              <a:ea typeface="Calibri"/>
              <a:cs typeface="Calibri"/>
              <a:sym typeface="Calibri"/>
            </a:endParaRPr>
          </a:p>
        </p:txBody>
      </p:sp>
      <p:sp>
        <p:nvSpPr>
          <p:cNvPr id="1104" name="Google Shape;1104;p64"/>
          <p:cNvSpPr/>
          <p:nvPr/>
        </p:nvSpPr>
        <p:spPr>
          <a:xfrm>
            <a:off x="7864530" y="2648090"/>
            <a:ext cx="943800" cy="157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CA3AF"/>
              </a:buClr>
              <a:buSzPts val="500"/>
              <a:buFont typeface="JetBrains Mono"/>
              <a:buNone/>
            </a:pPr>
            <a:r>
              <a:rPr lang="en" sz="800" b="0" i="0" u="none" strike="noStrike" cap="none">
                <a:solidFill>
                  <a:srgbClr val="595959"/>
                </a:solidFill>
                <a:latin typeface="DM Sans"/>
                <a:ea typeface="DM Sans"/>
                <a:cs typeface="DM Sans"/>
                <a:sym typeface="DM Sans"/>
              </a:rPr>
              <a:t>{{DSS_VDRV_R}}</a:t>
            </a:r>
            <a:endParaRPr sz="800" b="0" i="0" u="none" strike="noStrike" cap="none">
              <a:solidFill>
                <a:srgbClr val="595959"/>
              </a:solidFill>
              <a:latin typeface="DM Sans"/>
              <a:ea typeface="DM Sans"/>
              <a:cs typeface="DM Sans"/>
              <a:sym typeface="DM Sans"/>
            </a:endParaRPr>
          </a:p>
        </p:txBody>
      </p:sp>
      <p:sp>
        <p:nvSpPr>
          <p:cNvPr id="1105" name="Google Shape;1105;p64"/>
          <p:cNvSpPr/>
          <p:nvPr/>
        </p:nvSpPr>
        <p:spPr>
          <a:xfrm>
            <a:off x="4800600" y="2810732"/>
            <a:ext cx="3977700" cy="18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06" name="Google Shape;1106;p64"/>
          <p:cNvCxnSpPr/>
          <p:nvPr/>
        </p:nvCxnSpPr>
        <p:spPr>
          <a:xfrm>
            <a:off x="4800600" y="2998885"/>
            <a:ext cx="3977700" cy="0"/>
          </a:xfrm>
          <a:prstGeom prst="straightConnector1">
            <a:avLst/>
          </a:prstGeom>
          <a:noFill/>
          <a:ln w="9525" cap="flat" cmpd="sng">
            <a:solidFill>
              <a:srgbClr val="888888"/>
            </a:solidFill>
            <a:prstDash val="solid"/>
            <a:round/>
            <a:headEnd type="none" w="sm" len="sm"/>
            <a:tailEnd type="none" w="sm" len="sm"/>
          </a:ln>
        </p:spPr>
      </p:cxnSp>
      <p:sp>
        <p:nvSpPr>
          <p:cNvPr id="1107" name="Google Shape;1107;p64"/>
          <p:cNvSpPr/>
          <p:nvPr/>
        </p:nvSpPr>
        <p:spPr>
          <a:xfrm>
            <a:off x="4892040" y="2816016"/>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Cloud Managed Databases (PaaS)</a:t>
            </a:r>
            <a:endParaRPr sz="800" b="0" i="0" u="none" strike="noStrike" cap="none">
              <a:solidFill>
                <a:schemeClr val="dk1"/>
              </a:solidFill>
              <a:latin typeface="Calibri"/>
              <a:ea typeface="Calibri"/>
              <a:cs typeface="Calibri"/>
              <a:sym typeface="Calibri"/>
            </a:endParaRPr>
          </a:p>
        </p:txBody>
      </p:sp>
      <p:sp>
        <p:nvSpPr>
          <p:cNvPr id="1108" name="Google Shape;1108;p64"/>
          <p:cNvSpPr/>
          <p:nvPr/>
        </p:nvSpPr>
        <p:spPr>
          <a:xfrm>
            <a:off x="6941699" y="2810732"/>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{{DSS_PAAS}}</a:t>
            </a:r>
            <a:endParaRPr sz="700" b="0" i="0" u="none" strike="noStrike" cap="none">
              <a:solidFill>
                <a:schemeClr val="dk1"/>
              </a:solidFill>
              <a:latin typeface="Calibri"/>
              <a:ea typeface="Calibri"/>
              <a:cs typeface="Calibri"/>
              <a:sym typeface="Calibri"/>
            </a:endParaRPr>
          </a:p>
        </p:txBody>
      </p:sp>
      <p:sp>
        <p:nvSpPr>
          <p:cNvPr id="1109" name="Google Shape;1109;p64"/>
          <p:cNvSpPr/>
          <p:nvPr/>
        </p:nvSpPr>
        <p:spPr>
          <a:xfrm>
            <a:off x="4800600" y="2998885"/>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10" name="Google Shape;1110;p64"/>
          <p:cNvCxnSpPr/>
          <p:nvPr/>
        </p:nvCxnSpPr>
        <p:spPr>
          <a:xfrm>
            <a:off x="4800600" y="3187039"/>
            <a:ext cx="3977700" cy="0"/>
          </a:xfrm>
          <a:prstGeom prst="straightConnector1">
            <a:avLst/>
          </a:prstGeom>
          <a:noFill/>
          <a:ln w="9525" cap="flat" cmpd="sng">
            <a:solidFill>
              <a:srgbClr val="888888"/>
            </a:solidFill>
            <a:prstDash val="solid"/>
            <a:round/>
            <a:headEnd type="none" w="sm" len="sm"/>
            <a:tailEnd type="none" w="sm" len="sm"/>
          </a:ln>
        </p:spPr>
      </p:cxnSp>
      <p:sp>
        <p:nvSpPr>
          <p:cNvPr id="1111" name="Google Shape;1111;p64"/>
          <p:cNvSpPr/>
          <p:nvPr/>
        </p:nvSpPr>
        <p:spPr>
          <a:xfrm>
            <a:off x="4892040" y="3006608"/>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Data Warehouses</a:t>
            </a:r>
            <a:endParaRPr sz="800" b="0" i="0" u="none" strike="noStrike" cap="none">
              <a:solidFill>
                <a:schemeClr val="dk1"/>
              </a:solidFill>
              <a:latin typeface="Calibri"/>
              <a:ea typeface="Calibri"/>
              <a:cs typeface="Calibri"/>
              <a:sym typeface="Calibri"/>
            </a:endParaRPr>
          </a:p>
        </p:txBody>
      </p:sp>
      <p:sp>
        <p:nvSpPr>
          <p:cNvPr id="1112" name="Google Shape;1112;p64"/>
          <p:cNvSpPr/>
          <p:nvPr/>
        </p:nvSpPr>
        <p:spPr>
          <a:xfrm>
            <a:off x="6941699" y="2998885"/>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{{DSS_DW}}</a:t>
            </a:r>
            <a:endParaRPr sz="700" b="0" i="0" u="none" strike="noStrike" cap="none">
              <a:solidFill>
                <a:schemeClr val="dk1"/>
              </a:solidFill>
              <a:latin typeface="Calibri"/>
              <a:ea typeface="Calibri"/>
              <a:cs typeface="Calibri"/>
              <a:sym typeface="Calibri"/>
            </a:endParaRPr>
          </a:p>
        </p:txBody>
      </p:sp>
      <p:sp>
        <p:nvSpPr>
          <p:cNvPr id="1113" name="Google Shape;1113;p64"/>
          <p:cNvSpPr/>
          <p:nvPr/>
        </p:nvSpPr>
        <p:spPr>
          <a:xfrm>
            <a:off x="4800600" y="3187039"/>
            <a:ext cx="3977700" cy="18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14" name="Google Shape;1114;p64"/>
          <p:cNvCxnSpPr/>
          <p:nvPr/>
        </p:nvCxnSpPr>
        <p:spPr>
          <a:xfrm>
            <a:off x="4800600" y="3375192"/>
            <a:ext cx="3977700" cy="0"/>
          </a:xfrm>
          <a:prstGeom prst="straightConnector1">
            <a:avLst/>
          </a:prstGeom>
          <a:noFill/>
          <a:ln w="9525" cap="flat" cmpd="sng">
            <a:solidFill>
              <a:srgbClr val="888888"/>
            </a:solidFill>
            <a:prstDash val="solid"/>
            <a:round/>
            <a:headEnd type="none" w="sm" len="sm"/>
            <a:tailEnd type="none" w="sm" len="sm"/>
          </a:ln>
        </p:spPr>
      </p:cxnSp>
      <p:sp>
        <p:nvSpPr>
          <p:cNvPr id="1115" name="Google Shape;1115;p64"/>
          <p:cNvSpPr/>
          <p:nvPr/>
        </p:nvSpPr>
        <p:spPr>
          <a:xfrm>
            <a:off x="4892040" y="3197200"/>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Google BigQuery</a:t>
            </a:r>
            <a:endParaRPr sz="800" b="0" i="0" u="none" strike="noStrike" cap="none">
              <a:solidFill>
                <a:schemeClr val="dk1"/>
              </a:solidFill>
              <a:latin typeface="Calibri"/>
              <a:ea typeface="Calibri"/>
              <a:cs typeface="Calibri"/>
              <a:sym typeface="Calibri"/>
            </a:endParaRPr>
          </a:p>
        </p:txBody>
      </p:sp>
      <p:sp>
        <p:nvSpPr>
          <p:cNvPr id="1116" name="Google Shape;1116;p64"/>
          <p:cNvSpPr/>
          <p:nvPr/>
        </p:nvSpPr>
        <p:spPr>
          <a:xfrm>
            <a:off x="6941699" y="3187039"/>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{{DSS_BQ}}</a:t>
            </a:r>
            <a:endParaRPr sz="700" b="0" i="0" u="none" strike="noStrike" cap="none">
              <a:solidFill>
                <a:schemeClr val="dk1"/>
              </a:solidFill>
              <a:latin typeface="Calibri"/>
              <a:ea typeface="Calibri"/>
              <a:cs typeface="Calibri"/>
              <a:sym typeface="Calibri"/>
            </a:endParaRPr>
          </a:p>
        </p:txBody>
      </p:sp>
      <p:sp>
        <p:nvSpPr>
          <p:cNvPr id="1117" name="Google Shape;1117;p64"/>
          <p:cNvSpPr/>
          <p:nvPr/>
        </p:nvSpPr>
        <p:spPr>
          <a:xfrm>
            <a:off x="4800600" y="3375192"/>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18" name="Google Shape;1118;p64"/>
          <p:cNvCxnSpPr/>
          <p:nvPr/>
        </p:nvCxnSpPr>
        <p:spPr>
          <a:xfrm>
            <a:off x="4800600" y="3563346"/>
            <a:ext cx="3977700" cy="0"/>
          </a:xfrm>
          <a:prstGeom prst="straightConnector1">
            <a:avLst/>
          </a:prstGeom>
          <a:noFill/>
          <a:ln w="9525" cap="flat" cmpd="sng">
            <a:solidFill>
              <a:srgbClr val="888888"/>
            </a:solidFill>
            <a:prstDash val="solid"/>
            <a:round/>
            <a:headEnd type="none" w="sm" len="sm"/>
            <a:tailEnd type="none" w="sm" len="sm"/>
          </a:ln>
        </p:spPr>
      </p:cxnSp>
      <p:sp>
        <p:nvSpPr>
          <p:cNvPr id="1119" name="Google Shape;1119;p64"/>
          <p:cNvSpPr/>
          <p:nvPr/>
        </p:nvSpPr>
        <p:spPr>
          <a:xfrm>
            <a:off x="4892040" y="3387792"/>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Amazon DynamoDB</a:t>
            </a:r>
            <a:endParaRPr sz="800" b="0" i="0" u="none" strike="noStrike" cap="none">
              <a:solidFill>
                <a:schemeClr val="dk1"/>
              </a:solidFill>
              <a:latin typeface="Calibri"/>
              <a:ea typeface="Calibri"/>
              <a:cs typeface="Calibri"/>
              <a:sym typeface="Calibri"/>
            </a:endParaRPr>
          </a:p>
        </p:txBody>
      </p:sp>
      <p:sp>
        <p:nvSpPr>
          <p:cNvPr id="1120" name="Google Shape;1120;p64"/>
          <p:cNvSpPr/>
          <p:nvPr/>
        </p:nvSpPr>
        <p:spPr>
          <a:xfrm>
            <a:off x="6941699" y="3375192"/>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{{DSS_DDB}}</a:t>
            </a:r>
            <a:endParaRPr sz="700" b="0" i="0" u="none" strike="noStrike" cap="none">
              <a:solidFill>
                <a:schemeClr val="dk1"/>
              </a:solidFill>
              <a:latin typeface="Calibri"/>
              <a:ea typeface="Calibri"/>
              <a:cs typeface="Calibri"/>
              <a:sym typeface="Calibri"/>
            </a:endParaRPr>
          </a:p>
        </p:txBody>
      </p:sp>
      <p:sp>
        <p:nvSpPr>
          <p:cNvPr id="1121" name="Google Shape;1121;p64"/>
          <p:cNvSpPr/>
          <p:nvPr/>
        </p:nvSpPr>
        <p:spPr>
          <a:xfrm>
            <a:off x="4800600" y="3563346"/>
            <a:ext cx="3977700" cy="18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22" name="Google Shape;1122;p64"/>
          <p:cNvCxnSpPr/>
          <p:nvPr/>
        </p:nvCxnSpPr>
        <p:spPr>
          <a:xfrm>
            <a:off x="4800600" y="3751500"/>
            <a:ext cx="3977700" cy="0"/>
          </a:xfrm>
          <a:prstGeom prst="straightConnector1">
            <a:avLst/>
          </a:prstGeom>
          <a:noFill/>
          <a:ln w="9525" cap="flat" cmpd="sng">
            <a:solidFill>
              <a:srgbClr val="888888"/>
            </a:solidFill>
            <a:prstDash val="solid"/>
            <a:round/>
            <a:headEnd type="none" w="sm" len="sm"/>
            <a:tailEnd type="none" w="sm" len="sm"/>
          </a:ln>
        </p:spPr>
      </p:cxnSp>
      <p:sp>
        <p:nvSpPr>
          <p:cNvPr id="1123" name="Google Shape;1123;p64"/>
          <p:cNvSpPr/>
          <p:nvPr/>
        </p:nvSpPr>
        <p:spPr>
          <a:xfrm>
            <a:off x="4892040" y="3578384"/>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Snowflake</a:t>
            </a:r>
            <a:endParaRPr sz="800" b="0" i="0" u="none" strike="noStrike" cap="none">
              <a:solidFill>
                <a:schemeClr val="dk1"/>
              </a:solidFill>
              <a:latin typeface="Calibri"/>
              <a:ea typeface="Calibri"/>
              <a:cs typeface="Calibri"/>
              <a:sym typeface="Calibri"/>
            </a:endParaRPr>
          </a:p>
        </p:txBody>
      </p:sp>
      <p:sp>
        <p:nvSpPr>
          <p:cNvPr id="1124" name="Google Shape;1124;p64"/>
          <p:cNvSpPr/>
          <p:nvPr/>
        </p:nvSpPr>
        <p:spPr>
          <a:xfrm>
            <a:off x="6941699" y="3563346"/>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{{DSS_SNOW}}</a:t>
            </a:r>
            <a:endParaRPr sz="700" b="0" i="0" u="none" strike="noStrike" cap="none">
              <a:solidFill>
                <a:schemeClr val="dk1"/>
              </a:solidFill>
              <a:latin typeface="Calibri"/>
              <a:ea typeface="Calibri"/>
              <a:cs typeface="Calibri"/>
              <a:sym typeface="Calibri"/>
            </a:endParaRPr>
          </a:p>
        </p:txBody>
      </p:sp>
      <p:sp>
        <p:nvSpPr>
          <p:cNvPr id="1125" name="Google Shape;1125;p64"/>
          <p:cNvSpPr/>
          <p:nvPr/>
        </p:nvSpPr>
        <p:spPr>
          <a:xfrm>
            <a:off x="4800600" y="3751500"/>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26" name="Google Shape;1126;p64"/>
          <p:cNvCxnSpPr/>
          <p:nvPr/>
        </p:nvCxnSpPr>
        <p:spPr>
          <a:xfrm>
            <a:off x="4800600" y="3939653"/>
            <a:ext cx="3977700" cy="0"/>
          </a:xfrm>
          <a:prstGeom prst="straightConnector1">
            <a:avLst/>
          </a:prstGeom>
          <a:noFill/>
          <a:ln w="9525" cap="flat" cmpd="sng">
            <a:solidFill>
              <a:srgbClr val="888888"/>
            </a:solidFill>
            <a:prstDash val="solid"/>
            <a:round/>
            <a:headEnd type="none" w="sm" len="sm"/>
            <a:tailEnd type="none" w="sm" len="sm"/>
          </a:ln>
        </p:spPr>
      </p:cxnSp>
      <p:sp>
        <p:nvSpPr>
          <p:cNvPr id="1127" name="Google Shape;1127;p64"/>
          <p:cNvSpPr/>
          <p:nvPr/>
        </p:nvSpPr>
        <p:spPr>
          <a:xfrm>
            <a:off x="4892040" y="3768976"/>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Hosted Databases (IaaS)</a:t>
            </a:r>
            <a:endParaRPr sz="800" b="0" i="0" u="none" strike="noStrike" cap="none">
              <a:solidFill>
                <a:schemeClr val="dk1"/>
              </a:solidFill>
              <a:latin typeface="Calibri"/>
              <a:ea typeface="Calibri"/>
              <a:cs typeface="Calibri"/>
              <a:sym typeface="Calibri"/>
            </a:endParaRPr>
          </a:p>
        </p:txBody>
      </p:sp>
      <p:sp>
        <p:nvSpPr>
          <p:cNvPr id="1128" name="Google Shape;1128;p64"/>
          <p:cNvSpPr/>
          <p:nvPr/>
        </p:nvSpPr>
        <p:spPr>
          <a:xfrm>
            <a:off x="6941699" y="3751500"/>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{{DSS_IAAS}}</a:t>
            </a:r>
            <a:endParaRPr sz="700" b="0" i="0" u="none" strike="noStrike" cap="none">
              <a:solidFill>
                <a:schemeClr val="dk1"/>
              </a:solidFill>
              <a:latin typeface="Calibri"/>
              <a:ea typeface="Calibri"/>
              <a:cs typeface="Calibri"/>
              <a:sym typeface="Calibri"/>
            </a:endParaRPr>
          </a:p>
        </p:txBody>
      </p:sp>
      <p:sp>
        <p:nvSpPr>
          <p:cNvPr id="1129" name="Google Shape;1129;p64"/>
          <p:cNvSpPr/>
          <p:nvPr/>
        </p:nvSpPr>
        <p:spPr>
          <a:xfrm>
            <a:off x="4800600" y="3939653"/>
            <a:ext cx="3977700" cy="18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30" name="Google Shape;1130;p64"/>
          <p:cNvCxnSpPr/>
          <p:nvPr/>
        </p:nvCxnSpPr>
        <p:spPr>
          <a:xfrm>
            <a:off x="4800600" y="4127807"/>
            <a:ext cx="3977700" cy="0"/>
          </a:xfrm>
          <a:prstGeom prst="straightConnector1">
            <a:avLst/>
          </a:prstGeom>
          <a:noFill/>
          <a:ln w="9525" cap="flat" cmpd="sng">
            <a:solidFill>
              <a:srgbClr val="888888"/>
            </a:solidFill>
            <a:prstDash val="solid"/>
            <a:round/>
            <a:headEnd type="none" w="sm" len="sm"/>
            <a:tailEnd type="none" w="sm" len="sm"/>
          </a:ln>
        </p:spPr>
      </p:cxnSp>
      <p:sp>
        <p:nvSpPr>
          <p:cNvPr id="1131" name="Google Shape;1131;p64"/>
          <p:cNvSpPr/>
          <p:nvPr/>
        </p:nvSpPr>
        <p:spPr>
          <a:xfrm>
            <a:off x="4892040" y="3959568"/>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VM Disks (OS and non-OS)</a:t>
            </a:r>
            <a:endParaRPr sz="800" b="0" i="0" u="none" strike="noStrike" cap="none">
              <a:solidFill>
                <a:schemeClr val="dk1"/>
              </a:solidFill>
              <a:latin typeface="Calibri"/>
              <a:ea typeface="Calibri"/>
              <a:cs typeface="Calibri"/>
              <a:sym typeface="Calibri"/>
            </a:endParaRPr>
          </a:p>
        </p:txBody>
      </p:sp>
      <p:sp>
        <p:nvSpPr>
          <p:cNvPr id="1132" name="Google Shape;1132;p64"/>
          <p:cNvSpPr/>
          <p:nvPr/>
        </p:nvSpPr>
        <p:spPr>
          <a:xfrm>
            <a:off x="6941699" y="3939653"/>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{{DSS_VMD}}</a:t>
            </a:r>
            <a:endParaRPr sz="700" b="0" i="0" u="none" strike="noStrike" cap="none">
              <a:solidFill>
                <a:schemeClr val="dk1"/>
              </a:solidFill>
              <a:latin typeface="Calibri"/>
              <a:ea typeface="Calibri"/>
              <a:cs typeface="Calibri"/>
              <a:sym typeface="Calibri"/>
            </a:endParaRPr>
          </a:p>
        </p:txBody>
      </p:sp>
      <p:sp>
        <p:nvSpPr>
          <p:cNvPr id="1133" name="Google Shape;1133;p64"/>
          <p:cNvSpPr/>
          <p:nvPr/>
        </p:nvSpPr>
        <p:spPr>
          <a:xfrm>
            <a:off x="4800600" y="4127807"/>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34" name="Google Shape;1134;p64"/>
          <p:cNvCxnSpPr/>
          <p:nvPr/>
        </p:nvCxnSpPr>
        <p:spPr>
          <a:xfrm>
            <a:off x="4800600" y="4315960"/>
            <a:ext cx="3977700" cy="0"/>
          </a:xfrm>
          <a:prstGeom prst="straightConnector1">
            <a:avLst/>
          </a:prstGeom>
          <a:noFill/>
          <a:ln w="9525" cap="flat" cmpd="sng">
            <a:solidFill>
              <a:srgbClr val="888888"/>
            </a:solidFill>
            <a:prstDash val="solid"/>
            <a:round/>
            <a:headEnd type="none" w="sm" len="sm"/>
            <a:tailEnd type="none" w="sm" len="sm"/>
          </a:ln>
        </p:spPr>
      </p:cxnSp>
      <p:sp>
        <p:nvSpPr>
          <p:cNvPr id="1135" name="Google Shape;1135;p64"/>
          <p:cNvSpPr/>
          <p:nvPr/>
        </p:nvSpPr>
        <p:spPr>
          <a:xfrm>
            <a:off x="4892040" y="4150159"/>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Serverless Functions</a:t>
            </a:r>
            <a:endParaRPr sz="800" b="0" i="0" u="none" strike="noStrike" cap="none">
              <a:solidFill>
                <a:schemeClr val="dk1"/>
              </a:solidFill>
              <a:latin typeface="Calibri"/>
              <a:ea typeface="Calibri"/>
              <a:cs typeface="Calibri"/>
              <a:sym typeface="Calibri"/>
            </a:endParaRPr>
          </a:p>
        </p:txBody>
      </p:sp>
      <p:sp>
        <p:nvSpPr>
          <p:cNvPr id="1136" name="Google Shape;1136;p64"/>
          <p:cNvSpPr/>
          <p:nvPr/>
        </p:nvSpPr>
        <p:spPr>
          <a:xfrm>
            <a:off x="6941699" y="4127807"/>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{{DSS_SLS}}</a:t>
            </a:r>
            <a:endParaRPr sz="700" b="0" i="0" u="none" strike="noStrike" cap="none">
              <a:solidFill>
                <a:schemeClr val="dk1"/>
              </a:solidFill>
              <a:latin typeface="Calibri"/>
              <a:ea typeface="Calibri"/>
              <a:cs typeface="Calibri"/>
              <a:sym typeface="Calibri"/>
            </a:endParaRPr>
          </a:p>
        </p:txBody>
      </p:sp>
      <p:sp>
        <p:nvSpPr>
          <p:cNvPr id="1137" name="Google Shape;1137;p64"/>
          <p:cNvSpPr/>
          <p:nvPr/>
        </p:nvSpPr>
        <p:spPr>
          <a:xfrm>
            <a:off x="4800600" y="4315960"/>
            <a:ext cx="3977700" cy="18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38" name="Google Shape;1138;p64"/>
          <p:cNvCxnSpPr/>
          <p:nvPr/>
        </p:nvCxnSpPr>
        <p:spPr>
          <a:xfrm>
            <a:off x="4800600" y="4504114"/>
            <a:ext cx="3977700" cy="0"/>
          </a:xfrm>
          <a:prstGeom prst="straightConnector1">
            <a:avLst/>
          </a:prstGeom>
          <a:noFill/>
          <a:ln w="9525" cap="flat" cmpd="sng">
            <a:solidFill>
              <a:srgbClr val="888888"/>
            </a:solidFill>
            <a:prstDash val="solid"/>
            <a:round/>
            <a:headEnd type="none" w="sm" len="sm"/>
            <a:tailEnd type="none" w="sm" len="sm"/>
          </a:ln>
        </p:spPr>
      </p:cxnSp>
      <p:sp>
        <p:nvSpPr>
          <p:cNvPr id="1139" name="Google Shape;1139;p64"/>
          <p:cNvSpPr/>
          <p:nvPr/>
        </p:nvSpPr>
        <p:spPr>
          <a:xfrm>
            <a:off x="4892040" y="4340751"/>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Vertex AI</a:t>
            </a:r>
            <a:endParaRPr sz="800" b="0" i="0" u="none" strike="noStrike" cap="none">
              <a:solidFill>
                <a:schemeClr val="dk1"/>
              </a:solidFill>
              <a:latin typeface="Calibri"/>
              <a:ea typeface="Calibri"/>
              <a:cs typeface="Calibri"/>
              <a:sym typeface="Calibri"/>
            </a:endParaRPr>
          </a:p>
        </p:txBody>
      </p:sp>
      <p:sp>
        <p:nvSpPr>
          <p:cNvPr id="1140" name="Google Shape;1140;p64"/>
          <p:cNvSpPr/>
          <p:nvPr/>
        </p:nvSpPr>
        <p:spPr>
          <a:xfrm>
            <a:off x="6941699" y="4315960"/>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{{DSS_AIV}}</a:t>
            </a:r>
            <a:endParaRPr sz="700" b="0" i="0" u="none" strike="noStrike" cap="none">
              <a:solidFill>
                <a:schemeClr val="dk1"/>
              </a:solidFill>
              <a:latin typeface="Calibri"/>
              <a:ea typeface="Calibri"/>
              <a:cs typeface="Calibri"/>
              <a:sym typeface="Calibri"/>
            </a:endParaRPr>
          </a:p>
        </p:txBody>
      </p:sp>
      <p:sp>
        <p:nvSpPr>
          <p:cNvPr id="1141" name="Google Shape;1141;p64"/>
          <p:cNvSpPr/>
          <p:nvPr/>
        </p:nvSpPr>
        <p:spPr>
          <a:xfrm>
            <a:off x="4816611" y="4518359"/>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42" name="Google Shape;1142;p64"/>
          <p:cNvCxnSpPr/>
          <p:nvPr/>
        </p:nvCxnSpPr>
        <p:spPr>
          <a:xfrm>
            <a:off x="4816611" y="4706513"/>
            <a:ext cx="3977700" cy="0"/>
          </a:xfrm>
          <a:prstGeom prst="straightConnector1">
            <a:avLst/>
          </a:prstGeom>
          <a:noFill/>
          <a:ln w="9525" cap="flat" cmpd="sng">
            <a:solidFill>
              <a:srgbClr val="888888"/>
            </a:solidFill>
            <a:prstDash val="solid"/>
            <a:round/>
            <a:headEnd type="none" w="sm" len="sm"/>
            <a:tailEnd type="none" w="sm" len="sm"/>
          </a:ln>
        </p:spPr>
      </p:cxnSp>
      <p:sp>
        <p:nvSpPr>
          <p:cNvPr id="1143" name="Google Shape;1143;p64"/>
          <p:cNvSpPr/>
          <p:nvPr/>
        </p:nvSpPr>
        <p:spPr>
          <a:xfrm>
            <a:off x="4908051" y="4531343"/>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Azure OpenAI</a:t>
            </a:r>
            <a:endParaRPr sz="800" b="0" i="0" u="none" strike="noStrike" cap="none">
              <a:solidFill>
                <a:schemeClr val="dk1"/>
              </a:solidFill>
              <a:latin typeface="Calibri"/>
              <a:ea typeface="Calibri"/>
              <a:cs typeface="Calibri"/>
              <a:sym typeface="Calibri"/>
            </a:endParaRPr>
          </a:p>
        </p:txBody>
      </p:sp>
      <p:sp>
        <p:nvSpPr>
          <p:cNvPr id="1144" name="Google Shape;1144;p64"/>
          <p:cNvSpPr/>
          <p:nvPr/>
        </p:nvSpPr>
        <p:spPr>
          <a:xfrm>
            <a:off x="6957710" y="4518359"/>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{{DSS_AIAO}}</a:t>
            </a:r>
            <a:endParaRPr sz="700" b="0" i="0" u="none" strike="noStrike" cap="none">
              <a:solidFill>
                <a:srgbClr val="1A56DB"/>
              </a:solidFill>
              <a:latin typeface="JetBrains Mono"/>
              <a:ea typeface="JetBrains Mono"/>
              <a:cs typeface="JetBrains Mono"/>
              <a:sym typeface="JetBrains Mono"/>
            </a:endParaRPr>
          </a:p>
        </p:txBody>
      </p:sp>
      <p:sp>
        <p:nvSpPr>
          <p:cNvPr id="1145" name="Google Shape;1145;p64"/>
          <p:cNvSpPr/>
          <p:nvPr/>
        </p:nvSpPr>
        <p:spPr>
          <a:xfrm>
            <a:off x="4816611" y="4706513"/>
            <a:ext cx="3977700" cy="18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6" name="Google Shape;1146;p64"/>
          <p:cNvSpPr/>
          <p:nvPr/>
        </p:nvSpPr>
        <p:spPr>
          <a:xfrm>
            <a:off x="4908051" y="4721935"/>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OpenAI</a:t>
            </a:r>
            <a:endParaRPr sz="800" b="0" i="0" u="none" strike="noStrike" cap="none">
              <a:solidFill>
                <a:schemeClr val="dk1"/>
              </a:solidFill>
              <a:latin typeface="Calibri"/>
              <a:ea typeface="Calibri"/>
              <a:cs typeface="Calibri"/>
              <a:sym typeface="Calibri"/>
            </a:endParaRPr>
          </a:p>
        </p:txBody>
      </p:sp>
      <p:sp>
        <p:nvSpPr>
          <p:cNvPr id="1147" name="Google Shape;1147;p64"/>
          <p:cNvSpPr/>
          <p:nvPr/>
        </p:nvSpPr>
        <p:spPr>
          <a:xfrm>
            <a:off x="6957710" y="4706513"/>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{{DSS_AIOA}}</a:t>
            </a:r>
            <a:endParaRPr sz="700" b="0" i="0" u="none" strike="noStrike" cap="none">
              <a:solidFill>
                <a:srgbClr val="1A56DB"/>
              </a:solidFill>
              <a:latin typeface="JetBrains Mono"/>
              <a:ea typeface="JetBrains Mono"/>
              <a:cs typeface="JetBrains Mono"/>
              <a:sym typeface="JetBrains Mono"/>
            </a:endParaRPr>
          </a:p>
        </p:txBody>
      </p:sp>
      <p:sp>
        <p:nvSpPr>
          <p:cNvPr id="1148" name="Google Shape;1148;p64"/>
          <p:cNvSpPr/>
          <p:nvPr/>
        </p:nvSpPr>
        <p:spPr>
          <a:xfrm>
            <a:off x="4816865" y="4912527"/>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9" name="Google Shape;1149;p64"/>
          <p:cNvSpPr/>
          <p:nvPr/>
        </p:nvSpPr>
        <p:spPr>
          <a:xfrm>
            <a:off x="4908305" y="4912527"/>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Shadow Data</a:t>
            </a:r>
            <a:endParaRPr sz="800" b="0" i="0" u="none" strike="noStrike" cap="none">
              <a:solidFill>
                <a:schemeClr val="dk1"/>
              </a:solidFill>
              <a:latin typeface="Calibri"/>
              <a:ea typeface="Calibri"/>
              <a:cs typeface="Calibri"/>
              <a:sym typeface="Calibri"/>
            </a:endParaRPr>
          </a:p>
        </p:txBody>
      </p:sp>
      <p:sp>
        <p:nvSpPr>
          <p:cNvPr id="1150" name="Google Shape;1150;p64"/>
          <p:cNvSpPr/>
          <p:nvPr/>
        </p:nvSpPr>
        <p:spPr>
          <a:xfrm>
            <a:off x="6957964" y="4912527"/>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{{DSS_SHAD}}</a:t>
            </a:r>
            <a:endParaRPr sz="700" b="0" i="0" u="none" strike="noStrike" cap="none">
              <a:solidFill>
                <a:schemeClr val="dk1"/>
              </a:solidFill>
              <a:latin typeface="Calibri"/>
              <a:ea typeface="Calibri"/>
              <a:cs typeface="Calibri"/>
              <a:sym typeface="Calibri"/>
            </a:endParaRPr>
          </a:p>
        </p:txBody>
      </p:sp>
      <p:cxnSp>
        <p:nvCxnSpPr>
          <p:cNvPr id="1151" name="Google Shape;1151;p64"/>
          <p:cNvCxnSpPr/>
          <p:nvPr/>
        </p:nvCxnSpPr>
        <p:spPr>
          <a:xfrm>
            <a:off x="4817440" y="5113722"/>
            <a:ext cx="3977700" cy="0"/>
          </a:xfrm>
          <a:prstGeom prst="straightConnector1">
            <a:avLst/>
          </a:prstGeom>
          <a:noFill/>
          <a:ln w="9525" cap="flat" cmpd="sng">
            <a:solidFill>
              <a:srgbClr val="888888"/>
            </a:solidFill>
            <a:prstDash val="solid"/>
            <a:round/>
            <a:headEnd type="none" w="sm" len="sm"/>
            <a:tailEnd type="none" w="sm" len="sm"/>
          </a:ln>
        </p:spPr>
      </p:cxnSp>
      <p:sp>
        <p:nvSpPr>
          <p:cNvPr id="1152" name="Google Shape;1152;p64"/>
          <p:cNvSpPr txBox="1"/>
          <p:nvPr/>
        </p:nvSpPr>
        <p:spPr>
          <a:xfrm>
            <a:off x="3395224" y="1457671"/>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{{VS_OSPKG_R}}</a:t>
            </a:r>
            <a:endParaRPr sz="800" b="0" i="0" u="none" strike="noStrike" cap="none">
              <a:solidFill>
                <a:srgbClr val="595959"/>
              </a:solidFill>
              <a:latin typeface="DM Sans"/>
              <a:ea typeface="DM Sans"/>
              <a:cs typeface="DM Sans"/>
              <a:sym typeface="DM Sans"/>
            </a:endParaRPr>
          </a:p>
        </p:txBody>
      </p:sp>
      <p:sp>
        <p:nvSpPr>
          <p:cNvPr id="1153" name="Google Shape;1153;p64"/>
          <p:cNvSpPr txBox="1"/>
          <p:nvPr/>
        </p:nvSpPr>
        <p:spPr>
          <a:xfrm>
            <a:off x="3395224" y="1705822"/>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{{VS_WINB_R}}</a:t>
            </a:r>
            <a:endParaRPr sz="800" b="0" i="0" u="none" strike="noStrike" cap="none">
              <a:solidFill>
                <a:srgbClr val="595959"/>
              </a:solidFill>
              <a:latin typeface="DM Sans"/>
              <a:ea typeface="DM Sans"/>
              <a:cs typeface="DM Sans"/>
              <a:sym typeface="DM Sans"/>
            </a:endParaRPr>
          </a:p>
        </p:txBody>
      </p:sp>
      <p:sp>
        <p:nvSpPr>
          <p:cNvPr id="1154" name="Google Shape;1154;p64"/>
          <p:cNvSpPr txBox="1"/>
          <p:nvPr/>
        </p:nvSpPr>
        <p:spPr>
          <a:xfrm>
            <a:off x="3395224" y="1953974"/>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{{VS_GOSTD_R}}</a:t>
            </a:r>
            <a:endParaRPr sz="800" b="0" i="0" u="none" strike="noStrike" cap="none">
              <a:solidFill>
                <a:srgbClr val="595959"/>
              </a:solidFill>
              <a:latin typeface="DM Sans"/>
              <a:ea typeface="DM Sans"/>
              <a:cs typeface="DM Sans"/>
              <a:sym typeface="DM Sans"/>
            </a:endParaRPr>
          </a:p>
        </p:txBody>
      </p:sp>
      <p:sp>
        <p:nvSpPr>
          <p:cNvPr id="1155" name="Google Shape;1155;p64"/>
          <p:cNvSpPr txBox="1"/>
          <p:nvPr/>
        </p:nvSpPr>
        <p:spPr>
          <a:xfrm>
            <a:off x="3395224" y="2202126"/>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{{VS_EXCL_R}}</a:t>
            </a:r>
            <a:endParaRPr sz="800" b="0" i="0" u="none" strike="noStrike" cap="none">
              <a:solidFill>
                <a:srgbClr val="595959"/>
              </a:solidFill>
              <a:latin typeface="DM Sans"/>
              <a:ea typeface="DM Sans"/>
              <a:cs typeface="DM Sans"/>
              <a:sym typeface="DM Sans"/>
            </a:endParaRPr>
          </a:p>
        </p:txBody>
      </p:sp>
      <p:sp>
        <p:nvSpPr>
          <p:cNvPr id="1156" name="Google Shape;1156;p64"/>
          <p:cNvSpPr txBox="1"/>
          <p:nvPr/>
        </p:nvSpPr>
        <p:spPr>
          <a:xfrm>
            <a:off x="3395224" y="2450277"/>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{{VS_RHOS_R}}</a:t>
            </a:r>
            <a:endParaRPr sz="800" b="0" i="0" u="none" strike="noStrike" cap="none">
              <a:solidFill>
                <a:srgbClr val="595959"/>
              </a:solidFill>
              <a:latin typeface="DM Sans"/>
              <a:ea typeface="DM Sans"/>
              <a:cs typeface="DM Sans"/>
              <a:sym typeface="DM Sans"/>
            </a:endParaRPr>
          </a:p>
        </p:txBody>
      </p:sp>
      <p:sp>
        <p:nvSpPr>
          <p:cNvPr id="1157" name="Google Shape;1157;p64"/>
          <p:cNvSpPr txBox="1"/>
          <p:nvPr/>
        </p:nvSpPr>
        <p:spPr>
          <a:xfrm>
            <a:off x="3395224" y="3445924"/>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{{VS_MAVEN_R}}</a:t>
            </a:r>
            <a:endParaRPr sz="800" b="0" i="0" u="none" strike="noStrike" cap="none">
              <a:solidFill>
                <a:srgbClr val="595959"/>
              </a:solidFill>
              <a:latin typeface="DM Sans"/>
              <a:ea typeface="DM Sans"/>
              <a:cs typeface="DM Sans"/>
              <a:sym typeface="DM Sans"/>
            </a:endParaRPr>
          </a:p>
        </p:txBody>
      </p:sp>
      <p:sp>
        <p:nvSpPr>
          <p:cNvPr id="1158" name="Google Shape;1158;p64"/>
          <p:cNvSpPr txBox="1"/>
          <p:nvPr/>
        </p:nvSpPr>
        <p:spPr>
          <a:xfrm>
            <a:off x="3395224" y="3694076"/>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{{VS_JSDEP_R}}</a:t>
            </a:r>
            <a:endParaRPr sz="800" b="0" i="0" u="none" strike="noStrike" cap="none">
              <a:solidFill>
                <a:srgbClr val="595959"/>
              </a:solidFill>
              <a:latin typeface="DM Sans"/>
              <a:ea typeface="DM Sans"/>
              <a:cs typeface="DM Sans"/>
              <a:sym typeface="DM Sans"/>
            </a:endParaRPr>
          </a:p>
        </p:txBody>
      </p:sp>
      <p:sp>
        <p:nvSpPr>
          <p:cNvPr id="1159" name="Google Shape;1159;p64"/>
          <p:cNvSpPr txBox="1"/>
          <p:nvPr/>
        </p:nvSpPr>
        <p:spPr>
          <a:xfrm>
            <a:off x="3395224" y="3942227"/>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{{VS_GRADL_R}}</a:t>
            </a:r>
            <a:endParaRPr sz="800" b="0" i="0" u="none" strike="noStrike" cap="none">
              <a:solidFill>
                <a:srgbClr val="595959"/>
              </a:solidFill>
              <a:latin typeface="DM Sans"/>
              <a:ea typeface="DM Sans"/>
              <a:cs typeface="DM Sans"/>
              <a:sym typeface="DM Sans"/>
            </a:endParaRPr>
          </a:p>
        </p:txBody>
      </p:sp>
      <p:sp>
        <p:nvSpPr>
          <p:cNvPr id="1160" name="Google Shape;1160;p64"/>
          <p:cNvSpPr txBox="1"/>
          <p:nvPr/>
        </p:nvSpPr>
        <p:spPr>
          <a:xfrm>
            <a:off x="3395224" y="4190379"/>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{{VS_EOL_R}}</a:t>
            </a:r>
            <a:endParaRPr sz="800" b="0" i="0" u="none" strike="noStrike" cap="none">
              <a:solidFill>
                <a:srgbClr val="595959"/>
              </a:solidFill>
              <a:latin typeface="DM Sans"/>
              <a:ea typeface="DM Sans"/>
              <a:cs typeface="DM Sans"/>
              <a:sym typeface="DM Sans"/>
            </a:endParaRPr>
          </a:p>
        </p:txBody>
      </p:sp>
      <p:sp>
        <p:nvSpPr>
          <p:cNvPr id="1161" name="Google Shape;1161;p64"/>
          <p:cNvSpPr txBox="1"/>
          <p:nvPr/>
        </p:nvSpPr>
        <p:spPr>
          <a:xfrm>
            <a:off x="7864530" y="1408069"/>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{{DSS_ON_R}}</a:t>
            </a:r>
            <a:endParaRPr sz="800" b="0" i="0" u="none" strike="noStrike" cap="none">
              <a:solidFill>
                <a:srgbClr val="595959"/>
              </a:solidFill>
              <a:latin typeface="DM Sans"/>
              <a:ea typeface="DM Sans"/>
              <a:cs typeface="DM Sans"/>
              <a:sym typeface="DM Sans"/>
            </a:endParaRPr>
          </a:p>
        </p:txBody>
      </p:sp>
      <p:sp>
        <p:nvSpPr>
          <p:cNvPr id="1162" name="Google Shape;1162;p64"/>
          <p:cNvSpPr txBox="1"/>
          <p:nvPr/>
        </p:nvSpPr>
        <p:spPr>
          <a:xfrm>
            <a:off x="7864530" y="1889100"/>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{{DSS_AZ1_R}}</a:t>
            </a:r>
            <a:endParaRPr sz="800" b="0" i="0" u="none" strike="noStrike" cap="none">
              <a:solidFill>
                <a:srgbClr val="595959"/>
              </a:solidFill>
              <a:latin typeface="DM Sans"/>
              <a:ea typeface="DM Sans"/>
              <a:cs typeface="DM Sans"/>
              <a:sym typeface="DM Sans"/>
            </a:endParaRPr>
          </a:p>
        </p:txBody>
      </p:sp>
      <p:sp>
        <p:nvSpPr>
          <p:cNvPr id="1163" name="Google Shape;1163;p64"/>
          <p:cNvSpPr txBox="1"/>
          <p:nvPr/>
        </p:nvSpPr>
        <p:spPr>
          <a:xfrm>
            <a:off x="7864530" y="2077567"/>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{{DSS_AZ2_R}}</a:t>
            </a:r>
            <a:endParaRPr sz="800" b="0" i="0" u="none" strike="noStrike" cap="none">
              <a:solidFill>
                <a:srgbClr val="595959"/>
              </a:solidFill>
              <a:latin typeface="DM Sans"/>
              <a:ea typeface="DM Sans"/>
              <a:cs typeface="DM Sans"/>
              <a:sym typeface="DM Sans"/>
            </a:endParaRPr>
          </a:p>
        </p:txBody>
      </p:sp>
      <p:sp>
        <p:nvSpPr>
          <p:cNvPr id="1164" name="Google Shape;1164;p64"/>
          <p:cNvSpPr txBox="1"/>
          <p:nvPr/>
        </p:nvSpPr>
        <p:spPr>
          <a:xfrm>
            <a:off x="7864530" y="2836556"/>
            <a:ext cx="946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{{DSS_PAAS_R}}</a:t>
            </a:r>
            <a:endParaRPr sz="800" b="0" i="0" u="none" strike="noStrike" cap="none">
              <a:solidFill>
                <a:srgbClr val="595959"/>
              </a:solidFill>
              <a:latin typeface="DM Sans"/>
              <a:ea typeface="DM Sans"/>
              <a:cs typeface="DM Sans"/>
              <a:sym typeface="DM Sans"/>
            </a:endParaRPr>
          </a:p>
        </p:txBody>
      </p:sp>
      <p:sp>
        <p:nvSpPr>
          <p:cNvPr id="1165" name="Google Shape;1165;p64"/>
          <p:cNvSpPr txBox="1"/>
          <p:nvPr/>
        </p:nvSpPr>
        <p:spPr>
          <a:xfrm>
            <a:off x="7854823" y="3025023"/>
            <a:ext cx="946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{{DSS_DW_R}}</a:t>
            </a:r>
            <a:endParaRPr sz="800" b="0" i="0" u="none" strike="noStrike" cap="none">
              <a:solidFill>
                <a:srgbClr val="595959"/>
              </a:solidFill>
              <a:latin typeface="DM Sans"/>
              <a:ea typeface="DM Sans"/>
              <a:cs typeface="DM Sans"/>
              <a:sym typeface="DM Sans"/>
            </a:endParaRPr>
          </a:p>
        </p:txBody>
      </p:sp>
      <p:sp>
        <p:nvSpPr>
          <p:cNvPr id="1166" name="Google Shape;1166;p64"/>
          <p:cNvSpPr txBox="1"/>
          <p:nvPr/>
        </p:nvSpPr>
        <p:spPr>
          <a:xfrm>
            <a:off x="7854823" y="3213490"/>
            <a:ext cx="946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{{DSS_BQ_R}}</a:t>
            </a:r>
            <a:endParaRPr sz="800" b="0" i="0" u="none" strike="noStrike" cap="none">
              <a:solidFill>
                <a:srgbClr val="595959"/>
              </a:solidFill>
              <a:latin typeface="DM Sans"/>
              <a:ea typeface="DM Sans"/>
              <a:cs typeface="DM Sans"/>
              <a:sym typeface="DM Sans"/>
            </a:endParaRPr>
          </a:p>
        </p:txBody>
      </p:sp>
      <p:sp>
        <p:nvSpPr>
          <p:cNvPr id="1167" name="Google Shape;1167;p64"/>
          <p:cNvSpPr txBox="1"/>
          <p:nvPr/>
        </p:nvSpPr>
        <p:spPr>
          <a:xfrm>
            <a:off x="7864530" y="3401957"/>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{{DSS_DDB_R}}</a:t>
            </a:r>
            <a:endParaRPr sz="800" b="0" i="0" u="none" strike="noStrike" cap="none">
              <a:solidFill>
                <a:srgbClr val="595959"/>
              </a:solidFill>
              <a:latin typeface="DM Sans"/>
              <a:ea typeface="DM Sans"/>
              <a:cs typeface="DM Sans"/>
              <a:sym typeface="DM Sans"/>
            </a:endParaRPr>
          </a:p>
        </p:txBody>
      </p:sp>
      <p:sp>
        <p:nvSpPr>
          <p:cNvPr id="1168" name="Google Shape;1168;p64"/>
          <p:cNvSpPr txBox="1"/>
          <p:nvPr/>
        </p:nvSpPr>
        <p:spPr>
          <a:xfrm>
            <a:off x="7864530" y="3590423"/>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{{DSS_SNOW_R}}</a:t>
            </a:r>
            <a:endParaRPr sz="800" b="0" i="0" u="none" strike="noStrike" cap="none">
              <a:solidFill>
                <a:srgbClr val="595959"/>
              </a:solidFill>
              <a:latin typeface="DM Sans"/>
              <a:ea typeface="DM Sans"/>
              <a:cs typeface="DM Sans"/>
              <a:sym typeface="DM Sans"/>
            </a:endParaRPr>
          </a:p>
        </p:txBody>
      </p:sp>
      <p:sp>
        <p:nvSpPr>
          <p:cNvPr id="1169" name="Google Shape;1169;p64"/>
          <p:cNvSpPr txBox="1"/>
          <p:nvPr/>
        </p:nvSpPr>
        <p:spPr>
          <a:xfrm>
            <a:off x="7864530" y="3778890"/>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{{DSS_IAAS_R}}</a:t>
            </a:r>
            <a:endParaRPr sz="800" b="0" i="0" u="none" strike="noStrike" cap="none">
              <a:solidFill>
                <a:srgbClr val="595959"/>
              </a:solidFill>
              <a:latin typeface="DM Sans"/>
              <a:ea typeface="DM Sans"/>
              <a:cs typeface="DM Sans"/>
              <a:sym typeface="DM Sans"/>
            </a:endParaRPr>
          </a:p>
        </p:txBody>
      </p:sp>
      <p:sp>
        <p:nvSpPr>
          <p:cNvPr id="1170" name="Google Shape;1170;p64"/>
          <p:cNvSpPr txBox="1"/>
          <p:nvPr/>
        </p:nvSpPr>
        <p:spPr>
          <a:xfrm>
            <a:off x="7864530" y="3967357"/>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{{DSS_VMD_R}}</a:t>
            </a:r>
            <a:endParaRPr sz="800" b="0" i="0" u="none" strike="noStrike" cap="none">
              <a:solidFill>
                <a:srgbClr val="595959"/>
              </a:solidFill>
              <a:latin typeface="DM Sans"/>
              <a:ea typeface="DM Sans"/>
              <a:cs typeface="DM Sans"/>
              <a:sym typeface="DM Sans"/>
            </a:endParaRPr>
          </a:p>
        </p:txBody>
      </p:sp>
      <p:sp>
        <p:nvSpPr>
          <p:cNvPr id="1171" name="Google Shape;1171;p64"/>
          <p:cNvSpPr txBox="1"/>
          <p:nvPr/>
        </p:nvSpPr>
        <p:spPr>
          <a:xfrm>
            <a:off x="7864530" y="4155824"/>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{{DSS_SLS_R}}</a:t>
            </a:r>
            <a:endParaRPr sz="800" b="0" i="0" u="none" strike="noStrike" cap="none">
              <a:solidFill>
                <a:srgbClr val="595959"/>
              </a:solidFill>
              <a:latin typeface="DM Sans"/>
              <a:ea typeface="DM Sans"/>
              <a:cs typeface="DM Sans"/>
              <a:sym typeface="DM Sans"/>
            </a:endParaRPr>
          </a:p>
        </p:txBody>
      </p:sp>
      <p:sp>
        <p:nvSpPr>
          <p:cNvPr id="1172" name="Google Shape;1172;p64"/>
          <p:cNvSpPr txBox="1"/>
          <p:nvPr/>
        </p:nvSpPr>
        <p:spPr>
          <a:xfrm>
            <a:off x="7864530" y="4344291"/>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{{DSS_AIV_R}}</a:t>
            </a:r>
            <a:endParaRPr sz="800" b="0" i="0" u="none" strike="noStrike" cap="none">
              <a:solidFill>
                <a:srgbClr val="595959"/>
              </a:solidFill>
              <a:latin typeface="DM Sans"/>
              <a:ea typeface="DM Sans"/>
              <a:cs typeface="DM Sans"/>
              <a:sym typeface="DM Sans"/>
            </a:endParaRPr>
          </a:p>
        </p:txBody>
      </p:sp>
      <p:sp>
        <p:nvSpPr>
          <p:cNvPr id="1173" name="Google Shape;1173;p64"/>
          <p:cNvSpPr txBox="1"/>
          <p:nvPr/>
        </p:nvSpPr>
        <p:spPr>
          <a:xfrm>
            <a:off x="7880542" y="4547002"/>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{{DSS_AIAO_R}}</a:t>
            </a:r>
            <a:endParaRPr sz="800" b="0" i="0" u="none" strike="noStrike" cap="none">
              <a:solidFill>
                <a:srgbClr val="595959"/>
              </a:solidFill>
              <a:latin typeface="DM Sans"/>
              <a:ea typeface="DM Sans"/>
              <a:cs typeface="DM Sans"/>
              <a:sym typeface="DM Sans"/>
            </a:endParaRPr>
          </a:p>
        </p:txBody>
      </p:sp>
      <p:sp>
        <p:nvSpPr>
          <p:cNvPr id="1174" name="Google Shape;1174;p64"/>
          <p:cNvSpPr txBox="1"/>
          <p:nvPr/>
        </p:nvSpPr>
        <p:spPr>
          <a:xfrm>
            <a:off x="7880542" y="4735469"/>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{{DSS_AIOA_R}}</a:t>
            </a:r>
            <a:endParaRPr sz="800" b="0" i="0" u="none" strike="noStrike" cap="none">
              <a:solidFill>
                <a:srgbClr val="595959"/>
              </a:solidFill>
              <a:latin typeface="DM Sans"/>
              <a:ea typeface="DM Sans"/>
              <a:cs typeface="DM Sans"/>
              <a:sym typeface="DM Sans"/>
            </a:endParaRPr>
          </a:p>
        </p:txBody>
      </p:sp>
      <p:sp>
        <p:nvSpPr>
          <p:cNvPr id="1175" name="Google Shape;1175;p64"/>
          <p:cNvSpPr txBox="1"/>
          <p:nvPr/>
        </p:nvSpPr>
        <p:spPr>
          <a:xfrm>
            <a:off x="7880549" y="4899258"/>
            <a:ext cx="943800" cy="1881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{{DSS_SHAD_R}}</a:t>
            </a:r>
            <a:endParaRPr sz="800" b="0" i="0" u="none" strike="noStrike" cap="none">
              <a:solidFill>
                <a:srgbClr val="595959"/>
              </a:solidFill>
              <a:latin typeface="DM Sans"/>
              <a:ea typeface="DM Sans"/>
              <a:cs typeface="DM Sans"/>
              <a:sym typeface="DM Sans"/>
            </a:endParaRPr>
          </a:p>
        </p:txBody>
      </p:sp>
      <p:cxnSp>
        <p:nvCxnSpPr>
          <p:cNvPr id="1176" name="Google Shape;1176;p64"/>
          <p:cNvCxnSpPr/>
          <p:nvPr/>
        </p:nvCxnSpPr>
        <p:spPr>
          <a:xfrm>
            <a:off x="383107" y="4139500"/>
            <a:ext cx="3977700" cy="0"/>
          </a:xfrm>
          <a:prstGeom prst="straightConnector1">
            <a:avLst/>
          </a:prstGeom>
          <a:noFill/>
          <a:ln w="9525" cap="flat" cmpd="sng">
            <a:solidFill>
              <a:srgbClr val="888888"/>
            </a:solidFill>
            <a:prstDash val="solid"/>
            <a:round/>
            <a:headEnd type="none" w="sm" len="sm"/>
            <a:tailEnd type="none" w="sm" len="sm"/>
          </a:ln>
        </p:spPr>
      </p:cxnSp>
      <p:cxnSp>
        <p:nvCxnSpPr>
          <p:cNvPr id="1177" name="Google Shape;1177;p64"/>
          <p:cNvCxnSpPr/>
          <p:nvPr/>
        </p:nvCxnSpPr>
        <p:spPr>
          <a:xfrm>
            <a:off x="380066" y="3648302"/>
            <a:ext cx="3977700" cy="0"/>
          </a:xfrm>
          <a:prstGeom prst="straightConnector1">
            <a:avLst/>
          </a:prstGeom>
          <a:noFill/>
          <a:ln w="9525" cap="flat" cmpd="sng">
            <a:solidFill>
              <a:srgbClr val="888888"/>
            </a:solidFill>
            <a:prstDash val="solid"/>
            <a:round/>
            <a:headEnd type="none" w="sm" len="sm"/>
            <a:tailEnd type="none" w="sm" len="sm"/>
          </a:ln>
        </p:spPr>
      </p:cxnSp>
      <p:cxnSp>
        <p:nvCxnSpPr>
          <p:cNvPr id="1178" name="Google Shape;1178;p64"/>
          <p:cNvCxnSpPr/>
          <p:nvPr/>
        </p:nvCxnSpPr>
        <p:spPr>
          <a:xfrm>
            <a:off x="360551" y="3158776"/>
            <a:ext cx="3977700" cy="0"/>
          </a:xfrm>
          <a:prstGeom prst="straightConnector1">
            <a:avLst/>
          </a:prstGeom>
          <a:noFill/>
          <a:ln w="9525" cap="flat" cmpd="sng">
            <a:solidFill>
              <a:srgbClr val="888888"/>
            </a:solidFill>
            <a:prstDash val="solid"/>
            <a:round/>
            <a:headEnd type="none" w="sm" len="sm"/>
            <a:tailEnd type="none" w="sm" len="sm"/>
          </a:ln>
        </p:spPr>
      </p:cxnSp>
      <p:cxnSp>
        <p:nvCxnSpPr>
          <p:cNvPr id="1179" name="Google Shape;1179;p64"/>
          <p:cNvCxnSpPr/>
          <p:nvPr/>
        </p:nvCxnSpPr>
        <p:spPr>
          <a:xfrm>
            <a:off x="349400" y="2660090"/>
            <a:ext cx="3977700" cy="0"/>
          </a:xfrm>
          <a:prstGeom prst="straightConnector1">
            <a:avLst/>
          </a:prstGeom>
          <a:noFill/>
          <a:ln w="9525" cap="flat" cmpd="sng">
            <a:solidFill>
              <a:srgbClr val="888888"/>
            </a:solidFill>
            <a:prstDash val="solid"/>
            <a:round/>
            <a:headEnd type="none" w="sm" len="sm"/>
            <a:tailEnd type="none" w="sm" len="sm"/>
          </a:ln>
        </p:spPr>
      </p:cxnSp>
      <p:cxnSp>
        <p:nvCxnSpPr>
          <p:cNvPr id="1180" name="Google Shape;1180;p64"/>
          <p:cNvCxnSpPr/>
          <p:nvPr/>
        </p:nvCxnSpPr>
        <p:spPr>
          <a:xfrm>
            <a:off x="349653" y="2174706"/>
            <a:ext cx="3977700" cy="0"/>
          </a:xfrm>
          <a:prstGeom prst="straightConnector1">
            <a:avLst/>
          </a:prstGeom>
          <a:noFill/>
          <a:ln w="9525" cap="flat" cmpd="sng">
            <a:solidFill>
              <a:srgbClr val="888888"/>
            </a:solidFill>
            <a:prstDash val="solid"/>
            <a:round/>
            <a:headEnd type="none" w="sm" len="sm"/>
            <a:tailEnd type="none" w="sm" len="sm"/>
          </a:ln>
        </p:spPr>
      </p:cxnSp>
      <p:cxnSp>
        <p:nvCxnSpPr>
          <p:cNvPr id="1181" name="Google Shape;1181;p64"/>
          <p:cNvCxnSpPr/>
          <p:nvPr/>
        </p:nvCxnSpPr>
        <p:spPr>
          <a:xfrm>
            <a:off x="352695" y="1683508"/>
            <a:ext cx="3977700" cy="0"/>
          </a:xfrm>
          <a:prstGeom prst="straightConnector1">
            <a:avLst/>
          </a:prstGeom>
          <a:noFill/>
          <a:ln w="9525" cap="flat" cmpd="sng">
            <a:solidFill>
              <a:srgbClr val="888888"/>
            </a:solidFill>
            <a:prstDash val="solid"/>
            <a:round/>
            <a:headEnd type="none" w="sm" len="sm"/>
            <a:tailEnd type="none" w="sm" len="sm"/>
          </a:ln>
        </p:spPr>
      </p:cxnSp>
      <p:cxnSp>
        <p:nvCxnSpPr>
          <p:cNvPr id="1182" name="Google Shape;1182;p64"/>
          <p:cNvCxnSpPr/>
          <p:nvPr/>
        </p:nvCxnSpPr>
        <p:spPr>
          <a:xfrm>
            <a:off x="4817960" y="1391566"/>
            <a:ext cx="3977700" cy="0"/>
          </a:xfrm>
          <a:prstGeom prst="straightConnector1">
            <a:avLst/>
          </a:prstGeom>
          <a:noFill/>
          <a:ln w="14300" cap="flat" cmpd="sng">
            <a:solidFill>
              <a:srgbClr val="888888"/>
            </a:solidFill>
            <a:prstDash val="solid"/>
            <a:round/>
            <a:headEnd type="none" w="sm" len="sm"/>
            <a:tailEnd type="none" w="sm" len="sm"/>
          </a:ln>
        </p:spPr>
      </p:cxnSp>
      <p:cxnSp>
        <p:nvCxnSpPr>
          <p:cNvPr id="1183" name="Google Shape;1183;p64"/>
          <p:cNvCxnSpPr/>
          <p:nvPr/>
        </p:nvCxnSpPr>
        <p:spPr>
          <a:xfrm>
            <a:off x="370950" y="1408929"/>
            <a:ext cx="3977700" cy="0"/>
          </a:xfrm>
          <a:prstGeom prst="straightConnector1">
            <a:avLst/>
          </a:prstGeom>
          <a:noFill/>
          <a:ln w="14300" cap="flat" cmpd="sng">
            <a:solidFill>
              <a:srgbClr val="888888"/>
            </a:solidFill>
            <a:prstDash val="solid"/>
            <a:round/>
            <a:headEnd type="none" w="sm" len="sm"/>
            <a:tailEnd type="none" w="sm" len="sm"/>
          </a:ln>
        </p:spPr>
      </p:cxnSp>
      <p:sp>
        <p:nvSpPr>
          <p:cNvPr id="1184" name="Google Shape;1184;p64"/>
          <p:cNvSpPr/>
          <p:nvPr/>
        </p:nvSpPr>
        <p:spPr>
          <a:xfrm>
            <a:off x="4805920" y="2250417"/>
            <a:ext cx="3977700" cy="1881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85" name="Google Shape;1185;p64"/>
          <p:cNvCxnSpPr/>
          <p:nvPr/>
        </p:nvCxnSpPr>
        <p:spPr>
          <a:xfrm>
            <a:off x="4805920" y="2438571"/>
            <a:ext cx="3977700" cy="0"/>
          </a:xfrm>
          <a:prstGeom prst="straightConnector1">
            <a:avLst/>
          </a:prstGeom>
          <a:noFill/>
          <a:ln w="9525" cap="flat" cmpd="sng">
            <a:solidFill>
              <a:srgbClr val="888888"/>
            </a:solidFill>
            <a:prstDash val="solid"/>
            <a:round/>
            <a:headEnd type="none" w="sm" len="sm"/>
            <a:tailEnd type="none" w="sm" len="sm"/>
          </a:ln>
        </p:spPr>
      </p:cxnSp>
      <p:sp>
        <p:nvSpPr>
          <p:cNvPr id="1186" name="Google Shape;1186;p64"/>
          <p:cNvSpPr/>
          <p:nvPr/>
        </p:nvSpPr>
        <p:spPr>
          <a:xfrm>
            <a:off x="4897361" y="2244240"/>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CosmosDB: Azure PE (Disabled Public)</a:t>
            </a:r>
            <a:endParaRPr sz="800" b="0" i="0" u="none" strike="noStrike" cap="none">
              <a:solidFill>
                <a:schemeClr val="dk1"/>
              </a:solidFill>
              <a:latin typeface="Calibri"/>
              <a:ea typeface="Calibri"/>
              <a:cs typeface="Calibri"/>
              <a:sym typeface="Calibri"/>
            </a:endParaRPr>
          </a:p>
        </p:txBody>
      </p:sp>
      <p:sp>
        <p:nvSpPr>
          <p:cNvPr id="1187" name="Google Shape;1187;p64"/>
          <p:cNvSpPr/>
          <p:nvPr/>
        </p:nvSpPr>
        <p:spPr>
          <a:xfrm>
            <a:off x="6947019" y="2250417"/>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{{DSS_CDBAZ1}}</a:t>
            </a:r>
            <a:endParaRPr sz="700" b="0" i="0" u="none" strike="noStrike" cap="none">
              <a:solidFill>
                <a:schemeClr val="dk1"/>
              </a:solidFill>
              <a:latin typeface="Calibri"/>
              <a:ea typeface="Calibri"/>
              <a:cs typeface="Calibri"/>
              <a:sym typeface="Calibri"/>
            </a:endParaRPr>
          </a:p>
        </p:txBody>
      </p:sp>
      <p:sp>
        <p:nvSpPr>
          <p:cNvPr id="1188" name="Google Shape;1188;p64"/>
          <p:cNvSpPr/>
          <p:nvPr/>
        </p:nvSpPr>
        <p:spPr>
          <a:xfrm>
            <a:off x="4805920" y="2438571"/>
            <a:ext cx="3977700" cy="18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89" name="Google Shape;1189;p64"/>
          <p:cNvCxnSpPr/>
          <p:nvPr/>
        </p:nvCxnSpPr>
        <p:spPr>
          <a:xfrm>
            <a:off x="4805920" y="2632427"/>
            <a:ext cx="3977700" cy="0"/>
          </a:xfrm>
          <a:prstGeom prst="straightConnector1">
            <a:avLst/>
          </a:prstGeom>
          <a:noFill/>
          <a:ln w="9525" cap="flat" cmpd="sng">
            <a:solidFill>
              <a:srgbClr val="888888"/>
            </a:solidFill>
            <a:prstDash val="solid"/>
            <a:round/>
            <a:headEnd type="none" w="sm" len="sm"/>
            <a:tailEnd type="none" w="sm" len="sm"/>
          </a:ln>
        </p:spPr>
      </p:cxnSp>
      <p:sp>
        <p:nvSpPr>
          <p:cNvPr id="1190" name="Google Shape;1190;p64"/>
          <p:cNvSpPr/>
          <p:nvPr/>
        </p:nvSpPr>
        <p:spPr>
          <a:xfrm>
            <a:off x="4897361" y="2434832"/>
            <a:ext cx="19704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CosmosDB: Azure PE (Selected VNets)</a:t>
            </a:r>
            <a:endParaRPr sz="800" b="0" i="0" u="none" strike="noStrike" cap="none">
              <a:solidFill>
                <a:schemeClr val="dk1"/>
              </a:solidFill>
              <a:latin typeface="Calibri"/>
              <a:ea typeface="Calibri"/>
              <a:cs typeface="Calibri"/>
              <a:sym typeface="Calibri"/>
            </a:endParaRPr>
          </a:p>
        </p:txBody>
      </p:sp>
      <p:sp>
        <p:nvSpPr>
          <p:cNvPr id="1191" name="Google Shape;1191;p64"/>
          <p:cNvSpPr/>
          <p:nvPr/>
        </p:nvSpPr>
        <p:spPr>
          <a:xfrm>
            <a:off x="6947019" y="2438571"/>
            <a:ext cx="875100" cy="18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{{DSS_CDBAZ2}}</a:t>
            </a:r>
            <a:endParaRPr sz="700" b="0" i="0" u="none" strike="noStrike" cap="none">
              <a:solidFill>
                <a:schemeClr val="dk1"/>
              </a:solidFill>
              <a:latin typeface="Calibri"/>
              <a:ea typeface="Calibri"/>
              <a:cs typeface="Calibri"/>
              <a:sym typeface="Calibri"/>
            </a:endParaRPr>
          </a:p>
        </p:txBody>
      </p:sp>
      <p:sp>
        <p:nvSpPr>
          <p:cNvPr id="1192" name="Google Shape;1192;p64"/>
          <p:cNvSpPr txBox="1"/>
          <p:nvPr/>
        </p:nvSpPr>
        <p:spPr>
          <a:xfrm>
            <a:off x="7869851" y="2275302"/>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{{DSS_CDBAZ1_R}}</a:t>
            </a:r>
            <a:endParaRPr sz="800" b="0" i="0" u="none" strike="noStrike" cap="none">
              <a:solidFill>
                <a:srgbClr val="595959"/>
              </a:solidFill>
              <a:latin typeface="DM Sans"/>
              <a:ea typeface="DM Sans"/>
              <a:cs typeface="DM Sans"/>
              <a:sym typeface="DM Sans"/>
            </a:endParaRPr>
          </a:p>
        </p:txBody>
      </p:sp>
      <p:sp>
        <p:nvSpPr>
          <p:cNvPr id="1193" name="Google Shape;1193;p64"/>
          <p:cNvSpPr txBox="1"/>
          <p:nvPr/>
        </p:nvSpPr>
        <p:spPr>
          <a:xfrm>
            <a:off x="7869851" y="2463769"/>
            <a:ext cx="943800" cy="1578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{{DSS_CDBAZ2_R}}</a:t>
            </a:r>
            <a:endParaRPr sz="800" b="0" i="0" u="none" strike="noStrike" cap="none">
              <a:solidFill>
                <a:srgbClr val="595959"/>
              </a:solidFill>
              <a:latin typeface="DM Sans"/>
              <a:ea typeface="DM Sans"/>
              <a:cs typeface="DM Sans"/>
              <a:sym typeface="DM Sans"/>
            </a:endParaRPr>
          </a:p>
        </p:txBody>
      </p:sp>
      <p:cxnSp>
        <p:nvCxnSpPr>
          <p:cNvPr id="1194" name="Google Shape;1194;p64"/>
          <p:cNvCxnSpPr/>
          <p:nvPr/>
        </p:nvCxnSpPr>
        <p:spPr>
          <a:xfrm>
            <a:off x="4816611" y="4900369"/>
            <a:ext cx="3977700" cy="0"/>
          </a:xfrm>
          <a:prstGeom prst="straightConnector1">
            <a:avLst/>
          </a:prstGeom>
          <a:noFill/>
          <a:ln w="9525" cap="flat" cmpd="sng">
            <a:solidFill>
              <a:srgbClr val="888888"/>
            </a:solidFill>
            <a:prstDash val="solid"/>
            <a:round/>
            <a:headEnd type="none" w="sm" len="sm"/>
            <a:tailEnd type="none" w="sm" len="sm"/>
          </a:ln>
        </p:spPr>
      </p:cxnSp>
      <p:sp>
        <p:nvSpPr>
          <p:cNvPr id="1195" name="Google Shape;1195;p64"/>
          <p:cNvSpPr/>
          <p:nvPr/>
        </p:nvSpPr>
        <p:spPr>
          <a:xfrm>
            <a:off x="7042170" y="146730"/>
            <a:ext cx="2491200" cy="434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9CA3AF"/>
              </a:buClr>
              <a:buSzPts val="500"/>
              <a:buFont typeface="JetBrains Mono"/>
              <a:buNone/>
            </a:pPr>
            <a:r>
              <a:rPr lang="en" sz="800" b="1" i="0" u="none" strike="noStrike" cap="none">
                <a:solidFill>
                  <a:srgbClr val="218C21"/>
                </a:solidFill>
                <a:latin typeface="JetBrains Mono"/>
                <a:ea typeface="JetBrains Mono"/>
                <a:cs typeface="JetBrains Mono"/>
                <a:sym typeface="JetBrains Mono"/>
              </a:rPr>
              <a:t>✓</a:t>
            </a:r>
            <a:r>
              <a:rPr lang="en" sz="800" b="1" i="0" u="none" strike="noStrike" cap="none">
                <a:solidFill>
                  <a:srgbClr val="218C21"/>
                </a:solidFill>
                <a:latin typeface="DM Sans"/>
                <a:ea typeface="DM Sans"/>
                <a:cs typeface="DM Sans"/>
                <a:sym typeface="DM Sans"/>
              </a:rPr>
              <a:t> = Aligned with Wiz Recommendation</a:t>
            </a:r>
            <a:br>
              <a:rPr lang="en" sz="800" b="1" i="0" u="none" strike="noStrike" cap="none">
                <a:solidFill>
                  <a:srgbClr val="218C21"/>
                </a:solidFill>
                <a:latin typeface="DM Sans"/>
                <a:ea typeface="DM Sans"/>
                <a:cs typeface="DM Sans"/>
                <a:sym typeface="DM Sans"/>
              </a:rPr>
            </a:br>
            <a:r>
              <a:rPr lang="en" sz="800" b="1" i="0" u="none" strike="noStrike" cap="none">
                <a:solidFill>
                  <a:srgbClr val="CC1212"/>
                </a:solidFill>
                <a:latin typeface="DM Sans"/>
                <a:ea typeface="DM Sans"/>
                <a:cs typeface="DM Sans"/>
                <a:sym typeface="DM Sans"/>
              </a:rPr>
              <a:t>✗ = May want to revisit configuration </a:t>
            </a:r>
            <a:endParaRPr sz="800" b="1" i="0" u="none" strike="noStrike" cap="none">
              <a:solidFill>
                <a:srgbClr val="CC1212"/>
              </a:solidFill>
              <a:latin typeface="DM Sans"/>
              <a:ea typeface="DM Sans"/>
              <a:cs typeface="DM Sans"/>
              <a:sym typeface="DM Sans"/>
            </a:endParaRPr>
          </a:p>
          <a:p>
            <a:pPr marL="0" marR="0" lvl="0" indent="0" algn="l" rtl="0">
              <a:lnSpc>
                <a:spcPct val="100000"/>
              </a:lnSpc>
              <a:spcBef>
                <a:spcPts val="0"/>
              </a:spcBef>
              <a:spcAft>
                <a:spcPts val="0"/>
              </a:spcAft>
              <a:buClr>
                <a:srgbClr val="9CA3AF"/>
              </a:buClr>
              <a:buSzPts val="500"/>
              <a:buFont typeface="JetBrains Mono"/>
              <a:buNone/>
            </a:pPr>
            <a:r>
              <a:rPr lang="en" sz="800" b="1" i="0" u="none" strike="noStrike" cap="none">
                <a:solidFill>
                  <a:srgbClr val="595959"/>
                </a:solidFill>
                <a:latin typeface="DM Sans"/>
                <a:ea typeface="DM Sans"/>
                <a:cs typeface="DM Sans"/>
                <a:sym typeface="DM Sans"/>
              </a:rPr>
              <a:t>N/A = Informational, customer preference</a:t>
            </a:r>
            <a:endParaRPr sz="1000" b="0" i="0" u="none" strike="noStrike" cap="none">
              <a:solidFill>
                <a:srgbClr val="595959"/>
              </a:solidFill>
              <a:latin typeface="DM Sans"/>
              <a:ea typeface="DM Sans"/>
              <a:cs typeface="DM Sans"/>
              <a:sym typeface="DM Sans"/>
            </a:endParaRPr>
          </a:p>
        </p:txBody>
      </p:sp>
      <p:sp>
        <p:nvSpPr>
          <p:cNvPr id="1196" name="Google Shape;1196;p64"/>
          <p:cNvSpPr/>
          <p:nvPr/>
        </p:nvSpPr>
        <p:spPr>
          <a:xfrm>
            <a:off x="366844" y="4379330"/>
            <a:ext cx="3977700" cy="24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97" name="Google Shape;1197;p64"/>
          <p:cNvCxnSpPr/>
          <p:nvPr/>
        </p:nvCxnSpPr>
        <p:spPr>
          <a:xfrm>
            <a:off x="372419" y="4625423"/>
            <a:ext cx="3977700" cy="0"/>
          </a:xfrm>
          <a:prstGeom prst="straightConnector1">
            <a:avLst/>
          </a:prstGeom>
          <a:noFill/>
          <a:ln w="9525" cap="flat" cmpd="sng">
            <a:solidFill>
              <a:srgbClr val="888888"/>
            </a:solidFill>
            <a:prstDash val="solid"/>
            <a:round/>
            <a:headEnd type="none" w="sm" len="sm"/>
            <a:tailEnd type="none" w="sm" len="sm"/>
          </a:ln>
        </p:spPr>
      </p:cxnSp>
      <p:sp>
        <p:nvSpPr>
          <p:cNvPr id="1198" name="Google Shape;1198;p64"/>
          <p:cNvSpPr/>
          <p:nvPr/>
        </p:nvSpPr>
        <p:spPr>
          <a:xfrm>
            <a:off x="373120" y="4379331"/>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Linux Vulnerabilities</a:t>
            </a:r>
            <a:endParaRPr sz="800" b="0" i="0" u="none" strike="noStrike" cap="none">
              <a:solidFill>
                <a:schemeClr val="dk1"/>
              </a:solidFill>
              <a:latin typeface="Calibri"/>
              <a:ea typeface="Calibri"/>
              <a:cs typeface="Calibri"/>
              <a:sym typeface="Calibri"/>
            </a:endParaRPr>
          </a:p>
        </p:txBody>
      </p:sp>
      <p:sp>
        <p:nvSpPr>
          <p:cNvPr id="1199" name="Google Shape;1199;p64"/>
          <p:cNvSpPr/>
          <p:nvPr/>
        </p:nvSpPr>
        <p:spPr>
          <a:xfrm>
            <a:off x="2571260" y="4379330"/>
            <a:ext cx="8751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700"/>
              <a:buFont typeface="JetBrains Mono"/>
              <a:buNone/>
            </a:pPr>
            <a:r>
              <a:rPr lang="en" sz="700" b="0" i="0" u="none" strike="noStrike" cap="none">
                <a:solidFill>
                  <a:srgbClr val="1A56DB"/>
                </a:solidFill>
                <a:latin typeface="JetBrains Mono"/>
                <a:ea typeface="JetBrains Mono"/>
                <a:cs typeface="JetBrains Mono"/>
                <a:sym typeface="JetBrains Mono"/>
              </a:rPr>
              <a:t>{{VS_LVULN}}</a:t>
            </a:r>
            <a:endParaRPr sz="700" b="0" i="0" u="none" strike="noStrike" cap="none">
              <a:solidFill>
                <a:schemeClr val="dk1"/>
              </a:solidFill>
              <a:latin typeface="Calibri"/>
              <a:ea typeface="Calibri"/>
              <a:cs typeface="Calibri"/>
              <a:sym typeface="Calibri"/>
            </a:endParaRPr>
          </a:p>
        </p:txBody>
      </p:sp>
      <p:sp>
        <p:nvSpPr>
          <p:cNvPr id="1200" name="Google Shape;1200;p64"/>
          <p:cNvSpPr txBox="1"/>
          <p:nvPr/>
        </p:nvSpPr>
        <p:spPr>
          <a:xfrm>
            <a:off x="3396898" y="4430702"/>
            <a:ext cx="956400" cy="184500"/>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595959"/>
                </a:solidFill>
                <a:latin typeface="DM Sans"/>
                <a:ea typeface="DM Sans"/>
                <a:cs typeface="DM Sans"/>
                <a:sym typeface="DM Sans"/>
              </a:rPr>
              <a:t>{{VS_LVULN_R}}</a:t>
            </a:r>
            <a:endParaRPr sz="800" b="0" i="0" u="none" strike="noStrike" cap="none">
              <a:solidFill>
                <a:srgbClr val="595959"/>
              </a:solidFill>
              <a:latin typeface="DM Sans"/>
              <a:ea typeface="DM Sans"/>
              <a:cs typeface="DM Sans"/>
              <a:sym typeface="DM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05"/>
        <p:cNvGrpSpPr/>
        <p:nvPr/>
      </p:nvGrpSpPr>
      <p:grpSpPr>
        <a:xfrm>
          <a:off x="0" y="0"/>
          <a:ext cx="0" cy="0"/>
          <a:chOff x="0" y="0"/>
          <a:chExt cx="0" cy="0"/>
        </a:xfrm>
      </p:grpSpPr>
      <p:sp>
        <p:nvSpPr>
          <p:cNvPr id="1206" name="Google Shape;1206;p65"/>
          <p:cNvSpPr/>
          <p:nvPr/>
        </p:nvSpPr>
        <p:spPr>
          <a:xfrm>
            <a:off x="0" y="0"/>
            <a:ext cx="9144000" cy="54900"/>
          </a:xfrm>
          <a:prstGeom prst="rect">
            <a:avLst/>
          </a:prstGeom>
          <a:solidFill>
            <a:srgbClr val="1A56D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7" name="Google Shape;1207;p65"/>
          <p:cNvSpPr/>
          <p:nvPr/>
        </p:nvSpPr>
        <p:spPr>
          <a:xfrm>
            <a:off x="457200" y="164588"/>
            <a:ext cx="6944400" cy="365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56DB"/>
              </a:buClr>
              <a:buSzPts val="1600"/>
              <a:buFont typeface="DM Sans"/>
              <a:buNone/>
            </a:pPr>
            <a:r>
              <a:rPr lang="en" sz="2000" b="0" i="0" u="none" strike="noStrike" cap="none">
                <a:solidFill>
                  <a:schemeClr val="dk2"/>
                </a:solidFill>
                <a:latin typeface="DM Sans"/>
                <a:ea typeface="DM Sans"/>
                <a:cs typeface="DM Sans"/>
                <a:sym typeface="DM Sans"/>
              </a:rPr>
              <a:t>Potential Technology Overlap</a:t>
            </a:r>
            <a:endParaRPr sz="2000" b="0" i="0" u="none" strike="noStrike" cap="none">
              <a:solidFill>
                <a:schemeClr val="dk2"/>
              </a:solidFill>
              <a:latin typeface="DM Sans"/>
              <a:ea typeface="DM Sans"/>
              <a:cs typeface="DM Sans"/>
              <a:sym typeface="DM Sans"/>
            </a:endParaRPr>
          </a:p>
        </p:txBody>
      </p:sp>
      <p:sp>
        <p:nvSpPr>
          <p:cNvPr id="1208" name="Google Shape;1208;p65"/>
          <p:cNvSpPr/>
          <p:nvPr/>
        </p:nvSpPr>
        <p:spPr>
          <a:xfrm>
            <a:off x="457200" y="548650"/>
            <a:ext cx="83445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595959"/>
                </a:solidFill>
                <a:latin typeface="DM Sans"/>
                <a:ea typeface="DM Sans"/>
                <a:cs typeface="DM Sans"/>
                <a:sym typeface="DM Sans"/>
              </a:rPr>
              <a:t>Third-party principals detected in your cloud environments, grouped by functional overlap with Wiz platform capabilities.</a:t>
            </a:r>
            <a:endParaRPr sz="1100" b="0" i="0" u="none" strike="noStrike" cap="none">
              <a:solidFill>
                <a:srgbClr val="595959"/>
              </a:solidFill>
              <a:latin typeface="DM Sans"/>
              <a:ea typeface="DM Sans"/>
              <a:cs typeface="DM Sans"/>
              <a:sym typeface="DM Sans"/>
            </a:endParaRPr>
          </a:p>
          <a:p>
            <a:pPr marL="0" marR="0" lvl="0" indent="0" algn="l" rtl="0">
              <a:lnSpc>
                <a:spcPct val="100000"/>
              </a:lnSpc>
              <a:spcBef>
                <a:spcPts val="0"/>
              </a:spcBef>
              <a:spcAft>
                <a:spcPts val="0"/>
              </a:spcAft>
              <a:buClr>
                <a:srgbClr val="6B7280"/>
              </a:buClr>
              <a:buSzPts val="900"/>
              <a:buFont typeface="DM Sans"/>
              <a:buNone/>
            </a:pPr>
            <a:endParaRPr sz="1100" b="0" i="0" u="none" strike="noStrike" cap="none">
              <a:solidFill>
                <a:srgbClr val="595959"/>
              </a:solidFill>
              <a:latin typeface="DM Sans"/>
              <a:ea typeface="DM Sans"/>
              <a:cs typeface="DM Sans"/>
              <a:sym typeface="DM Sans"/>
            </a:endParaRPr>
          </a:p>
        </p:txBody>
      </p:sp>
      <p:sp>
        <p:nvSpPr>
          <p:cNvPr id="1209" name="Google Shape;1209;p65"/>
          <p:cNvSpPr/>
          <p:nvPr/>
        </p:nvSpPr>
        <p:spPr>
          <a:xfrm>
            <a:off x="365750" y="868675"/>
            <a:ext cx="4019400" cy="431400"/>
          </a:xfrm>
          <a:prstGeom prst="rect">
            <a:avLst/>
          </a:prstGeom>
          <a:solidFill>
            <a:srgbClr val="F4C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0" name="Google Shape;1210;p65"/>
          <p:cNvSpPr/>
          <p:nvPr/>
        </p:nvSpPr>
        <p:spPr>
          <a:xfrm>
            <a:off x="365750" y="868672"/>
            <a:ext cx="36600" cy="431400"/>
          </a:xfrm>
          <a:prstGeom prst="rect">
            <a:avLst/>
          </a:prstGeom>
          <a:solidFill>
            <a:srgbClr val="85200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1" name="Google Shape;1211;p65"/>
          <p:cNvSpPr/>
          <p:nvPr/>
        </p:nvSpPr>
        <p:spPr>
          <a:xfrm>
            <a:off x="502911" y="948505"/>
            <a:ext cx="3794700" cy="431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97706"/>
              </a:buClr>
              <a:buSzPts val="1000"/>
              <a:buFont typeface="DM Sans"/>
              <a:buNone/>
            </a:pPr>
            <a:r>
              <a:rPr lang="en" sz="1100" b="1" i="0" u="sng" strike="noStrike" cap="none">
                <a:solidFill>
                  <a:schemeClr val="hlink"/>
                </a:solidFill>
                <a:latin typeface="DM Sans"/>
                <a:ea typeface="DM Sans"/>
                <a:cs typeface="DM Sans"/>
                <a:sym typeface="DM Sans"/>
                <a:hlinkClick r:id="rId3"/>
              </a:rPr>
              <a:t>CLOUD SECURITY PLATFORM </a:t>
            </a:r>
            <a:r>
              <a:rPr lang="en" sz="1400" b="1" i="0" u="none" strike="noStrike" cap="none">
                <a:solidFill>
                  <a:schemeClr val="hlink"/>
                </a:solidFill>
                <a:uFill>
                  <a:noFill/>
                </a:uFill>
                <a:latin typeface="Calibri"/>
                <a:ea typeface="Calibri"/>
                <a:cs typeface="Calibri"/>
                <a:sym typeface="Calibri"/>
                <a:hlinkClick r:id="rId3"/>
              </a:rPr>
              <a:t>↗</a:t>
            </a:r>
            <a:br>
              <a:rPr lang="en" sz="1100" b="1" i="0" u="none" strike="noStrike" cap="none">
                <a:solidFill>
                  <a:srgbClr val="D97706"/>
                </a:solidFill>
                <a:latin typeface="DM Sans"/>
                <a:ea typeface="DM Sans"/>
                <a:cs typeface="DM Sans"/>
                <a:sym typeface="DM Sans"/>
              </a:rPr>
            </a:br>
            <a:r>
              <a:rPr lang="en" sz="1100" b="0" i="0" u="none" strike="noStrike" cap="none">
                <a:solidFill>
                  <a:srgbClr val="CC4125"/>
                </a:solidFill>
                <a:latin typeface="DM Sans"/>
                <a:ea typeface="DM Sans"/>
                <a:cs typeface="DM Sans"/>
                <a:sym typeface="DM Sans"/>
              </a:rPr>
              <a:t>Potential Overlap with Wiz CNAPP, CSPM, CIEM, DSPM</a:t>
            </a:r>
            <a:br>
              <a:rPr lang="en" sz="1100" b="1" i="0" u="none" strike="noStrike" cap="none">
                <a:solidFill>
                  <a:srgbClr val="D97706"/>
                </a:solidFill>
                <a:latin typeface="DM Sans"/>
                <a:ea typeface="DM Sans"/>
                <a:cs typeface="DM Sans"/>
                <a:sym typeface="DM Sans"/>
              </a:rPr>
            </a:br>
            <a:endParaRPr sz="1100" b="0" i="0" u="none" strike="noStrike" cap="none">
              <a:solidFill>
                <a:schemeClr val="dk1"/>
              </a:solidFill>
              <a:latin typeface="Calibri"/>
              <a:ea typeface="Calibri"/>
              <a:cs typeface="Calibri"/>
              <a:sym typeface="Calibri"/>
            </a:endParaRPr>
          </a:p>
        </p:txBody>
      </p:sp>
      <p:sp>
        <p:nvSpPr>
          <p:cNvPr id="1212" name="Google Shape;1212;p65"/>
          <p:cNvSpPr/>
          <p:nvPr/>
        </p:nvSpPr>
        <p:spPr>
          <a:xfrm>
            <a:off x="371458" y="1391184"/>
            <a:ext cx="3977700" cy="240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3" name="Google Shape;1213;p65"/>
          <p:cNvSpPr/>
          <p:nvPr/>
        </p:nvSpPr>
        <p:spPr>
          <a:xfrm>
            <a:off x="371454" y="1380149"/>
            <a:ext cx="1988700" cy="240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Technology</a:t>
            </a:r>
            <a:endParaRPr sz="1000" b="0" i="0" u="none" strike="noStrike" cap="none">
              <a:solidFill>
                <a:schemeClr val="dk1"/>
              </a:solidFill>
              <a:latin typeface="Calibri"/>
              <a:ea typeface="Calibri"/>
              <a:cs typeface="Calibri"/>
              <a:sym typeface="Calibri"/>
            </a:endParaRPr>
          </a:p>
        </p:txBody>
      </p:sp>
      <p:sp>
        <p:nvSpPr>
          <p:cNvPr id="1214" name="Google Shape;1214;p65"/>
          <p:cNvSpPr/>
          <p:nvPr/>
        </p:nvSpPr>
        <p:spPr>
          <a:xfrm>
            <a:off x="2308825" y="1392425"/>
            <a:ext cx="736800" cy="240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 of SAs</a:t>
            </a:r>
            <a:endParaRPr sz="1000" b="0" i="0" u="none" strike="noStrike" cap="none">
              <a:solidFill>
                <a:schemeClr val="dk1"/>
              </a:solidFill>
              <a:latin typeface="Calibri"/>
              <a:ea typeface="Calibri"/>
              <a:cs typeface="Calibri"/>
              <a:sym typeface="Calibri"/>
            </a:endParaRPr>
          </a:p>
        </p:txBody>
      </p:sp>
      <p:sp>
        <p:nvSpPr>
          <p:cNvPr id="1215" name="Google Shape;1215;p65"/>
          <p:cNvSpPr/>
          <p:nvPr/>
        </p:nvSpPr>
        <p:spPr>
          <a:xfrm>
            <a:off x="2926225" y="1385850"/>
            <a:ext cx="1594500" cy="240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First / Last Created</a:t>
            </a:r>
            <a:endParaRPr sz="1000" b="0" i="0" u="none" strike="noStrike" cap="none">
              <a:solidFill>
                <a:schemeClr val="dk1"/>
              </a:solidFill>
              <a:latin typeface="Calibri"/>
              <a:ea typeface="Calibri"/>
              <a:cs typeface="Calibri"/>
              <a:sym typeface="Calibri"/>
            </a:endParaRPr>
          </a:p>
        </p:txBody>
      </p:sp>
      <p:sp>
        <p:nvSpPr>
          <p:cNvPr id="1216" name="Google Shape;1216;p65"/>
          <p:cNvSpPr/>
          <p:nvPr/>
        </p:nvSpPr>
        <p:spPr>
          <a:xfrm>
            <a:off x="371449" y="1631564"/>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17" name="Google Shape;1217;p65"/>
          <p:cNvCxnSpPr/>
          <p:nvPr/>
        </p:nvCxnSpPr>
        <p:spPr>
          <a:xfrm>
            <a:off x="371449" y="1877657"/>
            <a:ext cx="3977700" cy="0"/>
          </a:xfrm>
          <a:prstGeom prst="straightConnector1">
            <a:avLst/>
          </a:prstGeom>
          <a:noFill/>
          <a:ln w="9525" cap="flat" cmpd="sng">
            <a:solidFill>
              <a:srgbClr val="E5E7EB"/>
            </a:solidFill>
            <a:prstDash val="solid"/>
            <a:round/>
            <a:headEnd type="none" w="sm" len="sm"/>
            <a:tailEnd type="none" w="sm" len="sm"/>
          </a:ln>
        </p:spPr>
      </p:cxnSp>
      <p:sp>
        <p:nvSpPr>
          <p:cNvPr id="1218" name="Google Shape;1218;p65"/>
          <p:cNvSpPr/>
          <p:nvPr/>
        </p:nvSpPr>
        <p:spPr>
          <a:xfrm>
            <a:off x="371445" y="1631556"/>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{{PI_T1_1}}</a:t>
            </a:r>
            <a:endParaRPr sz="800" b="0" i="0" u="none" strike="noStrike" cap="none">
              <a:solidFill>
                <a:schemeClr val="dk1"/>
              </a:solidFill>
              <a:latin typeface="Calibri"/>
              <a:ea typeface="Calibri"/>
              <a:cs typeface="Calibri"/>
              <a:sym typeface="Calibri"/>
            </a:endParaRPr>
          </a:p>
        </p:txBody>
      </p:sp>
      <p:sp>
        <p:nvSpPr>
          <p:cNvPr id="1219" name="Google Shape;1219;p65"/>
          <p:cNvSpPr/>
          <p:nvPr/>
        </p:nvSpPr>
        <p:spPr>
          <a:xfrm>
            <a:off x="2311680" y="1631575"/>
            <a:ext cx="736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{{PI_T1_1_SA}}</a:t>
            </a:r>
            <a:endParaRPr sz="700" b="0" i="0" u="none" strike="noStrike" cap="none">
              <a:solidFill>
                <a:schemeClr val="dk1"/>
              </a:solidFill>
              <a:latin typeface="Calibri"/>
              <a:ea typeface="Calibri"/>
              <a:cs typeface="Calibri"/>
              <a:sym typeface="Calibri"/>
            </a:endParaRPr>
          </a:p>
        </p:txBody>
      </p:sp>
      <p:sp>
        <p:nvSpPr>
          <p:cNvPr id="1220" name="Google Shape;1220;p65"/>
          <p:cNvSpPr/>
          <p:nvPr/>
        </p:nvSpPr>
        <p:spPr>
          <a:xfrm>
            <a:off x="371449" y="1877657"/>
            <a:ext cx="3977700" cy="246000"/>
          </a:xfrm>
          <a:prstGeom prst="rect">
            <a:avLst/>
          </a:prstGeom>
          <a:solidFill>
            <a:srgbClr val="F9FAF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21" name="Google Shape;1221;p65"/>
          <p:cNvCxnSpPr/>
          <p:nvPr/>
        </p:nvCxnSpPr>
        <p:spPr>
          <a:xfrm>
            <a:off x="355736" y="2115845"/>
            <a:ext cx="3977700" cy="0"/>
          </a:xfrm>
          <a:prstGeom prst="straightConnector1">
            <a:avLst/>
          </a:prstGeom>
          <a:noFill/>
          <a:ln w="9525" cap="flat" cmpd="sng">
            <a:solidFill>
              <a:srgbClr val="888888"/>
            </a:solidFill>
            <a:prstDash val="solid"/>
            <a:round/>
            <a:headEnd type="none" w="sm" len="sm"/>
            <a:tailEnd type="none" w="sm" len="sm"/>
          </a:ln>
        </p:spPr>
      </p:cxnSp>
      <p:sp>
        <p:nvSpPr>
          <p:cNvPr id="1222" name="Google Shape;1222;p65"/>
          <p:cNvSpPr/>
          <p:nvPr/>
        </p:nvSpPr>
        <p:spPr>
          <a:xfrm>
            <a:off x="371445" y="1877650"/>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{{PI_T1_2}}</a:t>
            </a:r>
            <a:endParaRPr sz="800" b="0" i="0" u="none" strike="noStrike" cap="none">
              <a:solidFill>
                <a:schemeClr val="dk1"/>
              </a:solidFill>
              <a:latin typeface="Calibri"/>
              <a:ea typeface="Calibri"/>
              <a:cs typeface="Calibri"/>
              <a:sym typeface="Calibri"/>
            </a:endParaRPr>
          </a:p>
        </p:txBody>
      </p:sp>
      <p:sp>
        <p:nvSpPr>
          <p:cNvPr id="1223" name="Google Shape;1223;p65"/>
          <p:cNvSpPr/>
          <p:nvPr/>
        </p:nvSpPr>
        <p:spPr>
          <a:xfrm>
            <a:off x="371449" y="2123750"/>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24" name="Google Shape;1224;p65"/>
          <p:cNvCxnSpPr/>
          <p:nvPr/>
        </p:nvCxnSpPr>
        <p:spPr>
          <a:xfrm>
            <a:off x="371449" y="2369843"/>
            <a:ext cx="3977700" cy="0"/>
          </a:xfrm>
          <a:prstGeom prst="straightConnector1">
            <a:avLst/>
          </a:prstGeom>
          <a:noFill/>
          <a:ln w="9525" cap="flat" cmpd="sng">
            <a:solidFill>
              <a:srgbClr val="E5E7EB"/>
            </a:solidFill>
            <a:prstDash val="solid"/>
            <a:round/>
            <a:headEnd type="none" w="sm" len="sm"/>
            <a:tailEnd type="none" w="sm" len="sm"/>
          </a:ln>
        </p:spPr>
      </p:cxnSp>
      <p:sp>
        <p:nvSpPr>
          <p:cNvPr id="1225" name="Google Shape;1225;p65"/>
          <p:cNvSpPr/>
          <p:nvPr/>
        </p:nvSpPr>
        <p:spPr>
          <a:xfrm>
            <a:off x="371445" y="2123744"/>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{{PI_T1_3}}</a:t>
            </a:r>
            <a:endParaRPr sz="800" b="0" i="0" u="none" strike="noStrike" cap="none">
              <a:solidFill>
                <a:schemeClr val="dk1"/>
              </a:solidFill>
              <a:latin typeface="Calibri"/>
              <a:ea typeface="Calibri"/>
              <a:cs typeface="Calibri"/>
              <a:sym typeface="Calibri"/>
            </a:endParaRPr>
          </a:p>
        </p:txBody>
      </p:sp>
      <p:sp>
        <p:nvSpPr>
          <p:cNvPr id="1226" name="Google Shape;1226;p65"/>
          <p:cNvSpPr/>
          <p:nvPr/>
        </p:nvSpPr>
        <p:spPr>
          <a:xfrm>
            <a:off x="371449" y="2369843"/>
            <a:ext cx="3977700" cy="246000"/>
          </a:xfrm>
          <a:prstGeom prst="rect">
            <a:avLst/>
          </a:prstGeom>
          <a:solidFill>
            <a:srgbClr val="F9FAF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27" name="Google Shape;1227;p65"/>
          <p:cNvCxnSpPr/>
          <p:nvPr/>
        </p:nvCxnSpPr>
        <p:spPr>
          <a:xfrm>
            <a:off x="358777" y="2606026"/>
            <a:ext cx="3977700" cy="0"/>
          </a:xfrm>
          <a:prstGeom prst="straightConnector1">
            <a:avLst/>
          </a:prstGeom>
          <a:noFill/>
          <a:ln w="9525" cap="flat" cmpd="sng">
            <a:solidFill>
              <a:srgbClr val="888888"/>
            </a:solidFill>
            <a:prstDash val="solid"/>
            <a:round/>
            <a:headEnd type="none" w="sm" len="sm"/>
            <a:tailEnd type="none" w="sm" len="sm"/>
          </a:ln>
        </p:spPr>
      </p:cxnSp>
      <p:sp>
        <p:nvSpPr>
          <p:cNvPr id="1228" name="Google Shape;1228;p65"/>
          <p:cNvSpPr/>
          <p:nvPr/>
        </p:nvSpPr>
        <p:spPr>
          <a:xfrm>
            <a:off x="371445" y="2369838"/>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{{PI_T1_4}}</a:t>
            </a:r>
            <a:endParaRPr sz="800" b="0" i="0" u="none" strike="noStrike" cap="none">
              <a:solidFill>
                <a:schemeClr val="dk1"/>
              </a:solidFill>
              <a:latin typeface="Calibri"/>
              <a:ea typeface="Calibri"/>
              <a:cs typeface="Calibri"/>
              <a:sym typeface="Calibri"/>
            </a:endParaRPr>
          </a:p>
        </p:txBody>
      </p:sp>
      <p:sp>
        <p:nvSpPr>
          <p:cNvPr id="1229" name="Google Shape;1229;p65"/>
          <p:cNvSpPr/>
          <p:nvPr/>
        </p:nvSpPr>
        <p:spPr>
          <a:xfrm>
            <a:off x="371449" y="2615936"/>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30" name="Google Shape;1230;p65"/>
          <p:cNvCxnSpPr/>
          <p:nvPr/>
        </p:nvCxnSpPr>
        <p:spPr>
          <a:xfrm>
            <a:off x="361818" y="2865486"/>
            <a:ext cx="3977700" cy="0"/>
          </a:xfrm>
          <a:prstGeom prst="straightConnector1">
            <a:avLst/>
          </a:prstGeom>
          <a:noFill/>
          <a:ln w="9525" cap="flat" cmpd="sng">
            <a:solidFill>
              <a:srgbClr val="E5E7EB"/>
            </a:solidFill>
            <a:prstDash val="solid"/>
            <a:round/>
            <a:headEnd type="none" w="sm" len="sm"/>
            <a:tailEnd type="none" w="sm" len="sm"/>
          </a:ln>
        </p:spPr>
      </p:cxnSp>
      <p:sp>
        <p:nvSpPr>
          <p:cNvPr id="1231" name="Google Shape;1231;p65"/>
          <p:cNvSpPr/>
          <p:nvPr/>
        </p:nvSpPr>
        <p:spPr>
          <a:xfrm>
            <a:off x="371445" y="2615932"/>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{{PI_T1_5}}</a:t>
            </a:r>
            <a:endParaRPr sz="800" b="0" i="0" u="none" strike="noStrike" cap="none">
              <a:solidFill>
                <a:schemeClr val="dk1"/>
              </a:solidFill>
              <a:latin typeface="Calibri"/>
              <a:ea typeface="Calibri"/>
              <a:cs typeface="Calibri"/>
              <a:sym typeface="Calibri"/>
            </a:endParaRPr>
          </a:p>
        </p:txBody>
      </p:sp>
      <p:cxnSp>
        <p:nvCxnSpPr>
          <p:cNvPr id="1232" name="Google Shape;1232;p65"/>
          <p:cNvCxnSpPr/>
          <p:nvPr/>
        </p:nvCxnSpPr>
        <p:spPr>
          <a:xfrm>
            <a:off x="349400" y="2859671"/>
            <a:ext cx="3977700" cy="0"/>
          </a:xfrm>
          <a:prstGeom prst="straightConnector1">
            <a:avLst/>
          </a:prstGeom>
          <a:noFill/>
          <a:ln w="9525" cap="flat" cmpd="sng">
            <a:solidFill>
              <a:srgbClr val="888888"/>
            </a:solidFill>
            <a:prstDash val="solid"/>
            <a:round/>
            <a:headEnd type="none" w="sm" len="sm"/>
            <a:tailEnd type="none" w="sm" len="sm"/>
          </a:ln>
        </p:spPr>
      </p:cxnSp>
      <p:cxnSp>
        <p:nvCxnSpPr>
          <p:cNvPr id="1233" name="Google Shape;1233;p65"/>
          <p:cNvCxnSpPr/>
          <p:nvPr/>
        </p:nvCxnSpPr>
        <p:spPr>
          <a:xfrm>
            <a:off x="349653" y="2374288"/>
            <a:ext cx="3977700" cy="0"/>
          </a:xfrm>
          <a:prstGeom prst="straightConnector1">
            <a:avLst/>
          </a:prstGeom>
          <a:noFill/>
          <a:ln w="9525" cap="flat" cmpd="sng">
            <a:solidFill>
              <a:srgbClr val="888888"/>
            </a:solidFill>
            <a:prstDash val="solid"/>
            <a:round/>
            <a:headEnd type="none" w="sm" len="sm"/>
            <a:tailEnd type="none" w="sm" len="sm"/>
          </a:ln>
        </p:spPr>
      </p:cxnSp>
      <p:cxnSp>
        <p:nvCxnSpPr>
          <p:cNvPr id="1234" name="Google Shape;1234;p65"/>
          <p:cNvCxnSpPr/>
          <p:nvPr/>
        </p:nvCxnSpPr>
        <p:spPr>
          <a:xfrm>
            <a:off x="352695" y="1883089"/>
            <a:ext cx="3977700" cy="0"/>
          </a:xfrm>
          <a:prstGeom prst="straightConnector1">
            <a:avLst/>
          </a:prstGeom>
          <a:noFill/>
          <a:ln w="9525" cap="flat" cmpd="sng">
            <a:solidFill>
              <a:srgbClr val="888888"/>
            </a:solidFill>
            <a:prstDash val="solid"/>
            <a:round/>
            <a:headEnd type="none" w="sm" len="sm"/>
            <a:tailEnd type="none" w="sm" len="sm"/>
          </a:ln>
        </p:spPr>
      </p:cxnSp>
      <p:cxnSp>
        <p:nvCxnSpPr>
          <p:cNvPr id="1235" name="Google Shape;1235;p65"/>
          <p:cNvCxnSpPr/>
          <p:nvPr/>
        </p:nvCxnSpPr>
        <p:spPr>
          <a:xfrm>
            <a:off x="370950" y="1608510"/>
            <a:ext cx="3977700" cy="0"/>
          </a:xfrm>
          <a:prstGeom prst="straightConnector1">
            <a:avLst/>
          </a:prstGeom>
          <a:noFill/>
          <a:ln w="14300" cap="flat" cmpd="sng">
            <a:solidFill>
              <a:srgbClr val="888888"/>
            </a:solidFill>
            <a:prstDash val="solid"/>
            <a:round/>
            <a:headEnd type="none" w="sm" len="sm"/>
            <a:tailEnd type="none" w="sm" len="sm"/>
          </a:ln>
        </p:spPr>
      </p:cxnSp>
      <p:sp>
        <p:nvSpPr>
          <p:cNvPr id="1236" name="Google Shape;1236;p65"/>
          <p:cNvSpPr/>
          <p:nvPr/>
        </p:nvSpPr>
        <p:spPr>
          <a:xfrm>
            <a:off x="4711846" y="3088397"/>
            <a:ext cx="4023300" cy="4314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EAD1DC"/>
              </a:solidFill>
              <a:latin typeface="Arial"/>
              <a:ea typeface="Arial"/>
              <a:cs typeface="Arial"/>
              <a:sym typeface="Arial"/>
            </a:endParaRPr>
          </a:p>
        </p:txBody>
      </p:sp>
      <p:sp>
        <p:nvSpPr>
          <p:cNvPr id="1237" name="Google Shape;1237;p65"/>
          <p:cNvSpPr/>
          <p:nvPr/>
        </p:nvSpPr>
        <p:spPr>
          <a:xfrm>
            <a:off x="4711846" y="3088397"/>
            <a:ext cx="36600" cy="431400"/>
          </a:xfrm>
          <a:prstGeom prst="rect">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8" name="Google Shape;1238;p65"/>
          <p:cNvSpPr/>
          <p:nvPr/>
        </p:nvSpPr>
        <p:spPr>
          <a:xfrm>
            <a:off x="4849007" y="3168230"/>
            <a:ext cx="3794700" cy="431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97706"/>
              </a:buClr>
              <a:buSzPts val="1000"/>
              <a:buFont typeface="DM Sans"/>
              <a:buNone/>
            </a:pPr>
            <a:r>
              <a:rPr lang="en" sz="1100" b="1" i="0" u="sng" strike="noStrike" cap="none">
                <a:solidFill>
                  <a:schemeClr val="hlink"/>
                </a:solidFill>
                <a:latin typeface="DM Sans"/>
                <a:ea typeface="DM Sans"/>
                <a:cs typeface="DM Sans"/>
                <a:sym typeface="DM Sans"/>
                <a:hlinkClick r:id="rId4"/>
              </a:rPr>
              <a:t>RUNTIME / WORKLOAD PROTECTION </a:t>
            </a:r>
            <a:r>
              <a:rPr lang="en" sz="1400" b="1" i="0" u="none" strike="noStrike" cap="none">
                <a:solidFill>
                  <a:schemeClr val="hlink"/>
                </a:solidFill>
                <a:uFill>
                  <a:noFill/>
                </a:uFill>
                <a:latin typeface="Calibri"/>
                <a:ea typeface="Calibri"/>
                <a:cs typeface="Calibri"/>
                <a:sym typeface="Calibri"/>
                <a:hlinkClick r:id="rId4"/>
              </a:rPr>
              <a:t>↗</a:t>
            </a:r>
            <a:br>
              <a:rPr lang="en" sz="1100" b="1" i="0" u="none" strike="noStrike" cap="none">
                <a:solidFill>
                  <a:srgbClr val="595959"/>
                </a:solidFill>
                <a:latin typeface="DM Sans"/>
                <a:ea typeface="DM Sans"/>
                <a:cs typeface="DM Sans"/>
                <a:sym typeface="DM Sans"/>
              </a:rPr>
            </a:br>
            <a:r>
              <a:rPr lang="en" sz="1100" b="0" i="0" u="none" strike="noStrike" cap="none">
                <a:solidFill>
                  <a:srgbClr val="595959"/>
                </a:solidFill>
                <a:latin typeface="DM Sans"/>
                <a:ea typeface="DM Sans"/>
                <a:cs typeface="DM Sans"/>
                <a:sym typeface="DM Sans"/>
              </a:rPr>
              <a:t>Potential Overlap with Wiz Sensor, Defend, CWPP,, TDR</a:t>
            </a:r>
            <a:br>
              <a:rPr lang="en" sz="1100" b="1" i="0" u="none" strike="noStrike" cap="none">
                <a:solidFill>
                  <a:srgbClr val="D97706"/>
                </a:solidFill>
                <a:latin typeface="DM Sans"/>
                <a:ea typeface="DM Sans"/>
                <a:cs typeface="DM Sans"/>
                <a:sym typeface="DM Sans"/>
              </a:rPr>
            </a:br>
            <a:endParaRPr sz="1100" b="0" i="0" u="none" strike="noStrike" cap="none">
              <a:solidFill>
                <a:schemeClr val="dk1"/>
              </a:solidFill>
              <a:latin typeface="Calibri"/>
              <a:ea typeface="Calibri"/>
              <a:cs typeface="Calibri"/>
              <a:sym typeface="Calibri"/>
            </a:endParaRPr>
          </a:p>
        </p:txBody>
      </p:sp>
      <p:sp>
        <p:nvSpPr>
          <p:cNvPr id="1239" name="Google Shape;1239;p65"/>
          <p:cNvSpPr/>
          <p:nvPr/>
        </p:nvSpPr>
        <p:spPr>
          <a:xfrm>
            <a:off x="4717478" y="884700"/>
            <a:ext cx="4023300" cy="431400"/>
          </a:xfrm>
          <a:prstGeom prst="rect">
            <a:avLst/>
          </a:prstGeom>
          <a:solidFill>
            <a:srgbClr val="CBDA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0" name="Google Shape;1240;p65"/>
          <p:cNvSpPr/>
          <p:nvPr/>
        </p:nvSpPr>
        <p:spPr>
          <a:xfrm>
            <a:off x="4688967" y="884697"/>
            <a:ext cx="36600" cy="431400"/>
          </a:xfrm>
          <a:prstGeom prst="rect">
            <a:avLst/>
          </a:prstGeom>
          <a:solidFill>
            <a:srgbClr val="0B539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1" name="Google Shape;1241;p65"/>
          <p:cNvSpPr/>
          <p:nvPr/>
        </p:nvSpPr>
        <p:spPr>
          <a:xfrm>
            <a:off x="4854639" y="964530"/>
            <a:ext cx="3794700" cy="431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97706"/>
              </a:buClr>
              <a:buSzPts val="1000"/>
              <a:buFont typeface="DM Sans"/>
              <a:buNone/>
            </a:pPr>
            <a:r>
              <a:rPr lang="en" sz="1100" b="1" i="0" u="sng" strike="noStrike" cap="none">
                <a:solidFill>
                  <a:schemeClr val="hlink"/>
                </a:solidFill>
                <a:latin typeface="DM Sans"/>
                <a:ea typeface="DM Sans"/>
                <a:cs typeface="DM Sans"/>
                <a:sym typeface="DM Sans"/>
                <a:hlinkClick r:id="rId5"/>
              </a:rPr>
              <a:t>CODE SECURITY </a:t>
            </a:r>
            <a:r>
              <a:rPr lang="en" sz="1400" b="1" i="0" u="none" strike="noStrike" cap="none">
                <a:solidFill>
                  <a:schemeClr val="hlink"/>
                </a:solidFill>
                <a:uFill>
                  <a:noFill/>
                </a:uFill>
                <a:latin typeface="Calibri"/>
                <a:ea typeface="Calibri"/>
                <a:cs typeface="Calibri"/>
                <a:sym typeface="Calibri"/>
                <a:hlinkClick r:id="rId5"/>
              </a:rPr>
              <a:t>↗</a:t>
            </a:r>
            <a:br>
              <a:rPr lang="en" sz="1100" b="1" i="0" u="none" strike="noStrike" cap="none">
                <a:solidFill>
                  <a:srgbClr val="0B5394"/>
                </a:solidFill>
                <a:latin typeface="DM Sans"/>
                <a:ea typeface="DM Sans"/>
                <a:cs typeface="DM Sans"/>
                <a:sym typeface="DM Sans"/>
              </a:rPr>
            </a:br>
            <a:r>
              <a:rPr lang="en" sz="1100" b="0" i="0" u="none" strike="noStrike" cap="none">
                <a:solidFill>
                  <a:srgbClr val="0B5394"/>
                </a:solidFill>
                <a:latin typeface="DM Sans"/>
                <a:ea typeface="DM Sans"/>
                <a:cs typeface="DM Sans"/>
                <a:sym typeface="DM Sans"/>
              </a:rPr>
              <a:t>Potential Overlap with Wiz Code, SAST, SCA, Wiz CLI</a:t>
            </a:r>
            <a:br>
              <a:rPr lang="en" sz="1100" b="1" i="0" u="none" strike="noStrike" cap="none">
                <a:solidFill>
                  <a:srgbClr val="D97706"/>
                </a:solidFill>
                <a:latin typeface="DM Sans"/>
                <a:ea typeface="DM Sans"/>
                <a:cs typeface="DM Sans"/>
                <a:sym typeface="DM Sans"/>
              </a:rPr>
            </a:br>
            <a:endParaRPr sz="1100" b="0" i="0" u="none" strike="noStrike" cap="none">
              <a:solidFill>
                <a:schemeClr val="dk1"/>
              </a:solidFill>
              <a:latin typeface="Calibri"/>
              <a:ea typeface="Calibri"/>
              <a:cs typeface="Calibri"/>
              <a:sym typeface="Calibri"/>
            </a:endParaRPr>
          </a:p>
        </p:txBody>
      </p:sp>
      <p:sp>
        <p:nvSpPr>
          <p:cNvPr id="1242" name="Google Shape;1242;p65"/>
          <p:cNvSpPr/>
          <p:nvPr/>
        </p:nvSpPr>
        <p:spPr>
          <a:xfrm>
            <a:off x="2308828" y="1875197"/>
            <a:ext cx="736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{{PI_T1_2_SA}}</a:t>
            </a:r>
            <a:endParaRPr sz="700" b="0" i="0" u="none" strike="noStrike" cap="none">
              <a:solidFill>
                <a:schemeClr val="dk1"/>
              </a:solidFill>
              <a:latin typeface="Calibri"/>
              <a:ea typeface="Calibri"/>
              <a:cs typeface="Calibri"/>
              <a:sym typeface="Calibri"/>
            </a:endParaRPr>
          </a:p>
        </p:txBody>
      </p:sp>
      <p:sp>
        <p:nvSpPr>
          <p:cNvPr id="1243" name="Google Shape;1243;p65"/>
          <p:cNvSpPr/>
          <p:nvPr/>
        </p:nvSpPr>
        <p:spPr>
          <a:xfrm>
            <a:off x="2317385" y="2118819"/>
            <a:ext cx="736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{{PI_T1_3_SA}}</a:t>
            </a:r>
            <a:endParaRPr sz="700" b="0" i="0" u="none" strike="noStrike" cap="none">
              <a:solidFill>
                <a:schemeClr val="dk1"/>
              </a:solidFill>
              <a:latin typeface="Calibri"/>
              <a:ea typeface="Calibri"/>
              <a:cs typeface="Calibri"/>
              <a:sym typeface="Calibri"/>
            </a:endParaRPr>
          </a:p>
        </p:txBody>
      </p:sp>
      <p:sp>
        <p:nvSpPr>
          <p:cNvPr id="1244" name="Google Shape;1244;p65"/>
          <p:cNvSpPr/>
          <p:nvPr/>
        </p:nvSpPr>
        <p:spPr>
          <a:xfrm>
            <a:off x="2320237" y="2362441"/>
            <a:ext cx="736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{{PI_T1_4_SA}}</a:t>
            </a:r>
            <a:endParaRPr sz="700" b="0" i="0" u="none" strike="noStrike" cap="none">
              <a:solidFill>
                <a:schemeClr val="dk1"/>
              </a:solidFill>
              <a:latin typeface="Calibri"/>
              <a:ea typeface="Calibri"/>
              <a:cs typeface="Calibri"/>
              <a:sym typeface="Calibri"/>
            </a:endParaRPr>
          </a:p>
        </p:txBody>
      </p:sp>
      <p:sp>
        <p:nvSpPr>
          <p:cNvPr id="1245" name="Google Shape;1245;p65"/>
          <p:cNvSpPr/>
          <p:nvPr/>
        </p:nvSpPr>
        <p:spPr>
          <a:xfrm>
            <a:off x="2314532" y="2606063"/>
            <a:ext cx="736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{{PI_T1_5_SA}}</a:t>
            </a:r>
            <a:endParaRPr sz="700" b="0" i="0" u="none" strike="noStrike" cap="none">
              <a:solidFill>
                <a:schemeClr val="dk1"/>
              </a:solidFill>
              <a:latin typeface="Calibri"/>
              <a:ea typeface="Calibri"/>
              <a:cs typeface="Calibri"/>
              <a:sym typeface="Calibri"/>
            </a:endParaRPr>
          </a:p>
        </p:txBody>
      </p:sp>
      <p:sp>
        <p:nvSpPr>
          <p:cNvPr id="1246" name="Google Shape;1246;p65"/>
          <p:cNvSpPr/>
          <p:nvPr/>
        </p:nvSpPr>
        <p:spPr>
          <a:xfrm>
            <a:off x="2926250" y="1629200"/>
            <a:ext cx="15945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{{PI_T1_1_FA}} / {{PI_T1_1_LA}}</a:t>
            </a:r>
            <a:endParaRPr sz="800" b="0" i="0" u="none" strike="noStrike" cap="none">
              <a:solidFill>
                <a:schemeClr val="dk1"/>
              </a:solidFill>
              <a:latin typeface="Calibri"/>
              <a:ea typeface="Calibri"/>
              <a:cs typeface="Calibri"/>
              <a:sym typeface="Calibri"/>
            </a:endParaRPr>
          </a:p>
        </p:txBody>
      </p:sp>
      <p:sp>
        <p:nvSpPr>
          <p:cNvPr id="1247" name="Google Shape;1247;p65"/>
          <p:cNvSpPr/>
          <p:nvPr/>
        </p:nvSpPr>
        <p:spPr>
          <a:xfrm>
            <a:off x="2930509" y="1872803"/>
            <a:ext cx="15945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{{PI_T1_2_FA}} / {{PI_T1_2_LA}}</a:t>
            </a:r>
            <a:endParaRPr sz="800" b="0" i="0" u="none" strike="noStrike" cap="none">
              <a:solidFill>
                <a:schemeClr val="dk1"/>
              </a:solidFill>
              <a:latin typeface="Calibri"/>
              <a:ea typeface="Calibri"/>
              <a:cs typeface="Calibri"/>
              <a:sym typeface="Calibri"/>
            </a:endParaRPr>
          </a:p>
        </p:txBody>
      </p:sp>
      <p:sp>
        <p:nvSpPr>
          <p:cNvPr id="1248" name="Google Shape;1248;p65"/>
          <p:cNvSpPr/>
          <p:nvPr/>
        </p:nvSpPr>
        <p:spPr>
          <a:xfrm>
            <a:off x="2934768" y="2116406"/>
            <a:ext cx="15945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{{PI_T1_3_FA}} / {{PI_T1_3_LA}}</a:t>
            </a:r>
            <a:endParaRPr sz="800" b="0" i="0" u="none" strike="noStrike" cap="none">
              <a:solidFill>
                <a:schemeClr val="dk1"/>
              </a:solidFill>
              <a:latin typeface="Calibri"/>
              <a:ea typeface="Calibri"/>
              <a:cs typeface="Calibri"/>
              <a:sym typeface="Calibri"/>
            </a:endParaRPr>
          </a:p>
        </p:txBody>
      </p:sp>
      <p:sp>
        <p:nvSpPr>
          <p:cNvPr id="1249" name="Google Shape;1249;p65"/>
          <p:cNvSpPr/>
          <p:nvPr/>
        </p:nvSpPr>
        <p:spPr>
          <a:xfrm>
            <a:off x="2943286" y="2360009"/>
            <a:ext cx="15945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{{PI_T1_4_FA}} / {{PI_T1_4_LA}}</a:t>
            </a:r>
            <a:endParaRPr sz="800" b="0" i="0" u="none" strike="noStrike" cap="none">
              <a:solidFill>
                <a:schemeClr val="dk1"/>
              </a:solidFill>
              <a:latin typeface="Calibri"/>
              <a:ea typeface="Calibri"/>
              <a:cs typeface="Calibri"/>
              <a:sym typeface="Calibri"/>
            </a:endParaRPr>
          </a:p>
        </p:txBody>
      </p:sp>
      <p:sp>
        <p:nvSpPr>
          <p:cNvPr id="1250" name="Google Shape;1250;p65"/>
          <p:cNvSpPr/>
          <p:nvPr/>
        </p:nvSpPr>
        <p:spPr>
          <a:xfrm>
            <a:off x="2939027" y="2603613"/>
            <a:ext cx="15945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{{PI_T1_5_FA}} / {{PI_T1_5_LA}}</a:t>
            </a:r>
            <a:endParaRPr sz="800" b="0" i="0" u="none" strike="noStrike" cap="none">
              <a:solidFill>
                <a:schemeClr val="dk1"/>
              </a:solidFill>
              <a:latin typeface="Calibri"/>
              <a:ea typeface="Calibri"/>
              <a:cs typeface="Calibri"/>
              <a:sym typeface="Calibri"/>
            </a:endParaRPr>
          </a:p>
        </p:txBody>
      </p:sp>
      <p:sp>
        <p:nvSpPr>
          <p:cNvPr id="1251" name="Google Shape;1251;p65"/>
          <p:cNvSpPr/>
          <p:nvPr/>
        </p:nvSpPr>
        <p:spPr>
          <a:xfrm>
            <a:off x="4723186" y="1386854"/>
            <a:ext cx="3977700" cy="240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2" name="Google Shape;1252;p65"/>
          <p:cNvSpPr/>
          <p:nvPr/>
        </p:nvSpPr>
        <p:spPr>
          <a:xfrm>
            <a:off x="4706075" y="1375819"/>
            <a:ext cx="1988700" cy="240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Technology</a:t>
            </a:r>
            <a:endParaRPr sz="1000" b="0" i="0" u="none" strike="noStrike" cap="none">
              <a:solidFill>
                <a:schemeClr val="dk1"/>
              </a:solidFill>
              <a:latin typeface="Calibri"/>
              <a:ea typeface="Calibri"/>
              <a:cs typeface="Calibri"/>
              <a:sym typeface="Calibri"/>
            </a:endParaRPr>
          </a:p>
        </p:txBody>
      </p:sp>
      <p:sp>
        <p:nvSpPr>
          <p:cNvPr id="1253" name="Google Shape;1253;p65"/>
          <p:cNvSpPr/>
          <p:nvPr/>
        </p:nvSpPr>
        <p:spPr>
          <a:xfrm>
            <a:off x="6607455" y="1388100"/>
            <a:ext cx="772800" cy="240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 of SAs</a:t>
            </a:r>
            <a:endParaRPr sz="1000" b="0" i="0" u="none" strike="noStrike" cap="none">
              <a:solidFill>
                <a:schemeClr val="dk1"/>
              </a:solidFill>
              <a:latin typeface="Calibri"/>
              <a:ea typeface="Calibri"/>
              <a:cs typeface="Calibri"/>
              <a:sym typeface="Calibri"/>
            </a:endParaRPr>
          </a:p>
        </p:txBody>
      </p:sp>
      <p:sp>
        <p:nvSpPr>
          <p:cNvPr id="1254" name="Google Shape;1254;p65"/>
          <p:cNvSpPr/>
          <p:nvPr/>
        </p:nvSpPr>
        <p:spPr>
          <a:xfrm>
            <a:off x="7277955" y="1381525"/>
            <a:ext cx="1621200" cy="240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First / Last Created</a:t>
            </a:r>
            <a:endParaRPr sz="1000" b="0" i="0" u="none" strike="noStrike" cap="none">
              <a:solidFill>
                <a:schemeClr val="dk1"/>
              </a:solidFill>
              <a:latin typeface="Calibri"/>
              <a:ea typeface="Calibri"/>
              <a:cs typeface="Calibri"/>
              <a:sym typeface="Calibri"/>
            </a:endParaRPr>
          </a:p>
        </p:txBody>
      </p:sp>
      <p:sp>
        <p:nvSpPr>
          <p:cNvPr id="1255" name="Google Shape;1255;p65"/>
          <p:cNvSpPr/>
          <p:nvPr/>
        </p:nvSpPr>
        <p:spPr>
          <a:xfrm>
            <a:off x="4723178" y="1627234"/>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56" name="Google Shape;1256;p65"/>
          <p:cNvCxnSpPr/>
          <p:nvPr/>
        </p:nvCxnSpPr>
        <p:spPr>
          <a:xfrm>
            <a:off x="4723178" y="1873327"/>
            <a:ext cx="3977700" cy="0"/>
          </a:xfrm>
          <a:prstGeom prst="straightConnector1">
            <a:avLst/>
          </a:prstGeom>
          <a:noFill/>
          <a:ln w="9525" cap="flat" cmpd="sng">
            <a:solidFill>
              <a:srgbClr val="E5E7EB"/>
            </a:solidFill>
            <a:prstDash val="solid"/>
            <a:round/>
            <a:headEnd type="none" w="sm" len="sm"/>
            <a:tailEnd type="none" w="sm" len="sm"/>
          </a:ln>
        </p:spPr>
      </p:cxnSp>
      <p:sp>
        <p:nvSpPr>
          <p:cNvPr id="1257" name="Google Shape;1257;p65"/>
          <p:cNvSpPr/>
          <p:nvPr/>
        </p:nvSpPr>
        <p:spPr>
          <a:xfrm>
            <a:off x="4706067" y="1627226"/>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{{PI_T2_1}}</a:t>
            </a:r>
            <a:endParaRPr sz="800" b="0" i="0" u="none" strike="noStrike" cap="none">
              <a:solidFill>
                <a:schemeClr val="dk1"/>
              </a:solidFill>
              <a:latin typeface="Calibri"/>
              <a:ea typeface="Calibri"/>
              <a:cs typeface="Calibri"/>
              <a:sym typeface="Calibri"/>
            </a:endParaRPr>
          </a:p>
        </p:txBody>
      </p:sp>
      <p:sp>
        <p:nvSpPr>
          <p:cNvPr id="1258" name="Google Shape;1258;p65"/>
          <p:cNvSpPr/>
          <p:nvPr/>
        </p:nvSpPr>
        <p:spPr>
          <a:xfrm>
            <a:off x="6609971" y="1627250"/>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{{PI_T2_1_SA}}</a:t>
            </a:r>
            <a:endParaRPr sz="700" b="0" i="0" u="none" strike="noStrike" cap="none">
              <a:solidFill>
                <a:schemeClr val="dk1"/>
              </a:solidFill>
              <a:latin typeface="Calibri"/>
              <a:ea typeface="Calibri"/>
              <a:cs typeface="Calibri"/>
              <a:sym typeface="Calibri"/>
            </a:endParaRPr>
          </a:p>
        </p:txBody>
      </p:sp>
      <p:sp>
        <p:nvSpPr>
          <p:cNvPr id="1259" name="Google Shape;1259;p65"/>
          <p:cNvSpPr/>
          <p:nvPr/>
        </p:nvSpPr>
        <p:spPr>
          <a:xfrm>
            <a:off x="4723178" y="1873327"/>
            <a:ext cx="3977700" cy="246000"/>
          </a:xfrm>
          <a:prstGeom prst="rect">
            <a:avLst/>
          </a:prstGeom>
          <a:solidFill>
            <a:srgbClr val="F9FAF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60" name="Google Shape;1260;p65"/>
          <p:cNvCxnSpPr/>
          <p:nvPr/>
        </p:nvCxnSpPr>
        <p:spPr>
          <a:xfrm>
            <a:off x="4707464" y="2111515"/>
            <a:ext cx="3977700" cy="0"/>
          </a:xfrm>
          <a:prstGeom prst="straightConnector1">
            <a:avLst/>
          </a:prstGeom>
          <a:noFill/>
          <a:ln w="9525" cap="flat" cmpd="sng">
            <a:solidFill>
              <a:srgbClr val="888888"/>
            </a:solidFill>
            <a:prstDash val="solid"/>
            <a:round/>
            <a:headEnd type="none" w="sm" len="sm"/>
            <a:tailEnd type="none" w="sm" len="sm"/>
          </a:ln>
        </p:spPr>
      </p:cxnSp>
      <p:sp>
        <p:nvSpPr>
          <p:cNvPr id="1261" name="Google Shape;1261;p65"/>
          <p:cNvSpPr/>
          <p:nvPr/>
        </p:nvSpPr>
        <p:spPr>
          <a:xfrm>
            <a:off x="4706067" y="1873320"/>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{{PI_T2_2}}</a:t>
            </a:r>
            <a:endParaRPr sz="800" b="0" i="0" u="none" strike="noStrike" cap="none">
              <a:solidFill>
                <a:schemeClr val="dk1"/>
              </a:solidFill>
              <a:latin typeface="Calibri"/>
              <a:ea typeface="Calibri"/>
              <a:cs typeface="Calibri"/>
              <a:sym typeface="Calibri"/>
            </a:endParaRPr>
          </a:p>
        </p:txBody>
      </p:sp>
      <p:sp>
        <p:nvSpPr>
          <p:cNvPr id="1262" name="Google Shape;1262;p65"/>
          <p:cNvSpPr/>
          <p:nvPr/>
        </p:nvSpPr>
        <p:spPr>
          <a:xfrm>
            <a:off x="4723178" y="2119420"/>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63" name="Google Shape;1263;p65"/>
          <p:cNvCxnSpPr/>
          <p:nvPr/>
        </p:nvCxnSpPr>
        <p:spPr>
          <a:xfrm>
            <a:off x="4723178" y="2365513"/>
            <a:ext cx="3977700" cy="0"/>
          </a:xfrm>
          <a:prstGeom prst="straightConnector1">
            <a:avLst/>
          </a:prstGeom>
          <a:noFill/>
          <a:ln w="9525" cap="flat" cmpd="sng">
            <a:solidFill>
              <a:srgbClr val="E5E7EB"/>
            </a:solidFill>
            <a:prstDash val="solid"/>
            <a:round/>
            <a:headEnd type="none" w="sm" len="sm"/>
            <a:tailEnd type="none" w="sm" len="sm"/>
          </a:ln>
        </p:spPr>
      </p:cxnSp>
      <p:sp>
        <p:nvSpPr>
          <p:cNvPr id="1264" name="Google Shape;1264;p65"/>
          <p:cNvSpPr/>
          <p:nvPr/>
        </p:nvSpPr>
        <p:spPr>
          <a:xfrm>
            <a:off x="4706067" y="2119414"/>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{{PI_T2_3}}</a:t>
            </a:r>
            <a:endParaRPr sz="800" b="0" i="0" u="none" strike="noStrike" cap="none">
              <a:solidFill>
                <a:schemeClr val="dk1"/>
              </a:solidFill>
              <a:latin typeface="Calibri"/>
              <a:ea typeface="Calibri"/>
              <a:cs typeface="Calibri"/>
              <a:sym typeface="Calibri"/>
            </a:endParaRPr>
          </a:p>
        </p:txBody>
      </p:sp>
      <p:sp>
        <p:nvSpPr>
          <p:cNvPr id="1265" name="Google Shape;1265;p65"/>
          <p:cNvSpPr/>
          <p:nvPr/>
        </p:nvSpPr>
        <p:spPr>
          <a:xfrm>
            <a:off x="4723178" y="2365513"/>
            <a:ext cx="3977700" cy="246000"/>
          </a:xfrm>
          <a:prstGeom prst="rect">
            <a:avLst/>
          </a:prstGeom>
          <a:solidFill>
            <a:srgbClr val="F9FAF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66" name="Google Shape;1266;p65"/>
          <p:cNvCxnSpPr/>
          <p:nvPr/>
        </p:nvCxnSpPr>
        <p:spPr>
          <a:xfrm>
            <a:off x="4710506" y="2601696"/>
            <a:ext cx="3977700" cy="0"/>
          </a:xfrm>
          <a:prstGeom prst="straightConnector1">
            <a:avLst/>
          </a:prstGeom>
          <a:noFill/>
          <a:ln w="9525" cap="flat" cmpd="sng">
            <a:solidFill>
              <a:srgbClr val="888888"/>
            </a:solidFill>
            <a:prstDash val="solid"/>
            <a:round/>
            <a:headEnd type="none" w="sm" len="sm"/>
            <a:tailEnd type="none" w="sm" len="sm"/>
          </a:ln>
        </p:spPr>
      </p:cxnSp>
      <p:sp>
        <p:nvSpPr>
          <p:cNvPr id="1267" name="Google Shape;1267;p65"/>
          <p:cNvSpPr/>
          <p:nvPr/>
        </p:nvSpPr>
        <p:spPr>
          <a:xfrm>
            <a:off x="4706067" y="2365508"/>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{{PI_T2_4}}</a:t>
            </a:r>
            <a:endParaRPr sz="800" b="0" i="0" u="none" strike="noStrike" cap="none">
              <a:solidFill>
                <a:schemeClr val="dk1"/>
              </a:solidFill>
              <a:latin typeface="Calibri"/>
              <a:ea typeface="Calibri"/>
              <a:cs typeface="Calibri"/>
              <a:sym typeface="Calibri"/>
            </a:endParaRPr>
          </a:p>
        </p:txBody>
      </p:sp>
      <p:sp>
        <p:nvSpPr>
          <p:cNvPr id="1268" name="Google Shape;1268;p65"/>
          <p:cNvSpPr/>
          <p:nvPr/>
        </p:nvSpPr>
        <p:spPr>
          <a:xfrm>
            <a:off x="4723178" y="2611606"/>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9" name="Google Shape;1269;p65"/>
          <p:cNvSpPr/>
          <p:nvPr/>
        </p:nvSpPr>
        <p:spPr>
          <a:xfrm>
            <a:off x="4706067" y="2611602"/>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{{PI_T2_5}}</a:t>
            </a:r>
            <a:endParaRPr sz="800" b="0" i="0" u="none" strike="noStrike" cap="none">
              <a:solidFill>
                <a:schemeClr val="dk1"/>
              </a:solidFill>
              <a:latin typeface="Calibri"/>
              <a:ea typeface="Calibri"/>
              <a:cs typeface="Calibri"/>
              <a:sym typeface="Calibri"/>
            </a:endParaRPr>
          </a:p>
        </p:txBody>
      </p:sp>
      <p:cxnSp>
        <p:nvCxnSpPr>
          <p:cNvPr id="1270" name="Google Shape;1270;p65"/>
          <p:cNvCxnSpPr/>
          <p:nvPr/>
        </p:nvCxnSpPr>
        <p:spPr>
          <a:xfrm>
            <a:off x="4716068" y="2855341"/>
            <a:ext cx="3977700" cy="0"/>
          </a:xfrm>
          <a:prstGeom prst="straightConnector1">
            <a:avLst/>
          </a:prstGeom>
          <a:noFill/>
          <a:ln w="9525" cap="flat" cmpd="sng">
            <a:solidFill>
              <a:srgbClr val="888888"/>
            </a:solidFill>
            <a:prstDash val="solid"/>
            <a:round/>
            <a:headEnd type="none" w="sm" len="sm"/>
            <a:tailEnd type="none" w="sm" len="sm"/>
          </a:ln>
        </p:spPr>
      </p:cxnSp>
      <p:cxnSp>
        <p:nvCxnSpPr>
          <p:cNvPr id="1271" name="Google Shape;1271;p65"/>
          <p:cNvCxnSpPr/>
          <p:nvPr/>
        </p:nvCxnSpPr>
        <p:spPr>
          <a:xfrm>
            <a:off x="4701382" y="2369958"/>
            <a:ext cx="3977700" cy="0"/>
          </a:xfrm>
          <a:prstGeom prst="straightConnector1">
            <a:avLst/>
          </a:prstGeom>
          <a:noFill/>
          <a:ln w="9525" cap="flat" cmpd="sng">
            <a:solidFill>
              <a:srgbClr val="888888"/>
            </a:solidFill>
            <a:prstDash val="solid"/>
            <a:round/>
            <a:headEnd type="none" w="sm" len="sm"/>
            <a:tailEnd type="none" w="sm" len="sm"/>
          </a:ln>
        </p:spPr>
      </p:cxnSp>
      <p:cxnSp>
        <p:nvCxnSpPr>
          <p:cNvPr id="1272" name="Google Shape;1272;p65"/>
          <p:cNvCxnSpPr/>
          <p:nvPr/>
        </p:nvCxnSpPr>
        <p:spPr>
          <a:xfrm>
            <a:off x="4704423" y="1878759"/>
            <a:ext cx="3977700" cy="0"/>
          </a:xfrm>
          <a:prstGeom prst="straightConnector1">
            <a:avLst/>
          </a:prstGeom>
          <a:noFill/>
          <a:ln w="9525" cap="flat" cmpd="sng">
            <a:solidFill>
              <a:srgbClr val="888888"/>
            </a:solidFill>
            <a:prstDash val="solid"/>
            <a:round/>
            <a:headEnd type="none" w="sm" len="sm"/>
            <a:tailEnd type="none" w="sm" len="sm"/>
          </a:ln>
        </p:spPr>
      </p:cxnSp>
      <p:cxnSp>
        <p:nvCxnSpPr>
          <p:cNvPr id="1273" name="Google Shape;1273;p65"/>
          <p:cNvCxnSpPr/>
          <p:nvPr/>
        </p:nvCxnSpPr>
        <p:spPr>
          <a:xfrm>
            <a:off x="4722679" y="1604180"/>
            <a:ext cx="3977700" cy="0"/>
          </a:xfrm>
          <a:prstGeom prst="straightConnector1">
            <a:avLst/>
          </a:prstGeom>
          <a:noFill/>
          <a:ln w="14300" cap="flat" cmpd="sng">
            <a:solidFill>
              <a:srgbClr val="888888"/>
            </a:solidFill>
            <a:prstDash val="solid"/>
            <a:round/>
            <a:headEnd type="none" w="sm" len="sm"/>
            <a:tailEnd type="none" w="sm" len="sm"/>
          </a:ln>
        </p:spPr>
      </p:cxnSp>
      <p:sp>
        <p:nvSpPr>
          <p:cNvPr id="1274" name="Google Shape;1274;p65"/>
          <p:cNvSpPr/>
          <p:nvPr/>
        </p:nvSpPr>
        <p:spPr>
          <a:xfrm>
            <a:off x="6606980" y="1870869"/>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{{PI_T2_2_SA}}</a:t>
            </a:r>
            <a:endParaRPr sz="700" b="0" i="0" u="none" strike="noStrike" cap="none">
              <a:solidFill>
                <a:schemeClr val="dk1"/>
              </a:solidFill>
              <a:latin typeface="Calibri"/>
              <a:ea typeface="Calibri"/>
              <a:cs typeface="Calibri"/>
              <a:sym typeface="Calibri"/>
            </a:endParaRPr>
          </a:p>
        </p:txBody>
      </p:sp>
      <p:sp>
        <p:nvSpPr>
          <p:cNvPr id="1275" name="Google Shape;1275;p65"/>
          <p:cNvSpPr/>
          <p:nvPr/>
        </p:nvSpPr>
        <p:spPr>
          <a:xfrm>
            <a:off x="6615954" y="2114489"/>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{{PI_T2_3_SA}}</a:t>
            </a:r>
            <a:endParaRPr sz="700" b="0" i="0" u="none" strike="noStrike" cap="none">
              <a:solidFill>
                <a:schemeClr val="dk1"/>
              </a:solidFill>
              <a:latin typeface="Calibri"/>
              <a:ea typeface="Calibri"/>
              <a:cs typeface="Calibri"/>
              <a:sym typeface="Calibri"/>
            </a:endParaRPr>
          </a:p>
        </p:txBody>
      </p:sp>
      <p:sp>
        <p:nvSpPr>
          <p:cNvPr id="1276" name="Google Shape;1276;p65"/>
          <p:cNvSpPr/>
          <p:nvPr/>
        </p:nvSpPr>
        <p:spPr>
          <a:xfrm>
            <a:off x="6618945" y="2358108"/>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{{PI_T2_4_SA}}</a:t>
            </a:r>
            <a:endParaRPr sz="700" b="0" i="0" u="none" strike="noStrike" cap="none">
              <a:solidFill>
                <a:schemeClr val="dk1"/>
              </a:solidFill>
              <a:latin typeface="Calibri"/>
              <a:ea typeface="Calibri"/>
              <a:cs typeface="Calibri"/>
              <a:sym typeface="Calibri"/>
            </a:endParaRPr>
          </a:p>
        </p:txBody>
      </p:sp>
      <p:sp>
        <p:nvSpPr>
          <p:cNvPr id="1277" name="Google Shape;1277;p65"/>
          <p:cNvSpPr/>
          <p:nvPr/>
        </p:nvSpPr>
        <p:spPr>
          <a:xfrm>
            <a:off x="6612962" y="2601728"/>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{{PI_T2_5_SA}}</a:t>
            </a:r>
            <a:endParaRPr sz="700" b="0" i="0" u="none" strike="noStrike" cap="none">
              <a:solidFill>
                <a:schemeClr val="dk1"/>
              </a:solidFill>
              <a:latin typeface="Calibri"/>
              <a:ea typeface="Calibri"/>
              <a:cs typeface="Calibri"/>
              <a:sym typeface="Calibri"/>
            </a:endParaRPr>
          </a:p>
        </p:txBody>
      </p:sp>
      <p:sp>
        <p:nvSpPr>
          <p:cNvPr id="1278" name="Google Shape;1278;p65"/>
          <p:cNvSpPr/>
          <p:nvPr/>
        </p:nvSpPr>
        <p:spPr>
          <a:xfrm>
            <a:off x="7277980" y="1624875"/>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{{PI_T2_1_FA}} / {{PI_T2_1_LA}}</a:t>
            </a:r>
            <a:endParaRPr sz="800" b="0" i="0" u="none" strike="noStrike" cap="none">
              <a:solidFill>
                <a:schemeClr val="dk1"/>
              </a:solidFill>
              <a:latin typeface="Calibri"/>
              <a:ea typeface="Calibri"/>
              <a:cs typeface="Calibri"/>
              <a:sym typeface="Calibri"/>
            </a:endParaRPr>
          </a:p>
        </p:txBody>
      </p:sp>
      <p:sp>
        <p:nvSpPr>
          <p:cNvPr id="1279" name="Google Shape;1279;p65"/>
          <p:cNvSpPr/>
          <p:nvPr/>
        </p:nvSpPr>
        <p:spPr>
          <a:xfrm>
            <a:off x="7282310" y="1868476"/>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{{PI_T2_2_FA}} / {{PI_T2_2_LA}}</a:t>
            </a:r>
            <a:endParaRPr sz="800" b="0" i="0" u="none" strike="noStrike" cap="none">
              <a:solidFill>
                <a:schemeClr val="dk1"/>
              </a:solidFill>
              <a:latin typeface="Calibri"/>
              <a:ea typeface="Calibri"/>
              <a:cs typeface="Calibri"/>
              <a:sym typeface="Calibri"/>
            </a:endParaRPr>
          </a:p>
        </p:txBody>
      </p:sp>
      <p:sp>
        <p:nvSpPr>
          <p:cNvPr id="1280" name="Google Shape;1280;p65"/>
          <p:cNvSpPr/>
          <p:nvPr/>
        </p:nvSpPr>
        <p:spPr>
          <a:xfrm>
            <a:off x="7286640" y="2112076"/>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{{PI_T2_3_FA}} / {{PI_T2_3_LA}}</a:t>
            </a:r>
            <a:endParaRPr sz="800" b="0" i="0" u="none" strike="noStrike" cap="none">
              <a:solidFill>
                <a:schemeClr val="dk1"/>
              </a:solidFill>
              <a:latin typeface="Calibri"/>
              <a:ea typeface="Calibri"/>
              <a:cs typeface="Calibri"/>
              <a:sym typeface="Calibri"/>
            </a:endParaRPr>
          </a:p>
        </p:txBody>
      </p:sp>
      <p:sp>
        <p:nvSpPr>
          <p:cNvPr id="1281" name="Google Shape;1281;p65"/>
          <p:cNvSpPr/>
          <p:nvPr/>
        </p:nvSpPr>
        <p:spPr>
          <a:xfrm>
            <a:off x="7295300" y="2355677"/>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{{PI_T2_4_FA}} / {{PI_T2_4_LA}}</a:t>
            </a:r>
            <a:endParaRPr sz="800" b="0" i="0" u="none" strike="noStrike" cap="none">
              <a:solidFill>
                <a:schemeClr val="dk1"/>
              </a:solidFill>
              <a:latin typeface="Calibri"/>
              <a:ea typeface="Calibri"/>
              <a:cs typeface="Calibri"/>
              <a:sym typeface="Calibri"/>
            </a:endParaRPr>
          </a:p>
        </p:txBody>
      </p:sp>
      <p:sp>
        <p:nvSpPr>
          <p:cNvPr id="1282" name="Google Shape;1282;p65"/>
          <p:cNvSpPr/>
          <p:nvPr/>
        </p:nvSpPr>
        <p:spPr>
          <a:xfrm>
            <a:off x="7290970" y="2599278"/>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{{PI_T2_5_FA}} / {{PI_T2_5_LA}}</a:t>
            </a:r>
            <a:endParaRPr sz="800" b="0" i="0" u="none" strike="noStrike" cap="none">
              <a:solidFill>
                <a:schemeClr val="dk1"/>
              </a:solidFill>
              <a:latin typeface="Calibri"/>
              <a:ea typeface="Calibri"/>
              <a:cs typeface="Calibri"/>
              <a:sym typeface="Calibri"/>
            </a:endParaRPr>
          </a:p>
        </p:txBody>
      </p:sp>
      <p:sp>
        <p:nvSpPr>
          <p:cNvPr id="1283" name="Google Shape;1283;p65"/>
          <p:cNvSpPr/>
          <p:nvPr/>
        </p:nvSpPr>
        <p:spPr>
          <a:xfrm>
            <a:off x="4733920" y="3618329"/>
            <a:ext cx="3977700" cy="240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4" name="Google Shape;1284;p65"/>
          <p:cNvSpPr/>
          <p:nvPr/>
        </p:nvSpPr>
        <p:spPr>
          <a:xfrm>
            <a:off x="4716809" y="3607294"/>
            <a:ext cx="1988700" cy="240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Technology</a:t>
            </a:r>
            <a:endParaRPr sz="1000" b="0" i="0" u="none" strike="noStrike" cap="none">
              <a:solidFill>
                <a:schemeClr val="dk1"/>
              </a:solidFill>
              <a:latin typeface="Calibri"/>
              <a:ea typeface="Calibri"/>
              <a:cs typeface="Calibri"/>
              <a:sym typeface="Calibri"/>
            </a:endParaRPr>
          </a:p>
        </p:txBody>
      </p:sp>
      <p:sp>
        <p:nvSpPr>
          <p:cNvPr id="1285" name="Google Shape;1285;p65"/>
          <p:cNvSpPr/>
          <p:nvPr/>
        </p:nvSpPr>
        <p:spPr>
          <a:xfrm>
            <a:off x="6618189" y="3619575"/>
            <a:ext cx="772800" cy="240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 of SAs</a:t>
            </a:r>
            <a:endParaRPr sz="1000" b="0" i="0" u="none" strike="noStrike" cap="none">
              <a:solidFill>
                <a:schemeClr val="dk1"/>
              </a:solidFill>
              <a:latin typeface="Calibri"/>
              <a:ea typeface="Calibri"/>
              <a:cs typeface="Calibri"/>
              <a:sym typeface="Calibri"/>
            </a:endParaRPr>
          </a:p>
        </p:txBody>
      </p:sp>
      <p:sp>
        <p:nvSpPr>
          <p:cNvPr id="1286" name="Google Shape;1286;p65"/>
          <p:cNvSpPr/>
          <p:nvPr/>
        </p:nvSpPr>
        <p:spPr>
          <a:xfrm>
            <a:off x="7288689" y="3613000"/>
            <a:ext cx="1621200" cy="240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700"/>
              <a:buFont typeface="DM Sans"/>
              <a:buNone/>
            </a:pPr>
            <a:r>
              <a:rPr lang="en" sz="1000" b="1" i="0" u="none" strike="noStrike" cap="none">
                <a:solidFill>
                  <a:srgbClr val="6B7280"/>
                </a:solidFill>
                <a:latin typeface="DM Sans"/>
                <a:ea typeface="DM Sans"/>
                <a:cs typeface="DM Sans"/>
                <a:sym typeface="DM Sans"/>
              </a:rPr>
              <a:t>First / Last Created</a:t>
            </a:r>
            <a:endParaRPr sz="1000" b="0" i="0" u="none" strike="noStrike" cap="none">
              <a:solidFill>
                <a:schemeClr val="dk1"/>
              </a:solidFill>
              <a:latin typeface="Calibri"/>
              <a:ea typeface="Calibri"/>
              <a:cs typeface="Calibri"/>
              <a:sym typeface="Calibri"/>
            </a:endParaRPr>
          </a:p>
        </p:txBody>
      </p:sp>
      <p:sp>
        <p:nvSpPr>
          <p:cNvPr id="1287" name="Google Shape;1287;p65"/>
          <p:cNvSpPr/>
          <p:nvPr/>
        </p:nvSpPr>
        <p:spPr>
          <a:xfrm>
            <a:off x="4733912" y="3858709"/>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88" name="Google Shape;1288;p65"/>
          <p:cNvCxnSpPr/>
          <p:nvPr/>
        </p:nvCxnSpPr>
        <p:spPr>
          <a:xfrm>
            <a:off x="4733912" y="4104802"/>
            <a:ext cx="3977700" cy="0"/>
          </a:xfrm>
          <a:prstGeom prst="straightConnector1">
            <a:avLst/>
          </a:prstGeom>
          <a:noFill/>
          <a:ln w="9525" cap="flat" cmpd="sng">
            <a:solidFill>
              <a:srgbClr val="E5E7EB"/>
            </a:solidFill>
            <a:prstDash val="solid"/>
            <a:round/>
            <a:headEnd type="none" w="sm" len="sm"/>
            <a:tailEnd type="none" w="sm" len="sm"/>
          </a:ln>
        </p:spPr>
      </p:cxnSp>
      <p:sp>
        <p:nvSpPr>
          <p:cNvPr id="1289" name="Google Shape;1289;p65"/>
          <p:cNvSpPr/>
          <p:nvPr/>
        </p:nvSpPr>
        <p:spPr>
          <a:xfrm>
            <a:off x="4716801" y="3858701"/>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{{PI_T3_1}}</a:t>
            </a:r>
            <a:endParaRPr sz="800" b="0" i="0" u="none" strike="noStrike" cap="none">
              <a:solidFill>
                <a:schemeClr val="dk1"/>
              </a:solidFill>
              <a:latin typeface="Calibri"/>
              <a:ea typeface="Calibri"/>
              <a:cs typeface="Calibri"/>
              <a:sym typeface="Calibri"/>
            </a:endParaRPr>
          </a:p>
        </p:txBody>
      </p:sp>
      <p:sp>
        <p:nvSpPr>
          <p:cNvPr id="1290" name="Google Shape;1290;p65"/>
          <p:cNvSpPr/>
          <p:nvPr/>
        </p:nvSpPr>
        <p:spPr>
          <a:xfrm>
            <a:off x="6620705" y="3858725"/>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{{PI_T3_1_SA}}</a:t>
            </a:r>
            <a:endParaRPr sz="700" b="0" i="0" u="none" strike="noStrike" cap="none">
              <a:solidFill>
                <a:schemeClr val="dk1"/>
              </a:solidFill>
              <a:latin typeface="Calibri"/>
              <a:ea typeface="Calibri"/>
              <a:cs typeface="Calibri"/>
              <a:sym typeface="Calibri"/>
            </a:endParaRPr>
          </a:p>
        </p:txBody>
      </p:sp>
      <p:sp>
        <p:nvSpPr>
          <p:cNvPr id="1291" name="Google Shape;1291;p65"/>
          <p:cNvSpPr/>
          <p:nvPr/>
        </p:nvSpPr>
        <p:spPr>
          <a:xfrm>
            <a:off x="4733912" y="4104802"/>
            <a:ext cx="3977700" cy="246000"/>
          </a:xfrm>
          <a:prstGeom prst="rect">
            <a:avLst/>
          </a:prstGeom>
          <a:solidFill>
            <a:srgbClr val="F9FAF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92" name="Google Shape;1292;p65"/>
          <p:cNvCxnSpPr/>
          <p:nvPr/>
        </p:nvCxnSpPr>
        <p:spPr>
          <a:xfrm>
            <a:off x="4718198" y="4342990"/>
            <a:ext cx="3977700" cy="0"/>
          </a:xfrm>
          <a:prstGeom prst="straightConnector1">
            <a:avLst/>
          </a:prstGeom>
          <a:noFill/>
          <a:ln w="9525" cap="flat" cmpd="sng">
            <a:solidFill>
              <a:srgbClr val="888888"/>
            </a:solidFill>
            <a:prstDash val="solid"/>
            <a:round/>
            <a:headEnd type="none" w="sm" len="sm"/>
            <a:tailEnd type="none" w="sm" len="sm"/>
          </a:ln>
        </p:spPr>
      </p:cxnSp>
      <p:sp>
        <p:nvSpPr>
          <p:cNvPr id="1293" name="Google Shape;1293;p65"/>
          <p:cNvSpPr/>
          <p:nvPr/>
        </p:nvSpPr>
        <p:spPr>
          <a:xfrm>
            <a:off x="4716801" y="4104795"/>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{{PI_T3_2}}</a:t>
            </a:r>
            <a:endParaRPr sz="800" b="0" i="0" u="none" strike="noStrike" cap="none">
              <a:solidFill>
                <a:schemeClr val="dk1"/>
              </a:solidFill>
              <a:latin typeface="Calibri"/>
              <a:ea typeface="Calibri"/>
              <a:cs typeface="Calibri"/>
              <a:sym typeface="Calibri"/>
            </a:endParaRPr>
          </a:p>
        </p:txBody>
      </p:sp>
      <p:sp>
        <p:nvSpPr>
          <p:cNvPr id="1294" name="Google Shape;1294;p65"/>
          <p:cNvSpPr/>
          <p:nvPr/>
        </p:nvSpPr>
        <p:spPr>
          <a:xfrm>
            <a:off x="4733912" y="4350895"/>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95" name="Google Shape;1295;p65"/>
          <p:cNvCxnSpPr/>
          <p:nvPr/>
        </p:nvCxnSpPr>
        <p:spPr>
          <a:xfrm>
            <a:off x="4733912" y="4596988"/>
            <a:ext cx="3977700" cy="0"/>
          </a:xfrm>
          <a:prstGeom prst="straightConnector1">
            <a:avLst/>
          </a:prstGeom>
          <a:noFill/>
          <a:ln w="9525" cap="flat" cmpd="sng">
            <a:solidFill>
              <a:srgbClr val="E5E7EB"/>
            </a:solidFill>
            <a:prstDash val="solid"/>
            <a:round/>
            <a:headEnd type="none" w="sm" len="sm"/>
            <a:tailEnd type="none" w="sm" len="sm"/>
          </a:ln>
        </p:spPr>
      </p:cxnSp>
      <p:sp>
        <p:nvSpPr>
          <p:cNvPr id="1296" name="Google Shape;1296;p65"/>
          <p:cNvSpPr/>
          <p:nvPr/>
        </p:nvSpPr>
        <p:spPr>
          <a:xfrm>
            <a:off x="4716801" y="4350889"/>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{{PI_T3_3}}</a:t>
            </a:r>
            <a:endParaRPr sz="800" b="0" i="0" u="none" strike="noStrike" cap="none">
              <a:solidFill>
                <a:schemeClr val="dk1"/>
              </a:solidFill>
              <a:latin typeface="Calibri"/>
              <a:ea typeface="Calibri"/>
              <a:cs typeface="Calibri"/>
              <a:sym typeface="Calibri"/>
            </a:endParaRPr>
          </a:p>
        </p:txBody>
      </p:sp>
      <p:sp>
        <p:nvSpPr>
          <p:cNvPr id="1297" name="Google Shape;1297;p65"/>
          <p:cNvSpPr/>
          <p:nvPr/>
        </p:nvSpPr>
        <p:spPr>
          <a:xfrm>
            <a:off x="4733912" y="4596988"/>
            <a:ext cx="3977700" cy="246000"/>
          </a:xfrm>
          <a:prstGeom prst="rect">
            <a:avLst/>
          </a:prstGeom>
          <a:solidFill>
            <a:srgbClr val="F9FAF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98" name="Google Shape;1298;p65"/>
          <p:cNvCxnSpPr/>
          <p:nvPr/>
        </p:nvCxnSpPr>
        <p:spPr>
          <a:xfrm>
            <a:off x="4721240" y="4833171"/>
            <a:ext cx="3977700" cy="0"/>
          </a:xfrm>
          <a:prstGeom prst="straightConnector1">
            <a:avLst/>
          </a:prstGeom>
          <a:noFill/>
          <a:ln w="9525" cap="flat" cmpd="sng">
            <a:solidFill>
              <a:srgbClr val="888888"/>
            </a:solidFill>
            <a:prstDash val="solid"/>
            <a:round/>
            <a:headEnd type="none" w="sm" len="sm"/>
            <a:tailEnd type="none" w="sm" len="sm"/>
          </a:ln>
        </p:spPr>
      </p:cxnSp>
      <p:sp>
        <p:nvSpPr>
          <p:cNvPr id="1299" name="Google Shape;1299;p65"/>
          <p:cNvSpPr/>
          <p:nvPr/>
        </p:nvSpPr>
        <p:spPr>
          <a:xfrm>
            <a:off x="4716801" y="4596983"/>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{{PI_T3_4}}</a:t>
            </a:r>
            <a:endParaRPr sz="800" b="0" i="0" u="none" strike="noStrike" cap="none">
              <a:solidFill>
                <a:schemeClr val="dk1"/>
              </a:solidFill>
              <a:latin typeface="Calibri"/>
              <a:ea typeface="Calibri"/>
              <a:cs typeface="Calibri"/>
              <a:sym typeface="Calibri"/>
            </a:endParaRPr>
          </a:p>
        </p:txBody>
      </p:sp>
      <p:sp>
        <p:nvSpPr>
          <p:cNvPr id="1300" name="Google Shape;1300;p65"/>
          <p:cNvSpPr/>
          <p:nvPr/>
        </p:nvSpPr>
        <p:spPr>
          <a:xfrm>
            <a:off x="4733912" y="4843081"/>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1" name="Google Shape;1301;p65"/>
          <p:cNvSpPr/>
          <p:nvPr/>
        </p:nvSpPr>
        <p:spPr>
          <a:xfrm>
            <a:off x="4716801" y="4843077"/>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{{PI_T3_5}}</a:t>
            </a:r>
            <a:endParaRPr sz="800" b="0" i="0" u="none" strike="noStrike" cap="none">
              <a:solidFill>
                <a:schemeClr val="dk1"/>
              </a:solidFill>
              <a:latin typeface="Calibri"/>
              <a:ea typeface="Calibri"/>
              <a:cs typeface="Calibri"/>
              <a:sym typeface="Calibri"/>
            </a:endParaRPr>
          </a:p>
        </p:txBody>
      </p:sp>
      <p:cxnSp>
        <p:nvCxnSpPr>
          <p:cNvPr id="1302" name="Google Shape;1302;p65"/>
          <p:cNvCxnSpPr/>
          <p:nvPr/>
        </p:nvCxnSpPr>
        <p:spPr>
          <a:xfrm>
            <a:off x="4694756" y="5086816"/>
            <a:ext cx="3977700" cy="0"/>
          </a:xfrm>
          <a:prstGeom prst="straightConnector1">
            <a:avLst/>
          </a:prstGeom>
          <a:noFill/>
          <a:ln w="9525" cap="flat" cmpd="sng">
            <a:solidFill>
              <a:srgbClr val="888888"/>
            </a:solidFill>
            <a:prstDash val="solid"/>
            <a:round/>
            <a:headEnd type="none" w="sm" len="sm"/>
            <a:tailEnd type="none" w="sm" len="sm"/>
          </a:ln>
        </p:spPr>
      </p:cxnSp>
      <p:cxnSp>
        <p:nvCxnSpPr>
          <p:cNvPr id="1303" name="Google Shape;1303;p65"/>
          <p:cNvCxnSpPr/>
          <p:nvPr/>
        </p:nvCxnSpPr>
        <p:spPr>
          <a:xfrm>
            <a:off x="4712116" y="4601433"/>
            <a:ext cx="3977700" cy="0"/>
          </a:xfrm>
          <a:prstGeom prst="straightConnector1">
            <a:avLst/>
          </a:prstGeom>
          <a:noFill/>
          <a:ln w="9525" cap="flat" cmpd="sng">
            <a:solidFill>
              <a:srgbClr val="888888"/>
            </a:solidFill>
            <a:prstDash val="solid"/>
            <a:round/>
            <a:headEnd type="none" w="sm" len="sm"/>
            <a:tailEnd type="none" w="sm" len="sm"/>
          </a:ln>
        </p:spPr>
      </p:cxnSp>
      <p:cxnSp>
        <p:nvCxnSpPr>
          <p:cNvPr id="1304" name="Google Shape;1304;p65"/>
          <p:cNvCxnSpPr/>
          <p:nvPr/>
        </p:nvCxnSpPr>
        <p:spPr>
          <a:xfrm>
            <a:off x="4715157" y="4110234"/>
            <a:ext cx="3977700" cy="0"/>
          </a:xfrm>
          <a:prstGeom prst="straightConnector1">
            <a:avLst/>
          </a:prstGeom>
          <a:noFill/>
          <a:ln w="9525" cap="flat" cmpd="sng">
            <a:solidFill>
              <a:srgbClr val="888888"/>
            </a:solidFill>
            <a:prstDash val="solid"/>
            <a:round/>
            <a:headEnd type="none" w="sm" len="sm"/>
            <a:tailEnd type="none" w="sm" len="sm"/>
          </a:ln>
        </p:spPr>
      </p:cxnSp>
      <p:cxnSp>
        <p:nvCxnSpPr>
          <p:cNvPr id="1305" name="Google Shape;1305;p65"/>
          <p:cNvCxnSpPr/>
          <p:nvPr/>
        </p:nvCxnSpPr>
        <p:spPr>
          <a:xfrm>
            <a:off x="4733413" y="3835655"/>
            <a:ext cx="3977700" cy="0"/>
          </a:xfrm>
          <a:prstGeom prst="straightConnector1">
            <a:avLst/>
          </a:prstGeom>
          <a:noFill/>
          <a:ln w="14300" cap="flat" cmpd="sng">
            <a:solidFill>
              <a:srgbClr val="888888"/>
            </a:solidFill>
            <a:prstDash val="solid"/>
            <a:round/>
            <a:headEnd type="none" w="sm" len="sm"/>
            <a:tailEnd type="none" w="sm" len="sm"/>
          </a:ln>
        </p:spPr>
      </p:cxnSp>
      <p:sp>
        <p:nvSpPr>
          <p:cNvPr id="1306" name="Google Shape;1306;p65"/>
          <p:cNvSpPr/>
          <p:nvPr/>
        </p:nvSpPr>
        <p:spPr>
          <a:xfrm>
            <a:off x="6617714" y="4102344"/>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{{PI_T3_2_SA}}</a:t>
            </a:r>
            <a:endParaRPr sz="700" b="0" i="0" u="none" strike="noStrike" cap="none">
              <a:solidFill>
                <a:schemeClr val="dk1"/>
              </a:solidFill>
              <a:latin typeface="Calibri"/>
              <a:ea typeface="Calibri"/>
              <a:cs typeface="Calibri"/>
              <a:sym typeface="Calibri"/>
            </a:endParaRPr>
          </a:p>
        </p:txBody>
      </p:sp>
      <p:sp>
        <p:nvSpPr>
          <p:cNvPr id="1307" name="Google Shape;1307;p65"/>
          <p:cNvSpPr/>
          <p:nvPr/>
        </p:nvSpPr>
        <p:spPr>
          <a:xfrm>
            <a:off x="6626688" y="4345964"/>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{{PI_T3_3_SA}}</a:t>
            </a:r>
            <a:endParaRPr sz="700" b="0" i="0" u="none" strike="noStrike" cap="none">
              <a:solidFill>
                <a:schemeClr val="dk1"/>
              </a:solidFill>
              <a:latin typeface="Calibri"/>
              <a:ea typeface="Calibri"/>
              <a:cs typeface="Calibri"/>
              <a:sym typeface="Calibri"/>
            </a:endParaRPr>
          </a:p>
        </p:txBody>
      </p:sp>
      <p:sp>
        <p:nvSpPr>
          <p:cNvPr id="1308" name="Google Shape;1308;p65"/>
          <p:cNvSpPr/>
          <p:nvPr/>
        </p:nvSpPr>
        <p:spPr>
          <a:xfrm>
            <a:off x="6629679" y="4589583"/>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{{PI_T3_4_SA}}</a:t>
            </a:r>
            <a:endParaRPr sz="700" b="0" i="0" u="none" strike="noStrike" cap="none">
              <a:solidFill>
                <a:schemeClr val="dk1"/>
              </a:solidFill>
              <a:latin typeface="Calibri"/>
              <a:ea typeface="Calibri"/>
              <a:cs typeface="Calibri"/>
              <a:sym typeface="Calibri"/>
            </a:endParaRPr>
          </a:p>
        </p:txBody>
      </p:sp>
      <p:sp>
        <p:nvSpPr>
          <p:cNvPr id="1309" name="Google Shape;1309;p65"/>
          <p:cNvSpPr/>
          <p:nvPr/>
        </p:nvSpPr>
        <p:spPr>
          <a:xfrm>
            <a:off x="6623696" y="4833203"/>
            <a:ext cx="772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{{PI_T3_5_SA}}</a:t>
            </a:r>
            <a:endParaRPr sz="700" b="0" i="0" u="none" strike="noStrike" cap="none">
              <a:solidFill>
                <a:schemeClr val="dk1"/>
              </a:solidFill>
              <a:latin typeface="Calibri"/>
              <a:ea typeface="Calibri"/>
              <a:cs typeface="Calibri"/>
              <a:sym typeface="Calibri"/>
            </a:endParaRPr>
          </a:p>
        </p:txBody>
      </p:sp>
      <p:sp>
        <p:nvSpPr>
          <p:cNvPr id="1310" name="Google Shape;1310;p65"/>
          <p:cNvSpPr/>
          <p:nvPr/>
        </p:nvSpPr>
        <p:spPr>
          <a:xfrm>
            <a:off x="7288714" y="3856350"/>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{{PI_T3_1_FA}} / {{PI_T3_1_LA}}</a:t>
            </a:r>
            <a:endParaRPr sz="800" b="0" i="0" u="none" strike="noStrike" cap="none">
              <a:solidFill>
                <a:schemeClr val="dk1"/>
              </a:solidFill>
              <a:latin typeface="Calibri"/>
              <a:ea typeface="Calibri"/>
              <a:cs typeface="Calibri"/>
              <a:sym typeface="Calibri"/>
            </a:endParaRPr>
          </a:p>
        </p:txBody>
      </p:sp>
      <p:sp>
        <p:nvSpPr>
          <p:cNvPr id="1311" name="Google Shape;1311;p65"/>
          <p:cNvSpPr/>
          <p:nvPr/>
        </p:nvSpPr>
        <p:spPr>
          <a:xfrm>
            <a:off x="7293044" y="4099951"/>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{{PI_T3_2_FA}} / {{PI_T3_2_LA}}</a:t>
            </a:r>
            <a:endParaRPr sz="800" b="0" i="0" u="none" strike="noStrike" cap="none">
              <a:solidFill>
                <a:schemeClr val="dk1"/>
              </a:solidFill>
              <a:latin typeface="Calibri"/>
              <a:ea typeface="Calibri"/>
              <a:cs typeface="Calibri"/>
              <a:sym typeface="Calibri"/>
            </a:endParaRPr>
          </a:p>
        </p:txBody>
      </p:sp>
      <p:sp>
        <p:nvSpPr>
          <p:cNvPr id="1312" name="Google Shape;1312;p65"/>
          <p:cNvSpPr/>
          <p:nvPr/>
        </p:nvSpPr>
        <p:spPr>
          <a:xfrm>
            <a:off x="7297374" y="4343551"/>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{{PI_T3_3_FA}} / {{PI_T3_3_LA}}</a:t>
            </a:r>
            <a:endParaRPr sz="800" b="0" i="0" u="none" strike="noStrike" cap="none">
              <a:solidFill>
                <a:schemeClr val="dk1"/>
              </a:solidFill>
              <a:latin typeface="Calibri"/>
              <a:ea typeface="Calibri"/>
              <a:cs typeface="Calibri"/>
              <a:sym typeface="Calibri"/>
            </a:endParaRPr>
          </a:p>
        </p:txBody>
      </p:sp>
      <p:sp>
        <p:nvSpPr>
          <p:cNvPr id="1313" name="Google Shape;1313;p65"/>
          <p:cNvSpPr/>
          <p:nvPr/>
        </p:nvSpPr>
        <p:spPr>
          <a:xfrm>
            <a:off x="7306035" y="4587152"/>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{{PI_T3_4_FA}} / {{PI_T3_4_LA}}</a:t>
            </a:r>
            <a:endParaRPr sz="800" b="0" i="0" u="none" strike="noStrike" cap="none">
              <a:solidFill>
                <a:schemeClr val="dk1"/>
              </a:solidFill>
              <a:latin typeface="Calibri"/>
              <a:ea typeface="Calibri"/>
              <a:cs typeface="Calibri"/>
              <a:sym typeface="Calibri"/>
            </a:endParaRPr>
          </a:p>
        </p:txBody>
      </p:sp>
      <p:sp>
        <p:nvSpPr>
          <p:cNvPr id="1314" name="Google Shape;1314;p65"/>
          <p:cNvSpPr/>
          <p:nvPr/>
        </p:nvSpPr>
        <p:spPr>
          <a:xfrm>
            <a:off x="7301704" y="4830753"/>
            <a:ext cx="16212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{{PI_T3_5_FA}} / {{PI_T3_5_LA}}</a:t>
            </a:r>
            <a:endParaRPr sz="800" b="0" i="0" u="none" strike="noStrike" cap="none">
              <a:solidFill>
                <a:schemeClr val="dk1"/>
              </a:solidFill>
              <a:latin typeface="Calibri"/>
              <a:ea typeface="Calibri"/>
              <a:cs typeface="Calibri"/>
              <a:sym typeface="Calibri"/>
            </a:endParaRPr>
          </a:p>
        </p:txBody>
      </p:sp>
      <p:sp>
        <p:nvSpPr>
          <p:cNvPr id="1315" name="Google Shape;1315;p65"/>
          <p:cNvSpPr/>
          <p:nvPr/>
        </p:nvSpPr>
        <p:spPr>
          <a:xfrm>
            <a:off x="369464" y="2891186"/>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316" name="Google Shape;1316;p65"/>
          <p:cNvCxnSpPr/>
          <p:nvPr/>
        </p:nvCxnSpPr>
        <p:spPr>
          <a:xfrm>
            <a:off x="359833" y="3140736"/>
            <a:ext cx="3977700" cy="0"/>
          </a:xfrm>
          <a:prstGeom prst="straightConnector1">
            <a:avLst/>
          </a:prstGeom>
          <a:noFill/>
          <a:ln w="9525" cap="flat" cmpd="sng">
            <a:solidFill>
              <a:srgbClr val="E5E7EB"/>
            </a:solidFill>
            <a:prstDash val="solid"/>
            <a:round/>
            <a:headEnd type="none" w="sm" len="sm"/>
            <a:tailEnd type="none" w="sm" len="sm"/>
          </a:ln>
        </p:spPr>
      </p:cxnSp>
      <p:sp>
        <p:nvSpPr>
          <p:cNvPr id="1317" name="Google Shape;1317;p65"/>
          <p:cNvSpPr/>
          <p:nvPr/>
        </p:nvSpPr>
        <p:spPr>
          <a:xfrm>
            <a:off x="369460" y="2891182"/>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{{PI_T1_6}}</a:t>
            </a:r>
            <a:endParaRPr sz="800" b="0" i="0" u="none" strike="noStrike" cap="none">
              <a:solidFill>
                <a:schemeClr val="dk1"/>
              </a:solidFill>
              <a:latin typeface="Calibri"/>
              <a:ea typeface="Calibri"/>
              <a:cs typeface="Calibri"/>
              <a:sym typeface="Calibri"/>
            </a:endParaRPr>
          </a:p>
        </p:txBody>
      </p:sp>
      <p:cxnSp>
        <p:nvCxnSpPr>
          <p:cNvPr id="1318" name="Google Shape;1318;p65"/>
          <p:cNvCxnSpPr/>
          <p:nvPr/>
        </p:nvCxnSpPr>
        <p:spPr>
          <a:xfrm>
            <a:off x="347415" y="3134921"/>
            <a:ext cx="3977700" cy="0"/>
          </a:xfrm>
          <a:prstGeom prst="straightConnector1">
            <a:avLst/>
          </a:prstGeom>
          <a:noFill/>
          <a:ln w="9525" cap="flat" cmpd="sng">
            <a:solidFill>
              <a:srgbClr val="888888"/>
            </a:solidFill>
            <a:prstDash val="solid"/>
            <a:round/>
            <a:headEnd type="none" w="sm" len="sm"/>
            <a:tailEnd type="none" w="sm" len="sm"/>
          </a:ln>
        </p:spPr>
      </p:cxnSp>
      <p:sp>
        <p:nvSpPr>
          <p:cNvPr id="1319" name="Google Shape;1319;p65"/>
          <p:cNvSpPr/>
          <p:nvPr/>
        </p:nvSpPr>
        <p:spPr>
          <a:xfrm>
            <a:off x="2312547" y="2881313"/>
            <a:ext cx="736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{{PI_T1_6_SA}}</a:t>
            </a:r>
            <a:endParaRPr sz="700" b="0" i="0" u="none" strike="noStrike" cap="none">
              <a:solidFill>
                <a:schemeClr val="dk1"/>
              </a:solidFill>
              <a:latin typeface="Calibri"/>
              <a:ea typeface="Calibri"/>
              <a:cs typeface="Calibri"/>
              <a:sym typeface="Calibri"/>
            </a:endParaRPr>
          </a:p>
        </p:txBody>
      </p:sp>
      <p:sp>
        <p:nvSpPr>
          <p:cNvPr id="1320" name="Google Shape;1320;p65"/>
          <p:cNvSpPr/>
          <p:nvPr/>
        </p:nvSpPr>
        <p:spPr>
          <a:xfrm>
            <a:off x="2937042" y="2878863"/>
            <a:ext cx="15945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{{PI_T1_6_FA}} / {{PI_T1_6_LA}}</a:t>
            </a:r>
            <a:endParaRPr sz="800" b="0" i="0" u="none" strike="noStrike" cap="none">
              <a:solidFill>
                <a:schemeClr val="dk1"/>
              </a:solidFill>
              <a:latin typeface="Calibri"/>
              <a:ea typeface="Calibri"/>
              <a:cs typeface="Calibri"/>
              <a:sym typeface="Calibri"/>
            </a:endParaRPr>
          </a:p>
        </p:txBody>
      </p:sp>
      <p:sp>
        <p:nvSpPr>
          <p:cNvPr id="1321" name="Google Shape;1321;p65"/>
          <p:cNvSpPr/>
          <p:nvPr/>
        </p:nvSpPr>
        <p:spPr>
          <a:xfrm>
            <a:off x="380824" y="3156586"/>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322" name="Google Shape;1322;p65"/>
          <p:cNvCxnSpPr/>
          <p:nvPr/>
        </p:nvCxnSpPr>
        <p:spPr>
          <a:xfrm>
            <a:off x="371193" y="3406136"/>
            <a:ext cx="3977700" cy="0"/>
          </a:xfrm>
          <a:prstGeom prst="straightConnector1">
            <a:avLst/>
          </a:prstGeom>
          <a:noFill/>
          <a:ln w="9525" cap="flat" cmpd="sng">
            <a:solidFill>
              <a:srgbClr val="E5E7EB"/>
            </a:solidFill>
            <a:prstDash val="solid"/>
            <a:round/>
            <a:headEnd type="none" w="sm" len="sm"/>
            <a:tailEnd type="none" w="sm" len="sm"/>
          </a:ln>
        </p:spPr>
      </p:cxnSp>
      <p:sp>
        <p:nvSpPr>
          <p:cNvPr id="1323" name="Google Shape;1323;p65"/>
          <p:cNvSpPr/>
          <p:nvPr/>
        </p:nvSpPr>
        <p:spPr>
          <a:xfrm>
            <a:off x="380820" y="3156582"/>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{{PI_T1_7}}</a:t>
            </a:r>
            <a:endParaRPr sz="800" b="0" i="0" u="none" strike="noStrike" cap="none">
              <a:solidFill>
                <a:schemeClr val="dk1"/>
              </a:solidFill>
              <a:latin typeface="Calibri"/>
              <a:ea typeface="Calibri"/>
              <a:cs typeface="Calibri"/>
              <a:sym typeface="Calibri"/>
            </a:endParaRPr>
          </a:p>
        </p:txBody>
      </p:sp>
      <p:cxnSp>
        <p:nvCxnSpPr>
          <p:cNvPr id="1324" name="Google Shape;1324;p65"/>
          <p:cNvCxnSpPr/>
          <p:nvPr/>
        </p:nvCxnSpPr>
        <p:spPr>
          <a:xfrm>
            <a:off x="358775" y="3400321"/>
            <a:ext cx="3977700" cy="0"/>
          </a:xfrm>
          <a:prstGeom prst="straightConnector1">
            <a:avLst/>
          </a:prstGeom>
          <a:noFill/>
          <a:ln w="9525" cap="flat" cmpd="sng">
            <a:solidFill>
              <a:srgbClr val="888888"/>
            </a:solidFill>
            <a:prstDash val="solid"/>
            <a:round/>
            <a:headEnd type="none" w="sm" len="sm"/>
            <a:tailEnd type="none" w="sm" len="sm"/>
          </a:ln>
        </p:spPr>
      </p:cxnSp>
      <p:sp>
        <p:nvSpPr>
          <p:cNvPr id="1325" name="Google Shape;1325;p65"/>
          <p:cNvSpPr/>
          <p:nvPr/>
        </p:nvSpPr>
        <p:spPr>
          <a:xfrm>
            <a:off x="2323907" y="3146713"/>
            <a:ext cx="736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{{PI_T1_7_SA}}</a:t>
            </a:r>
            <a:endParaRPr sz="700" b="0" i="0" u="none" strike="noStrike" cap="none">
              <a:solidFill>
                <a:schemeClr val="dk1"/>
              </a:solidFill>
              <a:latin typeface="Calibri"/>
              <a:ea typeface="Calibri"/>
              <a:cs typeface="Calibri"/>
              <a:sym typeface="Calibri"/>
            </a:endParaRPr>
          </a:p>
        </p:txBody>
      </p:sp>
      <p:sp>
        <p:nvSpPr>
          <p:cNvPr id="1326" name="Google Shape;1326;p65"/>
          <p:cNvSpPr/>
          <p:nvPr/>
        </p:nvSpPr>
        <p:spPr>
          <a:xfrm>
            <a:off x="2948402" y="3144263"/>
            <a:ext cx="15945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{{PI_T1_7_FA}} / {{PI_T1_7_LA}}</a:t>
            </a:r>
            <a:endParaRPr sz="800" b="0" i="0" u="none" strike="noStrike" cap="none">
              <a:solidFill>
                <a:schemeClr val="dk1"/>
              </a:solidFill>
              <a:latin typeface="Calibri"/>
              <a:ea typeface="Calibri"/>
              <a:cs typeface="Calibri"/>
              <a:sym typeface="Calibri"/>
            </a:endParaRPr>
          </a:p>
        </p:txBody>
      </p:sp>
      <p:sp>
        <p:nvSpPr>
          <p:cNvPr id="1327" name="Google Shape;1327;p65"/>
          <p:cNvSpPr/>
          <p:nvPr/>
        </p:nvSpPr>
        <p:spPr>
          <a:xfrm>
            <a:off x="377476" y="3421986"/>
            <a:ext cx="3977700" cy="246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328" name="Google Shape;1328;p65"/>
          <p:cNvCxnSpPr/>
          <p:nvPr/>
        </p:nvCxnSpPr>
        <p:spPr>
          <a:xfrm>
            <a:off x="367845" y="3671536"/>
            <a:ext cx="3977700" cy="0"/>
          </a:xfrm>
          <a:prstGeom prst="straightConnector1">
            <a:avLst/>
          </a:prstGeom>
          <a:noFill/>
          <a:ln w="9525" cap="flat" cmpd="sng">
            <a:solidFill>
              <a:srgbClr val="E5E7EB"/>
            </a:solidFill>
            <a:prstDash val="solid"/>
            <a:round/>
            <a:headEnd type="none" w="sm" len="sm"/>
            <a:tailEnd type="none" w="sm" len="sm"/>
          </a:ln>
        </p:spPr>
      </p:cxnSp>
      <p:sp>
        <p:nvSpPr>
          <p:cNvPr id="1329" name="Google Shape;1329;p65"/>
          <p:cNvSpPr/>
          <p:nvPr/>
        </p:nvSpPr>
        <p:spPr>
          <a:xfrm>
            <a:off x="377472" y="3421982"/>
            <a:ext cx="2061600" cy="246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{{PI_T1_8}}</a:t>
            </a:r>
            <a:endParaRPr sz="800" b="0" i="0" u="none" strike="noStrike" cap="none">
              <a:solidFill>
                <a:schemeClr val="dk1"/>
              </a:solidFill>
              <a:latin typeface="Calibri"/>
              <a:ea typeface="Calibri"/>
              <a:cs typeface="Calibri"/>
              <a:sym typeface="Calibri"/>
            </a:endParaRPr>
          </a:p>
        </p:txBody>
      </p:sp>
      <p:cxnSp>
        <p:nvCxnSpPr>
          <p:cNvPr id="1330" name="Google Shape;1330;p65"/>
          <p:cNvCxnSpPr/>
          <p:nvPr/>
        </p:nvCxnSpPr>
        <p:spPr>
          <a:xfrm>
            <a:off x="355427" y="3665721"/>
            <a:ext cx="3977700" cy="0"/>
          </a:xfrm>
          <a:prstGeom prst="straightConnector1">
            <a:avLst/>
          </a:prstGeom>
          <a:noFill/>
          <a:ln w="9525" cap="flat" cmpd="sng">
            <a:solidFill>
              <a:srgbClr val="888888"/>
            </a:solidFill>
            <a:prstDash val="solid"/>
            <a:round/>
            <a:headEnd type="none" w="sm" len="sm"/>
            <a:tailEnd type="none" w="sm" len="sm"/>
          </a:ln>
        </p:spPr>
      </p:cxnSp>
      <p:sp>
        <p:nvSpPr>
          <p:cNvPr id="1331" name="Google Shape;1331;p65"/>
          <p:cNvSpPr/>
          <p:nvPr/>
        </p:nvSpPr>
        <p:spPr>
          <a:xfrm>
            <a:off x="2320559" y="3412113"/>
            <a:ext cx="7368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{{PI_T1_8_SA}}</a:t>
            </a:r>
            <a:endParaRPr sz="700" b="0" i="0" u="none" strike="noStrike" cap="none">
              <a:solidFill>
                <a:schemeClr val="dk1"/>
              </a:solidFill>
              <a:latin typeface="Calibri"/>
              <a:ea typeface="Calibri"/>
              <a:cs typeface="Calibri"/>
              <a:sym typeface="Calibri"/>
            </a:endParaRPr>
          </a:p>
        </p:txBody>
      </p:sp>
      <p:sp>
        <p:nvSpPr>
          <p:cNvPr id="1332" name="Google Shape;1332;p65"/>
          <p:cNvSpPr/>
          <p:nvPr/>
        </p:nvSpPr>
        <p:spPr>
          <a:xfrm>
            <a:off x="2945054" y="3409663"/>
            <a:ext cx="1594500" cy="24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2937"/>
              </a:buClr>
              <a:buSzPts val="700"/>
              <a:buFont typeface="DM Sans"/>
              <a:buNone/>
            </a:pPr>
            <a:r>
              <a:rPr lang="en" sz="800" b="0" i="0" u="none" strike="noStrike" cap="none">
                <a:solidFill>
                  <a:srgbClr val="1F2937"/>
                </a:solidFill>
                <a:latin typeface="DM Sans"/>
                <a:ea typeface="DM Sans"/>
                <a:cs typeface="DM Sans"/>
                <a:sym typeface="DM Sans"/>
              </a:rPr>
              <a:t>{{PI_T1_8_FA}} / {{PI_T1_8_LA}}</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1337"/>
        <p:cNvGrpSpPr/>
        <p:nvPr/>
      </p:nvGrpSpPr>
      <p:grpSpPr>
        <a:xfrm>
          <a:off x="0" y="0"/>
          <a:ext cx="0" cy="0"/>
          <a:chOff x="0" y="0"/>
          <a:chExt cx="0" cy="0"/>
        </a:xfrm>
      </p:grpSpPr>
      <p:pic>
        <p:nvPicPr>
          <p:cNvPr id="1338" name="Google Shape;1338;p66" title="Rectangle 7854.png"/>
          <p:cNvPicPr preferRelativeResize="0"/>
          <p:nvPr/>
        </p:nvPicPr>
        <p:blipFill rotWithShape="1">
          <a:blip r:embed="rId3">
            <a:alphaModFix/>
          </a:blip>
          <a:srcRect/>
          <a:stretch/>
        </p:blipFill>
        <p:spPr>
          <a:xfrm>
            <a:off x="3237298" y="1837850"/>
            <a:ext cx="2669404" cy="3050125"/>
          </a:xfrm>
          <a:prstGeom prst="rect">
            <a:avLst/>
          </a:prstGeom>
          <a:noFill/>
          <a:ln>
            <a:noFill/>
          </a:ln>
        </p:spPr>
      </p:pic>
      <p:pic>
        <p:nvPicPr>
          <p:cNvPr id="1339" name="Google Shape;1339;p66" title="Rectangle 7854.png"/>
          <p:cNvPicPr preferRelativeResize="0"/>
          <p:nvPr/>
        </p:nvPicPr>
        <p:blipFill rotWithShape="1">
          <a:blip r:embed="rId3">
            <a:alphaModFix/>
          </a:blip>
          <a:srcRect/>
          <a:stretch/>
        </p:blipFill>
        <p:spPr>
          <a:xfrm>
            <a:off x="357125" y="1837850"/>
            <a:ext cx="2669404" cy="3050125"/>
          </a:xfrm>
          <a:prstGeom prst="rect">
            <a:avLst/>
          </a:prstGeom>
          <a:noFill/>
          <a:ln>
            <a:noFill/>
          </a:ln>
        </p:spPr>
      </p:pic>
      <p:cxnSp>
        <p:nvCxnSpPr>
          <p:cNvPr id="1340" name="Google Shape;1340;p66"/>
          <p:cNvCxnSpPr/>
          <p:nvPr/>
        </p:nvCxnSpPr>
        <p:spPr>
          <a:xfrm>
            <a:off x="630575" y="3063399"/>
            <a:ext cx="2122500" cy="0"/>
          </a:xfrm>
          <a:prstGeom prst="straightConnector1">
            <a:avLst/>
          </a:prstGeom>
          <a:noFill/>
          <a:ln w="9525" cap="flat" cmpd="sng">
            <a:solidFill>
              <a:srgbClr val="0254EC"/>
            </a:solidFill>
            <a:prstDash val="solid"/>
            <a:round/>
            <a:headEnd type="none" w="sm" len="sm"/>
            <a:tailEnd type="none" w="sm" len="sm"/>
          </a:ln>
        </p:spPr>
      </p:cxnSp>
      <p:sp>
        <p:nvSpPr>
          <p:cNvPr id="1341" name="Google Shape;1341;p66"/>
          <p:cNvSpPr txBox="1"/>
          <p:nvPr/>
        </p:nvSpPr>
        <p:spPr>
          <a:xfrm>
            <a:off x="357125" y="3164537"/>
            <a:ext cx="2641800" cy="1539900"/>
          </a:xfrm>
          <a:prstGeom prst="rect">
            <a:avLst/>
          </a:prstGeom>
          <a:noFill/>
          <a:ln>
            <a:noFill/>
          </a:ln>
        </p:spPr>
        <p:txBody>
          <a:bodyPr spcFirstLastPara="1" wrap="square" lIns="68575" tIns="34275" rIns="68575" bIns="34275" anchor="t" anchorCtr="0">
            <a:no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1" i="0" u="none" strike="noStrike" cap="none">
                <a:solidFill>
                  <a:srgbClr val="01123F"/>
                </a:solidFill>
                <a:latin typeface="Poppins"/>
                <a:ea typeface="Poppins"/>
                <a:cs typeface="Poppins"/>
                <a:sym typeface="Poppins"/>
              </a:rPr>
              <a:t>An unscanned resource</a:t>
            </a:r>
            <a:r>
              <a:rPr lang="en" sz="900" b="0" i="0" u="none" strike="noStrike" cap="none">
                <a:solidFill>
                  <a:srgbClr val="01123F"/>
                </a:solidFill>
                <a:latin typeface="Poppins Light"/>
                <a:ea typeface="Poppins Light"/>
                <a:cs typeface="Poppins Light"/>
                <a:sym typeface="Poppins Light"/>
              </a:rPr>
              <a:t> is one in which </a:t>
            </a:r>
            <a:r>
              <a:rPr lang="en" sz="900" b="0" i="0" u="none" strike="noStrike" cap="none">
                <a:solidFill>
                  <a:schemeClr val="dk1"/>
                </a:solidFill>
                <a:highlight>
                  <a:srgbClr val="FFFFFF"/>
                </a:highlight>
                <a:latin typeface="Poppins Light"/>
                <a:ea typeface="Poppins Light"/>
                <a:cs typeface="Poppins Light"/>
                <a:sym typeface="Poppins Light"/>
              </a:rPr>
              <a:t>Wiz can identify but cannot directly scan, such as unconnected repositories, cloud accounts, and organizations.</a:t>
            </a:r>
            <a:r>
              <a:rPr lang="en" sz="900" b="0" i="0" u="none" strike="noStrike" cap="none">
                <a:solidFill>
                  <a:schemeClr val="dk1"/>
                </a:solidFill>
                <a:latin typeface="Poppins Light"/>
                <a:ea typeface="Poppins Light"/>
                <a:cs typeface="Poppins Light"/>
                <a:sym typeface="Poppins Light"/>
              </a:rPr>
              <a:t> </a:t>
            </a:r>
            <a:endParaRPr sz="900" b="0" i="0" u="none" strike="noStrike" cap="none">
              <a:solidFill>
                <a:schemeClr val="dk1"/>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Classify </a:t>
            </a:r>
            <a:r>
              <a:rPr lang="en" sz="900" b="0" i="0" u="none" strike="noStrike" cap="none">
                <a:solidFill>
                  <a:schemeClr val="dk1"/>
                </a:solidFill>
                <a:highlight>
                  <a:srgbClr val="FFFFFF"/>
                </a:highlight>
                <a:latin typeface="Poppins Light"/>
                <a:ea typeface="Poppins Light"/>
                <a:cs typeface="Poppins Light"/>
                <a:sym typeface="Poppins Light"/>
              </a:rPr>
              <a:t>these resources, determine if they belong to your organization or a third party, and identify gaps in your security coverage.</a:t>
            </a:r>
            <a:r>
              <a:rPr lang="en" sz="900" b="0" i="0" u="none" strike="noStrike" cap="none">
                <a:solidFill>
                  <a:schemeClr val="dk1"/>
                </a:solidFill>
                <a:latin typeface="Poppins Light"/>
                <a:ea typeface="Poppins Light"/>
                <a:cs typeface="Poppins Light"/>
                <a:sym typeface="Poppins Light"/>
              </a:rPr>
              <a:t> </a:t>
            </a:r>
            <a:endParaRPr sz="900" b="0" i="0" u="none" strike="noStrike" cap="none">
              <a:solidFill>
                <a:schemeClr val="dk1"/>
              </a:solidFill>
              <a:latin typeface="Poppins Light"/>
              <a:ea typeface="Poppins Light"/>
              <a:cs typeface="Poppins Light"/>
              <a:sym typeface="Poppins Light"/>
            </a:endParaRPr>
          </a:p>
        </p:txBody>
      </p:sp>
      <p:cxnSp>
        <p:nvCxnSpPr>
          <p:cNvPr id="1342" name="Google Shape;1342;p66"/>
          <p:cNvCxnSpPr/>
          <p:nvPr/>
        </p:nvCxnSpPr>
        <p:spPr>
          <a:xfrm>
            <a:off x="3510750" y="3063399"/>
            <a:ext cx="2122500" cy="0"/>
          </a:xfrm>
          <a:prstGeom prst="straightConnector1">
            <a:avLst/>
          </a:prstGeom>
          <a:noFill/>
          <a:ln w="9525" cap="flat" cmpd="sng">
            <a:solidFill>
              <a:srgbClr val="0254EC"/>
            </a:solidFill>
            <a:prstDash val="solid"/>
            <a:round/>
            <a:headEnd type="none" w="sm" len="sm"/>
            <a:tailEnd type="none" w="sm" len="sm"/>
          </a:ln>
        </p:spPr>
      </p:cxnSp>
      <p:pic>
        <p:nvPicPr>
          <p:cNvPr id="1343" name="Google Shape;1343;p66" title="Rectangle 7854.png"/>
          <p:cNvPicPr preferRelativeResize="0"/>
          <p:nvPr/>
        </p:nvPicPr>
        <p:blipFill rotWithShape="1">
          <a:blip r:embed="rId3">
            <a:alphaModFix/>
          </a:blip>
          <a:srcRect/>
          <a:stretch/>
        </p:blipFill>
        <p:spPr>
          <a:xfrm>
            <a:off x="6117471" y="1837850"/>
            <a:ext cx="2669404" cy="3050125"/>
          </a:xfrm>
          <a:prstGeom prst="rect">
            <a:avLst/>
          </a:prstGeom>
          <a:noFill/>
          <a:ln>
            <a:noFill/>
          </a:ln>
        </p:spPr>
      </p:pic>
      <p:cxnSp>
        <p:nvCxnSpPr>
          <p:cNvPr id="1344" name="Google Shape;1344;p66"/>
          <p:cNvCxnSpPr/>
          <p:nvPr/>
        </p:nvCxnSpPr>
        <p:spPr>
          <a:xfrm>
            <a:off x="6390925" y="3063399"/>
            <a:ext cx="2122500" cy="0"/>
          </a:xfrm>
          <a:prstGeom prst="straightConnector1">
            <a:avLst/>
          </a:prstGeom>
          <a:noFill/>
          <a:ln w="9525" cap="flat" cmpd="sng">
            <a:solidFill>
              <a:srgbClr val="0254EC"/>
            </a:solidFill>
            <a:prstDash val="solid"/>
            <a:round/>
            <a:headEnd type="none" w="sm" len="sm"/>
            <a:tailEnd type="none" w="sm" len="sm"/>
          </a:ln>
        </p:spPr>
      </p:cxnSp>
      <p:sp>
        <p:nvSpPr>
          <p:cNvPr id="1345" name="Google Shape;1345;p66"/>
          <p:cNvSpPr txBox="1"/>
          <p:nvPr/>
        </p:nvSpPr>
        <p:spPr>
          <a:xfrm>
            <a:off x="3269550" y="3164537"/>
            <a:ext cx="2599800" cy="1618500"/>
          </a:xfrm>
          <a:prstGeom prst="rect">
            <a:avLst/>
          </a:prstGeom>
          <a:noFill/>
          <a:ln>
            <a:noFill/>
          </a:ln>
        </p:spPr>
        <p:txBody>
          <a:bodyPr spcFirstLastPara="1" wrap="square" lIns="68575" tIns="34275" rIns="68575" bIns="34275" anchor="t" anchorCtr="0">
            <a:norm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1" i="0" u="none" strike="noStrike" cap="none">
                <a:solidFill>
                  <a:srgbClr val="01123F"/>
                </a:solidFill>
                <a:latin typeface="Poppins"/>
                <a:ea typeface="Poppins"/>
                <a:cs typeface="Poppins"/>
                <a:sym typeface="Poppins"/>
              </a:rPr>
              <a:t>Enable DSPM more widely</a:t>
            </a:r>
            <a:r>
              <a:rPr lang="en" sz="900" b="0" i="0" u="none" strike="noStrike" cap="none">
                <a:solidFill>
                  <a:srgbClr val="01123F"/>
                </a:solidFill>
                <a:latin typeface="Poppins Light"/>
                <a:ea typeface="Poppins Light"/>
                <a:cs typeface="Poppins Light"/>
                <a:sym typeface="Poppins Light"/>
              </a:rPr>
              <a:t> to extend visibility to your sensitive data and complement your existing tools. Discover PII, PHI and PCI across private buckets, PaaS, IaaS and AI buckets.</a:t>
            </a:r>
            <a:endParaRPr sz="900" b="0" i="0" u="none" strike="noStrike" cap="none">
              <a:solidFill>
                <a:srgbClr val="01123F"/>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1" i="0" u="none" strike="noStrike" cap="none">
                <a:solidFill>
                  <a:srgbClr val="01123F"/>
                </a:solidFill>
                <a:latin typeface="Poppins"/>
                <a:ea typeface="Poppins"/>
                <a:cs typeface="Poppins"/>
                <a:sym typeface="Poppins"/>
              </a:rPr>
              <a:t>Enable Near Real-Time Scanning</a:t>
            </a:r>
            <a:r>
              <a:rPr lang="en" sz="900" b="0" i="0" u="none" strike="noStrike" cap="none">
                <a:solidFill>
                  <a:srgbClr val="01123F"/>
                </a:solidFill>
                <a:latin typeface="Poppins Light"/>
                <a:ea typeface="Poppins Light"/>
                <a:cs typeface="Poppins Light"/>
                <a:sym typeface="Poppins Light"/>
              </a:rPr>
              <a:t> to cut misconfiguration detection from 24-hour to an hour or less.</a:t>
            </a:r>
            <a:endParaRPr sz="900" b="0" i="0" u="none" strike="noStrike" cap="none">
              <a:solidFill>
                <a:srgbClr val="01123F"/>
              </a:solidFill>
              <a:latin typeface="Poppins Light"/>
              <a:ea typeface="Poppins Light"/>
              <a:cs typeface="Poppins Light"/>
              <a:sym typeface="Poppins Light"/>
            </a:endParaRPr>
          </a:p>
        </p:txBody>
      </p:sp>
      <p:sp>
        <p:nvSpPr>
          <p:cNvPr id="1346" name="Google Shape;1346;p66"/>
          <p:cNvSpPr txBox="1"/>
          <p:nvPr/>
        </p:nvSpPr>
        <p:spPr>
          <a:xfrm>
            <a:off x="6131275" y="3177641"/>
            <a:ext cx="2641800" cy="1684200"/>
          </a:xfrm>
          <a:prstGeom prst="rect">
            <a:avLst/>
          </a:prstGeom>
          <a:noFill/>
          <a:ln>
            <a:noFill/>
          </a:ln>
        </p:spPr>
        <p:txBody>
          <a:bodyPr spcFirstLastPara="1" wrap="square" lIns="68575" tIns="34275" rIns="68575" bIns="34275" anchor="t" anchorCtr="0">
            <a:normAutofit/>
          </a:bodyPr>
          <a:lstStyle/>
          <a:p>
            <a:pPr marL="274320" marR="0" lvl="0" indent="-83820" algn="l" rtl="0">
              <a:lnSpc>
                <a:spcPct val="112000"/>
              </a:lnSpc>
              <a:spcBef>
                <a:spcPts val="0"/>
              </a:spcBef>
              <a:spcAft>
                <a:spcPts val="0"/>
              </a:spcAft>
              <a:buClr>
                <a:srgbClr val="01123F"/>
              </a:buClr>
              <a:buSzPts val="600"/>
              <a:buFont typeface="Poppins Light"/>
              <a:buChar char="●"/>
            </a:pPr>
            <a:r>
              <a:rPr lang="en" sz="900" b="1" i="0" u="none" strike="noStrike" cap="none">
                <a:solidFill>
                  <a:srgbClr val="01123F"/>
                </a:solidFill>
                <a:latin typeface="Poppins"/>
                <a:ea typeface="Poppins"/>
                <a:cs typeface="Poppins"/>
                <a:sym typeface="Poppins"/>
              </a:rPr>
              <a:t>Enable</a:t>
            </a:r>
            <a:r>
              <a:rPr lang="en" sz="900" b="0" i="0" u="none" strike="noStrike" cap="none">
                <a:solidFill>
                  <a:srgbClr val="01123F"/>
                </a:solidFill>
                <a:latin typeface="Poppins Light"/>
                <a:ea typeface="Poppins Light"/>
                <a:cs typeface="Poppins Light"/>
                <a:sym typeface="Poppins Light"/>
              </a:rPr>
              <a:t> </a:t>
            </a:r>
            <a:r>
              <a:rPr lang="en" sz="900" b="1" i="0" u="none" strike="noStrike" cap="none">
                <a:solidFill>
                  <a:srgbClr val="01123F"/>
                </a:solidFill>
                <a:latin typeface="Poppins"/>
                <a:ea typeface="Poppins"/>
                <a:cs typeface="Poppins"/>
                <a:sym typeface="Poppins"/>
              </a:rPr>
              <a:t>Akamai Connector </a:t>
            </a:r>
            <a:r>
              <a:rPr lang="en" sz="900" b="0" i="0" u="none" strike="noStrike" cap="none">
                <a:solidFill>
                  <a:srgbClr val="01123F"/>
                </a:solidFill>
                <a:latin typeface="Poppins Light"/>
                <a:ea typeface="Poppins Light"/>
                <a:cs typeface="Poppins Light"/>
                <a:sym typeface="Poppins Light"/>
              </a:rPr>
              <a:t>provide better visibility in terms of exposure</a:t>
            </a:r>
            <a:endParaRPr sz="900" b="0" i="0" u="none" strike="noStrike" cap="none">
              <a:solidFill>
                <a:srgbClr val="01123F"/>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1" i="0" u="none" strike="noStrike" cap="none">
                <a:solidFill>
                  <a:srgbClr val="01123F"/>
                </a:solidFill>
                <a:latin typeface="Poppins"/>
                <a:ea typeface="Poppins"/>
                <a:cs typeface="Poppins"/>
                <a:sym typeface="Poppins"/>
              </a:rPr>
              <a:t>Fold in third-party telemetry</a:t>
            </a:r>
            <a:r>
              <a:rPr lang="en" sz="900" b="0" i="0" u="none" strike="noStrike" cap="none">
                <a:solidFill>
                  <a:srgbClr val="01123F"/>
                </a:solidFill>
                <a:latin typeface="Poppins Light"/>
                <a:ea typeface="Poppins Light"/>
                <a:cs typeface="Poppins Light"/>
                <a:sym typeface="Poppins Light"/>
              </a:rPr>
              <a:t>. Integrating with additional tools to provide stronger attribution. I.e. Pull findings from tools like ServiceNow, Armorcode, Crowdstrike, etc.) across cloud and on-prem.</a:t>
            </a:r>
            <a:endParaRPr sz="900" b="0" i="0" u="none" strike="noStrike" cap="none">
              <a:solidFill>
                <a:srgbClr val="01123F"/>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Normalize, deduplicate and enrich existing Wiz data, in one view.</a:t>
            </a:r>
            <a:endParaRPr sz="900" b="0" i="0" u="none" strike="noStrike" cap="none">
              <a:solidFill>
                <a:srgbClr val="01123F"/>
              </a:solidFill>
              <a:latin typeface="Poppins Light"/>
              <a:ea typeface="Poppins Light"/>
              <a:cs typeface="Poppins Light"/>
              <a:sym typeface="Poppins Light"/>
            </a:endParaRPr>
          </a:p>
        </p:txBody>
      </p:sp>
      <p:sp>
        <p:nvSpPr>
          <p:cNvPr id="1347" name="Google Shape;1347;p66"/>
          <p:cNvSpPr txBox="1"/>
          <p:nvPr/>
        </p:nvSpPr>
        <p:spPr>
          <a:xfrm>
            <a:off x="6243025" y="2624673"/>
            <a:ext cx="2418300" cy="2733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Poppins SemiBold"/>
                <a:ea typeface="Poppins SemiBold"/>
                <a:cs typeface="Poppins SemiBold"/>
                <a:sym typeface="Poppins SemiBold"/>
              </a:rPr>
              <a:t>Expand Coverage 3rd Party Resources &amp; Telemetry</a:t>
            </a:r>
            <a:endParaRPr sz="1000" b="0" i="0" u="none" strike="noStrike" cap="none">
              <a:solidFill>
                <a:schemeClr val="dk1"/>
              </a:solidFill>
              <a:latin typeface="Poppins SemiBold"/>
              <a:ea typeface="Poppins SemiBold"/>
              <a:cs typeface="Poppins SemiBold"/>
              <a:sym typeface="Poppins SemiBold"/>
            </a:endParaRPr>
          </a:p>
        </p:txBody>
      </p:sp>
      <p:sp>
        <p:nvSpPr>
          <p:cNvPr id="1348" name="Google Shape;1348;p66"/>
          <p:cNvSpPr txBox="1">
            <a:spLocks noGrp="1"/>
          </p:cNvSpPr>
          <p:nvPr>
            <p:ph type="title" idx="4294967295"/>
          </p:nvPr>
        </p:nvSpPr>
        <p:spPr>
          <a:xfrm>
            <a:off x="0" y="535725"/>
            <a:ext cx="9144000" cy="6840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chemeClr val="dk1"/>
              </a:buClr>
              <a:buSzPts val="1100"/>
              <a:buFont typeface="Arial"/>
              <a:buNone/>
            </a:pPr>
            <a:r>
              <a:rPr lang="en" sz="2420">
                <a:latin typeface="Poppins Light"/>
                <a:ea typeface="Poppins Light"/>
                <a:cs typeface="Poppins Light"/>
                <a:sym typeface="Poppins Light"/>
              </a:rPr>
              <a:t>Top Three Focus Areas to Improve</a:t>
            </a:r>
            <a:endParaRPr sz="2420">
              <a:latin typeface="Poppins Light"/>
              <a:ea typeface="Poppins Light"/>
              <a:cs typeface="Poppins Light"/>
              <a:sym typeface="Poppins Light"/>
            </a:endParaRPr>
          </a:p>
          <a:p>
            <a:pPr marL="0" lvl="0" indent="0" algn="ctr" rtl="0">
              <a:lnSpc>
                <a:spcPct val="100000"/>
              </a:lnSpc>
              <a:spcBef>
                <a:spcPts val="0"/>
              </a:spcBef>
              <a:spcAft>
                <a:spcPts val="0"/>
              </a:spcAft>
              <a:buClr>
                <a:schemeClr val="dk1"/>
              </a:buClr>
              <a:buSzPts val="1100"/>
              <a:buFont typeface="Arial"/>
              <a:buNone/>
            </a:pPr>
            <a:r>
              <a:rPr lang="en" sz="2420">
                <a:latin typeface="Poppins Light"/>
                <a:ea typeface="Poppins Light"/>
                <a:cs typeface="Poppins Light"/>
                <a:sym typeface="Poppins Light"/>
              </a:rPr>
              <a:t>Cloud Visibility &amp; Coverage</a:t>
            </a:r>
            <a:endParaRPr sz="2420">
              <a:latin typeface="Poppins Light"/>
              <a:ea typeface="Poppins Light"/>
              <a:cs typeface="Poppins Light"/>
              <a:sym typeface="Poppins Light"/>
            </a:endParaRPr>
          </a:p>
        </p:txBody>
      </p:sp>
      <p:pic>
        <p:nvPicPr>
          <p:cNvPr id="1349" name="Google Shape;1349;p66"/>
          <p:cNvPicPr preferRelativeResize="0"/>
          <p:nvPr/>
        </p:nvPicPr>
        <p:blipFill rotWithShape="1">
          <a:blip r:embed="rId4">
            <a:alphaModFix/>
          </a:blip>
          <a:srcRect/>
          <a:stretch/>
        </p:blipFill>
        <p:spPr>
          <a:xfrm>
            <a:off x="1326966" y="1926775"/>
            <a:ext cx="729718" cy="693550"/>
          </a:xfrm>
          <a:prstGeom prst="rect">
            <a:avLst/>
          </a:prstGeom>
          <a:noFill/>
          <a:ln>
            <a:noFill/>
          </a:ln>
        </p:spPr>
      </p:pic>
      <p:pic>
        <p:nvPicPr>
          <p:cNvPr id="1350" name="Google Shape;1350;p66"/>
          <p:cNvPicPr preferRelativeResize="0"/>
          <p:nvPr/>
        </p:nvPicPr>
        <p:blipFill rotWithShape="1">
          <a:blip r:embed="rId5">
            <a:alphaModFix/>
          </a:blip>
          <a:srcRect/>
          <a:stretch/>
        </p:blipFill>
        <p:spPr>
          <a:xfrm>
            <a:off x="4225225" y="1913375"/>
            <a:ext cx="693550" cy="693550"/>
          </a:xfrm>
          <a:prstGeom prst="rect">
            <a:avLst/>
          </a:prstGeom>
          <a:noFill/>
          <a:ln>
            <a:noFill/>
          </a:ln>
        </p:spPr>
      </p:pic>
      <p:pic>
        <p:nvPicPr>
          <p:cNvPr id="1351" name="Google Shape;1351;p66" title="Group 1000002779.png"/>
          <p:cNvPicPr preferRelativeResize="0"/>
          <p:nvPr/>
        </p:nvPicPr>
        <p:blipFill rotWithShape="1">
          <a:blip r:embed="rId6">
            <a:alphaModFix/>
          </a:blip>
          <a:srcRect/>
          <a:stretch/>
        </p:blipFill>
        <p:spPr>
          <a:xfrm>
            <a:off x="7043298" y="1991749"/>
            <a:ext cx="817750" cy="563600"/>
          </a:xfrm>
          <a:prstGeom prst="rect">
            <a:avLst/>
          </a:prstGeom>
          <a:noFill/>
          <a:ln>
            <a:noFill/>
          </a:ln>
        </p:spPr>
      </p:pic>
      <p:sp>
        <p:nvSpPr>
          <p:cNvPr id="1352" name="Google Shape;1352;p66"/>
          <p:cNvSpPr txBox="1"/>
          <p:nvPr/>
        </p:nvSpPr>
        <p:spPr>
          <a:xfrm>
            <a:off x="482675" y="2640997"/>
            <a:ext cx="2418300" cy="2733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Poppins SemiBold"/>
                <a:ea typeface="Poppins SemiBold"/>
                <a:cs typeface="Poppins SemiBold"/>
                <a:sym typeface="Poppins SemiBold"/>
              </a:rPr>
              <a:t>Review Unscanned </a:t>
            </a:r>
            <a:br>
              <a:rPr lang="en" sz="1000" b="0" i="0" u="none" strike="noStrike" cap="none">
                <a:solidFill>
                  <a:schemeClr val="dk1"/>
                </a:solidFill>
                <a:latin typeface="Poppins SemiBold"/>
                <a:ea typeface="Poppins SemiBold"/>
                <a:cs typeface="Poppins SemiBold"/>
                <a:sym typeface="Poppins SemiBold"/>
              </a:rPr>
            </a:br>
            <a:r>
              <a:rPr lang="en" sz="1000" b="0" i="0" u="none" strike="noStrike" cap="none">
                <a:solidFill>
                  <a:schemeClr val="dk1"/>
                </a:solidFill>
                <a:latin typeface="Poppins SemiBold"/>
                <a:ea typeface="Poppins SemiBold"/>
                <a:cs typeface="Poppins SemiBold"/>
                <a:sym typeface="Poppins SemiBold"/>
              </a:rPr>
              <a:t>Resources for Coverage Gaps</a:t>
            </a:r>
            <a:endParaRPr sz="1000" b="0" i="0" u="none" strike="noStrike" cap="none">
              <a:solidFill>
                <a:schemeClr val="dk1"/>
              </a:solidFill>
              <a:latin typeface="Poppins SemiBold"/>
              <a:ea typeface="Poppins SemiBold"/>
              <a:cs typeface="Poppins SemiBold"/>
              <a:sym typeface="Poppins SemiBold"/>
            </a:endParaRPr>
          </a:p>
        </p:txBody>
      </p:sp>
      <p:sp>
        <p:nvSpPr>
          <p:cNvPr id="1353" name="Google Shape;1353;p66"/>
          <p:cNvSpPr txBox="1"/>
          <p:nvPr/>
        </p:nvSpPr>
        <p:spPr>
          <a:xfrm>
            <a:off x="3362850" y="2627164"/>
            <a:ext cx="2418300" cy="2733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Poppins SemiBold"/>
                <a:ea typeface="Poppins SemiBold"/>
                <a:cs typeface="Poppins SemiBold"/>
                <a:sym typeface="Poppins SemiBold"/>
              </a:rPr>
              <a:t>Adopt Additional Features &amp; Functionality in Wiz</a:t>
            </a:r>
            <a:endParaRPr sz="1000" b="0" i="0" u="none" strike="noStrike" cap="none">
              <a:solidFill>
                <a:schemeClr val="dk1"/>
              </a:solidFill>
              <a:latin typeface="Poppins SemiBold"/>
              <a:ea typeface="Poppins SemiBold"/>
              <a:cs typeface="Poppins SemiBold"/>
              <a:sym typeface="Poppins SemiBo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1358"/>
        <p:cNvGrpSpPr/>
        <p:nvPr/>
      </p:nvGrpSpPr>
      <p:grpSpPr>
        <a:xfrm>
          <a:off x="0" y="0"/>
          <a:ext cx="0" cy="0"/>
          <a:chOff x="0" y="0"/>
          <a:chExt cx="0" cy="0"/>
        </a:xfrm>
      </p:grpSpPr>
      <p:pic>
        <p:nvPicPr>
          <p:cNvPr id="1359" name="Google Shape;1359;p67" title="Rectangle 7854.png"/>
          <p:cNvPicPr preferRelativeResize="0"/>
          <p:nvPr/>
        </p:nvPicPr>
        <p:blipFill rotWithShape="1">
          <a:blip r:embed="rId3">
            <a:alphaModFix/>
          </a:blip>
          <a:srcRect/>
          <a:stretch/>
        </p:blipFill>
        <p:spPr>
          <a:xfrm>
            <a:off x="3237297" y="1445495"/>
            <a:ext cx="2669405" cy="2471275"/>
          </a:xfrm>
          <a:prstGeom prst="rect">
            <a:avLst/>
          </a:prstGeom>
          <a:noFill/>
          <a:ln>
            <a:noFill/>
          </a:ln>
        </p:spPr>
      </p:pic>
      <p:pic>
        <p:nvPicPr>
          <p:cNvPr id="1360" name="Google Shape;1360;p67" title="Rectangle 7854.png"/>
          <p:cNvPicPr preferRelativeResize="0"/>
          <p:nvPr/>
        </p:nvPicPr>
        <p:blipFill rotWithShape="1">
          <a:blip r:embed="rId3">
            <a:alphaModFix/>
          </a:blip>
          <a:srcRect/>
          <a:stretch/>
        </p:blipFill>
        <p:spPr>
          <a:xfrm>
            <a:off x="357122" y="1445495"/>
            <a:ext cx="2669405" cy="2471275"/>
          </a:xfrm>
          <a:prstGeom prst="rect">
            <a:avLst/>
          </a:prstGeom>
          <a:noFill/>
          <a:ln>
            <a:noFill/>
          </a:ln>
        </p:spPr>
      </p:pic>
      <p:cxnSp>
        <p:nvCxnSpPr>
          <p:cNvPr id="1361" name="Google Shape;1361;p67"/>
          <p:cNvCxnSpPr/>
          <p:nvPr/>
        </p:nvCxnSpPr>
        <p:spPr>
          <a:xfrm>
            <a:off x="630575" y="2537417"/>
            <a:ext cx="2122500" cy="0"/>
          </a:xfrm>
          <a:prstGeom prst="straightConnector1">
            <a:avLst/>
          </a:prstGeom>
          <a:noFill/>
          <a:ln w="9525" cap="flat" cmpd="sng">
            <a:solidFill>
              <a:srgbClr val="0254EC"/>
            </a:solidFill>
            <a:prstDash val="solid"/>
            <a:round/>
            <a:headEnd type="none" w="sm" len="sm"/>
            <a:tailEnd type="none" w="sm" len="sm"/>
          </a:ln>
        </p:spPr>
      </p:cxnSp>
      <p:sp>
        <p:nvSpPr>
          <p:cNvPr id="1362" name="Google Shape;1362;p67"/>
          <p:cNvSpPr txBox="1"/>
          <p:nvPr/>
        </p:nvSpPr>
        <p:spPr>
          <a:xfrm>
            <a:off x="522275" y="2210368"/>
            <a:ext cx="2339100" cy="2733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 sz="1000" b="0" i="0" u="none" strike="noStrike" cap="none">
                <a:solidFill>
                  <a:schemeClr val="dk1"/>
                </a:solidFill>
                <a:latin typeface="Poppins SemiBold"/>
                <a:ea typeface="Poppins SemiBold"/>
                <a:cs typeface="Poppins SemiBold"/>
                <a:sym typeface="Poppins SemiBold"/>
              </a:rPr>
              <a:t>Assigning Ownership</a:t>
            </a:r>
            <a:endParaRPr sz="1000" b="0" i="0" u="none" strike="noStrike" cap="none">
              <a:solidFill>
                <a:schemeClr val="dk1"/>
              </a:solidFill>
              <a:latin typeface="Poppins SemiBold"/>
              <a:ea typeface="Poppins SemiBold"/>
              <a:cs typeface="Poppins SemiBold"/>
              <a:sym typeface="Poppins SemiBold"/>
            </a:endParaRPr>
          </a:p>
        </p:txBody>
      </p:sp>
      <p:sp>
        <p:nvSpPr>
          <p:cNvPr id="1363" name="Google Shape;1363;p67"/>
          <p:cNvSpPr txBox="1"/>
          <p:nvPr/>
        </p:nvSpPr>
        <p:spPr>
          <a:xfrm>
            <a:off x="391576" y="2613904"/>
            <a:ext cx="2575800" cy="1222500"/>
          </a:xfrm>
          <a:prstGeom prst="rect">
            <a:avLst/>
          </a:prstGeom>
          <a:noFill/>
          <a:ln>
            <a:noFill/>
          </a:ln>
        </p:spPr>
        <p:txBody>
          <a:bodyPr spcFirstLastPara="1" wrap="square" lIns="68575" tIns="34275" rIns="68575" bIns="34275" anchor="t" anchorCtr="0">
            <a:normAutofit lnSpcReduction="10000"/>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Service Catalog democratizes ownership to developers. Auto-group resources by applications</a:t>
            </a:r>
            <a:endParaRPr sz="900" b="0" i="0" u="none" strike="noStrike" cap="none">
              <a:solidFill>
                <a:srgbClr val="01123F"/>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Resource Tag Rules convert Security Graph queries into auto-assigned tags, that can then be used as conditions to route tickets to the right owners</a:t>
            </a:r>
            <a:endParaRPr sz="900" b="0" i="0" u="none" strike="noStrike" cap="none">
              <a:solidFill>
                <a:srgbClr val="01123F"/>
              </a:solidFill>
              <a:latin typeface="Poppins Light"/>
              <a:ea typeface="Poppins Light"/>
              <a:cs typeface="Poppins Light"/>
              <a:sym typeface="Poppins Light"/>
            </a:endParaRPr>
          </a:p>
        </p:txBody>
      </p:sp>
      <p:cxnSp>
        <p:nvCxnSpPr>
          <p:cNvPr id="1364" name="Google Shape;1364;p67"/>
          <p:cNvCxnSpPr/>
          <p:nvPr/>
        </p:nvCxnSpPr>
        <p:spPr>
          <a:xfrm>
            <a:off x="3510750" y="2537417"/>
            <a:ext cx="2122500" cy="0"/>
          </a:xfrm>
          <a:prstGeom prst="straightConnector1">
            <a:avLst/>
          </a:prstGeom>
          <a:noFill/>
          <a:ln w="9525" cap="flat" cmpd="sng">
            <a:solidFill>
              <a:srgbClr val="0254EC"/>
            </a:solidFill>
            <a:prstDash val="solid"/>
            <a:round/>
            <a:headEnd type="none" w="sm" len="sm"/>
            <a:tailEnd type="none" w="sm" len="sm"/>
          </a:ln>
        </p:spPr>
      </p:cxnSp>
      <p:sp>
        <p:nvSpPr>
          <p:cNvPr id="1365" name="Google Shape;1365;p67"/>
          <p:cNvSpPr txBox="1"/>
          <p:nvPr/>
        </p:nvSpPr>
        <p:spPr>
          <a:xfrm>
            <a:off x="3362850" y="2210368"/>
            <a:ext cx="2418300" cy="2733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dk1"/>
              </a:buClr>
              <a:buSzPts val="1100"/>
              <a:buFont typeface="Arial"/>
              <a:buNone/>
            </a:pPr>
            <a:r>
              <a:rPr lang="en" sz="1000" b="0" i="0" u="none" strike="noStrike" cap="none">
                <a:solidFill>
                  <a:schemeClr val="dk1"/>
                </a:solidFill>
                <a:latin typeface="Poppins SemiBold"/>
                <a:ea typeface="Poppins SemiBold"/>
                <a:cs typeface="Poppins SemiBold"/>
                <a:sym typeface="Poppins SemiBold"/>
              </a:rPr>
              <a:t>Leverage Integrations</a:t>
            </a:r>
            <a:endParaRPr sz="1000" b="0" i="0" u="none" strike="noStrike" cap="none">
              <a:solidFill>
                <a:schemeClr val="dk1"/>
              </a:solidFill>
              <a:latin typeface="Poppins SemiBold"/>
              <a:ea typeface="Poppins SemiBold"/>
              <a:cs typeface="Poppins SemiBold"/>
              <a:sym typeface="Poppins SemiBold"/>
            </a:endParaRPr>
          </a:p>
        </p:txBody>
      </p:sp>
      <p:pic>
        <p:nvPicPr>
          <p:cNvPr id="1366" name="Google Shape;1366;p67" title="Rectangle 7854.png"/>
          <p:cNvPicPr preferRelativeResize="0"/>
          <p:nvPr/>
        </p:nvPicPr>
        <p:blipFill rotWithShape="1">
          <a:blip r:embed="rId3">
            <a:alphaModFix/>
          </a:blip>
          <a:srcRect/>
          <a:stretch/>
        </p:blipFill>
        <p:spPr>
          <a:xfrm>
            <a:off x="6117472" y="1445495"/>
            <a:ext cx="2669405" cy="2471275"/>
          </a:xfrm>
          <a:prstGeom prst="rect">
            <a:avLst/>
          </a:prstGeom>
          <a:noFill/>
          <a:ln>
            <a:noFill/>
          </a:ln>
        </p:spPr>
      </p:pic>
      <p:cxnSp>
        <p:nvCxnSpPr>
          <p:cNvPr id="1367" name="Google Shape;1367;p67"/>
          <p:cNvCxnSpPr/>
          <p:nvPr/>
        </p:nvCxnSpPr>
        <p:spPr>
          <a:xfrm>
            <a:off x="6390925" y="2537417"/>
            <a:ext cx="2122500" cy="0"/>
          </a:xfrm>
          <a:prstGeom prst="straightConnector1">
            <a:avLst/>
          </a:prstGeom>
          <a:noFill/>
          <a:ln w="9525" cap="flat" cmpd="sng">
            <a:solidFill>
              <a:srgbClr val="0254EC"/>
            </a:solidFill>
            <a:prstDash val="solid"/>
            <a:round/>
            <a:headEnd type="none" w="sm" len="sm"/>
            <a:tailEnd type="none" w="sm" len="sm"/>
          </a:ln>
        </p:spPr>
      </p:cxnSp>
      <p:sp>
        <p:nvSpPr>
          <p:cNvPr id="1368" name="Google Shape;1368;p67"/>
          <p:cNvSpPr txBox="1"/>
          <p:nvPr/>
        </p:nvSpPr>
        <p:spPr>
          <a:xfrm>
            <a:off x="3251700" y="2613901"/>
            <a:ext cx="2655000" cy="972300"/>
          </a:xfrm>
          <a:prstGeom prst="rect">
            <a:avLst/>
          </a:prstGeom>
          <a:noFill/>
          <a:ln>
            <a:noFill/>
          </a:ln>
        </p:spPr>
        <p:txBody>
          <a:bodyPr spcFirstLastPara="1" wrap="square" lIns="68575" tIns="34275" rIns="68575" bIns="34275" anchor="t" anchorCtr="0">
            <a:no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Get Issues in front of the right people, using the tools they’re accustomed to. Jira, ServiceNow, Teams, etc.</a:t>
            </a:r>
            <a:endParaRPr sz="900" b="0" i="0" u="none" strike="noStrike" cap="none">
              <a:solidFill>
                <a:srgbClr val="01123F"/>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Send prescriptive data to SIEM / SOAR</a:t>
            </a:r>
            <a:endParaRPr sz="900" b="0" i="0" u="none" strike="noStrike" cap="none">
              <a:solidFill>
                <a:srgbClr val="01123F"/>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Route by team, severity or environment. Integration + per-team Action templates = Cutting the noise and operationalizing Wiz </a:t>
            </a:r>
            <a:endParaRPr sz="900" b="0" i="0" u="none" strike="noStrike" cap="none">
              <a:solidFill>
                <a:srgbClr val="01123F"/>
              </a:solidFill>
              <a:latin typeface="Poppins Light"/>
              <a:ea typeface="Poppins Light"/>
              <a:cs typeface="Poppins Light"/>
              <a:sym typeface="Poppins Light"/>
            </a:endParaRPr>
          </a:p>
        </p:txBody>
      </p:sp>
      <p:sp>
        <p:nvSpPr>
          <p:cNvPr id="1369" name="Google Shape;1369;p67"/>
          <p:cNvSpPr txBox="1"/>
          <p:nvPr/>
        </p:nvSpPr>
        <p:spPr>
          <a:xfrm>
            <a:off x="6114876" y="2638600"/>
            <a:ext cx="2604000" cy="1278300"/>
          </a:xfrm>
          <a:prstGeom prst="rect">
            <a:avLst/>
          </a:prstGeom>
          <a:noFill/>
          <a:ln>
            <a:noFill/>
          </a:ln>
        </p:spPr>
        <p:txBody>
          <a:bodyPr spcFirstLastPara="1" wrap="square" lIns="68575" tIns="34275" rIns="68575" bIns="34275" anchor="t" anchorCtr="0">
            <a:normAutofit lnSpcReduction="10000"/>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Take the human out of the routing. Auto-assign Issues to the right owners and notify accordingly</a:t>
            </a:r>
            <a:endParaRPr sz="900" b="0" i="0" u="none" strike="noStrike" cap="none">
              <a:solidFill>
                <a:srgbClr val="01123F"/>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Enable self-service remediation with Worklows. Designed to offer more granular control around which context to include (i.e. Remediation steps, Investigation details, etc).</a:t>
            </a:r>
            <a:endParaRPr sz="900" b="0" i="0" u="none" strike="noStrike" cap="none">
              <a:solidFill>
                <a:srgbClr val="01123F"/>
              </a:solidFill>
              <a:latin typeface="Poppins Light"/>
              <a:ea typeface="Poppins Light"/>
              <a:cs typeface="Poppins Light"/>
              <a:sym typeface="Poppins Light"/>
            </a:endParaRPr>
          </a:p>
        </p:txBody>
      </p:sp>
      <p:sp>
        <p:nvSpPr>
          <p:cNvPr id="1370" name="Google Shape;1370;p67"/>
          <p:cNvSpPr txBox="1"/>
          <p:nvPr/>
        </p:nvSpPr>
        <p:spPr>
          <a:xfrm>
            <a:off x="6243025" y="2210368"/>
            <a:ext cx="2418300" cy="2733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 sz="1000" b="0" i="0" u="none" strike="noStrike" cap="none">
                <a:solidFill>
                  <a:schemeClr val="dk1"/>
                </a:solidFill>
                <a:latin typeface="Poppins SemiBold"/>
                <a:ea typeface="Poppins SemiBold"/>
                <a:cs typeface="Poppins SemiBold"/>
                <a:sym typeface="Poppins SemiBold"/>
              </a:rPr>
              <a:t>Automation (Workflows)</a:t>
            </a:r>
            <a:endParaRPr sz="1000" b="0" i="0" u="none" strike="noStrike" cap="none">
              <a:solidFill>
                <a:schemeClr val="dk1"/>
              </a:solidFill>
              <a:latin typeface="Poppins SemiBold"/>
              <a:ea typeface="Poppins SemiBold"/>
              <a:cs typeface="Poppins SemiBold"/>
              <a:sym typeface="Poppins SemiBold"/>
            </a:endParaRPr>
          </a:p>
        </p:txBody>
      </p:sp>
      <p:pic>
        <p:nvPicPr>
          <p:cNvPr id="1371" name="Google Shape;1371;p67"/>
          <p:cNvPicPr preferRelativeResize="0"/>
          <p:nvPr/>
        </p:nvPicPr>
        <p:blipFill rotWithShape="1">
          <a:blip r:embed="rId4">
            <a:alphaModFix/>
          </a:blip>
          <a:srcRect/>
          <a:stretch/>
        </p:blipFill>
        <p:spPr>
          <a:xfrm>
            <a:off x="1337712" y="1516460"/>
            <a:ext cx="708225" cy="708225"/>
          </a:xfrm>
          <a:prstGeom prst="rect">
            <a:avLst/>
          </a:prstGeom>
          <a:noFill/>
          <a:ln>
            <a:noFill/>
          </a:ln>
        </p:spPr>
      </p:pic>
      <p:sp>
        <p:nvSpPr>
          <p:cNvPr id="1372" name="Google Shape;1372;p67"/>
          <p:cNvSpPr txBox="1">
            <a:spLocks noGrp="1"/>
          </p:cNvSpPr>
          <p:nvPr>
            <p:ph type="title" idx="4294967295"/>
          </p:nvPr>
        </p:nvSpPr>
        <p:spPr>
          <a:xfrm>
            <a:off x="-302400" y="535725"/>
            <a:ext cx="9748800" cy="6840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chemeClr val="dk1"/>
              </a:buClr>
              <a:buSzPts val="1100"/>
              <a:buFont typeface="Arial"/>
              <a:buNone/>
            </a:pPr>
            <a:r>
              <a:rPr lang="en" sz="2420">
                <a:latin typeface="Poppins Light"/>
                <a:ea typeface="Poppins Light"/>
                <a:cs typeface="Poppins Light"/>
                <a:sym typeface="Poppins Light"/>
              </a:rPr>
              <a:t>Top Three Focus Areas to Mature</a:t>
            </a:r>
            <a:endParaRPr sz="2420">
              <a:latin typeface="Poppins Light"/>
              <a:ea typeface="Poppins Light"/>
              <a:cs typeface="Poppins Light"/>
              <a:sym typeface="Poppins Light"/>
            </a:endParaRPr>
          </a:p>
          <a:p>
            <a:pPr marL="0" lvl="0" indent="0" algn="ctr" rtl="0">
              <a:lnSpc>
                <a:spcPct val="100000"/>
              </a:lnSpc>
              <a:spcBef>
                <a:spcPts val="0"/>
              </a:spcBef>
              <a:spcAft>
                <a:spcPts val="0"/>
              </a:spcAft>
              <a:buClr>
                <a:schemeClr val="dk1"/>
              </a:buClr>
              <a:buSzPts val="1100"/>
              <a:buFont typeface="Arial"/>
              <a:buNone/>
            </a:pPr>
            <a:r>
              <a:rPr lang="en" sz="2420">
                <a:latin typeface="Poppins Light"/>
                <a:ea typeface="Poppins Light"/>
                <a:cs typeface="Poppins Light"/>
                <a:sym typeface="Poppins Light"/>
              </a:rPr>
              <a:t>for Democratization Improvements</a:t>
            </a:r>
            <a:endParaRPr sz="2420">
              <a:latin typeface="Poppins Light"/>
              <a:ea typeface="Poppins Light"/>
              <a:cs typeface="Poppins Light"/>
              <a:sym typeface="Poppins Light"/>
            </a:endParaRPr>
          </a:p>
        </p:txBody>
      </p:sp>
      <p:pic>
        <p:nvPicPr>
          <p:cNvPr id="1373" name="Google Shape;1373;p67" title="Group 1000002969.png"/>
          <p:cNvPicPr preferRelativeResize="0"/>
          <p:nvPr/>
        </p:nvPicPr>
        <p:blipFill rotWithShape="1">
          <a:blip r:embed="rId5">
            <a:alphaModFix/>
          </a:blip>
          <a:srcRect/>
          <a:stretch/>
        </p:blipFill>
        <p:spPr>
          <a:xfrm>
            <a:off x="4195263" y="1618451"/>
            <a:ext cx="753475" cy="504238"/>
          </a:xfrm>
          <a:prstGeom prst="rect">
            <a:avLst/>
          </a:prstGeom>
          <a:noFill/>
          <a:ln>
            <a:noFill/>
          </a:ln>
        </p:spPr>
      </p:pic>
      <p:pic>
        <p:nvPicPr>
          <p:cNvPr id="1374" name="Google Shape;1374;p67" title="Group 1000003039.png"/>
          <p:cNvPicPr preferRelativeResize="0"/>
          <p:nvPr/>
        </p:nvPicPr>
        <p:blipFill rotWithShape="1">
          <a:blip r:embed="rId6">
            <a:alphaModFix/>
          </a:blip>
          <a:srcRect/>
          <a:stretch/>
        </p:blipFill>
        <p:spPr>
          <a:xfrm>
            <a:off x="7196474" y="1601139"/>
            <a:ext cx="511400" cy="538875"/>
          </a:xfrm>
          <a:prstGeom prst="rect">
            <a:avLst/>
          </a:prstGeom>
          <a:noFill/>
          <a:ln>
            <a:noFill/>
          </a:ln>
        </p:spPr>
      </p:pic>
      <p:grpSp>
        <p:nvGrpSpPr>
          <p:cNvPr id="1375" name="Google Shape;1375;p67"/>
          <p:cNvGrpSpPr/>
          <p:nvPr/>
        </p:nvGrpSpPr>
        <p:grpSpPr>
          <a:xfrm>
            <a:off x="4726377" y="4145669"/>
            <a:ext cx="4010949" cy="832434"/>
            <a:chOff x="4726377" y="3456975"/>
            <a:chExt cx="4010949" cy="832434"/>
          </a:xfrm>
        </p:grpSpPr>
        <p:pic>
          <p:nvPicPr>
            <p:cNvPr id="1376" name="Google Shape;1376;p67" title="Rectangle 16310.png"/>
            <p:cNvPicPr preferRelativeResize="0"/>
            <p:nvPr/>
          </p:nvPicPr>
          <p:blipFill rotWithShape="1">
            <a:blip r:embed="rId7">
              <a:alphaModFix/>
            </a:blip>
            <a:srcRect/>
            <a:stretch/>
          </p:blipFill>
          <p:spPr>
            <a:xfrm>
              <a:off x="5072702" y="3456975"/>
              <a:ext cx="3664624" cy="832327"/>
            </a:xfrm>
            <a:prstGeom prst="rect">
              <a:avLst/>
            </a:prstGeom>
            <a:noFill/>
            <a:ln>
              <a:noFill/>
            </a:ln>
          </p:spPr>
        </p:pic>
        <p:sp>
          <p:nvSpPr>
            <p:cNvPr id="1377" name="Google Shape;1377;p67"/>
            <p:cNvSpPr txBox="1"/>
            <p:nvPr/>
          </p:nvSpPr>
          <p:spPr>
            <a:xfrm>
              <a:off x="5566125" y="3585438"/>
              <a:ext cx="3048900" cy="575400"/>
            </a:xfrm>
            <a:prstGeom prst="rect">
              <a:avLst/>
            </a:prstGeom>
            <a:noFill/>
            <a:ln>
              <a:noFill/>
            </a:ln>
          </p:spPr>
          <p:txBody>
            <a:bodyPr spcFirstLastPara="1" wrap="square" lIns="66950" tIns="33450" rIns="66950" bIns="33450" anchor="t" anchorCtr="0">
              <a:spAutoFit/>
            </a:bodyPr>
            <a:lstStyle/>
            <a:p>
              <a:pPr marL="0" marR="0" lvl="0" indent="0" algn="l" rtl="0">
                <a:lnSpc>
                  <a:spcPct val="100000"/>
                </a:lnSpc>
                <a:spcBef>
                  <a:spcPts val="0"/>
                </a:spcBef>
                <a:spcAft>
                  <a:spcPts val="0"/>
                </a:spcAft>
                <a:buClr>
                  <a:schemeClr val="dk1"/>
                </a:buClr>
                <a:buSzPts val="1200"/>
                <a:buFont typeface="Arial"/>
                <a:buNone/>
              </a:pPr>
              <a:r>
                <a:rPr lang="en" sz="1100" b="0" i="0" u="none" strike="noStrike" cap="none">
                  <a:solidFill>
                    <a:schemeClr val="dk1"/>
                  </a:solidFill>
                  <a:latin typeface="Poppins Light"/>
                  <a:ea typeface="Poppins Light"/>
                  <a:cs typeface="Poppins Light"/>
                  <a:sym typeface="Poppins Light"/>
                </a:rPr>
                <a:t>Is Wiz completely integrated into your workflow? What could help make it part of day to day?</a:t>
              </a:r>
              <a:endParaRPr sz="1100" b="0" i="0" u="none" strike="noStrike" cap="none">
                <a:solidFill>
                  <a:schemeClr val="dk1"/>
                </a:solidFill>
                <a:latin typeface="Poppins Light"/>
                <a:ea typeface="Poppins Light"/>
                <a:cs typeface="Poppins Light"/>
                <a:sym typeface="Poppins Light"/>
              </a:endParaRPr>
            </a:p>
          </p:txBody>
        </p:sp>
        <p:pic>
          <p:nvPicPr>
            <p:cNvPr id="1378" name="Google Shape;1378;p67" title="Ellipse icon_color.png"/>
            <p:cNvPicPr preferRelativeResize="0"/>
            <p:nvPr/>
          </p:nvPicPr>
          <p:blipFill rotWithShape="1">
            <a:blip r:embed="rId8">
              <a:alphaModFix/>
            </a:blip>
            <a:srcRect/>
            <a:stretch/>
          </p:blipFill>
          <p:spPr>
            <a:xfrm>
              <a:off x="4726377" y="3457087"/>
              <a:ext cx="839753" cy="832322"/>
            </a:xfrm>
            <a:prstGeom prst="rect">
              <a:avLst/>
            </a:prstGeom>
            <a:noFill/>
            <a:ln>
              <a:noFill/>
            </a:ln>
          </p:spPr>
        </p:pic>
      </p:grpSp>
      <p:grpSp>
        <p:nvGrpSpPr>
          <p:cNvPr id="1379" name="Google Shape;1379;p67"/>
          <p:cNvGrpSpPr/>
          <p:nvPr/>
        </p:nvGrpSpPr>
        <p:grpSpPr>
          <a:xfrm>
            <a:off x="434302" y="4145669"/>
            <a:ext cx="4010949" cy="832434"/>
            <a:chOff x="434302" y="3456975"/>
            <a:chExt cx="4010949" cy="832434"/>
          </a:xfrm>
        </p:grpSpPr>
        <p:pic>
          <p:nvPicPr>
            <p:cNvPr id="1380" name="Google Shape;1380;p67" title="Rectangle 16310.png"/>
            <p:cNvPicPr preferRelativeResize="0"/>
            <p:nvPr/>
          </p:nvPicPr>
          <p:blipFill rotWithShape="1">
            <a:blip r:embed="rId7">
              <a:alphaModFix/>
            </a:blip>
            <a:srcRect/>
            <a:stretch/>
          </p:blipFill>
          <p:spPr>
            <a:xfrm>
              <a:off x="780627" y="3456975"/>
              <a:ext cx="3664624" cy="832327"/>
            </a:xfrm>
            <a:prstGeom prst="rect">
              <a:avLst/>
            </a:prstGeom>
            <a:noFill/>
            <a:ln>
              <a:noFill/>
            </a:ln>
          </p:spPr>
        </p:pic>
        <p:sp>
          <p:nvSpPr>
            <p:cNvPr id="1381" name="Google Shape;1381;p67"/>
            <p:cNvSpPr txBox="1"/>
            <p:nvPr/>
          </p:nvSpPr>
          <p:spPr>
            <a:xfrm>
              <a:off x="1274050" y="3585438"/>
              <a:ext cx="3165300" cy="575400"/>
            </a:xfrm>
            <a:prstGeom prst="rect">
              <a:avLst/>
            </a:prstGeom>
            <a:noFill/>
            <a:ln>
              <a:noFill/>
            </a:ln>
          </p:spPr>
          <p:txBody>
            <a:bodyPr spcFirstLastPara="1" wrap="square" lIns="66950" tIns="33450" rIns="66950" bIns="33450" anchor="t" anchorCtr="0">
              <a:spAutoFit/>
            </a:bodyPr>
            <a:lstStyle/>
            <a:p>
              <a:pPr marL="0" marR="0" lvl="0" indent="0" algn="l" rtl="0">
                <a:lnSpc>
                  <a:spcPct val="100000"/>
                </a:lnSpc>
                <a:spcBef>
                  <a:spcPts val="0"/>
                </a:spcBef>
                <a:spcAft>
                  <a:spcPts val="0"/>
                </a:spcAft>
                <a:buClr>
                  <a:schemeClr val="dk1"/>
                </a:buClr>
                <a:buSzPts val="1171"/>
                <a:buFont typeface="Arial"/>
                <a:buNone/>
              </a:pPr>
              <a:r>
                <a:rPr lang="en" sz="1100" b="0" i="0" u="none" strike="noStrike" cap="none">
                  <a:solidFill>
                    <a:schemeClr val="dk1"/>
                  </a:solidFill>
                  <a:latin typeface="Poppins Light"/>
                  <a:ea typeface="Poppins Light"/>
                  <a:cs typeface="Poppins Light"/>
                  <a:sym typeface="Poppins Light"/>
                </a:rPr>
                <a:t>What is your current issues resolution flow? What is your ideal state? Is there anything blocking you from further democratization? </a:t>
              </a:r>
              <a:endParaRPr sz="1100" b="0" i="0" u="none" strike="noStrike" cap="none">
                <a:solidFill>
                  <a:schemeClr val="dk1"/>
                </a:solidFill>
                <a:latin typeface="Poppins Light"/>
                <a:ea typeface="Poppins Light"/>
                <a:cs typeface="Poppins Light"/>
                <a:sym typeface="Poppins Light"/>
              </a:endParaRPr>
            </a:p>
          </p:txBody>
        </p:sp>
        <p:grpSp>
          <p:nvGrpSpPr>
            <p:cNvPr id="1382" name="Google Shape;1382;p67"/>
            <p:cNvGrpSpPr/>
            <p:nvPr/>
          </p:nvGrpSpPr>
          <p:grpSpPr>
            <a:xfrm>
              <a:off x="434302" y="3457087"/>
              <a:ext cx="839753" cy="832322"/>
              <a:chOff x="434302" y="3457087"/>
              <a:chExt cx="839753" cy="832322"/>
            </a:xfrm>
          </p:grpSpPr>
          <p:pic>
            <p:nvPicPr>
              <p:cNvPr id="1383" name="Google Shape;1383;p67" title="Ellipse icon_color.png"/>
              <p:cNvPicPr preferRelativeResize="0"/>
              <p:nvPr/>
            </p:nvPicPr>
            <p:blipFill rotWithShape="1">
              <a:blip r:embed="rId8">
                <a:alphaModFix/>
              </a:blip>
              <a:srcRect/>
              <a:stretch/>
            </p:blipFill>
            <p:spPr>
              <a:xfrm>
                <a:off x="434302" y="3457087"/>
                <a:ext cx="839753" cy="832322"/>
              </a:xfrm>
              <a:prstGeom prst="rect">
                <a:avLst/>
              </a:prstGeom>
              <a:noFill/>
              <a:ln>
                <a:noFill/>
              </a:ln>
            </p:spPr>
          </p:pic>
          <p:pic>
            <p:nvPicPr>
              <p:cNvPr id="1384" name="Google Shape;1384;p67"/>
              <p:cNvPicPr preferRelativeResize="0"/>
              <p:nvPr/>
            </p:nvPicPr>
            <p:blipFill rotWithShape="1">
              <a:blip r:embed="rId9">
                <a:alphaModFix/>
              </a:blip>
              <a:srcRect/>
              <a:stretch/>
            </p:blipFill>
            <p:spPr>
              <a:xfrm>
                <a:off x="577339" y="3703834"/>
                <a:ext cx="553675" cy="338602"/>
              </a:xfrm>
              <a:prstGeom prst="rect">
                <a:avLst/>
              </a:prstGeom>
              <a:noFill/>
              <a:ln>
                <a:noFill/>
              </a:ln>
            </p:spPr>
          </p:pic>
        </p:grpSp>
      </p:grpSp>
      <p:pic>
        <p:nvPicPr>
          <p:cNvPr id="1385" name="Google Shape;1385;p67" title="Group 1000003678 (1).png"/>
          <p:cNvPicPr preferRelativeResize="0"/>
          <p:nvPr/>
        </p:nvPicPr>
        <p:blipFill rotWithShape="1">
          <a:blip r:embed="rId10">
            <a:alphaModFix/>
          </a:blip>
          <a:srcRect/>
          <a:stretch/>
        </p:blipFill>
        <p:spPr>
          <a:xfrm>
            <a:off x="4930184" y="4346632"/>
            <a:ext cx="430800" cy="4246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1390"/>
        <p:cNvGrpSpPr/>
        <p:nvPr/>
      </p:nvGrpSpPr>
      <p:grpSpPr>
        <a:xfrm>
          <a:off x="0" y="0"/>
          <a:ext cx="0" cy="0"/>
          <a:chOff x="0" y="0"/>
          <a:chExt cx="0" cy="0"/>
        </a:xfrm>
      </p:grpSpPr>
      <p:pic>
        <p:nvPicPr>
          <p:cNvPr id="1391" name="Google Shape;1391;p68" title="Rectangle 7854.png"/>
          <p:cNvPicPr preferRelativeResize="0"/>
          <p:nvPr/>
        </p:nvPicPr>
        <p:blipFill rotWithShape="1">
          <a:blip r:embed="rId3">
            <a:alphaModFix/>
          </a:blip>
          <a:srcRect/>
          <a:stretch/>
        </p:blipFill>
        <p:spPr>
          <a:xfrm>
            <a:off x="3237298" y="1837850"/>
            <a:ext cx="2669404" cy="3050125"/>
          </a:xfrm>
          <a:prstGeom prst="rect">
            <a:avLst/>
          </a:prstGeom>
          <a:noFill/>
          <a:ln>
            <a:noFill/>
          </a:ln>
        </p:spPr>
      </p:pic>
      <p:pic>
        <p:nvPicPr>
          <p:cNvPr id="1392" name="Google Shape;1392;p68" title="Rectangle 7854.png"/>
          <p:cNvPicPr preferRelativeResize="0"/>
          <p:nvPr/>
        </p:nvPicPr>
        <p:blipFill rotWithShape="1">
          <a:blip r:embed="rId3">
            <a:alphaModFix/>
          </a:blip>
          <a:srcRect/>
          <a:stretch/>
        </p:blipFill>
        <p:spPr>
          <a:xfrm>
            <a:off x="357125" y="1837850"/>
            <a:ext cx="2669404" cy="3050125"/>
          </a:xfrm>
          <a:prstGeom prst="rect">
            <a:avLst/>
          </a:prstGeom>
          <a:noFill/>
          <a:ln>
            <a:noFill/>
          </a:ln>
        </p:spPr>
      </p:pic>
      <p:cxnSp>
        <p:nvCxnSpPr>
          <p:cNvPr id="1393" name="Google Shape;1393;p68"/>
          <p:cNvCxnSpPr/>
          <p:nvPr/>
        </p:nvCxnSpPr>
        <p:spPr>
          <a:xfrm>
            <a:off x="630575" y="3063399"/>
            <a:ext cx="2122500" cy="0"/>
          </a:xfrm>
          <a:prstGeom prst="straightConnector1">
            <a:avLst/>
          </a:prstGeom>
          <a:noFill/>
          <a:ln w="9525" cap="flat" cmpd="sng">
            <a:solidFill>
              <a:srgbClr val="0254EC"/>
            </a:solidFill>
            <a:prstDash val="solid"/>
            <a:round/>
            <a:headEnd type="none" w="sm" len="sm"/>
            <a:tailEnd type="none" w="sm" len="sm"/>
          </a:ln>
        </p:spPr>
      </p:cxnSp>
      <p:sp>
        <p:nvSpPr>
          <p:cNvPr id="1394" name="Google Shape;1394;p68"/>
          <p:cNvSpPr txBox="1"/>
          <p:nvPr/>
        </p:nvSpPr>
        <p:spPr>
          <a:xfrm>
            <a:off x="357125" y="3203850"/>
            <a:ext cx="2641800" cy="1232100"/>
          </a:xfrm>
          <a:prstGeom prst="rect">
            <a:avLst/>
          </a:prstGeom>
          <a:noFill/>
          <a:ln>
            <a:noFill/>
          </a:ln>
        </p:spPr>
        <p:txBody>
          <a:bodyPr spcFirstLastPara="1" wrap="square" lIns="68575" tIns="34275" rIns="68575" bIns="34275" anchor="t" anchorCtr="0">
            <a:norm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How do you determine what to work on first?</a:t>
            </a:r>
            <a:endParaRPr sz="900" b="0" i="0" u="none" strike="noStrike" cap="none">
              <a:solidFill>
                <a:srgbClr val="01123F"/>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Why are the custom TWDC Graph Controls marked as “Critical”? Is this still relevant?</a:t>
            </a:r>
            <a:endParaRPr sz="900" b="0" i="0" u="none" strike="noStrike" cap="none">
              <a:solidFill>
                <a:srgbClr val="01123F"/>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How are you alerted on Critical Issues, when they arise?</a:t>
            </a:r>
            <a:endParaRPr sz="900" b="0" i="0" u="none" strike="noStrike" cap="none">
              <a:solidFill>
                <a:srgbClr val="01123F"/>
              </a:solidFill>
              <a:latin typeface="Poppins Light"/>
              <a:ea typeface="Poppins Light"/>
              <a:cs typeface="Poppins Light"/>
              <a:sym typeface="Poppins Light"/>
            </a:endParaRPr>
          </a:p>
        </p:txBody>
      </p:sp>
      <p:cxnSp>
        <p:nvCxnSpPr>
          <p:cNvPr id="1395" name="Google Shape;1395;p68"/>
          <p:cNvCxnSpPr/>
          <p:nvPr/>
        </p:nvCxnSpPr>
        <p:spPr>
          <a:xfrm>
            <a:off x="3510750" y="3063399"/>
            <a:ext cx="2122500" cy="0"/>
          </a:xfrm>
          <a:prstGeom prst="straightConnector1">
            <a:avLst/>
          </a:prstGeom>
          <a:noFill/>
          <a:ln w="9525" cap="flat" cmpd="sng">
            <a:solidFill>
              <a:srgbClr val="0254EC"/>
            </a:solidFill>
            <a:prstDash val="solid"/>
            <a:round/>
            <a:headEnd type="none" w="sm" len="sm"/>
            <a:tailEnd type="none" w="sm" len="sm"/>
          </a:ln>
        </p:spPr>
      </p:cxnSp>
      <p:pic>
        <p:nvPicPr>
          <p:cNvPr id="1396" name="Google Shape;1396;p68" title="Rectangle 7854.png"/>
          <p:cNvPicPr preferRelativeResize="0"/>
          <p:nvPr/>
        </p:nvPicPr>
        <p:blipFill rotWithShape="1">
          <a:blip r:embed="rId3">
            <a:alphaModFix/>
          </a:blip>
          <a:srcRect/>
          <a:stretch/>
        </p:blipFill>
        <p:spPr>
          <a:xfrm>
            <a:off x="6117471" y="1837850"/>
            <a:ext cx="2669404" cy="3050125"/>
          </a:xfrm>
          <a:prstGeom prst="rect">
            <a:avLst/>
          </a:prstGeom>
          <a:noFill/>
          <a:ln>
            <a:noFill/>
          </a:ln>
        </p:spPr>
      </p:pic>
      <p:cxnSp>
        <p:nvCxnSpPr>
          <p:cNvPr id="1397" name="Google Shape;1397;p68"/>
          <p:cNvCxnSpPr/>
          <p:nvPr/>
        </p:nvCxnSpPr>
        <p:spPr>
          <a:xfrm>
            <a:off x="6390925" y="3063399"/>
            <a:ext cx="2122500" cy="0"/>
          </a:xfrm>
          <a:prstGeom prst="straightConnector1">
            <a:avLst/>
          </a:prstGeom>
          <a:noFill/>
          <a:ln w="9525" cap="flat" cmpd="sng">
            <a:solidFill>
              <a:srgbClr val="0254EC"/>
            </a:solidFill>
            <a:prstDash val="solid"/>
            <a:round/>
            <a:headEnd type="none" w="sm" len="sm"/>
            <a:tailEnd type="none" w="sm" len="sm"/>
          </a:ln>
        </p:spPr>
      </p:cxnSp>
      <p:sp>
        <p:nvSpPr>
          <p:cNvPr id="1398" name="Google Shape;1398;p68"/>
          <p:cNvSpPr txBox="1"/>
          <p:nvPr/>
        </p:nvSpPr>
        <p:spPr>
          <a:xfrm>
            <a:off x="3269550" y="3203850"/>
            <a:ext cx="2599800" cy="1422000"/>
          </a:xfrm>
          <a:prstGeom prst="rect">
            <a:avLst/>
          </a:prstGeom>
          <a:noFill/>
          <a:ln>
            <a:noFill/>
          </a:ln>
        </p:spPr>
        <p:txBody>
          <a:bodyPr spcFirstLastPara="1" wrap="square" lIns="68575" tIns="34275" rIns="68575" bIns="34275" anchor="t" anchorCtr="0">
            <a:norm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You only have “MBI” (Medium Business Impact) resources defined, why?</a:t>
            </a:r>
            <a:endParaRPr sz="900" b="0" i="0" u="none" strike="noStrike" cap="none">
              <a:solidFill>
                <a:srgbClr val="01123F"/>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Grouping filters or queries to identify the “low hanging fruit” Issues (i.e. resources exhibiting the same Issue)</a:t>
            </a:r>
            <a:endParaRPr sz="900" b="0" i="0" u="none" strike="noStrike" cap="none">
              <a:solidFill>
                <a:srgbClr val="01123F"/>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Are you using Posture Policies to identify and group high-impact vulnerabilities?</a:t>
            </a:r>
            <a:endParaRPr sz="900" b="0" i="0" u="none" strike="noStrike" cap="none">
              <a:solidFill>
                <a:srgbClr val="01123F"/>
              </a:solidFill>
              <a:latin typeface="Poppins Light"/>
              <a:ea typeface="Poppins Light"/>
              <a:cs typeface="Poppins Light"/>
              <a:sym typeface="Poppins Light"/>
            </a:endParaRPr>
          </a:p>
        </p:txBody>
      </p:sp>
      <p:sp>
        <p:nvSpPr>
          <p:cNvPr id="1399" name="Google Shape;1399;p68"/>
          <p:cNvSpPr txBox="1"/>
          <p:nvPr/>
        </p:nvSpPr>
        <p:spPr>
          <a:xfrm>
            <a:off x="6081878" y="3203850"/>
            <a:ext cx="2641800" cy="1684200"/>
          </a:xfrm>
          <a:prstGeom prst="rect">
            <a:avLst/>
          </a:prstGeom>
          <a:noFill/>
          <a:ln>
            <a:noFill/>
          </a:ln>
        </p:spPr>
        <p:txBody>
          <a:bodyPr spcFirstLastPara="1" wrap="square" lIns="68575" tIns="34275" rIns="68575" bIns="34275" anchor="t" anchorCtr="0">
            <a:norm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Utilize Green Agent for automated investigation and remediation context</a:t>
            </a:r>
            <a:endParaRPr sz="900" b="0" i="0" u="none" strike="noStrike" cap="none">
              <a:solidFill>
                <a:srgbClr val="01123F"/>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Utilize Advanced ASM to validate which external exposures are truly exploitable</a:t>
            </a:r>
            <a:endParaRPr sz="900" b="0" i="0" u="none" strike="noStrike" cap="none">
              <a:solidFill>
                <a:srgbClr val="01123F"/>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Utilize Red Agent to actively probe your web apps and APIS to proactively identify high-impact exposures</a:t>
            </a:r>
            <a:endParaRPr sz="900" b="0" i="0" u="none" strike="noStrike" cap="none">
              <a:solidFill>
                <a:srgbClr val="01123F"/>
              </a:solidFill>
              <a:latin typeface="Poppins Light"/>
              <a:ea typeface="Poppins Light"/>
              <a:cs typeface="Poppins Light"/>
              <a:sym typeface="Poppins Light"/>
            </a:endParaRPr>
          </a:p>
        </p:txBody>
      </p:sp>
      <p:sp>
        <p:nvSpPr>
          <p:cNvPr id="1400" name="Google Shape;1400;p68"/>
          <p:cNvSpPr txBox="1"/>
          <p:nvPr/>
        </p:nvSpPr>
        <p:spPr>
          <a:xfrm>
            <a:off x="6243025" y="2624673"/>
            <a:ext cx="2418300" cy="2733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Poppins SemiBold"/>
                <a:ea typeface="Poppins SemiBold"/>
                <a:cs typeface="Poppins SemiBold"/>
                <a:sym typeface="Poppins SemiBold"/>
              </a:rPr>
              <a:t>Using Wiz Tools to Remediate</a:t>
            </a:r>
            <a:br>
              <a:rPr lang="en" sz="1000" b="0" i="0" u="none" strike="noStrike" cap="none">
                <a:solidFill>
                  <a:schemeClr val="dk1"/>
                </a:solidFill>
                <a:latin typeface="Poppins SemiBold"/>
                <a:ea typeface="Poppins SemiBold"/>
                <a:cs typeface="Poppins SemiBold"/>
                <a:sym typeface="Poppins SemiBold"/>
              </a:rPr>
            </a:br>
            <a:r>
              <a:rPr lang="en" sz="1000" b="0" i="0" u="none" strike="noStrike" cap="none">
                <a:solidFill>
                  <a:schemeClr val="dk1"/>
                </a:solidFill>
                <a:latin typeface="Poppins SemiBold"/>
                <a:ea typeface="Poppins SemiBold"/>
                <a:cs typeface="Poppins SemiBold"/>
                <a:sym typeface="Poppins SemiBold"/>
              </a:rPr>
              <a:t>More Efficiently</a:t>
            </a:r>
            <a:endParaRPr sz="1000" b="0" i="0" u="none" strike="noStrike" cap="none">
              <a:solidFill>
                <a:schemeClr val="dk1"/>
              </a:solidFill>
              <a:latin typeface="Poppins SemiBold"/>
              <a:ea typeface="Poppins SemiBold"/>
              <a:cs typeface="Poppins SemiBold"/>
              <a:sym typeface="Poppins SemiBold"/>
            </a:endParaRPr>
          </a:p>
        </p:txBody>
      </p:sp>
      <p:sp>
        <p:nvSpPr>
          <p:cNvPr id="1401" name="Google Shape;1401;p68"/>
          <p:cNvSpPr txBox="1">
            <a:spLocks noGrp="1"/>
          </p:cNvSpPr>
          <p:nvPr>
            <p:ph type="title" idx="4294967295"/>
          </p:nvPr>
        </p:nvSpPr>
        <p:spPr>
          <a:xfrm>
            <a:off x="-302400" y="535725"/>
            <a:ext cx="9748800" cy="6840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chemeClr val="dk1"/>
              </a:buClr>
              <a:buSzPts val="1100"/>
              <a:buFont typeface="Arial"/>
              <a:buNone/>
            </a:pPr>
            <a:r>
              <a:rPr lang="en" sz="2420">
                <a:latin typeface="Poppins Light"/>
                <a:ea typeface="Poppins Light"/>
                <a:cs typeface="Poppins Light"/>
                <a:sym typeface="Poppins Light"/>
              </a:rPr>
              <a:t>Top Three Focus Areas to Improve</a:t>
            </a:r>
            <a:endParaRPr sz="2420">
              <a:latin typeface="Poppins Light"/>
              <a:ea typeface="Poppins Light"/>
              <a:cs typeface="Poppins Light"/>
              <a:sym typeface="Poppins Light"/>
            </a:endParaRPr>
          </a:p>
          <a:p>
            <a:pPr marL="0" lvl="0" indent="0" algn="ctr" rtl="0">
              <a:lnSpc>
                <a:spcPct val="100000"/>
              </a:lnSpc>
              <a:spcBef>
                <a:spcPts val="0"/>
              </a:spcBef>
              <a:spcAft>
                <a:spcPts val="0"/>
              </a:spcAft>
              <a:buClr>
                <a:schemeClr val="dk1"/>
              </a:buClr>
              <a:buSzPts val="1100"/>
              <a:buFont typeface="Arial"/>
              <a:buNone/>
            </a:pPr>
            <a:r>
              <a:rPr lang="en" sz="2420">
                <a:latin typeface="Poppins Light"/>
                <a:ea typeface="Poppins Light"/>
                <a:cs typeface="Poppins Light"/>
                <a:sym typeface="Poppins Light"/>
              </a:rPr>
              <a:t>Security Posture &amp; Risk Reduction</a:t>
            </a:r>
            <a:endParaRPr sz="2420">
              <a:latin typeface="Poppins Light"/>
              <a:ea typeface="Poppins Light"/>
              <a:cs typeface="Poppins Light"/>
              <a:sym typeface="Poppins Light"/>
            </a:endParaRPr>
          </a:p>
        </p:txBody>
      </p:sp>
      <p:pic>
        <p:nvPicPr>
          <p:cNvPr id="1402" name="Google Shape;1402;p68"/>
          <p:cNvPicPr preferRelativeResize="0"/>
          <p:nvPr/>
        </p:nvPicPr>
        <p:blipFill rotWithShape="1">
          <a:blip r:embed="rId4">
            <a:alphaModFix/>
          </a:blip>
          <a:srcRect/>
          <a:stretch/>
        </p:blipFill>
        <p:spPr>
          <a:xfrm>
            <a:off x="1326966" y="1926775"/>
            <a:ext cx="729718" cy="693550"/>
          </a:xfrm>
          <a:prstGeom prst="rect">
            <a:avLst/>
          </a:prstGeom>
          <a:noFill/>
          <a:ln>
            <a:noFill/>
          </a:ln>
        </p:spPr>
      </p:pic>
      <p:pic>
        <p:nvPicPr>
          <p:cNvPr id="1403" name="Google Shape;1403;p68"/>
          <p:cNvPicPr preferRelativeResize="0"/>
          <p:nvPr/>
        </p:nvPicPr>
        <p:blipFill rotWithShape="1">
          <a:blip r:embed="rId5">
            <a:alphaModFix/>
          </a:blip>
          <a:srcRect/>
          <a:stretch/>
        </p:blipFill>
        <p:spPr>
          <a:xfrm>
            <a:off x="4225225" y="1913375"/>
            <a:ext cx="693550" cy="693550"/>
          </a:xfrm>
          <a:prstGeom prst="rect">
            <a:avLst/>
          </a:prstGeom>
          <a:noFill/>
          <a:ln>
            <a:noFill/>
          </a:ln>
        </p:spPr>
      </p:pic>
      <p:pic>
        <p:nvPicPr>
          <p:cNvPr id="1404" name="Google Shape;1404;p68" title="Group 1000002779.png"/>
          <p:cNvPicPr preferRelativeResize="0"/>
          <p:nvPr/>
        </p:nvPicPr>
        <p:blipFill rotWithShape="1">
          <a:blip r:embed="rId6">
            <a:alphaModFix/>
          </a:blip>
          <a:srcRect/>
          <a:stretch/>
        </p:blipFill>
        <p:spPr>
          <a:xfrm>
            <a:off x="7043298" y="1991749"/>
            <a:ext cx="817750" cy="563600"/>
          </a:xfrm>
          <a:prstGeom prst="rect">
            <a:avLst/>
          </a:prstGeom>
          <a:noFill/>
          <a:ln>
            <a:noFill/>
          </a:ln>
        </p:spPr>
      </p:pic>
      <p:sp>
        <p:nvSpPr>
          <p:cNvPr id="1405" name="Google Shape;1405;p68"/>
          <p:cNvSpPr txBox="1"/>
          <p:nvPr/>
        </p:nvSpPr>
        <p:spPr>
          <a:xfrm>
            <a:off x="482675" y="2640997"/>
            <a:ext cx="2418300" cy="2733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Poppins SemiBold"/>
                <a:ea typeface="Poppins SemiBold"/>
                <a:cs typeface="Poppins SemiBold"/>
                <a:sym typeface="Poppins SemiBold"/>
              </a:rPr>
              <a:t>Prioritize Investigation by       Severity  &amp; Criticality</a:t>
            </a:r>
            <a:endParaRPr sz="1000" b="0" i="0" u="none" strike="noStrike" cap="none">
              <a:solidFill>
                <a:schemeClr val="dk1"/>
              </a:solidFill>
              <a:latin typeface="Poppins SemiBold"/>
              <a:ea typeface="Poppins SemiBold"/>
              <a:cs typeface="Poppins SemiBold"/>
              <a:sym typeface="Poppins SemiBold"/>
            </a:endParaRPr>
          </a:p>
        </p:txBody>
      </p:sp>
      <p:sp>
        <p:nvSpPr>
          <p:cNvPr id="1406" name="Google Shape;1406;p68"/>
          <p:cNvSpPr txBox="1"/>
          <p:nvPr/>
        </p:nvSpPr>
        <p:spPr>
          <a:xfrm>
            <a:off x="3362850" y="2627164"/>
            <a:ext cx="2418300" cy="2733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Poppins SemiBold"/>
                <a:ea typeface="Poppins SemiBold"/>
                <a:cs typeface="Poppins SemiBold"/>
                <a:sym typeface="Poppins SemiBold"/>
              </a:rPr>
              <a:t>Prioritize Remediation by       Greatest Impact </a:t>
            </a:r>
            <a:endParaRPr sz="1000" b="0" i="0" u="none" strike="noStrike" cap="none">
              <a:solidFill>
                <a:schemeClr val="dk1"/>
              </a:solidFill>
              <a:latin typeface="Poppins SemiBold"/>
              <a:ea typeface="Poppins SemiBold"/>
              <a:cs typeface="Poppins SemiBold"/>
              <a:sym typeface="Poppins SemiBo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1411"/>
        <p:cNvGrpSpPr/>
        <p:nvPr/>
      </p:nvGrpSpPr>
      <p:grpSpPr>
        <a:xfrm>
          <a:off x="0" y="0"/>
          <a:ext cx="0" cy="0"/>
          <a:chOff x="0" y="0"/>
          <a:chExt cx="0" cy="0"/>
        </a:xfrm>
      </p:grpSpPr>
      <p:pic>
        <p:nvPicPr>
          <p:cNvPr id="1412" name="Google Shape;1412;p69" title="Rectangle 7854.png"/>
          <p:cNvPicPr preferRelativeResize="0"/>
          <p:nvPr/>
        </p:nvPicPr>
        <p:blipFill rotWithShape="1">
          <a:blip r:embed="rId3">
            <a:alphaModFix/>
          </a:blip>
          <a:srcRect/>
          <a:stretch/>
        </p:blipFill>
        <p:spPr>
          <a:xfrm>
            <a:off x="3237298" y="1837849"/>
            <a:ext cx="2669404" cy="2703664"/>
          </a:xfrm>
          <a:prstGeom prst="rect">
            <a:avLst/>
          </a:prstGeom>
          <a:noFill/>
          <a:ln>
            <a:noFill/>
          </a:ln>
        </p:spPr>
      </p:pic>
      <p:pic>
        <p:nvPicPr>
          <p:cNvPr id="1413" name="Google Shape;1413;p69" title="Rectangle 7854.png"/>
          <p:cNvPicPr preferRelativeResize="0"/>
          <p:nvPr/>
        </p:nvPicPr>
        <p:blipFill rotWithShape="1">
          <a:blip r:embed="rId3">
            <a:alphaModFix/>
          </a:blip>
          <a:srcRect/>
          <a:stretch/>
        </p:blipFill>
        <p:spPr>
          <a:xfrm>
            <a:off x="357125" y="1837849"/>
            <a:ext cx="2669404" cy="2703664"/>
          </a:xfrm>
          <a:prstGeom prst="rect">
            <a:avLst/>
          </a:prstGeom>
          <a:noFill/>
          <a:ln>
            <a:noFill/>
          </a:ln>
        </p:spPr>
      </p:pic>
      <p:cxnSp>
        <p:nvCxnSpPr>
          <p:cNvPr id="1414" name="Google Shape;1414;p69"/>
          <p:cNvCxnSpPr/>
          <p:nvPr/>
        </p:nvCxnSpPr>
        <p:spPr>
          <a:xfrm>
            <a:off x="630575" y="2954477"/>
            <a:ext cx="2122500" cy="0"/>
          </a:xfrm>
          <a:prstGeom prst="straightConnector1">
            <a:avLst/>
          </a:prstGeom>
          <a:noFill/>
          <a:ln w="9525" cap="flat" cmpd="sng">
            <a:solidFill>
              <a:srgbClr val="0254EC"/>
            </a:solidFill>
            <a:prstDash val="solid"/>
            <a:round/>
            <a:headEnd type="none" w="sm" len="sm"/>
            <a:tailEnd type="none" w="sm" len="sm"/>
          </a:ln>
        </p:spPr>
      </p:cxnSp>
      <p:sp>
        <p:nvSpPr>
          <p:cNvPr id="1415" name="Google Shape;1415;p69"/>
          <p:cNvSpPr txBox="1"/>
          <p:nvPr/>
        </p:nvSpPr>
        <p:spPr>
          <a:xfrm>
            <a:off x="522275" y="2664476"/>
            <a:ext cx="2339100" cy="273300"/>
          </a:xfrm>
          <a:prstGeom prst="rect">
            <a:avLst/>
          </a:prstGeom>
          <a:noFill/>
          <a:ln>
            <a:noFill/>
          </a:ln>
        </p:spPr>
        <p:txBody>
          <a:bodyPr spcFirstLastPara="1" wrap="square" lIns="68575" tIns="34275" rIns="68575" bIns="34275" anchor="ctr" anchorCtr="0">
            <a:noAutofit/>
          </a:bodyPr>
          <a:lstStyle/>
          <a:p>
            <a:pPr marL="0" marR="0" lvl="0" indent="0" algn="ctr" rtl="0">
              <a:lnSpc>
                <a:spcPct val="70000"/>
              </a:lnSpc>
              <a:spcBef>
                <a:spcPts val="0"/>
              </a:spcBef>
              <a:spcAft>
                <a:spcPts val="0"/>
              </a:spcAft>
              <a:buClr>
                <a:srgbClr val="000000"/>
              </a:buClr>
              <a:buSzPts val="1000"/>
              <a:buFont typeface="Arial"/>
              <a:buNone/>
            </a:pPr>
            <a:r>
              <a:rPr lang="en" sz="1000" b="0" i="0" u="none" strike="noStrike" cap="none">
                <a:solidFill>
                  <a:schemeClr val="dk1"/>
                </a:solidFill>
                <a:latin typeface="Poppins SemiBold"/>
                <a:ea typeface="Poppins SemiBold"/>
                <a:cs typeface="Poppins SemiBold"/>
                <a:sym typeface="Poppins SemiBold"/>
              </a:rPr>
              <a:t>K8S Connectors</a:t>
            </a:r>
            <a:endParaRPr sz="1000" b="0" i="0" u="none" strike="noStrike" cap="none">
              <a:solidFill>
                <a:schemeClr val="dk1"/>
              </a:solidFill>
              <a:latin typeface="Poppins SemiBold"/>
              <a:ea typeface="Poppins SemiBold"/>
              <a:cs typeface="Poppins SemiBold"/>
              <a:sym typeface="Poppins SemiBold"/>
            </a:endParaRPr>
          </a:p>
        </p:txBody>
      </p:sp>
      <p:sp>
        <p:nvSpPr>
          <p:cNvPr id="1416" name="Google Shape;1416;p69"/>
          <p:cNvSpPr txBox="1"/>
          <p:nvPr/>
        </p:nvSpPr>
        <p:spPr>
          <a:xfrm>
            <a:off x="403925" y="3092700"/>
            <a:ext cx="2575800" cy="1367400"/>
          </a:xfrm>
          <a:prstGeom prst="rect">
            <a:avLst/>
          </a:prstGeom>
          <a:noFill/>
          <a:ln>
            <a:noFill/>
          </a:ln>
        </p:spPr>
        <p:txBody>
          <a:bodyPr spcFirstLastPara="1" wrap="square" lIns="68575" tIns="34275" rIns="68575" bIns="34275" anchor="t" anchorCtr="0">
            <a:norm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Map Cluster architectures more effectively in Wiz.</a:t>
            </a:r>
            <a:endParaRPr sz="900" b="0" i="0" u="none" strike="noStrike" cap="none">
              <a:solidFill>
                <a:srgbClr val="01123F"/>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Allows Wiz to assess K8S clusters directly via the Kubernetes API, to identify risks associated with K8S specific identities, secretes, configs, etc.</a:t>
            </a:r>
            <a:endParaRPr sz="900" b="0" i="0" u="none" strike="noStrike" cap="none">
              <a:solidFill>
                <a:srgbClr val="01123F"/>
              </a:solidFill>
              <a:latin typeface="Poppins Light"/>
              <a:ea typeface="Poppins Light"/>
              <a:cs typeface="Poppins Light"/>
              <a:sym typeface="Poppins Light"/>
            </a:endParaRPr>
          </a:p>
        </p:txBody>
      </p:sp>
      <p:cxnSp>
        <p:nvCxnSpPr>
          <p:cNvPr id="1417" name="Google Shape;1417;p69"/>
          <p:cNvCxnSpPr/>
          <p:nvPr/>
        </p:nvCxnSpPr>
        <p:spPr>
          <a:xfrm>
            <a:off x="3510750" y="2954477"/>
            <a:ext cx="2122500" cy="0"/>
          </a:xfrm>
          <a:prstGeom prst="straightConnector1">
            <a:avLst/>
          </a:prstGeom>
          <a:noFill/>
          <a:ln w="9525" cap="flat" cmpd="sng">
            <a:solidFill>
              <a:srgbClr val="0254EC"/>
            </a:solidFill>
            <a:prstDash val="solid"/>
            <a:round/>
            <a:headEnd type="none" w="sm" len="sm"/>
            <a:tailEnd type="none" w="sm" len="sm"/>
          </a:ln>
        </p:spPr>
      </p:cxnSp>
      <p:sp>
        <p:nvSpPr>
          <p:cNvPr id="1418" name="Google Shape;1418;p69"/>
          <p:cNvSpPr txBox="1"/>
          <p:nvPr/>
        </p:nvSpPr>
        <p:spPr>
          <a:xfrm>
            <a:off x="3362850" y="2664476"/>
            <a:ext cx="2418300" cy="2733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 sz="1000" b="0" i="0" u="none" strike="noStrike" cap="none">
                <a:solidFill>
                  <a:schemeClr val="dk1"/>
                </a:solidFill>
                <a:latin typeface="Poppins SemiBold"/>
                <a:ea typeface="Poppins SemiBold"/>
                <a:cs typeface="Poppins SemiBold"/>
                <a:sym typeface="Poppins SemiBold"/>
              </a:rPr>
              <a:t>WizOS &amp; Image Tagging</a:t>
            </a:r>
            <a:endParaRPr sz="1000" b="0" i="0" u="none" strike="noStrike" cap="none">
              <a:solidFill>
                <a:schemeClr val="dk1"/>
              </a:solidFill>
              <a:latin typeface="Poppins SemiBold"/>
              <a:ea typeface="Poppins SemiBold"/>
              <a:cs typeface="Poppins SemiBold"/>
              <a:sym typeface="Poppins SemiBold"/>
            </a:endParaRPr>
          </a:p>
        </p:txBody>
      </p:sp>
      <p:pic>
        <p:nvPicPr>
          <p:cNvPr id="1419" name="Google Shape;1419;p69" title="Rectangle 7854.png"/>
          <p:cNvPicPr preferRelativeResize="0"/>
          <p:nvPr/>
        </p:nvPicPr>
        <p:blipFill rotWithShape="1">
          <a:blip r:embed="rId3">
            <a:alphaModFix/>
          </a:blip>
          <a:srcRect/>
          <a:stretch/>
        </p:blipFill>
        <p:spPr>
          <a:xfrm>
            <a:off x="6117471" y="1837849"/>
            <a:ext cx="2669404" cy="2703664"/>
          </a:xfrm>
          <a:prstGeom prst="rect">
            <a:avLst/>
          </a:prstGeom>
          <a:noFill/>
          <a:ln>
            <a:noFill/>
          </a:ln>
        </p:spPr>
      </p:pic>
      <p:cxnSp>
        <p:nvCxnSpPr>
          <p:cNvPr id="1420" name="Google Shape;1420;p69"/>
          <p:cNvCxnSpPr/>
          <p:nvPr/>
        </p:nvCxnSpPr>
        <p:spPr>
          <a:xfrm>
            <a:off x="6390925" y="2954477"/>
            <a:ext cx="2122500" cy="0"/>
          </a:xfrm>
          <a:prstGeom prst="straightConnector1">
            <a:avLst/>
          </a:prstGeom>
          <a:noFill/>
          <a:ln w="9525" cap="flat" cmpd="sng">
            <a:solidFill>
              <a:srgbClr val="0254EC"/>
            </a:solidFill>
            <a:prstDash val="solid"/>
            <a:round/>
            <a:headEnd type="none" w="sm" len="sm"/>
            <a:tailEnd type="none" w="sm" len="sm"/>
          </a:ln>
        </p:spPr>
      </p:cxnSp>
      <p:sp>
        <p:nvSpPr>
          <p:cNvPr id="1421" name="Google Shape;1421;p69"/>
          <p:cNvSpPr txBox="1"/>
          <p:nvPr/>
        </p:nvSpPr>
        <p:spPr>
          <a:xfrm>
            <a:off x="6164274" y="3093376"/>
            <a:ext cx="2575800" cy="1500600"/>
          </a:xfrm>
          <a:prstGeom prst="rect">
            <a:avLst/>
          </a:prstGeom>
          <a:noFill/>
          <a:ln>
            <a:noFill/>
          </a:ln>
        </p:spPr>
        <p:txBody>
          <a:bodyPr spcFirstLastPara="1" wrap="square" lIns="68575" tIns="34275" rIns="68575" bIns="34275" anchor="t" anchorCtr="0">
            <a:normAutofit lnSpcReduction="20000"/>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Scan your repos for vulnerabilities, SAST flaws, IaC misconfigurations, secrets and Malware</a:t>
            </a:r>
            <a:endParaRPr sz="900" b="0" i="0" u="none" strike="noStrike" cap="none">
              <a:solidFill>
                <a:srgbClr val="01123F"/>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Allow Developers to scan their code at the IDE</a:t>
            </a:r>
            <a:endParaRPr sz="900" b="0" i="0" u="none" strike="noStrike" cap="none">
              <a:solidFill>
                <a:srgbClr val="01123F"/>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Scan PRs and (optionally) block merges that introduce risk </a:t>
            </a:r>
            <a:endParaRPr sz="900" b="0" i="0" u="none" strike="noStrike" cap="none">
              <a:solidFill>
                <a:srgbClr val="01123F"/>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Trace every risk back to its origin. Catch risks at the source, before they ship.</a:t>
            </a:r>
            <a:endParaRPr sz="900" b="0" i="0" u="none" strike="noStrike" cap="none">
              <a:solidFill>
                <a:srgbClr val="01123F"/>
              </a:solidFill>
              <a:latin typeface="Poppins Light"/>
              <a:ea typeface="Poppins Light"/>
              <a:cs typeface="Poppins Light"/>
              <a:sym typeface="Poppins Light"/>
            </a:endParaRPr>
          </a:p>
          <a:p>
            <a:pPr marL="0" marR="0" lvl="0" indent="0" algn="l" rtl="0">
              <a:lnSpc>
                <a:spcPct val="112000"/>
              </a:lnSpc>
              <a:spcBef>
                <a:spcPts val="0"/>
              </a:spcBef>
              <a:spcAft>
                <a:spcPts val="0"/>
              </a:spcAft>
              <a:buClr>
                <a:srgbClr val="000000"/>
              </a:buClr>
              <a:buSzPts val="900"/>
              <a:buFont typeface="Arial"/>
              <a:buNone/>
            </a:pPr>
            <a:endParaRPr sz="900" b="0" i="0" u="none" strike="noStrike" cap="none">
              <a:solidFill>
                <a:srgbClr val="01123F"/>
              </a:solidFill>
              <a:latin typeface="Poppins Light"/>
              <a:ea typeface="Poppins Light"/>
              <a:cs typeface="Poppins Light"/>
              <a:sym typeface="Poppins Light"/>
            </a:endParaRPr>
          </a:p>
        </p:txBody>
      </p:sp>
      <p:sp>
        <p:nvSpPr>
          <p:cNvPr id="1422" name="Google Shape;1422;p69"/>
          <p:cNvSpPr txBox="1"/>
          <p:nvPr/>
        </p:nvSpPr>
        <p:spPr>
          <a:xfrm>
            <a:off x="6243025" y="2644820"/>
            <a:ext cx="2418300" cy="2733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 sz="1000" b="0" i="0" u="none" strike="noStrike" cap="none">
                <a:solidFill>
                  <a:schemeClr val="dk1"/>
                </a:solidFill>
                <a:latin typeface="Poppins SemiBold"/>
                <a:ea typeface="Poppins SemiBold"/>
                <a:cs typeface="Poppins SemiBold"/>
                <a:sym typeface="Poppins SemiBold"/>
              </a:rPr>
              <a:t>Full Code-to-Cloud Context </a:t>
            </a:r>
            <a:br>
              <a:rPr lang="en" sz="1000" b="0" i="0" u="none" strike="noStrike" cap="none">
                <a:solidFill>
                  <a:schemeClr val="dk1"/>
                </a:solidFill>
                <a:latin typeface="Poppins SemiBold"/>
                <a:ea typeface="Poppins SemiBold"/>
                <a:cs typeface="Poppins SemiBold"/>
                <a:sym typeface="Poppins SemiBold"/>
              </a:rPr>
            </a:br>
            <a:r>
              <a:rPr lang="en" sz="1000" b="0" i="0" u="none" strike="noStrike" cap="none">
                <a:solidFill>
                  <a:schemeClr val="dk1"/>
                </a:solidFill>
                <a:latin typeface="Poppins SemiBold"/>
                <a:ea typeface="Poppins SemiBold"/>
                <a:cs typeface="Poppins SemiBold"/>
                <a:sym typeface="Poppins SemiBold"/>
              </a:rPr>
              <a:t>Wiz Code POV</a:t>
            </a:r>
            <a:endParaRPr sz="1000" b="0" i="0" u="none" strike="noStrike" cap="none">
              <a:solidFill>
                <a:schemeClr val="dk1"/>
              </a:solidFill>
              <a:latin typeface="Poppins SemiBold"/>
              <a:ea typeface="Poppins SemiBold"/>
              <a:cs typeface="Poppins SemiBold"/>
              <a:sym typeface="Poppins SemiBold"/>
            </a:endParaRPr>
          </a:p>
        </p:txBody>
      </p:sp>
      <p:pic>
        <p:nvPicPr>
          <p:cNvPr id="1423" name="Google Shape;1423;p69"/>
          <p:cNvPicPr preferRelativeResize="0"/>
          <p:nvPr/>
        </p:nvPicPr>
        <p:blipFill rotWithShape="1">
          <a:blip r:embed="rId4">
            <a:alphaModFix/>
          </a:blip>
          <a:srcRect/>
          <a:stretch/>
        </p:blipFill>
        <p:spPr>
          <a:xfrm>
            <a:off x="1337712" y="1908821"/>
            <a:ext cx="708225" cy="708225"/>
          </a:xfrm>
          <a:prstGeom prst="rect">
            <a:avLst/>
          </a:prstGeom>
          <a:noFill/>
          <a:ln>
            <a:noFill/>
          </a:ln>
        </p:spPr>
      </p:pic>
      <p:sp>
        <p:nvSpPr>
          <p:cNvPr id="1424" name="Google Shape;1424;p69"/>
          <p:cNvSpPr txBox="1">
            <a:spLocks noGrp="1"/>
          </p:cNvSpPr>
          <p:nvPr>
            <p:ph type="title" idx="4294967295"/>
          </p:nvPr>
        </p:nvSpPr>
        <p:spPr>
          <a:xfrm>
            <a:off x="0" y="535725"/>
            <a:ext cx="9144000" cy="6840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chemeClr val="dk1"/>
              </a:buClr>
              <a:buSzPts val="1100"/>
              <a:buFont typeface="Arial"/>
              <a:buNone/>
            </a:pPr>
            <a:r>
              <a:rPr lang="en" sz="2420">
                <a:latin typeface="Poppins Light"/>
                <a:ea typeface="Poppins Light"/>
                <a:cs typeface="Poppins Light"/>
                <a:sym typeface="Poppins Light"/>
              </a:rPr>
              <a:t>Top Three Focus Areas to Mature</a:t>
            </a:r>
            <a:endParaRPr sz="2420">
              <a:latin typeface="Poppins Light"/>
              <a:ea typeface="Poppins Light"/>
              <a:cs typeface="Poppins Light"/>
              <a:sym typeface="Poppins Light"/>
            </a:endParaRPr>
          </a:p>
          <a:p>
            <a:pPr marL="0" lvl="0" indent="0" algn="ctr" rtl="0">
              <a:lnSpc>
                <a:spcPct val="100000"/>
              </a:lnSpc>
              <a:spcBef>
                <a:spcPts val="0"/>
              </a:spcBef>
              <a:spcAft>
                <a:spcPts val="0"/>
              </a:spcAft>
              <a:buClr>
                <a:schemeClr val="dk1"/>
              </a:buClr>
              <a:buSzPts val="1100"/>
              <a:buFont typeface="Arial"/>
              <a:buNone/>
            </a:pPr>
            <a:r>
              <a:rPr lang="en" sz="2420">
                <a:latin typeface="Poppins Light"/>
                <a:ea typeface="Poppins Light"/>
                <a:cs typeface="Poppins Light"/>
                <a:sym typeface="Poppins Light"/>
              </a:rPr>
              <a:t>for Developing Securely Improvements</a:t>
            </a:r>
            <a:endParaRPr sz="2420">
              <a:latin typeface="Poppins Light"/>
              <a:ea typeface="Poppins Light"/>
              <a:cs typeface="Poppins Light"/>
              <a:sym typeface="Poppins Light"/>
            </a:endParaRPr>
          </a:p>
        </p:txBody>
      </p:sp>
      <p:pic>
        <p:nvPicPr>
          <p:cNvPr id="1425" name="Google Shape;1425;p69" title="Group 1000002969.png"/>
          <p:cNvPicPr preferRelativeResize="0"/>
          <p:nvPr/>
        </p:nvPicPr>
        <p:blipFill rotWithShape="1">
          <a:blip r:embed="rId5">
            <a:alphaModFix/>
          </a:blip>
          <a:srcRect/>
          <a:stretch/>
        </p:blipFill>
        <p:spPr>
          <a:xfrm>
            <a:off x="4195263" y="2010813"/>
            <a:ext cx="753475" cy="504238"/>
          </a:xfrm>
          <a:prstGeom prst="rect">
            <a:avLst/>
          </a:prstGeom>
          <a:noFill/>
          <a:ln>
            <a:noFill/>
          </a:ln>
        </p:spPr>
      </p:pic>
      <p:pic>
        <p:nvPicPr>
          <p:cNvPr id="1426" name="Google Shape;1426;p69" title="Group 1000003039.png"/>
          <p:cNvPicPr preferRelativeResize="0"/>
          <p:nvPr/>
        </p:nvPicPr>
        <p:blipFill rotWithShape="1">
          <a:blip r:embed="rId6">
            <a:alphaModFix/>
          </a:blip>
          <a:srcRect/>
          <a:stretch/>
        </p:blipFill>
        <p:spPr>
          <a:xfrm>
            <a:off x="7196474" y="1993500"/>
            <a:ext cx="511400" cy="538875"/>
          </a:xfrm>
          <a:prstGeom prst="rect">
            <a:avLst/>
          </a:prstGeom>
          <a:noFill/>
          <a:ln>
            <a:noFill/>
          </a:ln>
        </p:spPr>
      </p:pic>
      <p:sp>
        <p:nvSpPr>
          <p:cNvPr id="1427" name="Google Shape;1427;p69"/>
          <p:cNvSpPr txBox="1"/>
          <p:nvPr/>
        </p:nvSpPr>
        <p:spPr>
          <a:xfrm>
            <a:off x="3284100" y="3084550"/>
            <a:ext cx="2575800" cy="1367400"/>
          </a:xfrm>
          <a:prstGeom prst="rect">
            <a:avLst/>
          </a:prstGeom>
          <a:noFill/>
          <a:ln>
            <a:noFill/>
          </a:ln>
        </p:spPr>
        <p:txBody>
          <a:bodyPr spcFirstLastPara="1" wrap="square" lIns="68575" tIns="34275" rIns="68575" bIns="34275" anchor="t" anchorCtr="0">
            <a:normAutofit/>
          </a:bodyPr>
          <a:lstStyle/>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Build on a clean image base with WizOS. Hardened, minimal, near-zero-CVE base images.</a:t>
            </a:r>
            <a:endParaRPr sz="900" b="0" i="0" u="none" strike="noStrike" cap="none">
              <a:solidFill>
                <a:srgbClr val="01123F"/>
              </a:solidFill>
              <a:latin typeface="Poppins Light"/>
              <a:ea typeface="Poppins Light"/>
              <a:cs typeface="Poppins Light"/>
              <a:sym typeface="Poppins Light"/>
            </a:endParaRPr>
          </a:p>
          <a:p>
            <a:pPr marL="285750" marR="0" lvl="0" indent="-95250" algn="l" rtl="0">
              <a:lnSpc>
                <a:spcPct val="112000"/>
              </a:lnSpc>
              <a:spcBef>
                <a:spcPts val="0"/>
              </a:spcBef>
              <a:spcAft>
                <a:spcPts val="0"/>
              </a:spcAft>
              <a:buClr>
                <a:srgbClr val="01123F"/>
              </a:buClr>
              <a:buSzPts val="600"/>
              <a:buFont typeface="Poppins Light"/>
              <a:buChar char="●"/>
            </a:pPr>
            <a:r>
              <a:rPr lang="en" sz="900" b="0" i="0" u="none" strike="noStrike" cap="none">
                <a:solidFill>
                  <a:srgbClr val="01123F"/>
                </a:solidFill>
                <a:latin typeface="Poppins Light"/>
                <a:ea typeface="Poppins Light"/>
                <a:cs typeface="Poppins Light"/>
                <a:sym typeface="Poppins Light"/>
              </a:rPr>
              <a:t>Allows Enforce quality with proper image tagging via Wiz CLI. Stamps each image by digest, giving full code-to-cloud traceability.</a:t>
            </a:r>
            <a:endParaRPr sz="900" b="0" i="0" u="none" strike="noStrike" cap="none">
              <a:solidFill>
                <a:srgbClr val="01123F"/>
              </a:solidFill>
              <a:latin typeface="Poppins Light"/>
              <a:ea typeface="Poppins Light"/>
              <a:cs typeface="Poppins Light"/>
              <a:sym typeface="Poppins Ligh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 Slides">
  <a:themeElements>
    <a:clrScheme name="Wiz Colors">
      <a:dk1>
        <a:srgbClr val="01123F"/>
      </a:dk1>
      <a:lt1>
        <a:srgbClr val="FFFFFF"/>
      </a:lt1>
      <a:dk2>
        <a:srgbClr val="0054EC"/>
      </a:dk2>
      <a:lt2>
        <a:srgbClr val="F3F8FF"/>
      </a:lt2>
      <a:accent1>
        <a:srgbClr val="B8D3FF"/>
      </a:accent1>
      <a:accent2>
        <a:srgbClr val="6195FF"/>
      </a:accent2>
      <a:accent3>
        <a:srgbClr val="FFBFFF"/>
      </a:accent3>
      <a:accent4>
        <a:srgbClr val="F595F5"/>
      </a:accent4>
      <a:accent5>
        <a:srgbClr val="E9F9EE"/>
      </a:accent5>
      <a:accent6>
        <a:srgbClr val="FFEFEF"/>
      </a:accent6>
      <a:hlink>
        <a:srgbClr val="0055F5"/>
      </a:hlink>
      <a:folHlink>
        <a:srgbClr val="0112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TotalTime>
  <Words>5200</Words>
  <Application>Microsoft Office PowerPoint</Application>
  <PresentationFormat>On-screen Show (16:9)</PresentationFormat>
  <Paragraphs>800</Paragraphs>
  <Slides>23</Slides>
  <Notes>23</Notes>
  <HiddenSlides>4</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23</vt:i4>
      </vt:variant>
    </vt:vector>
  </HeadingPairs>
  <TitlesOfParts>
    <vt:vector size="34" baseType="lpstr">
      <vt:lpstr>Poppins</vt:lpstr>
      <vt:lpstr>JetBrains Mono</vt:lpstr>
      <vt:lpstr>Poppins Medium</vt:lpstr>
      <vt:lpstr>DM Sans</vt:lpstr>
      <vt:lpstr>Arial</vt:lpstr>
      <vt:lpstr>Poppins SemiBold</vt:lpstr>
      <vt:lpstr>Poppins Light</vt:lpstr>
      <vt:lpstr>DM Sans Medium</vt:lpstr>
      <vt:lpstr>Calibri</vt:lpstr>
      <vt:lpstr>Simple Light</vt:lpstr>
      <vt:lpstr>Content Slides</vt:lpstr>
      <vt:lpstr>PowerPoint Presentation</vt:lpstr>
      <vt:lpstr>Wiz Adoption &amp; Democratization Maturity Model </vt:lpstr>
      <vt:lpstr>Cloud and AI Visibility Snapshot</vt:lpstr>
      <vt:lpstr>Wiz Adoption &amp; Usage Snapshot</vt:lpstr>
      <vt:lpstr>Wiz System Health &amp; Scans Snapshot</vt:lpstr>
      <vt:lpstr>Democratization Snapshot</vt:lpstr>
      <vt:lpstr>Preview Hub Availability vs Usage</vt:lpstr>
      <vt:lpstr>Preview Hub Availability vs Usage</vt:lpstr>
      <vt:lpstr>Roadmap Tracker Usage</vt:lpstr>
      <vt:lpstr>PowerPoint Presentation</vt:lpstr>
      <vt:lpstr>Wiz Security Maturity Model </vt:lpstr>
      <vt:lpstr>Cloud Security Posture Snapshot</vt:lpstr>
      <vt:lpstr>Cloud Security Risk Snapshot</vt:lpstr>
      <vt:lpstr>PowerPoint Presentation</vt:lpstr>
      <vt:lpstr>Secure Development Snapshot</vt:lpstr>
      <vt:lpstr>PowerPoint Presentation</vt:lpstr>
      <vt:lpstr>PowerPoint Presentation</vt:lpstr>
      <vt:lpstr>PowerPoint Presentation</vt:lpstr>
      <vt:lpstr>PowerPoint Presentation</vt:lpstr>
      <vt:lpstr>Top Three Focus Areas to Improve Cloud Visibility &amp; Coverage</vt:lpstr>
      <vt:lpstr>Top Three Focus Areas to Mature for Democratization Improvements</vt:lpstr>
      <vt:lpstr>Top Three Focus Areas to Improve Security Posture &amp; Risk Reduction</vt:lpstr>
      <vt:lpstr>Top Three Focus Areas to Mature for Developing Securely Improvements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Lindsey Petrone</cp:lastModifiedBy>
  <cp:revision>5</cp:revision>
  <dcterms:modified xsi:type="dcterms:W3CDTF">2026-08-26T02:35:10Z</dcterms:modified>
</cp:coreProperties>
</file>