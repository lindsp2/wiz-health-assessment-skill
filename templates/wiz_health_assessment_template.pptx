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2" r:id="rId1"/>
    <p:sldMasterId id="2147483693" r:id="rId2"/>
  </p:sldMasterIdLst>
  <p:notesMasterIdLst>
    <p:notesMasterId r:id="rId26"/>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9144000" cy="5143500" type="screen16x9"/>
  <p:notesSz cx="6858000" cy="9144000"/>
  <p:embeddedFontLst>
    <p:embeddedFont>
      <p:font typeface="DM Sans" pitchFamily="2" charset="0"/>
      <p:regular r:id="rId27"/>
      <p:bold r:id="rId28"/>
      <p:italic r:id="rId29"/>
      <p:boldItalic r:id="rId30"/>
    </p:embeddedFont>
    <p:embeddedFont>
      <p:font typeface="DM Sans Medium" pitchFamily="2" charset="0"/>
      <p:regular r:id="rId31"/>
      <p:bold r:id="rId32"/>
      <p:italic r:id="rId33"/>
      <p:boldItalic r:id="rId34"/>
    </p:embeddedFont>
    <p:embeddedFont>
      <p:font typeface="JetBrains Mono" panose="020B0604020202020204" charset="0"/>
      <p:regular r:id="rId35"/>
      <p:bold r:id="rId36"/>
      <p:italic r:id="rId37"/>
      <p:boldItalic r:id="rId38"/>
    </p:embeddedFont>
    <p:embeddedFont>
      <p:font typeface="Poppins" panose="00000500000000000000" pitchFamily="2" charset="0"/>
      <p:regular r:id="rId39"/>
      <p:bold r:id="rId40"/>
      <p:italic r:id="rId41"/>
      <p:boldItalic r:id="rId42"/>
    </p:embeddedFont>
    <p:embeddedFont>
      <p:font typeface="Poppins Light" panose="00000400000000000000" pitchFamily="2" charset="0"/>
      <p:regular r:id="rId43"/>
      <p:bold r:id="rId44"/>
      <p:italic r:id="rId45"/>
      <p:boldItalic r:id="rId46"/>
    </p:embeddedFont>
    <p:embeddedFont>
      <p:font typeface="Poppins SemiBold" panose="00000700000000000000" pitchFamily="2" charset="0"/>
      <p:regular r:id="rId47"/>
      <p:bold r:id="rId48"/>
      <p:italic r:id="rId49"/>
      <p:boldItalic r:id="rId5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54E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0" d="100"/>
          <a:sy n="120" d="100"/>
        </p:scale>
        <p:origin x="56" y="3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9" Type="http://schemas.openxmlformats.org/officeDocument/2006/relationships/font" Target="fonts/font13.fntdata"/><Relationship Id="rId21" Type="http://schemas.openxmlformats.org/officeDocument/2006/relationships/slide" Target="slides/slide19.xml"/><Relationship Id="rId34" Type="http://schemas.openxmlformats.org/officeDocument/2006/relationships/font" Target="fonts/font8.fntdata"/><Relationship Id="rId42" Type="http://schemas.openxmlformats.org/officeDocument/2006/relationships/font" Target="fonts/font16.fntdata"/><Relationship Id="rId47" Type="http://schemas.openxmlformats.org/officeDocument/2006/relationships/font" Target="fonts/font21.fntdata"/><Relationship Id="rId50" Type="http://schemas.openxmlformats.org/officeDocument/2006/relationships/font" Target="fonts/font24.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font" Target="fonts/font3.fntdata"/><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6.fntdata"/><Relationship Id="rId37" Type="http://schemas.openxmlformats.org/officeDocument/2006/relationships/font" Target="fonts/font11.fntdata"/><Relationship Id="rId40" Type="http://schemas.openxmlformats.org/officeDocument/2006/relationships/font" Target="fonts/font14.fntdata"/><Relationship Id="rId45" Type="http://schemas.openxmlformats.org/officeDocument/2006/relationships/font" Target="fonts/font19.fntdata"/><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5.fntdata"/><Relationship Id="rId44" Type="http://schemas.openxmlformats.org/officeDocument/2006/relationships/font" Target="fonts/font18.fntdata"/><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 Id="rId43" Type="http://schemas.openxmlformats.org/officeDocument/2006/relationships/font" Target="fonts/font17.fntdata"/><Relationship Id="rId48" Type="http://schemas.openxmlformats.org/officeDocument/2006/relationships/font" Target="fonts/font22.fntdata"/><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7.fntdata"/><Relationship Id="rId38" Type="http://schemas.openxmlformats.org/officeDocument/2006/relationships/font" Target="fonts/font12.fntdata"/><Relationship Id="rId46" Type="http://schemas.openxmlformats.org/officeDocument/2006/relationships/font" Target="fonts/font20.fntdata"/><Relationship Id="rId20" Type="http://schemas.openxmlformats.org/officeDocument/2006/relationships/slide" Target="slides/slide18.xml"/><Relationship Id="rId41" Type="http://schemas.openxmlformats.org/officeDocument/2006/relationships/font" Target="fonts/font15.fntdata"/><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font" Target="fonts/font2.fntdata"/><Relationship Id="rId36" Type="http://schemas.openxmlformats.org/officeDocument/2006/relationships/font" Target="fonts/font10.fntdata"/><Relationship Id="rId49" Type="http://schemas.openxmlformats.org/officeDocument/2006/relationships/font" Target="fonts/font2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4" name="Google Shape;234;p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235" name="Google Shape;235;p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4" name="Google Shape;244;p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marR="381000" lvl="0" indent="-298450" algn="l" rtl="0">
              <a:lnSpc>
                <a:spcPct val="115000"/>
              </a:lnSpc>
              <a:spcBef>
                <a:spcPts val="1200"/>
              </a:spcBef>
              <a:spcAft>
                <a:spcPts val="0"/>
              </a:spcAft>
              <a:buClr>
                <a:schemeClr val="dk1"/>
              </a:buClr>
              <a:buSzPts val="1100"/>
              <a:buChar char="-"/>
            </a:pPr>
            <a:endParaRPr>
              <a:solidFill>
                <a:schemeClr val="dk1"/>
              </a:solidFill>
            </a:endParaRPr>
          </a:p>
        </p:txBody>
      </p:sp>
      <p:sp>
        <p:nvSpPr>
          <p:cNvPr id="245" name="Google Shape;245;p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7" name="Google Shape;287;p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288" name="Google Shape;288;p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5" name="Google Shape;385;p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386" name="Google Shape;386;p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3" name="Google Shape;433;p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434" name="Google Shape;434;p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8" name="Google Shape;498;p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499" name="Google Shape;499;p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7" name="Google Shape;587;p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588" name="Google Shape;588;p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9" name="Google Shape;599;p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600" name="Google Shape;600;p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2" name="Google Shape;612;p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solidFill>
                <a:schemeClr val="dk1"/>
              </a:solidFill>
            </a:endParaRPr>
          </a:p>
        </p:txBody>
      </p:sp>
      <p:sp>
        <p:nvSpPr>
          <p:cNvPr id="613" name="Google Shape;613;p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0"/>
        <p:cNvGrpSpPr/>
        <p:nvPr/>
      </p:nvGrpSpPr>
      <p:grpSpPr>
        <a:xfrm>
          <a:off x="0" y="0"/>
          <a:ext cx="0" cy="0"/>
          <a:chOff x="0" y="0"/>
          <a:chExt cx="0" cy="0"/>
        </a:xfrm>
      </p:grpSpPr>
      <p:sp>
        <p:nvSpPr>
          <p:cNvPr id="621" name="Google Shape;621;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2" name="Google Shape;622;p1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623" name="Google Shape;623;p1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1" name="Google Shape;631;p1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p>
        </p:txBody>
      </p:sp>
      <p:sp>
        <p:nvSpPr>
          <p:cNvPr id="632" name="Google Shape;632;p1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1" name="Google Shape;671;p1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Char char="•"/>
            </a:pPr>
            <a:endParaRPr sz="1200">
              <a:solidFill>
                <a:schemeClr val="dk1"/>
              </a:solidFill>
            </a:endParaRPr>
          </a:p>
        </p:txBody>
      </p:sp>
      <p:sp>
        <p:nvSpPr>
          <p:cNvPr id="672" name="Google Shape;672;p1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2"/>
        <p:cNvGrpSpPr/>
        <p:nvPr/>
      </p:nvGrpSpPr>
      <p:grpSpPr>
        <a:xfrm>
          <a:off x="0" y="0"/>
          <a:ext cx="0" cy="0"/>
          <a:chOff x="0" y="0"/>
          <a:chExt cx="0" cy="0"/>
        </a:xfrm>
      </p:grpSpPr>
      <p:sp>
        <p:nvSpPr>
          <p:cNvPr id="713" name="Google Shape;713;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4" name="Google Shape;714;p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Char char="•"/>
            </a:pPr>
            <a:endParaRPr sz="1200">
              <a:solidFill>
                <a:schemeClr val="dk1"/>
              </a:solidFill>
            </a:endParaRPr>
          </a:p>
        </p:txBody>
      </p:sp>
      <p:sp>
        <p:nvSpPr>
          <p:cNvPr id="715" name="Google Shape;715;p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p:sp>
        <p:nvSpPr>
          <p:cNvPr id="748" name="Google Shape;748;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9" name="Google Shape;749;p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750" name="Google Shape;750;p1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1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Char char="•"/>
            </a:pPr>
            <a:endParaRPr sz="1200">
              <a:solidFill>
                <a:schemeClr val="dk1"/>
              </a:solidFill>
            </a:endParaRPr>
          </a:p>
        </p:txBody>
      </p:sp>
      <p:sp>
        <p:nvSpPr>
          <p:cNvPr id="759" name="Google Shape;759;p1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6"/>
        <p:cNvGrpSpPr/>
        <p:nvPr/>
      </p:nvGrpSpPr>
      <p:grpSpPr>
        <a:xfrm>
          <a:off x="0" y="0"/>
          <a:ext cx="0" cy="0"/>
          <a:chOff x="0" y="0"/>
          <a:chExt cx="0" cy="0"/>
        </a:xfrm>
      </p:grpSpPr>
      <p:sp>
        <p:nvSpPr>
          <p:cNvPr id="847" name="Google Shape;847;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48" name="Google Shape;848;p1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849" name="Google Shape;849;p1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17: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57" name="Google Shape;857;p17: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858" name="Google Shape;858;p17: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9"/>
        <p:cNvGrpSpPr/>
        <p:nvPr/>
      </p:nvGrpSpPr>
      <p:grpSpPr>
        <a:xfrm>
          <a:off x="0" y="0"/>
          <a:ext cx="0" cy="0"/>
          <a:chOff x="0" y="0"/>
          <a:chExt cx="0" cy="0"/>
        </a:xfrm>
      </p:grpSpPr>
      <p:sp>
        <p:nvSpPr>
          <p:cNvPr id="1010" name="Google Shape;1010;p18: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1" name="Google Shape;1011;p18: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012" name="Google Shape;1012;p18: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1"/>
        <p:cNvGrpSpPr/>
        <p:nvPr/>
      </p:nvGrpSpPr>
      <p:grpSpPr>
        <a:xfrm>
          <a:off x="0" y="0"/>
          <a:ext cx="0" cy="0"/>
          <a:chOff x="0" y="0"/>
          <a:chExt cx="0" cy="0"/>
        </a:xfrm>
      </p:grpSpPr>
      <p:sp>
        <p:nvSpPr>
          <p:cNvPr id="1202" name="Google Shape;1202;p19: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03" name="Google Shape;1203;p19: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204" name="Google Shape;1204;p19: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3"/>
        <p:cNvGrpSpPr/>
        <p:nvPr/>
      </p:nvGrpSpPr>
      <p:grpSpPr>
        <a:xfrm>
          <a:off x="0" y="0"/>
          <a:ext cx="0" cy="0"/>
          <a:chOff x="0" y="0"/>
          <a:chExt cx="0" cy="0"/>
        </a:xfrm>
      </p:grpSpPr>
      <p:sp>
        <p:nvSpPr>
          <p:cNvPr id="1334" name="Google Shape;1334;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5" name="Google Shape;1335;p2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p>
        </p:txBody>
      </p:sp>
      <p:sp>
        <p:nvSpPr>
          <p:cNvPr id="1336" name="Google Shape;1336;p2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4"/>
        <p:cNvGrpSpPr/>
        <p:nvPr/>
      </p:nvGrpSpPr>
      <p:grpSpPr>
        <a:xfrm>
          <a:off x="0" y="0"/>
          <a:ext cx="0" cy="0"/>
          <a:chOff x="0" y="0"/>
          <a:chExt cx="0" cy="0"/>
        </a:xfrm>
      </p:grpSpPr>
      <p:sp>
        <p:nvSpPr>
          <p:cNvPr id="1355" name="Google Shape;1355;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56" name="Google Shape;1356;p2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0" algn="l" rtl="0">
              <a:lnSpc>
                <a:spcPct val="100000"/>
              </a:lnSpc>
              <a:spcBef>
                <a:spcPts val="0"/>
              </a:spcBef>
              <a:spcAft>
                <a:spcPts val="0"/>
              </a:spcAft>
              <a:buSzPts val="1100"/>
              <a:buNone/>
            </a:pPr>
            <a:endParaRPr/>
          </a:p>
        </p:txBody>
      </p:sp>
      <p:sp>
        <p:nvSpPr>
          <p:cNvPr id="1357" name="Google Shape;1357;p2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6"/>
        <p:cNvGrpSpPr/>
        <p:nvPr/>
      </p:nvGrpSpPr>
      <p:grpSpPr>
        <a:xfrm>
          <a:off x="0" y="0"/>
          <a:ext cx="0" cy="0"/>
          <a:chOff x="0" y="0"/>
          <a:chExt cx="0" cy="0"/>
        </a:xfrm>
      </p:grpSpPr>
      <p:sp>
        <p:nvSpPr>
          <p:cNvPr id="1387" name="Google Shape;1387;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88" name="Google Shape;1388;p2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Clr>
                <a:schemeClr val="dk1"/>
              </a:buClr>
              <a:buSzPts val="1100"/>
              <a:buChar char="-"/>
            </a:pPr>
            <a:endParaRPr/>
          </a:p>
        </p:txBody>
      </p:sp>
      <p:sp>
        <p:nvSpPr>
          <p:cNvPr id="1389" name="Google Shape;1389;p2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7"/>
        <p:cNvGrpSpPr/>
        <p:nvPr/>
      </p:nvGrpSpPr>
      <p:grpSpPr>
        <a:xfrm>
          <a:off x="0" y="0"/>
          <a:ext cx="0" cy="0"/>
          <a:chOff x="0" y="0"/>
          <a:chExt cx="0" cy="0"/>
        </a:xfrm>
      </p:grpSpPr>
      <p:sp>
        <p:nvSpPr>
          <p:cNvPr id="1408" name="Google Shape;1408;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09" name="Google Shape;1409;p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410" name="Google Shape;1410;p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6.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1.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Master" Target="../slideMasters/slideMaster2.xml"/><Relationship Id="rId4" Type="http://schemas.openxmlformats.org/officeDocument/2006/relationships/image" Target="../media/image12.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4.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Opening_Blank">
  <p:cSld name="Opening_Blank">
    <p:bg>
      <p:bgPr>
        <a:solidFill>
          <a:srgbClr val="0254EC"/>
        </a:solidFill>
        <a:effectLst/>
      </p:bgPr>
    </p:bg>
    <p:spTree>
      <p:nvGrpSpPr>
        <p:cNvPr id="1" name="Shape 9"/>
        <p:cNvGrpSpPr/>
        <p:nvPr/>
      </p:nvGrpSpPr>
      <p:grpSpPr>
        <a:xfrm>
          <a:off x="0" y="0"/>
          <a:ext cx="0" cy="0"/>
          <a:chOff x="0" y="0"/>
          <a:chExt cx="0" cy="0"/>
        </a:xfrm>
      </p:grpSpPr>
      <p:pic>
        <p:nvPicPr>
          <p:cNvPr id="10" name="Google Shape;10;p2" title="bg_blue.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23 1">
  <p:cSld name="ONE_COLUMN_TEXT_1">
    <p:spTree>
      <p:nvGrpSpPr>
        <p:cNvPr id="1" name="Shape 11"/>
        <p:cNvGrpSpPr/>
        <p:nvPr/>
      </p:nvGrpSpPr>
      <p:grpSpPr>
        <a:xfrm>
          <a:off x="0" y="0"/>
          <a:ext cx="0" cy="0"/>
          <a:chOff x="0" y="0"/>
          <a:chExt cx="0" cy="0"/>
        </a:xfrm>
      </p:grpSpPr>
      <p:pic>
        <p:nvPicPr>
          <p:cNvPr id="12" name="Google Shape;12;p3" title="bg6.png"/>
          <p:cNvPicPr preferRelativeResize="0"/>
          <p:nvPr/>
        </p:nvPicPr>
        <p:blipFill rotWithShape="1">
          <a:blip r:embed="rId2">
            <a:alphaModFix/>
          </a:blip>
          <a:srcRect/>
          <a:stretch/>
        </p:blipFill>
        <p:spPr>
          <a:xfrm>
            <a:off x="0" y="10"/>
            <a:ext cx="9144003" cy="5143490"/>
          </a:xfrm>
          <a:prstGeom prst="rect">
            <a:avLst/>
          </a:prstGeom>
          <a:noFill/>
          <a:ln>
            <a:noFill/>
          </a:ln>
        </p:spPr>
      </p:pic>
      <p:sp>
        <p:nvSpPr>
          <p:cNvPr id="13" name="Google Shape;13;p3"/>
          <p:cNvSpPr/>
          <p:nvPr/>
        </p:nvSpPr>
        <p:spPr>
          <a:xfrm>
            <a:off x="0" y="2500300"/>
            <a:ext cx="9158700" cy="2665200"/>
          </a:xfrm>
          <a:prstGeom prst="rect">
            <a:avLst/>
          </a:prstGeom>
          <a:gradFill>
            <a:gsLst>
              <a:gs pos="0">
                <a:schemeClr val="lt1"/>
              </a:gs>
              <a:gs pos="100000">
                <a:srgbClr val="FFFFFF">
                  <a:alpha val="0"/>
                </a:srgbClr>
              </a:gs>
            </a:gsLst>
            <a:lin ang="16200038" scaled="0"/>
          </a:gra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123">
  <p:cSld name="ONE_COLUMN_TEXT">
    <p:spTree>
      <p:nvGrpSpPr>
        <p:cNvPr id="1" name="Shape 14"/>
        <p:cNvGrpSpPr/>
        <p:nvPr/>
      </p:nvGrpSpPr>
      <p:grpSpPr>
        <a:xfrm>
          <a:off x="0" y="0"/>
          <a:ext cx="0" cy="0"/>
          <a:chOff x="0" y="0"/>
          <a:chExt cx="0" cy="0"/>
        </a:xfrm>
      </p:grpSpPr>
      <p:pic>
        <p:nvPicPr>
          <p:cNvPr id="15" name="Google Shape;15;p4" title="bg6.png"/>
          <p:cNvPicPr preferRelativeResize="0"/>
          <p:nvPr/>
        </p:nvPicPr>
        <p:blipFill rotWithShape="1">
          <a:blip r:embed="rId2">
            <a:alphaModFix/>
          </a:blip>
          <a:srcRect/>
          <a:stretch/>
        </p:blipFill>
        <p:spPr>
          <a:xfrm>
            <a:off x="0" y="10"/>
            <a:ext cx="9144003" cy="514349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6"/>
        <p:cNvGrpSpPr/>
        <p:nvPr/>
      </p:nvGrpSpPr>
      <p:grpSpPr>
        <a:xfrm>
          <a:off x="0" y="0"/>
          <a:ext cx="0" cy="0"/>
          <a:chOff x="0" y="0"/>
          <a:chExt cx="0" cy="0"/>
        </a:xfrm>
      </p:grpSpPr>
      <p:pic>
        <p:nvPicPr>
          <p:cNvPr id="17" name="Google Shape;17;p5" title="bg2.png"/>
          <p:cNvPicPr preferRelativeResize="0"/>
          <p:nvPr/>
        </p:nvPicPr>
        <p:blipFill rotWithShape="1">
          <a:blip r:embed="rId2">
            <a:alphaModFix/>
          </a:blip>
          <a:srcRect/>
          <a:stretch/>
        </p:blipFill>
        <p:spPr>
          <a:xfrm>
            <a:off x="0" y="10"/>
            <a:ext cx="9143997" cy="514349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8"/>
        <p:cNvGrpSpPr/>
        <p:nvPr/>
      </p:nvGrpSpPr>
      <p:grpSpPr>
        <a:xfrm>
          <a:off x="0" y="0"/>
          <a:ext cx="0" cy="0"/>
          <a:chOff x="0" y="0"/>
          <a:chExt cx="0" cy="0"/>
        </a:xfrm>
      </p:grpSpPr>
      <p:pic>
        <p:nvPicPr>
          <p:cNvPr id="19" name="Google Shape;19;p6" title="bg_blue2.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pic>
        <p:nvPicPr>
          <p:cNvPr id="21" name="Google Shape;21;p7" title="bg1.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2"/>
        <p:cNvGrpSpPr/>
        <p:nvPr/>
      </p:nvGrpSpPr>
      <p:grpSpPr>
        <a:xfrm>
          <a:off x="0" y="0"/>
          <a:ext cx="0" cy="0"/>
          <a:chOff x="0" y="0"/>
          <a:chExt cx="0" cy="0"/>
        </a:xfrm>
      </p:grpSpPr>
      <p:pic>
        <p:nvPicPr>
          <p:cNvPr id="23" name="Google Shape;23;p8" title="bg3.png"/>
          <p:cNvPicPr preferRelativeResize="0"/>
          <p:nvPr/>
        </p:nvPicPr>
        <p:blipFill rotWithShape="1">
          <a:blip r:embed="rId2">
            <a:alphaModFix/>
          </a:blip>
          <a:srcRect/>
          <a:stretch/>
        </p:blipFill>
        <p:spPr>
          <a:xfrm>
            <a:off x="0" y="10"/>
            <a:ext cx="9143997" cy="514349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pic>
        <p:nvPicPr>
          <p:cNvPr id="25" name="Google Shape;25;p9" title="bg4.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
        <p:cNvGrpSpPr/>
        <p:nvPr/>
      </p:nvGrpSpPr>
      <p:grpSpPr>
        <a:xfrm>
          <a:off x="0" y="0"/>
          <a:ext cx="0" cy="0"/>
          <a:chOff x="0" y="0"/>
          <a:chExt cx="0" cy="0"/>
        </a:xfrm>
      </p:grpSpPr>
      <p:pic>
        <p:nvPicPr>
          <p:cNvPr id="27" name="Google Shape;27;p10" title="bg5.png"/>
          <p:cNvPicPr preferRelativeResize="0"/>
          <p:nvPr/>
        </p:nvPicPr>
        <p:blipFill rotWithShape="1">
          <a:blip r:embed="rId2">
            <a:alphaModFix/>
          </a:blip>
          <a:srcRect/>
          <a:stretch/>
        </p:blipFill>
        <p:spPr>
          <a:xfrm>
            <a:off x="0" y="-10"/>
            <a:ext cx="9144003" cy="5214936"/>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8"/>
        <p:cNvGrpSpPr/>
        <p:nvPr/>
      </p:nvGrpSpPr>
      <p:grpSpPr>
        <a:xfrm>
          <a:off x="0" y="0"/>
          <a:ext cx="0" cy="0"/>
          <a:chOff x="0" y="0"/>
          <a:chExt cx="0" cy="0"/>
        </a:xfrm>
      </p:grpSpPr>
      <p:sp>
        <p:nvSpPr>
          <p:cNvPr id="29" name="Google Shape;29;p1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0" name="Google Shape;30;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1"/>
        <p:cNvGrpSpPr/>
        <p:nvPr/>
      </p:nvGrpSpPr>
      <p:grpSpPr>
        <a:xfrm>
          <a:off x="0" y="0"/>
          <a:ext cx="0" cy="0"/>
          <a:chOff x="0" y="0"/>
          <a:chExt cx="0" cy="0"/>
        </a:xfrm>
      </p:grpSpPr>
      <p:sp>
        <p:nvSpPr>
          <p:cNvPr id="32" name="Google Shape;32;p1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 name="Google Shape;33;p1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4" name="Google Shape;34;p1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5" name="Google Shape;35;p1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36" name="Google Shape;36;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7"/>
        <p:cNvGrpSpPr/>
        <p:nvPr/>
      </p:nvGrpSpPr>
      <p:grpSpPr>
        <a:xfrm>
          <a:off x="0" y="0"/>
          <a:ext cx="0" cy="0"/>
          <a:chOff x="0" y="0"/>
          <a:chExt cx="0" cy="0"/>
        </a:xfrm>
      </p:grpSpPr>
      <p:sp>
        <p:nvSpPr>
          <p:cNvPr id="38" name="Google Shape;38;p13"/>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39" name="Google Shape;39;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0"/>
        <p:cNvGrpSpPr/>
        <p:nvPr/>
      </p:nvGrpSpPr>
      <p:grpSpPr>
        <a:xfrm>
          <a:off x="0" y="0"/>
          <a:ext cx="0" cy="0"/>
          <a:chOff x="0" y="0"/>
          <a:chExt cx="0" cy="0"/>
        </a:xfrm>
      </p:grpSpPr>
      <p:sp>
        <p:nvSpPr>
          <p:cNvPr id="41" name="Google Shape;41;p14"/>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2" name="Google Shape;42;p14"/>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3" name="Google Shape;43;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i">
  <p:cSld name="ONE_COLUMN_TEXT_1_1">
    <p:spTree>
      <p:nvGrpSpPr>
        <p:cNvPr id="1" name="Shape 46"/>
        <p:cNvGrpSpPr/>
        <p:nvPr/>
      </p:nvGrpSpPr>
      <p:grpSpPr>
        <a:xfrm>
          <a:off x="0" y="0"/>
          <a:ext cx="0" cy="0"/>
          <a:chOff x="0" y="0"/>
          <a:chExt cx="0" cy="0"/>
        </a:xfrm>
      </p:grpSpPr>
      <p:pic>
        <p:nvPicPr>
          <p:cNvPr id="47" name="Google Shape;47;p16" title="bg7.png"/>
          <p:cNvPicPr preferRelativeResize="0"/>
          <p:nvPr/>
        </p:nvPicPr>
        <p:blipFill rotWithShape="1">
          <a:blip r:embed="rId2">
            <a:alphaModFix/>
          </a:blip>
          <a:srcRect/>
          <a:stretch/>
        </p:blipFill>
        <p:spPr>
          <a:xfrm>
            <a:off x="0" y="10"/>
            <a:ext cx="9144003" cy="514349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3"/>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B_Title and Content (2/3) Light">
  <p:cSld name="Title and Content (2/3) Light">
    <p:spTree>
      <p:nvGrpSpPr>
        <p:cNvPr id="1" name="Shape 54"/>
        <p:cNvGrpSpPr/>
        <p:nvPr/>
      </p:nvGrpSpPr>
      <p:grpSpPr>
        <a:xfrm>
          <a:off x="0" y="0"/>
          <a:ext cx="0" cy="0"/>
          <a:chOff x="0" y="0"/>
          <a:chExt cx="0" cy="0"/>
        </a:xfrm>
      </p:grpSpPr>
      <p:sp>
        <p:nvSpPr>
          <p:cNvPr id="55" name="Google Shape;55;p19"/>
          <p:cNvSpPr/>
          <p:nvPr/>
        </p:nvSpPr>
        <p:spPr>
          <a:xfrm>
            <a:off x="-4188" y="0"/>
            <a:ext cx="30777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56" name="Google Shape;56;p19"/>
          <p:cNvSpPr txBox="1">
            <a:spLocks noGrp="1"/>
          </p:cNvSpPr>
          <p:nvPr>
            <p:ph type="title"/>
          </p:nvPr>
        </p:nvSpPr>
        <p:spPr>
          <a:xfrm>
            <a:off x="420742" y="273844"/>
            <a:ext cx="22278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7" name="Google Shape;57;p19"/>
          <p:cNvSpPr txBox="1">
            <a:spLocks noGrp="1"/>
          </p:cNvSpPr>
          <p:nvPr>
            <p:ph type="body" idx="1"/>
          </p:nvPr>
        </p:nvSpPr>
        <p:spPr>
          <a:xfrm>
            <a:off x="420742" y="812524"/>
            <a:ext cx="22278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58" name="Google Shape;58;p19"/>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_Divider Slide">
  <p:cSld name="Divider Slide">
    <p:spTree>
      <p:nvGrpSpPr>
        <p:cNvPr id="1" name="Shape 59"/>
        <p:cNvGrpSpPr/>
        <p:nvPr/>
      </p:nvGrpSpPr>
      <p:grpSpPr>
        <a:xfrm>
          <a:off x="0" y="0"/>
          <a:ext cx="0" cy="0"/>
          <a:chOff x="0" y="0"/>
          <a:chExt cx="0" cy="0"/>
        </a:xfrm>
      </p:grpSpPr>
      <p:pic>
        <p:nvPicPr>
          <p:cNvPr id="60" name="Google Shape;60;p20"/>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61" name="Google Shape;61;p20"/>
          <p:cNvSpPr txBox="1">
            <a:spLocks noGrp="1"/>
          </p:cNvSpPr>
          <p:nvPr>
            <p:ph type="title"/>
          </p:nvPr>
        </p:nvSpPr>
        <p:spPr>
          <a:xfrm>
            <a:off x="420742" y="1645445"/>
            <a:ext cx="8302500" cy="367200"/>
          </a:xfrm>
          <a:prstGeom prst="rect">
            <a:avLst/>
          </a:prstGeom>
          <a:noFill/>
          <a:ln>
            <a:noFill/>
          </a:ln>
        </p:spPr>
        <p:txBody>
          <a:bodyPr spcFirstLastPara="1" wrap="square" lIns="68575" tIns="34275" rIns="68575" bIns="34275" anchor="ctr" anchorCtr="0">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pic>
        <p:nvPicPr>
          <p:cNvPr id="62" name="Google Shape;62;p20"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White background_Plain">
  <p:cSld name="White background_Plain">
    <p:spTree>
      <p:nvGrpSpPr>
        <p:cNvPr id="1" name="Shape 63"/>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A_Title Slide + Name">
  <p:cSld name="Title Slide + Name">
    <p:bg>
      <p:bgPr>
        <a:solidFill>
          <a:schemeClr val="dk2"/>
        </a:solidFill>
        <a:effectLst/>
      </p:bgPr>
    </p:bg>
    <p:spTree>
      <p:nvGrpSpPr>
        <p:cNvPr id="1" name="Shape 64"/>
        <p:cNvGrpSpPr/>
        <p:nvPr/>
      </p:nvGrpSpPr>
      <p:grpSpPr>
        <a:xfrm>
          <a:off x="0" y="0"/>
          <a:ext cx="0" cy="0"/>
          <a:chOff x="0" y="0"/>
          <a:chExt cx="0" cy="0"/>
        </a:xfrm>
      </p:grpSpPr>
      <p:sp>
        <p:nvSpPr>
          <p:cNvPr id="65" name="Google Shape;65;p22"/>
          <p:cNvSpPr txBox="1">
            <a:spLocks noGrp="1"/>
          </p:cNvSpPr>
          <p:nvPr>
            <p:ph type="ctrTitle"/>
          </p:nvPr>
        </p:nvSpPr>
        <p:spPr>
          <a:xfrm>
            <a:off x="716304" y="1261139"/>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a:endParaRPr/>
          </a:p>
        </p:txBody>
      </p:sp>
      <p:sp>
        <p:nvSpPr>
          <p:cNvPr id="66" name="Google Shape;66;p22"/>
          <p:cNvSpPr txBox="1">
            <a:spLocks noGrp="1"/>
          </p:cNvSpPr>
          <p:nvPr>
            <p:ph type="subTitle" idx="1"/>
          </p:nvPr>
        </p:nvSpPr>
        <p:spPr>
          <a:xfrm>
            <a:off x="716304" y="232276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a:endParaRPr/>
          </a:p>
        </p:txBody>
      </p:sp>
      <p:pic>
        <p:nvPicPr>
          <p:cNvPr id="67" name="Google Shape;67;p22"/>
          <p:cNvPicPr preferRelativeResize="0"/>
          <p:nvPr/>
        </p:nvPicPr>
        <p:blipFill rotWithShape="1">
          <a:blip r:embed="rId2">
            <a:alphaModFix/>
          </a:blip>
          <a:srcRect/>
          <a:stretch/>
        </p:blipFill>
        <p:spPr>
          <a:xfrm>
            <a:off x="716304" y="564606"/>
            <a:ext cx="639881" cy="306710"/>
          </a:xfrm>
          <a:prstGeom prst="rect">
            <a:avLst/>
          </a:prstGeom>
          <a:noFill/>
          <a:ln>
            <a:noFill/>
          </a:ln>
        </p:spPr>
      </p:pic>
      <p:pic>
        <p:nvPicPr>
          <p:cNvPr id="68" name="Google Shape;68;p22"/>
          <p:cNvPicPr preferRelativeResize="0"/>
          <p:nvPr/>
        </p:nvPicPr>
        <p:blipFill rotWithShape="1">
          <a:blip r:embed="rId3">
            <a:alphaModFix/>
          </a:blip>
          <a:srcRect/>
          <a:stretch/>
        </p:blipFill>
        <p:spPr>
          <a:xfrm>
            <a:off x="5693291" y="1210831"/>
            <a:ext cx="2822062" cy="2877556"/>
          </a:xfrm>
          <a:prstGeom prst="rect">
            <a:avLst/>
          </a:prstGeom>
          <a:noFill/>
          <a:ln>
            <a:noFill/>
          </a:ln>
        </p:spPr>
      </p:pic>
      <p:sp>
        <p:nvSpPr>
          <p:cNvPr id="69" name="Google Shape;69;p22"/>
          <p:cNvSpPr>
            <a:spLocks noGrp="1"/>
          </p:cNvSpPr>
          <p:nvPr>
            <p:ph type="pic" idx="2"/>
          </p:nvPr>
        </p:nvSpPr>
        <p:spPr>
          <a:xfrm>
            <a:off x="716304" y="3312109"/>
            <a:ext cx="714600" cy="714600"/>
          </a:xfrm>
          <a:prstGeom prst="ellipse">
            <a:avLst/>
          </a:prstGeom>
          <a:noFill/>
          <a:ln w="12700" cap="flat" cmpd="sng">
            <a:solidFill>
              <a:schemeClr val="lt1"/>
            </a:solidFill>
            <a:prstDash val="solid"/>
            <a:round/>
            <a:headEnd type="none" w="sm" len="sm"/>
            <a:tailEnd type="none" w="sm" len="sm"/>
          </a:ln>
        </p:spPr>
      </p:sp>
      <p:sp>
        <p:nvSpPr>
          <p:cNvPr id="70" name="Google Shape;70;p22"/>
          <p:cNvSpPr txBox="1">
            <a:spLocks noGrp="1"/>
          </p:cNvSpPr>
          <p:nvPr>
            <p:ph type="body" idx="3"/>
          </p:nvPr>
        </p:nvSpPr>
        <p:spPr>
          <a:xfrm>
            <a:off x="1531868" y="3442481"/>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lt1"/>
              </a:buClr>
              <a:buSzPts val="1400"/>
              <a:buNone/>
              <a:defRPr sz="1400">
                <a:solidFill>
                  <a:schemeClr val="lt1"/>
                </a:solidFill>
              </a:defRPr>
            </a:lvl1pPr>
            <a:lvl2pPr marL="914400" lvl="1" indent="-228600" algn="l">
              <a:lnSpc>
                <a:spcPct val="90000"/>
              </a:lnSpc>
              <a:spcBef>
                <a:spcPts val="400"/>
              </a:spcBef>
              <a:spcAft>
                <a:spcPts val="0"/>
              </a:spcAft>
              <a:buClr>
                <a:schemeClr val="lt1"/>
              </a:buClr>
              <a:buSzPts val="1400"/>
              <a:buNone/>
              <a:defRPr>
                <a:solidFill>
                  <a:schemeClr val="lt1"/>
                </a:solidFill>
              </a:defRPr>
            </a:lvl2pPr>
            <a:lvl3pPr marL="1371600" lvl="2" indent="-317500" algn="l">
              <a:lnSpc>
                <a:spcPct val="90000"/>
              </a:lnSpc>
              <a:spcBef>
                <a:spcPts val="400"/>
              </a:spcBef>
              <a:spcAft>
                <a:spcPts val="0"/>
              </a:spcAft>
              <a:buClr>
                <a:schemeClr val="lt1"/>
              </a:buClr>
              <a:buSzPts val="1400"/>
              <a:buChar char="•"/>
              <a:defRPr>
                <a:solidFill>
                  <a:schemeClr val="lt1"/>
                </a:solidFill>
              </a:defRPr>
            </a:lvl3pPr>
            <a:lvl4pPr marL="1828800" lvl="3" indent="-317500" algn="l">
              <a:lnSpc>
                <a:spcPct val="90000"/>
              </a:lnSpc>
              <a:spcBef>
                <a:spcPts val="400"/>
              </a:spcBef>
              <a:spcAft>
                <a:spcPts val="0"/>
              </a:spcAft>
              <a:buClr>
                <a:schemeClr val="lt1"/>
              </a:buClr>
              <a:buSzPts val="1400"/>
              <a:buChar char="•"/>
              <a:defRPr>
                <a:solidFill>
                  <a:schemeClr val="lt1"/>
                </a:solidFill>
              </a:defRPr>
            </a:lvl4pPr>
            <a:lvl5pPr marL="2286000" lvl="4" indent="-317500" algn="l">
              <a:lnSpc>
                <a:spcPct val="90000"/>
              </a:lnSpc>
              <a:spcBef>
                <a:spcPts val="400"/>
              </a:spcBef>
              <a:spcAft>
                <a:spcPts val="0"/>
              </a:spcAft>
              <a:buClr>
                <a:schemeClr val="lt1"/>
              </a:buClr>
              <a:buSzPts val="14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
        <p:nvSpPr>
          <p:cNvPr id="71" name="Google Shape;71;p22"/>
          <p:cNvSpPr txBox="1">
            <a:spLocks noGrp="1"/>
          </p:cNvSpPr>
          <p:nvPr>
            <p:ph type="body" idx="4"/>
          </p:nvPr>
        </p:nvSpPr>
        <p:spPr>
          <a:xfrm>
            <a:off x="1531868" y="3657984"/>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lt1"/>
              </a:buClr>
              <a:buSzPts val="1100"/>
              <a:buNone/>
              <a:defRPr sz="1100">
                <a:solidFill>
                  <a:schemeClr val="lt1"/>
                </a:solidFill>
              </a:defRPr>
            </a:lvl1pPr>
            <a:lvl2pPr marL="914400" lvl="1" indent="-228600" algn="l">
              <a:lnSpc>
                <a:spcPct val="90000"/>
              </a:lnSpc>
              <a:spcBef>
                <a:spcPts val="400"/>
              </a:spcBef>
              <a:spcAft>
                <a:spcPts val="0"/>
              </a:spcAft>
              <a:buClr>
                <a:schemeClr val="lt1"/>
              </a:buClr>
              <a:buSzPts val="1400"/>
              <a:buNone/>
              <a:defRPr>
                <a:solidFill>
                  <a:schemeClr val="lt1"/>
                </a:solidFill>
              </a:defRPr>
            </a:lvl2pPr>
            <a:lvl3pPr marL="1371600" lvl="2" indent="-317500" algn="l">
              <a:lnSpc>
                <a:spcPct val="90000"/>
              </a:lnSpc>
              <a:spcBef>
                <a:spcPts val="400"/>
              </a:spcBef>
              <a:spcAft>
                <a:spcPts val="0"/>
              </a:spcAft>
              <a:buClr>
                <a:schemeClr val="lt1"/>
              </a:buClr>
              <a:buSzPts val="1400"/>
              <a:buChar char="•"/>
              <a:defRPr>
                <a:solidFill>
                  <a:schemeClr val="lt1"/>
                </a:solidFill>
              </a:defRPr>
            </a:lvl3pPr>
            <a:lvl4pPr marL="1828800" lvl="3" indent="-317500" algn="l">
              <a:lnSpc>
                <a:spcPct val="90000"/>
              </a:lnSpc>
              <a:spcBef>
                <a:spcPts val="400"/>
              </a:spcBef>
              <a:spcAft>
                <a:spcPts val="0"/>
              </a:spcAft>
              <a:buClr>
                <a:schemeClr val="lt1"/>
              </a:buClr>
              <a:buSzPts val="1400"/>
              <a:buChar char="•"/>
              <a:defRPr>
                <a:solidFill>
                  <a:schemeClr val="lt1"/>
                </a:solidFill>
              </a:defRPr>
            </a:lvl4pPr>
            <a:lvl5pPr marL="2286000" lvl="4" indent="-317500" algn="l">
              <a:lnSpc>
                <a:spcPct val="90000"/>
              </a:lnSpc>
              <a:spcBef>
                <a:spcPts val="400"/>
              </a:spcBef>
              <a:spcAft>
                <a:spcPts val="0"/>
              </a:spcAft>
              <a:buClr>
                <a:schemeClr val="lt1"/>
              </a:buClr>
              <a:buSzPts val="14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A_Title Slide 1">
  <p:cSld name="Title Slide 1">
    <p:bg>
      <p:bgPr>
        <a:solidFill>
          <a:schemeClr val="dk2"/>
        </a:solidFill>
        <a:effectLst/>
      </p:bgPr>
    </p:bg>
    <p:spTree>
      <p:nvGrpSpPr>
        <p:cNvPr id="1" name="Shape 72"/>
        <p:cNvGrpSpPr/>
        <p:nvPr/>
      </p:nvGrpSpPr>
      <p:grpSpPr>
        <a:xfrm>
          <a:off x="0" y="0"/>
          <a:ext cx="0" cy="0"/>
          <a:chOff x="0" y="0"/>
          <a:chExt cx="0" cy="0"/>
        </a:xfrm>
      </p:grpSpPr>
      <p:sp>
        <p:nvSpPr>
          <p:cNvPr id="73" name="Google Shape;73;p23"/>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a:endParaRPr/>
          </a:p>
        </p:txBody>
      </p:sp>
      <p:sp>
        <p:nvSpPr>
          <p:cNvPr id="74" name="Google Shape;74;p23"/>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a:endParaRPr/>
          </a:p>
        </p:txBody>
      </p:sp>
      <p:pic>
        <p:nvPicPr>
          <p:cNvPr id="75" name="Google Shape;75;p23"/>
          <p:cNvPicPr preferRelativeResize="0"/>
          <p:nvPr/>
        </p:nvPicPr>
        <p:blipFill rotWithShape="1">
          <a:blip r:embed="rId2">
            <a:alphaModFix/>
          </a:blip>
          <a:srcRect/>
          <a:stretch/>
        </p:blipFill>
        <p:spPr>
          <a:xfrm>
            <a:off x="716304" y="564606"/>
            <a:ext cx="639881" cy="306710"/>
          </a:xfrm>
          <a:prstGeom prst="rect">
            <a:avLst/>
          </a:prstGeom>
          <a:noFill/>
          <a:ln>
            <a:noFill/>
          </a:ln>
        </p:spPr>
      </p:pic>
      <p:pic>
        <p:nvPicPr>
          <p:cNvPr id="76" name="Google Shape;76;p23"/>
          <p:cNvPicPr preferRelativeResize="0"/>
          <p:nvPr/>
        </p:nvPicPr>
        <p:blipFill rotWithShape="1">
          <a:blip r:embed="rId3">
            <a:alphaModFix/>
          </a:blip>
          <a:srcRect/>
          <a:stretch/>
        </p:blipFill>
        <p:spPr>
          <a:xfrm>
            <a:off x="5693291" y="1210831"/>
            <a:ext cx="2822062" cy="2877556"/>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A_Title Slide 2">
  <p:cSld name="Title Slide 2">
    <p:spTree>
      <p:nvGrpSpPr>
        <p:cNvPr id="1" name="Shape 77"/>
        <p:cNvGrpSpPr/>
        <p:nvPr/>
      </p:nvGrpSpPr>
      <p:grpSpPr>
        <a:xfrm>
          <a:off x="0" y="0"/>
          <a:ext cx="0" cy="0"/>
          <a:chOff x="0" y="0"/>
          <a:chExt cx="0" cy="0"/>
        </a:xfrm>
      </p:grpSpPr>
      <p:pic>
        <p:nvPicPr>
          <p:cNvPr id="78" name="Google Shape;78;p24"/>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79" name="Google Shape;79;p24"/>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0" name="Google Shape;80;p24"/>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81" name="Google Shape;81;p24"/>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A_Title Slide 3">
  <p:cSld name="1_Title Slide 2">
    <p:spTree>
      <p:nvGrpSpPr>
        <p:cNvPr id="1" name="Shape 82"/>
        <p:cNvGrpSpPr/>
        <p:nvPr/>
      </p:nvGrpSpPr>
      <p:grpSpPr>
        <a:xfrm>
          <a:off x="0" y="0"/>
          <a:ext cx="0" cy="0"/>
          <a:chOff x="0" y="0"/>
          <a:chExt cx="0" cy="0"/>
        </a:xfrm>
      </p:grpSpPr>
      <p:pic>
        <p:nvPicPr>
          <p:cNvPr id="83" name="Google Shape;83;p25"/>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84" name="Google Shape;84;p25"/>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5" name="Google Shape;85;p25"/>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86" name="Google Shape;86;p25"/>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A_Title Slide 4">
  <p:cSld name="2_Title Slide 2">
    <p:spTree>
      <p:nvGrpSpPr>
        <p:cNvPr id="1" name="Shape 87"/>
        <p:cNvGrpSpPr/>
        <p:nvPr/>
      </p:nvGrpSpPr>
      <p:grpSpPr>
        <a:xfrm>
          <a:off x="0" y="0"/>
          <a:ext cx="0" cy="0"/>
          <a:chOff x="0" y="0"/>
          <a:chExt cx="0" cy="0"/>
        </a:xfrm>
      </p:grpSpPr>
      <p:pic>
        <p:nvPicPr>
          <p:cNvPr id="88" name="Google Shape;88;p26"/>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89" name="Google Shape;89;p26"/>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0" name="Google Shape;90;p26"/>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91" name="Google Shape;91;p26"/>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_Title and Content (3/2) Blue">
  <p:cSld name="Title and Content (3/2) Blue">
    <p:bg>
      <p:bgPr>
        <a:blipFill>
          <a:blip r:embed="rId2">
            <a:alphaModFix/>
          </a:blip>
          <a:stretch>
            <a:fillRect/>
          </a:stretch>
        </a:blipFill>
        <a:effectLst/>
      </p:bgPr>
    </p:bg>
    <p:spTree>
      <p:nvGrpSpPr>
        <p:cNvPr id="1" name="Shape 92"/>
        <p:cNvGrpSpPr/>
        <p:nvPr/>
      </p:nvGrpSpPr>
      <p:grpSpPr>
        <a:xfrm>
          <a:off x="0" y="0"/>
          <a:ext cx="0" cy="0"/>
          <a:chOff x="0" y="0"/>
          <a:chExt cx="0" cy="0"/>
        </a:xfrm>
      </p:grpSpPr>
      <p:sp>
        <p:nvSpPr>
          <p:cNvPr id="93" name="Google Shape;93;p27"/>
          <p:cNvSpPr/>
          <p:nvPr/>
        </p:nvSpPr>
        <p:spPr>
          <a:xfrm>
            <a:off x="6066275" y="0"/>
            <a:ext cx="30777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94" name="Google Shape;94;p27"/>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95" name="Google Shape;95;p27"/>
          <p:cNvSpPr txBox="1">
            <a:spLocks noGrp="1"/>
          </p:cNvSpPr>
          <p:nvPr>
            <p:ph type="title"/>
          </p:nvPr>
        </p:nvSpPr>
        <p:spPr>
          <a:xfrm>
            <a:off x="420742" y="273844"/>
            <a:ext cx="52800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6" name="Google Shape;96;p27"/>
          <p:cNvSpPr txBox="1">
            <a:spLocks noGrp="1"/>
          </p:cNvSpPr>
          <p:nvPr>
            <p:ph type="body" idx="1"/>
          </p:nvPr>
        </p:nvSpPr>
        <p:spPr>
          <a:xfrm>
            <a:off x="420742" y="812524"/>
            <a:ext cx="52752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97" name="Google Shape;97;p27"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extLst>
    <p:ext uri="{DCECCB84-F9BA-43D5-87BE-67443E8EF086}">
      <p15:sldGuideLst xmlns:p15="http://schemas.microsoft.com/office/powerpoint/2012/main">
        <p15:guide id="1" pos="4918">
          <p15:clr>
            <a:srgbClr val="E46962"/>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_Title and Content" type="obj">
  <p:cSld name="OBJECT">
    <p:spTree>
      <p:nvGrpSpPr>
        <p:cNvPr id="1" name="Shape 98"/>
        <p:cNvGrpSpPr/>
        <p:nvPr/>
      </p:nvGrpSpPr>
      <p:grpSpPr>
        <a:xfrm>
          <a:off x="0" y="0"/>
          <a:ext cx="0" cy="0"/>
          <a:chOff x="0" y="0"/>
          <a:chExt cx="0" cy="0"/>
        </a:xfrm>
      </p:grpSpPr>
      <p:sp>
        <p:nvSpPr>
          <p:cNvPr id="99" name="Google Shape;99;p28"/>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0" name="Google Shape;100;p28"/>
          <p:cNvSpPr txBox="1">
            <a:spLocks noGrp="1"/>
          </p:cNvSpPr>
          <p:nvPr>
            <p:ph type="body" idx="1"/>
          </p:nvPr>
        </p:nvSpPr>
        <p:spPr>
          <a:xfrm>
            <a:off x="420743" y="812524"/>
            <a:ext cx="83025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_Title and Content (1/2) Light">
  <p:cSld name="Title and Content (1/2) Light">
    <p:spTree>
      <p:nvGrpSpPr>
        <p:cNvPr id="1" name="Shape 101"/>
        <p:cNvGrpSpPr/>
        <p:nvPr/>
      </p:nvGrpSpPr>
      <p:grpSpPr>
        <a:xfrm>
          <a:off x="0" y="0"/>
          <a:ext cx="0" cy="0"/>
          <a:chOff x="0" y="0"/>
          <a:chExt cx="0" cy="0"/>
        </a:xfrm>
      </p:grpSpPr>
      <p:sp>
        <p:nvSpPr>
          <p:cNvPr id="102" name="Google Shape;102;p29"/>
          <p:cNvSpPr/>
          <p:nvPr/>
        </p:nvSpPr>
        <p:spPr>
          <a:xfrm>
            <a:off x="4572000" y="0"/>
            <a:ext cx="45720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03" name="Google Shape;103;p29"/>
          <p:cNvSpPr txBox="1">
            <a:spLocks noGrp="1"/>
          </p:cNvSpPr>
          <p:nvPr>
            <p:ph type="title"/>
          </p:nvPr>
        </p:nvSpPr>
        <p:spPr>
          <a:xfrm>
            <a:off x="420742" y="273844"/>
            <a:ext cx="38496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4" name="Google Shape;104;p29"/>
          <p:cNvSpPr txBox="1">
            <a:spLocks noGrp="1"/>
          </p:cNvSpPr>
          <p:nvPr>
            <p:ph type="body" idx="1"/>
          </p:nvPr>
        </p:nvSpPr>
        <p:spPr>
          <a:xfrm>
            <a:off x="420742" y="812524"/>
            <a:ext cx="38496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05" name="Google Shape;105;p29"/>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106" name="Google Shape;106;p29"/>
          <p:cNvPicPr preferRelativeResize="0"/>
          <p:nvPr/>
        </p:nvPicPr>
        <p:blipFill rotWithShape="1">
          <a:blip r:embed="rId2">
            <a:alphaModFix/>
          </a:blip>
          <a:srcRect/>
          <a:stretch/>
        </p:blipFill>
        <p:spPr>
          <a:xfrm>
            <a:off x="8412332" y="4829647"/>
            <a:ext cx="310926" cy="149074"/>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_Title and Content (1/2) Blue">
  <p:cSld name="Title and Content (1/2) Blue">
    <p:spTree>
      <p:nvGrpSpPr>
        <p:cNvPr id="1" name="Shape 107"/>
        <p:cNvGrpSpPr/>
        <p:nvPr/>
      </p:nvGrpSpPr>
      <p:grpSpPr>
        <a:xfrm>
          <a:off x="0" y="0"/>
          <a:ext cx="0" cy="0"/>
          <a:chOff x="0" y="0"/>
          <a:chExt cx="0" cy="0"/>
        </a:xfrm>
      </p:grpSpPr>
      <p:sp>
        <p:nvSpPr>
          <p:cNvPr id="108" name="Google Shape;108;p30"/>
          <p:cNvSpPr/>
          <p:nvPr/>
        </p:nvSpPr>
        <p:spPr>
          <a:xfrm>
            <a:off x="4572000" y="0"/>
            <a:ext cx="45720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09" name="Google Shape;109;p30"/>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110" name="Google Shape;110;p30"/>
          <p:cNvSpPr txBox="1">
            <a:spLocks noGrp="1"/>
          </p:cNvSpPr>
          <p:nvPr>
            <p:ph type="title"/>
          </p:nvPr>
        </p:nvSpPr>
        <p:spPr>
          <a:xfrm>
            <a:off x="420742" y="273844"/>
            <a:ext cx="38496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1" name="Google Shape;111;p30"/>
          <p:cNvSpPr txBox="1">
            <a:spLocks noGrp="1"/>
          </p:cNvSpPr>
          <p:nvPr>
            <p:ph type="body" idx="1"/>
          </p:nvPr>
        </p:nvSpPr>
        <p:spPr>
          <a:xfrm>
            <a:off x="420742" y="812524"/>
            <a:ext cx="38496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112" name="Google Shape;112;p30"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_Title and Content (2/3) Blue">
  <p:cSld name="Title and Content (2/3) Blue">
    <p:spTree>
      <p:nvGrpSpPr>
        <p:cNvPr id="1" name="Shape 113"/>
        <p:cNvGrpSpPr/>
        <p:nvPr/>
      </p:nvGrpSpPr>
      <p:grpSpPr>
        <a:xfrm>
          <a:off x="0" y="0"/>
          <a:ext cx="0" cy="0"/>
          <a:chOff x="0" y="0"/>
          <a:chExt cx="0" cy="0"/>
        </a:xfrm>
      </p:grpSpPr>
      <p:sp>
        <p:nvSpPr>
          <p:cNvPr id="114" name="Google Shape;114;p31"/>
          <p:cNvSpPr/>
          <p:nvPr/>
        </p:nvSpPr>
        <p:spPr>
          <a:xfrm>
            <a:off x="-4188" y="0"/>
            <a:ext cx="30777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15" name="Google Shape;115;p31"/>
          <p:cNvSpPr txBox="1">
            <a:spLocks noGrp="1"/>
          </p:cNvSpPr>
          <p:nvPr>
            <p:ph type="title"/>
          </p:nvPr>
        </p:nvSpPr>
        <p:spPr>
          <a:xfrm>
            <a:off x="420742" y="273844"/>
            <a:ext cx="22278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lt1"/>
              </a:buClr>
              <a:buSzPts val="2000"/>
              <a:buFont typeface="DM Sans"/>
              <a:buNone/>
              <a:defRPr>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6" name="Google Shape;116;p31"/>
          <p:cNvSpPr txBox="1">
            <a:spLocks noGrp="1"/>
          </p:cNvSpPr>
          <p:nvPr>
            <p:ph type="body" idx="1"/>
          </p:nvPr>
        </p:nvSpPr>
        <p:spPr>
          <a:xfrm>
            <a:off x="420742" y="812524"/>
            <a:ext cx="2227800" cy="3820200"/>
          </a:xfrm>
          <a:prstGeom prst="rect">
            <a:avLst/>
          </a:prstGeom>
          <a:noFill/>
          <a:ln>
            <a:noFill/>
          </a:ln>
        </p:spPr>
        <p:txBody>
          <a:bodyPr spcFirstLastPara="1" wrap="square" lIns="68575" tIns="34275" rIns="68575" bIns="34275" anchor="t" anchorCtr="0">
            <a:normAutofit/>
          </a:bodyPr>
          <a:lstStyle>
            <a:lvl1pPr marL="457200" lvl="0" indent="-323850" algn="l">
              <a:lnSpc>
                <a:spcPct val="90000"/>
              </a:lnSpc>
              <a:spcBef>
                <a:spcPts val="800"/>
              </a:spcBef>
              <a:spcAft>
                <a:spcPts val="0"/>
              </a:spcAft>
              <a:buClr>
                <a:schemeClr val="lt1"/>
              </a:buClr>
              <a:buSzPts val="1500"/>
              <a:buChar char="•"/>
              <a:defRPr>
                <a:solidFill>
                  <a:schemeClr val="lt1"/>
                </a:solidFill>
              </a:defRPr>
            </a:lvl1pPr>
            <a:lvl2pPr marL="914400" lvl="1" indent="-317500" algn="l">
              <a:lnSpc>
                <a:spcPct val="90000"/>
              </a:lnSpc>
              <a:spcBef>
                <a:spcPts val="400"/>
              </a:spcBef>
              <a:spcAft>
                <a:spcPts val="0"/>
              </a:spcAft>
              <a:buClr>
                <a:schemeClr val="lt1"/>
              </a:buClr>
              <a:buSzPts val="1400"/>
              <a:buChar char="•"/>
              <a:defRPr>
                <a:solidFill>
                  <a:schemeClr val="lt1"/>
                </a:solidFill>
              </a:defRPr>
            </a:lvl2pPr>
            <a:lvl3pPr marL="1371600" lvl="2" indent="-304800" algn="l">
              <a:lnSpc>
                <a:spcPct val="90000"/>
              </a:lnSpc>
              <a:spcBef>
                <a:spcPts val="400"/>
              </a:spcBef>
              <a:spcAft>
                <a:spcPts val="0"/>
              </a:spcAft>
              <a:buClr>
                <a:schemeClr val="lt1"/>
              </a:buClr>
              <a:buSzPts val="1200"/>
              <a:buChar char="•"/>
              <a:defRPr>
                <a:solidFill>
                  <a:schemeClr val="lt1"/>
                </a:solidFill>
              </a:defRPr>
            </a:lvl3pPr>
            <a:lvl4pPr marL="1828800" lvl="3" indent="-298450" algn="l">
              <a:lnSpc>
                <a:spcPct val="90000"/>
              </a:lnSpc>
              <a:spcBef>
                <a:spcPts val="400"/>
              </a:spcBef>
              <a:spcAft>
                <a:spcPts val="0"/>
              </a:spcAft>
              <a:buClr>
                <a:schemeClr val="lt1"/>
              </a:buClr>
              <a:buSzPts val="1100"/>
              <a:buChar char="•"/>
              <a:defRPr>
                <a:solidFill>
                  <a:schemeClr val="lt1"/>
                </a:solidFill>
              </a:defRPr>
            </a:lvl4pPr>
            <a:lvl5pPr marL="2286000" lvl="4" indent="-298450" algn="l">
              <a:lnSpc>
                <a:spcPct val="90000"/>
              </a:lnSpc>
              <a:spcBef>
                <a:spcPts val="400"/>
              </a:spcBef>
              <a:spcAft>
                <a:spcPts val="0"/>
              </a:spcAft>
              <a:buClr>
                <a:schemeClr val="lt1"/>
              </a:buClr>
              <a:buSzPts val="11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
        <p:nvSpPr>
          <p:cNvPr id="117" name="Google Shape;117;p31"/>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118" name="Google Shape;118;p31"/>
          <p:cNvPicPr preferRelativeResize="0"/>
          <p:nvPr/>
        </p:nvPicPr>
        <p:blipFill rotWithShape="1">
          <a:blip r:embed="rId2">
            <a:alphaModFix/>
          </a:blip>
          <a:srcRect/>
          <a:stretch/>
        </p:blipFill>
        <p:spPr>
          <a:xfrm>
            <a:off x="420742" y="4829647"/>
            <a:ext cx="310926" cy="149074"/>
          </a:xfrm>
          <a:prstGeom prst="rect">
            <a:avLst/>
          </a:prstGeom>
          <a:noFill/>
          <a:ln>
            <a:noFill/>
          </a:ln>
        </p:spPr>
      </p:pic>
      <p:pic>
        <p:nvPicPr>
          <p:cNvPr id="119" name="Google Shape;119;p31"/>
          <p:cNvPicPr preferRelativeResize="0"/>
          <p:nvPr/>
        </p:nvPicPr>
        <p:blipFill rotWithShape="1">
          <a:blip r:embed="rId3">
            <a:alphaModFix/>
          </a:blip>
          <a:srcRect/>
          <a:stretch/>
        </p:blipFill>
        <p:spPr>
          <a:xfrm>
            <a:off x="4719311" y="3391372"/>
            <a:ext cx="313335" cy="151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_Title and Content (3/2) Light">
  <p:cSld name="Title and Content (3/2) Light">
    <p:spTree>
      <p:nvGrpSpPr>
        <p:cNvPr id="1" name="Shape 120"/>
        <p:cNvGrpSpPr/>
        <p:nvPr/>
      </p:nvGrpSpPr>
      <p:grpSpPr>
        <a:xfrm>
          <a:off x="0" y="0"/>
          <a:ext cx="0" cy="0"/>
          <a:chOff x="0" y="0"/>
          <a:chExt cx="0" cy="0"/>
        </a:xfrm>
      </p:grpSpPr>
      <p:sp>
        <p:nvSpPr>
          <p:cNvPr id="121" name="Google Shape;121;p32"/>
          <p:cNvSpPr/>
          <p:nvPr/>
        </p:nvSpPr>
        <p:spPr>
          <a:xfrm>
            <a:off x="6066275" y="0"/>
            <a:ext cx="30777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2" name="Google Shape;122;p32"/>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123" name="Google Shape;123;p32"/>
          <p:cNvSpPr txBox="1">
            <a:spLocks noGrp="1"/>
          </p:cNvSpPr>
          <p:nvPr>
            <p:ph type="title"/>
          </p:nvPr>
        </p:nvSpPr>
        <p:spPr>
          <a:xfrm>
            <a:off x="420742" y="273844"/>
            <a:ext cx="52800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4" name="Google Shape;124;p32"/>
          <p:cNvSpPr txBox="1">
            <a:spLocks noGrp="1"/>
          </p:cNvSpPr>
          <p:nvPr>
            <p:ph type="body" idx="1"/>
          </p:nvPr>
        </p:nvSpPr>
        <p:spPr>
          <a:xfrm>
            <a:off x="420742" y="812524"/>
            <a:ext cx="52752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125" name="Google Shape;125;p32"/>
          <p:cNvPicPr preferRelativeResize="0"/>
          <p:nvPr/>
        </p:nvPicPr>
        <p:blipFill rotWithShape="1">
          <a:blip r:embed="rId2">
            <a:alphaModFix/>
          </a:blip>
          <a:srcRect/>
          <a:stretch/>
        </p:blipFill>
        <p:spPr>
          <a:xfrm>
            <a:off x="8412332" y="4829647"/>
            <a:ext cx="310926" cy="149074"/>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_Cards 1">
  <p:cSld name="Cards 1">
    <p:spTree>
      <p:nvGrpSpPr>
        <p:cNvPr id="1" name="Shape 126"/>
        <p:cNvGrpSpPr/>
        <p:nvPr/>
      </p:nvGrpSpPr>
      <p:grpSpPr>
        <a:xfrm>
          <a:off x="0" y="0"/>
          <a:ext cx="0" cy="0"/>
          <a:chOff x="0" y="0"/>
          <a:chExt cx="0" cy="0"/>
        </a:xfrm>
      </p:grpSpPr>
      <p:sp>
        <p:nvSpPr>
          <p:cNvPr id="127" name="Google Shape;127;p33"/>
          <p:cNvSpPr/>
          <p:nvPr/>
        </p:nvSpPr>
        <p:spPr>
          <a:xfrm>
            <a:off x="492931" y="813038"/>
            <a:ext cx="2406000" cy="37590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8" name="Google Shape;128;p33"/>
          <p:cNvSpPr/>
          <p:nvPr/>
        </p:nvSpPr>
        <p:spPr>
          <a:xfrm>
            <a:off x="3378413" y="813038"/>
            <a:ext cx="2406000" cy="37590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9" name="Google Shape;129;p33"/>
          <p:cNvSpPr/>
          <p:nvPr/>
        </p:nvSpPr>
        <p:spPr>
          <a:xfrm>
            <a:off x="6256421" y="813038"/>
            <a:ext cx="2406000" cy="37590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30" name="Google Shape;130;p33"/>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1" name="Google Shape;131;p33"/>
          <p:cNvSpPr txBox="1">
            <a:spLocks noGrp="1"/>
          </p:cNvSpPr>
          <p:nvPr>
            <p:ph type="body" idx="1"/>
          </p:nvPr>
        </p:nvSpPr>
        <p:spPr>
          <a:xfrm>
            <a:off x="740774"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2" name="Google Shape;132;p33"/>
          <p:cNvSpPr txBox="1">
            <a:spLocks noGrp="1"/>
          </p:cNvSpPr>
          <p:nvPr>
            <p:ph type="body" idx="2"/>
          </p:nvPr>
        </p:nvSpPr>
        <p:spPr>
          <a:xfrm>
            <a:off x="667264"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3" name="Google Shape;133;p33"/>
          <p:cNvSpPr txBox="1">
            <a:spLocks noGrp="1"/>
          </p:cNvSpPr>
          <p:nvPr>
            <p:ph type="body" idx="3"/>
          </p:nvPr>
        </p:nvSpPr>
        <p:spPr>
          <a:xfrm>
            <a:off x="3625767"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4" name="Google Shape;134;p33"/>
          <p:cNvSpPr txBox="1">
            <a:spLocks noGrp="1"/>
          </p:cNvSpPr>
          <p:nvPr>
            <p:ph type="body" idx="4"/>
          </p:nvPr>
        </p:nvSpPr>
        <p:spPr>
          <a:xfrm>
            <a:off x="3552257"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5" name="Google Shape;135;p33"/>
          <p:cNvSpPr txBox="1">
            <a:spLocks noGrp="1"/>
          </p:cNvSpPr>
          <p:nvPr>
            <p:ph type="body" idx="5"/>
          </p:nvPr>
        </p:nvSpPr>
        <p:spPr>
          <a:xfrm>
            <a:off x="6503777"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6" name="Google Shape;136;p33"/>
          <p:cNvSpPr txBox="1">
            <a:spLocks noGrp="1"/>
          </p:cNvSpPr>
          <p:nvPr>
            <p:ph type="body" idx="6"/>
          </p:nvPr>
        </p:nvSpPr>
        <p:spPr>
          <a:xfrm>
            <a:off x="6430267"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37" name="Google Shape;137;p33"/>
          <p:cNvCxnSpPr/>
          <p:nvPr/>
        </p:nvCxnSpPr>
        <p:spPr>
          <a:xfrm>
            <a:off x="740774" y="1847088"/>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38" name="Google Shape;138;p33"/>
          <p:cNvCxnSpPr/>
          <p:nvPr/>
        </p:nvCxnSpPr>
        <p:spPr>
          <a:xfrm>
            <a:off x="3625767" y="1847088"/>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39" name="Google Shape;139;p33"/>
          <p:cNvCxnSpPr/>
          <p:nvPr/>
        </p:nvCxnSpPr>
        <p:spPr>
          <a:xfrm>
            <a:off x="6503777" y="1847088"/>
            <a:ext cx="1910400" cy="0"/>
          </a:xfrm>
          <a:prstGeom prst="straightConnector1">
            <a:avLst/>
          </a:prstGeom>
          <a:noFill/>
          <a:ln w="12700" cap="flat" cmpd="sng">
            <a:solidFill>
              <a:schemeClr val="dk2"/>
            </a:solidFill>
            <a:prstDash val="solid"/>
            <a:miter lim="8000"/>
            <a:headEnd type="none" w="sm" len="sm"/>
            <a:tailEnd type="none" w="sm" len="sm"/>
          </a:ln>
        </p:spPr>
      </p:cxn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_Cards 2">
  <p:cSld name="Cards 2">
    <p:spTree>
      <p:nvGrpSpPr>
        <p:cNvPr id="1" name="Shape 140"/>
        <p:cNvGrpSpPr/>
        <p:nvPr/>
      </p:nvGrpSpPr>
      <p:grpSpPr>
        <a:xfrm>
          <a:off x="0" y="0"/>
          <a:ext cx="0" cy="0"/>
          <a:chOff x="0" y="0"/>
          <a:chExt cx="0" cy="0"/>
        </a:xfrm>
      </p:grpSpPr>
      <p:sp>
        <p:nvSpPr>
          <p:cNvPr id="141" name="Google Shape;141;p34"/>
          <p:cNvSpPr/>
          <p:nvPr/>
        </p:nvSpPr>
        <p:spPr>
          <a:xfrm>
            <a:off x="492931" y="2389174"/>
            <a:ext cx="2406000" cy="21828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2" name="Google Shape;142;p34"/>
          <p:cNvSpPr/>
          <p:nvPr/>
        </p:nvSpPr>
        <p:spPr>
          <a:xfrm>
            <a:off x="3378413" y="2389174"/>
            <a:ext cx="2406000" cy="21828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3" name="Google Shape;143;p34"/>
          <p:cNvSpPr/>
          <p:nvPr/>
        </p:nvSpPr>
        <p:spPr>
          <a:xfrm>
            <a:off x="6256421" y="2389174"/>
            <a:ext cx="2406000" cy="2182800"/>
          </a:xfrm>
          <a:prstGeom prst="roundRect">
            <a:avLst>
              <a:gd name="adj" fmla="val 2226"/>
            </a:avLst>
          </a:prstGeom>
          <a:solidFill>
            <a:schemeClr val="lt1"/>
          </a:solidFill>
          <a:ln w="12700" cap="flat" cmpd="sng">
            <a:solidFill>
              <a:schemeClr val="dk2"/>
            </a:solidFill>
            <a:prstDash val="solid"/>
            <a:miter lim="800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4" name="Google Shape;144;p34"/>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45" name="Google Shape;145;p34"/>
          <p:cNvSpPr txBox="1">
            <a:spLocks noGrp="1"/>
          </p:cNvSpPr>
          <p:nvPr>
            <p:ph type="body" idx="1"/>
          </p:nvPr>
        </p:nvSpPr>
        <p:spPr>
          <a:xfrm>
            <a:off x="740774"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6" name="Google Shape;146;p34"/>
          <p:cNvSpPr txBox="1">
            <a:spLocks noGrp="1"/>
          </p:cNvSpPr>
          <p:nvPr>
            <p:ph type="body" idx="2"/>
          </p:nvPr>
        </p:nvSpPr>
        <p:spPr>
          <a:xfrm>
            <a:off x="667264"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7" name="Google Shape;147;p34"/>
          <p:cNvSpPr txBox="1">
            <a:spLocks noGrp="1"/>
          </p:cNvSpPr>
          <p:nvPr>
            <p:ph type="body" idx="3"/>
          </p:nvPr>
        </p:nvSpPr>
        <p:spPr>
          <a:xfrm>
            <a:off x="3626255"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8" name="Google Shape;148;p34"/>
          <p:cNvSpPr txBox="1">
            <a:spLocks noGrp="1"/>
          </p:cNvSpPr>
          <p:nvPr>
            <p:ph type="body" idx="4"/>
          </p:nvPr>
        </p:nvSpPr>
        <p:spPr>
          <a:xfrm>
            <a:off x="3552745"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9" name="Google Shape;149;p34"/>
          <p:cNvSpPr txBox="1">
            <a:spLocks noGrp="1"/>
          </p:cNvSpPr>
          <p:nvPr>
            <p:ph type="body" idx="5"/>
          </p:nvPr>
        </p:nvSpPr>
        <p:spPr>
          <a:xfrm>
            <a:off x="6504263"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50" name="Google Shape;150;p34"/>
          <p:cNvSpPr txBox="1">
            <a:spLocks noGrp="1"/>
          </p:cNvSpPr>
          <p:nvPr>
            <p:ph type="body" idx="6"/>
          </p:nvPr>
        </p:nvSpPr>
        <p:spPr>
          <a:xfrm>
            <a:off x="6430754"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51" name="Google Shape;151;p34"/>
          <p:cNvSpPr txBox="1">
            <a:spLocks noGrp="1"/>
          </p:cNvSpPr>
          <p:nvPr>
            <p:ph type="body" idx="7"/>
          </p:nvPr>
        </p:nvSpPr>
        <p:spPr>
          <a:xfrm>
            <a:off x="420743" y="812524"/>
            <a:ext cx="8302500" cy="13815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52" name="Google Shape;152;p34"/>
          <p:cNvCxnSpPr/>
          <p:nvPr/>
        </p:nvCxnSpPr>
        <p:spPr>
          <a:xfrm>
            <a:off x="740774" y="3423224"/>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53" name="Google Shape;153;p34"/>
          <p:cNvCxnSpPr/>
          <p:nvPr/>
        </p:nvCxnSpPr>
        <p:spPr>
          <a:xfrm>
            <a:off x="3628353" y="3423224"/>
            <a:ext cx="1910400" cy="0"/>
          </a:xfrm>
          <a:prstGeom prst="straightConnector1">
            <a:avLst/>
          </a:prstGeom>
          <a:noFill/>
          <a:ln w="12700" cap="flat" cmpd="sng">
            <a:solidFill>
              <a:schemeClr val="dk2"/>
            </a:solidFill>
            <a:prstDash val="solid"/>
            <a:miter lim="8000"/>
            <a:headEnd type="none" w="sm" len="sm"/>
            <a:tailEnd type="none" w="sm" len="sm"/>
          </a:ln>
        </p:spPr>
      </p:cxnSp>
      <p:cxnSp>
        <p:nvCxnSpPr>
          <p:cNvPr id="154" name="Google Shape;154;p34"/>
          <p:cNvCxnSpPr/>
          <p:nvPr/>
        </p:nvCxnSpPr>
        <p:spPr>
          <a:xfrm>
            <a:off x="6503777" y="3423224"/>
            <a:ext cx="1910400" cy="0"/>
          </a:xfrm>
          <a:prstGeom prst="straightConnector1">
            <a:avLst/>
          </a:prstGeom>
          <a:noFill/>
          <a:ln w="12700" cap="flat" cmpd="sng">
            <a:solidFill>
              <a:schemeClr val="dk2"/>
            </a:solidFill>
            <a:prstDash val="solid"/>
            <a:miter lim="8000"/>
            <a:headEnd type="none" w="sm" len="sm"/>
            <a:tailEnd type="none" w="sm" len="sm"/>
          </a:ln>
        </p:spPr>
      </p:cxn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_Cards 3">
  <p:cSld name="Cards 3">
    <p:spTree>
      <p:nvGrpSpPr>
        <p:cNvPr id="1" name="Shape 155"/>
        <p:cNvGrpSpPr/>
        <p:nvPr/>
      </p:nvGrpSpPr>
      <p:grpSpPr>
        <a:xfrm>
          <a:off x="0" y="0"/>
          <a:ext cx="0" cy="0"/>
          <a:chOff x="0" y="0"/>
          <a:chExt cx="0" cy="0"/>
        </a:xfrm>
      </p:grpSpPr>
      <p:sp>
        <p:nvSpPr>
          <p:cNvPr id="156" name="Google Shape;156;p35"/>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57" name="Google Shape;157;p35"/>
          <p:cNvSpPr/>
          <p:nvPr/>
        </p:nvSpPr>
        <p:spPr>
          <a:xfrm>
            <a:off x="4630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58" name="Google Shape;158;p35"/>
          <p:cNvSpPr/>
          <p:nvPr/>
        </p:nvSpPr>
        <p:spPr>
          <a:xfrm>
            <a:off x="10311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59" name="Google Shape;159;p35"/>
          <p:cNvSpPr/>
          <p:nvPr/>
        </p:nvSpPr>
        <p:spPr>
          <a:xfrm>
            <a:off x="25966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0" name="Google Shape;160;p35"/>
          <p:cNvSpPr/>
          <p:nvPr/>
        </p:nvSpPr>
        <p:spPr>
          <a:xfrm>
            <a:off x="31647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1" name="Google Shape;161;p35"/>
          <p:cNvSpPr/>
          <p:nvPr/>
        </p:nvSpPr>
        <p:spPr>
          <a:xfrm>
            <a:off x="47302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2" name="Google Shape;162;p35"/>
          <p:cNvSpPr/>
          <p:nvPr/>
        </p:nvSpPr>
        <p:spPr>
          <a:xfrm>
            <a:off x="52983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3" name="Google Shape;163;p35"/>
          <p:cNvSpPr/>
          <p:nvPr/>
        </p:nvSpPr>
        <p:spPr>
          <a:xfrm>
            <a:off x="6863813" y="1048888"/>
            <a:ext cx="1877100" cy="35706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4" name="Google Shape;164;p35"/>
          <p:cNvSpPr/>
          <p:nvPr/>
        </p:nvSpPr>
        <p:spPr>
          <a:xfrm>
            <a:off x="7431936" y="752468"/>
            <a:ext cx="740700" cy="740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5" name="Google Shape;165;p35"/>
          <p:cNvSpPr txBox="1">
            <a:spLocks noGrp="1"/>
          </p:cNvSpPr>
          <p:nvPr>
            <p:ph type="body" idx="1"/>
          </p:nvPr>
        </p:nvSpPr>
        <p:spPr>
          <a:xfrm>
            <a:off x="5725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6" name="Google Shape;166;p35"/>
          <p:cNvSpPr txBox="1">
            <a:spLocks noGrp="1"/>
          </p:cNvSpPr>
          <p:nvPr>
            <p:ph type="body" idx="2"/>
          </p:nvPr>
        </p:nvSpPr>
        <p:spPr>
          <a:xfrm>
            <a:off x="2706160"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7" name="Google Shape;167;p35"/>
          <p:cNvSpPr txBox="1">
            <a:spLocks noGrp="1"/>
          </p:cNvSpPr>
          <p:nvPr>
            <p:ph type="body" idx="3"/>
          </p:nvPr>
        </p:nvSpPr>
        <p:spPr>
          <a:xfrm>
            <a:off x="48397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8" name="Google Shape;168;p35"/>
          <p:cNvSpPr txBox="1">
            <a:spLocks noGrp="1"/>
          </p:cNvSpPr>
          <p:nvPr>
            <p:ph type="body" idx="4"/>
          </p:nvPr>
        </p:nvSpPr>
        <p:spPr>
          <a:xfrm>
            <a:off x="69733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9" name="Google Shape;169;p35"/>
          <p:cNvSpPr txBox="1">
            <a:spLocks noGrp="1"/>
          </p:cNvSpPr>
          <p:nvPr>
            <p:ph type="body" idx="5"/>
          </p:nvPr>
        </p:nvSpPr>
        <p:spPr>
          <a:xfrm>
            <a:off x="572561"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0" name="Google Shape;170;p35"/>
          <p:cNvSpPr txBox="1">
            <a:spLocks noGrp="1"/>
          </p:cNvSpPr>
          <p:nvPr>
            <p:ph type="body" idx="6"/>
          </p:nvPr>
        </p:nvSpPr>
        <p:spPr>
          <a:xfrm>
            <a:off x="27061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1" name="Google Shape;171;p35"/>
          <p:cNvSpPr txBox="1">
            <a:spLocks noGrp="1"/>
          </p:cNvSpPr>
          <p:nvPr>
            <p:ph type="body" idx="7"/>
          </p:nvPr>
        </p:nvSpPr>
        <p:spPr>
          <a:xfrm>
            <a:off x="48397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2" name="Google Shape;172;p35"/>
          <p:cNvSpPr txBox="1">
            <a:spLocks noGrp="1"/>
          </p:cNvSpPr>
          <p:nvPr>
            <p:ph type="body" idx="8"/>
          </p:nvPr>
        </p:nvSpPr>
        <p:spPr>
          <a:xfrm>
            <a:off x="69733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73" name="Google Shape;173;p35"/>
          <p:cNvCxnSpPr/>
          <p:nvPr/>
        </p:nvCxnSpPr>
        <p:spPr>
          <a:xfrm>
            <a:off x="633758" y="1940821"/>
            <a:ext cx="1535400" cy="0"/>
          </a:xfrm>
          <a:prstGeom prst="straightConnector1">
            <a:avLst/>
          </a:prstGeom>
          <a:noFill/>
          <a:ln w="12700" cap="flat" cmpd="sng">
            <a:solidFill>
              <a:schemeClr val="dk2"/>
            </a:solidFill>
            <a:prstDash val="solid"/>
            <a:miter lim="8000"/>
            <a:headEnd type="none" w="sm" len="sm"/>
            <a:tailEnd type="none" w="sm" len="sm"/>
          </a:ln>
        </p:spPr>
      </p:cxnSp>
      <p:cxnSp>
        <p:nvCxnSpPr>
          <p:cNvPr id="174" name="Google Shape;174;p35"/>
          <p:cNvCxnSpPr/>
          <p:nvPr/>
        </p:nvCxnSpPr>
        <p:spPr>
          <a:xfrm>
            <a:off x="2767358" y="1940821"/>
            <a:ext cx="1535400" cy="0"/>
          </a:xfrm>
          <a:prstGeom prst="straightConnector1">
            <a:avLst/>
          </a:prstGeom>
          <a:noFill/>
          <a:ln w="12700" cap="flat" cmpd="sng">
            <a:solidFill>
              <a:schemeClr val="dk2"/>
            </a:solidFill>
            <a:prstDash val="solid"/>
            <a:miter lim="8000"/>
            <a:headEnd type="none" w="sm" len="sm"/>
            <a:tailEnd type="none" w="sm" len="sm"/>
          </a:ln>
        </p:spPr>
      </p:cxnSp>
      <p:cxnSp>
        <p:nvCxnSpPr>
          <p:cNvPr id="175" name="Google Shape;175;p35"/>
          <p:cNvCxnSpPr/>
          <p:nvPr/>
        </p:nvCxnSpPr>
        <p:spPr>
          <a:xfrm>
            <a:off x="4900958" y="1940821"/>
            <a:ext cx="1535400" cy="0"/>
          </a:xfrm>
          <a:prstGeom prst="straightConnector1">
            <a:avLst/>
          </a:prstGeom>
          <a:noFill/>
          <a:ln w="12700" cap="flat" cmpd="sng">
            <a:solidFill>
              <a:schemeClr val="dk2"/>
            </a:solidFill>
            <a:prstDash val="solid"/>
            <a:miter lim="8000"/>
            <a:headEnd type="none" w="sm" len="sm"/>
            <a:tailEnd type="none" w="sm" len="sm"/>
          </a:ln>
        </p:spPr>
      </p:cxnSp>
      <p:cxnSp>
        <p:nvCxnSpPr>
          <p:cNvPr id="176" name="Google Shape;176;p35"/>
          <p:cNvCxnSpPr/>
          <p:nvPr/>
        </p:nvCxnSpPr>
        <p:spPr>
          <a:xfrm>
            <a:off x="7034558" y="1940821"/>
            <a:ext cx="1535400" cy="0"/>
          </a:xfrm>
          <a:prstGeom prst="straightConnector1">
            <a:avLst/>
          </a:prstGeom>
          <a:noFill/>
          <a:ln w="12700" cap="flat" cmpd="sng">
            <a:solidFill>
              <a:schemeClr val="dk2"/>
            </a:solidFill>
            <a:prstDash val="solid"/>
            <a:miter lim="8000"/>
            <a:headEnd type="none" w="sm" len="sm"/>
            <a:tailEnd type="none" w="sm" len="sm"/>
          </a:ln>
        </p:spPr>
      </p:cxn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_Cards 4">
  <p:cSld name="Cards 4">
    <p:spTree>
      <p:nvGrpSpPr>
        <p:cNvPr id="1" name="Shape 177"/>
        <p:cNvGrpSpPr/>
        <p:nvPr/>
      </p:nvGrpSpPr>
      <p:grpSpPr>
        <a:xfrm>
          <a:off x="0" y="0"/>
          <a:ext cx="0" cy="0"/>
          <a:chOff x="0" y="0"/>
          <a:chExt cx="0" cy="0"/>
        </a:xfrm>
      </p:grpSpPr>
      <p:sp>
        <p:nvSpPr>
          <p:cNvPr id="178" name="Google Shape;178;p36"/>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9" name="Google Shape;179;p36"/>
          <p:cNvSpPr/>
          <p:nvPr/>
        </p:nvSpPr>
        <p:spPr>
          <a:xfrm>
            <a:off x="734137" y="1133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0" name="Google Shape;180;p36"/>
          <p:cNvSpPr/>
          <p:nvPr/>
        </p:nvSpPr>
        <p:spPr>
          <a:xfrm>
            <a:off x="420743" y="1247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1" name="Google Shape;181;p36"/>
          <p:cNvSpPr txBox="1">
            <a:spLocks noGrp="1"/>
          </p:cNvSpPr>
          <p:nvPr>
            <p:ph type="body" idx="1"/>
          </p:nvPr>
        </p:nvSpPr>
        <p:spPr>
          <a:xfrm>
            <a:off x="1190772" y="1247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2" name="Google Shape;182;p36"/>
          <p:cNvSpPr/>
          <p:nvPr/>
        </p:nvSpPr>
        <p:spPr>
          <a:xfrm>
            <a:off x="5115637" y="1133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3" name="Google Shape;183;p36"/>
          <p:cNvSpPr/>
          <p:nvPr/>
        </p:nvSpPr>
        <p:spPr>
          <a:xfrm>
            <a:off x="4802243" y="1247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4" name="Google Shape;184;p36"/>
          <p:cNvSpPr txBox="1">
            <a:spLocks noGrp="1"/>
          </p:cNvSpPr>
          <p:nvPr>
            <p:ph type="body" idx="2"/>
          </p:nvPr>
        </p:nvSpPr>
        <p:spPr>
          <a:xfrm>
            <a:off x="5572272" y="1247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5" name="Google Shape;185;p36"/>
          <p:cNvSpPr/>
          <p:nvPr/>
        </p:nvSpPr>
        <p:spPr>
          <a:xfrm>
            <a:off x="734137" y="2276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6" name="Google Shape;186;p36"/>
          <p:cNvSpPr/>
          <p:nvPr/>
        </p:nvSpPr>
        <p:spPr>
          <a:xfrm>
            <a:off x="420743" y="2390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7" name="Google Shape;187;p36"/>
          <p:cNvSpPr txBox="1">
            <a:spLocks noGrp="1"/>
          </p:cNvSpPr>
          <p:nvPr>
            <p:ph type="body" idx="3"/>
          </p:nvPr>
        </p:nvSpPr>
        <p:spPr>
          <a:xfrm>
            <a:off x="1190772" y="2390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8" name="Google Shape;188;p36"/>
          <p:cNvSpPr/>
          <p:nvPr/>
        </p:nvSpPr>
        <p:spPr>
          <a:xfrm>
            <a:off x="5115637" y="2276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9" name="Google Shape;189;p36"/>
          <p:cNvSpPr/>
          <p:nvPr/>
        </p:nvSpPr>
        <p:spPr>
          <a:xfrm>
            <a:off x="4802243" y="2390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0" name="Google Shape;190;p36"/>
          <p:cNvSpPr txBox="1">
            <a:spLocks noGrp="1"/>
          </p:cNvSpPr>
          <p:nvPr>
            <p:ph type="body" idx="4"/>
          </p:nvPr>
        </p:nvSpPr>
        <p:spPr>
          <a:xfrm>
            <a:off x="5572272" y="2390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1" name="Google Shape;191;p36"/>
          <p:cNvSpPr/>
          <p:nvPr/>
        </p:nvSpPr>
        <p:spPr>
          <a:xfrm>
            <a:off x="734137" y="3419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92" name="Google Shape;192;p36"/>
          <p:cNvSpPr/>
          <p:nvPr/>
        </p:nvSpPr>
        <p:spPr>
          <a:xfrm>
            <a:off x="420743" y="3533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3" name="Google Shape;193;p36"/>
          <p:cNvSpPr txBox="1">
            <a:spLocks noGrp="1"/>
          </p:cNvSpPr>
          <p:nvPr>
            <p:ph type="body" idx="5"/>
          </p:nvPr>
        </p:nvSpPr>
        <p:spPr>
          <a:xfrm>
            <a:off x="1190772" y="3533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4" name="Google Shape;194;p36"/>
          <p:cNvSpPr/>
          <p:nvPr/>
        </p:nvSpPr>
        <p:spPr>
          <a:xfrm>
            <a:off x="5115637" y="3419993"/>
            <a:ext cx="3609300" cy="854400"/>
          </a:xfrm>
          <a:prstGeom prst="roundRect">
            <a:avLst>
              <a:gd name="adj" fmla="val 5049"/>
            </a:avLst>
          </a:prstGeom>
          <a:solidFill>
            <a:schemeClr val="lt1"/>
          </a:solidFill>
          <a:ln w="12700" cap="flat" cmpd="sng">
            <a:solidFill>
              <a:srgbClr val="CBDAFF"/>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95" name="Google Shape;195;p36"/>
          <p:cNvSpPr/>
          <p:nvPr/>
        </p:nvSpPr>
        <p:spPr>
          <a:xfrm>
            <a:off x="4802243" y="3533774"/>
            <a:ext cx="626700" cy="626700"/>
          </a:xfrm>
          <a:prstGeom prst="ellipse">
            <a:avLst/>
          </a:prstGeom>
          <a:solidFill>
            <a:schemeClr val="lt1"/>
          </a:solidFill>
          <a:ln w="12700" cap="flat" cmpd="sng">
            <a:solidFill>
              <a:srgbClr val="0254EC"/>
            </a:solidFill>
            <a:prstDash val="solid"/>
            <a:miter lim="800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6" name="Google Shape;196;p36"/>
          <p:cNvSpPr txBox="1">
            <a:spLocks noGrp="1"/>
          </p:cNvSpPr>
          <p:nvPr>
            <p:ph type="body" idx="6"/>
          </p:nvPr>
        </p:nvSpPr>
        <p:spPr>
          <a:xfrm>
            <a:off x="5572272" y="3533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_Testimonials 1">
  <p:cSld name="Testimonials 1">
    <p:bg>
      <p:bgPr>
        <a:solidFill>
          <a:schemeClr val="lt2"/>
        </a:solidFill>
        <a:effectLst/>
      </p:bgPr>
    </p:bg>
    <p:spTree>
      <p:nvGrpSpPr>
        <p:cNvPr id="1" name="Shape 197"/>
        <p:cNvGrpSpPr/>
        <p:nvPr/>
      </p:nvGrpSpPr>
      <p:grpSpPr>
        <a:xfrm>
          <a:off x="0" y="0"/>
          <a:ext cx="0" cy="0"/>
          <a:chOff x="0" y="0"/>
          <a:chExt cx="0" cy="0"/>
        </a:xfrm>
      </p:grpSpPr>
      <p:sp>
        <p:nvSpPr>
          <p:cNvPr id="198" name="Google Shape;198;p37"/>
          <p:cNvSpPr txBox="1">
            <a:spLocks noGrp="1"/>
          </p:cNvSpPr>
          <p:nvPr>
            <p:ph type="title"/>
          </p:nvPr>
        </p:nvSpPr>
        <p:spPr>
          <a:xfrm>
            <a:off x="420743" y="439044"/>
            <a:ext cx="4151400" cy="367200"/>
          </a:xfrm>
          <a:prstGeom prst="rect">
            <a:avLst/>
          </a:prstGeom>
          <a:noFill/>
          <a:ln>
            <a:noFill/>
          </a:ln>
        </p:spPr>
        <p:txBody>
          <a:bodyPr spcFirstLastPara="1" wrap="square" lIns="68575" tIns="34275" rIns="68575" bIns="34275" anchor="ctr" anchorCtr="0">
            <a:noAutofit/>
          </a:bodyPr>
          <a:lstStyle>
            <a:lvl1pPr lvl="0" algn="l">
              <a:lnSpc>
                <a:spcPct val="90000"/>
              </a:lnSpc>
              <a:spcBef>
                <a:spcPts val="0"/>
              </a:spcBef>
              <a:spcAft>
                <a:spcPts val="0"/>
              </a:spcAft>
              <a:buClr>
                <a:schemeClr val="dk1"/>
              </a:buClr>
              <a:buSzPts val="1100"/>
              <a:buFont typeface="DM Sans"/>
              <a:buNone/>
              <a:defRPr sz="1100" b="1"/>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9" name="Google Shape;199;p37"/>
          <p:cNvSpPr txBox="1">
            <a:spLocks noGrp="1"/>
          </p:cNvSpPr>
          <p:nvPr>
            <p:ph type="body" idx="1"/>
          </p:nvPr>
        </p:nvSpPr>
        <p:spPr>
          <a:xfrm>
            <a:off x="420743" y="821019"/>
            <a:ext cx="4151400" cy="2194200"/>
          </a:xfrm>
          <a:prstGeom prst="rect">
            <a:avLst/>
          </a:prstGeom>
          <a:noFill/>
          <a:ln>
            <a:noFill/>
          </a:ln>
        </p:spPr>
        <p:txBody>
          <a:bodyPr spcFirstLastPara="1" wrap="square" lIns="68575" tIns="34275" rIns="68575" bIns="34275" anchor="t" anchorCtr="0">
            <a:normAutofit/>
          </a:bodyPr>
          <a:lstStyle>
            <a:lvl1pPr marL="457200" lvl="0" indent="-361950" algn="l">
              <a:lnSpc>
                <a:spcPct val="90000"/>
              </a:lnSpc>
              <a:spcBef>
                <a:spcPts val="800"/>
              </a:spcBef>
              <a:spcAft>
                <a:spcPts val="0"/>
              </a:spcAft>
              <a:buClr>
                <a:schemeClr val="dk1"/>
              </a:buClr>
              <a:buSzPts val="2100"/>
              <a:buChar char="•"/>
              <a:defRPr sz="2100"/>
            </a:lvl1pPr>
            <a:lvl2pPr marL="914400" lvl="1" indent="-342900" algn="l">
              <a:lnSpc>
                <a:spcPct val="90000"/>
              </a:lnSpc>
              <a:spcBef>
                <a:spcPts val="400"/>
              </a:spcBef>
              <a:spcAft>
                <a:spcPts val="0"/>
              </a:spcAft>
              <a:buClr>
                <a:schemeClr val="dk1"/>
              </a:buClr>
              <a:buSzPts val="1800"/>
              <a:buChar char="•"/>
              <a:defRPr sz="1800"/>
            </a:lvl2pPr>
            <a:lvl3pPr marL="1371600" lvl="2" indent="-323850" algn="l">
              <a:lnSpc>
                <a:spcPct val="90000"/>
              </a:lnSpc>
              <a:spcBef>
                <a:spcPts val="400"/>
              </a:spcBef>
              <a:spcAft>
                <a:spcPts val="0"/>
              </a:spcAft>
              <a:buClr>
                <a:schemeClr val="dk1"/>
              </a:buClr>
              <a:buSzPts val="1500"/>
              <a:buChar char="•"/>
              <a:defRPr sz="1500"/>
            </a:lvl3pPr>
            <a:lvl4pPr marL="1828800" lvl="3" indent="-317500" algn="l">
              <a:lnSpc>
                <a:spcPct val="90000"/>
              </a:lnSpc>
              <a:spcBef>
                <a:spcPts val="400"/>
              </a:spcBef>
              <a:spcAft>
                <a:spcPts val="0"/>
              </a:spcAft>
              <a:buClr>
                <a:schemeClr val="dk1"/>
              </a:buClr>
              <a:buSzPts val="1400"/>
              <a:buChar char="•"/>
              <a:defRPr sz="1400"/>
            </a:lvl4pPr>
            <a:lvl5pPr marL="2286000" lvl="4" indent="-317500" algn="l">
              <a:lnSpc>
                <a:spcPct val="90000"/>
              </a:lnSpc>
              <a:spcBef>
                <a:spcPts val="400"/>
              </a:spcBef>
              <a:spcAft>
                <a:spcPts val="0"/>
              </a:spcAft>
              <a:buClr>
                <a:schemeClr val="dk1"/>
              </a:buClr>
              <a:buSzPts val="1400"/>
              <a:buChar char="•"/>
              <a:defRPr sz="14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0" name="Google Shape;200;p37"/>
          <p:cNvSpPr>
            <a:spLocks noGrp="1"/>
          </p:cNvSpPr>
          <p:nvPr>
            <p:ph type="pic" idx="2"/>
          </p:nvPr>
        </p:nvSpPr>
        <p:spPr>
          <a:xfrm>
            <a:off x="520220" y="2791738"/>
            <a:ext cx="714600" cy="714600"/>
          </a:xfrm>
          <a:prstGeom prst="ellipse">
            <a:avLst/>
          </a:prstGeom>
          <a:noFill/>
          <a:ln w="12700" cap="flat" cmpd="sng">
            <a:solidFill>
              <a:schemeClr val="dk2"/>
            </a:solidFill>
            <a:prstDash val="solid"/>
            <a:round/>
            <a:headEnd type="none" w="sm" len="sm"/>
            <a:tailEnd type="none" w="sm" len="sm"/>
          </a:ln>
        </p:spPr>
      </p:sp>
      <p:sp>
        <p:nvSpPr>
          <p:cNvPr id="201" name="Google Shape;201;p37"/>
          <p:cNvSpPr txBox="1">
            <a:spLocks noGrp="1"/>
          </p:cNvSpPr>
          <p:nvPr>
            <p:ph type="body" idx="3"/>
          </p:nvPr>
        </p:nvSpPr>
        <p:spPr>
          <a:xfrm>
            <a:off x="1335785" y="2922110"/>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400"/>
              <a:buNone/>
              <a:defRPr sz="1400"/>
            </a:lvl1pPr>
            <a:lvl2pPr marL="914400" lvl="1" indent="-228600" algn="l">
              <a:lnSpc>
                <a:spcPct val="90000"/>
              </a:lnSpc>
              <a:spcBef>
                <a:spcPts val="400"/>
              </a:spcBef>
              <a:spcAft>
                <a:spcPts val="0"/>
              </a:spcAft>
              <a:buClr>
                <a:schemeClr val="dk1"/>
              </a:buClr>
              <a:buSzPts val="1400"/>
              <a:buNone/>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2" name="Google Shape;202;p37"/>
          <p:cNvSpPr txBox="1">
            <a:spLocks noGrp="1"/>
          </p:cNvSpPr>
          <p:nvPr>
            <p:ph type="body" idx="4"/>
          </p:nvPr>
        </p:nvSpPr>
        <p:spPr>
          <a:xfrm>
            <a:off x="1335785" y="3137613"/>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228600" algn="l">
              <a:lnSpc>
                <a:spcPct val="90000"/>
              </a:lnSpc>
              <a:spcBef>
                <a:spcPts val="400"/>
              </a:spcBef>
              <a:spcAft>
                <a:spcPts val="0"/>
              </a:spcAft>
              <a:buClr>
                <a:schemeClr val="dk1"/>
              </a:buClr>
              <a:buSzPts val="1400"/>
              <a:buNone/>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203" name="Google Shape;203;p37" descr="A blue line on a black background  Description automatically generated"/>
          <p:cNvPicPr preferRelativeResize="0"/>
          <p:nvPr/>
        </p:nvPicPr>
        <p:blipFill rotWithShape="1">
          <a:blip r:embed="rId2">
            <a:alphaModFix/>
          </a:blip>
          <a:srcRect/>
          <a:stretch/>
        </p:blipFill>
        <p:spPr>
          <a:xfrm>
            <a:off x="7088382" y="3892490"/>
            <a:ext cx="2055618" cy="1282314"/>
          </a:xfrm>
          <a:prstGeom prst="rect">
            <a:avLst/>
          </a:prstGeom>
          <a:noFill/>
          <a:ln>
            <a:noFill/>
          </a:ln>
        </p:spPr>
      </p:pic>
      <p:pic>
        <p:nvPicPr>
          <p:cNvPr id="204" name="Google Shape;204;p37" descr="A blue line on a black background  Description automatically generated"/>
          <p:cNvPicPr preferRelativeResize="0"/>
          <p:nvPr/>
        </p:nvPicPr>
        <p:blipFill rotWithShape="1">
          <a:blip r:embed="rId3">
            <a:alphaModFix/>
          </a:blip>
          <a:srcRect/>
          <a:stretch/>
        </p:blipFill>
        <p:spPr>
          <a:xfrm rot="10800000">
            <a:off x="0" y="4025113"/>
            <a:ext cx="2669286" cy="1122440"/>
          </a:xfrm>
          <a:prstGeom prst="rect">
            <a:avLst/>
          </a:prstGeom>
          <a:noFill/>
          <a:ln>
            <a:noFill/>
          </a:ln>
        </p:spPr>
      </p:pic>
      <p:sp>
        <p:nvSpPr>
          <p:cNvPr id="205" name="Google Shape;205;p37"/>
          <p:cNvSpPr>
            <a:spLocks noGrp="1"/>
          </p:cNvSpPr>
          <p:nvPr>
            <p:ph type="pic" idx="5"/>
          </p:nvPr>
        </p:nvSpPr>
        <p:spPr>
          <a:xfrm>
            <a:off x="4803425" y="800100"/>
            <a:ext cx="3883500" cy="2171100"/>
          </a:xfrm>
          <a:prstGeom prst="roundRect">
            <a:avLst>
              <a:gd name="adj" fmla="val 4242"/>
            </a:avLst>
          </a:prstGeom>
          <a:noFill/>
          <a:ln>
            <a:noFill/>
          </a:ln>
          <a:effectLst>
            <a:outerShdw dist="66675" dir="7800000" algn="bl" rotWithShape="0">
              <a:schemeClr val="dk2"/>
            </a:outerShdw>
          </a:effectLst>
        </p:spPr>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C_Illustration 1">
  <p:cSld name="Illustration 1">
    <p:spTree>
      <p:nvGrpSpPr>
        <p:cNvPr id="1" name="Shape 206"/>
        <p:cNvGrpSpPr/>
        <p:nvPr/>
      </p:nvGrpSpPr>
      <p:grpSpPr>
        <a:xfrm>
          <a:off x="0" y="0"/>
          <a:ext cx="0" cy="0"/>
          <a:chOff x="0" y="0"/>
          <a:chExt cx="0" cy="0"/>
        </a:xfrm>
      </p:grpSpPr>
      <p:pic>
        <p:nvPicPr>
          <p:cNvPr id="207" name="Google Shape;207;p38"/>
          <p:cNvPicPr preferRelativeResize="0"/>
          <p:nvPr/>
        </p:nvPicPr>
        <p:blipFill rotWithShape="1">
          <a:blip r:embed="rId2">
            <a:alphaModFix/>
          </a:blip>
          <a:srcRect/>
          <a:stretch/>
        </p:blipFill>
        <p:spPr>
          <a:xfrm>
            <a:off x="0" y="0"/>
            <a:ext cx="9144000" cy="5143500"/>
          </a:xfrm>
          <a:prstGeom prst="rect">
            <a:avLst/>
          </a:prstGeom>
          <a:noFill/>
          <a:ln>
            <a:noFill/>
          </a:ln>
        </p:spPr>
      </p:pic>
      <p:pic>
        <p:nvPicPr>
          <p:cNvPr id="208" name="Google Shape;208;p38"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_Plain White">
  <p:cSld name="Plain White">
    <p:spTree>
      <p:nvGrpSpPr>
        <p:cNvPr id="1" name="Shape 209"/>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B_Image/Graphic Drop Shadow Asset">
  <p:cSld name="Image/Graphic Drop Shadow Asset">
    <p:bg>
      <p:bgPr>
        <a:solidFill>
          <a:schemeClr val="lt1"/>
        </a:solidFill>
        <a:effectLst/>
      </p:bgPr>
    </p:bg>
    <p:spTree>
      <p:nvGrpSpPr>
        <p:cNvPr id="1" name="Shape 210"/>
        <p:cNvGrpSpPr/>
        <p:nvPr/>
      </p:nvGrpSpPr>
      <p:grpSpPr>
        <a:xfrm>
          <a:off x="0" y="0"/>
          <a:ext cx="0" cy="0"/>
          <a:chOff x="0" y="0"/>
          <a:chExt cx="0" cy="0"/>
        </a:xfrm>
      </p:grpSpPr>
      <p:sp>
        <p:nvSpPr>
          <p:cNvPr id="211" name="Google Shape;211;p40"/>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chemeClr val="lt2"/>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212" name="Google Shape;212;p40"/>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3" name="Google Shape;213;p40"/>
          <p:cNvSpPr>
            <a:spLocks noGrp="1"/>
          </p:cNvSpPr>
          <p:nvPr>
            <p:ph type="pic" idx="2"/>
          </p:nvPr>
        </p:nvSpPr>
        <p:spPr>
          <a:xfrm>
            <a:off x="602200" y="880600"/>
            <a:ext cx="3904800" cy="2194200"/>
          </a:xfrm>
          <a:prstGeom prst="roundRect">
            <a:avLst>
              <a:gd name="adj" fmla="val 3229"/>
            </a:avLst>
          </a:prstGeom>
          <a:noFill/>
          <a:ln>
            <a:noFill/>
          </a:ln>
          <a:effectLst>
            <a:outerShdw dist="69226" dir="7800000" algn="ctr" rotWithShape="0">
              <a:schemeClr val="accent3"/>
            </a:outerShdw>
          </a:effectLst>
        </p:spPr>
      </p:sp>
      <p:sp>
        <p:nvSpPr>
          <p:cNvPr id="214" name="Google Shape;214;p40"/>
          <p:cNvSpPr>
            <a:spLocks noGrp="1"/>
          </p:cNvSpPr>
          <p:nvPr>
            <p:ph type="pic" idx="3"/>
          </p:nvPr>
        </p:nvSpPr>
        <p:spPr>
          <a:xfrm>
            <a:off x="4824700" y="880600"/>
            <a:ext cx="3898500" cy="2194200"/>
          </a:xfrm>
          <a:prstGeom prst="roundRect">
            <a:avLst>
              <a:gd name="adj" fmla="val 3874"/>
            </a:avLst>
          </a:prstGeom>
          <a:noFill/>
          <a:ln>
            <a:noFill/>
          </a:ln>
          <a:effectLst>
            <a:outerShdw dist="69226" dir="7800000" algn="ctr" rotWithShape="0">
              <a:schemeClr val="dk2"/>
            </a:outerShdw>
          </a:effectLst>
        </p:spPr>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C_Q&amp;A">
  <p:cSld name="Q&amp;A">
    <p:bg>
      <p:bgPr>
        <a:solidFill>
          <a:schemeClr val="dk2"/>
        </a:solidFill>
        <a:effectLst/>
      </p:bgPr>
    </p:bg>
    <p:spTree>
      <p:nvGrpSpPr>
        <p:cNvPr id="1" name="Shape 215"/>
        <p:cNvGrpSpPr/>
        <p:nvPr/>
      </p:nvGrpSpPr>
      <p:grpSpPr>
        <a:xfrm>
          <a:off x="0" y="0"/>
          <a:ext cx="0" cy="0"/>
          <a:chOff x="0" y="0"/>
          <a:chExt cx="0" cy="0"/>
        </a:xfrm>
      </p:grpSpPr>
      <p:pic>
        <p:nvPicPr>
          <p:cNvPr id="216" name="Google Shape;216;p41" descr="A black and white image of a person  Description automatically generated"/>
          <p:cNvPicPr preferRelativeResize="0"/>
          <p:nvPr/>
        </p:nvPicPr>
        <p:blipFill rotWithShape="1">
          <a:blip r:embed="rId2">
            <a:alphaModFix amt="60000"/>
          </a:blip>
          <a:srcRect/>
          <a:stretch/>
        </p:blipFill>
        <p:spPr>
          <a:xfrm rot="-900001">
            <a:off x="4096523" y="3086333"/>
            <a:ext cx="7191132" cy="2776325"/>
          </a:xfrm>
          <a:prstGeom prst="rect">
            <a:avLst/>
          </a:prstGeom>
          <a:noFill/>
          <a:ln>
            <a:noFill/>
          </a:ln>
        </p:spPr>
      </p:pic>
      <p:sp>
        <p:nvSpPr>
          <p:cNvPr id="217" name="Google Shape;217;p41"/>
          <p:cNvSpPr txBox="1">
            <a:spLocks noGrp="1"/>
          </p:cNvSpPr>
          <p:nvPr>
            <p:ph type="title"/>
          </p:nvPr>
        </p:nvSpPr>
        <p:spPr>
          <a:xfrm>
            <a:off x="420742" y="1645445"/>
            <a:ext cx="8302500" cy="367200"/>
          </a:xfrm>
          <a:prstGeom prst="rect">
            <a:avLst/>
          </a:prstGeom>
          <a:noFill/>
          <a:ln>
            <a:noFill/>
          </a:ln>
        </p:spPr>
        <p:txBody>
          <a:bodyPr spcFirstLastPara="1" wrap="square" lIns="68575" tIns="34275" rIns="68575" bIns="34275" anchor="ctr" anchorCtr="0">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pic>
        <p:nvPicPr>
          <p:cNvPr id="218" name="Google Shape;218;p41"/>
          <p:cNvPicPr preferRelativeResize="0"/>
          <p:nvPr/>
        </p:nvPicPr>
        <p:blipFill rotWithShape="1">
          <a:blip r:embed="rId3">
            <a:alphaModFix/>
          </a:blip>
          <a:srcRect/>
          <a:stretch/>
        </p:blipFill>
        <p:spPr>
          <a:xfrm>
            <a:off x="6610333" y="3093755"/>
            <a:ext cx="2374527" cy="1795313"/>
          </a:xfrm>
          <a:prstGeom prst="rect">
            <a:avLst/>
          </a:prstGeom>
          <a:noFill/>
          <a:ln>
            <a:noFill/>
          </a:ln>
        </p:spPr>
      </p:pic>
      <p:pic>
        <p:nvPicPr>
          <p:cNvPr id="219" name="Google Shape;219;p41" title="Logo.png"/>
          <p:cNvPicPr preferRelativeResize="0"/>
          <p:nvPr/>
        </p:nvPicPr>
        <p:blipFill rotWithShape="1">
          <a:blip r:embed="rId4">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C_Demo">
  <p:cSld name="Demo">
    <p:bg>
      <p:bgPr>
        <a:solidFill>
          <a:schemeClr val="dk2"/>
        </a:solidFill>
        <a:effectLst/>
      </p:bgPr>
    </p:bg>
    <p:spTree>
      <p:nvGrpSpPr>
        <p:cNvPr id="1" name="Shape 220"/>
        <p:cNvGrpSpPr/>
        <p:nvPr/>
      </p:nvGrpSpPr>
      <p:grpSpPr>
        <a:xfrm>
          <a:off x="0" y="0"/>
          <a:ext cx="0" cy="0"/>
          <a:chOff x="0" y="0"/>
          <a:chExt cx="0" cy="0"/>
        </a:xfrm>
      </p:grpSpPr>
      <p:pic>
        <p:nvPicPr>
          <p:cNvPr id="221" name="Google Shape;221;p42"/>
          <p:cNvPicPr preferRelativeResize="0"/>
          <p:nvPr/>
        </p:nvPicPr>
        <p:blipFill rotWithShape="1">
          <a:blip r:embed="rId2">
            <a:alphaModFix/>
          </a:blip>
          <a:srcRect/>
          <a:stretch/>
        </p:blipFill>
        <p:spPr>
          <a:xfrm>
            <a:off x="0" y="2741"/>
            <a:ext cx="9139128" cy="5140760"/>
          </a:xfrm>
          <a:prstGeom prst="rect">
            <a:avLst/>
          </a:prstGeom>
          <a:noFill/>
          <a:ln>
            <a:noFill/>
          </a:ln>
        </p:spPr>
      </p:pic>
      <p:pic>
        <p:nvPicPr>
          <p:cNvPr id="222" name="Google Shape;222;p42"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5000"/>
                                        <p:tgtEl>
                                          <p:spTgt spid="2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C_Thank you">
  <p:cSld name="Thank you">
    <p:bg>
      <p:bgPr>
        <a:solidFill>
          <a:schemeClr val="dk2"/>
        </a:solidFill>
        <a:effectLst/>
      </p:bgPr>
    </p:bg>
    <p:spTree>
      <p:nvGrpSpPr>
        <p:cNvPr id="1" name="Shape 223"/>
        <p:cNvGrpSpPr/>
        <p:nvPr/>
      </p:nvGrpSpPr>
      <p:grpSpPr>
        <a:xfrm>
          <a:off x="0" y="0"/>
          <a:ext cx="0" cy="0"/>
          <a:chOff x="0" y="0"/>
          <a:chExt cx="0" cy="0"/>
        </a:xfrm>
      </p:grpSpPr>
      <p:pic>
        <p:nvPicPr>
          <p:cNvPr id="224" name="Google Shape;224;p43"/>
          <p:cNvPicPr preferRelativeResize="0"/>
          <p:nvPr/>
        </p:nvPicPr>
        <p:blipFill rotWithShape="1">
          <a:blip r:embed="rId2">
            <a:alphaModFix/>
          </a:blip>
          <a:src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4"/>
                                        </p:tgtEl>
                                        <p:attrNameLst>
                                          <p:attrName>style.visibility</p:attrName>
                                        </p:attrNameLst>
                                      </p:cBhvr>
                                      <p:to>
                                        <p:strVal val="visible"/>
                                      </p:to>
                                    </p:set>
                                    <p:animEffect transition="in" filter="fade">
                                      <p:cBhvr>
                                        <p:cTn id="7" dur="3029"/>
                                        <p:tgtEl>
                                          <p:spTgt spid="2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_Plain Blue">
  <p:cSld name="Plain Blue">
    <p:bg>
      <p:bgPr>
        <a:solidFill>
          <a:schemeClr val="dk2"/>
        </a:solidFill>
        <a:effectLst/>
      </p:bgPr>
    </p:bg>
    <p:spTree>
      <p:nvGrpSpPr>
        <p:cNvPr id="1" name="Shape 225"/>
        <p:cNvGrpSpPr/>
        <p:nvPr/>
      </p:nvGrpSpPr>
      <p:grpSpPr>
        <a:xfrm>
          <a:off x="0" y="0"/>
          <a:ext cx="0" cy="0"/>
          <a:chOff x="0" y="0"/>
          <a:chExt cx="0" cy="0"/>
        </a:xfrm>
      </p:grpSpPr>
      <p:pic>
        <p:nvPicPr>
          <p:cNvPr id="226" name="Google Shape;226;p44"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27"/>
        <p:cNvGrpSpPr/>
        <p:nvPr/>
      </p:nvGrpSpPr>
      <p:grpSpPr>
        <a:xfrm>
          <a:off x="0" y="0"/>
          <a:ext cx="0" cy="0"/>
          <a:chOff x="0" y="0"/>
          <a:chExt cx="0" cy="0"/>
        </a:xfrm>
      </p:grpSpPr>
      <p:sp>
        <p:nvSpPr>
          <p:cNvPr id="228" name="Google Shape;228;p45"/>
          <p:cNvSpPr txBox="1">
            <a:spLocks noGrp="1"/>
          </p:cNvSpPr>
          <p:nvPr>
            <p:ph type="ctrTitle"/>
          </p:nvPr>
        </p:nvSpPr>
        <p:spPr>
          <a:xfrm>
            <a:off x="311708" y="744575"/>
            <a:ext cx="8520600" cy="20526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229" name="Google Shape;229;p45"/>
          <p:cNvSpPr txBox="1">
            <a:spLocks noGrp="1"/>
          </p:cNvSpPr>
          <p:nvPr>
            <p:ph type="subTitle" idx="1"/>
          </p:nvPr>
        </p:nvSpPr>
        <p:spPr>
          <a:xfrm>
            <a:off x="311700" y="2834125"/>
            <a:ext cx="8520600" cy="792600"/>
          </a:xfrm>
          <a:prstGeom prst="rect">
            <a:avLst/>
          </a:prstGeom>
          <a:noFill/>
          <a:ln>
            <a:noFill/>
          </a:ln>
        </p:spPr>
        <p:txBody>
          <a:bodyPr spcFirstLastPara="1" wrap="square" lIns="68575" tIns="34275" rIns="68575" bIns="34275" anchor="t" anchorCtr="0">
            <a:normAutofit/>
          </a:bodyPr>
          <a:lstStyle>
            <a:lvl1pPr lvl="0" algn="ctr">
              <a:lnSpc>
                <a:spcPct val="100000"/>
              </a:lnSpc>
              <a:spcBef>
                <a:spcPts val="800"/>
              </a:spcBef>
              <a:spcAft>
                <a:spcPts val="0"/>
              </a:spcAft>
              <a:buSzPts val="2800"/>
              <a:buNone/>
              <a:defRPr sz="2800"/>
            </a:lvl1pPr>
            <a:lvl2pPr lvl="1" algn="ctr">
              <a:lnSpc>
                <a:spcPct val="100000"/>
              </a:lnSpc>
              <a:spcBef>
                <a:spcPts val="400"/>
              </a:spcBef>
              <a:spcAft>
                <a:spcPts val="0"/>
              </a:spcAft>
              <a:buSzPts val="2800"/>
              <a:buNone/>
              <a:defRPr sz="2800"/>
            </a:lvl2pPr>
            <a:lvl3pPr lvl="2" algn="ctr">
              <a:lnSpc>
                <a:spcPct val="100000"/>
              </a:lnSpc>
              <a:spcBef>
                <a:spcPts val="400"/>
              </a:spcBef>
              <a:spcAft>
                <a:spcPts val="0"/>
              </a:spcAft>
              <a:buSzPts val="2800"/>
              <a:buNone/>
              <a:defRPr sz="2800"/>
            </a:lvl3pPr>
            <a:lvl4pPr lvl="3" algn="ctr">
              <a:lnSpc>
                <a:spcPct val="100000"/>
              </a:lnSpc>
              <a:spcBef>
                <a:spcPts val="400"/>
              </a:spcBef>
              <a:spcAft>
                <a:spcPts val="0"/>
              </a:spcAft>
              <a:buSzPts val="2800"/>
              <a:buNone/>
              <a:defRPr sz="2800"/>
            </a:lvl4pPr>
            <a:lvl5pPr lvl="4" algn="ctr">
              <a:lnSpc>
                <a:spcPct val="100000"/>
              </a:lnSpc>
              <a:spcBef>
                <a:spcPts val="400"/>
              </a:spcBef>
              <a:spcAft>
                <a:spcPts val="0"/>
              </a:spcAft>
              <a:buSzPts val="2800"/>
              <a:buNone/>
              <a:defRPr sz="2800"/>
            </a:lvl5pPr>
            <a:lvl6pPr lvl="5" algn="ctr">
              <a:lnSpc>
                <a:spcPct val="100000"/>
              </a:lnSpc>
              <a:spcBef>
                <a:spcPts val="400"/>
              </a:spcBef>
              <a:spcAft>
                <a:spcPts val="0"/>
              </a:spcAft>
              <a:buSzPts val="2800"/>
              <a:buNone/>
              <a:defRPr sz="2800"/>
            </a:lvl6pPr>
            <a:lvl7pPr lvl="6" algn="ctr">
              <a:lnSpc>
                <a:spcPct val="100000"/>
              </a:lnSpc>
              <a:spcBef>
                <a:spcPts val="400"/>
              </a:spcBef>
              <a:spcAft>
                <a:spcPts val="0"/>
              </a:spcAft>
              <a:buSzPts val="2800"/>
              <a:buNone/>
              <a:defRPr sz="2800"/>
            </a:lvl7pPr>
            <a:lvl8pPr lvl="7" algn="ctr">
              <a:lnSpc>
                <a:spcPct val="100000"/>
              </a:lnSpc>
              <a:spcBef>
                <a:spcPts val="400"/>
              </a:spcBef>
              <a:spcAft>
                <a:spcPts val="0"/>
              </a:spcAft>
              <a:buSzPts val="2800"/>
              <a:buNone/>
              <a:defRPr sz="2800"/>
            </a:lvl8pPr>
            <a:lvl9pPr lvl="8" algn="ctr">
              <a:lnSpc>
                <a:spcPct val="100000"/>
              </a:lnSpc>
              <a:spcBef>
                <a:spcPts val="400"/>
              </a:spcBef>
              <a:spcAft>
                <a:spcPts val="0"/>
              </a:spcAft>
              <a:buSzPts val="2800"/>
              <a:buNone/>
              <a:defRPr sz="2800"/>
            </a:lvl9pPr>
          </a:lstStyle>
          <a:p>
            <a:endParaRPr/>
          </a:p>
        </p:txBody>
      </p:sp>
      <p:sp>
        <p:nvSpPr>
          <p:cNvPr id="230" name="Google Shape;230;p4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0" marR="0" lvl="1"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L="0" marR="0" lvl="2"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L="0" marR="0" lvl="3"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L="0" marR="0" lvl="4"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L="0" marR="0" lvl="5"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0" marR="0" lvl="6"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0" marR="0" lvl="7"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0" marR="0" lvl="8"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3_Custom Layout">
  <p:cSld name="3_Custom Layout">
    <p:spTree>
      <p:nvGrpSpPr>
        <p:cNvPr id="1" name="Shape 23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18" Type="http://schemas.openxmlformats.org/officeDocument/2006/relationships/slideLayout" Target="../slideLayouts/slideLayout33.xml"/><Relationship Id="rId26" Type="http://schemas.openxmlformats.org/officeDocument/2006/relationships/slideLayout" Target="../slideLayouts/slideLayout41.xml"/><Relationship Id="rId3" Type="http://schemas.openxmlformats.org/officeDocument/2006/relationships/slideLayout" Target="../slideLayouts/slideLayout18.xml"/><Relationship Id="rId21" Type="http://schemas.openxmlformats.org/officeDocument/2006/relationships/slideLayout" Target="../slideLayouts/slideLayout36.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slideLayout" Target="../slideLayouts/slideLayout32.xml"/><Relationship Id="rId25" Type="http://schemas.openxmlformats.org/officeDocument/2006/relationships/slideLayout" Target="../slideLayouts/slideLayout40.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20" Type="http://schemas.openxmlformats.org/officeDocument/2006/relationships/slideLayout" Target="../slideLayouts/slideLayout35.xml"/><Relationship Id="rId29" Type="http://schemas.openxmlformats.org/officeDocument/2006/relationships/slideLayout" Target="../slideLayouts/slideLayout44.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24" Type="http://schemas.openxmlformats.org/officeDocument/2006/relationships/slideLayout" Target="../slideLayouts/slideLayout39.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23" Type="http://schemas.openxmlformats.org/officeDocument/2006/relationships/slideLayout" Target="../slideLayouts/slideLayout38.xml"/><Relationship Id="rId28" Type="http://schemas.openxmlformats.org/officeDocument/2006/relationships/slideLayout" Target="../slideLayouts/slideLayout43.xml"/><Relationship Id="rId10" Type="http://schemas.openxmlformats.org/officeDocument/2006/relationships/slideLayout" Target="../slideLayouts/slideLayout25.xml"/><Relationship Id="rId19" Type="http://schemas.openxmlformats.org/officeDocument/2006/relationships/slideLayout" Target="../slideLayouts/slideLayout34.xml"/><Relationship Id="rId31" Type="http://schemas.openxmlformats.org/officeDocument/2006/relationships/image" Target="../media/image10.png"/><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 Id="rId22" Type="http://schemas.openxmlformats.org/officeDocument/2006/relationships/slideLayout" Target="../slideLayouts/slideLayout37.xml"/><Relationship Id="rId27" Type="http://schemas.openxmlformats.org/officeDocument/2006/relationships/slideLayout" Target="../slideLayouts/slideLayout42.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8"/>
        <p:cNvGrpSpPr/>
        <p:nvPr/>
      </p:nvGrpSpPr>
      <p:grpSpPr>
        <a:xfrm>
          <a:off x="0" y="0"/>
          <a:ext cx="0" cy="0"/>
          <a:chOff x="0" y="0"/>
          <a:chExt cx="0" cy="0"/>
        </a:xfrm>
      </p:grpSpPr>
      <p:sp>
        <p:nvSpPr>
          <p:cNvPr id="49" name="Google Shape;49;p17"/>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2000"/>
              <a:buFont typeface="DM Sans"/>
              <a:buNone/>
              <a:defRPr sz="2000" b="0" i="0" u="none" strike="noStrike" cap="none">
                <a:solidFill>
                  <a:schemeClr val="dk1"/>
                </a:solidFill>
                <a:latin typeface="DM Sans"/>
                <a:ea typeface="DM Sans"/>
                <a:cs typeface="DM Sans"/>
                <a:sym typeface="DM Sans"/>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50" name="Google Shape;50;p17"/>
          <p:cNvSpPr txBox="1">
            <a:spLocks noGrp="1"/>
          </p:cNvSpPr>
          <p:nvPr>
            <p:ph type="body" idx="1"/>
          </p:nvPr>
        </p:nvSpPr>
        <p:spPr>
          <a:xfrm>
            <a:off x="420743" y="812524"/>
            <a:ext cx="8302500" cy="3820200"/>
          </a:xfrm>
          <a:prstGeom prst="rect">
            <a:avLst/>
          </a:prstGeom>
          <a:noFill/>
          <a:ln>
            <a:noFill/>
          </a:ln>
        </p:spPr>
        <p:txBody>
          <a:bodyPr spcFirstLastPara="1" wrap="square" lIns="68575" tIns="34275" rIns="68575" bIns="34275" anchor="t" anchorCtr="0">
            <a:normAutofit/>
          </a:bodyPr>
          <a:lstStyle>
            <a:lvl1pPr marL="457200" marR="0" lvl="0" indent="-311150" algn="l" rtl="0">
              <a:lnSpc>
                <a:spcPct val="90000"/>
              </a:lnSpc>
              <a:spcBef>
                <a:spcPts val="800"/>
              </a:spcBef>
              <a:spcAft>
                <a:spcPts val="0"/>
              </a:spcAft>
              <a:buClr>
                <a:schemeClr val="dk1"/>
              </a:buClr>
              <a:buSzPts val="1300"/>
              <a:buFont typeface="Arial"/>
              <a:buChar char="•"/>
              <a:defRPr sz="1300" b="0" i="0" u="none" strike="noStrike" cap="none">
                <a:solidFill>
                  <a:schemeClr val="dk1"/>
                </a:solidFill>
                <a:latin typeface="DM Sans"/>
                <a:ea typeface="DM Sans"/>
                <a:cs typeface="DM Sans"/>
                <a:sym typeface="DM Sans"/>
              </a:defRPr>
            </a:lvl1pPr>
            <a:lvl2pPr marL="914400" marR="0" lvl="1" indent="-304800" algn="l" rtl="0">
              <a:lnSpc>
                <a:spcPct val="90000"/>
              </a:lnSpc>
              <a:spcBef>
                <a:spcPts val="400"/>
              </a:spcBef>
              <a:spcAft>
                <a:spcPts val="0"/>
              </a:spcAft>
              <a:buClr>
                <a:schemeClr val="dk1"/>
              </a:buClr>
              <a:buSzPts val="1200"/>
              <a:buFont typeface="Arial"/>
              <a:buChar char="•"/>
              <a:defRPr sz="1200" b="0" i="0" u="none" strike="noStrike" cap="none">
                <a:solidFill>
                  <a:schemeClr val="dk1"/>
                </a:solidFill>
                <a:latin typeface="DM Sans"/>
                <a:ea typeface="DM Sans"/>
                <a:cs typeface="DM Sans"/>
                <a:sym typeface="DM Sans"/>
              </a:defRPr>
            </a:lvl2pPr>
            <a:lvl3pPr marL="1371600" marR="0" lvl="2" indent="-292100" algn="l" rtl="0">
              <a:lnSpc>
                <a:spcPct val="90000"/>
              </a:lnSpc>
              <a:spcBef>
                <a:spcPts val="400"/>
              </a:spcBef>
              <a:spcAft>
                <a:spcPts val="0"/>
              </a:spcAft>
              <a:buClr>
                <a:schemeClr val="dk1"/>
              </a:buClr>
              <a:buSzPts val="1000"/>
              <a:buFont typeface="Arial"/>
              <a:buChar char="•"/>
              <a:defRPr sz="1000" b="0" i="0" u="none" strike="noStrike" cap="none">
                <a:solidFill>
                  <a:schemeClr val="dk1"/>
                </a:solidFill>
                <a:latin typeface="DM Sans"/>
                <a:ea typeface="DM Sans"/>
                <a:cs typeface="DM Sans"/>
                <a:sym typeface="DM Sans"/>
              </a:defRPr>
            </a:lvl3pPr>
            <a:lvl4pPr marL="1828800" marR="0" lvl="3" indent="-285750" algn="l" rtl="0">
              <a:lnSpc>
                <a:spcPct val="90000"/>
              </a:lnSpc>
              <a:spcBef>
                <a:spcPts val="400"/>
              </a:spcBef>
              <a:spcAft>
                <a:spcPts val="0"/>
              </a:spcAft>
              <a:buClr>
                <a:schemeClr val="dk1"/>
              </a:buClr>
              <a:buSzPts val="900"/>
              <a:buFont typeface="Arial"/>
              <a:buChar char="•"/>
              <a:defRPr sz="900" b="0" i="0" u="none" strike="noStrike" cap="none">
                <a:solidFill>
                  <a:schemeClr val="dk1"/>
                </a:solidFill>
                <a:latin typeface="DM Sans"/>
                <a:ea typeface="DM Sans"/>
                <a:cs typeface="DM Sans"/>
                <a:sym typeface="DM Sans"/>
              </a:defRPr>
            </a:lvl4pPr>
            <a:lvl5pPr marL="2286000" marR="0" lvl="4" indent="-285750" algn="l" rtl="0">
              <a:lnSpc>
                <a:spcPct val="90000"/>
              </a:lnSpc>
              <a:spcBef>
                <a:spcPts val="400"/>
              </a:spcBef>
              <a:spcAft>
                <a:spcPts val="0"/>
              </a:spcAft>
              <a:buClr>
                <a:schemeClr val="dk1"/>
              </a:buClr>
              <a:buSzPts val="900"/>
              <a:buFont typeface="Arial"/>
              <a:buChar char="•"/>
              <a:defRPr sz="900" b="0" i="0" u="none" strike="noStrike" cap="none">
                <a:solidFill>
                  <a:schemeClr val="dk1"/>
                </a:solidFill>
                <a:latin typeface="DM Sans"/>
                <a:ea typeface="DM Sans"/>
                <a:cs typeface="DM Sans"/>
                <a:sym typeface="DM Sans"/>
              </a:defRPr>
            </a:lvl5pPr>
            <a:lvl6pPr marL="2743200" marR="0" lvl="5"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6pPr>
            <a:lvl7pPr marL="3200400" marR="0" lvl="6"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7pPr>
            <a:lvl8pPr marL="3657600" marR="0" lvl="7" indent="-273050" algn="l" rtl="0">
              <a:lnSpc>
                <a:spcPct val="90000"/>
              </a:lnSpc>
              <a:spcBef>
                <a:spcPts val="400"/>
              </a:spcBef>
              <a:spcAft>
                <a:spcPts val="0"/>
              </a:spcAft>
              <a:buClr>
                <a:schemeClr val="dk1"/>
              </a:buClr>
              <a:buSzPts val="700"/>
              <a:buFont typeface="Arial"/>
              <a:buChar char="•"/>
              <a:defRPr sz="700" b="0" i="0" u="none" strike="noStrike" cap="none">
                <a:solidFill>
                  <a:schemeClr val="dk1"/>
                </a:solidFill>
                <a:latin typeface="DM Sans"/>
                <a:ea typeface="DM Sans"/>
                <a:cs typeface="DM Sans"/>
                <a:sym typeface="DM Sans"/>
              </a:defRPr>
            </a:lvl8pPr>
            <a:lvl9pPr marL="4114800" marR="0" lvl="8"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9pPr>
          </a:lstStyle>
          <a:p>
            <a:endParaRPr/>
          </a:p>
        </p:txBody>
      </p:sp>
      <p:sp>
        <p:nvSpPr>
          <p:cNvPr id="51" name="Google Shape;51;p17"/>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52" name="Google Shape;52;p17"/>
          <p:cNvPicPr preferRelativeResize="0"/>
          <p:nvPr/>
        </p:nvPicPr>
        <p:blipFill rotWithShape="1">
          <a:blip r:embed="rId31">
            <a:alphaModFix/>
          </a:blip>
          <a:srcRect/>
          <a:stretch/>
        </p:blipFill>
        <p:spPr>
          <a:xfrm>
            <a:off x="8412332" y="4829647"/>
            <a:ext cx="310926" cy="149074"/>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hyperlink" Target="https://app.wiz.io/inventory/unscanned-resources/unclassified" TargetMode="External"/><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hyperlink" Target="https://app.wiz.io/settings/deployments#%7E%28type%7E%27ALL%29" TargetMode="External"/><Relationship Id="rId2" Type="http://schemas.openxmlformats.org/officeDocument/2006/relationships/notesSlide" Target="../notesSlides/notesSlide3.xml"/><Relationship Id="rId16" Type="http://schemas.openxmlformats.org/officeDocument/2006/relationships/hyperlink" Target="https://app.wiz.io/boards/ai-security" TargetMode="External"/><Relationship Id="rId1" Type="http://schemas.openxmlformats.org/officeDocument/2006/relationships/slideLayout" Target="../slideLayouts/slideLayout3.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5" Type="http://schemas.openxmlformats.org/officeDocument/2006/relationships/image" Target="../media/image44.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hyperlink" Target="https://app.wiz.io/explorer/cloud-events#%7E%28filters%7E%28timestampv2%7E%28dateRange%7E%28past%7E%28unit%7E%27month%7Eamount%7E1%29%29%29%29%7EgroupBy%7E%28%7E%27origin%29%29"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app.wiz.io/inventory/kubernetes-clusters" TargetMode="External"/><Relationship Id="rId13" Type="http://schemas.openxmlformats.org/officeDocument/2006/relationships/hyperlink" Target="https://app.wiz.io/inventory/unscanned-resources/unclassified" TargetMode="External"/><Relationship Id="rId3" Type="http://schemas.openxmlformats.org/officeDocument/2006/relationships/image" Target="../media/image35.png"/><Relationship Id="rId7" Type="http://schemas.openxmlformats.org/officeDocument/2006/relationships/image" Target="../media/image48.png"/><Relationship Id="rId12" Type="http://schemas.openxmlformats.org/officeDocument/2006/relationships/image" Target="../media/image49.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7.png"/><Relationship Id="rId11" Type="http://schemas.openxmlformats.org/officeDocument/2006/relationships/hyperlink" Target="https://app.wiz.io/inventory/containers/images" TargetMode="External"/><Relationship Id="rId5" Type="http://schemas.openxmlformats.org/officeDocument/2006/relationships/image" Target="../media/image46.png"/><Relationship Id="rId10" Type="http://schemas.openxmlformats.org/officeDocument/2006/relationships/hyperlink" Target="https://app.wiz.io/inventory/container-registries" TargetMode="External"/><Relationship Id="rId4" Type="http://schemas.openxmlformats.org/officeDocument/2006/relationships/image" Target="../media/image45.png"/><Relationship Id="rId9" Type="http://schemas.openxmlformats.org/officeDocument/2006/relationships/hyperlink" Target="https://app.wiz.io/findings/code-cicd-scans#%7E%28filters%7E%28timestamp%7E%28inTheLast%7E%28amount%7E30%7Eunit%7E%27days%29%29%7Eorigin%7E%28equals%7E%28%7E%27WIZ_CLI%29%29%7EcicdScanTrigger%7E%28equals%7E%28%7E%27USER_INITIATED%29%29%29%29" TargetMode="External"/><Relationship Id="rId14" Type="http://schemas.openxmlformats.org/officeDocument/2006/relationships/hyperlink" Target="https://app.wiz.io/policies/red-agent-modules" TargetMode="External"/></Relationships>
</file>

<file path=ppt/slides/_rels/slide5.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NOT_EQUALS%7E%28%7E%276961%7E%273032%7E%279899%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8" Type="http://schemas.openxmlformats.org/officeDocument/2006/relationships/hyperlink" Target="https://app.wiz.io/settings/workload-scan-log#%7E%28filters%7E%28status%7E%28%29%7Etimestamp%7E%28%29%7EdataScan%7E%28equals%7Efalse%29%29%29" TargetMode="External"/><Relationship Id="rId26" Type="http://schemas.openxmlformats.org/officeDocument/2006/relationships/hyperlink" Target="https://app.wiz.io/settings/system-health#%7E%28filters%7E%28status%7E%28equals%7E%28%7E%27OPEN%29%29%7EdeploymentType%7E%28equals%7E%28%7E%27BROKER%29%29%7Eseverity%7E%28equals%7E%28%7E%27CRITICAL%7E%27HIGH%29%29%29%29" TargetMode="External"/><Relationship Id="rId3" Type="http://schemas.openxmlformats.org/officeDocument/2006/relationships/image" Target="../media/image48.png"/><Relationship Id="rId21" Type="http://schemas.openxmlformats.org/officeDocument/2006/relationships/hyperlink" Target="https://app.wiz.io/settings/system-health#%7E%28filters%7E%28status%7E%28equals%7E%28%7E%27OPEN%29%29%7EdeploymentType%7E%28equals%7E%28%7E%27OUTPOST_CLUSTER%7E%27OUTPOST%29%29%7Eseverity%7E%28equals%7E%28%7E%27CRITICAL%7E%27HIGH%29%29%29%29" TargetMode="External"/><Relationship Id="rId7" Type="http://schemas.openxmlformats.org/officeDocument/2006/relationships/hyperlink" Target="https://app.wiz.io/settings/system-health#%7E%28filters%7E%28status%7E%28equals%7E%28%7E%27RESOLVED%29%29%7Eseverity%7E%28equals%7E%28%7E%27HIGH%29%29%29%7EgroupBy%7E%27none%29" TargetMode="External"/><Relationship Id="rId12" Type="http://schemas.openxmlformats.org/officeDocument/2006/relationships/hyperlink" Target="https://app.wiz.io/explorer/graph#%7E%28query%7E%28type%7E%28%7E%27BUCK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7" Type="http://schemas.openxmlformats.org/officeDocument/2006/relationships/hyperlink" Target="https://app.wiz.io/explorer/graph#%7E%28query%7E%28type%7E%28%7E%27FILE_SYSTEM_SERVIC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FILE_SYSTEM_SERVICE%7E%28%7E%27cloudPlatform%7E%27atRestEncryption%7E%27inTransitEncryption%7E%27accessibleFrom.internet%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5" Type="http://schemas.openxmlformats.org/officeDocument/2006/relationships/hyperlink" Target="https://app.wiz.io/settings/system-health#%7E%28filters%7E%28status%7E%28equals%7E%28%7E%27OPEN%29%29%7EdeploymentType%7E%28equals%7E%28%7E%27VERSION_CONTROL_CONNECTOR%29%29%7Eseverity%7E%28equals%7E%28%7E%27CRITICAL%7E%27HIGH%29%29%29%29" TargetMode="External"/><Relationship Id="rId2" Type="http://schemas.openxmlformats.org/officeDocument/2006/relationships/notesSlide" Target="../notesSlides/notesSlide5.xml"/><Relationship Id="rId16" Type="http://schemas.openxmlformats.org/officeDocument/2006/relationships/hyperlink" Target="https://app.wiz.io/explorer/graph#%7E%28query%7E%28type%7E%28%7E%27AI_DATAS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AI_DATAS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0" Type="http://schemas.openxmlformats.org/officeDocument/2006/relationships/hyperlink" Target="https://app.wiz.io/settings/workload-scan-log#%7E%28filters%7E%28status%7E%28equals%7E%28%7E%27SKIPPED%29%29%7Etimestamp%7E%28%29%7EdataScan%7E%28equals%7Efalse%29%29%29" TargetMode="External"/><Relationship Id="rId1" Type="http://schemas.openxmlformats.org/officeDocument/2006/relationships/slideLayout" Target="../slideLayouts/slideLayout3.xml"/><Relationship Id="rId6" Type="http://schemas.openxmlformats.org/officeDocument/2006/relationships/hyperlink" Target="https://app.wiz.io/settings/system-health#%7E%28filters%7E%28status%7E%28equals%7E%28%7E%27RESOLVED%29%29%7Eseverity%7E%28equals%7E%28%7E%27CRITICAL%29%29%29%7EgroupBy%7E%27none%29" TargetMode="External"/><Relationship Id="rId11"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Skipped%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4" Type="http://schemas.openxmlformats.org/officeDocument/2006/relationships/hyperlink" Target="https://app.wiz.io/settings/system-health#%7E%28filters%7E%28status%7E%28equals%7E%28%7E%27OPEN%29%29%7EdeploymentType%7E%28equals%7E%28%7E%27KUBERNETES_CONNECTOR%29%29%7Eseverity%7E%28equals%7E%28%7E%27CRITICAL%7E%27HIGH%29%29%29%29" TargetMode="External"/><Relationship Id="rId5" Type="http://schemas.openxmlformats.org/officeDocument/2006/relationships/hyperlink" Target="https://app.wiz.io/settings/system-health#%7E%28filters%7E%28status%7E%28equals%7E%28%7E%27OPEN%29%29%7Eseverity%7E%28equals%7E%28%7E%27HIGH%29%29%29%7EgroupBy%7E%27none%29" TargetMode="External"/><Relationship Id="rId15"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EQUALS%7E%28%7E%273032%7E%279899%7E%276961%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3" Type="http://schemas.openxmlformats.org/officeDocument/2006/relationships/hyperlink" Target="https://app.wiz.io/settings/system-health#%7E%28filters%7E%28status%7E%28equals%7E%28%7E%27OPEN%29%29%7EdeploymentType%7E%28equals%7E%28%7E%27INTEGRATION%29%29%7Eseverity%7E%28equals%7E%28%7E%27CRITICAL%7E%27HIGH%29%29%29%29" TargetMode="External"/><Relationship Id="rId10"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Error%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9" Type="http://schemas.openxmlformats.org/officeDocument/2006/relationships/hyperlink" Target="https://app.wiz.io/settings/workload-scan-log#%7E%28filters%7E%28status%7E%28equals%7E%28%7E%27FAILED%29%29%7Etimestamp%7E%28%29%7EdataScan%7E%28equals%7Efalse%29%29%29" TargetMode="External"/><Relationship Id="rId4" Type="http://schemas.openxmlformats.org/officeDocument/2006/relationships/hyperlink" Target="https://app.wiz.io/settings/system-health#%7E%28filters%7E%28status%7E%28equals%7E%28%7E%27OPEN%29%29%7Eseverity%7E%28equals%7E%28%7E%27CRITICAL%29%29%29%7EgroupBy%7E%27none%29" TargetMode="External"/><Relationship Id="rId9"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4" Type="http://schemas.openxmlformats.org/officeDocument/2006/relationships/hyperlink" Target="https://app.wiz.io/explorer/graph#%7E%28query%7E%28type%7E%28%7E%27VIRTUAL_DRIV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VIRTUAL_DRIVE%7E%28%7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2" Type="http://schemas.openxmlformats.org/officeDocument/2006/relationships/hyperlink" Target="https://app.wiz.io/settings/system-health#%7E%28filters%7E%28status%7E%28equals%7E%28%7E%27OPEN%29%29%7EdeploymentType%7E%28equals%7E%28%7E%27REGISTRY_CONNECTOR%29%29%7Eseverity%7E%28equals%7E%28%7E%27CRITICAL%7E%27HIGH%29%29%29%29" TargetMode="External"/><Relationship Id="rId27" Type="http://schemas.openxmlformats.org/officeDocument/2006/relationships/hyperlink" Target="https://app.wiz.io/settings/system-health#%7E%28filters%7E%28status%7E%28equals%7E%28%7E%27OPEN%29%29%7EdeploymentType%7E%28equals%7E%28%7E%27CLOUD_CONNECTOR%29%29%7Eseverity%7E%28equals%7E%28%7E%27CRITICAL%7E%27HIGH%29%29%29%29" TargetMode="External"/></Relationships>
</file>

<file path=ppt/slides/_rels/slide6.xml.rels><?xml version="1.0" encoding="UTF-8" standalone="yes"?>
<Relationships xmlns="http://schemas.openxmlformats.org/package/2006/relationships"><Relationship Id="rId8" Type="http://schemas.openxmlformats.org/officeDocument/2006/relationships/hyperlink" Target="https://app.wiz.io/settings/projects#%7E%28filters%7E%28businessImpact%7E%28equals%7E%28%7E%27MBI%29%29%29%29" TargetMode="External"/><Relationship Id="rId13" Type="http://schemas.openxmlformats.org/officeDocument/2006/relationships/hyperlink" Target="https://app.wiz.io/policies/inventory-management-rules#%7E%28filters%7E%28createdBy%7E%28equals%7E%28%7E%27USER%29%29%29%29" TargetMode="External"/><Relationship Id="rId18" Type="http://schemas.openxmlformats.org/officeDocument/2006/relationships/image" Target="../media/image51.png"/><Relationship Id="rId3" Type="http://schemas.openxmlformats.org/officeDocument/2006/relationships/hyperlink" Target="https://app.wiz.io/settings/users#%7E%28filters%7E%28status%7E%28notEquals%7E%28%7E%27DELETED%29%29%29%29" TargetMode="External"/><Relationship Id="rId21" Type="http://schemas.openxmlformats.org/officeDocument/2006/relationships/hyperlink" Target="https://app.wiz.io/policies/workflows" TargetMode="External"/><Relationship Id="rId7" Type="http://schemas.openxmlformats.org/officeDocument/2006/relationships/hyperlink" Target="https://app.wiz.io/settings/projects#%7E%28filters%7E%28businessImpact%7E%28equals%7E%28%7E%27HBI%29%29%29%29" TargetMode="External"/><Relationship Id="rId12" Type="http://schemas.openxmlformats.org/officeDocument/2006/relationships/hyperlink" Target="https://app.wiz.io/settings/services" TargetMode="External"/><Relationship Id="rId17" Type="http://schemas.openxmlformats.org/officeDocument/2006/relationships/hyperlink" Target="https://app.wiz.io/settings/audit-log#%7E%28filters%7E%28action%7E%28equals%7E%28%7E%27AiAssistantSendMessage%29%29%7EclientType%7E%28notEquals%7E%28%7E%27UNKNOWN%29%29%7EuserType%7E%28equals%7E%28%7E%27USER_ACCOUNT%29%29%29%7EgroupBy%7E%28%7E%27CLIENT_TYPE%29%29" TargetMode="External"/><Relationship Id="rId2" Type="http://schemas.openxmlformats.org/officeDocument/2006/relationships/notesSlide" Target="../notesSlides/notesSlide6.xml"/><Relationship Id="rId16" Type="http://schemas.openxmlformats.org/officeDocument/2006/relationships/hyperlink" Target="https://app.wiz.io/boards/champion-center" TargetMode="External"/><Relationship Id="rId20" Type="http://schemas.openxmlformats.org/officeDocument/2006/relationships/image" Target="../media/image53.png"/><Relationship Id="rId1" Type="http://schemas.openxmlformats.org/officeDocument/2006/relationships/slideLayout" Target="../slideLayouts/slideLayout3.xml"/><Relationship Id="rId6" Type="http://schemas.openxmlformats.org/officeDocument/2006/relationships/hyperlink" Target="https://app.wiz.io/inventory/unscanned-resources/unclassified" TargetMode="External"/><Relationship Id="rId11" Type="http://schemas.openxmlformats.org/officeDocument/2006/relationships/hyperlink" Target="https://app.wiz.io/policies/resource-tag-rules#%7E%28filters%7E%28type%7E%28equals%7E%28%7E%27TAG%29%29%7Estatus%7E%28equals%7E%27enabled%29%29%29" TargetMode="External"/><Relationship Id="rId5" Type="http://schemas.openxmlformats.org/officeDocument/2006/relationships/hyperlink" Target="https://app.wiz.io/settings/deployments#%7E%28type%7E%27INTEGRATION%29" TargetMode="External"/><Relationship Id="rId15" Type="http://schemas.openxmlformats.org/officeDocument/2006/relationships/hyperlink" Target="https://app.wiz.io/reports/monitored-metrics#%7E%28filters%7E%28builtin%7E%28equals%7E%28%7E%27false%29%29%29%29" TargetMode="External"/><Relationship Id="rId23" Type="http://schemas.openxmlformats.org/officeDocument/2006/relationships/hyperlink" Target="https://app.wiz.io/settings/audit-log#%7E%28filters%7E%28clientType%7E%28equals%7E%28%7E%27MCP%29%29%29%7EgroupBy%7E%28%7E%27PERFORMER%29%29" TargetMode="External"/><Relationship Id="rId10" Type="http://schemas.openxmlformats.org/officeDocument/2006/relationships/hyperlink" Target="https://app.wiz.io/reports/compliance/security-frameworks#%7E%28filters%7E%28createdBy%7E%28equals%7E%27USER%29%29%29" TargetMode="External"/><Relationship Id="rId19" Type="http://schemas.openxmlformats.org/officeDocument/2006/relationships/image" Target="../media/image52.png"/><Relationship Id="rId4" Type="http://schemas.openxmlformats.org/officeDocument/2006/relationships/hyperlink" Target="https://app.wiz.io/settings/users#%7E%28filters%7E%28status%7E%28notEquals%7E%28%7E%27DELETED%29%29%7ElastLoginAt%7E%28inTheLast%7E%28amount%7E30%7Eunit%7E%27days%29%29%29%29" TargetMode="External"/><Relationship Id="rId9" Type="http://schemas.openxmlformats.org/officeDocument/2006/relationships/hyperlink" Target="https://app.wiz.io/settings/projects#%7E%28filters%7E%28businessImpact%7E%28equals%7E%28%7E%27LBI%29%29%29%29" TargetMode="External"/><Relationship Id="rId14" Type="http://schemas.openxmlformats.org/officeDocument/2006/relationships/hyperlink" Target="https://app.wiz.io/policies/posture#%7E%28filters%7E%28creator%7E%28equals%7E%28%7E%27USER%29%29%29%29" TargetMode="External"/><Relationship Id="rId22" Type="http://schemas.openxmlformats.org/officeDocument/2006/relationships/hyperlink" Target="https://app.wiz.io/policies/automation-rules"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hyperlink" Target="https://app.wiz.io/settings/preview-and-migration-hub"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hyperlink" Target="https://app.wiz.io/settings/preview-and-migration-hub"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app.wiz.io/roadmap?tab=TRACKED"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9.png"/><Relationship Id="rId7" Type="http://schemas.openxmlformats.org/officeDocument/2006/relationships/image" Target="../media/image5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2.png"/><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8" Type="http://schemas.openxmlformats.org/officeDocument/2006/relationships/hyperlink" Target="https://app.wiz.io/issues#%7E%28filters%7E%28status%7E%28equals%7E%28%7E%27REJECTED%29%29%29%7EgroupBy%7E%27none%29" TargetMode="External"/><Relationship Id="rId13" Type="http://schemas.openxmlformats.org/officeDocument/2006/relationships/image" Target="../media/image55.png"/><Relationship Id="rId3" Type="http://schemas.openxmlformats.org/officeDocument/2006/relationships/image" Target="../media/image48.png"/><Relationship Id="rId7" Type="http://schemas.openxmlformats.org/officeDocument/2006/relationships/hyperlink" Target="https://app.wiz.io/issues#%7E%28filters%7E%28status%7E%28equals%7E%28%7E%27RESOLVED%29%29%7Eseverity%7E%28equals%7E%28%7E%27HIGH%29%29%29%7EgroupBy%7E%27none%29" TargetMode="External"/><Relationship Id="rId12" Type="http://schemas.openxmlformats.org/officeDocument/2006/relationships/hyperlink" Target="https://app.wiz.io/threats#%7E%28filters%7E%28status%7E%28equals%7E%28%7E%27OPEN%7E%27IN_PROGRESS%29%29%7EcreatedAt%7E%28dateRange%7E%28past%7E%28amount%7E30%7Eunit%7E%27day%29%29%29%29%29" TargetMode="Externa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hyperlink" Target="https://app.wiz.io/issues#%7E%28filters%7E%28status%7E%28equals%7E%28%7E%27OPEN%7E%27IN_PROGRESS%29%29%7Eseverity%7E%28equals%7E%28%7E%27HIGH%29%29%29%7EgroupBy%7E%27none%29" TargetMode="External"/><Relationship Id="rId11"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issues#%7E%28filters%7E%28status%7E%28equals%7E%28%7E%27RESOLVED%29%29%7Eseverity%7E%28equals%7E%28%7E%27CRITICAL%29%29%29%7EgroupBy%7E%27none%29" TargetMode="External"/><Relationship Id="rId10" Type="http://schemas.openxmlformats.org/officeDocument/2006/relationships/image" Target="../media/image44.png"/><Relationship Id="rId4" Type="http://schemas.openxmlformats.org/officeDocument/2006/relationships/hyperlink" Target="https://app.wiz.io/issues#%7E%28filters%7E%28status%7E%28equals%7E%28%7E%27OPEN%7E%27IN_PROGRESS%29%29%7Eseverity%7E%28equals%7E%28%7E%27CRITICAL%29%29%29%7EgroupBy%7E%27none%29" TargetMode="External"/><Relationship Id="rId9" Type="http://schemas.openxmlformats.org/officeDocument/2006/relationships/hyperlink" Target="https://app.wiz.io/boards/ai-security" TargetMode="External"/><Relationship Id="rId14" Type="http://schemas.openxmlformats.org/officeDocument/2006/relationships/image" Target="../media/image56.png"/></Relationships>
</file>

<file path=ppt/slides/_rels/slide13.xml.rels><?xml version="1.0" encoding="UTF-8" standalone="yes"?>
<Relationships xmlns="http://schemas.openxmlformats.org/package/2006/relationships"><Relationship Id="rId8" Type="http://schemas.openxmlformats.org/officeDocument/2006/relationships/hyperlink" Target="https://app.wiz.io/inventory/kubernetes-clusters" TargetMode="External"/><Relationship Id="rId3" Type="http://schemas.openxmlformats.org/officeDocument/2006/relationships/image" Target="../media/image44.png"/><Relationship Id="rId7" Type="http://schemas.openxmlformats.org/officeDocument/2006/relationships/hyperlink" Target="https://app.wiz.io/issues?filters=%7B%22status%22%3A%7B%22equals%22%3A%5B%22OPEN%22%2C%22IN_PROGRESS%22%5D%7D%2C%22severity%22%3A%7B%22equals%22%3A%5B%22CRITICAL%22%5D%7D%7D&amp;groupOrderBy=%5B%22SEVERITY%22%2C%22DESC%22%5D" TargetMode="External"/><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 Id="rId9" Type="http://schemas.openxmlformats.org/officeDocument/2006/relationships/hyperlink" Target="https://app.wiz.io/issues?filters=%7B%22status%22%3A%7B%22equals%22%3A%5B%22OPEN%22%2C%22IN_PROGRESS%22%5D%7D%2C%22severity%22%3A%7B%22equals%22%3A%5B%22HIGH%22%5D%7D%7D&amp;groupOrderBy=%5B%22SEVERITY%22%2C%22DESC%22%5D"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8"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Installed%29%29%29%29" TargetMode="External"/><Relationship Id="rId13"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NotInstalled%29%29%29%29" TargetMode="External"/><Relationship Id="rId3" Type="http://schemas.openxmlformats.org/officeDocument/2006/relationships/hyperlink" Target="https://app.wiz.io/inventory/kubernetes-clusters" TargetMode="External"/><Relationship Id="rId7" Type="http://schemas.openxmlformats.org/officeDocument/2006/relationships/hyperlink" Target="https://app.wiz.io/inventory/container-registries" TargetMode="External"/><Relationship Id="rId12"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NotInstalled%29%29%29%29" TargetMode="External"/><Relationship Id="rId17" Type="http://schemas.openxmlformats.org/officeDocument/2006/relationships/hyperlink" Target="https://app.wiz.io/inventory/container-registries#%7E%28filters%7E%28scanningConfigurationType%7E%28equals%7E%28%7E%27CUSTOM%29%29%29%29" TargetMode="External"/><Relationship Id="rId2" Type="http://schemas.openxmlformats.org/officeDocument/2006/relationships/notesSlide" Target="../notesSlides/notesSlide15.xml"/><Relationship Id="rId16" Type="http://schemas.openxmlformats.org/officeDocument/2006/relationships/hyperlink" Target="https://app.wiz.io/inventory/container-registries#%7E%28filters%7E%28connectionType%7E%28equals%7E%28%7E%27AUTOMATIC%29%29%29%29" TargetMode="External"/><Relationship Id="rId1" Type="http://schemas.openxmlformats.org/officeDocument/2006/relationships/slideLayout" Target="../slideLayouts/slideLayout4.xml"/><Relationship Id="rId6" Type="http://schemas.openxmlformats.org/officeDocument/2006/relationships/hyperlink" Target="https://app.wiz.io/inventory/containers/images" TargetMode="External"/><Relationship Id="rId11"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NotInstalled%29%29%29%29" TargetMode="External"/><Relationship Id="rId5"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dmissionController_deploymentStatus%7E%28EQUALS%7E%28%7E%27Installed%29%29%29%29" TargetMode="External"/><Relationship Id="rId15" Type="http://schemas.openxmlformats.org/officeDocument/2006/relationships/hyperlink" Target="https://app.wiz.io/inventory/container-registries#%7E%28filters%7E%28connectionType%7E%28equals%7E%28%7E%27STANDALONE%29%29%29%29" TargetMode="External"/><Relationship Id="rId10" Type="http://schemas.openxmlformats.org/officeDocument/2006/relationships/hyperlink" Target="https://app.wiz.io/inventory/kubernetes-clusters#%7E%28filters%7E%28property*3aaccessibleFrom.internet%7E%28EQUALS%7Etrue%29%29%29" TargetMode="External"/><Relationship Id="rId4"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Installed%29%29%29%29" TargetMode="External"/><Relationship Id="rId9"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Installed%29%29%29%29" TargetMode="External"/><Relationship Id="rId14" Type="http://schemas.openxmlformats.org/officeDocument/2006/relationships/image" Target="../media/image57.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hyperlink" Target="https://app.wiz.io/settings/scanners/cloud-configuration" TargetMode="External"/><Relationship Id="rId7" Type="http://schemas.openxmlformats.org/officeDocument/2006/relationships/hyperlink" Target="https://app.wiz.io/settings/scanners/attack-surface" TargetMode="External"/><Relationship Id="rId2" Type="http://schemas.openxmlformats.org/officeDocument/2006/relationships/notesSlide" Target="../notesSlides/notesSlide17.xml"/><Relationship Id="rId1" Type="http://schemas.openxmlformats.org/officeDocument/2006/relationships/slideLayout" Target="../slideLayouts/slideLayout16.xml"/><Relationship Id="rId6"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settings/scanners/workload-scanner" TargetMode="External"/><Relationship Id="rId4" Type="http://schemas.openxmlformats.org/officeDocument/2006/relationships/hyperlink" Target="https://app.wiz.io/settings/scanners/file-integrity-monitoring"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8.xml"/><Relationship Id="rId1" Type="http://schemas.openxmlformats.org/officeDocument/2006/relationships/slideLayout" Target="../slideLayouts/slideLayout16.xml"/><Relationship Id="rId6" Type="http://schemas.openxmlformats.org/officeDocument/2006/relationships/hyperlink" Target="https://app.wiz.io/settings/scanners/data-security" TargetMode="External"/><Relationship Id="rId5" Type="http://schemas.openxmlformats.org/officeDocument/2006/relationships/hyperlink" Target="https://app.wiz.io/boards/security-operations#%7E%28filters%7E%28timestamp%7E%28dateRange%7E%28past%7E%28unit%7E%27day%7Eamount%7E30%29%29%29%29%29" TargetMode="External"/><Relationship Id="rId4" Type="http://schemas.openxmlformats.org/officeDocument/2006/relationships/hyperlink" Target="https://app.wiz.io/settings/scanners/vulnerability-scanning"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SPM*20*28Cloud*20Security*20Posture*20Management*29%7E%27CNAPP*20*28Cloud-Native*20Application*20Protection*20Platform*29%7E%27CIEM*20*28Cloud*20Infrastructure*20Entitlement*20Management*29%7E%27DSPM*20*28Data*20Security*20Posture*20Management*29%7E%27Data*20Access*20Management%7E%27Attack*20Surface*20Management%29%29%29%29%7Eview%7E%27table%7EgraphEntityCols%7E%28TECHNOLOGY%7E%28%7E%27deploymentModel%7E%27categories%7E%27storesData%7E%27stackLayer%7E%27ownerName%7E%27description%29%29%29" TargetMode="External"/><Relationship Id="rId2" Type="http://schemas.openxmlformats.org/officeDocument/2006/relationships/notesSlide" Target="../notesSlides/notesSlide19.xml"/><Relationship Id="rId1" Type="http://schemas.openxmlformats.org/officeDocument/2006/relationships/slideLayout" Target="../slideLayouts/slideLayout16.xml"/><Relationship Id="rId5"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select%7Etrue%7Etype%7E%28%7E%27SERVICE_ACCOUNT%29%7Ewhere%7E%28externalOwners%7E%28IS_SET%7Etrue%29%29%7Eaggregate%7Etrue%29%29%29%7Eselect%7Etrue%7Etype%7E%28%7E%27TECHNOLOGY%29%7Ewhere%7E%28deploymentModel%7E%28EQUALS%7E%28%7E%27Cloud*20service%29%29%7Ename%7E%28DOES_NOT_CONTAIN%7E%28%7E%27wiz%29%29%7Ecategories%7E%28EQUALS%7E%28%7E%27Infrastructure*20as*20Code*20Analysis%7E%27SAST*20*28Static*20Application*20Security*20Testing*29%7E%27DAST*20*28Dynamic*20Application*20Security*20Testing*29%7E%27SCA*20*28Software*20Composition*20Analysis*29%7E%27Code*20Secret*20Scanner%7E%27Integrated*20development*20environment*20*28IDE*29*20Tools%7E%27Code*20Security%29%29%29%29%7Eview%7E%27table%7EgraphEntityCols%7E%28TECHNOLOGY%7E%28%7E%27deploymentModel%7E%27categories%7E%27storesData%7E%27stackLayer%7E%27ownerName%7E%27description%29%29%29" TargetMode="External"/><Relationship Id="rId4"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WPP*20*28Cloud*20Workload*20Protection*20Platform*29%7E%27Container*20Runtime*20Security%7E%27Runtime*20Security%7E%27Threat*20Detection*20and*20Response%7E%27Container*20Image*20Scanners%7E%27Container*20Security%29%29%29%29%7Eview%7E%27table%7EgraphEntityCols%7E%28TECHNOLOGY%7E%28%7E%27deploymentModel%7E%27categories%7E%27storesData%7E%27stackLayer%7E%27ownerName%7E%27description%29%29%29"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43.png"/></Relationships>
</file>

<file path=ppt/slides/_rels/slide21.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60.png"/><Relationship Id="rId7" Type="http://schemas.openxmlformats.org/officeDocument/2006/relationships/image" Target="../media/image66.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65.png"/><Relationship Id="rId5" Type="http://schemas.openxmlformats.org/officeDocument/2006/relationships/image" Target="../media/image64.png"/><Relationship Id="rId10" Type="http://schemas.openxmlformats.org/officeDocument/2006/relationships/image" Target="../media/image69.png"/><Relationship Id="rId4" Type="http://schemas.openxmlformats.org/officeDocument/2006/relationships/image" Target="../media/image63.png"/><Relationship Id="rId9" Type="http://schemas.openxmlformats.org/officeDocument/2006/relationships/image" Target="../media/image68.png"/></Relationships>
</file>

<file path=ppt/slides/_rels/slide2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43.png"/></Relationships>
</file>

<file path=ppt/slides/_rels/slide2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7"/>
          <p:cNvSpPr txBox="1"/>
          <p:nvPr/>
        </p:nvSpPr>
        <p:spPr>
          <a:xfrm>
            <a:off x="250594" y="1969767"/>
            <a:ext cx="3854969" cy="900216"/>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Tenant Health Assessment </a:t>
            </a:r>
            <a:b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b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{{Customer}}</a:t>
            </a:r>
            <a:endParaRPr sz="27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238" name="Google Shape;238;p47"/>
          <p:cNvSpPr txBox="1"/>
          <p:nvPr/>
        </p:nvSpPr>
        <p:spPr>
          <a:xfrm>
            <a:off x="467646" y="3430075"/>
            <a:ext cx="4026300" cy="5310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800"/>
              <a:buFont typeface="Arial"/>
              <a:buNone/>
            </a:pPr>
            <a:endParaRPr sz="15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000000"/>
              </a:buClr>
              <a:buSzPts val="1800"/>
              <a:buFont typeface="Arial"/>
              <a:buNone/>
            </a:pPr>
            <a:r>
              <a:rPr lang="en" sz="15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{Date}</a:t>
            </a:r>
            <a:endParaRPr sz="15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239" name="Google Shape;239;p47"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240" name="Google Shape;240;p47"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241" name="Google Shape;241;p47" title="logo.png"/>
          <p:cNvPicPr preferRelativeResize="0"/>
          <p:nvPr/>
        </p:nvPicPr>
        <p:blipFill rotWithShape="1">
          <a:blip r:embed="rId5">
            <a:alphaModFix/>
          </a:blip>
          <a:srcRect/>
          <a:stretch/>
        </p:blipFill>
        <p:spPr>
          <a:xfrm>
            <a:off x="548202" y="1143475"/>
            <a:ext cx="637001" cy="3041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48"/>
          <p:cNvSpPr txBox="1"/>
          <p:nvPr/>
        </p:nvSpPr>
        <p:spPr>
          <a:xfrm>
            <a:off x="6799450" y="3366600"/>
            <a:ext cx="2010300" cy="177538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248" name="Google Shape;248;p48"/>
          <p:cNvSpPr txBox="1"/>
          <p:nvPr/>
        </p:nvSpPr>
        <p:spPr>
          <a:xfrm>
            <a:off x="799800" y="4353432"/>
            <a:ext cx="2010300" cy="789941"/>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249" name="Google Shape;249;p48"/>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250" name="Google Shape;250;p48"/>
          <p:cNvSpPr txBox="1"/>
          <p:nvPr/>
        </p:nvSpPr>
        <p:spPr>
          <a:xfrm>
            <a:off x="2815700" y="4060176"/>
            <a:ext cx="1987500" cy="1083324"/>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cxnSp>
        <p:nvCxnSpPr>
          <p:cNvPr id="251" name="Google Shape;251;p48"/>
          <p:cNvCxnSpPr>
            <a:cxnSpLocks/>
          </p:cNvCxnSpPr>
          <p:nvPr/>
        </p:nvCxnSpPr>
        <p:spPr>
          <a:xfrm flipH="1" flipV="1">
            <a:off x="2813100" y="2136400"/>
            <a:ext cx="7761" cy="3005580"/>
          </a:xfrm>
          <a:prstGeom prst="straightConnector1">
            <a:avLst/>
          </a:prstGeom>
          <a:noFill/>
          <a:ln w="9525" cap="flat" cmpd="sng">
            <a:solidFill>
              <a:srgbClr val="0254EC"/>
            </a:solidFill>
            <a:prstDash val="solid"/>
            <a:round/>
            <a:headEnd type="none" w="sm" len="sm"/>
            <a:tailEnd type="none" w="sm" len="sm"/>
          </a:ln>
        </p:spPr>
      </p:cxnSp>
      <p:cxnSp>
        <p:nvCxnSpPr>
          <p:cNvPr id="252" name="Google Shape;252;p48"/>
          <p:cNvCxnSpPr>
            <a:cxnSpLocks/>
          </p:cNvCxnSpPr>
          <p:nvPr/>
        </p:nvCxnSpPr>
        <p:spPr>
          <a:xfrm flipV="1">
            <a:off x="4804975" y="1525650"/>
            <a:ext cx="0" cy="3616330"/>
          </a:xfrm>
          <a:prstGeom prst="straightConnector1">
            <a:avLst/>
          </a:prstGeom>
          <a:noFill/>
          <a:ln w="9525" cap="flat" cmpd="sng">
            <a:solidFill>
              <a:srgbClr val="0254EC"/>
            </a:solidFill>
            <a:prstDash val="solid"/>
            <a:round/>
            <a:headEnd type="none" w="sm" len="sm"/>
            <a:tailEnd type="none" w="sm" len="sm"/>
          </a:ln>
        </p:spPr>
      </p:cxnSp>
      <p:cxnSp>
        <p:nvCxnSpPr>
          <p:cNvPr id="253" name="Google Shape;253;p48"/>
          <p:cNvCxnSpPr>
            <a:cxnSpLocks/>
          </p:cNvCxnSpPr>
          <p:nvPr/>
        </p:nvCxnSpPr>
        <p:spPr>
          <a:xfrm flipH="1" flipV="1">
            <a:off x="6804675" y="910700"/>
            <a:ext cx="7760" cy="4245462"/>
          </a:xfrm>
          <a:prstGeom prst="straightConnector1">
            <a:avLst/>
          </a:prstGeom>
          <a:noFill/>
          <a:ln w="9525" cap="flat" cmpd="sng">
            <a:solidFill>
              <a:srgbClr val="0254EC"/>
            </a:solidFill>
            <a:prstDash val="solid"/>
            <a:round/>
            <a:headEnd type="none" w="sm" len="sm"/>
            <a:tailEnd type="none" w="sm" len="sm"/>
          </a:ln>
        </p:spPr>
      </p:cxnSp>
      <p:cxnSp>
        <p:nvCxnSpPr>
          <p:cNvPr id="254" name="Google Shape;254;p48"/>
          <p:cNvCxnSpPr/>
          <p:nvPr/>
        </p:nvCxnSpPr>
        <p:spPr>
          <a:xfrm rot="10800000" flipH="1">
            <a:off x="983850" y="193650"/>
            <a:ext cx="8194200" cy="2507100"/>
          </a:xfrm>
          <a:prstGeom prst="straightConnector1">
            <a:avLst/>
          </a:prstGeom>
          <a:noFill/>
          <a:ln w="9525" cap="flat" cmpd="sng">
            <a:solidFill>
              <a:srgbClr val="0254EC"/>
            </a:solidFill>
            <a:prstDash val="lgDash"/>
            <a:round/>
            <a:headEnd type="none" w="sm" len="sm"/>
            <a:tailEnd type="none" w="sm" len="sm"/>
          </a:ln>
        </p:spPr>
      </p:cxnSp>
      <p:cxnSp>
        <p:nvCxnSpPr>
          <p:cNvPr id="255" name="Google Shape;255;p48"/>
          <p:cNvCxnSpPr/>
          <p:nvPr/>
        </p:nvCxnSpPr>
        <p:spPr>
          <a:xfrm rot="10800000">
            <a:off x="807946" y="2752144"/>
            <a:ext cx="0" cy="2399400"/>
          </a:xfrm>
          <a:prstGeom prst="straightConnector1">
            <a:avLst/>
          </a:prstGeom>
          <a:noFill/>
          <a:ln w="9525" cap="flat" cmpd="sng">
            <a:solidFill>
              <a:srgbClr val="0254EC"/>
            </a:solidFill>
            <a:prstDash val="solid"/>
            <a:round/>
            <a:headEnd type="none" w="sm" len="sm"/>
            <a:tailEnd type="none" w="sm" len="sm"/>
          </a:ln>
        </p:spPr>
      </p:cxnSp>
      <p:pic>
        <p:nvPicPr>
          <p:cNvPr id="256" name="Google Shape;256;p48" title="Hardening_infinity.png"/>
          <p:cNvPicPr preferRelativeResize="0"/>
          <p:nvPr/>
        </p:nvPicPr>
        <p:blipFill rotWithShape="1">
          <a:blip r:embed="rId3">
            <a:alphaModFix/>
          </a:blip>
          <a:srcRect/>
          <a:stretch/>
        </p:blipFill>
        <p:spPr>
          <a:xfrm rot="-964393">
            <a:off x="4764150" y="359985"/>
            <a:ext cx="2802000" cy="1505395"/>
          </a:xfrm>
          <a:prstGeom prst="rect">
            <a:avLst/>
          </a:prstGeom>
          <a:noFill/>
          <a:ln>
            <a:noFill/>
          </a:ln>
        </p:spPr>
      </p:pic>
      <p:sp>
        <p:nvSpPr>
          <p:cNvPr id="257" name="Google Shape;257;p48"/>
          <p:cNvSpPr txBox="1"/>
          <p:nvPr/>
        </p:nvSpPr>
        <p:spPr>
          <a:xfrm>
            <a:off x="6914847" y="1709849"/>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EMBED AND AUTOMATE SECURITY</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58" name="Google Shape;258;p48"/>
          <p:cNvSpPr txBox="1"/>
          <p:nvPr/>
        </p:nvSpPr>
        <p:spPr>
          <a:xfrm>
            <a:off x="6810800" y="2070322"/>
            <a:ext cx="1811700" cy="13203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Enforce security policies consistently across cloud, code, and runtime</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Automate remediation and security lifecycle actions with automation rules</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Continuously reduce risk without manual intervention</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259" name="Google Shape;259;p48"/>
          <p:cNvSpPr txBox="1"/>
          <p:nvPr/>
        </p:nvSpPr>
        <p:spPr>
          <a:xfrm>
            <a:off x="5006084" y="2154770"/>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SELF SERVICE SECURITY FOR DEVELOPERS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60" name="Google Shape;260;p48"/>
          <p:cNvSpPr txBox="1"/>
          <p:nvPr/>
        </p:nvSpPr>
        <p:spPr>
          <a:xfrm>
            <a:off x="4902050" y="2498816"/>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Enable developers to identify  and remediate risk independently</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Deliver security context       directly into engineering processes with Workflows, integrations, and WizExtend</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261" name="Google Shape;261;p48"/>
          <p:cNvSpPr txBox="1"/>
          <p:nvPr/>
        </p:nvSpPr>
        <p:spPr>
          <a:xfrm>
            <a:off x="3007225" y="2579120"/>
            <a:ext cx="1668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SHARED SECURITY CONTEXT WITH ENGINEERING</a:t>
            </a:r>
            <a:endParaRPr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62" name="Google Shape;262;p48"/>
          <p:cNvSpPr txBox="1"/>
          <p:nvPr/>
        </p:nvSpPr>
        <p:spPr>
          <a:xfrm>
            <a:off x="2903200" y="2920169"/>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Map issues to an owner, application, or environment via Projects and Service Catalog</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Prioritize issues by business context and real exposure</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Align security and engineering on what matters most</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263" name="Google Shape;263;p48"/>
          <p:cNvSpPr txBox="1"/>
          <p:nvPr/>
        </p:nvSpPr>
        <p:spPr>
          <a:xfrm>
            <a:off x="1008697" y="3181396"/>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CENTRALIZE SECURITY ACROSS SECURITY TEAMS</a:t>
            </a:r>
            <a:endParaRPr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264" name="Google Shape;264;p48"/>
          <p:cNvSpPr txBox="1"/>
          <p:nvPr/>
        </p:nvSpPr>
        <p:spPr>
          <a:xfrm>
            <a:off x="904675" y="3518334"/>
            <a:ext cx="18906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Security ownership is centralized across security teams</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Standardize policies and prioritization across security teams</a:t>
            </a:r>
            <a:endParaRPr sz="8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265" name="Google Shape;265;p48"/>
          <p:cNvCxnSpPr>
            <a:cxnSpLocks/>
          </p:cNvCxnSpPr>
          <p:nvPr/>
        </p:nvCxnSpPr>
        <p:spPr>
          <a:xfrm flipV="1">
            <a:off x="8809850" y="306800"/>
            <a:ext cx="0" cy="4836700"/>
          </a:xfrm>
          <a:prstGeom prst="straightConnector1">
            <a:avLst/>
          </a:prstGeom>
          <a:noFill/>
          <a:ln w="9525" cap="flat" cmpd="sng">
            <a:solidFill>
              <a:srgbClr val="0254EC"/>
            </a:solidFill>
            <a:prstDash val="solid"/>
            <a:round/>
            <a:headEnd type="none" w="sm" len="sm"/>
            <a:tailEnd type="none" w="sm" len="sm"/>
          </a:ln>
        </p:spPr>
      </p:cxnSp>
      <p:sp>
        <p:nvSpPr>
          <p:cNvPr id="266" name="Google Shape;266;p48"/>
          <p:cNvSpPr txBox="1"/>
          <p:nvPr/>
        </p:nvSpPr>
        <p:spPr>
          <a:xfrm>
            <a:off x="6929000" y="3465890"/>
            <a:ext cx="1732800" cy="800189"/>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Risk is continuously mitigated and remediated by default </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0"/>
              </a:spcBef>
              <a:spcAft>
                <a:spcPts val="0"/>
              </a:spcAft>
              <a:buClr>
                <a:srgbClr val="000000"/>
              </a:buClr>
              <a:buSzPts val="1000"/>
              <a:buFont typeface="Arial"/>
              <a:buNone/>
            </a:pP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cxnSp>
        <p:nvCxnSpPr>
          <p:cNvPr id="267" name="Google Shape;267;p48"/>
          <p:cNvCxnSpPr/>
          <p:nvPr/>
        </p:nvCxnSpPr>
        <p:spPr>
          <a:xfrm>
            <a:off x="6804671" y="3366612"/>
            <a:ext cx="2005500" cy="0"/>
          </a:xfrm>
          <a:prstGeom prst="straightConnector1">
            <a:avLst/>
          </a:prstGeom>
          <a:noFill/>
          <a:ln w="9525" cap="flat" cmpd="sng">
            <a:solidFill>
              <a:srgbClr val="0254EC"/>
            </a:solidFill>
            <a:prstDash val="solid"/>
            <a:round/>
            <a:headEnd type="none" w="sm" len="sm"/>
            <a:tailEnd type="none" w="sm" len="sm"/>
          </a:ln>
        </p:spPr>
      </p:cxnSp>
      <p:cxnSp>
        <p:nvCxnSpPr>
          <p:cNvPr id="268" name="Google Shape;268;p48"/>
          <p:cNvCxnSpPr/>
          <p:nvPr/>
        </p:nvCxnSpPr>
        <p:spPr>
          <a:xfrm>
            <a:off x="805008" y="4367296"/>
            <a:ext cx="2005500" cy="0"/>
          </a:xfrm>
          <a:prstGeom prst="straightConnector1">
            <a:avLst/>
          </a:prstGeom>
          <a:noFill/>
          <a:ln w="9525" cap="flat" cmpd="sng">
            <a:solidFill>
              <a:srgbClr val="0254EC"/>
            </a:solidFill>
            <a:prstDash val="solid"/>
            <a:round/>
            <a:headEnd type="none" w="sm" len="sm"/>
            <a:tailEnd type="none" w="sm" len="sm"/>
          </a:ln>
        </p:spPr>
      </p:cxnSp>
      <p:cxnSp>
        <p:nvCxnSpPr>
          <p:cNvPr id="269" name="Google Shape;269;p48"/>
          <p:cNvCxnSpPr/>
          <p:nvPr/>
        </p:nvCxnSpPr>
        <p:spPr>
          <a:xfrm>
            <a:off x="4808759" y="3675191"/>
            <a:ext cx="2000400" cy="0"/>
          </a:xfrm>
          <a:prstGeom prst="straightConnector1">
            <a:avLst/>
          </a:prstGeom>
          <a:noFill/>
          <a:ln w="9525" cap="flat" cmpd="sng">
            <a:solidFill>
              <a:srgbClr val="0254EC"/>
            </a:solidFill>
            <a:prstDash val="solid"/>
            <a:round/>
            <a:headEnd type="none" w="sm" len="sm"/>
            <a:tailEnd type="none" w="sm" len="sm"/>
          </a:ln>
        </p:spPr>
      </p:cxnSp>
      <p:cxnSp>
        <p:nvCxnSpPr>
          <p:cNvPr id="270" name="Google Shape;270;p48"/>
          <p:cNvCxnSpPr/>
          <p:nvPr/>
        </p:nvCxnSpPr>
        <p:spPr>
          <a:xfrm>
            <a:off x="2820861" y="4060188"/>
            <a:ext cx="1982700" cy="0"/>
          </a:xfrm>
          <a:prstGeom prst="straightConnector1">
            <a:avLst/>
          </a:prstGeom>
          <a:noFill/>
          <a:ln w="9525" cap="flat" cmpd="sng">
            <a:solidFill>
              <a:srgbClr val="0254EC"/>
            </a:solidFill>
            <a:prstDash val="solid"/>
            <a:round/>
            <a:headEnd type="none" w="sm" len="sm"/>
            <a:tailEnd type="none" w="sm" len="sm"/>
          </a:ln>
        </p:spPr>
      </p:cxnSp>
      <p:sp>
        <p:nvSpPr>
          <p:cNvPr id="271" name="Google Shape;271;p48"/>
          <p:cNvSpPr txBox="1"/>
          <p:nvPr/>
        </p:nvSpPr>
        <p:spPr>
          <a:xfrm>
            <a:off x="904675" y="4435122"/>
            <a:ext cx="17328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Full visibility into vulnerabilities across all environments</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272" name="Google Shape;272;p48"/>
          <p:cNvSpPr txBox="1"/>
          <p:nvPr/>
        </p:nvSpPr>
        <p:spPr>
          <a:xfrm>
            <a:off x="2942638" y="4164084"/>
            <a:ext cx="1732800" cy="492412"/>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Engineers have what they need to remediate </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273" name="Google Shape;273;p48"/>
          <p:cNvSpPr txBox="1"/>
          <p:nvPr/>
        </p:nvSpPr>
        <p:spPr>
          <a:xfrm>
            <a:off x="4934925" y="3774490"/>
            <a:ext cx="1732800" cy="492412"/>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Security is a natural part of development</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274" name="Google Shape;274;p48"/>
          <p:cNvSpPr/>
          <p:nvPr/>
        </p:nvSpPr>
        <p:spPr>
          <a:xfrm>
            <a:off x="3440152" y="629773"/>
            <a:ext cx="1453800" cy="252300"/>
          </a:xfrm>
          <a:prstGeom prst="roundRect">
            <a:avLst>
              <a:gd name="adj" fmla="val 50000"/>
            </a:avLst>
          </a:prstGeom>
          <a:solidFill>
            <a:srgbClr val="FFFFFF"/>
          </a:solidFill>
          <a:ln w="11350" cap="flat" cmpd="sng">
            <a:solidFill>
              <a:srgbClr val="CADAFF"/>
            </a:solidFill>
            <a:prstDash val="solid"/>
            <a:miter lim="80"/>
            <a:headEnd type="none" w="sm" len="sm"/>
            <a:tailEnd type="none" w="sm" len="sm"/>
          </a:ln>
        </p:spPr>
        <p:txBody>
          <a:bodyPr spcFirstLastPara="1" wrap="square" lIns="61300" tIns="30650" rIns="61300" bIns="30650" anchor="t" anchorCtr="0">
            <a:noAutofit/>
          </a:bodyPr>
          <a:lstStyle/>
          <a:p>
            <a:pPr marL="0" marR="0" lvl="0" indent="0" algn="ctr" rtl="0">
              <a:lnSpc>
                <a:spcPct val="100000"/>
              </a:lnSpc>
              <a:spcBef>
                <a:spcPts val="0"/>
              </a:spcBef>
              <a:spcAft>
                <a:spcPts val="0"/>
              </a:spcAft>
              <a:buClr>
                <a:srgbClr val="0153EB"/>
              </a:buClr>
              <a:buSzPts val="596"/>
              <a:buFont typeface="Calibri"/>
              <a:buNone/>
            </a:pPr>
            <a:endParaRPr sz="59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275" name="Google Shape;275;p48"/>
          <p:cNvSpPr txBox="1"/>
          <p:nvPr/>
        </p:nvSpPr>
        <p:spPr>
          <a:xfrm>
            <a:off x="3725258" y="635426"/>
            <a:ext cx="1289400" cy="247800"/>
          </a:xfrm>
          <a:prstGeom prst="rect">
            <a:avLst/>
          </a:prstGeom>
          <a:noFill/>
          <a:ln>
            <a:noFill/>
          </a:ln>
        </p:spPr>
        <p:txBody>
          <a:bodyPr spcFirstLastPara="1" wrap="square" lIns="0" tIns="40875" rIns="81750" bIns="40875" anchor="t" anchorCtr="0">
            <a:spAutoFit/>
          </a:bodyPr>
          <a:lstStyle/>
          <a:p>
            <a:pPr marL="0" marR="0" lvl="0" indent="0" algn="l" rtl="0">
              <a:lnSpc>
                <a:spcPct val="100000"/>
              </a:lnSpc>
              <a:spcBef>
                <a:spcPts val="0"/>
              </a:spcBef>
              <a:spcAft>
                <a:spcPts val="0"/>
              </a:spcAft>
              <a:buClr>
                <a:srgbClr val="0153EB"/>
              </a:buClr>
              <a:buSzPts val="1073"/>
              <a:buFont typeface="DM Sans Medium"/>
              <a:buNone/>
            </a:pPr>
            <a:r>
              <a:rPr lang="en" sz="1073" b="0" i="0" u="none" strike="noStrike" cap="none">
                <a:solidFill>
                  <a:srgbClr val="0153EB"/>
                </a:solidFill>
                <a:latin typeface="Calibri" panose="020F0502020204030204" pitchFamily="34" charset="0"/>
                <a:ea typeface="Calibri" panose="020F0502020204030204" pitchFamily="34" charset="0"/>
                <a:cs typeface="Calibri" panose="020F0502020204030204" pitchFamily="34" charset="0"/>
                <a:sym typeface="Poppins Medium"/>
              </a:rPr>
              <a:t>Where are you?</a:t>
            </a:r>
            <a:endParaRPr sz="131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276" name="Google Shape;276;p48" title="icon.png"/>
          <p:cNvPicPr preferRelativeResize="0"/>
          <p:nvPr/>
        </p:nvPicPr>
        <p:blipFill rotWithShape="1">
          <a:blip r:embed="rId4">
            <a:alphaModFix/>
          </a:blip>
          <a:srcRect/>
          <a:stretch/>
        </p:blipFill>
        <p:spPr>
          <a:xfrm>
            <a:off x="3377536" y="617823"/>
            <a:ext cx="272612" cy="272612"/>
          </a:xfrm>
          <a:prstGeom prst="rect">
            <a:avLst/>
          </a:prstGeom>
          <a:noFill/>
          <a:ln>
            <a:noFill/>
          </a:ln>
        </p:spPr>
      </p:pic>
      <p:pic>
        <p:nvPicPr>
          <p:cNvPr id="277" name="Google Shape;277;p48" title="Group 1000004543_1.png"/>
          <p:cNvPicPr preferRelativeResize="0"/>
          <p:nvPr/>
        </p:nvPicPr>
        <p:blipFill rotWithShape="1">
          <a:blip r:embed="rId5">
            <a:alphaModFix/>
          </a:blip>
          <a:srcRect/>
          <a:stretch/>
        </p:blipFill>
        <p:spPr>
          <a:xfrm>
            <a:off x="685650" y="2277531"/>
            <a:ext cx="883400" cy="883400"/>
          </a:xfrm>
          <a:prstGeom prst="rect">
            <a:avLst/>
          </a:prstGeom>
          <a:noFill/>
          <a:ln>
            <a:noFill/>
          </a:ln>
        </p:spPr>
      </p:pic>
      <p:pic>
        <p:nvPicPr>
          <p:cNvPr id="278" name="Google Shape;278;p48" title="Group 1000004545.png"/>
          <p:cNvPicPr preferRelativeResize="0"/>
          <p:nvPr/>
        </p:nvPicPr>
        <p:blipFill rotWithShape="1">
          <a:blip r:embed="rId6">
            <a:alphaModFix/>
          </a:blip>
          <a:srcRect/>
          <a:stretch/>
        </p:blipFill>
        <p:spPr>
          <a:xfrm>
            <a:off x="2702325" y="1693376"/>
            <a:ext cx="883400" cy="883400"/>
          </a:xfrm>
          <a:prstGeom prst="rect">
            <a:avLst/>
          </a:prstGeom>
          <a:noFill/>
          <a:ln>
            <a:noFill/>
          </a:ln>
        </p:spPr>
      </p:pic>
      <p:pic>
        <p:nvPicPr>
          <p:cNvPr id="279" name="Google Shape;279;p48" title="Group 1000004546.png"/>
          <p:cNvPicPr preferRelativeResize="0"/>
          <p:nvPr/>
        </p:nvPicPr>
        <p:blipFill rotWithShape="1">
          <a:blip r:embed="rId7">
            <a:alphaModFix/>
          </a:blip>
          <a:srcRect/>
          <a:stretch/>
        </p:blipFill>
        <p:spPr>
          <a:xfrm>
            <a:off x="4685600" y="1077600"/>
            <a:ext cx="883400" cy="883400"/>
          </a:xfrm>
          <a:prstGeom prst="rect">
            <a:avLst/>
          </a:prstGeom>
          <a:noFill/>
          <a:ln>
            <a:noFill/>
          </a:ln>
        </p:spPr>
      </p:pic>
      <p:grpSp>
        <p:nvGrpSpPr>
          <p:cNvPr id="280" name="Google Shape;280;p48"/>
          <p:cNvGrpSpPr/>
          <p:nvPr/>
        </p:nvGrpSpPr>
        <p:grpSpPr>
          <a:xfrm>
            <a:off x="6717625" y="465775"/>
            <a:ext cx="883400" cy="883400"/>
            <a:chOff x="6717625" y="465775"/>
            <a:chExt cx="883400" cy="883400"/>
          </a:xfrm>
        </p:grpSpPr>
        <p:pic>
          <p:nvPicPr>
            <p:cNvPr id="281" name="Google Shape;281;p48" title="Group 1000004546.png"/>
            <p:cNvPicPr preferRelativeResize="0"/>
            <p:nvPr/>
          </p:nvPicPr>
          <p:blipFill rotWithShape="1">
            <a:blip r:embed="rId7">
              <a:alphaModFix/>
            </a:blip>
            <a:srcRect/>
            <a:stretch/>
          </p:blipFill>
          <p:spPr>
            <a:xfrm>
              <a:off x="6717625" y="465775"/>
              <a:ext cx="883400" cy="883400"/>
            </a:xfrm>
            <a:prstGeom prst="rect">
              <a:avLst/>
            </a:prstGeom>
            <a:noFill/>
            <a:ln>
              <a:noFill/>
            </a:ln>
          </p:spPr>
        </p:pic>
        <p:sp>
          <p:nvSpPr>
            <p:cNvPr id="282" name="Google Shape;282;p48"/>
            <p:cNvSpPr/>
            <p:nvPr/>
          </p:nvSpPr>
          <p:spPr>
            <a:xfrm>
              <a:off x="6911825" y="635000"/>
              <a:ext cx="495000" cy="495000"/>
            </a:xfrm>
            <a:prstGeom prst="ellipse">
              <a:avLst/>
            </a:prstGeom>
            <a:solidFill>
              <a:schemeClr val="lt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pic>
          <p:nvPicPr>
            <p:cNvPr id="283" name="Google Shape;283;p48" descr="A blue and pink logo&#10;&#10;AI-generated content may be incorrect."/>
            <p:cNvPicPr preferRelativeResize="0"/>
            <p:nvPr/>
          </p:nvPicPr>
          <p:blipFill rotWithShape="1">
            <a:blip r:embed="rId8">
              <a:alphaModFix/>
            </a:blip>
            <a:srcRect/>
            <a:stretch/>
          </p:blipFill>
          <p:spPr>
            <a:xfrm>
              <a:off x="6913025" y="617974"/>
              <a:ext cx="492600" cy="492600"/>
            </a:xfrm>
            <a:prstGeom prst="rect">
              <a:avLst/>
            </a:prstGeom>
            <a:noFill/>
            <a:ln>
              <a:noFill/>
            </a:ln>
          </p:spPr>
        </p:pic>
      </p:grpSp>
      <p:sp>
        <p:nvSpPr>
          <p:cNvPr id="284" name="Google Shape;284;p48"/>
          <p:cNvSpPr txBox="1">
            <a:spLocks noGrp="1"/>
          </p:cNvSpPr>
          <p:nvPr>
            <p:ph type="title" idx="4294967295"/>
          </p:nvPr>
        </p:nvSpPr>
        <p:spPr>
          <a:xfrm>
            <a:off x="301950" y="201625"/>
            <a:ext cx="2915100" cy="883500"/>
          </a:xfrm>
          <a:prstGeom prst="rect">
            <a:avLst/>
          </a:prstGeom>
          <a:noFill/>
          <a:ln>
            <a:noFill/>
          </a:ln>
        </p:spPr>
        <p:txBody>
          <a:bodyPr spcFirstLastPara="1" wrap="square" lIns="68575" tIns="34275" rIns="68575" bIns="34275" anchor="ctr" anchorCtr="0">
            <a:noAutofit/>
          </a:bodyPr>
          <a:lstStyle/>
          <a:p>
            <a:pPr marL="0" lvl="0" indent="0" algn="l" rtl="0">
              <a:lnSpc>
                <a:spcPct val="100000"/>
              </a:lnSpc>
              <a:spcBef>
                <a:spcPts val="0"/>
              </a:spcBef>
              <a:spcAft>
                <a:spcPts val="0"/>
              </a:spcAft>
              <a:buClr>
                <a:schemeClr val="dk1"/>
              </a:buClr>
              <a:buSzPts val="1800"/>
              <a:buFont typeface="DM Sans"/>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Wiz Adoption &amp; Democratization</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l" rtl="0">
              <a:lnSpc>
                <a:spcPct val="100000"/>
              </a:lnSpc>
              <a:spcBef>
                <a:spcPts val="0"/>
              </a:spcBef>
              <a:spcAft>
                <a:spcPts val="0"/>
              </a:spcAft>
              <a:buSzPts val="2800"/>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Maturity Model </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pic>
        <p:nvPicPr>
          <p:cNvPr id="290" name="Google Shape;290;p49"/>
          <p:cNvPicPr preferRelativeResize="0"/>
          <p:nvPr/>
        </p:nvPicPr>
        <p:blipFill rotWithShape="1">
          <a:blip r:embed="rId3">
            <a:alphaModFix/>
          </a:blip>
          <a:srcRect/>
          <a:stretch/>
        </p:blipFill>
        <p:spPr>
          <a:xfrm>
            <a:off x="99275" y="814525"/>
            <a:ext cx="2694900" cy="4186399"/>
          </a:xfrm>
          <a:prstGeom prst="rect">
            <a:avLst/>
          </a:prstGeom>
          <a:noFill/>
          <a:ln w="6350">
            <a:solidFill>
              <a:schemeClr val="accent1"/>
            </a:solidFill>
            <a:round/>
          </a:ln>
          <a:effectLst/>
        </p:spPr>
      </p:pic>
      <p:sp>
        <p:nvSpPr>
          <p:cNvPr id="291" name="Google Shape;291;p49"/>
          <p:cNvSpPr txBox="1">
            <a:spLocks noGrp="1"/>
          </p:cNvSpPr>
          <p:nvPr>
            <p:ph type="title" idx="4294967295"/>
          </p:nvPr>
        </p:nvSpPr>
        <p:spPr>
          <a:xfrm>
            <a:off x="0" y="221125"/>
            <a:ext cx="91443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and AI Visibility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292" name="Google Shape;292;p49"/>
          <p:cNvPicPr preferRelativeResize="0"/>
          <p:nvPr/>
        </p:nvPicPr>
        <p:blipFill rotWithShape="1">
          <a:blip r:embed="rId4">
            <a:alphaModFix/>
          </a:blip>
          <a:srcRect/>
          <a:stretch/>
        </p:blipFill>
        <p:spPr>
          <a:xfrm>
            <a:off x="296060" y="1339164"/>
            <a:ext cx="216750" cy="132020"/>
          </a:xfrm>
          <a:prstGeom prst="rect">
            <a:avLst/>
          </a:prstGeom>
          <a:noFill/>
          <a:ln>
            <a:noFill/>
          </a:ln>
        </p:spPr>
      </p:pic>
      <p:sp>
        <p:nvSpPr>
          <p:cNvPr id="293" name="Google Shape;293;p49"/>
          <p:cNvSpPr txBox="1"/>
          <p:nvPr/>
        </p:nvSpPr>
        <p:spPr>
          <a:xfrm>
            <a:off x="594173" y="1306063"/>
            <a:ext cx="21201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{{C_AWS}} AWS Connectors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294" name="Google Shape;294;p49" descr="Kubernetes Logo transparent PNG - StickPNG"/>
          <p:cNvPicPr preferRelativeResize="0"/>
          <p:nvPr/>
        </p:nvPicPr>
        <p:blipFill rotWithShape="1">
          <a:blip r:embed="rId5">
            <a:alphaModFix/>
          </a:blip>
          <a:srcRect/>
          <a:stretch/>
        </p:blipFill>
        <p:spPr>
          <a:xfrm>
            <a:off x="291295" y="2333701"/>
            <a:ext cx="214875" cy="211565"/>
          </a:xfrm>
          <a:prstGeom prst="rect">
            <a:avLst/>
          </a:prstGeom>
          <a:noFill/>
          <a:ln>
            <a:noFill/>
          </a:ln>
        </p:spPr>
      </p:pic>
      <p:sp>
        <p:nvSpPr>
          <p:cNvPr id="295" name="Google Shape;295;p49"/>
          <p:cNvSpPr txBox="1"/>
          <p:nvPr/>
        </p:nvSpPr>
        <p:spPr>
          <a:xfrm>
            <a:off x="594176" y="2267228"/>
            <a:ext cx="21582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{{K8S}} K8s Clusters</a:t>
            </a:r>
            <a:b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{{KG_NC}} Not Connected via Connector</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grpSp>
        <p:nvGrpSpPr>
          <p:cNvPr id="296" name="Google Shape;296;p49"/>
          <p:cNvGrpSpPr/>
          <p:nvPr/>
        </p:nvGrpSpPr>
        <p:grpSpPr>
          <a:xfrm>
            <a:off x="309832" y="2763999"/>
            <a:ext cx="189207" cy="194205"/>
            <a:chOff x="6171974" y="3205262"/>
            <a:chExt cx="189207" cy="191978"/>
          </a:xfrm>
        </p:grpSpPr>
        <p:sp>
          <p:nvSpPr>
            <p:cNvPr id="297" name="Google Shape;297;p49"/>
            <p:cNvSpPr/>
            <p:nvPr/>
          </p:nvSpPr>
          <p:spPr>
            <a:xfrm>
              <a:off x="6171974" y="3205262"/>
              <a:ext cx="107899" cy="107875"/>
            </a:xfrm>
            <a:custGeom>
              <a:avLst/>
              <a:gdLst/>
              <a:ahLst/>
              <a:cxnLst/>
              <a:rect l="l" t="t" r="r" b="b"/>
              <a:pathLst>
                <a:path w="1078992" h="1078750" extrusionOk="0">
                  <a:moveTo>
                    <a:pt x="71003" y="0"/>
                  </a:moveTo>
                  <a:lnTo>
                    <a:pt x="1007989" y="0"/>
                  </a:lnTo>
                  <a:cubicBezTo>
                    <a:pt x="1047203" y="0"/>
                    <a:pt x="1078992" y="31789"/>
                    <a:pt x="1078992" y="71003"/>
                  </a:cubicBezTo>
                  <a:lnTo>
                    <a:pt x="1078992" y="324079"/>
                  </a:lnTo>
                  <a:lnTo>
                    <a:pt x="377206" y="324079"/>
                  </a:lnTo>
                  <a:cubicBezTo>
                    <a:pt x="339490" y="324079"/>
                    <a:pt x="308916" y="354653"/>
                    <a:pt x="308916" y="392369"/>
                  </a:cubicBezTo>
                  <a:lnTo>
                    <a:pt x="308916"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298" name="Google Shape;298;p49"/>
            <p:cNvSpPr/>
            <p:nvPr/>
          </p:nvSpPr>
          <p:spPr>
            <a:xfrm>
              <a:off x="6212578" y="3247251"/>
              <a:ext cx="107899" cy="107875"/>
            </a:xfrm>
            <a:custGeom>
              <a:avLst/>
              <a:gdLst/>
              <a:ahLst/>
              <a:cxnLst/>
              <a:rect l="l" t="t" r="r" b="b"/>
              <a:pathLst>
                <a:path w="1078992" h="1078750" extrusionOk="0">
                  <a:moveTo>
                    <a:pt x="71003" y="0"/>
                  </a:moveTo>
                  <a:lnTo>
                    <a:pt x="1007989" y="0"/>
                  </a:lnTo>
                  <a:cubicBezTo>
                    <a:pt x="1047203" y="0"/>
                    <a:pt x="1078992" y="31789"/>
                    <a:pt x="1078992" y="71003"/>
                  </a:cubicBezTo>
                  <a:lnTo>
                    <a:pt x="1078992" y="324079"/>
                  </a:lnTo>
                  <a:lnTo>
                    <a:pt x="377205" y="324079"/>
                  </a:lnTo>
                  <a:cubicBezTo>
                    <a:pt x="339489" y="324079"/>
                    <a:pt x="308915" y="354653"/>
                    <a:pt x="308915" y="392369"/>
                  </a:cubicBezTo>
                  <a:lnTo>
                    <a:pt x="308915"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299" name="Google Shape;299;p49"/>
            <p:cNvSpPr/>
            <p:nvPr/>
          </p:nvSpPr>
          <p:spPr>
            <a:xfrm>
              <a:off x="6253181" y="3289240"/>
              <a:ext cx="108000" cy="108000"/>
            </a:xfrm>
            <a:prstGeom prst="roundRect">
              <a:avLst>
                <a:gd name="adj" fmla="val 6582"/>
              </a:avLst>
            </a:pr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sp>
        <p:nvSpPr>
          <p:cNvPr id="300" name="Google Shape;300;p49"/>
          <p:cNvSpPr txBox="1"/>
          <p:nvPr/>
        </p:nvSpPr>
        <p:spPr>
          <a:xfrm>
            <a:off x="594175" y="2710232"/>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{{C_OTH}} Others</a:t>
            </a:r>
            <a:b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{{C_OTH_NAMES}}</a:t>
            </a:r>
            <a:b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grpSp>
        <p:nvGrpSpPr>
          <p:cNvPr id="301" name="Google Shape;301;p49"/>
          <p:cNvGrpSpPr/>
          <p:nvPr/>
        </p:nvGrpSpPr>
        <p:grpSpPr>
          <a:xfrm>
            <a:off x="318778" y="3899121"/>
            <a:ext cx="171314" cy="178215"/>
            <a:chOff x="11835920" y="1617571"/>
            <a:chExt cx="5866906" cy="6041208"/>
          </a:xfrm>
        </p:grpSpPr>
        <p:sp>
          <p:nvSpPr>
            <p:cNvPr id="302" name="Google Shape;302;p49"/>
            <p:cNvSpPr/>
            <p:nvPr/>
          </p:nvSpPr>
          <p:spPr>
            <a:xfrm>
              <a:off x="13171525" y="1625031"/>
              <a:ext cx="1490700" cy="944700"/>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3" name="Google Shape;303;p49"/>
            <p:cNvSpPr/>
            <p:nvPr/>
          </p:nvSpPr>
          <p:spPr>
            <a:xfrm rot="4145691">
              <a:off x="12227504" y="4096971"/>
              <a:ext cx="6050917" cy="1078706"/>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4" name="Google Shape;304;p49"/>
            <p:cNvSpPr/>
            <p:nvPr/>
          </p:nvSpPr>
          <p:spPr>
            <a:xfrm rot="9723288">
              <a:off x="15609080" y="6301883"/>
              <a:ext cx="1975610" cy="1078787"/>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5" name="Google Shape;305;p49"/>
            <p:cNvSpPr/>
            <p:nvPr/>
          </p:nvSpPr>
          <p:spPr>
            <a:xfrm rot="7393903">
              <a:off x="14175210" y="3530494"/>
              <a:ext cx="644860" cy="604337"/>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06" name="Google Shape;306;p49"/>
            <p:cNvSpPr/>
            <p:nvPr/>
          </p:nvSpPr>
          <p:spPr>
            <a:xfrm>
              <a:off x="11835920" y="3725119"/>
              <a:ext cx="3579000" cy="3592200"/>
            </a:xfrm>
            <a:prstGeom prst="parallelogram">
              <a:avLst>
                <a:gd name="adj" fmla="val 66161"/>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sp>
        <p:nvSpPr>
          <p:cNvPr id="307" name="Google Shape;307;p49"/>
          <p:cNvSpPr txBox="1"/>
          <p:nvPr/>
        </p:nvSpPr>
        <p:spPr>
          <a:xfrm>
            <a:off x="594173" y="3867490"/>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{{SERVERLESS_FN_COUNT}} Serverless Functions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08" name="Google Shape;308;p49"/>
          <p:cNvSpPr txBox="1"/>
          <p:nvPr/>
        </p:nvSpPr>
        <p:spPr>
          <a:xfrm>
            <a:off x="594173" y="1626385"/>
            <a:ext cx="21201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{{C_GCP}} GCP Connectors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09" name="Google Shape;309;p49" descr="Google Cloud Platform · GitHub"/>
          <p:cNvPicPr preferRelativeResize="0"/>
          <p:nvPr/>
        </p:nvPicPr>
        <p:blipFill rotWithShape="1">
          <a:blip r:embed="rId6">
            <a:alphaModFix/>
          </a:blip>
          <a:srcRect/>
          <a:stretch/>
        </p:blipFill>
        <p:spPr>
          <a:xfrm>
            <a:off x="299754" y="1614903"/>
            <a:ext cx="209362" cy="211780"/>
          </a:xfrm>
          <a:prstGeom prst="rect">
            <a:avLst/>
          </a:prstGeom>
          <a:noFill/>
          <a:ln>
            <a:noFill/>
          </a:ln>
        </p:spPr>
      </p:pic>
      <p:sp>
        <p:nvSpPr>
          <p:cNvPr id="310" name="Google Shape;310;p49"/>
          <p:cNvSpPr txBox="1"/>
          <p:nvPr/>
        </p:nvSpPr>
        <p:spPr>
          <a:xfrm>
            <a:off x="594173" y="1958244"/>
            <a:ext cx="20517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{{C_AZ}} Azure Connectors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11" name="Google Shape;311;p49"/>
          <p:cNvPicPr preferRelativeResize="0"/>
          <p:nvPr/>
        </p:nvPicPr>
        <p:blipFill rotWithShape="1">
          <a:blip r:embed="rId7">
            <a:alphaModFix/>
          </a:blip>
          <a:srcRect/>
          <a:stretch/>
        </p:blipFill>
        <p:spPr>
          <a:xfrm>
            <a:off x="299673" y="1970401"/>
            <a:ext cx="209525" cy="185367"/>
          </a:xfrm>
          <a:prstGeom prst="rect">
            <a:avLst/>
          </a:prstGeom>
          <a:noFill/>
          <a:ln>
            <a:noFill/>
          </a:ln>
        </p:spPr>
      </p:pic>
      <p:grpSp>
        <p:nvGrpSpPr>
          <p:cNvPr id="312" name="Google Shape;312;p49"/>
          <p:cNvGrpSpPr/>
          <p:nvPr/>
        </p:nvGrpSpPr>
        <p:grpSpPr>
          <a:xfrm>
            <a:off x="240579" y="3445870"/>
            <a:ext cx="327712" cy="372880"/>
            <a:chOff x="6153425" y="3541954"/>
            <a:chExt cx="540155" cy="607594"/>
          </a:xfrm>
        </p:grpSpPr>
        <p:grpSp>
          <p:nvGrpSpPr>
            <p:cNvPr id="313" name="Google Shape;313;p49"/>
            <p:cNvGrpSpPr/>
            <p:nvPr/>
          </p:nvGrpSpPr>
          <p:grpSpPr>
            <a:xfrm>
              <a:off x="6302419" y="3759933"/>
              <a:ext cx="246143" cy="246517"/>
              <a:chOff x="6996063" y="371043"/>
              <a:chExt cx="3423407" cy="3428610"/>
            </a:xfrm>
          </p:grpSpPr>
          <p:grpSp>
            <p:nvGrpSpPr>
              <p:cNvPr id="314" name="Google Shape;314;p49"/>
              <p:cNvGrpSpPr/>
              <p:nvPr/>
            </p:nvGrpSpPr>
            <p:grpSpPr>
              <a:xfrm>
                <a:off x="7365704" y="1326099"/>
                <a:ext cx="2559934" cy="2230430"/>
                <a:chOff x="7359949" y="1328909"/>
                <a:chExt cx="2559934" cy="2230430"/>
              </a:xfrm>
            </p:grpSpPr>
            <p:sp>
              <p:nvSpPr>
                <p:cNvPr id="315" name="Google Shape;315;p49"/>
                <p:cNvSpPr/>
                <p:nvPr/>
              </p:nvSpPr>
              <p:spPr>
                <a:xfrm rot="-1800156">
                  <a:off x="7697610" y="1838146"/>
                  <a:ext cx="901729" cy="1592176"/>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16" name="Google Shape;316;p49"/>
                <p:cNvSpPr/>
                <p:nvPr/>
              </p:nvSpPr>
              <p:spPr>
                <a:xfrm rot="5400000">
                  <a:off x="8189014" y="983759"/>
                  <a:ext cx="901800" cy="1592100"/>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17" name="Google Shape;317;p49"/>
                <p:cNvSpPr/>
                <p:nvPr/>
              </p:nvSpPr>
              <p:spPr>
                <a:xfrm rot="-8999844">
                  <a:off x="8680494" y="1848387"/>
                  <a:ext cx="901729" cy="1592176"/>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sp>
            <p:nvSpPr>
              <p:cNvPr id="318" name="Google Shape;318;p49"/>
              <p:cNvSpPr/>
              <p:nvPr/>
            </p:nvSpPr>
            <p:spPr>
              <a:xfrm rot="5400000">
                <a:off x="6993462" y="373644"/>
                <a:ext cx="3428610" cy="3423407"/>
              </a:xfrm>
              <a:custGeom>
                <a:avLst/>
                <a:gdLst/>
                <a:ahLst/>
                <a:cxnLst/>
                <a:rect l="l" t="t" r="r" b="b"/>
                <a:pathLst>
                  <a:path w="4021830" h="3547572" extrusionOk="0">
                    <a:moveTo>
                      <a:pt x="438870" y="1773786"/>
                    </a:moveTo>
                    <a:lnTo>
                      <a:pt x="1231625" y="3181575"/>
                    </a:lnTo>
                    <a:lnTo>
                      <a:pt x="2790205" y="3181575"/>
                    </a:lnTo>
                    <a:lnTo>
                      <a:pt x="3582960" y="1773786"/>
                    </a:lnTo>
                    <a:lnTo>
                      <a:pt x="2790205" y="365997"/>
                    </a:lnTo>
                    <a:lnTo>
                      <a:pt x="1231625" y="365997"/>
                    </a:lnTo>
                    <a:close/>
                    <a:moveTo>
                      <a:pt x="0" y="1773786"/>
                    </a:moveTo>
                    <a:lnTo>
                      <a:pt x="998855" y="0"/>
                    </a:lnTo>
                    <a:lnTo>
                      <a:pt x="3022975" y="0"/>
                    </a:lnTo>
                    <a:lnTo>
                      <a:pt x="4021830" y="1773786"/>
                    </a:lnTo>
                    <a:lnTo>
                      <a:pt x="3022975" y="3547572"/>
                    </a:lnTo>
                    <a:lnTo>
                      <a:pt x="998855" y="3547572"/>
                    </a:lnTo>
                    <a:close/>
                  </a:path>
                </a:pathLst>
              </a:cu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19" name="Google Shape;319;p49"/>
              <p:cNvSpPr/>
              <p:nvPr/>
            </p:nvSpPr>
            <p:spPr>
              <a:xfrm>
                <a:off x="8550588" y="665584"/>
                <a:ext cx="190200" cy="854100"/>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20" name="Google Shape;320;p49"/>
              <p:cNvSpPr/>
              <p:nvPr/>
            </p:nvSpPr>
            <p:spPr>
              <a:xfrm rot="7200163">
                <a:off x="9706081" y="2593755"/>
                <a:ext cx="190184" cy="853876"/>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21" name="Google Shape;321;p49"/>
              <p:cNvSpPr/>
              <p:nvPr/>
            </p:nvSpPr>
            <p:spPr>
              <a:xfrm rot="-7200163">
                <a:off x="7397547" y="2579190"/>
                <a:ext cx="190184" cy="853876"/>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DM Sans"/>
                </a:endParaRPr>
              </a:p>
            </p:txBody>
          </p:sp>
        </p:grpSp>
        <p:pic>
          <p:nvPicPr>
            <p:cNvPr id="322" name="Google Shape;322;p49" descr="Serverless Containers | Scaleway"/>
            <p:cNvPicPr preferRelativeResize="0"/>
            <p:nvPr/>
          </p:nvPicPr>
          <p:blipFill rotWithShape="1">
            <a:blip r:embed="rId8">
              <a:alphaModFix/>
            </a:blip>
            <a:srcRect/>
            <a:stretch/>
          </p:blipFill>
          <p:spPr>
            <a:xfrm>
              <a:off x="6153425" y="3541954"/>
              <a:ext cx="540155" cy="607594"/>
            </a:xfrm>
            <a:prstGeom prst="rect">
              <a:avLst/>
            </a:prstGeom>
            <a:noFill/>
            <a:ln>
              <a:noFill/>
            </a:ln>
          </p:spPr>
        </p:pic>
      </p:grpSp>
      <p:pic>
        <p:nvPicPr>
          <p:cNvPr id="323" name="Google Shape;323;p49" descr="A blue hexagon with white text&#10;&#10;Description automatically generated"/>
          <p:cNvPicPr preferRelativeResize="0"/>
          <p:nvPr/>
        </p:nvPicPr>
        <p:blipFill rotWithShape="1">
          <a:blip r:embed="rId9">
            <a:alphaModFix/>
          </a:blip>
          <a:srcRect/>
          <a:stretch/>
        </p:blipFill>
        <p:spPr>
          <a:xfrm>
            <a:off x="281180" y="3165533"/>
            <a:ext cx="246510" cy="211566"/>
          </a:xfrm>
          <a:prstGeom prst="rect">
            <a:avLst/>
          </a:prstGeom>
          <a:noFill/>
          <a:ln>
            <a:noFill/>
          </a:ln>
        </p:spPr>
      </p:pic>
      <p:sp>
        <p:nvSpPr>
          <p:cNvPr id="324" name="Google Shape;324;p49"/>
          <p:cNvSpPr txBox="1"/>
          <p:nvPr/>
        </p:nvSpPr>
        <p:spPr>
          <a:xfrm>
            <a:off x="602752" y="3174368"/>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FF0000"/>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{{R_TOT}} Container Registries</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25" name="Google Shape;325;p49"/>
          <p:cNvSpPr txBox="1"/>
          <p:nvPr/>
        </p:nvSpPr>
        <p:spPr>
          <a:xfrm>
            <a:off x="99325" y="902925"/>
            <a:ext cx="2694900"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Cloud Visibility</a:t>
            </a:r>
            <a:endParaRPr sz="14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26" name="Google Shape;326;p49"/>
          <p:cNvSpPr txBox="1"/>
          <p:nvPr/>
        </p:nvSpPr>
        <p:spPr>
          <a:xfrm>
            <a:off x="594175" y="3523023"/>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{{SERVERLESS_CT_COUNT}} Serverless Containers</a:t>
            </a:r>
            <a:endParaRPr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27" name="Google Shape;327;p49"/>
          <p:cNvSpPr txBox="1"/>
          <p:nvPr/>
        </p:nvSpPr>
        <p:spPr>
          <a:xfrm>
            <a:off x="593145" y="4603900"/>
            <a:ext cx="21477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{{L_SE}} </a:t>
            </a:r>
            <a:b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Wiz Runtime Sensors Deployed</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28" name="Google Shape;328;p49"/>
          <p:cNvPicPr preferRelativeResize="0"/>
          <p:nvPr/>
        </p:nvPicPr>
        <p:blipFill rotWithShape="1">
          <a:blip r:embed="rId10">
            <a:alphaModFix/>
          </a:blip>
          <a:srcRect/>
          <a:stretch/>
        </p:blipFill>
        <p:spPr>
          <a:xfrm>
            <a:off x="285915" y="4606907"/>
            <a:ext cx="216750" cy="245654"/>
          </a:xfrm>
          <a:prstGeom prst="rect">
            <a:avLst/>
          </a:prstGeom>
          <a:noFill/>
          <a:ln>
            <a:noFill/>
          </a:ln>
        </p:spPr>
      </p:pic>
      <p:sp>
        <p:nvSpPr>
          <p:cNvPr id="329" name="Google Shape;329;p49"/>
          <p:cNvSpPr txBox="1"/>
          <p:nvPr/>
        </p:nvSpPr>
        <p:spPr>
          <a:xfrm>
            <a:off x="590675" y="4214860"/>
            <a:ext cx="22134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{{CON_WE}} Connectors With Cloud Events</a:t>
            </a:r>
            <a:b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{{CON_NE}} Connectors Without</a:t>
            </a:r>
            <a:endParaRPr sz="9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330" name="Google Shape;330;p49"/>
          <p:cNvPicPr preferRelativeResize="0"/>
          <p:nvPr/>
        </p:nvPicPr>
        <p:blipFill rotWithShape="1">
          <a:blip r:embed="rId11">
            <a:alphaModFix/>
          </a:blip>
          <a:srcRect/>
          <a:stretch/>
        </p:blipFill>
        <p:spPr>
          <a:xfrm>
            <a:off x="260656" y="4232746"/>
            <a:ext cx="287558" cy="276456"/>
          </a:xfrm>
          <a:prstGeom prst="rect">
            <a:avLst/>
          </a:prstGeom>
          <a:noFill/>
          <a:ln>
            <a:noFill/>
          </a:ln>
        </p:spPr>
      </p:pic>
      <p:pic>
        <p:nvPicPr>
          <p:cNvPr id="331" name="Google Shape;331;p49"/>
          <p:cNvPicPr preferRelativeResize="0"/>
          <p:nvPr/>
        </p:nvPicPr>
        <p:blipFill rotWithShape="1">
          <a:blip r:embed="rId3">
            <a:alphaModFix/>
          </a:blip>
          <a:srcRect/>
          <a:stretch/>
        </p:blipFill>
        <p:spPr>
          <a:xfrm>
            <a:off x="2972000" y="820225"/>
            <a:ext cx="2879650" cy="2923377"/>
          </a:xfrm>
          <a:prstGeom prst="rect">
            <a:avLst/>
          </a:prstGeom>
          <a:noFill/>
          <a:ln w="6350">
            <a:solidFill>
              <a:schemeClr val="accent1"/>
            </a:solidFill>
          </a:ln>
        </p:spPr>
      </p:pic>
      <p:sp>
        <p:nvSpPr>
          <p:cNvPr id="332" name="Google Shape;332;p49"/>
          <p:cNvSpPr txBox="1"/>
          <p:nvPr/>
        </p:nvSpPr>
        <p:spPr>
          <a:xfrm>
            <a:off x="2972075" y="829568"/>
            <a:ext cx="2879700"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2">
                  <a:extLst>
                    <a:ext uri="{A12FA001-AC4F-418D-AE19-62706E023703}">
                      <ahyp:hlinkClr xmlns:ahyp="http://schemas.microsoft.com/office/drawing/2018/hyperlinkcolor" val="tx"/>
                    </a:ext>
                  </a:extLst>
                </a:hlinkClick>
              </a:rPr>
              <a:t>Deployments / Connectors</a:t>
            </a:r>
            <a:r>
              <a:rPr lang="en"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33" name="Google Shape;333;p49"/>
          <p:cNvSpPr/>
          <p:nvPr/>
        </p:nvSpPr>
        <p:spPr>
          <a:xfrm>
            <a:off x="4494205" y="1157402"/>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{{CON_EN}}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Active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4" name="Google Shape;334;p49"/>
          <p:cNvSpPr/>
          <p:nvPr/>
        </p:nvSpPr>
        <p:spPr>
          <a:xfrm>
            <a:off x="4494205" y="1683395"/>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{{CON_VCS}}</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VCS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5" name="Google Shape;335;p49"/>
          <p:cNvSpPr/>
          <p:nvPr/>
        </p:nvSpPr>
        <p:spPr>
          <a:xfrm>
            <a:off x="3195369" y="1153399"/>
            <a:ext cx="1168200" cy="4278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{{CON_TOT}}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Total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6" name="Google Shape;336;p49"/>
          <p:cNvSpPr/>
          <p:nvPr/>
        </p:nvSpPr>
        <p:spPr>
          <a:xfrm>
            <a:off x="3195369" y="1681109"/>
            <a:ext cx="1168200" cy="4278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{{OUT_DEP}}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Outpost Deployments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7" name="Google Shape;337;p49"/>
          <p:cNvSpPr/>
          <p:nvPr/>
        </p:nvSpPr>
        <p:spPr>
          <a:xfrm>
            <a:off x="3201552" y="2208819"/>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{{CON_DIS}}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Inactive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8" name="Google Shape;338;p49"/>
          <p:cNvSpPr/>
          <p:nvPr/>
        </p:nvSpPr>
        <p:spPr>
          <a:xfrm>
            <a:off x="4500405" y="2209388"/>
            <a:ext cx="11703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175" tIns="91175" rIns="91175" bIns="91175" anchor="ctr" anchorCtr="0">
            <a:noAutofit/>
          </a:bodyPr>
          <a:lstStyle/>
          <a:p>
            <a:pPr marL="0" marR="0" lvl="0" indent="0" algn="ctr" rtl="0">
              <a:lnSpc>
                <a:spcPct val="100000"/>
              </a:lnSpc>
              <a:spcBef>
                <a:spcPts val="0"/>
              </a:spcBef>
              <a:spcAft>
                <a:spcPts val="0"/>
              </a:spcAft>
              <a:buClr>
                <a:srgbClr val="000000"/>
              </a:buClr>
              <a:buSzPts val="698"/>
              <a:buFont typeface="Arial"/>
              <a:buNone/>
            </a:pPr>
            <a:r>
              <a:rPr lang="en"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{{CON_BRO}}</a:t>
            </a:r>
            <a:br>
              <a:rPr lang="en"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Broker Deployments</a:t>
            </a:r>
            <a:endParaRPr sz="698"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39" name="Google Shape;339;p49"/>
          <p:cNvSpPr/>
          <p:nvPr/>
        </p:nvSpPr>
        <p:spPr>
          <a:xfrm>
            <a:off x="3201552" y="2738628"/>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{{CON_R}}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Registry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40" name="Google Shape;340;p49"/>
          <p:cNvSpPr/>
          <p:nvPr/>
        </p:nvSpPr>
        <p:spPr>
          <a:xfrm>
            <a:off x="4500395" y="2735381"/>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{{CON_K8S}}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Kubernetes Connectors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341" name="Google Shape;341;p49"/>
          <p:cNvPicPr preferRelativeResize="0"/>
          <p:nvPr/>
        </p:nvPicPr>
        <p:blipFill rotWithShape="1">
          <a:blip r:embed="rId3">
            <a:alphaModFix/>
          </a:blip>
          <a:srcRect/>
          <a:stretch/>
        </p:blipFill>
        <p:spPr>
          <a:xfrm>
            <a:off x="5999925" y="828800"/>
            <a:ext cx="2958424" cy="2914801"/>
          </a:xfrm>
          <a:prstGeom prst="rect">
            <a:avLst/>
          </a:prstGeom>
          <a:noFill/>
          <a:ln w="6350">
            <a:solidFill>
              <a:schemeClr val="accent1"/>
            </a:solidFill>
          </a:ln>
        </p:spPr>
      </p:pic>
      <p:sp>
        <p:nvSpPr>
          <p:cNvPr id="342" name="Google Shape;342;p49"/>
          <p:cNvSpPr txBox="1"/>
          <p:nvPr/>
        </p:nvSpPr>
        <p:spPr>
          <a:xfrm>
            <a:off x="6027633" y="838143"/>
            <a:ext cx="2901413"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4">
                  <a:extLst>
                    <a:ext uri="{A12FA001-AC4F-418D-AE19-62706E023703}">
                      <ahyp:hlinkClr xmlns:ahyp="http://schemas.microsoft.com/office/drawing/2018/hyperlinkcolor" val="tx"/>
                    </a:ext>
                  </a:extLst>
                </a:hlinkClick>
              </a:rPr>
              <a:t>Cloud Events</a:t>
            </a:r>
            <a:r>
              <a:rPr lang="en"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Arial"/>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43" name="Google Shape;343;p49"/>
          <p:cNvSpPr txBox="1"/>
          <p:nvPr/>
        </p:nvSpPr>
        <p:spPr>
          <a:xfrm>
            <a:off x="6015229" y="131973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{{CLOUD_EVENTS_2}}</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4" name="Google Shape;344;p49"/>
          <p:cNvSpPr txBox="1"/>
          <p:nvPr/>
        </p:nvSpPr>
        <p:spPr>
          <a:xfrm>
            <a:off x="6015229" y="1514580"/>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{{CLOUD_EVENTS_3}}</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5" name="Google Shape;345;p49"/>
          <p:cNvSpPr txBox="1"/>
          <p:nvPr/>
        </p:nvSpPr>
        <p:spPr>
          <a:xfrm>
            <a:off x="6015229" y="1709422"/>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{{CLOUD_EVENTS_4}}</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6" name="Google Shape;346;p49"/>
          <p:cNvSpPr txBox="1"/>
          <p:nvPr/>
        </p:nvSpPr>
        <p:spPr>
          <a:xfrm>
            <a:off x="6015229" y="190426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{{CLOUD_EVENTS_5}}</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7" name="Google Shape;347;p49"/>
          <p:cNvSpPr txBox="1"/>
          <p:nvPr/>
        </p:nvSpPr>
        <p:spPr>
          <a:xfrm>
            <a:off x="6015229" y="2099106"/>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{{CLOUD_EVENTS_6}}</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8" name="Google Shape;348;p49"/>
          <p:cNvSpPr txBox="1"/>
          <p:nvPr/>
        </p:nvSpPr>
        <p:spPr>
          <a:xfrm>
            <a:off x="6015229" y="229394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{{CLOUD_EVENTS_7}}</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49" name="Google Shape;349;p49"/>
          <p:cNvSpPr txBox="1"/>
          <p:nvPr/>
        </p:nvSpPr>
        <p:spPr>
          <a:xfrm>
            <a:off x="6015229" y="2488790"/>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{{CLOUD_EVENTS_8}}</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0" name="Google Shape;350;p49"/>
          <p:cNvSpPr txBox="1"/>
          <p:nvPr/>
        </p:nvSpPr>
        <p:spPr>
          <a:xfrm>
            <a:off x="6015229" y="2683632"/>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{{CLOUD_EVENTS_9}}</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1" name="Google Shape;351;p49"/>
          <p:cNvSpPr txBox="1"/>
          <p:nvPr/>
        </p:nvSpPr>
        <p:spPr>
          <a:xfrm>
            <a:off x="6015229" y="287847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{{CLOUD_EVENTS_10}}</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2" name="Google Shape;352;p49"/>
          <p:cNvSpPr txBox="1"/>
          <p:nvPr/>
        </p:nvSpPr>
        <p:spPr>
          <a:xfrm>
            <a:off x="6015229" y="3073316"/>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{{CLOUD_EVENTS_11}}</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3" name="Google Shape;353;p49"/>
          <p:cNvSpPr txBox="1"/>
          <p:nvPr/>
        </p:nvSpPr>
        <p:spPr>
          <a:xfrm>
            <a:off x="6015229" y="326815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{{CLOUD_EVENTS_12}}</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4" name="Google Shape;354;p49"/>
          <p:cNvSpPr txBox="1"/>
          <p:nvPr/>
        </p:nvSpPr>
        <p:spPr>
          <a:xfrm>
            <a:off x="6015228" y="1122408"/>
            <a:ext cx="2287200" cy="1839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55" name="Google Shape;355;p49"/>
          <p:cNvSpPr txBox="1"/>
          <p:nvPr/>
        </p:nvSpPr>
        <p:spPr>
          <a:xfrm>
            <a:off x="7985429" y="1105704"/>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6" name="Google Shape;356;p49"/>
          <p:cNvSpPr txBox="1"/>
          <p:nvPr/>
        </p:nvSpPr>
        <p:spPr>
          <a:xfrm>
            <a:off x="7985429" y="1300773"/>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{{CE_2}}</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7" name="Google Shape;357;p49"/>
          <p:cNvSpPr txBox="1"/>
          <p:nvPr/>
        </p:nvSpPr>
        <p:spPr>
          <a:xfrm>
            <a:off x="7985429" y="1495843"/>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{{CE_3}}</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8" name="Google Shape;358;p49"/>
          <p:cNvSpPr txBox="1"/>
          <p:nvPr/>
        </p:nvSpPr>
        <p:spPr>
          <a:xfrm>
            <a:off x="7985429" y="1690912"/>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{{CE_4}}</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59" name="Google Shape;359;p49"/>
          <p:cNvSpPr txBox="1"/>
          <p:nvPr/>
        </p:nvSpPr>
        <p:spPr>
          <a:xfrm>
            <a:off x="7985429" y="1885981"/>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{{CE_5}}</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0" name="Google Shape;360;p49"/>
          <p:cNvSpPr txBox="1"/>
          <p:nvPr/>
        </p:nvSpPr>
        <p:spPr>
          <a:xfrm>
            <a:off x="7985429" y="2081050"/>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{{CE_6}}</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1" name="Google Shape;361;p49"/>
          <p:cNvSpPr txBox="1"/>
          <p:nvPr/>
        </p:nvSpPr>
        <p:spPr>
          <a:xfrm>
            <a:off x="7985429" y="2276120"/>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{{CE_7}}</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2" name="Google Shape;362;p49"/>
          <p:cNvSpPr txBox="1"/>
          <p:nvPr/>
        </p:nvSpPr>
        <p:spPr>
          <a:xfrm>
            <a:off x="7985429" y="2471189"/>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{{CE_8}}</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3" name="Google Shape;363;p49"/>
          <p:cNvSpPr txBox="1"/>
          <p:nvPr/>
        </p:nvSpPr>
        <p:spPr>
          <a:xfrm>
            <a:off x="7985429" y="2666258"/>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{{CE_9}}</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4" name="Google Shape;364;p49"/>
          <p:cNvSpPr txBox="1"/>
          <p:nvPr/>
        </p:nvSpPr>
        <p:spPr>
          <a:xfrm>
            <a:off x="7985429" y="2861327"/>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{{CE_10}}</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5" name="Google Shape;365;p49"/>
          <p:cNvSpPr txBox="1"/>
          <p:nvPr/>
        </p:nvSpPr>
        <p:spPr>
          <a:xfrm>
            <a:off x="7990523" y="3056397"/>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{{CE_11}}</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66" name="Google Shape;366;p49"/>
          <p:cNvSpPr txBox="1"/>
          <p:nvPr/>
        </p:nvSpPr>
        <p:spPr>
          <a:xfrm>
            <a:off x="7985429" y="3251466"/>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{{CE_12}}</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67" name="Google Shape;367;p49"/>
          <p:cNvPicPr preferRelativeResize="0"/>
          <p:nvPr/>
        </p:nvPicPr>
        <p:blipFill rotWithShape="1">
          <a:blip r:embed="rId15">
            <a:alphaModFix/>
          </a:blip>
          <a:srcRect/>
          <a:stretch/>
        </p:blipFill>
        <p:spPr>
          <a:xfrm>
            <a:off x="2972000" y="3837150"/>
            <a:ext cx="5986350" cy="1180899"/>
          </a:xfrm>
          <a:prstGeom prst="rect">
            <a:avLst/>
          </a:prstGeom>
          <a:noFill/>
          <a:ln w="6350">
            <a:solidFill>
              <a:schemeClr val="accent1"/>
            </a:solidFill>
          </a:ln>
        </p:spPr>
      </p:pic>
      <p:sp>
        <p:nvSpPr>
          <p:cNvPr id="368" name="Google Shape;368;p49"/>
          <p:cNvSpPr txBox="1"/>
          <p:nvPr/>
        </p:nvSpPr>
        <p:spPr>
          <a:xfrm>
            <a:off x="3107645" y="3877908"/>
            <a:ext cx="2630400" cy="309000"/>
          </a:xfrm>
          <a:prstGeom prst="rect">
            <a:avLst/>
          </a:prstGeom>
          <a:noFill/>
          <a:ln>
            <a:noFill/>
          </a:ln>
        </p:spPr>
        <p:txBody>
          <a:bodyPr spcFirstLastPara="1" wrap="square" lIns="68575" tIns="34275" rIns="68575" bIns="34275" anchor="t" anchorCtr="0">
            <a:normAutofit/>
          </a:bodyPr>
          <a:lstStyle/>
          <a:p>
            <a:pPr marL="0" marR="0" lvl="0" indent="0" algn="l" rtl="0">
              <a:lnSpc>
                <a:spcPct val="90000"/>
              </a:lnSpc>
              <a:spcBef>
                <a:spcPts val="0"/>
              </a:spcBef>
              <a:spcAft>
                <a:spcPts val="0"/>
              </a:spcAft>
              <a:buClr>
                <a:schemeClr val="dk2"/>
              </a:buClr>
              <a:buSzPts val="1500"/>
              <a:buFont typeface="Arial"/>
              <a:buNone/>
            </a:pPr>
            <a:r>
              <a:rPr lang="en" sz="14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6">
                  <a:extLst>
                    <a:ext uri="{A12FA001-AC4F-418D-AE19-62706E023703}">
                      <ahyp:hlinkClr xmlns:ahyp="http://schemas.microsoft.com/office/drawing/2018/hyperlinkcolor" val="tx"/>
                    </a:ext>
                  </a:extLst>
                </a:hlinkClick>
              </a:rPr>
              <a:t>AI Visibility / Inventory</a:t>
            </a:r>
            <a:r>
              <a:rPr lang="en"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4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69" name="Google Shape;369;p49"/>
          <p:cNvSpPr/>
          <p:nvPr/>
        </p:nvSpPr>
        <p:spPr>
          <a:xfrm>
            <a:off x="3139402" y="427905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{{AI_MODELS_COUNT}}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Models</a:t>
            </a:r>
            <a:endParaRPr sz="12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0" name="Google Shape;370;p49"/>
          <p:cNvSpPr/>
          <p:nvPr/>
        </p:nvSpPr>
        <p:spPr>
          <a:xfrm>
            <a:off x="4314761" y="427905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{{AI_AGENTS_COUNT}}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Agents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1" name="Google Shape;371;p49"/>
          <p:cNvSpPr/>
          <p:nvPr/>
        </p:nvSpPr>
        <p:spPr>
          <a:xfrm>
            <a:off x="5490120" y="427906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{{AI_PIPELINES_COUNT}}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Pipelines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2" name="Google Shape;372;p49"/>
          <p:cNvSpPr/>
          <p:nvPr/>
        </p:nvSpPr>
        <p:spPr>
          <a:xfrm>
            <a:off x="6665479" y="4284759"/>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{{AI_WORKLOADS_COUNT}}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Workloads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3" name="Google Shape;373;p49"/>
          <p:cNvSpPr/>
          <p:nvPr/>
        </p:nvSpPr>
        <p:spPr>
          <a:xfrm>
            <a:off x="3145104" y="4656960"/>
            <a:ext cx="1060500" cy="2844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{{AI_GUARDRAILS_COUNT}}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Guardrails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4" name="Google Shape;374;p49"/>
          <p:cNvSpPr/>
          <p:nvPr/>
        </p:nvSpPr>
        <p:spPr>
          <a:xfrm>
            <a:off x="4319779" y="4664450"/>
            <a:ext cx="1060500" cy="2844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{{AI_MCP_SERVERS_COUNT}}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MCP Servers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5" name="Google Shape;375;p49"/>
          <p:cNvSpPr/>
          <p:nvPr/>
        </p:nvSpPr>
        <p:spPr>
          <a:xfrm>
            <a:off x="5494453" y="4657061"/>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{{AI_TECHNOLOGIES_COUNT}}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Technologies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6" name="Google Shape;376;p49"/>
          <p:cNvSpPr/>
          <p:nvPr/>
        </p:nvSpPr>
        <p:spPr>
          <a:xfrm>
            <a:off x="6669128" y="4655787"/>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{{AI_CODE_REPOS_COUNT}}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Code Repos with AI</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77" name="Google Shape;377;p49"/>
          <p:cNvSpPr txBox="1"/>
          <p:nvPr/>
        </p:nvSpPr>
        <p:spPr>
          <a:xfrm>
            <a:off x="6013666" y="346047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{{CLOUD_EVENTS_13}}</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378" name="Google Shape;378;p49"/>
          <p:cNvSpPr txBox="1"/>
          <p:nvPr/>
        </p:nvSpPr>
        <p:spPr>
          <a:xfrm>
            <a:off x="7983866" y="3443782"/>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{{CE_13}}</a:t>
            </a:r>
            <a:endParaRPr sz="8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79" name="Google Shape;379;p49"/>
          <p:cNvSpPr/>
          <p:nvPr/>
        </p:nvSpPr>
        <p:spPr>
          <a:xfrm>
            <a:off x="3190949" y="3268438"/>
            <a:ext cx="11787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{{CON_R}}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Admission Controllers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80" name="Google Shape;380;p49"/>
          <p:cNvSpPr/>
          <p:nvPr/>
        </p:nvSpPr>
        <p:spPr>
          <a:xfrm>
            <a:off x="7840838" y="4284759"/>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{{AI_DATASETS_COUNT}}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 Datastores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81" name="Google Shape;381;p49"/>
          <p:cNvSpPr/>
          <p:nvPr/>
        </p:nvSpPr>
        <p:spPr>
          <a:xfrm>
            <a:off x="7843803" y="4655787"/>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{{AI_CA_COUNT}}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Coding Agents (IDE)</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82" name="Google Shape;382;p49"/>
          <p:cNvSpPr/>
          <p:nvPr/>
        </p:nvSpPr>
        <p:spPr>
          <a:xfrm>
            <a:off x="4488949" y="3261374"/>
            <a:ext cx="11787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{{CON_WOS}} </a:t>
            </a:r>
            <a:b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br>
            <a:r>
              <a:rPr lang="en"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rPr>
              <a:t>WizOS Workloads</a:t>
            </a:r>
            <a:endParaRPr sz="7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pic>
        <p:nvPicPr>
          <p:cNvPr id="388" name="Google Shape;388;p50"/>
          <p:cNvPicPr preferRelativeResize="0"/>
          <p:nvPr/>
        </p:nvPicPr>
        <p:blipFill rotWithShape="1">
          <a:blip r:embed="rId3">
            <a:alphaModFix/>
          </a:blip>
          <a:srcRect/>
          <a:stretch/>
        </p:blipFill>
        <p:spPr>
          <a:xfrm>
            <a:off x="169678" y="971143"/>
            <a:ext cx="2848816" cy="3509202"/>
          </a:xfrm>
          <a:prstGeom prst="rect">
            <a:avLst/>
          </a:prstGeom>
          <a:noFill/>
          <a:ln w="6350">
            <a:solidFill>
              <a:schemeClr val="accent1"/>
            </a:solidFill>
          </a:ln>
        </p:spPr>
      </p:pic>
      <p:sp>
        <p:nvSpPr>
          <p:cNvPr id="389" name="Google Shape;389;p50"/>
          <p:cNvSpPr txBox="1">
            <a:spLocks noGrp="1"/>
          </p:cNvSpPr>
          <p:nvPr>
            <p:ph type="title" idx="4294967295"/>
          </p:nvPr>
        </p:nvSpPr>
        <p:spPr>
          <a:xfrm>
            <a:off x="150" y="2496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Wiz Adoption &amp; Usage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390" name="Google Shape;390;p50"/>
          <p:cNvSpPr txBox="1"/>
          <p:nvPr/>
        </p:nvSpPr>
        <p:spPr>
          <a:xfrm>
            <a:off x="558756" y="1438781"/>
            <a:ext cx="24327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{{L_CL_PCT}}</a:t>
            </a: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 Cloud Advanced</a:t>
            </a:r>
            <a:endParaRPr sz="11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391" name="Google Shape;391;p50"/>
          <p:cNvSpPr txBox="1"/>
          <p:nvPr/>
        </p:nvSpPr>
        <p:spPr>
          <a:xfrm>
            <a:off x="612468" y="1693344"/>
            <a:ext cx="2538600" cy="987600"/>
          </a:xfrm>
          <a:prstGeom prst="rect">
            <a:avLst/>
          </a:prstGeom>
          <a:noFill/>
          <a:ln>
            <a:noFill/>
          </a:ln>
        </p:spPr>
        <p:txBody>
          <a:bodyPr spcFirstLastPara="1" wrap="square" lIns="55875" tIns="27925" rIns="55875" bIns="27925" anchor="t" anchorCtr="0">
            <a:noAutofit/>
          </a:bodyPr>
          <a:lstStyle/>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Compute </a:t>
            </a:r>
            <a:b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Data </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Non-OS / Registry / VM Image</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WizOS </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Unified Vulnerability Mgmt</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Advanced ASM</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chemeClr val="dk1"/>
              </a:buClr>
              <a:buSzPts val="11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Red Agent</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r>
              <a:rPr lang="en"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rPr>
              <a:t>- SaaS Users</a:t>
            </a: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15000"/>
              </a:lnSpc>
              <a:spcBef>
                <a:spcPts val="0"/>
              </a:spcBef>
              <a:spcAft>
                <a:spcPts val="0"/>
              </a:spcAft>
              <a:buClr>
                <a:srgbClr val="000000"/>
              </a:buClr>
              <a:buSzPts val="800"/>
              <a:buFont typeface="Arial"/>
              <a:buNone/>
            </a:pPr>
            <a:endParaRPr sz="8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92" name="Google Shape;392;p50"/>
          <p:cNvSpPr txBox="1"/>
          <p:nvPr/>
        </p:nvSpPr>
        <p:spPr>
          <a:xfrm>
            <a:off x="169678" y="1008122"/>
            <a:ext cx="2843100" cy="3876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Product Usage</a:t>
            </a:r>
            <a:endParaRPr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393" name="Google Shape;393;p50"/>
          <p:cNvSpPr txBox="1"/>
          <p:nvPr/>
        </p:nvSpPr>
        <p:spPr>
          <a:xfrm>
            <a:off x="613618" y="2992819"/>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Runtime Sensor</a:t>
            </a:r>
            <a:b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b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{{L_SE}}</a:t>
            </a:r>
            <a:endParaRPr sz="13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94" name="Google Shape;394;p50" title="Screenshot 2025-07-09 at 19.45.30.png"/>
          <p:cNvPicPr preferRelativeResize="0"/>
          <p:nvPr/>
        </p:nvPicPr>
        <p:blipFill rotWithShape="1">
          <a:blip r:embed="rId4">
            <a:alphaModFix/>
          </a:blip>
          <a:srcRect/>
          <a:stretch/>
        </p:blipFill>
        <p:spPr>
          <a:xfrm>
            <a:off x="212175" y="3021565"/>
            <a:ext cx="384944" cy="394315"/>
          </a:xfrm>
          <a:prstGeom prst="rect">
            <a:avLst/>
          </a:prstGeom>
          <a:noFill/>
          <a:ln>
            <a:noFill/>
          </a:ln>
        </p:spPr>
      </p:pic>
      <p:sp>
        <p:nvSpPr>
          <p:cNvPr id="395" name="Google Shape;395;p50"/>
          <p:cNvSpPr txBox="1"/>
          <p:nvPr/>
        </p:nvSpPr>
        <p:spPr>
          <a:xfrm>
            <a:off x="618387" y="3495619"/>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Wiz Defend Ingestion</a:t>
            </a:r>
            <a:b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b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{{L_DE}} Units</a:t>
            </a:r>
            <a:endParaRPr sz="13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96" name="Google Shape;396;p50" title="Screenshot 2025-07-09 at 19.46.40.png"/>
          <p:cNvPicPr preferRelativeResize="0"/>
          <p:nvPr/>
        </p:nvPicPr>
        <p:blipFill rotWithShape="1">
          <a:blip r:embed="rId5">
            <a:alphaModFix/>
          </a:blip>
          <a:srcRect/>
          <a:stretch/>
        </p:blipFill>
        <p:spPr>
          <a:xfrm>
            <a:off x="194378" y="3538892"/>
            <a:ext cx="403072" cy="394315"/>
          </a:xfrm>
          <a:prstGeom prst="rect">
            <a:avLst/>
          </a:prstGeom>
          <a:noFill/>
          <a:ln>
            <a:noFill/>
          </a:ln>
        </p:spPr>
      </p:pic>
      <p:pic>
        <p:nvPicPr>
          <p:cNvPr id="397" name="Google Shape;397;p50" title="Screenshot 2025-07-09 at 19.46.06.png"/>
          <p:cNvPicPr preferRelativeResize="0"/>
          <p:nvPr/>
        </p:nvPicPr>
        <p:blipFill rotWithShape="1">
          <a:blip r:embed="rId6">
            <a:alphaModFix/>
          </a:blip>
          <a:srcRect/>
          <a:stretch/>
        </p:blipFill>
        <p:spPr>
          <a:xfrm>
            <a:off x="217005" y="4027677"/>
            <a:ext cx="385851" cy="388893"/>
          </a:xfrm>
          <a:prstGeom prst="rect">
            <a:avLst/>
          </a:prstGeom>
          <a:noFill/>
          <a:ln>
            <a:noFill/>
          </a:ln>
        </p:spPr>
      </p:pic>
      <p:sp>
        <p:nvSpPr>
          <p:cNvPr id="398" name="Google Shape;398;p50"/>
          <p:cNvSpPr txBox="1"/>
          <p:nvPr/>
        </p:nvSpPr>
        <p:spPr>
          <a:xfrm>
            <a:off x="621949" y="3980673"/>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t>Wiz Code</a:t>
            </a:r>
            <a:br>
              <a:rPr lang="en" sz="1100" b="0" i="0" u="none" strike="noStrike" cap="none">
                <a:solidFill>
                  <a:srgbClr val="00113E"/>
                </a:solidFill>
                <a:latin typeface="Calibri" panose="020F0502020204030204" pitchFamily="34" charset="0"/>
                <a:ea typeface="Calibri" panose="020F0502020204030204" pitchFamily="34" charset="0"/>
                <a:cs typeface="Calibri" panose="020F0502020204030204" pitchFamily="34" charset="0"/>
                <a:sym typeface="Poppins Medium"/>
              </a:rPr>
            </a:br>
            <a:r>
              <a:rPr lang="en" sz="12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rPr>
              <a:t>{{L_CO}} Developers</a:t>
            </a:r>
            <a:endParaRPr sz="1300" b="0" i="0" u="none" strike="noStrike" cap="none">
              <a:solidFill>
                <a:srgbClr val="38761D"/>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399" name="Google Shape;399;p50"/>
          <p:cNvPicPr preferRelativeResize="0"/>
          <p:nvPr/>
        </p:nvPicPr>
        <p:blipFill rotWithShape="1">
          <a:blip r:embed="rId7">
            <a:alphaModFix/>
          </a:blip>
          <a:srcRect/>
          <a:stretch/>
        </p:blipFill>
        <p:spPr>
          <a:xfrm>
            <a:off x="3171345" y="971143"/>
            <a:ext cx="2838298" cy="1109701"/>
          </a:xfrm>
          <a:prstGeom prst="rect">
            <a:avLst/>
          </a:prstGeom>
          <a:noFill/>
          <a:ln w="6350">
            <a:solidFill>
              <a:schemeClr val="accent1"/>
            </a:solidFill>
          </a:ln>
        </p:spPr>
      </p:pic>
      <p:sp>
        <p:nvSpPr>
          <p:cNvPr id="400" name="Google Shape;400;p50"/>
          <p:cNvSpPr txBox="1"/>
          <p:nvPr/>
        </p:nvSpPr>
        <p:spPr>
          <a:xfrm>
            <a:off x="3171351" y="997628"/>
            <a:ext cx="2836200" cy="285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Time With Wiz</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1" name="Google Shape;401;p50"/>
          <p:cNvSpPr txBox="1"/>
          <p:nvPr/>
        </p:nvSpPr>
        <p:spPr>
          <a:xfrm>
            <a:off x="3310069" y="1492406"/>
            <a:ext cx="2556900" cy="306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02" name="Google Shape;402;p50"/>
          <p:cNvSpPr txBox="1"/>
          <p:nvPr/>
        </p:nvSpPr>
        <p:spPr>
          <a:xfrm>
            <a:off x="3249786" y="1239364"/>
            <a:ext cx="2683500" cy="2607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403" name="Google Shape;403;p50"/>
          <p:cNvPicPr preferRelativeResize="0"/>
          <p:nvPr/>
        </p:nvPicPr>
        <p:blipFill rotWithShape="1">
          <a:blip r:embed="rId7">
            <a:alphaModFix/>
          </a:blip>
          <a:srcRect/>
          <a:stretch/>
        </p:blipFill>
        <p:spPr>
          <a:xfrm>
            <a:off x="3167109" y="2242540"/>
            <a:ext cx="2841027" cy="2534151"/>
          </a:xfrm>
          <a:prstGeom prst="rect">
            <a:avLst/>
          </a:prstGeom>
          <a:noFill/>
          <a:ln w="6350">
            <a:solidFill>
              <a:schemeClr val="accent1"/>
            </a:solidFill>
          </a:ln>
        </p:spPr>
      </p:pic>
      <p:sp>
        <p:nvSpPr>
          <p:cNvPr id="404" name="Google Shape;404;p50"/>
          <p:cNvSpPr txBox="1"/>
          <p:nvPr/>
        </p:nvSpPr>
        <p:spPr>
          <a:xfrm>
            <a:off x="3167119" y="2314275"/>
            <a:ext cx="2838900" cy="6675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Kubernetes / Containers</a:t>
            </a:r>
            <a:b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&amp; Wiz CLI</a:t>
            </a:r>
            <a:endParaRPr sz="16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5" name="Google Shape;405;p50"/>
          <p:cNvSpPr txBox="1"/>
          <p:nvPr/>
        </p:nvSpPr>
        <p:spPr>
          <a:xfrm>
            <a:off x="3271520" y="3472107"/>
            <a:ext cx="2592000" cy="716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06" name="Google Shape;406;p50"/>
          <p:cNvSpPr txBox="1"/>
          <p:nvPr/>
        </p:nvSpPr>
        <p:spPr>
          <a:xfrm>
            <a:off x="3210410" y="2880241"/>
            <a:ext cx="2720400" cy="6096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07" name="Google Shape;407;p50"/>
          <p:cNvSpPr txBox="1"/>
          <p:nvPr/>
        </p:nvSpPr>
        <p:spPr>
          <a:xfrm>
            <a:off x="3302811" y="3024161"/>
            <a:ext cx="16959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K8s Clusters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8" name="Google Shape;408;p50"/>
          <p:cNvSpPr txBox="1"/>
          <p:nvPr/>
        </p:nvSpPr>
        <p:spPr>
          <a:xfrm>
            <a:off x="4789108" y="3024161"/>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09" name="Google Shape;409;p50"/>
          <p:cNvSpPr txBox="1"/>
          <p:nvPr/>
        </p:nvSpPr>
        <p:spPr>
          <a:xfrm>
            <a:off x="4789108" y="3245522"/>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{{TI}}</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0" name="Google Shape;410;p50"/>
          <p:cNvSpPr txBox="1"/>
          <p:nvPr/>
        </p:nvSpPr>
        <p:spPr>
          <a:xfrm>
            <a:off x="3167108" y="3808871"/>
            <a:ext cx="2838900" cy="270300"/>
          </a:xfrm>
          <a:prstGeom prst="rect">
            <a:avLst/>
          </a:prstGeom>
          <a:noFill/>
          <a:ln>
            <a:noFill/>
          </a:ln>
        </p:spPr>
        <p:txBody>
          <a:bodyPr spcFirstLastPara="1" wrap="square" lIns="91225" tIns="91225" rIns="91225" bIns="9122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Wiz CLI SCANS (30d) </a:t>
            </a:r>
            <a:r>
              <a:rPr lang="en" sz="14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1" name="Google Shape;411;p50"/>
          <p:cNvSpPr txBox="1"/>
          <p:nvPr/>
        </p:nvSpPr>
        <p:spPr>
          <a:xfrm>
            <a:off x="3167108" y="4128246"/>
            <a:ext cx="2838900" cy="492000"/>
          </a:xfrm>
          <a:prstGeom prst="rect">
            <a:avLst/>
          </a:prstGeom>
          <a:noFill/>
          <a:ln>
            <a:noFill/>
          </a:ln>
        </p:spPr>
        <p:txBody>
          <a:bodyPr spcFirstLastPara="1" wrap="square" lIns="91225" tIns="91225" rIns="91225" bIns="91225" anchor="t" anchorCtr="0">
            <a:noAutofit/>
          </a:bodyPr>
          <a:lstStyle/>
          <a:p>
            <a:pPr marL="0" marR="0" lvl="0" indent="0" algn="ctr" rtl="0">
              <a:lnSpc>
                <a:spcPct val="150000"/>
              </a:lnSpc>
              <a:spcBef>
                <a:spcPts val="0"/>
              </a:spcBef>
              <a:spcAft>
                <a:spcPts val="0"/>
              </a:spcAft>
              <a:buClr>
                <a:srgbClr val="000000"/>
              </a:buClr>
              <a:buSzPts val="2000"/>
              <a:buFont typeface="Arial"/>
              <a:buNone/>
            </a:pPr>
            <a:r>
              <a:rPr lang="en" sz="2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{{CLI}}</a:t>
            </a:r>
            <a:endParaRPr sz="2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2" name="Google Shape;412;p50"/>
          <p:cNvSpPr txBox="1"/>
          <p:nvPr/>
        </p:nvSpPr>
        <p:spPr>
          <a:xfrm>
            <a:off x="3306330" y="3466201"/>
            <a:ext cx="16959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0">
                  <a:extLst>
                    <a:ext uri="{A12FA001-AC4F-418D-AE19-62706E023703}">
                      <ahyp:hlinkClr xmlns:ahyp="http://schemas.microsoft.com/office/drawing/2018/hyperlinkcolor" val="tx"/>
                    </a:ext>
                  </a:extLst>
                </a:hlinkClick>
              </a:rPr>
              <a:t>Container Registries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3" name="Google Shape;413;p50"/>
          <p:cNvSpPr txBox="1"/>
          <p:nvPr/>
        </p:nvSpPr>
        <p:spPr>
          <a:xfrm>
            <a:off x="4792628" y="3466201"/>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{{R_TOT}}</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4" name="Google Shape;414;p50"/>
          <p:cNvSpPr txBox="1"/>
          <p:nvPr/>
        </p:nvSpPr>
        <p:spPr>
          <a:xfrm>
            <a:off x="3293611" y="3244616"/>
            <a:ext cx="17847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Container Images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5" name="Google Shape;415;p50"/>
          <p:cNvSpPr txBox="1"/>
          <p:nvPr/>
        </p:nvSpPr>
        <p:spPr>
          <a:xfrm>
            <a:off x="1817806" y="1749876"/>
            <a:ext cx="1225800" cy="1248900"/>
          </a:xfrm>
          <a:prstGeom prst="rect">
            <a:avLst/>
          </a:prstGeom>
          <a:noFill/>
          <a:ln>
            <a:noFill/>
          </a:ln>
        </p:spPr>
        <p:txBody>
          <a:bodyPr spcFirstLastPara="1" wrap="square" lIns="91225" tIns="91225" rIns="91225" bIns="91225" anchor="ctr" anchorCtr="0">
            <a:noAutofit/>
          </a:bodyPr>
          <a:lstStyle/>
          <a:p>
            <a:pPr marL="0" marR="0" lvl="0" indent="0" algn="r" rtl="0">
              <a:lnSpc>
                <a:spcPct val="115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{{CL_CP}}%</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{{CL_DP}}%</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{{CL_NRVP}}%</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{{CL_WOP}}%</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{{CL_UVMP}}%</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{{CL_ASMP}}%</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r" rtl="0">
              <a:lnSpc>
                <a:spcPct val="115000"/>
              </a:lnSpc>
              <a:spcBef>
                <a:spcPts val="0"/>
              </a:spcBef>
              <a:spcAft>
                <a:spcPts val="0"/>
              </a:spcAft>
              <a:buClr>
                <a:srgbClr val="000000"/>
              </a:buClr>
              <a:buSzPts val="800"/>
              <a:buFont typeface="Arial"/>
              <a:buNone/>
            </a:pP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{{CL_REDA}}%</a:t>
            </a:r>
            <a:b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{{CL_SUP}}%</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16" name="Google Shape;416;p50"/>
          <p:cNvSpPr txBox="1"/>
          <p:nvPr/>
        </p:nvSpPr>
        <p:spPr>
          <a:xfrm>
            <a:off x="3295309" y="1456043"/>
            <a:ext cx="2528700" cy="335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Current Contract End</a:t>
            </a:r>
            <a:b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b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{{CONTRACT_END_FMT}}</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17" name="Google Shape;417;p50"/>
          <p:cNvSpPr txBox="1"/>
          <p:nvPr/>
        </p:nvSpPr>
        <p:spPr>
          <a:xfrm>
            <a:off x="3266555" y="1275483"/>
            <a:ext cx="2683500" cy="285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{{CUS_NOD}} Days as Wiz Customer</a:t>
            </a:r>
            <a:endParaRPr sz="1100" b="0"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18" name="Google Shape;418;p50"/>
          <p:cNvSpPr txBox="1"/>
          <p:nvPr/>
        </p:nvSpPr>
        <p:spPr>
          <a:xfrm>
            <a:off x="3293159" y="1891557"/>
            <a:ext cx="2683500" cy="153888"/>
          </a:xfrm>
          <a:prstGeom prst="rect">
            <a:avLst/>
          </a:prstGeom>
          <a:noFill/>
          <a:ln>
            <a:noFill/>
          </a:ln>
        </p:spPr>
        <p:txBody>
          <a:bodyPr spcFirstLastPara="1" wrap="square" lIns="91425" tIns="0" rIns="91425"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{{D_U_R}} Days Until Renewal</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419" name="Google Shape;419;p50"/>
          <p:cNvPicPr preferRelativeResize="0"/>
          <p:nvPr/>
        </p:nvPicPr>
        <p:blipFill rotWithShape="1">
          <a:blip r:embed="rId12">
            <a:alphaModFix/>
          </a:blip>
          <a:srcRect/>
          <a:stretch/>
        </p:blipFill>
        <p:spPr>
          <a:xfrm>
            <a:off x="231234" y="1394102"/>
            <a:ext cx="338330" cy="357132"/>
          </a:xfrm>
          <a:prstGeom prst="rect">
            <a:avLst/>
          </a:prstGeom>
          <a:noFill/>
          <a:ln>
            <a:noFill/>
          </a:ln>
        </p:spPr>
      </p:pic>
      <p:pic>
        <p:nvPicPr>
          <p:cNvPr id="420" name="Google Shape;420;p50"/>
          <p:cNvPicPr preferRelativeResize="0"/>
          <p:nvPr/>
        </p:nvPicPr>
        <p:blipFill rotWithShape="1">
          <a:blip r:embed="rId7">
            <a:alphaModFix/>
          </a:blip>
          <a:srcRect/>
          <a:stretch/>
        </p:blipFill>
        <p:spPr>
          <a:xfrm>
            <a:off x="6189553" y="976375"/>
            <a:ext cx="2780923" cy="1385452"/>
          </a:xfrm>
          <a:prstGeom prst="rect">
            <a:avLst/>
          </a:prstGeom>
          <a:noFill/>
          <a:ln w="6350">
            <a:solidFill>
              <a:schemeClr val="accent1"/>
            </a:solidFill>
          </a:ln>
        </p:spPr>
      </p:pic>
      <p:sp>
        <p:nvSpPr>
          <p:cNvPr id="421" name="Google Shape;421;p50"/>
          <p:cNvSpPr txBox="1"/>
          <p:nvPr/>
        </p:nvSpPr>
        <p:spPr>
          <a:xfrm>
            <a:off x="6189557" y="997040"/>
            <a:ext cx="2781000" cy="3765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595959"/>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Unscanned Resources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2" name="Google Shape;422;p50"/>
          <p:cNvSpPr txBox="1"/>
          <p:nvPr/>
        </p:nvSpPr>
        <p:spPr>
          <a:xfrm>
            <a:off x="6189565" y="1395307"/>
            <a:ext cx="2781000" cy="940800"/>
          </a:xfrm>
          <a:prstGeom prst="rect">
            <a:avLst/>
          </a:prstGeom>
          <a:noFill/>
          <a:ln>
            <a:noFill/>
          </a:ln>
        </p:spPr>
        <p:txBody>
          <a:bodyPr spcFirstLastPara="1" wrap="square" lIns="92600" tIns="92600" rIns="92600" bIns="92600" anchor="t" anchorCtr="0">
            <a:noAutofit/>
          </a:bodyPr>
          <a:lstStyle/>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{{U_RES}} Unscanned Resources</a:t>
            </a:r>
            <a:br>
              <a:rPr lang="en"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Cloud Organizations, Code Repositories &amp; Subscriptions</a:t>
            </a:r>
            <a:endParaRPr sz="8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423" name="Google Shape;423;p50"/>
          <p:cNvPicPr preferRelativeResize="0"/>
          <p:nvPr/>
        </p:nvPicPr>
        <p:blipFill rotWithShape="1">
          <a:blip r:embed="rId7">
            <a:alphaModFix/>
          </a:blip>
          <a:srcRect/>
          <a:stretch/>
        </p:blipFill>
        <p:spPr>
          <a:xfrm>
            <a:off x="6194229" y="2518124"/>
            <a:ext cx="2769198" cy="1385452"/>
          </a:xfrm>
          <a:prstGeom prst="rect">
            <a:avLst/>
          </a:prstGeom>
          <a:noFill/>
          <a:ln w="6350">
            <a:solidFill>
              <a:schemeClr val="accent1"/>
            </a:solidFill>
          </a:ln>
        </p:spPr>
      </p:pic>
      <p:sp>
        <p:nvSpPr>
          <p:cNvPr id="424" name="Google Shape;424;p50"/>
          <p:cNvSpPr txBox="1"/>
          <p:nvPr/>
        </p:nvSpPr>
        <p:spPr>
          <a:xfrm>
            <a:off x="6194230" y="2538228"/>
            <a:ext cx="2767200" cy="4047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4">
                  <a:extLst>
                    <a:ext uri="{A12FA001-AC4F-418D-AE19-62706E023703}">
                      <ahyp:hlinkClr xmlns:ahyp="http://schemas.microsoft.com/office/drawing/2018/hyperlinkcolor" val="tx"/>
                    </a:ext>
                  </a:extLst>
                </a:hlinkClick>
              </a:rPr>
              <a:t>Red Agent Scans</a:t>
            </a:r>
            <a:r>
              <a:rPr lang="en"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a:t>
            </a:r>
            <a:endParaRPr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5" name="Google Shape;425;p50"/>
          <p:cNvSpPr txBox="1"/>
          <p:nvPr/>
        </p:nvSpPr>
        <p:spPr>
          <a:xfrm>
            <a:off x="6296001" y="3150231"/>
            <a:ext cx="2526300" cy="37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26" name="Google Shape;426;p50"/>
          <p:cNvSpPr txBox="1"/>
          <p:nvPr/>
        </p:nvSpPr>
        <p:spPr>
          <a:xfrm>
            <a:off x="6236436" y="2843382"/>
            <a:ext cx="2651700" cy="316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27" name="Google Shape;427;p50"/>
          <p:cNvSpPr txBox="1"/>
          <p:nvPr/>
        </p:nvSpPr>
        <p:spPr>
          <a:xfrm>
            <a:off x="6203356" y="2861350"/>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DAST Attacker: {{RA_DAST}}</a:t>
            </a:r>
            <a:endParaRPr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8" name="Google Shape;428;p50"/>
          <p:cNvSpPr txBox="1"/>
          <p:nvPr/>
        </p:nvSpPr>
        <p:spPr>
          <a:xfrm>
            <a:off x="6202885" y="3097036"/>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Web Crawler: {{RA_WC}}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29" name="Google Shape;429;p50"/>
          <p:cNvSpPr txBox="1"/>
          <p:nvPr/>
        </p:nvSpPr>
        <p:spPr>
          <a:xfrm>
            <a:off x="6202728" y="3332721"/>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Secret Impact: {{RA_SI}}</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30" name="Google Shape;430;p50"/>
          <p:cNvSpPr txBox="1"/>
          <p:nvPr/>
        </p:nvSpPr>
        <p:spPr>
          <a:xfrm>
            <a:off x="6192125" y="3519610"/>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Total Monthly Scans: {{RA_TOTS}}</a:t>
            </a:r>
            <a:endParaRPr sz="11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35"/>
        <p:cNvGrpSpPr/>
        <p:nvPr/>
      </p:nvGrpSpPr>
      <p:grpSpPr>
        <a:xfrm>
          <a:off x="0" y="0"/>
          <a:ext cx="0" cy="0"/>
          <a:chOff x="0" y="0"/>
          <a:chExt cx="0" cy="0"/>
        </a:xfrm>
      </p:grpSpPr>
      <p:sp>
        <p:nvSpPr>
          <p:cNvPr id="436" name="Google Shape;436;p51"/>
          <p:cNvSpPr txBox="1">
            <a:spLocks noGrp="1"/>
          </p:cNvSpPr>
          <p:nvPr>
            <p:ph type="title" idx="4294967295"/>
          </p:nvPr>
        </p:nvSpPr>
        <p:spPr>
          <a:xfrm>
            <a:off x="150" y="2496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Wiz System Health &amp; Scans Snapshot</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437" name="Google Shape;437;p51"/>
          <p:cNvPicPr preferRelativeResize="0"/>
          <p:nvPr/>
        </p:nvPicPr>
        <p:blipFill rotWithShape="1">
          <a:blip r:embed="rId3">
            <a:alphaModFix/>
          </a:blip>
          <a:srcRect/>
          <a:stretch/>
        </p:blipFill>
        <p:spPr>
          <a:xfrm>
            <a:off x="119827" y="933590"/>
            <a:ext cx="2755502" cy="1594700"/>
          </a:xfrm>
          <a:prstGeom prst="rect">
            <a:avLst/>
          </a:prstGeom>
          <a:noFill/>
          <a:ln w="6350">
            <a:solidFill>
              <a:schemeClr val="accent1"/>
            </a:solidFill>
          </a:ln>
        </p:spPr>
      </p:pic>
      <p:sp>
        <p:nvSpPr>
          <p:cNvPr id="438" name="Google Shape;438;p51"/>
          <p:cNvSpPr txBox="1"/>
          <p:nvPr/>
        </p:nvSpPr>
        <p:spPr>
          <a:xfrm>
            <a:off x="119827" y="1028050"/>
            <a:ext cx="2838300" cy="225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System Health Issues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39" name="Google Shape;439;p51"/>
          <p:cNvSpPr txBox="1"/>
          <p:nvPr/>
        </p:nvSpPr>
        <p:spPr>
          <a:xfrm>
            <a:off x="224233" y="1475155"/>
            <a:ext cx="2591700" cy="336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40" name="Google Shape;440;p51"/>
          <p:cNvSpPr txBox="1"/>
          <p:nvPr/>
        </p:nvSpPr>
        <p:spPr>
          <a:xfrm>
            <a:off x="163134" y="1196871"/>
            <a:ext cx="2720100" cy="2868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41" name="Google Shape;441;p51"/>
          <p:cNvSpPr txBox="1"/>
          <p:nvPr/>
        </p:nvSpPr>
        <p:spPr>
          <a:xfrm>
            <a:off x="256245" y="1350741"/>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Critical SHIs</a:t>
            </a:r>
            <a:endParaRPr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2" name="Google Shape;442;p51"/>
          <p:cNvSpPr txBox="1"/>
          <p:nvPr/>
        </p:nvSpPr>
        <p:spPr>
          <a:xfrm>
            <a:off x="1713244" y="1340109"/>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{{SHI_C}}</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3" name="Google Shape;443;p51"/>
          <p:cNvSpPr txBox="1"/>
          <p:nvPr/>
        </p:nvSpPr>
        <p:spPr>
          <a:xfrm>
            <a:off x="256245" y="1525050"/>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High SHIs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4" name="Google Shape;444;p51"/>
          <p:cNvSpPr txBox="1"/>
          <p:nvPr/>
        </p:nvSpPr>
        <p:spPr>
          <a:xfrm>
            <a:off x="1712251" y="1519655"/>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{{SHI_H}}</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5" name="Google Shape;445;p51"/>
          <p:cNvSpPr txBox="1"/>
          <p:nvPr/>
        </p:nvSpPr>
        <p:spPr>
          <a:xfrm>
            <a:off x="256528" y="1974033"/>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Resolved Critical SHIs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6" name="Google Shape;446;p51"/>
          <p:cNvSpPr txBox="1"/>
          <p:nvPr/>
        </p:nvSpPr>
        <p:spPr>
          <a:xfrm>
            <a:off x="1735851" y="1974033"/>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{{SHI_R_C}}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7" name="Google Shape;447;p51"/>
          <p:cNvSpPr txBox="1"/>
          <p:nvPr/>
        </p:nvSpPr>
        <p:spPr>
          <a:xfrm>
            <a:off x="256528" y="2153659"/>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Resolved High SHIs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8" name="Google Shape;448;p51"/>
          <p:cNvSpPr txBox="1"/>
          <p:nvPr/>
        </p:nvSpPr>
        <p:spPr>
          <a:xfrm>
            <a:off x="1735851" y="2153659"/>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{{SHI_R_H}}</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49" name="Google Shape;449;p51"/>
          <p:cNvSpPr txBox="1"/>
          <p:nvPr/>
        </p:nvSpPr>
        <p:spPr>
          <a:xfrm>
            <a:off x="244065" y="1774709"/>
            <a:ext cx="2655300" cy="2199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Resolved SHIs in Past 30 Days</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450" name="Google Shape;450;p51"/>
          <p:cNvPicPr preferRelativeResize="0"/>
          <p:nvPr/>
        </p:nvPicPr>
        <p:blipFill rotWithShape="1">
          <a:blip r:embed="rId8">
            <a:alphaModFix amt="79000"/>
          </a:blip>
          <a:srcRect/>
          <a:stretch/>
        </p:blipFill>
        <p:spPr>
          <a:xfrm>
            <a:off x="3091600" y="2638250"/>
            <a:ext cx="2755502" cy="2427451"/>
          </a:xfrm>
          <a:prstGeom prst="rect">
            <a:avLst/>
          </a:prstGeom>
          <a:noFill/>
          <a:ln w="6350">
            <a:solidFill>
              <a:schemeClr val="accent1"/>
            </a:solidFill>
          </a:ln>
        </p:spPr>
      </p:pic>
      <p:sp>
        <p:nvSpPr>
          <p:cNvPr id="451" name="Google Shape;451;p51"/>
          <p:cNvSpPr txBox="1"/>
          <p:nvPr/>
        </p:nvSpPr>
        <p:spPr>
          <a:xfrm>
            <a:off x="3091590" y="2718202"/>
            <a:ext cx="27534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Non-OS, Registry &amp; VM Image Scans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52" name="Google Shape;452;p51"/>
          <p:cNvSpPr txBox="1"/>
          <p:nvPr/>
        </p:nvSpPr>
        <p:spPr>
          <a:xfrm>
            <a:off x="3097638" y="3166433"/>
            <a:ext cx="2742900" cy="20730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Non-OS Disk Scans: {{NON_T}}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53" name="Google Shape;453;p51"/>
          <p:cNvSpPr txBox="1"/>
          <p:nvPr/>
        </p:nvSpPr>
        <p:spPr>
          <a:xfrm>
            <a:off x="3116051" y="3365306"/>
            <a:ext cx="2715979" cy="176808"/>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Failed: {{NON_F}} / Skipped: {{NON_S}}</a:t>
            </a:r>
            <a:endParaRPr sz="9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454" name="Google Shape;454;p51"/>
          <p:cNvPicPr preferRelativeResize="0"/>
          <p:nvPr/>
        </p:nvPicPr>
        <p:blipFill rotWithShape="1">
          <a:blip r:embed="rId3">
            <a:alphaModFix/>
          </a:blip>
          <a:srcRect/>
          <a:stretch/>
        </p:blipFill>
        <p:spPr>
          <a:xfrm>
            <a:off x="6074877" y="933600"/>
            <a:ext cx="2941998" cy="1594700"/>
          </a:xfrm>
          <a:prstGeom prst="rect">
            <a:avLst/>
          </a:prstGeom>
          <a:noFill/>
          <a:ln w="6350">
            <a:solidFill>
              <a:schemeClr val="accent1"/>
            </a:solidFill>
          </a:ln>
        </p:spPr>
      </p:pic>
      <p:sp>
        <p:nvSpPr>
          <p:cNvPr id="455" name="Google Shape;455;p51"/>
          <p:cNvSpPr txBox="1"/>
          <p:nvPr/>
        </p:nvSpPr>
        <p:spPr>
          <a:xfrm>
            <a:off x="6074879" y="1016199"/>
            <a:ext cx="29397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Data Security (DSPM) Scans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56" name="Google Shape;456;p51"/>
          <p:cNvSpPr txBox="1"/>
          <p:nvPr/>
        </p:nvSpPr>
        <p:spPr>
          <a:xfrm>
            <a:off x="6183001" y="1483537"/>
            <a:ext cx="26841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57" name="Google Shape;457;p51"/>
          <p:cNvSpPr txBox="1"/>
          <p:nvPr/>
        </p:nvSpPr>
        <p:spPr>
          <a:xfrm>
            <a:off x="6119719" y="1221521"/>
            <a:ext cx="2817300" cy="2700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58" name="Google Shape;458;p51"/>
          <p:cNvSpPr txBox="1"/>
          <p:nvPr/>
        </p:nvSpPr>
        <p:spPr>
          <a:xfrm>
            <a:off x="6255252" y="1350465"/>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9">
                  <a:extLst>
                    <a:ext uri="{A12FA001-AC4F-418D-AE19-62706E023703}">
                      <ahyp:hlinkClr xmlns:ahyp="http://schemas.microsoft.com/office/drawing/2018/hyperlinkcolor" val="tx"/>
                    </a:ext>
                  </a:extLst>
                </a:hlinkClick>
              </a:rPr>
              <a:t>Total</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59" name="Google Shape;459;p51"/>
          <p:cNvSpPr txBox="1"/>
          <p:nvPr/>
        </p:nvSpPr>
        <p:spPr>
          <a:xfrm>
            <a:off x="6254802" y="1603626"/>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0">
                  <a:extLst>
                    <a:ext uri="{A12FA001-AC4F-418D-AE19-62706E023703}">
                      <ahyp:hlinkClr xmlns:ahyp="http://schemas.microsoft.com/office/drawing/2018/hyperlinkcolor" val="tx"/>
                    </a:ext>
                  </a:extLst>
                </a:hlinkClick>
              </a:rPr>
              <a:t>Failed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{{DS_F}}</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0" name="Google Shape;460;p51"/>
          <p:cNvSpPr txBox="1"/>
          <p:nvPr/>
        </p:nvSpPr>
        <p:spPr>
          <a:xfrm>
            <a:off x="6088076" y="2109948"/>
            <a:ext cx="29283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Medium"/>
              </a:rPr>
              <a:t>Data Scan Coverage:</a:t>
            </a: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{{DS_P}}</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1" name="Google Shape;461;p51"/>
          <p:cNvSpPr txBox="1"/>
          <p:nvPr/>
        </p:nvSpPr>
        <p:spPr>
          <a:xfrm>
            <a:off x="6248593" y="1856787"/>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1">
                  <a:extLst>
                    <a:ext uri="{A12FA001-AC4F-418D-AE19-62706E023703}">
                      <ahyp:hlinkClr xmlns:ahyp="http://schemas.microsoft.com/office/drawing/2018/hyperlinkcolor" val="tx"/>
                    </a:ext>
                  </a:extLst>
                </a:hlinkClick>
              </a:rPr>
              <a:t>Skipped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{{DS_SK}}</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462" name="Google Shape;462;p51"/>
          <p:cNvPicPr preferRelativeResize="0"/>
          <p:nvPr/>
        </p:nvPicPr>
        <p:blipFill rotWithShape="1">
          <a:blip r:embed="rId3">
            <a:alphaModFix/>
          </a:blip>
          <a:srcRect/>
          <a:stretch/>
        </p:blipFill>
        <p:spPr>
          <a:xfrm>
            <a:off x="6071616" y="2962656"/>
            <a:ext cx="2939187" cy="2033900"/>
          </a:xfrm>
          <a:prstGeom prst="rect">
            <a:avLst/>
          </a:prstGeom>
          <a:noFill/>
          <a:ln w="6350">
            <a:solidFill>
              <a:schemeClr val="accent1"/>
            </a:solidFill>
          </a:ln>
        </p:spPr>
      </p:pic>
      <p:sp>
        <p:nvSpPr>
          <p:cNvPr id="463" name="Google Shape;463;p51"/>
          <p:cNvSpPr txBox="1"/>
          <p:nvPr/>
        </p:nvSpPr>
        <p:spPr>
          <a:xfrm>
            <a:off x="6074177" y="3001318"/>
            <a:ext cx="2937000" cy="5361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Data Security Scans</a:t>
            </a:r>
            <a:b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Counts by Resource Type</a:t>
            </a: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64" name="Google Shape;464;p51"/>
          <p:cNvSpPr txBox="1"/>
          <p:nvPr/>
        </p:nvSpPr>
        <p:spPr>
          <a:xfrm>
            <a:off x="6182195" y="3512872"/>
            <a:ext cx="26814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65" name="Google Shape;465;p51"/>
          <p:cNvSpPr txBox="1"/>
          <p:nvPr/>
        </p:nvSpPr>
        <p:spPr>
          <a:xfrm>
            <a:off x="6080958" y="3553677"/>
            <a:ext cx="2925600" cy="20730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2">
                  <a:extLst>
                    <a:ext uri="{A12FA001-AC4F-418D-AE19-62706E023703}">
                      <ahyp:hlinkClr xmlns:ahyp="http://schemas.microsoft.com/office/drawing/2018/hyperlinkcolor" val="tx"/>
                    </a:ext>
                  </a:extLst>
                </a:hlinkClick>
              </a:rPr>
              <a:t>Buckets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{{DS_B}}</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6" name="Google Shape;466;p51"/>
          <p:cNvSpPr txBox="1"/>
          <p:nvPr/>
        </p:nvSpPr>
        <p:spPr>
          <a:xfrm>
            <a:off x="6076847" y="3787606"/>
            <a:ext cx="29394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3">
                  <a:extLst>
                    <a:ext uri="{A12FA001-AC4F-418D-AE19-62706E023703}">
                      <ahyp:hlinkClr xmlns:ahyp="http://schemas.microsoft.com/office/drawing/2018/hyperlinkcolor" val="tx"/>
                    </a:ext>
                  </a:extLst>
                </a:hlinkClick>
              </a:rPr>
              <a:t>PaaS Databases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{{DS_PD}}</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7" name="Google Shape;467;p51"/>
          <p:cNvSpPr txBox="1"/>
          <p:nvPr/>
        </p:nvSpPr>
        <p:spPr>
          <a:xfrm>
            <a:off x="6087369" y="4266098"/>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4">
                  <a:extLst>
                    <a:ext uri="{A12FA001-AC4F-418D-AE19-62706E023703}">
                      <ahyp:hlinkClr xmlns:ahyp="http://schemas.microsoft.com/office/drawing/2018/hyperlinkcolor" val="tx"/>
                    </a:ext>
                  </a:extLst>
                </a:hlinkClick>
              </a:rPr>
              <a:t>Virtual Drives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{{DS_VD}}</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8" name="Google Shape;468;p51"/>
          <p:cNvSpPr txBox="1"/>
          <p:nvPr/>
        </p:nvSpPr>
        <p:spPr>
          <a:xfrm>
            <a:off x="6084243" y="4026852"/>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5">
                  <a:extLst>
                    <a:ext uri="{A12FA001-AC4F-418D-AE19-62706E023703}">
                      <ahyp:hlinkClr xmlns:ahyp="http://schemas.microsoft.com/office/drawing/2018/hyperlinkcolor" val="tx"/>
                    </a:ext>
                  </a:extLst>
                </a:hlinkClick>
              </a:rPr>
              <a:t>Data Warehouses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{{DS_DW}}</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69" name="Google Shape;469;p51"/>
          <p:cNvSpPr txBox="1"/>
          <p:nvPr/>
        </p:nvSpPr>
        <p:spPr>
          <a:xfrm>
            <a:off x="6085707" y="4505344"/>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6">
                  <a:extLst>
                    <a:ext uri="{A12FA001-AC4F-418D-AE19-62706E023703}">
                      <ahyp:hlinkClr xmlns:ahyp="http://schemas.microsoft.com/office/drawing/2018/hyperlinkcolor" val="tx"/>
                    </a:ext>
                  </a:extLst>
                </a:hlinkClick>
              </a:rPr>
              <a:t>AI Datastores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{{DS_AI}}</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0" name="Google Shape;470;p51"/>
          <p:cNvSpPr txBox="1"/>
          <p:nvPr/>
        </p:nvSpPr>
        <p:spPr>
          <a:xfrm>
            <a:off x="6085192" y="4744589"/>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7">
                  <a:extLst>
                    <a:ext uri="{A12FA001-AC4F-418D-AE19-62706E023703}">
                      <ahyp:hlinkClr xmlns:ahyp="http://schemas.microsoft.com/office/drawing/2018/hyperlinkcolor" val="tx"/>
                    </a:ext>
                  </a:extLst>
                </a:hlinkClick>
              </a:rPr>
              <a:t>File System Services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{{DS_FSS}}</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471" name="Google Shape;471;p51"/>
          <p:cNvPicPr preferRelativeResize="0"/>
          <p:nvPr/>
        </p:nvPicPr>
        <p:blipFill rotWithShape="1">
          <a:blip r:embed="rId3">
            <a:alphaModFix/>
          </a:blip>
          <a:srcRect/>
          <a:stretch/>
        </p:blipFill>
        <p:spPr>
          <a:xfrm>
            <a:off x="3080275" y="933600"/>
            <a:ext cx="2789652" cy="1542625"/>
          </a:xfrm>
          <a:prstGeom prst="rect">
            <a:avLst/>
          </a:prstGeom>
          <a:noFill/>
          <a:ln w="6350">
            <a:solidFill>
              <a:schemeClr val="accent1"/>
            </a:solidFill>
          </a:ln>
        </p:spPr>
      </p:pic>
      <p:sp>
        <p:nvSpPr>
          <p:cNvPr id="472" name="Google Shape;472;p51"/>
          <p:cNvSpPr txBox="1"/>
          <p:nvPr/>
        </p:nvSpPr>
        <p:spPr>
          <a:xfrm>
            <a:off x="3080277" y="1001134"/>
            <a:ext cx="27822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Workload Scans</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73" name="Google Shape;473;p51"/>
          <p:cNvSpPr txBox="1"/>
          <p:nvPr/>
        </p:nvSpPr>
        <p:spPr>
          <a:xfrm>
            <a:off x="3158346" y="1578966"/>
            <a:ext cx="25404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474" name="Google Shape;474;p51"/>
          <p:cNvSpPr txBox="1"/>
          <p:nvPr/>
        </p:nvSpPr>
        <p:spPr>
          <a:xfrm>
            <a:off x="3226732" y="1361234"/>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8">
                  <a:extLst>
                    <a:ext uri="{A12FA001-AC4F-418D-AE19-62706E023703}">
                      <ahyp:hlinkClr xmlns:ahyp="http://schemas.microsoft.com/office/drawing/2018/hyperlinkcolor" val="tx"/>
                    </a:ext>
                  </a:extLst>
                </a:hlinkClick>
              </a:rPr>
              <a:t>Total</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5" name="Google Shape;475;p51"/>
          <p:cNvSpPr txBox="1"/>
          <p:nvPr/>
        </p:nvSpPr>
        <p:spPr>
          <a:xfrm>
            <a:off x="3226306" y="1591491"/>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9">
                  <a:extLst>
                    <a:ext uri="{A12FA001-AC4F-418D-AE19-62706E023703}">
                      <ahyp:hlinkClr xmlns:ahyp="http://schemas.microsoft.com/office/drawing/2018/hyperlinkcolor" val="tx"/>
                    </a:ext>
                  </a:extLst>
                </a:hlinkClick>
              </a:rPr>
              <a:t>Failed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{{WS_F}}</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6" name="Google Shape;476;p51"/>
          <p:cNvSpPr txBox="1"/>
          <p:nvPr/>
        </p:nvSpPr>
        <p:spPr>
          <a:xfrm>
            <a:off x="3231506" y="2052005"/>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18">
                  <a:extLst>
                    <a:ext uri="{A12FA001-AC4F-418D-AE19-62706E023703}">
                      <ahyp:hlinkClr xmlns:ahyp="http://schemas.microsoft.com/office/drawing/2018/hyperlinkcolor" val="tx"/>
                    </a:ext>
                  </a:extLst>
                </a:hlinkClick>
              </a:rPr>
              <a:t>Scan Coverage</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{{WS_P}}</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7" name="Google Shape;477;p51"/>
          <p:cNvSpPr txBox="1"/>
          <p:nvPr/>
        </p:nvSpPr>
        <p:spPr>
          <a:xfrm>
            <a:off x="3231499" y="1821748"/>
            <a:ext cx="2502000"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0">
                  <a:extLst>
                    <a:ext uri="{A12FA001-AC4F-418D-AE19-62706E023703}">
                      <ahyp:hlinkClr xmlns:ahyp="http://schemas.microsoft.com/office/drawing/2018/hyperlinkcolor" val="tx"/>
                    </a:ext>
                  </a:extLst>
                </a:hlinkClick>
              </a:rPr>
              <a:t>Skipped</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{{WS_SK}}</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78" name="Google Shape;478;p51"/>
          <p:cNvSpPr/>
          <p:nvPr/>
        </p:nvSpPr>
        <p:spPr>
          <a:xfrm>
            <a:off x="1335452" y="2575004"/>
            <a:ext cx="269400" cy="345600"/>
          </a:xfrm>
          <a:prstGeom prst="downArrow">
            <a:avLst>
              <a:gd name="adj1" fmla="val 50000"/>
              <a:gd name="adj2" fmla="val 50000"/>
            </a:avLst>
          </a:prstGeom>
          <a:solidFill>
            <a:srgbClr val="014FF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pic>
        <p:nvPicPr>
          <p:cNvPr id="479" name="Google Shape;479;p51"/>
          <p:cNvPicPr preferRelativeResize="0"/>
          <p:nvPr/>
        </p:nvPicPr>
        <p:blipFill rotWithShape="1">
          <a:blip r:embed="rId3">
            <a:alphaModFix/>
          </a:blip>
          <a:srcRect/>
          <a:stretch/>
        </p:blipFill>
        <p:spPr>
          <a:xfrm>
            <a:off x="119827" y="2962925"/>
            <a:ext cx="2755502" cy="2126475"/>
          </a:xfrm>
          <a:prstGeom prst="rect">
            <a:avLst/>
          </a:prstGeom>
          <a:noFill/>
          <a:ln w="6350">
            <a:solidFill>
              <a:schemeClr val="accent1"/>
            </a:solidFill>
          </a:ln>
        </p:spPr>
      </p:pic>
      <p:sp>
        <p:nvSpPr>
          <p:cNvPr id="480" name="Google Shape;480;p51"/>
          <p:cNvSpPr txBox="1"/>
          <p:nvPr/>
        </p:nvSpPr>
        <p:spPr>
          <a:xfrm>
            <a:off x="119827" y="2984749"/>
            <a:ext cx="2753400" cy="5361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System Health Issues</a:t>
            </a:r>
            <a:b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Counts by Resource Type</a:t>
            </a:r>
            <a:r>
              <a:rPr lang="en"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481" name="Google Shape;481;p51"/>
          <p:cNvSpPr txBox="1"/>
          <p:nvPr/>
        </p:nvSpPr>
        <p:spPr>
          <a:xfrm>
            <a:off x="157649" y="3766713"/>
            <a:ext cx="2690181" cy="188771"/>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1">
                  <a:extLst>
                    <a:ext uri="{A12FA001-AC4F-418D-AE19-62706E023703}">
                      <ahyp:hlinkClr xmlns:ahyp="http://schemas.microsoft.com/office/drawing/2018/hyperlinkcolor" val="tx"/>
                    </a:ext>
                  </a:extLst>
                </a:hlinkClick>
              </a:rPr>
              <a:t>Outposts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{{SHI_O}}</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2" name="Google Shape;482;p51"/>
          <p:cNvSpPr txBox="1"/>
          <p:nvPr/>
        </p:nvSpPr>
        <p:spPr>
          <a:xfrm>
            <a:off x="142826" y="4203392"/>
            <a:ext cx="2695757" cy="2235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2">
                  <a:extLst>
                    <a:ext uri="{A12FA001-AC4F-418D-AE19-62706E023703}">
                      <ahyp:hlinkClr xmlns:ahyp="http://schemas.microsoft.com/office/drawing/2018/hyperlinkcolor" val="tx"/>
                    </a:ext>
                  </a:extLst>
                </a:hlinkClick>
              </a:rPr>
              <a:t>Registry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{{SHI_RC}}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3" name="Google Shape;483;p51"/>
          <p:cNvSpPr txBox="1"/>
          <p:nvPr/>
        </p:nvSpPr>
        <p:spPr>
          <a:xfrm>
            <a:off x="147275" y="3985053"/>
            <a:ext cx="2696624" cy="19981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3">
                  <a:extLst>
                    <a:ext uri="{A12FA001-AC4F-418D-AE19-62706E023703}">
                      <ahyp:hlinkClr xmlns:ahyp="http://schemas.microsoft.com/office/drawing/2018/hyperlinkcolor" val="tx"/>
                    </a:ext>
                  </a:extLst>
                </a:hlinkClick>
              </a:rPr>
              <a:t>Integrations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{{SHI_I}}</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4" name="Google Shape;484;p51"/>
          <p:cNvSpPr txBox="1"/>
          <p:nvPr/>
        </p:nvSpPr>
        <p:spPr>
          <a:xfrm>
            <a:off x="157216" y="4421732"/>
            <a:ext cx="2685297" cy="202588"/>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4">
                  <a:extLst>
                    <a:ext uri="{A12FA001-AC4F-418D-AE19-62706E023703}">
                      <ahyp:hlinkClr xmlns:ahyp="http://schemas.microsoft.com/office/drawing/2018/hyperlinkcolor" val="tx"/>
                    </a:ext>
                  </a:extLst>
                </a:hlinkClick>
              </a:rPr>
              <a:t>K8S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{{SHI_KC}}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5" name="Google Shape;485;p51"/>
          <p:cNvSpPr txBox="1"/>
          <p:nvPr/>
        </p:nvSpPr>
        <p:spPr>
          <a:xfrm>
            <a:off x="140785" y="4640071"/>
            <a:ext cx="2695757" cy="21834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5">
                  <a:extLst>
                    <a:ext uri="{A12FA001-AC4F-418D-AE19-62706E023703}">
                      <ahyp:hlinkClr xmlns:ahyp="http://schemas.microsoft.com/office/drawing/2018/hyperlinkcolor" val="tx"/>
                    </a:ext>
                  </a:extLst>
                </a:hlinkClick>
              </a:rPr>
              <a:t>VCS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{{SHI_VCS}}</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6" name="Google Shape;486;p51"/>
          <p:cNvSpPr txBox="1"/>
          <p:nvPr/>
        </p:nvSpPr>
        <p:spPr>
          <a:xfrm>
            <a:off x="154650" y="4858411"/>
            <a:ext cx="2682547" cy="19465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6">
                  <a:extLst>
                    <a:ext uri="{A12FA001-AC4F-418D-AE19-62706E023703}">
                      <ahyp:hlinkClr xmlns:ahyp="http://schemas.microsoft.com/office/drawing/2018/hyperlinkcolor" val="tx"/>
                    </a:ext>
                  </a:extLst>
                </a:hlinkClick>
              </a:rPr>
              <a:t>Brokers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{{SHI_B}}</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7" name="Google Shape;487;p51"/>
          <p:cNvSpPr txBox="1"/>
          <p:nvPr/>
        </p:nvSpPr>
        <p:spPr>
          <a:xfrm>
            <a:off x="136809" y="3548374"/>
            <a:ext cx="2725374" cy="19465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Medium"/>
                <a:hlinkClick r:id="rId27">
                  <a:extLst>
                    <a:ext uri="{A12FA001-AC4F-418D-AE19-62706E023703}">
                      <ahyp:hlinkClr xmlns:ahyp="http://schemas.microsoft.com/office/drawing/2018/hyperlinkcolor" val="tx"/>
                    </a:ext>
                  </a:extLst>
                </a:hlinkClick>
              </a:rPr>
              <a:t>Cloud Connectors</a:t>
            </a: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 {{SHI_CC}}</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88" name="Google Shape;488;p51"/>
          <p:cNvSpPr/>
          <p:nvPr/>
        </p:nvSpPr>
        <p:spPr>
          <a:xfrm>
            <a:off x="7428227" y="2578608"/>
            <a:ext cx="269400" cy="345600"/>
          </a:xfrm>
          <a:prstGeom prst="downArrow">
            <a:avLst>
              <a:gd name="adj1" fmla="val 50000"/>
              <a:gd name="adj2" fmla="val 50000"/>
            </a:avLst>
          </a:prstGeom>
          <a:solidFill>
            <a:srgbClr val="014FF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489" name="Google Shape;489;p51"/>
          <p:cNvSpPr txBox="1"/>
          <p:nvPr/>
        </p:nvSpPr>
        <p:spPr>
          <a:xfrm>
            <a:off x="3125493" y="3816773"/>
            <a:ext cx="2684101" cy="192498"/>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Container Image Scans: {{RCI_T}}</a:t>
            </a:r>
            <a:endParaRPr sz="100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0" name="Google Shape;490;p51"/>
          <p:cNvSpPr txBox="1"/>
          <p:nvPr/>
        </p:nvSpPr>
        <p:spPr>
          <a:xfrm>
            <a:off x="3121350" y="3994034"/>
            <a:ext cx="26841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Failed: {{RCI_F}} / Skipped: {{RCI_S}}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1" name="Google Shape;491;p51"/>
          <p:cNvSpPr txBox="1"/>
          <p:nvPr/>
        </p:nvSpPr>
        <p:spPr>
          <a:xfrm>
            <a:off x="3115085" y="4449820"/>
            <a:ext cx="2715979" cy="201611"/>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VM Image Scans: {{VMI_T}}</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2" name="Google Shape;492;p51"/>
          <p:cNvSpPr txBox="1"/>
          <p:nvPr/>
        </p:nvSpPr>
        <p:spPr>
          <a:xfrm>
            <a:off x="3132188" y="4624320"/>
            <a:ext cx="26841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Failed: {{VMI_F}} / Skipped: {{VMI_S}}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493" name="Google Shape;493;p51"/>
          <p:cNvSpPr txBox="1"/>
          <p:nvPr/>
        </p:nvSpPr>
        <p:spPr>
          <a:xfrm>
            <a:off x="3121555" y="3532304"/>
            <a:ext cx="2701695" cy="207299"/>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Non-OS Disk Scan Coverage: {{NON_C}}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94" name="Google Shape;494;p51"/>
          <p:cNvSpPr txBox="1"/>
          <p:nvPr/>
        </p:nvSpPr>
        <p:spPr>
          <a:xfrm>
            <a:off x="3116240" y="4171296"/>
            <a:ext cx="2715978" cy="201611"/>
          </a:xfrm>
          <a:prstGeom prst="rect">
            <a:avLst/>
          </a:prstGeom>
          <a:noFill/>
          <a:ln>
            <a:noFill/>
          </a:ln>
        </p:spPr>
        <p:txBody>
          <a:bodyPr spcFirstLastPara="1" wrap="square" lIns="0" tIns="91250" rIns="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Container Image Scan Coverage: {{RCI_C}}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495" name="Google Shape;495;p51"/>
          <p:cNvSpPr txBox="1"/>
          <p:nvPr/>
        </p:nvSpPr>
        <p:spPr>
          <a:xfrm>
            <a:off x="3114023" y="4798820"/>
            <a:ext cx="27429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rPr>
              <a:t>VM Image Scan Coverage: {{VMI_C}}</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52"/>
          <p:cNvSpPr txBox="1">
            <a:spLocks noGrp="1"/>
          </p:cNvSpPr>
          <p:nvPr>
            <p:ph type="title" idx="4294967295"/>
          </p:nvPr>
        </p:nvSpPr>
        <p:spPr>
          <a:xfrm>
            <a:off x="150" y="2661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Democratization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502" name="Google Shape;502;p52"/>
          <p:cNvSpPr/>
          <p:nvPr/>
        </p:nvSpPr>
        <p:spPr>
          <a:xfrm>
            <a:off x="145225" y="1212546"/>
            <a:ext cx="2401200" cy="953400"/>
          </a:xfrm>
          <a:prstGeom prst="roundRect">
            <a:avLst>
              <a:gd name="adj" fmla="val 16667"/>
            </a:avLst>
          </a:prstGeom>
          <a:noFill/>
          <a:ln w="9650" cap="sq" cmpd="sng">
            <a:solidFill>
              <a:schemeClr val="accent1"/>
            </a:solidFill>
            <a:prstDash val="solid"/>
            <a:round/>
            <a:headEnd type="none" w="sm" len="sm"/>
            <a:tailEnd type="none" w="sm" len="sm"/>
          </a:ln>
        </p:spPr>
        <p:txBody>
          <a:bodyPr spcFirstLastPara="1" wrap="square" lIns="92600" tIns="92600" rIns="92600" bIns="926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3" name="Google Shape;503;p52"/>
          <p:cNvSpPr txBox="1"/>
          <p:nvPr/>
        </p:nvSpPr>
        <p:spPr>
          <a:xfrm>
            <a:off x="145225" y="914076"/>
            <a:ext cx="2401200" cy="303900"/>
          </a:xfrm>
          <a:prstGeom prst="rect">
            <a:avLst/>
          </a:prstGeom>
          <a:noFill/>
          <a:ln>
            <a:noFill/>
          </a:ln>
        </p:spPr>
        <p:txBody>
          <a:bodyPr spcFirstLastPara="1" wrap="square" lIns="92600" tIns="92600" rIns="92600" bIns="92600"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Users &amp; Engagement</a:t>
            </a:r>
            <a:endParaRPr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04" name="Google Shape;504;p52"/>
          <p:cNvSpPr txBox="1"/>
          <p:nvPr/>
        </p:nvSpPr>
        <p:spPr>
          <a:xfrm>
            <a:off x="178750" y="1248140"/>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3">
                  <a:extLst>
                    <a:ext uri="{A12FA001-AC4F-418D-AE19-62706E023703}">
                      <ahyp:hlinkClr xmlns:ahyp="http://schemas.microsoft.com/office/drawing/2018/hyperlinkcolor" val="tx"/>
                    </a:ext>
                  </a:extLst>
                </a:hlinkClick>
              </a:rPr>
              <a:t>Total Users</a:t>
            </a:r>
            <a:endParaRPr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5" name="Google Shape;505;p52"/>
          <p:cNvSpPr txBox="1"/>
          <p:nvPr/>
        </p:nvSpPr>
        <p:spPr>
          <a:xfrm>
            <a:off x="1496720" y="1248135"/>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{{U_TOT}}</a:t>
            </a:r>
            <a:endParaRPr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6" name="Google Shape;506;p52"/>
          <p:cNvSpPr txBox="1"/>
          <p:nvPr/>
        </p:nvSpPr>
        <p:spPr>
          <a:xfrm>
            <a:off x="178750" y="1430476"/>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4">
                  <a:extLst>
                    <a:ext uri="{A12FA001-AC4F-418D-AE19-62706E023703}">
                      <ahyp:hlinkClr xmlns:ahyp="http://schemas.microsoft.com/office/drawing/2018/hyperlinkcolor" val="tx"/>
                    </a:ext>
                  </a:extLst>
                </a:hlinkClick>
              </a:rPr>
              <a:t>Active (Last 30 Days)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7" name="Google Shape;507;p52"/>
          <p:cNvSpPr txBox="1"/>
          <p:nvPr/>
        </p:nvSpPr>
        <p:spPr>
          <a:xfrm>
            <a:off x="1496720" y="1430472"/>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{{U_ACT}}</a:t>
            </a:r>
            <a:endParaRPr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8" name="Google Shape;508;p52"/>
          <p:cNvSpPr txBox="1"/>
          <p:nvPr/>
        </p:nvSpPr>
        <p:spPr>
          <a:xfrm>
            <a:off x="178750" y="1612811"/>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rPr>
              <a:t>Engagement Rate</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09" name="Google Shape;509;p52"/>
          <p:cNvSpPr txBox="1"/>
          <p:nvPr/>
        </p:nvSpPr>
        <p:spPr>
          <a:xfrm>
            <a:off x="1496720" y="1612810"/>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{{U_ENG}}</a:t>
            </a:r>
            <a:endParaRPr sz="100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0" name="Google Shape;510;p52"/>
          <p:cNvSpPr/>
          <p:nvPr/>
        </p:nvSpPr>
        <p:spPr>
          <a:xfrm>
            <a:off x="2714774" y="1111825"/>
            <a:ext cx="3290529" cy="220395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19"/>
              <a:buFont typeface="Arial"/>
              <a:buNone/>
            </a:pPr>
            <a:endParaRPr sz="1319"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1" name="Google Shape;511;p52"/>
          <p:cNvSpPr txBox="1"/>
          <p:nvPr/>
        </p:nvSpPr>
        <p:spPr>
          <a:xfrm>
            <a:off x="2891014" y="1529715"/>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{{IA_2}}</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2" name="Google Shape;512;p52"/>
          <p:cNvSpPr txBox="1"/>
          <p:nvPr/>
        </p:nvSpPr>
        <p:spPr>
          <a:xfrm>
            <a:off x="2891014" y="1705039"/>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{{IA_3}}</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3" name="Google Shape;513;p52"/>
          <p:cNvSpPr txBox="1"/>
          <p:nvPr/>
        </p:nvSpPr>
        <p:spPr>
          <a:xfrm>
            <a:off x="2891012" y="1880390"/>
            <a:ext cx="2142803" cy="161630"/>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{{IA_4}}</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4" name="Google Shape;514;p52"/>
          <p:cNvSpPr txBox="1"/>
          <p:nvPr/>
        </p:nvSpPr>
        <p:spPr>
          <a:xfrm>
            <a:off x="2891014" y="2055722"/>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{{IA_5}}</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5" name="Google Shape;515;p52"/>
          <p:cNvSpPr txBox="1"/>
          <p:nvPr/>
        </p:nvSpPr>
        <p:spPr>
          <a:xfrm>
            <a:off x="2891014" y="2231057"/>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{{IA_6}}</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6" name="Google Shape;516;p52"/>
          <p:cNvSpPr txBox="1"/>
          <p:nvPr/>
        </p:nvSpPr>
        <p:spPr>
          <a:xfrm>
            <a:off x="2891014" y="2406393"/>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{{IA_7}}</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7" name="Google Shape;517;p52"/>
          <p:cNvSpPr txBox="1"/>
          <p:nvPr/>
        </p:nvSpPr>
        <p:spPr>
          <a:xfrm>
            <a:off x="2891014" y="2581729"/>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{{IA_8}}</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8" name="Google Shape;518;p52"/>
          <p:cNvSpPr txBox="1"/>
          <p:nvPr/>
        </p:nvSpPr>
        <p:spPr>
          <a:xfrm>
            <a:off x="2891014" y="2757064"/>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{{IA_9}}</a:t>
            </a:r>
            <a:endParaRPr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19" name="Google Shape;519;p52"/>
          <p:cNvSpPr txBox="1"/>
          <p:nvPr/>
        </p:nvSpPr>
        <p:spPr>
          <a:xfrm>
            <a:off x="2885478" y="2932400"/>
            <a:ext cx="2142803" cy="145228"/>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{{IA_10}}</a:t>
            </a:r>
            <a:endParaRPr sz="848"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0" name="Google Shape;520;p52"/>
          <p:cNvSpPr txBox="1"/>
          <p:nvPr/>
        </p:nvSpPr>
        <p:spPr>
          <a:xfrm>
            <a:off x="2891012" y="1352375"/>
            <a:ext cx="2142803" cy="147315"/>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{{IA_1}}</a:t>
            </a:r>
            <a:endParaRPr sz="848"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1" name="Google Shape;521;p52"/>
          <p:cNvSpPr txBox="1"/>
          <p:nvPr/>
        </p:nvSpPr>
        <p:spPr>
          <a:xfrm>
            <a:off x="4962307" y="13435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{{IR_1}}</a:t>
            </a:r>
            <a:endParaRPr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2" name="Google Shape;522;p52"/>
          <p:cNvSpPr txBox="1"/>
          <p:nvPr/>
        </p:nvSpPr>
        <p:spPr>
          <a:xfrm>
            <a:off x="4962307" y="1519058"/>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{{IR_2}}</a:t>
            </a:r>
            <a:endParaRPr sz="848"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3" name="Google Shape;523;p52"/>
          <p:cNvSpPr txBox="1"/>
          <p:nvPr/>
        </p:nvSpPr>
        <p:spPr>
          <a:xfrm>
            <a:off x="4962307" y="16945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{{IR_3}}</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4" name="Google Shape;524;p52"/>
          <p:cNvSpPr txBox="1"/>
          <p:nvPr/>
        </p:nvSpPr>
        <p:spPr>
          <a:xfrm>
            <a:off x="4962307" y="18701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{{IR_4}}</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5" name="Google Shape;525;p52"/>
          <p:cNvSpPr txBox="1"/>
          <p:nvPr/>
        </p:nvSpPr>
        <p:spPr>
          <a:xfrm>
            <a:off x="4962307" y="2045659"/>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{{IR_5}}</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6" name="Google Shape;526;p52"/>
          <p:cNvSpPr txBox="1"/>
          <p:nvPr/>
        </p:nvSpPr>
        <p:spPr>
          <a:xfrm>
            <a:off x="4962307" y="22211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{{IR_6}}</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7" name="Google Shape;527;p52"/>
          <p:cNvSpPr txBox="1"/>
          <p:nvPr/>
        </p:nvSpPr>
        <p:spPr>
          <a:xfrm>
            <a:off x="4962307" y="23967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{{IR_7}}</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8" name="Google Shape;528;p52"/>
          <p:cNvSpPr txBox="1"/>
          <p:nvPr/>
        </p:nvSpPr>
        <p:spPr>
          <a:xfrm>
            <a:off x="4962307" y="2572259"/>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{{IR_8}}</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29" name="Google Shape;529;p52"/>
          <p:cNvSpPr txBox="1"/>
          <p:nvPr/>
        </p:nvSpPr>
        <p:spPr>
          <a:xfrm>
            <a:off x="4962307" y="27477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{{IR_9}}</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0" name="Google Shape;530;p52"/>
          <p:cNvSpPr txBox="1"/>
          <p:nvPr/>
        </p:nvSpPr>
        <p:spPr>
          <a:xfrm>
            <a:off x="4972718" y="2923326"/>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{{IR_10}}</a:t>
            </a:r>
            <a:endParaRPr sz="848"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1" name="Google Shape;531;p52"/>
          <p:cNvSpPr txBox="1"/>
          <p:nvPr/>
        </p:nvSpPr>
        <p:spPr>
          <a:xfrm>
            <a:off x="2714775" y="792813"/>
            <a:ext cx="3290528" cy="301800"/>
          </a:xfrm>
          <a:prstGeom prst="rect">
            <a:avLst/>
          </a:prstGeom>
          <a:noFill/>
          <a:ln>
            <a:noFill/>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Active Integrations</a:t>
            </a:r>
            <a:r>
              <a:rPr lang="en" sz="13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dirty="0">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Medium"/>
                <a:hlinkClick r:id="rId6">
                  <a:extLst>
                    <a:ext uri="{A12FA001-AC4F-418D-AE19-62706E023703}">
                      <ahyp:hlinkClr xmlns:ahyp="http://schemas.microsoft.com/office/drawing/2018/hyperlinkcolor" val="tx"/>
                    </a:ext>
                  </a:extLst>
                </a:hlinkClick>
              </a:rPr>
              <a:t>↗</a:t>
            </a:r>
            <a:endParaRPr sz="13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32" name="Google Shape;532;p52"/>
          <p:cNvSpPr txBox="1"/>
          <p:nvPr/>
        </p:nvSpPr>
        <p:spPr>
          <a:xfrm>
            <a:off x="2714750" y="1108842"/>
            <a:ext cx="3159552" cy="240862"/>
          </a:xfrm>
          <a:prstGeom prst="rect">
            <a:avLst/>
          </a:prstGeom>
          <a:noFill/>
          <a:ln>
            <a:noFill/>
          </a:ln>
        </p:spPr>
        <p:txBody>
          <a:bodyPr spcFirstLastPara="1" wrap="square" lIns="87225" tIns="87225" rIns="87225" bIns="87225" anchor="t" anchorCtr="0">
            <a:noAutofit/>
          </a:bodyPr>
          <a:lstStyle/>
          <a:p>
            <a:pPr marL="0" marR="0" lvl="0" indent="0" algn="ctr" rtl="0">
              <a:spcBef>
                <a:spcPts val="0"/>
              </a:spcBef>
              <a:spcAft>
                <a:spcPts val="0"/>
              </a:spcAft>
              <a:buClr>
                <a:srgbClr val="000000"/>
              </a:buClr>
              <a:buSzPts val="1136"/>
              <a:buFont typeface="Arial"/>
              <a:buNone/>
            </a:pPr>
            <a:r>
              <a:rPr lang="en" sz="1136"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Integration                                               Last Seen</a:t>
            </a:r>
            <a:endParaRPr sz="1136"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533" name="Google Shape;533;p52"/>
          <p:cNvSpPr/>
          <p:nvPr/>
        </p:nvSpPr>
        <p:spPr>
          <a:xfrm>
            <a:off x="145250" y="2537551"/>
            <a:ext cx="2401200" cy="115920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3375" tIns="83375" rIns="83375" bIns="83375" anchor="ctr" anchorCtr="0">
            <a:noAutofit/>
          </a:bodyPr>
          <a:lstStyle/>
          <a:p>
            <a:pPr marL="0" marR="0" lvl="0" indent="0" algn="ctr" rtl="0">
              <a:lnSpc>
                <a:spcPct val="100000"/>
              </a:lnSpc>
              <a:spcBef>
                <a:spcPts val="0"/>
              </a:spcBef>
              <a:spcAft>
                <a:spcPts val="0"/>
              </a:spcAft>
              <a:buClr>
                <a:srgbClr val="000000"/>
              </a:buClr>
              <a:buSzPts val="1261"/>
              <a:buFont typeface="Arial"/>
              <a:buNone/>
            </a:pPr>
            <a:endParaRPr sz="126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4" name="Google Shape;534;p52"/>
          <p:cNvSpPr txBox="1"/>
          <p:nvPr/>
        </p:nvSpPr>
        <p:spPr>
          <a:xfrm>
            <a:off x="178755" y="3027738"/>
            <a:ext cx="1609200" cy="1554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dirty="0">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7"/>
              </a:rPr>
              <a:t>HBI</a:t>
            </a:r>
            <a:r>
              <a:rPr lang="en"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 (High Business Impact)</a:t>
            </a:r>
            <a:endParaRPr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5" name="Google Shape;535;p52"/>
          <p:cNvSpPr txBox="1"/>
          <p:nvPr/>
        </p:nvSpPr>
        <p:spPr>
          <a:xfrm>
            <a:off x="1499205" y="3036972"/>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{{P_HBI}}</a:t>
            </a:r>
            <a:endParaRPr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6" name="Google Shape;536;p52"/>
          <p:cNvSpPr txBox="1"/>
          <p:nvPr/>
        </p:nvSpPr>
        <p:spPr>
          <a:xfrm>
            <a:off x="178763" y="3191899"/>
            <a:ext cx="1650000" cy="1641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dirty="0">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8"/>
              </a:rPr>
              <a:t>MBI</a:t>
            </a:r>
            <a:r>
              <a:rPr lang="en"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 (Medium Business Impact)</a:t>
            </a:r>
            <a:endParaRPr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7" name="Google Shape;537;p52"/>
          <p:cNvSpPr txBox="1"/>
          <p:nvPr/>
        </p:nvSpPr>
        <p:spPr>
          <a:xfrm>
            <a:off x="1499205" y="3194673"/>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{{P_MBI}}</a:t>
            </a:r>
            <a:endParaRPr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38" name="Google Shape;538;p52"/>
          <p:cNvSpPr txBox="1"/>
          <p:nvPr/>
        </p:nvSpPr>
        <p:spPr>
          <a:xfrm>
            <a:off x="103249" y="2268903"/>
            <a:ext cx="2443200" cy="273600"/>
          </a:xfrm>
          <a:prstGeom prst="rect">
            <a:avLst/>
          </a:prstGeom>
          <a:noFill/>
          <a:ln>
            <a:noFill/>
          </a:ln>
        </p:spPr>
        <p:txBody>
          <a:bodyPr spcFirstLastPara="1" wrap="square" lIns="83375" tIns="83375" rIns="83375" bIns="8337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Projects</a:t>
            </a:r>
            <a:endParaRPr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39" name="Google Shape;539;p52"/>
          <p:cNvSpPr txBox="1"/>
          <p:nvPr/>
        </p:nvSpPr>
        <p:spPr>
          <a:xfrm>
            <a:off x="201255" y="2589298"/>
            <a:ext cx="1550400" cy="1416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Total Parent</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540" name="Google Shape;540;p52"/>
          <p:cNvSpPr txBox="1"/>
          <p:nvPr/>
        </p:nvSpPr>
        <p:spPr>
          <a:xfrm>
            <a:off x="1401337" y="2571721"/>
            <a:ext cx="1003500" cy="1416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989"/>
              <a:buFont typeface="Arial"/>
              <a:buNone/>
            </a:pPr>
            <a:r>
              <a:rPr lang="en"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{{P_TOT}}</a:t>
            </a:r>
            <a:endParaRPr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1" name="Google Shape;541;p52"/>
          <p:cNvSpPr txBox="1"/>
          <p:nvPr/>
        </p:nvSpPr>
        <p:spPr>
          <a:xfrm>
            <a:off x="181215" y="3356084"/>
            <a:ext cx="1459200" cy="1554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dirty="0">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9"/>
              </a:rPr>
              <a:t>LBI</a:t>
            </a:r>
            <a:r>
              <a:rPr lang="en"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 (Low Business Impact)</a:t>
            </a:r>
            <a:endParaRPr sz="810" b="0"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2" name="Google Shape;542;p52"/>
          <p:cNvSpPr txBox="1"/>
          <p:nvPr/>
        </p:nvSpPr>
        <p:spPr>
          <a:xfrm>
            <a:off x="1500450" y="3352374"/>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{{P_LBI}}</a:t>
            </a:r>
            <a:endParaRPr sz="810" b="1" i="0" u="none" strike="noStrike" cap="none" dirty="0">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3" name="Google Shape;543;p52"/>
          <p:cNvSpPr txBox="1"/>
          <p:nvPr/>
        </p:nvSpPr>
        <p:spPr>
          <a:xfrm>
            <a:off x="200888" y="2781549"/>
            <a:ext cx="1550400" cy="1416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Total Child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544" name="Google Shape;544;p52"/>
          <p:cNvSpPr txBox="1"/>
          <p:nvPr/>
        </p:nvSpPr>
        <p:spPr>
          <a:xfrm>
            <a:off x="1400970" y="2763973"/>
            <a:ext cx="1003500" cy="1416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989"/>
              <a:buFont typeface="Arial"/>
              <a:buNone/>
            </a:pPr>
            <a:r>
              <a:rPr lang="en"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{{PC_TOT}}</a:t>
            </a:r>
            <a:endParaRPr sz="99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5" name="Google Shape;545;p52"/>
          <p:cNvSpPr txBox="1"/>
          <p:nvPr/>
        </p:nvSpPr>
        <p:spPr>
          <a:xfrm>
            <a:off x="6163222" y="792816"/>
            <a:ext cx="2835527" cy="301800"/>
          </a:xfrm>
          <a:prstGeom prst="rect">
            <a:avLst/>
          </a:prstGeom>
          <a:noFill/>
          <a:ln>
            <a:noFill/>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Features / Functionality Usage</a:t>
            </a:r>
            <a:endParaRPr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46" name="Google Shape;546;p52"/>
          <p:cNvSpPr/>
          <p:nvPr/>
        </p:nvSpPr>
        <p:spPr>
          <a:xfrm>
            <a:off x="6163222" y="1119161"/>
            <a:ext cx="2835527" cy="2063977"/>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91225" tIns="91225" rIns="91225" bIns="912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7" name="Google Shape;547;p52"/>
          <p:cNvSpPr txBox="1"/>
          <p:nvPr/>
        </p:nvSpPr>
        <p:spPr>
          <a:xfrm>
            <a:off x="6301490" y="1187812"/>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0">
                  <a:extLst>
                    <a:ext uri="{A12FA001-AC4F-418D-AE19-62706E023703}">
                      <ahyp:hlinkClr xmlns:ahyp="http://schemas.microsoft.com/office/drawing/2018/hyperlinkcolor" val="tx"/>
                    </a:ext>
                  </a:extLst>
                </a:hlinkClick>
              </a:rPr>
              <a:t>Custom Compliance Frameworks</a:t>
            </a:r>
            <a:endParaRPr sz="9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8" name="Google Shape;548;p52"/>
          <p:cNvSpPr txBox="1"/>
          <p:nvPr/>
        </p:nvSpPr>
        <p:spPr>
          <a:xfrm>
            <a:off x="7298168" y="120223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{{F_FW}}</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49" name="Google Shape;549;p52"/>
          <p:cNvSpPr txBox="1"/>
          <p:nvPr/>
        </p:nvSpPr>
        <p:spPr>
          <a:xfrm>
            <a:off x="6301490" y="1387340"/>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1">
                  <a:extLst>
                    <a:ext uri="{A12FA001-AC4F-418D-AE19-62706E023703}">
                      <ahyp:hlinkClr xmlns:ahyp="http://schemas.microsoft.com/office/drawing/2018/hyperlinkcolor" val="tx"/>
                    </a:ext>
                  </a:extLst>
                </a:hlinkClick>
              </a:rPr>
              <a:t>Resource Tag Rules (On / Off)</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0" name="Google Shape;550;p52"/>
          <p:cNvSpPr txBox="1"/>
          <p:nvPr/>
        </p:nvSpPr>
        <p:spPr>
          <a:xfrm>
            <a:off x="7298168" y="1401759"/>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{{F_TR}}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1" name="Google Shape;551;p52"/>
          <p:cNvSpPr txBox="1"/>
          <p:nvPr/>
        </p:nvSpPr>
        <p:spPr>
          <a:xfrm>
            <a:off x="6301490" y="1586869"/>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2">
                  <a:extLst>
                    <a:ext uri="{A12FA001-AC4F-418D-AE19-62706E023703}">
                      <ahyp:hlinkClr xmlns:ahyp="http://schemas.microsoft.com/office/drawing/2018/hyperlinkcolor" val="tx"/>
                    </a:ext>
                  </a:extLst>
                </a:hlinkClick>
              </a:rPr>
              <a:t>Service Catalog Discovery Rules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2" name="Google Shape;552;p52"/>
          <p:cNvSpPr txBox="1"/>
          <p:nvPr/>
        </p:nvSpPr>
        <p:spPr>
          <a:xfrm>
            <a:off x="7298168" y="1601288"/>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{{F_DR}}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3" name="Google Shape;553;p52"/>
          <p:cNvSpPr txBox="1"/>
          <p:nvPr/>
        </p:nvSpPr>
        <p:spPr>
          <a:xfrm>
            <a:off x="6301490" y="1779656"/>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3">
                  <a:extLst>
                    <a:ext uri="{A12FA001-AC4F-418D-AE19-62706E023703}">
                      <ahyp:hlinkClr xmlns:ahyp="http://schemas.microsoft.com/office/drawing/2018/hyperlinkcolor" val="tx"/>
                    </a:ext>
                  </a:extLst>
                </a:hlinkClick>
              </a:rPr>
              <a:t>Inventory Management Rules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4" name="Google Shape;554;p52"/>
          <p:cNvSpPr txBox="1"/>
          <p:nvPr/>
        </p:nvSpPr>
        <p:spPr>
          <a:xfrm>
            <a:off x="7298168" y="1794075"/>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{{F_IR}}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5" name="Google Shape;555;p52"/>
          <p:cNvSpPr txBox="1"/>
          <p:nvPr/>
        </p:nvSpPr>
        <p:spPr>
          <a:xfrm>
            <a:off x="6301490" y="1979184"/>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4">
                  <a:extLst>
                    <a:ext uri="{A12FA001-AC4F-418D-AE19-62706E023703}">
                      <ahyp:hlinkClr xmlns:ahyp="http://schemas.microsoft.com/office/drawing/2018/hyperlinkcolor" val="tx"/>
                    </a:ext>
                  </a:extLst>
                </a:hlinkClick>
              </a:rPr>
              <a:t>User Created Posture Policies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6" name="Google Shape;556;p52"/>
          <p:cNvSpPr txBox="1"/>
          <p:nvPr/>
        </p:nvSpPr>
        <p:spPr>
          <a:xfrm>
            <a:off x="7298168" y="1993603"/>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{{F_PP}}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7" name="Google Shape;557;p52"/>
          <p:cNvSpPr txBox="1"/>
          <p:nvPr/>
        </p:nvSpPr>
        <p:spPr>
          <a:xfrm>
            <a:off x="6301490" y="2178713"/>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5">
                  <a:extLst>
                    <a:ext uri="{A12FA001-AC4F-418D-AE19-62706E023703}">
                      <ahyp:hlinkClr xmlns:ahyp="http://schemas.microsoft.com/office/drawing/2018/hyperlinkcolor" val="tx"/>
                    </a:ext>
                  </a:extLst>
                </a:hlinkClick>
              </a:rPr>
              <a:t>User Created Monitored Metrics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8" name="Google Shape;558;p52"/>
          <p:cNvSpPr txBox="1"/>
          <p:nvPr/>
        </p:nvSpPr>
        <p:spPr>
          <a:xfrm>
            <a:off x="7298168" y="2193132"/>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{{F_MM}}</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59" name="Google Shape;559;p52"/>
          <p:cNvSpPr txBox="1"/>
          <p:nvPr/>
        </p:nvSpPr>
        <p:spPr>
          <a:xfrm>
            <a:off x="6294224" y="2375242"/>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6">
                  <a:extLst>
                    <a:ext uri="{A12FA001-AC4F-418D-AE19-62706E023703}">
                      <ahyp:hlinkClr xmlns:ahyp="http://schemas.microsoft.com/office/drawing/2018/hyperlinkcolor" val="tx"/>
                    </a:ext>
                  </a:extLst>
                </a:hlinkClick>
              </a:rPr>
              <a:t>Champion Center Owners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60" name="Google Shape;560;p52"/>
          <p:cNvSpPr txBox="1"/>
          <p:nvPr/>
        </p:nvSpPr>
        <p:spPr>
          <a:xfrm>
            <a:off x="7290901" y="2378257"/>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{{CC_TOT}}</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61" name="Google Shape;561;p52"/>
          <p:cNvSpPr txBox="1"/>
          <p:nvPr/>
        </p:nvSpPr>
        <p:spPr>
          <a:xfrm>
            <a:off x="6298365" y="2561857"/>
            <a:ext cx="2223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17">
                  <a:extLst>
                    <a:ext uri="{A12FA001-AC4F-418D-AE19-62706E023703}">
                      <ahyp:hlinkClr xmlns:ahyp="http://schemas.microsoft.com/office/drawing/2018/hyperlinkcolor" val="tx"/>
                    </a:ext>
                  </a:extLst>
                </a:hlinkClick>
              </a:rPr>
              <a:t>Using Wiz Browser Extension</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62" name="Google Shape;562;p52"/>
          <p:cNvSpPr txBox="1"/>
          <p:nvPr/>
        </p:nvSpPr>
        <p:spPr>
          <a:xfrm>
            <a:off x="7295041" y="256487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{{F_BE}}</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pic>
        <p:nvPicPr>
          <p:cNvPr id="563" name="Google Shape;563;p52" title="Group 1000004640.png"/>
          <p:cNvPicPr preferRelativeResize="0"/>
          <p:nvPr/>
        </p:nvPicPr>
        <p:blipFill rotWithShape="1">
          <a:blip r:embed="rId18">
            <a:alphaModFix/>
          </a:blip>
          <a:srcRect/>
          <a:stretch/>
        </p:blipFill>
        <p:spPr>
          <a:xfrm>
            <a:off x="6701399" y="3945838"/>
            <a:ext cx="1202026" cy="1216270"/>
          </a:xfrm>
          <a:prstGeom prst="rect">
            <a:avLst/>
          </a:prstGeom>
          <a:noFill/>
          <a:ln>
            <a:noFill/>
          </a:ln>
        </p:spPr>
      </p:pic>
      <p:pic>
        <p:nvPicPr>
          <p:cNvPr id="564" name="Google Shape;564;p52" title="Group 1000004641.png"/>
          <p:cNvPicPr preferRelativeResize="0"/>
          <p:nvPr/>
        </p:nvPicPr>
        <p:blipFill rotWithShape="1">
          <a:blip r:embed="rId19">
            <a:alphaModFix/>
          </a:blip>
          <a:srcRect/>
          <a:stretch/>
        </p:blipFill>
        <p:spPr>
          <a:xfrm>
            <a:off x="4245479" y="3945838"/>
            <a:ext cx="1202026" cy="1216270"/>
          </a:xfrm>
          <a:prstGeom prst="rect">
            <a:avLst/>
          </a:prstGeom>
          <a:noFill/>
          <a:ln>
            <a:noFill/>
          </a:ln>
        </p:spPr>
      </p:pic>
      <p:pic>
        <p:nvPicPr>
          <p:cNvPr id="565" name="Google Shape;565;p52" title="Group 1000004639.png"/>
          <p:cNvPicPr preferRelativeResize="0"/>
          <p:nvPr/>
        </p:nvPicPr>
        <p:blipFill rotWithShape="1">
          <a:blip r:embed="rId20">
            <a:alphaModFix/>
          </a:blip>
          <a:srcRect/>
          <a:stretch/>
        </p:blipFill>
        <p:spPr>
          <a:xfrm>
            <a:off x="1789559" y="3945838"/>
            <a:ext cx="1202026" cy="1216270"/>
          </a:xfrm>
          <a:prstGeom prst="rect">
            <a:avLst/>
          </a:prstGeom>
          <a:noFill/>
          <a:ln>
            <a:noFill/>
          </a:ln>
        </p:spPr>
      </p:pic>
      <p:sp>
        <p:nvSpPr>
          <p:cNvPr id="566" name="Google Shape;566;p52"/>
          <p:cNvSpPr/>
          <p:nvPr/>
        </p:nvSpPr>
        <p:spPr>
          <a:xfrm>
            <a:off x="1826818" y="4593453"/>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Green Agent</a:t>
            </a:r>
            <a:endParaRPr sz="62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67" name="Google Shape;567;p52"/>
          <p:cNvSpPr/>
          <p:nvPr/>
        </p:nvSpPr>
        <p:spPr>
          <a:xfrm>
            <a:off x="1842610" y="4876841"/>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{{F_GA}}</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68" name="Google Shape;568;p52"/>
          <p:cNvSpPr/>
          <p:nvPr/>
        </p:nvSpPr>
        <p:spPr>
          <a:xfrm>
            <a:off x="792658" y="4465733"/>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Preventive Security</a:t>
            </a:r>
            <a:endParaRPr sz="9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69" name="Google Shape;569;p52"/>
          <p:cNvSpPr/>
          <p:nvPr/>
        </p:nvSpPr>
        <p:spPr>
          <a:xfrm>
            <a:off x="746564" y="4637698"/>
            <a:ext cx="10293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Build securely and </a:t>
            </a:r>
            <a:b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remediate at the source</a:t>
            </a:r>
            <a:endParaRPr sz="73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0" name="Google Shape;570;p52"/>
          <p:cNvSpPr/>
          <p:nvPr/>
        </p:nvSpPr>
        <p:spPr>
          <a:xfrm>
            <a:off x="3258006" y="4471049"/>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Reactive Security</a:t>
            </a:r>
            <a:endParaRPr sz="9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1" name="Google Shape;571;p52"/>
          <p:cNvSpPr/>
          <p:nvPr/>
        </p:nvSpPr>
        <p:spPr>
          <a:xfrm>
            <a:off x="3173074" y="4650643"/>
            <a:ext cx="1117800" cy="3147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Investigate and </a:t>
            </a:r>
            <a:b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triage high-fidelity threats</a:t>
            </a:r>
            <a:endParaRPr sz="73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2" name="Google Shape;572;p52"/>
          <p:cNvSpPr/>
          <p:nvPr/>
        </p:nvSpPr>
        <p:spPr>
          <a:xfrm>
            <a:off x="5714491" y="4471049"/>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Proactive Security</a:t>
            </a:r>
            <a:endParaRPr sz="9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3" name="Google Shape;573;p52"/>
          <p:cNvSpPr/>
          <p:nvPr/>
        </p:nvSpPr>
        <p:spPr>
          <a:xfrm>
            <a:off x="5629558" y="4738385"/>
            <a:ext cx="11178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Identify high-risk </a:t>
            </a:r>
            <a:b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issues before they </a:t>
            </a:r>
            <a:b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30"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can be exploited</a:t>
            </a:r>
            <a:endParaRPr sz="73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4" name="Google Shape;574;p52"/>
          <p:cNvSpPr/>
          <p:nvPr/>
        </p:nvSpPr>
        <p:spPr>
          <a:xfrm>
            <a:off x="4293866" y="4602589"/>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Blue Agent</a:t>
            </a:r>
            <a:endParaRPr sz="62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5" name="Google Shape;575;p52"/>
          <p:cNvSpPr/>
          <p:nvPr/>
        </p:nvSpPr>
        <p:spPr>
          <a:xfrm>
            <a:off x="4309658" y="4885978"/>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{{F_BA}}</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6" name="Google Shape;576;p52"/>
          <p:cNvSpPr/>
          <p:nvPr/>
        </p:nvSpPr>
        <p:spPr>
          <a:xfrm>
            <a:off x="6751047" y="4611991"/>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Red Agent</a:t>
            </a:r>
            <a:endParaRPr sz="62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7" name="Google Shape;577;p52"/>
          <p:cNvSpPr/>
          <p:nvPr/>
        </p:nvSpPr>
        <p:spPr>
          <a:xfrm>
            <a:off x="6766839" y="4895379"/>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{{F_RA}}</a:t>
            </a:r>
            <a:br>
              <a:rPr lang="en"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10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78" name="Google Shape;578;p52"/>
          <p:cNvSpPr/>
          <p:nvPr/>
        </p:nvSpPr>
        <p:spPr>
          <a:xfrm>
            <a:off x="6220691" y="3251123"/>
            <a:ext cx="2673777" cy="56310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19"/>
              <a:buFont typeface="Arial"/>
              <a:buNone/>
            </a:pPr>
            <a:endParaRPr sz="1319"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79" name="Google Shape;579;p52"/>
          <p:cNvSpPr txBox="1"/>
          <p:nvPr/>
        </p:nvSpPr>
        <p:spPr>
          <a:xfrm>
            <a:off x="6223125" y="3218322"/>
            <a:ext cx="26364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21">
                  <a:extLst>
                    <a:ext uri="{A12FA001-AC4F-418D-AE19-62706E023703}">
                      <ahyp:hlinkClr xmlns:ahyp="http://schemas.microsoft.com/office/drawing/2018/hyperlinkcolor" val="tx"/>
                    </a:ext>
                  </a:extLst>
                </a:hlinkClick>
              </a:rPr>
              <a:t>Automation Workflows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0" name="Google Shape;580;p52"/>
          <p:cNvSpPr txBox="1"/>
          <p:nvPr/>
        </p:nvSpPr>
        <p:spPr>
          <a:xfrm>
            <a:off x="7155895" y="323273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{{F_WF}}</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1" name="Google Shape;581;p52"/>
          <p:cNvSpPr txBox="1"/>
          <p:nvPr/>
        </p:nvSpPr>
        <p:spPr>
          <a:xfrm>
            <a:off x="6223125" y="3417847"/>
            <a:ext cx="21714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22">
                  <a:extLst>
                    <a:ext uri="{A12FA001-AC4F-418D-AE19-62706E023703}">
                      <ahyp:hlinkClr xmlns:ahyp="http://schemas.microsoft.com/office/drawing/2018/hyperlinkcolor" val="tx"/>
                    </a:ext>
                  </a:extLst>
                </a:hlinkClick>
              </a:rPr>
              <a:t>Automation Rules (On / Off)</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2" name="Google Shape;582;p52"/>
          <p:cNvSpPr txBox="1"/>
          <p:nvPr/>
        </p:nvSpPr>
        <p:spPr>
          <a:xfrm>
            <a:off x="7155895" y="3432260"/>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{{F_AR}}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3" name="Google Shape;583;p52"/>
          <p:cNvSpPr txBox="1"/>
          <p:nvPr/>
        </p:nvSpPr>
        <p:spPr>
          <a:xfrm>
            <a:off x="6304997" y="2755905"/>
            <a:ext cx="2223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hlinkClick r:id="rId23">
                  <a:extLst>
                    <a:ext uri="{A12FA001-AC4F-418D-AE19-62706E023703}">
                      <ahyp:hlinkClr xmlns:ahyp="http://schemas.microsoft.com/office/drawing/2018/hyperlinkcolor" val="tx"/>
                    </a:ext>
                  </a:extLst>
                </a:hlinkClick>
              </a:rPr>
              <a:t>Wiz MCP Users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584" name="Google Shape;584;p52"/>
          <p:cNvSpPr txBox="1"/>
          <p:nvPr/>
        </p:nvSpPr>
        <p:spPr>
          <a:xfrm>
            <a:off x="7301674" y="2758918"/>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{{F_WMCP}}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pic>
        <p:nvPicPr>
          <p:cNvPr id="590" name="Google Shape;590;p53"/>
          <p:cNvPicPr preferRelativeResize="0"/>
          <p:nvPr/>
        </p:nvPicPr>
        <p:blipFill rotWithShape="1">
          <a:blip r:embed="rId3">
            <a:alphaModFix/>
          </a:blip>
          <a:srcRect/>
          <a:stretch/>
        </p:blipFill>
        <p:spPr>
          <a:xfrm>
            <a:off x="110700" y="514955"/>
            <a:ext cx="4359173" cy="4230574"/>
          </a:xfrm>
          <a:prstGeom prst="rect">
            <a:avLst/>
          </a:prstGeom>
          <a:noFill/>
          <a:ln w="6350">
            <a:solidFill>
              <a:schemeClr val="accent1"/>
            </a:solidFill>
          </a:ln>
        </p:spPr>
      </p:pic>
      <p:sp>
        <p:nvSpPr>
          <p:cNvPr id="591" name="Google Shape;591;p53"/>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dirty="0">
                <a:latin typeface="Calibri" panose="020F0502020204030204" pitchFamily="34" charset="0"/>
                <a:ea typeface="Calibri" panose="020F0502020204030204" pitchFamily="34" charset="0"/>
                <a:cs typeface="Calibri" panose="020F0502020204030204" pitchFamily="34" charset="0"/>
                <a:sym typeface="Poppins Light"/>
              </a:rPr>
              <a:t>Preview Hub Availability vs Usage</a:t>
            </a:r>
            <a:endParaRPr sz="2420" dirty="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592" name="Google Shape;592;p53"/>
          <p:cNvSpPr txBox="1"/>
          <p:nvPr/>
        </p:nvSpPr>
        <p:spPr>
          <a:xfrm>
            <a:off x="110700" y="583584"/>
            <a:ext cx="4359000" cy="3462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Public Future-Billable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93" name="Google Shape;593;p53"/>
          <p:cNvSpPr/>
          <p:nvPr/>
        </p:nvSpPr>
        <p:spPr>
          <a:xfrm>
            <a:off x="165200" y="983157"/>
            <a:ext cx="4313400" cy="2096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rPr>
              <a:t>Advanced License:</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{{BILLABLE_ADVANCED}}</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rPr>
              <a:t>Sensor / Defend License:</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{{BILLABLE_SENSOR}}</a:t>
            </a:r>
            <a:b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{{BILLABLE_DEFEND}}</a:t>
            </a:r>
            <a:endParaRPr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endParaRPr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rPr>
              <a:t>Wiz Code License:</a:t>
            </a:r>
            <a:br>
              <a:rPr lang="en" sz="11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{{BILLABLE_CODE}}</a:t>
            </a:r>
            <a:endParaRPr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594" name="Google Shape;594;p53"/>
          <p:cNvPicPr preferRelativeResize="0"/>
          <p:nvPr/>
        </p:nvPicPr>
        <p:blipFill rotWithShape="1">
          <a:blip r:embed="rId3">
            <a:alphaModFix/>
          </a:blip>
          <a:srcRect/>
          <a:stretch/>
        </p:blipFill>
        <p:spPr>
          <a:xfrm>
            <a:off x="4636225" y="519525"/>
            <a:ext cx="4359173" cy="4230574"/>
          </a:xfrm>
          <a:prstGeom prst="rect">
            <a:avLst/>
          </a:prstGeom>
          <a:noFill/>
          <a:ln w="6350">
            <a:solidFill>
              <a:schemeClr val="accent1"/>
            </a:solidFill>
          </a:ln>
        </p:spPr>
      </p:pic>
      <p:sp>
        <p:nvSpPr>
          <p:cNvPr id="595" name="Google Shape;595;p53"/>
          <p:cNvSpPr txBox="1"/>
          <p:nvPr/>
        </p:nvSpPr>
        <p:spPr>
          <a:xfrm>
            <a:off x="4636222" y="584617"/>
            <a:ext cx="4359000" cy="357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Public Non-Billable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596" name="Google Shape;596;p53"/>
          <p:cNvSpPr/>
          <p:nvPr/>
        </p:nvSpPr>
        <p:spPr>
          <a:xfrm>
            <a:off x="4690701" y="997376"/>
            <a:ext cx="4313400" cy="2213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9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{{ALL_NON_BILLABLE_PREVIEW}}</a:t>
            </a:r>
            <a:br>
              <a:rPr lang="en" sz="10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br>
            <a:endParaRPr sz="1000" b="0" i="0" u="none" strike="noStrike" cap="none" dirty="0">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pic>
        <p:nvPicPr>
          <p:cNvPr id="602" name="Google Shape;602;p54"/>
          <p:cNvPicPr preferRelativeResize="0"/>
          <p:nvPr/>
        </p:nvPicPr>
        <p:blipFill rotWithShape="1">
          <a:blip r:embed="rId3">
            <a:alphaModFix/>
          </a:blip>
          <a:srcRect/>
          <a:stretch/>
        </p:blipFill>
        <p:spPr>
          <a:xfrm>
            <a:off x="110700" y="514953"/>
            <a:ext cx="4359173" cy="3657923"/>
          </a:xfrm>
          <a:prstGeom prst="rect">
            <a:avLst/>
          </a:prstGeom>
          <a:noFill/>
          <a:ln w="6350">
            <a:solidFill>
              <a:schemeClr val="accent1"/>
            </a:solidFill>
          </a:ln>
        </p:spPr>
      </p:pic>
      <p:sp>
        <p:nvSpPr>
          <p:cNvPr id="603" name="Google Shape;603;p54"/>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Preview Hub Availability vs Usage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04" name="Google Shape;604;p54"/>
          <p:cNvSpPr txBox="1"/>
          <p:nvPr/>
        </p:nvSpPr>
        <p:spPr>
          <a:xfrm>
            <a:off x="110700" y="573172"/>
            <a:ext cx="4359000" cy="3462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Private Future-Billable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05" name="Google Shape;605;p54"/>
          <p:cNvSpPr/>
          <p:nvPr/>
        </p:nvSpPr>
        <p:spPr>
          <a:xfrm>
            <a:off x="165200" y="979468"/>
            <a:ext cx="4313400" cy="2127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{{PRIVATE_BILLABLE}}</a:t>
            </a:r>
            <a:endParaRPr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endParaRPr sz="12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06" name="Google Shape;606;p54"/>
          <p:cNvPicPr preferRelativeResize="0"/>
          <p:nvPr/>
        </p:nvPicPr>
        <p:blipFill rotWithShape="1">
          <a:blip r:embed="rId3">
            <a:alphaModFix/>
          </a:blip>
          <a:srcRect/>
          <a:stretch/>
        </p:blipFill>
        <p:spPr>
          <a:xfrm>
            <a:off x="4636225" y="519525"/>
            <a:ext cx="4359173" cy="3657923"/>
          </a:xfrm>
          <a:prstGeom prst="rect">
            <a:avLst/>
          </a:prstGeom>
          <a:noFill/>
          <a:ln w="6350">
            <a:solidFill>
              <a:schemeClr val="accent1"/>
            </a:solidFill>
          </a:ln>
        </p:spPr>
      </p:pic>
      <p:sp>
        <p:nvSpPr>
          <p:cNvPr id="607" name="Google Shape;607;p54"/>
          <p:cNvSpPr txBox="1"/>
          <p:nvPr/>
        </p:nvSpPr>
        <p:spPr>
          <a:xfrm>
            <a:off x="4636222" y="574205"/>
            <a:ext cx="4359000" cy="357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Private Non-Billable Previews</a:t>
            </a:r>
            <a:r>
              <a:rPr lang="en" sz="16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6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08" name="Google Shape;608;p54"/>
          <p:cNvSpPr/>
          <p:nvPr/>
        </p:nvSpPr>
        <p:spPr>
          <a:xfrm>
            <a:off x="4690701" y="972864"/>
            <a:ext cx="4313400" cy="2213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rPr>
              <a:t>{{PRIVATE_NON_BILLABLE}}</a:t>
            </a:r>
            <a:endParaRPr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4A4A4A"/>
              </a:buClr>
              <a:buSzPts val="1100"/>
              <a:buFont typeface="Arial"/>
              <a:buNone/>
            </a:pPr>
            <a:endParaRPr sz="10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09" name="Google Shape;609;p54"/>
          <p:cNvSpPr txBox="1"/>
          <p:nvPr/>
        </p:nvSpPr>
        <p:spPr>
          <a:xfrm>
            <a:off x="-100" y="4435475"/>
            <a:ext cx="9144000" cy="189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1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**Private Features are typically only available upon request and approval</a:t>
            </a:r>
            <a:endParaRPr sz="11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14"/>
        <p:cNvGrpSpPr/>
        <p:nvPr/>
      </p:nvGrpSpPr>
      <p:grpSpPr>
        <a:xfrm>
          <a:off x="0" y="0"/>
          <a:ext cx="0" cy="0"/>
          <a:chOff x="0" y="0"/>
          <a:chExt cx="0" cy="0"/>
        </a:xfrm>
      </p:grpSpPr>
      <p:pic>
        <p:nvPicPr>
          <p:cNvPr id="615" name="Google Shape;615;p55"/>
          <p:cNvPicPr preferRelativeResize="0"/>
          <p:nvPr/>
        </p:nvPicPr>
        <p:blipFill rotWithShape="1">
          <a:blip r:embed="rId3">
            <a:alphaModFix/>
          </a:blip>
          <a:srcRect/>
          <a:stretch/>
        </p:blipFill>
        <p:spPr>
          <a:xfrm>
            <a:off x="329350" y="1194925"/>
            <a:ext cx="8466125" cy="3904599"/>
          </a:xfrm>
          <a:prstGeom prst="rect">
            <a:avLst/>
          </a:prstGeom>
          <a:noFill/>
          <a:ln w="6350">
            <a:solidFill>
              <a:schemeClr val="accent1"/>
            </a:solidFill>
          </a:ln>
        </p:spPr>
      </p:pic>
      <p:sp>
        <p:nvSpPr>
          <p:cNvPr id="616" name="Google Shape;616;p55"/>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Roadmap Tracker Usage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17" name="Google Shape;617;p55"/>
          <p:cNvSpPr txBox="1"/>
          <p:nvPr/>
        </p:nvSpPr>
        <p:spPr>
          <a:xfrm>
            <a:off x="406975" y="1231821"/>
            <a:ext cx="8306406" cy="375600"/>
          </a:xfrm>
          <a:prstGeom prst="rect">
            <a:avLst/>
          </a:prstGeom>
          <a:noFill/>
          <a:ln w="6350">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8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Tracked Roadmap Items</a:t>
            </a:r>
            <a:r>
              <a:rPr lang="en" sz="18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 ↗</a:t>
            </a:r>
            <a:endParaRPr sz="18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18" name="Google Shape;618;p55"/>
          <p:cNvSpPr/>
          <p:nvPr/>
        </p:nvSpPr>
        <p:spPr>
          <a:xfrm>
            <a:off x="435197" y="1658861"/>
            <a:ext cx="8377200" cy="2010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1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Light"/>
              </a:rPr>
              <a:t>{{ROADMAP_TRACKER}}</a:t>
            </a:r>
            <a:endParaRPr sz="11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100000"/>
              </a:lnSpc>
              <a:spcBef>
                <a:spcPts val="0"/>
              </a:spcBef>
              <a:spcAft>
                <a:spcPts val="0"/>
              </a:spcAft>
              <a:buClr>
                <a:srgbClr val="4A4A4A"/>
              </a:buClr>
              <a:buSzPts val="1100"/>
              <a:buFont typeface="Arial"/>
              <a:buNone/>
            </a:pPr>
            <a:endParaRPr sz="1300" b="0" i="0" u="none" strike="noStrike" cap="none">
              <a:solidFill>
                <a:srgbClr val="4A4A4A"/>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19" name="Google Shape;619;p55"/>
          <p:cNvSpPr txBox="1"/>
          <p:nvPr/>
        </p:nvSpPr>
        <p:spPr>
          <a:xfrm>
            <a:off x="150" y="498025"/>
            <a:ext cx="9144000" cy="696900"/>
          </a:xfrm>
          <a:prstGeom prst="rect">
            <a:avLst/>
          </a:prstGeom>
          <a:noFill/>
          <a:ln>
            <a:noFill/>
          </a:ln>
        </p:spPr>
        <p:txBody>
          <a:bodyPr spcFirstLastPara="1" wrap="square" lIns="68575" tIns="34275" rIns="68575" bIns="34275" anchor="t" anchorCtr="0">
            <a:noAutofit/>
          </a:bodyPr>
          <a:lstStyle/>
          <a:p>
            <a:pPr marL="0" marR="0" lvl="0" indent="0" algn="ctr" rtl="0">
              <a:lnSpc>
                <a:spcPct val="115000"/>
              </a:lnSpc>
              <a:spcBef>
                <a:spcPts val="0"/>
              </a:spcBef>
              <a:spcAft>
                <a:spcPts val="0"/>
              </a:spcAft>
              <a:buClr>
                <a:schemeClr val="dk1"/>
              </a:buClr>
              <a:buSzPts val="1100"/>
              <a:buFont typeface="Arial"/>
              <a:buNone/>
            </a:pPr>
            <a:r>
              <a:rPr lang="en" sz="800" b="0" i="0" u="none" strike="noStrike" cap="none" dirty="0">
                <a:solidFill>
                  <a:srgbClr val="60646C"/>
                </a:solidFill>
                <a:latin typeface="Calibri" panose="020F0502020204030204" pitchFamily="34" charset="0"/>
                <a:ea typeface="Calibri" panose="020F0502020204030204" pitchFamily="34" charset="0"/>
                <a:cs typeface="Calibri" panose="020F0502020204030204" pitchFamily="34" charset="0"/>
                <a:sym typeface="Poppins"/>
              </a:rPr>
              <a:t>Discover, track, and monitor roadmap features. All quarters listed refer to the calendar year, and represent Wiz goals,  meaning some features will be pushed to later quarters. Also, the quarters listed may reflect when features become available to preview, with general availability (GA) following. Some support tiers allow you to track up to 20 non-highlight features, of which 5 can be marked high priority. Product managers review the most popular features when deciding what to work on next, so your votes really count. Features remain trackable until one quarter after release. Some features may not have a timeline. A planned timeline is added once available.</a:t>
            </a:r>
            <a:endParaRPr sz="800" b="0" i="0" u="none" strike="noStrike" cap="none" dirty="0">
              <a:solidFill>
                <a:srgbClr val="60646C"/>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ctr" rtl="0">
              <a:lnSpc>
                <a:spcPct val="90000"/>
              </a:lnSpc>
              <a:spcBef>
                <a:spcPts val="600"/>
              </a:spcBef>
              <a:spcAft>
                <a:spcPts val="0"/>
              </a:spcAft>
              <a:buClr>
                <a:schemeClr val="dk2"/>
              </a:buClr>
              <a:buSzPts val="1500"/>
              <a:buFont typeface="Arial"/>
              <a:buNone/>
            </a:pPr>
            <a:endParaRPr sz="8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4"/>
        <p:cNvGrpSpPr/>
        <p:nvPr/>
      </p:nvGrpSpPr>
      <p:grpSpPr>
        <a:xfrm>
          <a:off x="0" y="0"/>
          <a:ext cx="0" cy="0"/>
          <a:chOff x="0" y="0"/>
          <a:chExt cx="0" cy="0"/>
        </a:xfrm>
      </p:grpSpPr>
      <p:sp>
        <p:nvSpPr>
          <p:cNvPr id="625" name="Google Shape;625;p56"/>
          <p:cNvSpPr txBox="1"/>
          <p:nvPr/>
        </p:nvSpPr>
        <p:spPr>
          <a:xfrm>
            <a:off x="468449" y="2215800"/>
            <a:ext cx="3273600" cy="9003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Reducing Critical Risk and Beyond</a:t>
            </a:r>
            <a:endParaRPr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626" name="Google Shape;626;p56"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627" name="Google Shape;627;p56"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628" name="Google Shape;628;p56" title="logo.png"/>
          <p:cNvPicPr preferRelativeResize="0"/>
          <p:nvPr/>
        </p:nvPicPr>
        <p:blipFill rotWithShape="1">
          <a:blip r:embed="rId5">
            <a:alphaModFix/>
          </a:blip>
          <a:srcRect/>
          <a:stretch/>
        </p:blipFill>
        <p:spPr>
          <a:xfrm>
            <a:off x="553277" y="1726800"/>
            <a:ext cx="637001" cy="3041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sp>
        <p:nvSpPr>
          <p:cNvPr id="634" name="Google Shape;634;p57"/>
          <p:cNvSpPr txBox="1"/>
          <p:nvPr/>
        </p:nvSpPr>
        <p:spPr>
          <a:xfrm>
            <a:off x="6799450" y="3138000"/>
            <a:ext cx="2010300" cy="2018161"/>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635" name="Google Shape;635;p57"/>
          <p:cNvSpPr txBox="1"/>
          <p:nvPr/>
        </p:nvSpPr>
        <p:spPr>
          <a:xfrm>
            <a:off x="799800" y="4324999"/>
            <a:ext cx="2010300" cy="8313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636" name="Google Shape;636;p57"/>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sp>
        <p:nvSpPr>
          <p:cNvPr id="637" name="Google Shape;637;p57"/>
          <p:cNvSpPr txBox="1"/>
          <p:nvPr/>
        </p:nvSpPr>
        <p:spPr>
          <a:xfrm>
            <a:off x="2815700" y="3916475"/>
            <a:ext cx="1987500" cy="1227025"/>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DM Sans Medium"/>
            </a:endParaRPr>
          </a:p>
        </p:txBody>
      </p:sp>
      <p:cxnSp>
        <p:nvCxnSpPr>
          <p:cNvPr id="638" name="Google Shape;638;p57"/>
          <p:cNvCxnSpPr>
            <a:cxnSpLocks/>
          </p:cNvCxnSpPr>
          <p:nvPr/>
        </p:nvCxnSpPr>
        <p:spPr>
          <a:xfrm flipV="1">
            <a:off x="2813100" y="2136400"/>
            <a:ext cx="0" cy="3019761"/>
          </a:xfrm>
          <a:prstGeom prst="straightConnector1">
            <a:avLst/>
          </a:prstGeom>
          <a:noFill/>
          <a:ln w="9525" cap="flat" cmpd="sng">
            <a:solidFill>
              <a:srgbClr val="0254EC"/>
            </a:solidFill>
            <a:prstDash val="solid"/>
            <a:round/>
            <a:headEnd type="none" w="sm" len="sm"/>
            <a:tailEnd type="none" w="sm" len="sm"/>
          </a:ln>
        </p:spPr>
      </p:cxnSp>
      <p:cxnSp>
        <p:nvCxnSpPr>
          <p:cNvPr id="639" name="Google Shape;639;p57"/>
          <p:cNvCxnSpPr>
            <a:cxnSpLocks/>
          </p:cNvCxnSpPr>
          <p:nvPr/>
        </p:nvCxnSpPr>
        <p:spPr>
          <a:xfrm flipV="1">
            <a:off x="4804975" y="1525650"/>
            <a:ext cx="0" cy="3617850"/>
          </a:xfrm>
          <a:prstGeom prst="straightConnector1">
            <a:avLst/>
          </a:prstGeom>
          <a:noFill/>
          <a:ln w="9525" cap="flat" cmpd="sng">
            <a:solidFill>
              <a:srgbClr val="0254EC"/>
            </a:solidFill>
            <a:prstDash val="solid"/>
            <a:round/>
            <a:headEnd type="none" w="sm" len="sm"/>
            <a:tailEnd type="none" w="sm" len="sm"/>
          </a:ln>
        </p:spPr>
      </p:cxnSp>
      <p:cxnSp>
        <p:nvCxnSpPr>
          <p:cNvPr id="640" name="Google Shape;640;p57"/>
          <p:cNvCxnSpPr>
            <a:cxnSpLocks/>
          </p:cNvCxnSpPr>
          <p:nvPr/>
        </p:nvCxnSpPr>
        <p:spPr>
          <a:xfrm flipV="1">
            <a:off x="6799450" y="910700"/>
            <a:ext cx="5225" cy="4232800"/>
          </a:xfrm>
          <a:prstGeom prst="straightConnector1">
            <a:avLst/>
          </a:prstGeom>
          <a:noFill/>
          <a:ln w="9525" cap="flat" cmpd="sng">
            <a:solidFill>
              <a:srgbClr val="0254EC"/>
            </a:solidFill>
            <a:prstDash val="solid"/>
            <a:round/>
            <a:headEnd type="none" w="sm" len="sm"/>
            <a:tailEnd type="none" w="sm" len="sm"/>
          </a:ln>
        </p:spPr>
      </p:cxnSp>
      <p:cxnSp>
        <p:nvCxnSpPr>
          <p:cNvPr id="641" name="Google Shape;641;p57"/>
          <p:cNvCxnSpPr/>
          <p:nvPr/>
        </p:nvCxnSpPr>
        <p:spPr>
          <a:xfrm rot="10800000" flipH="1">
            <a:off x="983850" y="193650"/>
            <a:ext cx="8194200" cy="2507100"/>
          </a:xfrm>
          <a:prstGeom prst="straightConnector1">
            <a:avLst/>
          </a:prstGeom>
          <a:noFill/>
          <a:ln w="9525" cap="flat" cmpd="sng">
            <a:solidFill>
              <a:srgbClr val="0254EC"/>
            </a:solidFill>
            <a:prstDash val="lgDash"/>
            <a:round/>
            <a:headEnd type="none" w="sm" len="sm"/>
            <a:tailEnd type="none" w="sm" len="sm"/>
          </a:ln>
        </p:spPr>
      </p:cxnSp>
      <p:cxnSp>
        <p:nvCxnSpPr>
          <p:cNvPr id="642" name="Google Shape;642;p57"/>
          <p:cNvCxnSpPr/>
          <p:nvPr/>
        </p:nvCxnSpPr>
        <p:spPr>
          <a:xfrm rot="10800000">
            <a:off x="807946" y="2756762"/>
            <a:ext cx="0" cy="2399400"/>
          </a:xfrm>
          <a:prstGeom prst="straightConnector1">
            <a:avLst/>
          </a:prstGeom>
          <a:noFill/>
          <a:ln w="9525" cap="flat" cmpd="sng">
            <a:solidFill>
              <a:srgbClr val="0254EC"/>
            </a:solidFill>
            <a:prstDash val="solid"/>
            <a:round/>
            <a:headEnd type="none" w="sm" len="sm"/>
            <a:tailEnd type="none" w="sm" len="sm"/>
          </a:ln>
        </p:spPr>
      </p:cxnSp>
      <p:pic>
        <p:nvPicPr>
          <p:cNvPr id="643" name="Google Shape;643;p57" title="Hardening_infinity.png"/>
          <p:cNvPicPr preferRelativeResize="0"/>
          <p:nvPr/>
        </p:nvPicPr>
        <p:blipFill rotWithShape="1">
          <a:blip r:embed="rId3">
            <a:alphaModFix/>
          </a:blip>
          <a:srcRect/>
          <a:stretch/>
        </p:blipFill>
        <p:spPr>
          <a:xfrm rot="-964393">
            <a:off x="4764150" y="359985"/>
            <a:ext cx="2802000" cy="1505395"/>
          </a:xfrm>
          <a:prstGeom prst="rect">
            <a:avLst/>
          </a:prstGeom>
          <a:noFill/>
          <a:ln>
            <a:noFill/>
          </a:ln>
        </p:spPr>
      </p:pic>
      <p:sp>
        <p:nvSpPr>
          <p:cNvPr id="644" name="Google Shape;644;p57"/>
          <p:cNvSpPr txBox="1">
            <a:spLocks noGrp="1"/>
          </p:cNvSpPr>
          <p:nvPr>
            <p:ph type="title" idx="4294967295"/>
          </p:nvPr>
        </p:nvSpPr>
        <p:spPr>
          <a:xfrm>
            <a:off x="304850" y="182250"/>
            <a:ext cx="7550100" cy="646500"/>
          </a:xfrm>
          <a:prstGeom prst="rect">
            <a:avLst/>
          </a:prstGeom>
          <a:noFill/>
          <a:ln>
            <a:noFill/>
          </a:ln>
        </p:spPr>
        <p:txBody>
          <a:bodyPr spcFirstLastPara="1" wrap="square" lIns="68575" tIns="34275" rIns="68575" bIns="34275" anchor="ctr" anchorCtr="0">
            <a:noAutofit/>
          </a:bodyPr>
          <a:lstStyle/>
          <a:p>
            <a:pPr marL="0" lvl="0" indent="0" algn="l" rtl="0">
              <a:lnSpc>
                <a:spcPct val="10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Wiz Security</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l" rtl="0">
              <a:lnSpc>
                <a:spcPct val="10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Maturity Model </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45" name="Google Shape;645;p57"/>
          <p:cNvSpPr txBox="1"/>
          <p:nvPr/>
        </p:nvSpPr>
        <p:spPr>
          <a:xfrm>
            <a:off x="6914847" y="1709849"/>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BACKLOG PREVENTION - DEVELOP SECURELY</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46" name="Google Shape;646;p57"/>
          <p:cNvSpPr txBox="1"/>
          <p:nvPr/>
        </p:nvSpPr>
        <p:spPr>
          <a:xfrm>
            <a:off x="6810807" y="2070332"/>
            <a:ext cx="1811700" cy="9723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Enforce code-to-cloud guardrails to prevent issues from ever being deployed with Wiz Code</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Give devs cloud context directly in IDEs and code for secure by design</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47" name="Google Shape;647;p57"/>
          <p:cNvSpPr txBox="1"/>
          <p:nvPr/>
        </p:nvSpPr>
        <p:spPr>
          <a:xfrm>
            <a:off x="5006084" y="2154770"/>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POSTURE HARDENING</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48" name="Google Shape;648;p57"/>
          <p:cNvSpPr txBox="1"/>
          <p:nvPr/>
        </p:nvSpPr>
        <p:spPr>
          <a:xfrm>
            <a:off x="4902050" y="2387075"/>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Address non-urgent findings impacting overall security posture, including Posture Issues</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Manage exposures in the environment with Wiz XM</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Consolidate remediation for greater impact in a shorter      time frame</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49" name="Google Shape;649;p57"/>
          <p:cNvSpPr txBox="1"/>
          <p:nvPr/>
        </p:nvSpPr>
        <p:spPr>
          <a:xfrm>
            <a:off x="3007222" y="2625304"/>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REDUCE CRITICAL RISK</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50" name="Google Shape;650;p57"/>
          <p:cNvSpPr txBox="1"/>
          <p:nvPr/>
        </p:nvSpPr>
        <p:spPr>
          <a:xfrm>
            <a:off x="2903188" y="2857610"/>
            <a:ext cx="18117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Prioritize immediately  exploitable attack paths   (validate with Wiz ASM)</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Achieve Zero Critical Risk Issues</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Prioritize external findings (UVM) with Wiz context</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651" name="Google Shape;651;p57"/>
          <p:cNvSpPr txBox="1"/>
          <p:nvPr/>
        </p:nvSpPr>
        <p:spPr>
          <a:xfrm>
            <a:off x="1008697" y="3209104"/>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GAIN VISIBILITY</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652" name="Google Shape;652;p57"/>
          <p:cNvSpPr txBox="1"/>
          <p:nvPr/>
        </p:nvSpPr>
        <p:spPr>
          <a:xfrm>
            <a:off x="904663" y="3441410"/>
            <a:ext cx="18117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100% code-to-cloud visibility into any repo, pipeline, or cloud</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Centralize visibility across on-prem, hybrid, cloud, code with UVM</a:t>
            </a:r>
            <a:endParaRPr sz="8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653" name="Google Shape;653;p57"/>
          <p:cNvCxnSpPr>
            <a:cxnSpLocks/>
          </p:cNvCxnSpPr>
          <p:nvPr/>
        </p:nvCxnSpPr>
        <p:spPr>
          <a:xfrm flipV="1">
            <a:off x="8809750" y="306800"/>
            <a:ext cx="100" cy="4836700"/>
          </a:xfrm>
          <a:prstGeom prst="straightConnector1">
            <a:avLst/>
          </a:prstGeom>
          <a:noFill/>
          <a:ln w="9525" cap="flat" cmpd="sng">
            <a:solidFill>
              <a:srgbClr val="0254EC"/>
            </a:solidFill>
            <a:prstDash val="solid"/>
            <a:round/>
            <a:headEnd type="none" w="sm" len="sm"/>
            <a:tailEnd type="none" w="sm" len="sm"/>
          </a:ln>
        </p:spPr>
      </p:cxnSp>
      <p:sp>
        <p:nvSpPr>
          <p:cNvPr id="654" name="Google Shape;654;p57"/>
          <p:cNvSpPr txBox="1"/>
          <p:nvPr/>
        </p:nvSpPr>
        <p:spPr>
          <a:xfrm>
            <a:off x="6929000" y="3214200"/>
            <a:ext cx="1732800" cy="800189"/>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Harden the SDLC while maintaining “Zero Criticals” and SLA compliance requirements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cxnSp>
        <p:nvCxnSpPr>
          <p:cNvPr id="655" name="Google Shape;655;p57"/>
          <p:cNvCxnSpPr/>
          <p:nvPr/>
        </p:nvCxnSpPr>
        <p:spPr>
          <a:xfrm>
            <a:off x="6804671" y="3138012"/>
            <a:ext cx="2005500" cy="0"/>
          </a:xfrm>
          <a:prstGeom prst="straightConnector1">
            <a:avLst/>
          </a:prstGeom>
          <a:noFill/>
          <a:ln w="9525" cap="flat" cmpd="sng">
            <a:solidFill>
              <a:srgbClr val="0254EC"/>
            </a:solidFill>
            <a:prstDash val="solid"/>
            <a:round/>
            <a:headEnd type="none" w="sm" len="sm"/>
            <a:tailEnd type="none" w="sm" len="sm"/>
          </a:ln>
        </p:spPr>
      </p:cxnSp>
      <p:cxnSp>
        <p:nvCxnSpPr>
          <p:cNvPr id="656" name="Google Shape;656;p57"/>
          <p:cNvCxnSpPr/>
          <p:nvPr/>
        </p:nvCxnSpPr>
        <p:spPr>
          <a:xfrm>
            <a:off x="805008" y="4325009"/>
            <a:ext cx="2005500" cy="0"/>
          </a:xfrm>
          <a:prstGeom prst="straightConnector1">
            <a:avLst/>
          </a:prstGeom>
          <a:noFill/>
          <a:ln w="9525" cap="flat" cmpd="sng">
            <a:solidFill>
              <a:srgbClr val="0254EC"/>
            </a:solidFill>
            <a:prstDash val="solid"/>
            <a:round/>
            <a:headEnd type="none" w="sm" len="sm"/>
            <a:tailEnd type="none" w="sm" len="sm"/>
          </a:ln>
        </p:spPr>
      </p:cxnSp>
      <p:cxnSp>
        <p:nvCxnSpPr>
          <p:cNvPr id="657" name="Google Shape;657;p57"/>
          <p:cNvCxnSpPr/>
          <p:nvPr/>
        </p:nvCxnSpPr>
        <p:spPr>
          <a:xfrm>
            <a:off x="4808759" y="3675191"/>
            <a:ext cx="2000400" cy="0"/>
          </a:xfrm>
          <a:prstGeom prst="straightConnector1">
            <a:avLst/>
          </a:prstGeom>
          <a:noFill/>
          <a:ln w="9525" cap="flat" cmpd="sng">
            <a:solidFill>
              <a:srgbClr val="0254EC"/>
            </a:solidFill>
            <a:prstDash val="solid"/>
            <a:round/>
            <a:headEnd type="none" w="sm" len="sm"/>
            <a:tailEnd type="none" w="sm" len="sm"/>
          </a:ln>
        </p:spPr>
      </p:cxnSp>
      <p:cxnSp>
        <p:nvCxnSpPr>
          <p:cNvPr id="658" name="Google Shape;658;p57"/>
          <p:cNvCxnSpPr/>
          <p:nvPr/>
        </p:nvCxnSpPr>
        <p:spPr>
          <a:xfrm>
            <a:off x="2820861" y="3916487"/>
            <a:ext cx="1982700" cy="0"/>
          </a:xfrm>
          <a:prstGeom prst="straightConnector1">
            <a:avLst/>
          </a:prstGeom>
          <a:noFill/>
          <a:ln w="9525" cap="flat" cmpd="sng">
            <a:solidFill>
              <a:srgbClr val="0254EC"/>
            </a:solidFill>
            <a:prstDash val="solid"/>
            <a:round/>
            <a:headEnd type="none" w="sm" len="sm"/>
            <a:tailEnd type="none" w="sm" len="sm"/>
          </a:ln>
        </p:spPr>
      </p:cxnSp>
      <p:sp>
        <p:nvSpPr>
          <p:cNvPr id="659" name="Google Shape;659;p57"/>
          <p:cNvSpPr txBox="1"/>
          <p:nvPr/>
        </p:nvSpPr>
        <p:spPr>
          <a:xfrm>
            <a:off x="904675" y="4416650"/>
            <a:ext cx="17328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Full visibility into vulnerabilities across all environments</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660" name="Google Shape;660;p57"/>
          <p:cNvSpPr txBox="1"/>
          <p:nvPr/>
        </p:nvSpPr>
        <p:spPr>
          <a:xfrm>
            <a:off x="2942638" y="3992675"/>
            <a:ext cx="1732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Achieve “Zero Critical” Risk Issues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
        <p:nvSpPr>
          <p:cNvPr id="661" name="Google Shape;661;p57"/>
          <p:cNvSpPr txBox="1"/>
          <p:nvPr/>
        </p:nvSpPr>
        <p:spPr>
          <a:xfrm>
            <a:off x="4934925" y="3751400"/>
            <a:ext cx="1732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Goal: Meet all SLAs for Posture Issues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662" name="Google Shape;662;p57" title="Group 1000004546.png"/>
          <p:cNvPicPr preferRelativeResize="0"/>
          <p:nvPr/>
        </p:nvPicPr>
        <p:blipFill rotWithShape="1">
          <a:blip r:embed="rId4">
            <a:alphaModFix/>
          </a:blip>
          <a:srcRect/>
          <a:stretch/>
        </p:blipFill>
        <p:spPr>
          <a:xfrm>
            <a:off x="6717625" y="465775"/>
            <a:ext cx="883400" cy="883400"/>
          </a:xfrm>
          <a:prstGeom prst="rect">
            <a:avLst/>
          </a:prstGeom>
          <a:noFill/>
          <a:ln>
            <a:noFill/>
          </a:ln>
        </p:spPr>
      </p:pic>
      <p:pic>
        <p:nvPicPr>
          <p:cNvPr id="663" name="Google Shape;663;p57" title="Group 1000004545.png"/>
          <p:cNvPicPr preferRelativeResize="0"/>
          <p:nvPr/>
        </p:nvPicPr>
        <p:blipFill rotWithShape="1">
          <a:blip r:embed="rId5">
            <a:alphaModFix/>
          </a:blip>
          <a:srcRect/>
          <a:stretch/>
        </p:blipFill>
        <p:spPr>
          <a:xfrm>
            <a:off x="4685600" y="1077601"/>
            <a:ext cx="883400" cy="883400"/>
          </a:xfrm>
          <a:prstGeom prst="rect">
            <a:avLst/>
          </a:prstGeom>
          <a:noFill/>
          <a:ln>
            <a:noFill/>
          </a:ln>
        </p:spPr>
      </p:pic>
      <p:pic>
        <p:nvPicPr>
          <p:cNvPr id="664" name="Google Shape;664;p57" title="Group 1000004543_1.png"/>
          <p:cNvPicPr preferRelativeResize="0"/>
          <p:nvPr/>
        </p:nvPicPr>
        <p:blipFill rotWithShape="1">
          <a:blip r:embed="rId6">
            <a:alphaModFix/>
          </a:blip>
          <a:srcRect/>
          <a:stretch/>
        </p:blipFill>
        <p:spPr>
          <a:xfrm>
            <a:off x="685650" y="2277531"/>
            <a:ext cx="883400" cy="883400"/>
          </a:xfrm>
          <a:prstGeom prst="rect">
            <a:avLst/>
          </a:prstGeom>
          <a:noFill/>
          <a:ln>
            <a:noFill/>
          </a:ln>
        </p:spPr>
      </p:pic>
      <p:pic>
        <p:nvPicPr>
          <p:cNvPr id="665" name="Google Shape;665;p57" title="Group 1000004544.png"/>
          <p:cNvPicPr preferRelativeResize="0"/>
          <p:nvPr/>
        </p:nvPicPr>
        <p:blipFill rotWithShape="1">
          <a:blip r:embed="rId7">
            <a:alphaModFix/>
          </a:blip>
          <a:srcRect/>
          <a:stretch/>
        </p:blipFill>
        <p:spPr>
          <a:xfrm>
            <a:off x="2698497" y="1693375"/>
            <a:ext cx="883400" cy="883400"/>
          </a:xfrm>
          <a:prstGeom prst="rect">
            <a:avLst/>
          </a:prstGeom>
          <a:noFill/>
          <a:ln>
            <a:noFill/>
          </a:ln>
        </p:spPr>
      </p:pic>
      <p:sp>
        <p:nvSpPr>
          <p:cNvPr id="666" name="Google Shape;666;p57"/>
          <p:cNvSpPr/>
          <p:nvPr/>
        </p:nvSpPr>
        <p:spPr>
          <a:xfrm>
            <a:off x="3212396" y="629773"/>
            <a:ext cx="1453800" cy="252300"/>
          </a:xfrm>
          <a:prstGeom prst="roundRect">
            <a:avLst>
              <a:gd name="adj" fmla="val 50000"/>
            </a:avLst>
          </a:prstGeom>
          <a:solidFill>
            <a:srgbClr val="FFFFFF"/>
          </a:solidFill>
          <a:ln w="11350" cap="flat" cmpd="sng">
            <a:solidFill>
              <a:srgbClr val="CADAFF"/>
            </a:solidFill>
            <a:prstDash val="solid"/>
            <a:miter lim="80"/>
            <a:headEnd type="none" w="sm" len="sm"/>
            <a:tailEnd type="none" w="sm" len="sm"/>
          </a:ln>
        </p:spPr>
        <p:txBody>
          <a:bodyPr spcFirstLastPara="1" wrap="square" lIns="61300" tIns="30650" rIns="61300" bIns="30650" anchor="t" anchorCtr="0">
            <a:noAutofit/>
          </a:bodyPr>
          <a:lstStyle/>
          <a:p>
            <a:pPr marL="0" marR="0" lvl="0" indent="0" algn="ctr" rtl="0">
              <a:lnSpc>
                <a:spcPct val="100000"/>
              </a:lnSpc>
              <a:spcBef>
                <a:spcPts val="0"/>
              </a:spcBef>
              <a:spcAft>
                <a:spcPts val="0"/>
              </a:spcAft>
              <a:buClr>
                <a:srgbClr val="0153EB"/>
              </a:buClr>
              <a:buSzPts val="596"/>
              <a:buFont typeface="Calibri"/>
              <a:buNone/>
            </a:pPr>
            <a:endParaRPr sz="596"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667" name="Google Shape;667;p57"/>
          <p:cNvSpPr txBox="1"/>
          <p:nvPr/>
        </p:nvSpPr>
        <p:spPr>
          <a:xfrm>
            <a:off x="3497502" y="635426"/>
            <a:ext cx="1289400" cy="247800"/>
          </a:xfrm>
          <a:prstGeom prst="rect">
            <a:avLst/>
          </a:prstGeom>
          <a:noFill/>
          <a:ln>
            <a:noFill/>
          </a:ln>
        </p:spPr>
        <p:txBody>
          <a:bodyPr spcFirstLastPara="1" wrap="square" lIns="0" tIns="40875" rIns="81750" bIns="40875" anchor="t" anchorCtr="0">
            <a:spAutoFit/>
          </a:bodyPr>
          <a:lstStyle/>
          <a:p>
            <a:pPr marL="0" marR="0" lvl="0" indent="0" algn="l" rtl="0">
              <a:lnSpc>
                <a:spcPct val="100000"/>
              </a:lnSpc>
              <a:spcBef>
                <a:spcPts val="0"/>
              </a:spcBef>
              <a:spcAft>
                <a:spcPts val="0"/>
              </a:spcAft>
              <a:buClr>
                <a:srgbClr val="0153EB"/>
              </a:buClr>
              <a:buSzPts val="1073"/>
              <a:buFont typeface="DM Sans Medium"/>
              <a:buNone/>
            </a:pPr>
            <a:r>
              <a:rPr lang="en" sz="1073" b="0" i="0" u="none" strike="noStrike" cap="none">
                <a:solidFill>
                  <a:srgbClr val="0153EB"/>
                </a:solidFill>
                <a:latin typeface="Calibri" panose="020F0502020204030204" pitchFamily="34" charset="0"/>
                <a:ea typeface="Calibri" panose="020F0502020204030204" pitchFamily="34" charset="0"/>
                <a:cs typeface="Calibri" panose="020F0502020204030204" pitchFamily="34" charset="0"/>
                <a:sym typeface="Poppins Medium"/>
              </a:rPr>
              <a:t>Where are you?</a:t>
            </a:r>
            <a:endParaRPr sz="131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668" name="Google Shape;668;p57" title="icon.png"/>
          <p:cNvPicPr preferRelativeResize="0"/>
          <p:nvPr/>
        </p:nvPicPr>
        <p:blipFill rotWithShape="1">
          <a:blip r:embed="rId8">
            <a:alphaModFix/>
          </a:blip>
          <a:srcRect/>
          <a:stretch/>
        </p:blipFill>
        <p:spPr>
          <a:xfrm>
            <a:off x="3149780" y="617823"/>
            <a:ext cx="272612" cy="27261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73"/>
        <p:cNvGrpSpPr/>
        <p:nvPr/>
      </p:nvGrpSpPr>
      <p:grpSpPr>
        <a:xfrm>
          <a:off x="0" y="0"/>
          <a:ext cx="0" cy="0"/>
          <a:chOff x="0" y="0"/>
          <a:chExt cx="0" cy="0"/>
        </a:xfrm>
      </p:grpSpPr>
      <p:sp>
        <p:nvSpPr>
          <p:cNvPr id="674" name="Google Shape;674;p58"/>
          <p:cNvSpPr txBox="1">
            <a:spLocks noGrp="1"/>
          </p:cNvSpPr>
          <p:nvPr>
            <p:ph type="title" idx="4294967295"/>
          </p:nvPr>
        </p:nvSpPr>
        <p:spPr>
          <a:xfrm>
            <a:off x="150" y="1666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Security Posture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675" name="Google Shape;675;p58"/>
          <p:cNvPicPr preferRelativeResize="0"/>
          <p:nvPr/>
        </p:nvPicPr>
        <p:blipFill rotWithShape="1">
          <a:blip r:embed="rId3">
            <a:alphaModFix/>
          </a:blip>
          <a:srcRect/>
          <a:stretch/>
        </p:blipFill>
        <p:spPr>
          <a:xfrm>
            <a:off x="328386" y="891625"/>
            <a:ext cx="2104822" cy="1177356"/>
          </a:xfrm>
          <a:prstGeom prst="rect">
            <a:avLst/>
          </a:prstGeom>
          <a:noFill/>
          <a:ln w="6350">
            <a:solidFill>
              <a:schemeClr val="accent1"/>
            </a:solidFill>
          </a:ln>
        </p:spPr>
      </p:pic>
      <p:sp>
        <p:nvSpPr>
          <p:cNvPr id="676" name="Google Shape;676;p58"/>
          <p:cNvSpPr txBox="1"/>
          <p:nvPr/>
        </p:nvSpPr>
        <p:spPr>
          <a:xfrm>
            <a:off x="328224" y="961165"/>
            <a:ext cx="21051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Current Security Score</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77" name="Google Shape;677;p58"/>
          <p:cNvSpPr txBox="1"/>
          <p:nvPr/>
        </p:nvSpPr>
        <p:spPr>
          <a:xfrm>
            <a:off x="328682" y="1709240"/>
            <a:ext cx="21048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90 Day Trend {{s1d}}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78" name="Google Shape;678;p58"/>
          <p:cNvSpPr txBox="1"/>
          <p:nvPr/>
        </p:nvSpPr>
        <p:spPr>
          <a:xfrm>
            <a:off x="325825" y="1275254"/>
            <a:ext cx="21048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{{SS}}%</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79" name="Google Shape;679;p58"/>
          <p:cNvPicPr preferRelativeResize="0"/>
          <p:nvPr/>
        </p:nvPicPr>
        <p:blipFill rotWithShape="1">
          <a:blip r:embed="rId3">
            <a:alphaModFix/>
          </a:blip>
          <a:srcRect/>
          <a:stretch/>
        </p:blipFill>
        <p:spPr>
          <a:xfrm>
            <a:off x="2581991" y="897686"/>
            <a:ext cx="2072709" cy="1177356"/>
          </a:xfrm>
          <a:prstGeom prst="rect">
            <a:avLst/>
          </a:prstGeom>
          <a:noFill/>
          <a:ln w="6350">
            <a:solidFill>
              <a:schemeClr val="accent1"/>
            </a:solidFill>
          </a:ln>
        </p:spPr>
      </p:pic>
      <p:sp>
        <p:nvSpPr>
          <p:cNvPr id="680" name="Google Shape;680;p58"/>
          <p:cNvSpPr txBox="1"/>
          <p:nvPr/>
        </p:nvSpPr>
        <p:spPr>
          <a:xfrm>
            <a:off x="2581870" y="966862"/>
            <a:ext cx="2067300" cy="2610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Industry Benchmark</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1" name="Google Shape;681;p58"/>
          <p:cNvSpPr txBox="1"/>
          <p:nvPr/>
        </p:nvSpPr>
        <p:spPr>
          <a:xfrm>
            <a:off x="2582409" y="1756556"/>
            <a:ext cx="2065500" cy="389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Security Score Gap {{SG}}%</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2" name="Google Shape;682;p58"/>
          <p:cNvSpPr txBox="1"/>
          <p:nvPr/>
        </p:nvSpPr>
        <p:spPr>
          <a:xfrm>
            <a:off x="2580848" y="1468922"/>
            <a:ext cx="2065500" cy="3318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700"/>
              <a:buFont typeface="Arial"/>
              <a:buNone/>
            </a:pPr>
            <a:r>
              <a:rPr lang="en" sz="17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{{SP}}%</a:t>
            </a:r>
            <a:endParaRPr sz="17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83" name="Google Shape;683;p58"/>
          <p:cNvPicPr preferRelativeResize="0"/>
          <p:nvPr/>
        </p:nvPicPr>
        <p:blipFill rotWithShape="1">
          <a:blip r:embed="rId3">
            <a:alphaModFix/>
          </a:blip>
          <a:srcRect/>
          <a:stretch/>
        </p:blipFill>
        <p:spPr>
          <a:xfrm>
            <a:off x="4776020" y="897687"/>
            <a:ext cx="1951974" cy="1177356"/>
          </a:xfrm>
          <a:prstGeom prst="rect">
            <a:avLst/>
          </a:prstGeom>
          <a:noFill/>
          <a:ln w="6350">
            <a:solidFill>
              <a:schemeClr val="accent1"/>
            </a:solidFill>
          </a:ln>
        </p:spPr>
      </p:pic>
      <p:sp>
        <p:nvSpPr>
          <p:cNvPr id="684" name="Google Shape;684;p58"/>
          <p:cNvSpPr txBox="1"/>
          <p:nvPr/>
        </p:nvSpPr>
        <p:spPr>
          <a:xfrm>
            <a:off x="4775870" y="955658"/>
            <a:ext cx="19521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Open Critical Issues</a:t>
            </a:r>
            <a:r>
              <a:rPr lang="en"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5" name="Google Shape;685;p58"/>
          <p:cNvSpPr txBox="1"/>
          <p:nvPr/>
        </p:nvSpPr>
        <p:spPr>
          <a:xfrm>
            <a:off x="4775970" y="1697930"/>
            <a:ext cx="19521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Resolved Criticals </a:t>
            </a:r>
            <a:r>
              <a:rPr lang="en" sz="11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a:t>
            </a:r>
            <a:r>
              <a:rPr lang="en"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0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{{RC}}</a:t>
            </a:r>
            <a:endParaRPr sz="10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6" name="Google Shape;686;p58"/>
          <p:cNvSpPr txBox="1"/>
          <p:nvPr/>
        </p:nvSpPr>
        <p:spPr>
          <a:xfrm>
            <a:off x="4773495" y="1274373"/>
            <a:ext cx="19518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{{OC}}</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87" name="Google Shape;687;p58"/>
          <p:cNvPicPr preferRelativeResize="0"/>
          <p:nvPr/>
        </p:nvPicPr>
        <p:blipFill rotWithShape="1">
          <a:blip r:embed="rId3">
            <a:alphaModFix/>
          </a:blip>
          <a:srcRect/>
          <a:stretch/>
        </p:blipFill>
        <p:spPr>
          <a:xfrm>
            <a:off x="6866110" y="897687"/>
            <a:ext cx="1951974" cy="1177356"/>
          </a:xfrm>
          <a:prstGeom prst="rect">
            <a:avLst/>
          </a:prstGeom>
          <a:noFill/>
          <a:ln w="6350">
            <a:solidFill>
              <a:schemeClr val="accent1"/>
            </a:solidFill>
          </a:ln>
        </p:spPr>
      </p:pic>
      <p:sp>
        <p:nvSpPr>
          <p:cNvPr id="688" name="Google Shape;688;p58"/>
          <p:cNvSpPr txBox="1"/>
          <p:nvPr/>
        </p:nvSpPr>
        <p:spPr>
          <a:xfrm>
            <a:off x="6865973" y="948265"/>
            <a:ext cx="1952100" cy="2577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Open High Issues</a:t>
            </a:r>
            <a:r>
              <a:rPr lang="en"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89" name="Google Shape;689;p58"/>
          <p:cNvSpPr txBox="1"/>
          <p:nvPr/>
        </p:nvSpPr>
        <p:spPr>
          <a:xfrm>
            <a:off x="6866072" y="1682413"/>
            <a:ext cx="1952100" cy="384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Resolved Highs</a:t>
            </a:r>
            <a:r>
              <a:rPr lang="en"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100" b="0" i="0" u="none" strike="noStrike" cap="none" dirty="0">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a:t>
            </a:r>
            <a:r>
              <a:rPr lang="en" sz="10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0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{{RH}}</a:t>
            </a:r>
            <a:endParaRPr sz="9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0" name="Google Shape;690;p58"/>
          <p:cNvSpPr txBox="1"/>
          <p:nvPr/>
        </p:nvSpPr>
        <p:spPr>
          <a:xfrm>
            <a:off x="6863397" y="1267303"/>
            <a:ext cx="1952100" cy="327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{{OH}}</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91" name="Google Shape;691;p58"/>
          <p:cNvPicPr preferRelativeResize="0"/>
          <p:nvPr/>
        </p:nvPicPr>
        <p:blipFill rotWithShape="1">
          <a:blip r:embed="rId3">
            <a:alphaModFix/>
          </a:blip>
          <a:srcRect/>
          <a:stretch/>
        </p:blipFill>
        <p:spPr>
          <a:xfrm>
            <a:off x="331250" y="2224649"/>
            <a:ext cx="2100500" cy="1268051"/>
          </a:xfrm>
          <a:prstGeom prst="rect">
            <a:avLst/>
          </a:prstGeom>
          <a:noFill/>
          <a:ln w="6350">
            <a:solidFill>
              <a:schemeClr val="accent1"/>
            </a:solidFill>
          </a:ln>
        </p:spPr>
      </p:pic>
      <p:sp>
        <p:nvSpPr>
          <p:cNvPr id="692" name="Google Shape;692;p58"/>
          <p:cNvSpPr txBox="1"/>
          <p:nvPr/>
        </p:nvSpPr>
        <p:spPr>
          <a:xfrm>
            <a:off x="331089" y="2303994"/>
            <a:ext cx="21006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Ignored Issues</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3" name="Google Shape;693;p58"/>
          <p:cNvSpPr txBox="1"/>
          <p:nvPr/>
        </p:nvSpPr>
        <p:spPr>
          <a:xfrm>
            <a:off x="331546" y="3000634"/>
            <a:ext cx="21003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Total Ignored Issues</a:t>
            </a:r>
            <a:endParaRPr sz="10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4" name="Google Shape;694;p58"/>
          <p:cNvSpPr txBox="1"/>
          <p:nvPr/>
        </p:nvSpPr>
        <p:spPr>
          <a:xfrm>
            <a:off x="328694" y="2629117"/>
            <a:ext cx="21003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{{RJ}}</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95" name="Google Shape;695;p58"/>
          <p:cNvPicPr preferRelativeResize="0"/>
          <p:nvPr/>
        </p:nvPicPr>
        <p:blipFill rotWithShape="1">
          <a:blip r:embed="rId3">
            <a:alphaModFix/>
          </a:blip>
          <a:srcRect/>
          <a:stretch/>
        </p:blipFill>
        <p:spPr>
          <a:xfrm>
            <a:off x="2586575" y="2230725"/>
            <a:ext cx="2100372" cy="1268051"/>
          </a:xfrm>
          <a:prstGeom prst="rect">
            <a:avLst/>
          </a:prstGeom>
          <a:noFill/>
          <a:ln w="6350">
            <a:solidFill>
              <a:schemeClr val="accent1"/>
            </a:solidFill>
          </a:ln>
        </p:spPr>
      </p:pic>
      <p:sp>
        <p:nvSpPr>
          <p:cNvPr id="696" name="Google Shape;696;p58"/>
          <p:cNvSpPr txBox="1"/>
          <p:nvPr/>
        </p:nvSpPr>
        <p:spPr>
          <a:xfrm>
            <a:off x="2586459" y="2311150"/>
            <a:ext cx="2100300" cy="277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AI Findings</a:t>
            </a:r>
            <a:r>
              <a:rPr lang="en"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2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697" name="Google Shape;697;p58"/>
          <p:cNvSpPr txBox="1"/>
          <p:nvPr/>
        </p:nvSpPr>
        <p:spPr>
          <a:xfrm>
            <a:off x="2583825" y="2603552"/>
            <a:ext cx="2100300" cy="10188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Security Findings: {{AI_SF}}</a:t>
            </a:r>
            <a:b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b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Configuration Findings: {{AI_MF}}</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AI Inventory Findings: {{AI_IF}}</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698" name="Google Shape;698;p58"/>
          <p:cNvPicPr preferRelativeResize="0"/>
          <p:nvPr/>
        </p:nvPicPr>
        <p:blipFill rotWithShape="1">
          <a:blip r:embed="rId10">
            <a:alphaModFix/>
          </a:blip>
          <a:srcRect/>
          <a:stretch/>
        </p:blipFill>
        <p:spPr>
          <a:xfrm>
            <a:off x="334850" y="3601610"/>
            <a:ext cx="2100726" cy="1404216"/>
          </a:xfrm>
          <a:prstGeom prst="rect">
            <a:avLst/>
          </a:prstGeom>
          <a:noFill/>
          <a:ln w="6350">
            <a:solidFill>
              <a:schemeClr val="accent1"/>
            </a:solidFill>
          </a:ln>
        </p:spPr>
      </p:pic>
      <p:sp>
        <p:nvSpPr>
          <p:cNvPr id="699" name="Google Shape;699;p58"/>
          <p:cNvSpPr txBox="1"/>
          <p:nvPr/>
        </p:nvSpPr>
        <p:spPr>
          <a:xfrm>
            <a:off x="377423" y="3721314"/>
            <a:ext cx="2028884" cy="3846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3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Threats MTTR </a:t>
            </a:r>
            <a:r>
              <a:rPr lang="en" sz="1300" b="0" i="0" u="none" strike="noStrike" cap="none" dirty="0">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a:t>
            </a:r>
            <a:endParaRPr sz="13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00" name="Google Shape;700;p58"/>
          <p:cNvSpPr txBox="1"/>
          <p:nvPr/>
        </p:nvSpPr>
        <p:spPr>
          <a:xfrm>
            <a:off x="368756" y="4062355"/>
            <a:ext cx="2028884" cy="382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{{MTTR_O}}</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01" name="Google Shape;701;p58"/>
          <p:cNvSpPr txBox="1"/>
          <p:nvPr/>
        </p:nvSpPr>
        <p:spPr>
          <a:xfrm>
            <a:off x="368756" y="4505977"/>
            <a:ext cx="2028884" cy="23013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Days</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02" name="Google Shape;702;p58"/>
          <p:cNvPicPr preferRelativeResize="0"/>
          <p:nvPr/>
        </p:nvPicPr>
        <p:blipFill rotWithShape="1">
          <a:blip r:embed="rId10">
            <a:alphaModFix/>
          </a:blip>
          <a:srcRect/>
          <a:stretch/>
        </p:blipFill>
        <p:spPr>
          <a:xfrm>
            <a:off x="2585906" y="3601600"/>
            <a:ext cx="2100895" cy="1404216"/>
          </a:xfrm>
          <a:prstGeom prst="rect">
            <a:avLst/>
          </a:prstGeom>
          <a:noFill/>
          <a:ln w="6350">
            <a:solidFill>
              <a:schemeClr val="accent1"/>
            </a:solidFill>
          </a:ln>
        </p:spPr>
      </p:pic>
      <p:sp>
        <p:nvSpPr>
          <p:cNvPr id="703" name="Google Shape;703;p58"/>
          <p:cNvSpPr txBox="1"/>
          <p:nvPr/>
        </p:nvSpPr>
        <p:spPr>
          <a:xfrm>
            <a:off x="2644411" y="3707460"/>
            <a:ext cx="1986065" cy="3846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3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2">
                  <a:extLst>
                    <a:ext uri="{A12FA001-AC4F-418D-AE19-62706E023703}">
                      <ahyp:hlinkClr xmlns:ahyp="http://schemas.microsoft.com/office/drawing/2018/hyperlinkcolor" val="tx"/>
                    </a:ext>
                  </a:extLst>
                </a:hlinkClick>
              </a:rPr>
              <a:t>Open Threats</a:t>
            </a:r>
            <a:r>
              <a:rPr lang="en" sz="13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endParaRPr sz="13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04" name="Google Shape;704;p58"/>
          <p:cNvSpPr txBox="1"/>
          <p:nvPr/>
        </p:nvSpPr>
        <p:spPr>
          <a:xfrm>
            <a:off x="2609187" y="4107445"/>
            <a:ext cx="2047876" cy="382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{{OT}}</a:t>
            </a:r>
            <a:endParaRPr sz="21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05" name="Google Shape;705;p58"/>
          <p:cNvSpPr txBox="1"/>
          <p:nvPr/>
        </p:nvSpPr>
        <p:spPr>
          <a:xfrm>
            <a:off x="2609180" y="4597077"/>
            <a:ext cx="2047876" cy="327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Resolved Threats: {{RT}}</a:t>
            </a:r>
            <a:b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Past 90 Days</a:t>
            </a:r>
            <a:endParaRPr sz="12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06" name="Google Shape;706;p58"/>
          <p:cNvSpPr txBox="1"/>
          <p:nvPr/>
        </p:nvSpPr>
        <p:spPr>
          <a:xfrm>
            <a:off x="2587908" y="1206673"/>
            <a:ext cx="2067000" cy="331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Industry: {{SS_I}}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07" name="Google Shape;707;p58"/>
          <p:cNvPicPr preferRelativeResize="0"/>
          <p:nvPr/>
        </p:nvPicPr>
        <p:blipFill rotWithShape="1">
          <a:blip r:embed="rId13">
            <a:alphaModFix/>
          </a:blip>
          <a:srcRect/>
          <a:stretch/>
        </p:blipFill>
        <p:spPr>
          <a:xfrm>
            <a:off x="4848909" y="2345935"/>
            <a:ext cx="3994750" cy="1755250"/>
          </a:xfrm>
          <a:prstGeom prst="rect">
            <a:avLst/>
          </a:prstGeom>
          <a:noFill/>
          <a:ln w="6350">
            <a:solidFill>
              <a:schemeClr val="accent1"/>
            </a:solidFill>
          </a:ln>
        </p:spPr>
      </p:pic>
      <p:pic>
        <p:nvPicPr>
          <p:cNvPr id="708" name="Google Shape;708;p58"/>
          <p:cNvPicPr preferRelativeResize="0"/>
          <p:nvPr/>
        </p:nvPicPr>
        <p:blipFill rotWithShape="1">
          <a:blip r:embed="rId14">
            <a:alphaModFix/>
          </a:blip>
          <a:srcRect/>
          <a:stretch/>
        </p:blipFill>
        <p:spPr>
          <a:xfrm>
            <a:off x="5470184" y="3177785"/>
            <a:ext cx="687200" cy="382200"/>
          </a:xfrm>
          <a:prstGeom prst="rect">
            <a:avLst/>
          </a:prstGeom>
          <a:noFill/>
          <a:ln>
            <a:noFill/>
          </a:ln>
        </p:spPr>
      </p:pic>
      <p:sp>
        <p:nvSpPr>
          <p:cNvPr id="709" name="Google Shape;709;p58"/>
          <p:cNvSpPr txBox="1"/>
          <p:nvPr/>
        </p:nvSpPr>
        <p:spPr>
          <a:xfrm>
            <a:off x="5161247" y="2989098"/>
            <a:ext cx="1306500" cy="363900"/>
          </a:xfrm>
          <a:prstGeom prst="rect">
            <a:avLst/>
          </a:prstGeom>
          <a:noFill/>
          <a:ln>
            <a:noFill/>
          </a:ln>
        </p:spPr>
        <p:txBody>
          <a:bodyPr spcFirstLastPara="1" wrap="square" lIns="101700" tIns="101700" rIns="101700" bIns="101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{{AVG_AGEC}}</a:t>
            </a:r>
            <a:r>
              <a:rPr lang="en" sz="12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br>
              <a:rPr lang="en" sz="12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Days</a:t>
            </a:r>
            <a:endParaRPr sz="1101" b="1"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10" name="Google Shape;710;p58"/>
          <p:cNvPicPr preferRelativeResize="0"/>
          <p:nvPr/>
        </p:nvPicPr>
        <p:blipFill rotWithShape="1">
          <a:blip r:embed="rId14">
            <a:alphaModFix/>
          </a:blip>
          <a:srcRect/>
          <a:stretch/>
        </p:blipFill>
        <p:spPr>
          <a:xfrm>
            <a:off x="7458900" y="3219400"/>
            <a:ext cx="760050" cy="382200"/>
          </a:xfrm>
          <a:prstGeom prst="rect">
            <a:avLst/>
          </a:prstGeom>
          <a:noFill/>
          <a:ln>
            <a:noFill/>
          </a:ln>
        </p:spPr>
      </p:pic>
      <p:sp>
        <p:nvSpPr>
          <p:cNvPr id="711" name="Google Shape;711;p58"/>
          <p:cNvSpPr txBox="1"/>
          <p:nvPr/>
        </p:nvSpPr>
        <p:spPr>
          <a:xfrm>
            <a:off x="7188866" y="2990088"/>
            <a:ext cx="1306500" cy="363900"/>
          </a:xfrm>
          <a:prstGeom prst="rect">
            <a:avLst/>
          </a:prstGeom>
          <a:noFill/>
          <a:ln>
            <a:noFill/>
          </a:ln>
        </p:spPr>
        <p:txBody>
          <a:bodyPr spcFirstLastPara="1" wrap="square" lIns="101700" tIns="101700" rIns="101700" bIns="101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{{AVG_AGEH}} </a:t>
            </a:r>
            <a:br>
              <a:rPr lang="en" sz="1212"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br>
            <a:r>
              <a:rPr lang="en" sz="1324" b="1"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Days</a:t>
            </a:r>
            <a:endParaRPr sz="1101" b="1"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16"/>
        <p:cNvGrpSpPr/>
        <p:nvPr/>
      </p:nvGrpSpPr>
      <p:grpSpPr>
        <a:xfrm>
          <a:off x="0" y="0"/>
          <a:ext cx="0" cy="0"/>
          <a:chOff x="0" y="0"/>
          <a:chExt cx="0" cy="0"/>
        </a:xfrm>
      </p:grpSpPr>
      <p:sp>
        <p:nvSpPr>
          <p:cNvPr id="717" name="Google Shape;717;p59"/>
          <p:cNvSpPr txBox="1">
            <a:spLocks noGrp="1"/>
          </p:cNvSpPr>
          <p:nvPr>
            <p:ph type="title" idx="4294967295"/>
          </p:nvPr>
        </p:nvSpPr>
        <p:spPr>
          <a:xfrm>
            <a:off x="150" y="1666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Security Risk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718" name="Google Shape;718;p59"/>
          <p:cNvPicPr preferRelativeResize="0"/>
          <p:nvPr/>
        </p:nvPicPr>
        <p:blipFill rotWithShape="1">
          <a:blip r:embed="rId3">
            <a:alphaModFix/>
          </a:blip>
          <a:srcRect/>
          <a:stretch/>
        </p:blipFill>
        <p:spPr>
          <a:xfrm>
            <a:off x="107950" y="673900"/>
            <a:ext cx="7440046" cy="1064875"/>
          </a:xfrm>
          <a:prstGeom prst="rect">
            <a:avLst/>
          </a:prstGeom>
          <a:noFill/>
          <a:ln w="6350">
            <a:solidFill>
              <a:schemeClr val="accent1"/>
            </a:solidFill>
          </a:ln>
        </p:spPr>
      </p:pic>
      <p:sp>
        <p:nvSpPr>
          <p:cNvPr id="719" name="Google Shape;719;p59"/>
          <p:cNvSpPr txBox="1"/>
          <p:nvPr/>
        </p:nvSpPr>
        <p:spPr>
          <a:xfrm>
            <a:off x="259724" y="709330"/>
            <a:ext cx="1928400" cy="361500"/>
          </a:xfrm>
          <a:prstGeom prst="rect">
            <a:avLst/>
          </a:prstGeom>
          <a:noFill/>
          <a:ln>
            <a:noFill/>
          </a:ln>
        </p:spPr>
        <p:txBody>
          <a:bodyPr spcFirstLastPara="1" wrap="square" lIns="68575" tIns="34275" rIns="68575" bIns="34275" anchor="t" anchorCtr="0">
            <a:normAutofit/>
          </a:bodyPr>
          <a:lstStyle/>
          <a:p>
            <a:pPr marL="0" marR="0" lvl="0" indent="0" algn="l" rtl="0">
              <a:lnSpc>
                <a:spcPct val="90000"/>
              </a:lnSpc>
              <a:spcBef>
                <a:spcPts val="0"/>
              </a:spcBef>
              <a:spcAft>
                <a:spcPts val="0"/>
              </a:spcAft>
              <a:buClr>
                <a:schemeClr val="dk2"/>
              </a:buClr>
              <a:buSzPts val="1500"/>
              <a:buFont typeface="Arial"/>
              <a:buNone/>
            </a:pPr>
            <a:r>
              <a:rPr lang="en" sz="16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External Exposure</a:t>
            </a:r>
            <a:endParaRPr sz="16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0" name="Google Shape;720;p59"/>
          <p:cNvSpPr txBox="1"/>
          <p:nvPr/>
        </p:nvSpPr>
        <p:spPr>
          <a:xfrm>
            <a:off x="269504" y="1081747"/>
            <a:ext cx="3964500" cy="359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HTTP Application Endpoints  {{AE_HTTP}}</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21" name="Google Shape;721;p59"/>
          <p:cNvSpPr txBox="1"/>
          <p:nvPr/>
        </p:nvSpPr>
        <p:spPr>
          <a:xfrm>
            <a:off x="273692" y="1374797"/>
            <a:ext cx="3964500" cy="359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rPr>
              <a:t>Non-HTTP Application Endpoints  {{AE_NHTTP}}</a:t>
            </a:r>
            <a:endParaRPr sz="10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722" name="Google Shape;722;p59"/>
          <p:cNvSpPr txBox="1"/>
          <p:nvPr/>
        </p:nvSpPr>
        <p:spPr>
          <a:xfrm>
            <a:off x="3418767" y="1130944"/>
            <a:ext cx="1848000" cy="462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Estimated # of Additional Workloads to Scan via Advanced ASM</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3" name="Google Shape;723;p59"/>
          <p:cNvSpPr txBox="1"/>
          <p:nvPr/>
        </p:nvSpPr>
        <p:spPr>
          <a:xfrm>
            <a:off x="5162479" y="1199657"/>
            <a:ext cx="2395200" cy="407700"/>
          </a:xfrm>
          <a:prstGeom prst="rect">
            <a:avLst/>
          </a:prstGeom>
          <a:noFill/>
          <a:ln>
            <a:noFill/>
          </a:ln>
        </p:spPr>
        <p:txBody>
          <a:bodyPr spcFirstLastPara="1" wrap="square" lIns="0" tIns="0" rIns="0" bIns="0" anchor="ctr" anchorCtr="0">
            <a:noAutofit/>
          </a:bodyPr>
          <a:lstStyle/>
          <a:p>
            <a:pPr marL="0" marR="0" lvl="0" indent="0" algn="l" rtl="0">
              <a:lnSpc>
                <a:spcPct val="150000"/>
              </a:lnSpc>
              <a:spcBef>
                <a:spcPts val="0"/>
              </a:spcBef>
              <a:spcAft>
                <a:spcPts val="0"/>
              </a:spcAft>
              <a:buClr>
                <a:schemeClr val="dk1"/>
              </a:buClr>
              <a:buSzPts val="1100"/>
              <a:buFont typeface="Arial"/>
              <a:buNone/>
            </a:pPr>
            <a:r>
              <a:rPr lang="en" sz="13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rPr>
              <a:t>=  </a:t>
            </a:r>
            <a:r>
              <a:rPr lang="en" sz="13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Medium"/>
              </a:rPr>
              <a:t>{{AE_TOT}} Workloads</a:t>
            </a:r>
            <a:endParaRPr sz="14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724" name="Google Shape;724;p59" title="Group 1000004640.png"/>
          <p:cNvPicPr preferRelativeResize="0"/>
          <p:nvPr/>
        </p:nvPicPr>
        <p:blipFill rotWithShape="1">
          <a:blip r:embed="rId4">
            <a:alphaModFix/>
          </a:blip>
          <a:srcRect/>
          <a:stretch/>
        </p:blipFill>
        <p:spPr>
          <a:xfrm>
            <a:off x="7961878" y="1035264"/>
            <a:ext cx="958486" cy="956160"/>
          </a:xfrm>
          <a:prstGeom prst="rect">
            <a:avLst/>
          </a:prstGeom>
          <a:noFill/>
          <a:ln>
            <a:noFill/>
          </a:ln>
        </p:spPr>
      </p:pic>
      <p:pic>
        <p:nvPicPr>
          <p:cNvPr id="725" name="Google Shape;725;p59" title="Group 1000004641.png"/>
          <p:cNvPicPr preferRelativeResize="0"/>
          <p:nvPr/>
        </p:nvPicPr>
        <p:blipFill rotWithShape="1">
          <a:blip r:embed="rId5">
            <a:alphaModFix/>
          </a:blip>
          <a:srcRect/>
          <a:stretch/>
        </p:blipFill>
        <p:spPr>
          <a:xfrm>
            <a:off x="7968735" y="4118017"/>
            <a:ext cx="944778" cy="934274"/>
          </a:xfrm>
          <a:prstGeom prst="rect">
            <a:avLst/>
          </a:prstGeom>
          <a:noFill/>
          <a:ln>
            <a:noFill/>
          </a:ln>
        </p:spPr>
      </p:pic>
      <p:pic>
        <p:nvPicPr>
          <p:cNvPr id="726" name="Google Shape;726;p59" title="Group 1000004639.png"/>
          <p:cNvPicPr preferRelativeResize="0"/>
          <p:nvPr/>
        </p:nvPicPr>
        <p:blipFill rotWithShape="1">
          <a:blip r:embed="rId6">
            <a:alphaModFix/>
          </a:blip>
          <a:srcRect/>
          <a:stretch/>
        </p:blipFill>
        <p:spPr>
          <a:xfrm>
            <a:off x="7968735" y="2520408"/>
            <a:ext cx="924766" cy="946984"/>
          </a:xfrm>
          <a:prstGeom prst="rect">
            <a:avLst/>
          </a:prstGeom>
          <a:noFill/>
          <a:ln>
            <a:noFill/>
          </a:ln>
        </p:spPr>
      </p:pic>
      <p:sp>
        <p:nvSpPr>
          <p:cNvPr id="727" name="Google Shape;727;p59"/>
          <p:cNvSpPr/>
          <p:nvPr/>
        </p:nvSpPr>
        <p:spPr>
          <a:xfrm>
            <a:off x="7955120" y="3041698"/>
            <a:ext cx="963600" cy="939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574"/>
              <a:buFont typeface="DM Sans"/>
              <a:buNone/>
            </a:pPr>
            <a:r>
              <a:rPr lang="en" sz="7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Green Agent</a:t>
            </a:r>
            <a:endParaRPr sz="7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8" name="Google Shape;728;p59"/>
          <p:cNvSpPr/>
          <p:nvPr/>
        </p:nvSpPr>
        <p:spPr>
          <a:xfrm>
            <a:off x="7954004" y="3191175"/>
            <a:ext cx="944700" cy="1374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492"/>
              <a:buFont typeface="DM Sans"/>
              <a:buNone/>
            </a:pPr>
            <a:r>
              <a:rPr lang="en"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{{F_GA}}</a:t>
            </a:r>
            <a:endParaRPr sz="8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29" name="Google Shape;729;p59"/>
          <p:cNvSpPr/>
          <p:nvPr/>
        </p:nvSpPr>
        <p:spPr>
          <a:xfrm>
            <a:off x="7906406" y="2038924"/>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Preventive Security</a:t>
            </a:r>
            <a:endParaRPr sz="900"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0" name="Google Shape;730;p59"/>
          <p:cNvSpPr/>
          <p:nvPr/>
        </p:nvSpPr>
        <p:spPr>
          <a:xfrm>
            <a:off x="7719100" y="2144544"/>
            <a:ext cx="14250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Build securely and </a:t>
            </a:r>
            <a:b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remediate at the source</a:t>
            </a:r>
            <a:endParaRPr sz="6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1" name="Google Shape;731;p59"/>
          <p:cNvSpPr/>
          <p:nvPr/>
        </p:nvSpPr>
        <p:spPr>
          <a:xfrm>
            <a:off x="7936234" y="3618692"/>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Reactive Security</a:t>
            </a:r>
            <a:endParaRPr sz="900"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2" name="Google Shape;732;p59"/>
          <p:cNvSpPr/>
          <p:nvPr/>
        </p:nvSpPr>
        <p:spPr>
          <a:xfrm>
            <a:off x="7718900" y="3785755"/>
            <a:ext cx="1425000" cy="3147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Investigate and triage high-fidelity threats</a:t>
            </a:r>
            <a:endParaRPr sz="621"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3" name="Google Shape;733;p59"/>
          <p:cNvSpPr/>
          <p:nvPr/>
        </p:nvSpPr>
        <p:spPr>
          <a:xfrm>
            <a:off x="7916398" y="550119"/>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Proactive Security</a:t>
            </a:r>
            <a:endParaRPr sz="900" b="1"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4" name="Google Shape;734;p59"/>
          <p:cNvSpPr/>
          <p:nvPr/>
        </p:nvSpPr>
        <p:spPr>
          <a:xfrm>
            <a:off x="7661455" y="656976"/>
            <a:ext cx="14250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Identify high-risk issues before they </a:t>
            </a:r>
            <a:b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br>
            <a:r>
              <a:rPr lang="en" sz="726" b="0" i="0" u="none" strike="noStrike" cap="none" dirty="0">
                <a:solidFill>
                  <a:srgbClr val="001741"/>
                </a:solidFill>
                <a:latin typeface="Calibri" panose="020F0502020204030204" pitchFamily="34" charset="0"/>
                <a:ea typeface="Calibri" panose="020F0502020204030204" pitchFamily="34" charset="0"/>
                <a:cs typeface="Calibri" panose="020F0502020204030204" pitchFamily="34" charset="0"/>
                <a:sym typeface="Poppins"/>
              </a:rPr>
              <a:t>can be exploited</a:t>
            </a:r>
            <a:endParaRPr sz="6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5" name="Google Shape;735;p59"/>
          <p:cNvSpPr/>
          <p:nvPr/>
        </p:nvSpPr>
        <p:spPr>
          <a:xfrm>
            <a:off x="7961878" y="4624264"/>
            <a:ext cx="966900" cy="945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Blue Agent</a:t>
            </a:r>
            <a:endParaRPr sz="626"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6" name="Google Shape;736;p59"/>
          <p:cNvSpPr/>
          <p:nvPr/>
        </p:nvSpPr>
        <p:spPr>
          <a:xfrm>
            <a:off x="7965161" y="4851627"/>
            <a:ext cx="948000" cy="1380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{{F_BA}}</a:t>
            </a:r>
            <a:br>
              <a:rPr lang="en"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7" name="Google Shape;737;p59"/>
          <p:cNvSpPr/>
          <p:nvPr/>
        </p:nvSpPr>
        <p:spPr>
          <a:xfrm>
            <a:off x="7964150" y="1548816"/>
            <a:ext cx="948000" cy="969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592"/>
              <a:buFont typeface="DM Sans"/>
              <a:buNone/>
            </a:pPr>
            <a:r>
              <a:rPr lang="en" sz="700" b="1"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Red Agent</a:t>
            </a:r>
            <a:endParaRPr sz="700" b="1"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38" name="Google Shape;738;p59"/>
          <p:cNvSpPr/>
          <p:nvPr/>
        </p:nvSpPr>
        <p:spPr>
          <a:xfrm>
            <a:off x="7968735" y="1766529"/>
            <a:ext cx="944700" cy="1419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508"/>
              <a:buFont typeface="DM Sans"/>
              <a:buNone/>
            </a:pPr>
            <a: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Enabled</a:t>
            </a:r>
            <a:b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t>{{F_RA}}</a:t>
            </a:r>
            <a:br>
              <a:rPr lang="en"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rPr>
            </a:br>
            <a:endParaRPr sz="821"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39" name="Google Shape;739;p59"/>
          <p:cNvPicPr preferRelativeResize="0"/>
          <p:nvPr/>
        </p:nvPicPr>
        <p:blipFill rotWithShape="1">
          <a:blip r:embed="rId3">
            <a:alphaModFix/>
          </a:blip>
          <a:srcRect/>
          <a:stretch/>
        </p:blipFill>
        <p:spPr>
          <a:xfrm>
            <a:off x="107954" y="1893191"/>
            <a:ext cx="7613696" cy="1578100"/>
          </a:xfrm>
          <a:prstGeom prst="rect">
            <a:avLst/>
          </a:prstGeom>
          <a:noFill/>
          <a:ln w="6350">
            <a:solidFill>
              <a:schemeClr val="accent1"/>
            </a:solidFill>
          </a:ln>
        </p:spPr>
      </p:pic>
      <p:sp>
        <p:nvSpPr>
          <p:cNvPr id="740" name="Google Shape;740;p59"/>
          <p:cNvSpPr txBox="1"/>
          <p:nvPr/>
        </p:nvSpPr>
        <p:spPr>
          <a:xfrm>
            <a:off x="155254" y="2004575"/>
            <a:ext cx="4782900" cy="361500"/>
          </a:xfrm>
          <a:prstGeom prst="rect">
            <a:avLst/>
          </a:prstGeom>
          <a:noFill/>
          <a:ln>
            <a:noFill/>
          </a:ln>
        </p:spPr>
        <p:txBody>
          <a:bodyPr spcFirstLastPara="1" wrap="square" lIns="68575" tIns="34275" rIns="68575" bIns="34275" anchor="t" anchorCtr="0">
            <a:noAutofit/>
          </a:bodyPr>
          <a:lstStyle/>
          <a:p>
            <a:pPr marL="0" marR="0" lvl="0" indent="0" algn="l" rtl="0">
              <a:lnSpc>
                <a:spcPct val="90000"/>
              </a:lnSpc>
              <a:spcBef>
                <a:spcPts val="0"/>
              </a:spcBef>
              <a:spcAft>
                <a:spcPts val="0"/>
              </a:spcAft>
              <a:buClr>
                <a:schemeClr val="dk2"/>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Top 3 Wiz Critical Risk Issues by Count</a:t>
            </a:r>
            <a:r>
              <a:rPr lang="en"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a:t>
            </a:r>
            <a:endParaRPr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1" name="Google Shape;741;p59"/>
          <p:cNvSpPr txBox="1"/>
          <p:nvPr/>
        </p:nvSpPr>
        <p:spPr>
          <a:xfrm>
            <a:off x="112373" y="2363761"/>
            <a:ext cx="6979500" cy="1244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{{CI_CONTROL_1}}</a:t>
            </a:r>
            <a:endParaRPr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0"/>
              </a:spcBef>
              <a:spcAft>
                <a:spcPts val="0"/>
              </a:spcAft>
              <a:buClr>
                <a:schemeClr val="dk1"/>
              </a:buClr>
              <a:buSzPts val="1100"/>
              <a:buFont typeface="Arial"/>
              <a:buNone/>
            </a:pPr>
            <a:r>
              <a:rPr lang="en"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rPr>
              <a:t>CRITICAL</a:t>
            </a:r>
            <a:endParaRPr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{{CI_CONTROL_2}}</a:t>
            </a:r>
            <a:br>
              <a:rPr lang="en" sz="800" b="0" i="0" u="sng" strike="noStrike" cap="none">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rPr>
              <a:t>CRITICAL</a:t>
            </a:r>
            <a:endParaRPr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{{CI_CONTROL_3}}</a:t>
            </a:r>
            <a:br>
              <a:rPr lang="en" sz="800" b="0" i="0" u="sng" strike="noStrike" cap="none">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rPr>
              <a:t>CRITICAL</a:t>
            </a:r>
            <a:endParaRPr sz="800" b="0" i="0" u="none" strike="noStrike" cap="none">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15000"/>
              </a:lnSpc>
              <a:spcBef>
                <a:spcPts val="700"/>
              </a:spcBef>
              <a:spcAft>
                <a:spcPts val="0"/>
              </a:spcAft>
              <a:buClr>
                <a:srgbClr val="000000"/>
              </a:buClr>
              <a:buSzPts val="200"/>
              <a:buFont typeface="Arial"/>
              <a:buNone/>
            </a:pPr>
            <a:endParaRPr sz="200" b="0" i="0" u="none" strike="noStrike" cap="none">
              <a:solidFill>
                <a:srgbClr val="1155C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pic>
        <p:nvPicPr>
          <p:cNvPr id="742" name="Google Shape;742;p59"/>
          <p:cNvPicPr preferRelativeResize="0"/>
          <p:nvPr/>
        </p:nvPicPr>
        <p:blipFill rotWithShape="1">
          <a:blip r:embed="rId3">
            <a:alphaModFix/>
          </a:blip>
          <a:srcRect/>
          <a:stretch/>
        </p:blipFill>
        <p:spPr>
          <a:xfrm>
            <a:off x="107950" y="3625724"/>
            <a:ext cx="7613696" cy="1474550"/>
          </a:xfrm>
          <a:prstGeom prst="rect">
            <a:avLst/>
          </a:prstGeom>
          <a:noFill/>
          <a:ln w="6350">
            <a:solidFill>
              <a:schemeClr val="accent1"/>
            </a:solidFill>
          </a:ln>
        </p:spPr>
      </p:pic>
      <p:sp>
        <p:nvSpPr>
          <p:cNvPr id="743" name="Google Shape;743;p59"/>
          <p:cNvSpPr txBox="1"/>
          <p:nvPr/>
        </p:nvSpPr>
        <p:spPr>
          <a:xfrm>
            <a:off x="192197" y="3700461"/>
            <a:ext cx="4735500" cy="314700"/>
          </a:xfrm>
          <a:prstGeom prst="rect">
            <a:avLst/>
          </a:prstGeom>
          <a:noFill/>
          <a:ln>
            <a:noFill/>
          </a:ln>
        </p:spPr>
        <p:txBody>
          <a:bodyPr spcFirstLastPara="1" wrap="square" lIns="68575" tIns="34275" rIns="68575" bIns="34275" anchor="t" anchorCtr="0">
            <a:noAutofit/>
          </a:bodyPr>
          <a:lstStyle/>
          <a:p>
            <a:pPr marL="0" marR="0" lvl="0" indent="0" algn="l" rtl="0">
              <a:lnSpc>
                <a:spcPct val="90000"/>
              </a:lnSpc>
              <a:spcBef>
                <a:spcPts val="0"/>
              </a:spcBef>
              <a:spcAft>
                <a:spcPts val="0"/>
              </a:spcAft>
              <a:buClr>
                <a:schemeClr val="dk2"/>
              </a:buClr>
              <a:buSzPts val="1500"/>
              <a:buFont typeface="Arial"/>
              <a:buNone/>
            </a:pPr>
            <a:r>
              <a:rPr lang="en" sz="15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Top 3 Wiz High Risk Issues by Count</a:t>
            </a:r>
            <a:r>
              <a:rPr lang="en" sz="15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rPr>
              <a:t> </a:t>
            </a:r>
            <a:r>
              <a:rPr lang="en" sz="15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a:t>
            </a:r>
            <a:endParaRPr sz="17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4" name="Google Shape;744;p59"/>
          <p:cNvSpPr txBox="1"/>
          <p:nvPr/>
        </p:nvSpPr>
        <p:spPr>
          <a:xfrm>
            <a:off x="6213626" y="3912215"/>
            <a:ext cx="1425000" cy="1368000"/>
          </a:xfrm>
          <a:prstGeom prst="rect">
            <a:avLst/>
          </a:prstGeom>
          <a:noFill/>
          <a:ln>
            <a:noFill/>
          </a:ln>
        </p:spPr>
        <p:txBody>
          <a:bodyPr spcFirstLastPara="1" wrap="square" lIns="0" tIns="91425" rIns="0" bIns="91425" anchor="ctr" anchorCtr="0">
            <a:noAutofit/>
          </a:bodyPr>
          <a:lstStyle/>
          <a:p>
            <a:pPr marL="0" marR="0" lvl="0" indent="0" algn="r"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{{HI_CBC_1}}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{{HI_CBC_2}}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{{HI_CBC_3}}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5" name="Google Shape;745;p59"/>
          <p:cNvSpPr txBox="1"/>
          <p:nvPr/>
        </p:nvSpPr>
        <p:spPr>
          <a:xfrm>
            <a:off x="6198064" y="2230298"/>
            <a:ext cx="1425000" cy="1368000"/>
          </a:xfrm>
          <a:prstGeom prst="rect">
            <a:avLst/>
          </a:prstGeom>
          <a:noFill/>
          <a:ln>
            <a:noFill/>
          </a:ln>
        </p:spPr>
        <p:txBody>
          <a:bodyPr spcFirstLastPara="1" wrap="square" lIns="0" tIns="91425" rIns="0" bIns="91425" anchor="ctr" anchorCtr="0">
            <a:noAutofit/>
          </a:bodyPr>
          <a:lstStyle/>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{{CI_CBC_1}}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{{CI_CBC_2}}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Medium"/>
              </a:rPr>
              <a:t>{{CI_CBC_3}} Issues</a:t>
            </a:r>
            <a:endParaRPr sz="9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46" name="Google Shape;746;p59"/>
          <p:cNvSpPr txBox="1"/>
          <p:nvPr/>
        </p:nvSpPr>
        <p:spPr>
          <a:xfrm>
            <a:off x="112748" y="4015785"/>
            <a:ext cx="6979500" cy="1273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{{HI_CONTROL_1}}</a:t>
            </a:r>
            <a:endParaRPr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0"/>
              </a:spcBef>
              <a:spcAft>
                <a:spcPts val="0"/>
              </a:spcAft>
              <a:buClr>
                <a:schemeClr val="dk1"/>
              </a:buClr>
              <a:buSzPts val="1100"/>
              <a:buFont typeface="Arial"/>
              <a:buNone/>
            </a:pPr>
            <a:r>
              <a:rPr lang="en"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rPr>
              <a:t>HIGH</a:t>
            </a:r>
            <a:endParaRPr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{{HI_CONTROL_2}}</a:t>
            </a:r>
            <a:br>
              <a:rPr lang="en" sz="800" b="0" i="0" u="sng" strike="noStrike" cap="none" dirty="0">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rPr>
              <a:t>HIGH</a:t>
            </a:r>
            <a:endParaRPr sz="800" b="0" i="0" u="none" strike="noStrike" cap="none" dirty="0">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dirty="0">
                <a:solidFill>
                  <a:srgbClr val="0254EC"/>
                </a:solidFill>
                <a:highlight>
                  <a:srgbClr val="F9FAFB"/>
                </a:highlight>
                <a:latin typeface="Calibri" panose="020F0502020204030204" pitchFamily="34" charset="0"/>
                <a:ea typeface="Calibri" panose="020F0502020204030204" pitchFamily="34" charset="0"/>
                <a:cs typeface="Calibri" panose="020F0502020204030204" pitchFamily="34" charset="0"/>
                <a:sym typeface="Poppins Medium"/>
              </a:rPr>
              <a:t>{{HI_CONTROL_3}}</a:t>
            </a:r>
            <a:br>
              <a:rPr lang="en" sz="800" b="0" i="0" u="sng" strike="noStrike" cap="none" dirty="0">
                <a:solidFill>
                  <a:schemeClr val="hlink"/>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Medium"/>
              </a:rPr>
            </a:br>
            <a:r>
              <a:rPr lang="en" sz="800" b="0" i="0" u="none" strike="noStrike" cap="none" dirty="0">
                <a:solidFill>
                  <a:srgbClr val="D97706"/>
                </a:solidFill>
                <a:highlight>
                  <a:srgbClr val="F9CB9C"/>
                </a:highlight>
                <a:latin typeface="Calibri" panose="020F0502020204030204" pitchFamily="34" charset="0"/>
                <a:ea typeface="Calibri" panose="020F0502020204030204" pitchFamily="34" charset="0"/>
                <a:cs typeface="Calibri" panose="020F0502020204030204" pitchFamily="34" charset="0"/>
                <a:sym typeface="Poppins Medium"/>
              </a:rPr>
              <a:t>HIGH</a:t>
            </a:r>
            <a:endParaRPr sz="800" b="0" i="0" u="none" strike="noStrike" cap="none" dirty="0">
              <a:solidFill>
                <a:srgbClr val="991B1B"/>
              </a:solidFill>
              <a:highlight>
                <a:srgbClr val="FEE2E2"/>
              </a:highlight>
              <a:latin typeface="Calibri" panose="020F0502020204030204" pitchFamily="34" charset="0"/>
              <a:ea typeface="Calibri" panose="020F0502020204030204" pitchFamily="34" charset="0"/>
              <a:cs typeface="Calibri" panose="020F0502020204030204" pitchFamily="34" charset="0"/>
              <a:sym typeface="Poppins Medium"/>
            </a:endParaRPr>
          </a:p>
          <a:p>
            <a:pPr marL="0" marR="0" lvl="0" indent="0" algn="r" rtl="0">
              <a:lnSpc>
                <a:spcPct val="115000"/>
              </a:lnSpc>
              <a:spcBef>
                <a:spcPts val="700"/>
              </a:spcBef>
              <a:spcAft>
                <a:spcPts val="0"/>
              </a:spcAft>
              <a:buClr>
                <a:srgbClr val="000000"/>
              </a:buClr>
              <a:buSzPts val="200"/>
              <a:buFont typeface="Arial"/>
              <a:buNone/>
            </a:pPr>
            <a:endParaRPr sz="200" b="0" i="0" u="none" strike="noStrike" cap="none" dirty="0">
              <a:solidFill>
                <a:srgbClr val="1155CC"/>
              </a:solidFill>
              <a:latin typeface="Calibri" panose="020F0502020204030204" pitchFamily="34" charset="0"/>
              <a:ea typeface="Calibri" panose="020F0502020204030204" pitchFamily="34" charset="0"/>
              <a:cs typeface="Calibri" panose="020F0502020204030204" pitchFamily="34" charset="0"/>
              <a:sym typeface="Poppins Medium"/>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p60"/>
          <p:cNvSpPr txBox="1"/>
          <p:nvPr/>
        </p:nvSpPr>
        <p:spPr>
          <a:xfrm>
            <a:off x="468449" y="2483713"/>
            <a:ext cx="3273600" cy="4848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Develop Securely</a:t>
            </a:r>
            <a:endParaRPr sz="2700" b="0" i="0" u="none" strike="noStrike" cap="none" dirty="0">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753" name="Google Shape;753;p60"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754" name="Google Shape;754;p60"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755" name="Google Shape;755;p60" title="logo.png"/>
          <p:cNvPicPr preferRelativeResize="0"/>
          <p:nvPr/>
        </p:nvPicPr>
        <p:blipFill rotWithShape="1">
          <a:blip r:embed="rId5">
            <a:alphaModFix/>
          </a:blip>
          <a:srcRect/>
          <a:stretch/>
        </p:blipFill>
        <p:spPr>
          <a:xfrm>
            <a:off x="553277" y="1994713"/>
            <a:ext cx="637001" cy="3041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61"/>
          <p:cNvSpPr txBox="1">
            <a:spLocks noGrp="1"/>
          </p:cNvSpPr>
          <p:nvPr>
            <p:ph type="title" idx="4294967295"/>
          </p:nvPr>
        </p:nvSpPr>
        <p:spPr>
          <a:xfrm>
            <a:off x="150" y="1221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Secure Development Snapshot</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762" name="Google Shape;762;p61"/>
          <p:cNvSpPr/>
          <p:nvPr/>
        </p:nvSpPr>
        <p:spPr>
          <a:xfrm>
            <a:off x="219075" y="2736094"/>
            <a:ext cx="3229200" cy="23163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3" name="Google Shape;763;p61"/>
          <p:cNvSpPr/>
          <p:nvPr/>
        </p:nvSpPr>
        <p:spPr>
          <a:xfrm>
            <a:off x="6193748" y="909833"/>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4" name="Google Shape;764;p61"/>
          <p:cNvSpPr/>
          <p:nvPr/>
        </p:nvSpPr>
        <p:spPr>
          <a:xfrm>
            <a:off x="3199649" y="894648"/>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5" name="Google Shape;765;p61"/>
          <p:cNvSpPr/>
          <p:nvPr/>
        </p:nvSpPr>
        <p:spPr>
          <a:xfrm>
            <a:off x="205550" y="886120"/>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6" name="Google Shape;766;p61"/>
          <p:cNvSpPr txBox="1"/>
          <p:nvPr/>
        </p:nvSpPr>
        <p:spPr>
          <a:xfrm>
            <a:off x="205550" y="635739"/>
            <a:ext cx="2688900" cy="2790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3">
                  <a:extLst>
                    <a:ext uri="{A12FA001-AC4F-418D-AE19-62706E023703}">
                      <ahyp:hlinkClr xmlns:ahyp="http://schemas.microsoft.com/office/drawing/2018/hyperlinkcolor" val="tx"/>
                    </a:ext>
                  </a:extLst>
                </a:hlinkClick>
              </a:rPr>
              <a:t>Kubernetes Clusters </a:t>
            </a:r>
            <a:r>
              <a:rPr lang="en" sz="13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3">
                  <a:extLst>
                    <a:ext uri="{A12FA001-AC4F-418D-AE19-62706E023703}">
                      <ahyp:hlinkClr xmlns:ahyp="http://schemas.microsoft.com/office/drawing/2018/hyperlinkcolor" val="tx"/>
                    </a:ext>
                  </a:extLst>
                </a:hlinkClick>
              </a:rPr>
              <a:t>↗</a:t>
            </a:r>
            <a:r>
              <a:rPr lang="en" sz="13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3">
                  <a:extLst>
                    <a:ext uri="{A12FA001-AC4F-418D-AE19-62706E023703}">
                      <ahyp:hlinkClr xmlns:ahyp="http://schemas.microsoft.com/office/drawing/2018/hyperlinkcolor" val="tx"/>
                    </a:ext>
                  </a:extLst>
                </a:hlinkClick>
              </a:rPr>
              <a:t> </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67" name="Google Shape;767;p61"/>
          <p:cNvSpPr txBox="1"/>
          <p:nvPr/>
        </p:nvSpPr>
        <p:spPr>
          <a:xfrm>
            <a:off x="385090" y="909480"/>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{{K8S_1}}</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68" name="Google Shape;768;p61"/>
          <p:cNvSpPr txBox="1"/>
          <p:nvPr/>
        </p:nvSpPr>
        <p:spPr>
          <a:xfrm>
            <a:off x="1633470" y="909480"/>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{{K8C_1}}</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69" name="Google Shape;769;p61"/>
          <p:cNvSpPr txBox="1"/>
          <p:nvPr/>
        </p:nvSpPr>
        <p:spPr>
          <a:xfrm>
            <a:off x="385090" y="1075974"/>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{{K8S_2}}</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0" name="Google Shape;770;p61"/>
          <p:cNvSpPr txBox="1"/>
          <p:nvPr/>
        </p:nvSpPr>
        <p:spPr>
          <a:xfrm>
            <a:off x="1633470" y="1073429"/>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{{K8C_2}}</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1" name="Google Shape;771;p61"/>
          <p:cNvSpPr txBox="1"/>
          <p:nvPr/>
        </p:nvSpPr>
        <p:spPr>
          <a:xfrm>
            <a:off x="385090" y="1242467"/>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{{K8S_3}}</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2" name="Google Shape;772;p61"/>
          <p:cNvSpPr txBox="1"/>
          <p:nvPr/>
        </p:nvSpPr>
        <p:spPr>
          <a:xfrm>
            <a:off x="1633470" y="1237378"/>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{{K8C_3}}</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3" name="Google Shape;773;p61"/>
          <p:cNvSpPr txBox="1"/>
          <p:nvPr/>
        </p:nvSpPr>
        <p:spPr>
          <a:xfrm>
            <a:off x="385090" y="1408961"/>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{{K8S_4}}</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4" name="Google Shape;774;p61"/>
          <p:cNvSpPr txBox="1"/>
          <p:nvPr/>
        </p:nvSpPr>
        <p:spPr>
          <a:xfrm>
            <a:off x="1633470" y="1401326"/>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{{K8C_4}}</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5" name="Google Shape;775;p61"/>
          <p:cNvSpPr txBox="1"/>
          <p:nvPr/>
        </p:nvSpPr>
        <p:spPr>
          <a:xfrm>
            <a:off x="385090" y="1575455"/>
            <a:ext cx="21138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{{K8S_5}}</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6" name="Google Shape;776;p61"/>
          <p:cNvSpPr txBox="1"/>
          <p:nvPr/>
        </p:nvSpPr>
        <p:spPr>
          <a:xfrm>
            <a:off x="1633470" y="1565275"/>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{{K8C_5}}</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77" name="Google Shape;777;p61"/>
          <p:cNvSpPr txBox="1"/>
          <p:nvPr/>
        </p:nvSpPr>
        <p:spPr>
          <a:xfrm>
            <a:off x="217670" y="1937845"/>
            <a:ext cx="2676900" cy="1581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Total {{K8C_TOT}}</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8" name="Google Shape;778;p61"/>
          <p:cNvSpPr txBox="1"/>
          <p:nvPr/>
        </p:nvSpPr>
        <p:spPr>
          <a:xfrm>
            <a:off x="3238087" y="1038052"/>
            <a:ext cx="1680900" cy="1530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4">
                  <a:extLst>
                    <a:ext uri="{A12FA001-AC4F-418D-AE19-62706E023703}">
                      <ahyp:hlinkClr xmlns:ahyp="http://schemas.microsoft.com/office/drawing/2018/hyperlinkcolor" val="tx"/>
                    </a:ext>
                  </a:extLst>
                </a:hlinkClick>
              </a:rPr>
              <a:t>Wiz Connector Deployed</a:t>
            </a:r>
            <a:endParaRPr sz="900" b="0" i="0" u="none" strike="noStrike" cap="none" dirty="0">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79" name="Google Shape;779;p61"/>
          <p:cNvSpPr txBox="1"/>
          <p:nvPr/>
        </p:nvSpPr>
        <p:spPr>
          <a:xfrm>
            <a:off x="4766331" y="1038062"/>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{{KC_WC}}</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0" name="Google Shape;780;p61"/>
          <p:cNvSpPr txBox="1"/>
          <p:nvPr/>
        </p:nvSpPr>
        <p:spPr>
          <a:xfrm>
            <a:off x="3238089" y="1213479"/>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5">
                  <a:extLst>
                    <a:ext uri="{A12FA001-AC4F-418D-AE19-62706E023703}">
                      <ahyp:hlinkClr xmlns:ahyp="http://schemas.microsoft.com/office/drawing/2018/hyperlinkcolor" val="tx"/>
                    </a:ext>
                  </a:extLst>
                </a:hlinkClick>
              </a:rPr>
              <a:t>Admission Controller</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1" name="Google Shape;781;p61"/>
          <p:cNvSpPr txBox="1"/>
          <p:nvPr/>
        </p:nvSpPr>
        <p:spPr>
          <a:xfrm>
            <a:off x="4764913" y="1211115"/>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{{KC_AC}}</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782" name="Google Shape;782;p61"/>
          <p:cNvCxnSpPr/>
          <p:nvPr/>
        </p:nvCxnSpPr>
        <p:spPr>
          <a:xfrm>
            <a:off x="150000" y="2399129"/>
            <a:ext cx="8776500" cy="0"/>
          </a:xfrm>
          <a:prstGeom prst="straightConnector1">
            <a:avLst/>
          </a:prstGeom>
          <a:noFill/>
          <a:ln w="14300" cap="flat" cmpd="sng">
            <a:solidFill>
              <a:srgbClr val="0054EC"/>
            </a:solidFill>
            <a:prstDash val="solid"/>
            <a:round/>
            <a:headEnd type="none" w="sm" len="sm"/>
            <a:tailEnd type="none" w="sm" len="sm"/>
          </a:ln>
        </p:spPr>
      </p:cxnSp>
      <p:sp>
        <p:nvSpPr>
          <p:cNvPr id="783" name="Google Shape;783;p61"/>
          <p:cNvSpPr txBox="1"/>
          <p:nvPr/>
        </p:nvSpPr>
        <p:spPr>
          <a:xfrm>
            <a:off x="300000" y="2950479"/>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Cloud (Workload/K8s)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4" name="Google Shape;784;p61"/>
          <p:cNvSpPr txBox="1"/>
          <p:nvPr/>
        </p:nvSpPr>
        <p:spPr>
          <a:xfrm>
            <a:off x="1751486" y="2964986"/>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5" name="Google Shape;785;p61"/>
          <p:cNvSpPr txBox="1"/>
          <p:nvPr/>
        </p:nvSpPr>
        <p:spPr>
          <a:xfrm>
            <a:off x="300000" y="3152930"/>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Store (Registry Scans)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6" name="Google Shape;786;p61"/>
          <p:cNvSpPr txBox="1"/>
          <p:nvPr/>
        </p:nvSpPr>
        <p:spPr>
          <a:xfrm>
            <a:off x="1751486" y="3167437"/>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{{CL_STR}}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7" name="Google Shape;787;p61"/>
          <p:cNvSpPr txBox="1"/>
          <p:nvPr/>
        </p:nvSpPr>
        <p:spPr>
          <a:xfrm>
            <a:off x="300000" y="3355380"/>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Runtime (Sensor)</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88" name="Google Shape;788;p61"/>
          <p:cNvSpPr txBox="1"/>
          <p:nvPr/>
        </p:nvSpPr>
        <p:spPr>
          <a:xfrm>
            <a:off x="1751486" y="3369887"/>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{{CL_RT}}</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89" name="Google Shape;789;p61"/>
          <p:cNvSpPr txBox="1"/>
          <p:nvPr/>
        </p:nvSpPr>
        <p:spPr>
          <a:xfrm>
            <a:off x="300000" y="3557831"/>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Code (Wiz Code)</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0" name="Google Shape;790;p61"/>
          <p:cNvSpPr txBox="1"/>
          <p:nvPr/>
        </p:nvSpPr>
        <p:spPr>
          <a:xfrm>
            <a:off x="1751486" y="3572338"/>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{{CL_CODE}}</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91" name="Google Shape;791;p61"/>
          <p:cNvSpPr txBox="1"/>
          <p:nvPr/>
        </p:nvSpPr>
        <p:spPr>
          <a:xfrm>
            <a:off x="300000" y="3760282"/>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Build (Wiz CLI + Tagged Images)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2" name="Google Shape;792;p61"/>
          <p:cNvSpPr txBox="1"/>
          <p:nvPr/>
        </p:nvSpPr>
        <p:spPr>
          <a:xfrm>
            <a:off x="1751486" y="3774789"/>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{{CL_BLD}}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93" name="Google Shape;793;p61"/>
          <p:cNvSpPr txBox="1"/>
          <p:nvPr/>
        </p:nvSpPr>
        <p:spPr>
          <a:xfrm>
            <a:off x="300000" y="3962733"/>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Deploy (Admission Controller)</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4" name="Google Shape;794;p61"/>
          <p:cNvSpPr txBox="1"/>
          <p:nvPr/>
        </p:nvSpPr>
        <p:spPr>
          <a:xfrm>
            <a:off x="1751486" y="3977239"/>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{{CL_DEP}}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795" name="Google Shape;795;p61"/>
          <p:cNvSpPr txBox="1"/>
          <p:nvPr/>
        </p:nvSpPr>
        <p:spPr>
          <a:xfrm>
            <a:off x="223925" y="4650100"/>
            <a:ext cx="32019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Total Images {{TI}}</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6" name="Google Shape;796;p61"/>
          <p:cNvSpPr txBox="1"/>
          <p:nvPr/>
        </p:nvSpPr>
        <p:spPr>
          <a:xfrm>
            <a:off x="3199649" y="653779"/>
            <a:ext cx="2688900" cy="2790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Kubernetes Coverage</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7" name="Google Shape;797;p61"/>
          <p:cNvSpPr txBox="1"/>
          <p:nvPr/>
        </p:nvSpPr>
        <p:spPr>
          <a:xfrm>
            <a:off x="6193748" y="649827"/>
            <a:ext cx="2688900" cy="3009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Gaps &amp; Exposure</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8" name="Google Shape;798;p61"/>
          <p:cNvSpPr txBox="1"/>
          <p:nvPr/>
        </p:nvSpPr>
        <p:spPr>
          <a:xfrm>
            <a:off x="205545" y="2441805"/>
            <a:ext cx="3287400" cy="3012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Container Images Lifecycle </a:t>
            </a:r>
            <a:r>
              <a:rPr lang="en" sz="13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a:t>
            </a:r>
            <a:r>
              <a:rPr lang="en" sz="11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extLst>
                    <a:ext uri="{A12FA001-AC4F-418D-AE19-62706E023703}">
                      <ahyp:hlinkClr xmlns:ahyp="http://schemas.microsoft.com/office/drawing/2018/hyperlinkcolor" val="tx"/>
                    </a:ext>
                  </a:extLst>
                </a:hlinkClick>
              </a:rPr>
              <a:t> </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799" name="Google Shape;799;p61"/>
          <p:cNvSpPr/>
          <p:nvPr/>
        </p:nvSpPr>
        <p:spPr>
          <a:xfrm>
            <a:off x="6419250" y="2723725"/>
            <a:ext cx="2579100" cy="23163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0" name="Google Shape;800;p61"/>
          <p:cNvSpPr txBox="1"/>
          <p:nvPr/>
        </p:nvSpPr>
        <p:spPr>
          <a:xfrm>
            <a:off x="6421350" y="4112573"/>
            <a:ext cx="25710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Total Registries  {{R_TOT}}</a:t>
            </a:r>
            <a:endParaRPr sz="10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1" name="Google Shape;801;p61"/>
          <p:cNvSpPr txBox="1"/>
          <p:nvPr/>
        </p:nvSpPr>
        <p:spPr>
          <a:xfrm>
            <a:off x="6482720" y="3090648"/>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{{R_2}}</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2" name="Google Shape;802;p61"/>
          <p:cNvSpPr txBox="1"/>
          <p:nvPr/>
        </p:nvSpPr>
        <p:spPr>
          <a:xfrm>
            <a:off x="6595982" y="3077858"/>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{{RC_2}}</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3" name="Google Shape;803;p61"/>
          <p:cNvSpPr txBox="1"/>
          <p:nvPr/>
        </p:nvSpPr>
        <p:spPr>
          <a:xfrm>
            <a:off x="6482720" y="3275456"/>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{{R_3}}</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4" name="Google Shape;804;p61"/>
          <p:cNvSpPr txBox="1"/>
          <p:nvPr/>
        </p:nvSpPr>
        <p:spPr>
          <a:xfrm>
            <a:off x="6595982" y="3263116"/>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{{RC_3}}</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5" name="Google Shape;805;p61"/>
          <p:cNvSpPr txBox="1"/>
          <p:nvPr/>
        </p:nvSpPr>
        <p:spPr>
          <a:xfrm>
            <a:off x="6482720" y="3460264"/>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{{R_4}}</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6" name="Google Shape;806;p61"/>
          <p:cNvSpPr txBox="1"/>
          <p:nvPr/>
        </p:nvSpPr>
        <p:spPr>
          <a:xfrm>
            <a:off x="6595982" y="3448374"/>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{{RC_4}}</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7" name="Google Shape;807;p61"/>
          <p:cNvSpPr txBox="1"/>
          <p:nvPr/>
        </p:nvSpPr>
        <p:spPr>
          <a:xfrm>
            <a:off x="6482720" y="3645072"/>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{{R_5}}</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08" name="Google Shape;808;p61"/>
          <p:cNvSpPr txBox="1"/>
          <p:nvPr/>
        </p:nvSpPr>
        <p:spPr>
          <a:xfrm>
            <a:off x="6595982" y="3633632"/>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{{RC_5}}</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09" name="Google Shape;809;p61"/>
          <p:cNvSpPr txBox="1"/>
          <p:nvPr/>
        </p:nvSpPr>
        <p:spPr>
          <a:xfrm>
            <a:off x="6482720" y="3829881"/>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{{R_6}}</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10" name="Google Shape;810;p61"/>
          <p:cNvSpPr txBox="1"/>
          <p:nvPr/>
        </p:nvSpPr>
        <p:spPr>
          <a:xfrm>
            <a:off x="6595982" y="3818890"/>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{{RC_6}}</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1" name="Google Shape;811;p61"/>
          <p:cNvSpPr txBox="1"/>
          <p:nvPr/>
        </p:nvSpPr>
        <p:spPr>
          <a:xfrm>
            <a:off x="6427050" y="2431400"/>
            <a:ext cx="2563500" cy="3012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Container Registries </a:t>
            </a:r>
            <a:r>
              <a:rPr lang="en" sz="1300" b="0" i="0" u="none" strike="noStrike" cap="none">
                <a:solidFill>
                  <a:srgbClr val="0254EC"/>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7">
                  <a:extLst>
                    <a:ext uri="{A12FA001-AC4F-418D-AE19-62706E023703}">
                      <ahyp:hlinkClr xmlns:ahyp="http://schemas.microsoft.com/office/drawing/2018/hyperlinkcolor" val="tx"/>
                    </a:ext>
                  </a:extLst>
                </a:hlinkClick>
              </a:rPr>
              <a:t>↗</a:t>
            </a:r>
            <a:endParaRPr sz="11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2" name="Google Shape;812;p61"/>
          <p:cNvSpPr txBox="1"/>
          <p:nvPr/>
        </p:nvSpPr>
        <p:spPr>
          <a:xfrm>
            <a:off x="6480125" y="2905839"/>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{{R_1}}</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13" name="Google Shape;813;p61"/>
          <p:cNvSpPr txBox="1"/>
          <p:nvPr/>
        </p:nvSpPr>
        <p:spPr>
          <a:xfrm>
            <a:off x="6597131" y="2892600"/>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{{RC_1}}</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4" name="Google Shape;814;p61"/>
          <p:cNvSpPr txBox="1"/>
          <p:nvPr/>
        </p:nvSpPr>
        <p:spPr>
          <a:xfrm>
            <a:off x="6419250" y="4423386"/>
            <a:ext cx="2579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Do you have visibility into </a:t>
            </a:r>
            <a:r>
              <a:rPr lang="en" sz="900" b="0" i="1"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all </a:t>
            </a:r>
            <a:br>
              <a:rPr lang="en" sz="900" b="0" i="1"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of your Registries?</a:t>
            </a:r>
            <a:b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b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jFrog, Sonatype Nexus, etc. </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5" name="Google Shape;815;p61"/>
          <p:cNvSpPr txBox="1"/>
          <p:nvPr/>
        </p:nvSpPr>
        <p:spPr>
          <a:xfrm>
            <a:off x="388145" y="1741949"/>
            <a:ext cx="21138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Other</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6" name="Google Shape;816;p61"/>
          <p:cNvSpPr txBox="1"/>
          <p:nvPr/>
        </p:nvSpPr>
        <p:spPr>
          <a:xfrm>
            <a:off x="1631697" y="1729224"/>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{{K8C_OTH}}</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17" name="Google Shape;817;p61"/>
          <p:cNvSpPr txBox="1"/>
          <p:nvPr/>
        </p:nvSpPr>
        <p:spPr>
          <a:xfrm>
            <a:off x="3236233" y="1390756"/>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8">
                  <a:extLst>
                    <a:ext uri="{A12FA001-AC4F-418D-AE19-62706E023703}">
                      <ahyp:hlinkClr xmlns:ahyp="http://schemas.microsoft.com/office/drawing/2018/hyperlinkcolor" val="tx"/>
                    </a:ext>
                  </a:extLst>
                </a:hlinkClick>
              </a:rPr>
              <a:t>K8S Audit Logs Onboarded</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8" name="Google Shape;818;p61"/>
          <p:cNvSpPr txBox="1"/>
          <p:nvPr/>
        </p:nvSpPr>
        <p:spPr>
          <a:xfrm>
            <a:off x="3239438" y="1568033"/>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9">
                  <a:extLst>
                    <a:ext uri="{A12FA001-AC4F-418D-AE19-62706E023703}">
                      <ahyp:hlinkClr xmlns:ahyp="http://schemas.microsoft.com/office/drawing/2018/hyperlinkcolor" val="tx"/>
                    </a:ext>
                  </a:extLst>
                </a:hlinkClick>
              </a:rPr>
              <a:t>Sensor Active (Runtime)</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19" name="Google Shape;819;p61"/>
          <p:cNvSpPr txBox="1"/>
          <p:nvPr/>
        </p:nvSpPr>
        <p:spPr>
          <a:xfrm>
            <a:off x="4763494" y="1384168"/>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{{KC_SE}}</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0" name="Google Shape;820;p61"/>
          <p:cNvSpPr txBox="1"/>
          <p:nvPr/>
        </p:nvSpPr>
        <p:spPr>
          <a:xfrm>
            <a:off x="4762076" y="1557221"/>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{{KC_CLI}}</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1" name="Google Shape;821;p61"/>
          <p:cNvSpPr txBox="1"/>
          <p:nvPr/>
        </p:nvSpPr>
        <p:spPr>
          <a:xfrm>
            <a:off x="6233046" y="1113294"/>
            <a:ext cx="17205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0">
                  <a:extLst>
                    <a:ext uri="{A12FA001-AC4F-418D-AE19-62706E023703}">
                      <ahyp:hlinkClr xmlns:ahyp="http://schemas.microsoft.com/office/drawing/2018/hyperlinkcolor" val="tx"/>
                    </a:ext>
                  </a:extLst>
                </a:hlinkClick>
              </a:rPr>
              <a:t>Internet-Accessible</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2" name="Google Shape;822;p61"/>
          <p:cNvSpPr txBox="1"/>
          <p:nvPr/>
        </p:nvSpPr>
        <p:spPr>
          <a:xfrm>
            <a:off x="7853359" y="1113282"/>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{{KG_IA}}</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3" name="Google Shape;823;p61"/>
          <p:cNvSpPr txBox="1"/>
          <p:nvPr/>
        </p:nvSpPr>
        <p:spPr>
          <a:xfrm>
            <a:off x="6233048" y="1280583"/>
            <a:ext cx="19539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1">
                  <a:extLst>
                    <a:ext uri="{A12FA001-AC4F-418D-AE19-62706E023703}">
                      <ahyp:hlinkClr xmlns:ahyp="http://schemas.microsoft.com/office/drawing/2018/hyperlinkcolor" val="tx"/>
                    </a:ext>
                  </a:extLst>
                </a:hlinkClick>
              </a:rPr>
              <a:t>No Wiz Connector Deployed</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4" name="Google Shape;824;p61"/>
          <p:cNvSpPr txBox="1"/>
          <p:nvPr/>
        </p:nvSpPr>
        <p:spPr>
          <a:xfrm>
            <a:off x="7853359" y="1281379"/>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{{KG_NC}}</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5" name="Google Shape;825;p61"/>
          <p:cNvSpPr txBox="1"/>
          <p:nvPr/>
        </p:nvSpPr>
        <p:spPr>
          <a:xfrm>
            <a:off x="6231149" y="1453558"/>
            <a:ext cx="19539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2">
                  <a:extLst>
                    <a:ext uri="{A12FA001-AC4F-418D-AE19-62706E023703}">
                      <ahyp:hlinkClr xmlns:ahyp="http://schemas.microsoft.com/office/drawing/2018/hyperlinkcolor" val="tx"/>
                    </a:ext>
                  </a:extLst>
                </a:hlinkClick>
              </a:rPr>
              <a:t>No K8S Audit Logs</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6" name="Google Shape;826;p61"/>
          <p:cNvSpPr txBox="1"/>
          <p:nvPr/>
        </p:nvSpPr>
        <p:spPr>
          <a:xfrm>
            <a:off x="6234434" y="1622052"/>
            <a:ext cx="22974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3">
                  <a:extLst>
                    <a:ext uri="{A12FA001-AC4F-418D-AE19-62706E023703}">
                      <ahyp:hlinkClr xmlns:ahyp="http://schemas.microsoft.com/office/drawing/2018/hyperlinkcolor" val="tx"/>
                    </a:ext>
                  </a:extLst>
                </a:hlinkClick>
              </a:rPr>
              <a:t>No Runtime Sensor</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27" name="Google Shape;827;p61"/>
          <p:cNvSpPr txBox="1"/>
          <p:nvPr/>
        </p:nvSpPr>
        <p:spPr>
          <a:xfrm>
            <a:off x="7851586" y="1449476"/>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{{KG_NA}}</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8" name="Google Shape;828;p61"/>
          <p:cNvSpPr txBox="1"/>
          <p:nvPr/>
        </p:nvSpPr>
        <p:spPr>
          <a:xfrm>
            <a:off x="7849813" y="1617573"/>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{{KG_NS}}</a:t>
            </a:r>
            <a:endParaRPr sz="10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29" name="Google Shape;829;p61"/>
          <p:cNvSpPr txBox="1"/>
          <p:nvPr/>
        </p:nvSpPr>
        <p:spPr>
          <a:xfrm>
            <a:off x="3205665" y="2023737"/>
            <a:ext cx="2676900" cy="204300"/>
          </a:xfrm>
          <a:prstGeom prst="rect">
            <a:avLst/>
          </a:prstGeom>
          <a:noFill/>
          <a:ln>
            <a:noFill/>
          </a:ln>
        </p:spPr>
        <p:txBody>
          <a:bodyPr spcFirstLastPara="1" wrap="square" lIns="91775" tIns="91775" rIns="91775" bIns="91775" anchor="ctr"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Do you have </a:t>
            </a:r>
            <a:r>
              <a:rPr lang="en" sz="1100" b="0" i="1"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full</a:t>
            </a:r>
            <a:r>
              <a:rPr lang="en"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 visibility?</a:t>
            </a:r>
            <a:endParaRPr sz="11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830" name="Google Shape;830;p61"/>
          <p:cNvPicPr preferRelativeResize="0"/>
          <p:nvPr/>
        </p:nvPicPr>
        <p:blipFill rotWithShape="1">
          <a:blip r:embed="rId14">
            <a:alphaModFix/>
          </a:blip>
          <a:srcRect/>
          <a:stretch/>
        </p:blipFill>
        <p:spPr>
          <a:xfrm>
            <a:off x="3550644" y="2777812"/>
            <a:ext cx="2785632" cy="527016"/>
          </a:xfrm>
          <a:prstGeom prst="rect">
            <a:avLst/>
          </a:prstGeom>
          <a:noFill/>
          <a:ln w="6350">
            <a:solidFill>
              <a:schemeClr val="accent1"/>
            </a:solidFill>
          </a:ln>
        </p:spPr>
      </p:pic>
      <p:sp>
        <p:nvSpPr>
          <p:cNvPr id="831" name="Google Shape;831;p61"/>
          <p:cNvSpPr/>
          <p:nvPr/>
        </p:nvSpPr>
        <p:spPr>
          <a:xfrm>
            <a:off x="3595375" y="3607213"/>
            <a:ext cx="2676900" cy="1338600"/>
          </a:xfrm>
          <a:prstGeom prst="rect">
            <a:avLst/>
          </a:prstGeom>
          <a:noFill/>
          <a:ln>
            <a:noFill/>
          </a:ln>
        </p:spPr>
        <p:txBody>
          <a:bodyPr spcFirstLastPara="1" wrap="square" lIns="0" tIns="0" rIns="0" bIns="0" anchor="t" anchorCtr="0">
            <a:noAutofit/>
          </a:bodyPr>
          <a:lstStyle/>
          <a:p>
            <a:pPr marL="0" marR="0" lvl="0" indent="0" algn="ctr" rtl="0">
              <a:lnSpc>
                <a:spcPct val="90000"/>
              </a:lnSpc>
              <a:spcBef>
                <a:spcPts val="0"/>
              </a:spcBef>
              <a:spcAft>
                <a:spcPts val="0"/>
              </a:spcAft>
              <a:buClr>
                <a:srgbClr val="6B7280"/>
              </a:buClr>
              <a:buSzPts val="800"/>
              <a:buFont typeface="DM Sans"/>
              <a:buNone/>
            </a:pPr>
            <a:r>
              <a:rPr lang="en"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rPr>
              <a:t>Understanding where your images are scanned allows you to pinpoint and intercept vulnerabilities at the earliest possible moment. Identifying these specific scan sources is the key to an effective "shift left" strategy, ensuring you apply fixes where they have the most impact before they ever reach production.</a:t>
            </a:r>
            <a:endParaRPr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ctr" rtl="0">
              <a:lnSpc>
                <a:spcPct val="90000"/>
              </a:lnSpc>
              <a:spcBef>
                <a:spcPts val="0"/>
              </a:spcBef>
              <a:spcAft>
                <a:spcPts val="0"/>
              </a:spcAft>
              <a:buClr>
                <a:srgbClr val="6B7280"/>
              </a:buClr>
              <a:buSzPts val="800"/>
              <a:buFont typeface="DM Sans"/>
              <a:buNone/>
            </a:pPr>
            <a:endParaRPr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endParaRPr>
          </a:p>
          <a:p>
            <a:pPr marL="0" marR="0" lvl="0" indent="0" algn="ctr" rtl="0">
              <a:lnSpc>
                <a:spcPct val="100000"/>
              </a:lnSpc>
              <a:spcBef>
                <a:spcPts val="0"/>
              </a:spcBef>
              <a:spcAft>
                <a:spcPts val="0"/>
              </a:spcAft>
              <a:buClr>
                <a:srgbClr val="1F2937"/>
              </a:buClr>
              <a:buSzPts val="800"/>
              <a:buFont typeface="JetBrains Mono"/>
              <a:buNone/>
            </a:pPr>
            <a:r>
              <a:rPr lang="en"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rPr>
              <a:t>Are you tagging your Images? Correlate the Docker image to the CI phase, gain further insights, and potentially improve your CI/CD pipeline conduct</a:t>
            </a:r>
            <a:endParaRPr sz="800" b="0" i="0" u="none" strike="noStrike" cap="none">
              <a:solidFill>
                <a:srgbClr val="222222"/>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32" name="Google Shape;832;p61"/>
          <p:cNvSpPr txBox="1"/>
          <p:nvPr/>
        </p:nvSpPr>
        <p:spPr>
          <a:xfrm>
            <a:off x="5383579" y="3261513"/>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3" name="Google Shape;833;p61"/>
          <p:cNvSpPr txBox="1"/>
          <p:nvPr/>
        </p:nvSpPr>
        <p:spPr>
          <a:xfrm>
            <a:off x="5855777" y="3267116"/>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{{CL_RT}}</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4" name="Google Shape;834;p61"/>
          <p:cNvSpPr txBox="1"/>
          <p:nvPr/>
        </p:nvSpPr>
        <p:spPr>
          <a:xfrm>
            <a:off x="4911380" y="3268983"/>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{{CL_DEP}}</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5" name="Google Shape;835;p61"/>
          <p:cNvSpPr txBox="1"/>
          <p:nvPr/>
        </p:nvSpPr>
        <p:spPr>
          <a:xfrm>
            <a:off x="3966984" y="3259646"/>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{{CL_BLD}}</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6" name="Google Shape;836;p61"/>
          <p:cNvSpPr txBox="1"/>
          <p:nvPr/>
        </p:nvSpPr>
        <p:spPr>
          <a:xfrm>
            <a:off x="4439182" y="3263381"/>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{{CL_STR}}</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7" name="Google Shape;837;p61"/>
          <p:cNvSpPr txBox="1"/>
          <p:nvPr/>
        </p:nvSpPr>
        <p:spPr>
          <a:xfrm>
            <a:off x="3494786" y="3265248"/>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rPr>
              <a:t>{{CL_CODE}}</a:t>
            </a:r>
            <a:endParaRPr sz="900" b="1"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38" name="Google Shape;838;p61"/>
          <p:cNvSpPr txBox="1"/>
          <p:nvPr/>
        </p:nvSpPr>
        <p:spPr>
          <a:xfrm>
            <a:off x="7851954" y="3368391"/>
            <a:ext cx="1139700" cy="1548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{{R_CON}}</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39" name="Google Shape;839;p61"/>
          <p:cNvSpPr txBox="1"/>
          <p:nvPr/>
        </p:nvSpPr>
        <p:spPr>
          <a:xfrm>
            <a:off x="7847951" y="3544289"/>
            <a:ext cx="1143000" cy="1548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{{R_AUT}}</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0" name="Google Shape;840;p61"/>
          <p:cNvSpPr txBox="1"/>
          <p:nvPr/>
        </p:nvSpPr>
        <p:spPr>
          <a:xfrm>
            <a:off x="7743278" y="3375563"/>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5">
                  <a:extLst>
                    <a:ext uri="{A12FA001-AC4F-418D-AE19-62706E023703}">
                      <ahyp:hlinkClr xmlns:ahyp="http://schemas.microsoft.com/office/drawing/2018/hyperlinkcolor" val="tx"/>
                    </a:ext>
                  </a:extLst>
                </a:hlinkClick>
              </a:rPr>
              <a:t>Connector</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1" name="Google Shape;841;p61"/>
          <p:cNvSpPr txBox="1"/>
          <p:nvPr/>
        </p:nvSpPr>
        <p:spPr>
          <a:xfrm>
            <a:off x="7743278" y="3544276"/>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6">
                  <a:extLst>
                    <a:ext uri="{A12FA001-AC4F-418D-AE19-62706E023703}">
                      <ahyp:hlinkClr xmlns:ahyp="http://schemas.microsoft.com/office/drawing/2018/hyperlinkcolor" val="tx"/>
                    </a:ext>
                  </a:extLst>
                </a:hlinkClick>
              </a:rPr>
              <a:t>Global</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2" name="Google Shape;842;p61"/>
          <p:cNvSpPr txBox="1"/>
          <p:nvPr/>
        </p:nvSpPr>
        <p:spPr>
          <a:xfrm>
            <a:off x="7743747" y="3712990"/>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hlinkClick r:id="rId17">
                  <a:extLst>
                    <a:ext uri="{A12FA001-AC4F-418D-AE19-62706E023703}">
                      <ahyp:hlinkClr xmlns:ahyp="http://schemas.microsoft.com/office/drawing/2018/hyperlinkcolor" val="tx"/>
                    </a:ext>
                  </a:extLst>
                </a:hlinkClick>
              </a:rPr>
              <a:t>Custom</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3" name="Google Shape;843;p61"/>
          <p:cNvSpPr txBox="1"/>
          <p:nvPr/>
        </p:nvSpPr>
        <p:spPr>
          <a:xfrm>
            <a:off x="7847336" y="3720187"/>
            <a:ext cx="1143000" cy="155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{{R_CUS}}</a:t>
            </a:r>
            <a:endParaRPr sz="9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sp>
        <p:nvSpPr>
          <p:cNvPr id="844" name="Google Shape;844;p61"/>
          <p:cNvSpPr txBox="1"/>
          <p:nvPr/>
        </p:nvSpPr>
        <p:spPr>
          <a:xfrm>
            <a:off x="7683303" y="2828294"/>
            <a:ext cx="1275600" cy="219300"/>
          </a:xfrm>
          <a:prstGeom prst="rect">
            <a:avLst/>
          </a:prstGeom>
          <a:noFill/>
          <a:ln>
            <a:noFill/>
          </a:ln>
        </p:spPr>
        <p:txBody>
          <a:bodyPr spcFirstLastPara="1" wrap="square" lIns="91225" tIns="91225" rIns="91225" bIns="91225" anchor="t"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rPr>
              <a:t>Scanning Config Type</a:t>
            </a:r>
            <a:endParaRPr sz="1200" b="0" i="0" u="none" strike="noStrike" cap="none">
              <a:solidFill>
                <a:srgbClr val="333333"/>
              </a:solidFill>
              <a:latin typeface="Calibri" panose="020F0502020204030204" pitchFamily="34" charset="0"/>
              <a:ea typeface="Calibri" panose="020F0502020204030204" pitchFamily="34" charset="0"/>
              <a:cs typeface="Calibri" panose="020F0502020204030204" pitchFamily="34" charset="0"/>
              <a:sym typeface="Poppins"/>
            </a:endParaRPr>
          </a:p>
        </p:txBody>
      </p:sp>
      <p:cxnSp>
        <p:nvCxnSpPr>
          <p:cNvPr id="845" name="Google Shape;845;p61"/>
          <p:cNvCxnSpPr/>
          <p:nvPr/>
        </p:nvCxnSpPr>
        <p:spPr>
          <a:xfrm rot="10800000" flipH="1">
            <a:off x="7699350" y="2976423"/>
            <a:ext cx="15900" cy="1091400"/>
          </a:xfrm>
          <a:prstGeom prst="straightConnector1">
            <a:avLst/>
          </a:prstGeom>
          <a:noFill/>
          <a:ln w="9525" cap="flat" cmpd="sng">
            <a:solidFill>
              <a:srgbClr val="595959"/>
            </a:solidFill>
            <a:prstDash val="solid"/>
            <a:round/>
            <a:headEnd type="none" w="sm" len="sm"/>
            <a:tailEnd type="none" w="sm" len="sm"/>
          </a:ln>
        </p:spPr>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50"/>
        <p:cNvGrpSpPr/>
        <p:nvPr/>
      </p:nvGrpSpPr>
      <p:grpSpPr>
        <a:xfrm>
          <a:off x="0" y="0"/>
          <a:ext cx="0" cy="0"/>
          <a:chOff x="0" y="0"/>
          <a:chExt cx="0" cy="0"/>
        </a:xfrm>
      </p:grpSpPr>
      <p:sp>
        <p:nvSpPr>
          <p:cNvPr id="851" name="Google Shape;851;p62"/>
          <p:cNvSpPr txBox="1"/>
          <p:nvPr/>
        </p:nvSpPr>
        <p:spPr>
          <a:xfrm>
            <a:off x="468449" y="2483713"/>
            <a:ext cx="3273600" cy="484718"/>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rPr>
              <a:t>Best Practice Review</a:t>
            </a:r>
            <a:endParaRPr sz="27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Poppins"/>
            </a:endParaRPr>
          </a:p>
        </p:txBody>
      </p:sp>
      <p:pic>
        <p:nvPicPr>
          <p:cNvPr id="852" name="Google Shape;852;p62"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853" name="Google Shape;853;p62"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854" name="Google Shape;854;p62" title="logo.png"/>
          <p:cNvPicPr preferRelativeResize="0"/>
          <p:nvPr/>
        </p:nvPicPr>
        <p:blipFill rotWithShape="1">
          <a:blip r:embed="rId5">
            <a:alphaModFix/>
          </a:blip>
          <a:srcRect/>
          <a:stretch/>
        </p:blipFill>
        <p:spPr>
          <a:xfrm>
            <a:off x="553277" y="1994713"/>
            <a:ext cx="637001" cy="3041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859"/>
        <p:cNvGrpSpPr/>
        <p:nvPr/>
      </p:nvGrpSpPr>
      <p:grpSpPr>
        <a:xfrm>
          <a:off x="0" y="0"/>
          <a:ext cx="0" cy="0"/>
          <a:chOff x="0" y="0"/>
          <a:chExt cx="0" cy="0"/>
        </a:xfrm>
      </p:grpSpPr>
      <p:sp>
        <p:nvSpPr>
          <p:cNvPr id="860" name="Google Shape;860;p63"/>
          <p:cNvSpPr/>
          <p:nvPr/>
        </p:nvSpPr>
        <p:spPr>
          <a:xfrm>
            <a:off x="457190" y="141377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Scanning Non-OS Disks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1" name="Google Shape;861;p63"/>
          <p:cNvSpPr/>
          <p:nvPr/>
        </p:nvSpPr>
        <p:spPr>
          <a:xfrm>
            <a:off x="457190" y="164456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Virtual Machine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2" name="Google Shape;862;p63"/>
          <p:cNvSpPr/>
          <p:nvPr/>
        </p:nvSpPr>
        <p:spPr>
          <a:xfrm>
            <a:off x="457190" y="187536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Shared AWS CMKs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3" name="Google Shape;863;p63"/>
          <p:cNvSpPr/>
          <p:nvPr/>
        </p:nvSpPr>
        <p:spPr>
          <a:xfrm>
            <a:off x="457190" y="2106157"/>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AWS Scanning via Temp Volumes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4" name="Google Shape;864;p63"/>
          <p:cNvSpPr/>
          <p:nvPr/>
        </p:nvSpPr>
        <p:spPr>
          <a:xfrm>
            <a:off x="457190" y="2336951"/>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AWS LightSail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5" name="Google Shape;865;p63"/>
          <p:cNvSpPr/>
          <p:nvPr/>
        </p:nvSpPr>
        <p:spPr>
          <a:xfrm>
            <a:off x="457190" y="256774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AWS Lambda Version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6" name="Google Shape;866;p63"/>
          <p:cNvSpPr/>
          <p:nvPr/>
        </p:nvSpPr>
        <p:spPr>
          <a:xfrm>
            <a:off x="457190" y="279853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Custom Scanner Tags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7" name="Google Shape;867;p63"/>
          <p:cNvSpPr/>
          <p:nvPr/>
        </p:nvSpPr>
        <p:spPr>
          <a:xfrm>
            <a:off x="457190" y="302933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Workload Scanning Exclusions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8" name="Google Shape;868;p63"/>
          <p:cNvSpPr/>
          <p:nvPr/>
        </p:nvSpPr>
        <p:spPr>
          <a:xfrm>
            <a:off x="457190" y="3260127"/>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Compute Instance Group Sampling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9" name="Google Shape;869;p63"/>
          <p:cNvSpPr/>
          <p:nvPr/>
        </p:nvSpPr>
        <p:spPr>
          <a:xfrm>
            <a:off x="457190" y="3490921"/>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ADE Private Endpoints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0" name="Google Shape;870;p63"/>
          <p:cNvSpPr/>
          <p:nvPr/>
        </p:nvSpPr>
        <p:spPr>
          <a:xfrm>
            <a:off x="457190" y="372171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ADE Private Endpoints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1" name="Google Shape;871;p63"/>
          <p:cNvSpPr/>
          <p:nvPr/>
        </p:nvSpPr>
        <p:spPr>
          <a:xfrm>
            <a:off x="457190" y="395250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3"/>
              </a:rPr>
              <a:t>Near Real-Time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2" name="Google Shape;872;p63"/>
          <p:cNvSpPr/>
          <p:nvPr/>
        </p:nvSpPr>
        <p:spPr>
          <a:xfrm>
            <a:off x="458865" y="418330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3"/>
              </a:rPr>
              <a:t>Include NRT Workload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3" name="Google Shape;873;p63"/>
          <p:cNvSpPr/>
          <p:nvPr/>
        </p:nvSpPr>
        <p:spPr>
          <a:xfrm>
            <a:off x="454207" y="4414097"/>
            <a:ext cx="1978500" cy="22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86"/>
              <a:buFont typeface="DM Sans"/>
              <a:buNone/>
            </a:pPr>
            <a:r>
              <a:rPr lang="en" sz="783"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4"/>
              </a:rPr>
              <a:t>Agentless File Integrity Monitoring</a:t>
            </a:r>
            <a:endParaRPr sz="783"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4" name="Google Shape;874;p63"/>
          <p:cNvSpPr/>
          <p:nvPr/>
        </p:nvSpPr>
        <p:spPr>
          <a:xfrm>
            <a:off x="4880822" y="1401575"/>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Scanner Mode (Basic/Advanced)</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5" name="Google Shape;875;p63"/>
          <p:cNvSpPr/>
          <p:nvPr/>
        </p:nvSpPr>
        <p:spPr>
          <a:xfrm>
            <a:off x="4880822" y="1604536"/>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Custom Targets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6" name="Google Shape;876;p63"/>
          <p:cNvSpPr/>
          <p:nvPr/>
        </p:nvSpPr>
        <p:spPr>
          <a:xfrm>
            <a:off x="4880822" y="180749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Reconnaissance</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7" name="Google Shape;877;p63"/>
          <p:cNvSpPr/>
          <p:nvPr/>
        </p:nvSpPr>
        <p:spPr>
          <a:xfrm>
            <a:off x="4880822" y="201045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Code</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8" name="Google Shape;878;p63"/>
          <p:cNvSpPr/>
          <p:nvPr/>
        </p:nvSpPr>
        <p:spPr>
          <a:xfrm>
            <a:off x="4880822" y="221341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API Security</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79" name="Google Shape;879;p63"/>
          <p:cNvSpPr/>
          <p:nvPr/>
        </p:nvSpPr>
        <p:spPr>
          <a:xfrm>
            <a:off x="4880822" y="2416380"/>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Runtime Sensor</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0" name="Google Shape;880;p63"/>
          <p:cNvSpPr/>
          <p:nvPr/>
        </p:nvSpPr>
        <p:spPr>
          <a:xfrm>
            <a:off x="4880822" y="2619341"/>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Advanced Scan Source: SaaS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1" name="Google Shape;881;p63"/>
          <p:cNvSpPr/>
          <p:nvPr/>
        </p:nvSpPr>
        <p:spPr>
          <a:xfrm>
            <a:off x="4880822" y="2822303"/>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Misconfiguration Detection</a:t>
            </a:r>
            <a:endParaRPr sz="737"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2" name="Google Shape;882;p63"/>
          <p:cNvSpPr/>
          <p:nvPr/>
        </p:nvSpPr>
        <p:spPr>
          <a:xfrm>
            <a:off x="4881077" y="3025264"/>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Default Credentials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3" name="Google Shape;883;p63"/>
          <p:cNvSpPr/>
          <p:nvPr/>
        </p:nvSpPr>
        <p:spPr>
          <a:xfrm>
            <a:off x="4881333" y="3228225"/>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High-Profile Threat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4" name="Google Shape;884;p63"/>
          <p:cNvSpPr/>
          <p:nvPr/>
        </p:nvSpPr>
        <p:spPr>
          <a:xfrm>
            <a:off x="4875837" y="3431186"/>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DAST</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5" name="Google Shape;885;p63"/>
          <p:cNvSpPr/>
          <p:nvPr/>
        </p:nvSpPr>
        <p:spPr>
          <a:xfrm>
            <a:off x="4870341" y="363414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Vulnerability Exploitability</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6" name="Google Shape;886;p63"/>
          <p:cNvSpPr/>
          <p:nvPr/>
        </p:nvSpPr>
        <p:spPr>
          <a:xfrm>
            <a:off x="4864845" y="383710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Rules: Early Access Rules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7" name="Google Shape;887;p63"/>
          <p:cNvSpPr/>
          <p:nvPr/>
        </p:nvSpPr>
        <p:spPr>
          <a:xfrm>
            <a:off x="4857389" y="404006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Vulnerability Assessment</a:t>
            </a:r>
            <a:endParaRPr sz="737"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8" name="Google Shape;888;p63"/>
          <p:cNvSpPr/>
          <p:nvPr/>
        </p:nvSpPr>
        <p:spPr>
          <a:xfrm>
            <a:off x="4855344" y="4243030"/>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Sensitive Data Findings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89" name="Google Shape;889;p63"/>
          <p:cNvSpPr/>
          <p:nvPr/>
        </p:nvSpPr>
        <p:spPr>
          <a:xfrm>
            <a:off x="7769390" y="1840063"/>
            <a:ext cx="1031700" cy="14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461"/>
              <a:buFont typeface="JetBrains Mono"/>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{{ASM_RECON_R}}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0" name="Google Shape;890;p63"/>
          <p:cNvSpPr/>
          <p:nvPr/>
        </p:nvSpPr>
        <p:spPr>
          <a:xfrm>
            <a:off x="7769390" y="2856085"/>
            <a:ext cx="1031700" cy="14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461"/>
              <a:buFont typeface="JetBrains Mono"/>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{{ASM_MISC_R}}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1" name="Google Shape;891;p63"/>
          <p:cNvSpPr txBox="1"/>
          <p:nvPr/>
        </p:nvSpPr>
        <p:spPr>
          <a:xfrm>
            <a:off x="7769386" y="1433654"/>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{{ASM_MODE_R}}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2" name="Google Shape;892;p63"/>
          <p:cNvSpPr txBox="1"/>
          <p:nvPr/>
        </p:nvSpPr>
        <p:spPr>
          <a:xfrm>
            <a:off x="7769386" y="1636859"/>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{{ASM_CUST_R}}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3" name="Google Shape;893;p63"/>
          <p:cNvSpPr txBox="1"/>
          <p:nvPr/>
        </p:nvSpPr>
        <p:spPr>
          <a:xfrm>
            <a:off x="7769381" y="2043268"/>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{{ASM_CODE_R}}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4" name="Google Shape;894;p63"/>
          <p:cNvSpPr txBox="1"/>
          <p:nvPr/>
        </p:nvSpPr>
        <p:spPr>
          <a:xfrm>
            <a:off x="7769386" y="2246472"/>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{{ASM_API_R}}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5" name="Google Shape;895;p63"/>
          <p:cNvSpPr txBox="1"/>
          <p:nvPr/>
        </p:nvSpPr>
        <p:spPr>
          <a:xfrm>
            <a:off x="7769381" y="2449676"/>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{{ASM_RS_R}}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6" name="Google Shape;896;p63"/>
          <p:cNvSpPr txBox="1"/>
          <p:nvPr/>
        </p:nvSpPr>
        <p:spPr>
          <a:xfrm>
            <a:off x="7769386" y="2652881"/>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{{ASM_SASS_R}}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7" name="Google Shape;897;p63"/>
          <p:cNvSpPr txBox="1"/>
          <p:nvPr/>
        </p:nvSpPr>
        <p:spPr>
          <a:xfrm>
            <a:off x="7775393" y="3059290"/>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{{ASM_CRED_R}}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8" name="Google Shape;898;p63"/>
          <p:cNvSpPr txBox="1"/>
          <p:nvPr/>
        </p:nvSpPr>
        <p:spPr>
          <a:xfrm>
            <a:off x="7781400" y="3262494"/>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{{ASM_HPT_R}}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899" name="Google Shape;899;p63"/>
          <p:cNvSpPr txBox="1"/>
          <p:nvPr/>
        </p:nvSpPr>
        <p:spPr>
          <a:xfrm>
            <a:off x="7775904" y="3465698"/>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{{ASM_DAST_R}}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0" name="Google Shape;900;p63"/>
          <p:cNvSpPr txBox="1"/>
          <p:nvPr/>
        </p:nvSpPr>
        <p:spPr>
          <a:xfrm>
            <a:off x="7770409" y="3668903"/>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{{ASM_VEXP_R}}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1" name="Google Shape;901;p63"/>
          <p:cNvSpPr txBox="1"/>
          <p:nvPr/>
        </p:nvSpPr>
        <p:spPr>
          <a:xfrm>
            <a:off x="7764913" y="3872107"/>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{{ASM_EAR_R}}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2" name="Google Shape;902;p63"/>
          <p:cNvSpPr txBox="1"/>
          <p:nvPr/>
        </p:nvSpPr>
        <p:spPr>
          <a:xfrm>
            <a:off x="7757456" y="4075312"/>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{{ASM_VULN_R}}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3" name="Google Shape;903;p63"/>
          <p:cNvSpPr txBox="1"/>
          <p:nvPr/>
        </p:nvSpPr>
        <p:spPr>
          <a:xfrm>
            <a:off x="7755412" y="4278516"/>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{{ASM_DATA_R}}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04" name="Google Shape;904;p63"/>
          <p:cNvSpPr/>
          <p:nvPr/>
        </p:nvSpPr>
        <p:spPr>
          <a:xfrm>
            <a:off x="6921549" y="1401575"/>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{{ASM_MODE}}</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5" name="Google Shape;905;p63"/>
          <p:cNvSpPr/>
          <p:nvPr/>
        </p:nvSpPr>
        <p:spPr>
          <a:xfrm>
            <a:off x="6921549" y="160452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{{ASM_CUST}}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6" name="Google Shape;906;p63"/>
          <p:cNvSpPr/>
          <p:nvPr/>
        </p:nvSpPr>
        <p:spPr>
          <a:xfrm>
            <a:off x="6921549" y="180746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{{ASM_RECON}}</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7" name="Google Shape;907;p63"/>
          <p:cNvSpPr/>
          <p:nvPr/>
        </p:nvSpPr>
        <p:spPr>
          <a:xfrm>
            <a:off x="6921549" y="2010412"/>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{{ASM_CODE}}</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8" name="Google Shape;908;p63"/>
          <p:cNvSpPr/>
          <p:nvPr/>
        </p:nvSpPr>
        <p:spPr>
          <a:xfrm>
            <a:off x="6921549" y="2213357"/>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{{ASM_API}}</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9" name="Google Shape;909;p63"/>
          <p:cNvSpPr/>
          <p:nvPr/>
        </p:nvSpPr>
        <p:spPr>
          <a:xfrm>
            <a:off x="6921549" y="2416303"/>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{{ASM_RS}}</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0" name="Google Shape;910;p63"/>
          <p:cNvSpPr/>
          <p:nvPr/>
        </p:nvSpPr>
        <p:spPr>
          <a:xfrm>
            <a:off x="6921549" y="2619248"/>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{{ASM_SAAS}}</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1" name="Google Shape;911;p63"/>
          <p:cNvSpPr/>
          <p:nvPr/>
        </p:nvSpPr>
        <p:spPr>
          <a:xfrm>
            <a:off x="6921549" y="2822194"/>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{{ASM_MISC}}</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2" name="Google Shape;912;p63"/>
          <p:cNvSpPr/>
          <p:nvPr/>
        </p:nvSpPr>
        <p:spPr>
          <a:xfrm>
            <a:off x="6921216" y="3025139"/>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{{ASM_CRED}}</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3" name="Google Shape;913;p63"/>
          <p:cNvSpPr/>
          <p:nvPr/>
        </p:nvSpPr>
        <p:spPr>
          <a:xfrm>
            <a:off x="6927625" y="3228085"/>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{{ASM_HPT}}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4" name="Google Shape;914;p63"/>
          <p:cNvSpPr/>
          <p:nvPr/>
        </p:nvSpPr>
        <p:spPr>
          <a:xfrm>
            <a:off x="6922129" y="3431030"/>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{{ASM_DAST}}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5" name="Google Shape;915;p63"/>
          <p:cNvSpPr/>
          <p:nvPr/>
        </p:nvSpPr>
        <p:spPr>
          <a:xfrm>
            <a:off x="6916633" y="363397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{{ASM_VEXP}}</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6" name="Google Shape;916;p63"/>
          <p:cNvSpPr/>
          <p:nvPr/>
        </p:nvSpPr>
        <p:spPr>
          <a:xfrm>
            <a:off x="6911137" y="383692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{{ASM_EAR}}</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7" name="Google Shape;917;p63"/>
          <p:cNvSpPr/>
          <p:nvPr/>
        </p:nvSpPr>
        <p:spPr>
          <a:xfrm>
            <a:off x="6903681" y="4039867"/>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{{ASM_VULN}}</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8" name="Google Shape;918;p63"/>
          <p:cNvSpPr/>
          <p:nvPr/>
        </p:nvSpPr>
        <p:spPr>
          <a:xfrm>
            <a:off x="6901636" y="4242812"/>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{{ASM_DATA}}</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9" name="Google Shape;919;p63"/>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0" name="Google Shape;920;p63"/>
          <p:cNvSpPr/>
          <p:nvPr/>
        </p:nvSpPr>
        <p:spPr>
          <a:xfrm>
            <a:off x="457200" y="164592"/>
            <a:ext cx="64008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rPr>
              <a:t>Scanner Configuration — Workload &amp; Attack Surface</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21" name="Google Shape;921;p63"/>
          <p:cNvSpPr/>
          <p:nvPr/>
        </p:nvSpPr>
        <p:spPr>
          <a:xfrm>
            <a:off x="457200" y="548640"/>
            <a:ext cx="73152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900"/>
              <a:buFont typeface="DM Sans"/>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Current workload scanner and attack surface management configuration settings.</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22" name="Google Shape;922;p63"/>
          <p:cNvSpPr/>
          <p:nvPr/>
        </p:nvSpPr>
        <p:spPr>
          <a:xfrm>
            <a:off x="239233" y="868680"/>
            <a:ext cx="4224479" cy="2742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3" name="Google Shape;923;p63"/>
          <p:cNvSpPr/>
          <p:nvPr/>
        </p:nvSpPr>
        <p:spPr>
          <a:xfrm>
            <a:off x="243488" y="868680"/>
            <a:ext cx="93340" cy="2742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4" name="Google Shape;924;p63"/>
          <p:cNvSpPr/>
          <p:nvPr/>
        </p:nvSpPr>
        <p:spPr>
          <a:xfrm>
            <a:off x="502920" y="85826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5"/>
              </a:rPr>
              <a:t>WORKLOAD SCANNER</a:t>
            </a:r>
            <a:r>
              <a:rPr lang="en"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rPr>
              <a:t>↗</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5" name="Google Shape;925;p63"/>
          <p:cNvSpPr/>
          <p:nvPr/>
        </p:nvSpPr>
        <p:spPr>
          <a:xfrm>
            <a:off x="365760" y="1212609"/>
            <a:ext cx="3977700" cy="201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26" name="Google Shape;926;p63"/>
          <p:cNvSpPr/>
          <p:nvPr/>
        </p:nvSpPr>
        <p:spPr>
          <a:xfrm>
            <a:off x="457200" y="1212609"/>
            <a:ext cx="19887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7" name="Google Shape;927;p63"/>
          <p:cNvSpPr/>
          <p:nvPr/>
        </p:nvSpPr>
        <p:spPr>
          <a:xfrm>
            <a:off x="2514439" y="1212602"/>
            <a:ext cx="1034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8" name="Google Shape;928;p63"/>
          <p:cNvSpPr/>
          <p:nvPr/>
        </p:nvSpPr>
        <p:spPr>
          <a:xfrm>
            <a:off x="3398583" y="1212602"/>
            <a:ext cx="9909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29" name="Google Shape;929;p63"/>
          <p:cNvCxnSpPr/>
          <p:nvPr/>
        </p:nvCxnSpPr>
        <p:spPr>
          <a:xfrm>
            <a:off x="365750" y="1644243"/>
            <a:ext cx="3977700" cy="0"/>
          </a:xfrm>
          <a:prstGeom prst="straightConnector1">
            <a:avLst/>
          </a:prstGeom>
          <a:noFill/>
          <a:ln w="9525" cap="flat" cmpd="sng">
            <a:solidFill>
              <a:srgbClr val="888888"/>
            </a:solidFill>
            <a:prstDash val="solid"/>
            <a:round/>
            <a:headEnd type="none" w="sm" len="sm"/>
            <a:tailEnd type="none" w="sm" len="sm"/>
          </a:ln>
        </p:spPr>
      </p:cxnSp>
      <p:sp>
        <p:nvSpPr>
          <p:cNvPr id="930" name="Google Shape;930;p63"/>
          <p:cNvSpPr/>
          <p:nvPr/>
        </p:nvSpPr>
        <p:spPr>
          <a:xfrm>
            <a:off x="2514443" y="141377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{{WS_NONOS}}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1" name="Google Shape;931;p63"/>
          <p:cNvSpPr/>
          <p:nvPr/>
        </p:nvSpPr>
        <p:spPr>
          <a:xfrm>
            <a:off x="3412672" y="1453521"/>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{{WS_NONOS_R}}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32" name="Google Shape;932;p63"/>
          <p:cNvCxnSpPr/>
          <p:nvPr/>
        </p:nvCxnSpPr>
        <p:spPr>
          <a:xfrm>
            <a:off x="365750" y="1874226"/>
            <a:ext cx="3977700" cy="0"/>
          </a:xfrm>
          <a:prstGeom prst="straightConnector1">
            <a:avLst/>
          </a:prstGeom>
          <a:noFill/>
          <a:ln w="9525" cap="flat" cmpd="sng">
            <a:solidFill>
              <a:srgbClr val="888888"/>
            </a:solidFill>
            <a:prstDash val="solid"/>
            <a:round/>
            <a:headEnd type="none" w="sm" len="sm"/>
            <a:tailEnd type="none" w="sm" len="sm"/>
          </a:ln>
        </p:spPr>
      </p:cxnSp>
      <p:sp>
        <p:nvSpPr>
          <p:cNvPr id="933" name="Google Shape;933;p63"/>
          <p:cNvSpPr/>
          <p:nvPr/>
        </p:nvSpPr>
        <p:spPr>
          <a:xfrm>
            <a:off x="2514443" y="164456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{{WS_VM}}</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4" name="Google Shape;934;p63"/>
          <p:cNvSpPr/>
          <p:nvPr/>
        </p:nvSpPr>
        <p:spPr>
          <a:xfrm>
            <a:off x="3412669" y="1683431"/>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{{WS_VM_R}}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35" name="Google Shape;935;p63"/>
          <p:cNvSpPr/>
          <p:nvPr/>
        </p:nvSpPr>
        <p:spPr>
          <a:xfrm>
            <a:off x="2514443" y="187536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{{WS_CMK}}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6" name="Google Shape;936;p63"/>
          <p:cNvCxnSpPr/>
          <p:nvPr/>
        </p:nvCxnSpPr>
        <p:spPr>
          <a:xfrm>
            <a:off x="365750" y="2104209"/>
            <a:ext cx="3977700" cy="0"/>
          </a:xfrm>
          <a:prstGeom prst="straightConnector1">
            <a:avLst/>
          </a:prstGeom>
          <a:noFill/>
          <a:ln w="9525" cap="flat" cmpd="sng">
            <a:solidFill>
              <a:srgbClr val="888888"/>
            </a:solidFill>
            <a:prstDash val="solid"/>
            <a:round/>
            <a:headEnd type="none" w="sm" len="sm"/>
            <a:tailEnd type="none" w="sm" len="sm"/>
          </a:ln>
        </p:spPr>
      </p:cxnSp>
      <p:cxnSp>
        <p:nvCxnSpPr>
          <p:cNvPr id="937" name="Google Shape;937;p63"/>
          <p:cNvCxnSpPr/>
          <p:nvPr/>
        </p:nvCxnSpPr>
        <p:spPr>
          <a:xfrm>
            <a:off x="365750" y="2334193"/>
            <a:ext cx="3977700" cy="0"/>
          </a:xfrm>
          <a:prstGeom prst="straightConnector1">
            <a:avLst/>
          </a:prstGeom>
          <a:noFill/>
          <a:ln w="9525" cap="flat" cmpd="sng">
            <a:solidFill>
              <a:srgbClr val="888888"/>
            </a:solidFill>
            <a:prstDash val="solid"/>
            <a:round/>
            <a:headEnd type="none" w="sm" len="sm"/>
            <a:tailEnd type="none" w="sm" len="sm"/>
          </a:ln>
        </p:spPr>
      </p:cxnSp>
      <p:sp>
        <p:nvSpPr>
          <p:cNvPr id="938" name="Google Shape;938;p63"/>
          <p:cNvSpPr/>
          <p:nvPr/>
        </p:nvSpPr>
        <p:spPr>
          <a:xfrm>
            <a:off x="2514443" y="2106157"/>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{{WS_TVOL}}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9" name="Google Shape;939;p63"/>
          <p:cNvCxnSpPr/>
          <p:nvPr/>
        </p:nvCxnSpPr>
        <p:spPr>
          <a:xfrm>
            <a:off x="365750" y="2564176"/>
            <a:ext cx="3977700" cy="0"/>
          </a:xfrm>
          <a:prstGeom prst="straightConnector1">
            <a:avLst/>
          </a:prstGeom>
          <a:noFill/>
          <a:ln w="9525" cap="flat" cmpd="sng">
            <a:solidFill>
              <a:srgbClr val="888888"/>
            </a:solidFill>
            <a:prstDash val="solid"/>
            <a:round/>
            <a:headEnd type="none" w="sm" len="sm"/>
            <a:tailEnd type="none" w="sm" len="sm"/>
          </a:ln>
        </p:spPr>
      </p:cxnSp>
      <p:sp>
        <p:nvSpPr>
          <p:cNvPr id="940" name="Google Shape;940;p63"/>
          <p:cNvSpPr/>
          <p:nvPr/>
        </p:nvSpPr>
        <p:spPr>
          <a:xfrm>
            <a:off x="2514443" y="2336951"/>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{{WS_LSAIL}}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1" name="Google Shape;941;p63"/>
          <p:cNvCxnSpPr/>
          <p:nvPr/>
        </p:nvCxnSpPr>
        <p:spPr>
          <a:xfrm>
            <a:off x="365750" y="2794159"/>
            <a:ext cx="3977700" cy="0"/>
          </a:xfrm>
          <a:prstGeom prst="straightConnector1">
            <a:avLst/>
          </a:prstGeom>
          <a:noFill/>
          <a:ln w="9525" cap="flat" cmpd="sng">
            <a:solidFill>
              <a:srgbClr val="888888"/>
            </a:solidFill>
            <a:prstDash val="solid"/>
            <a:round/>
            <a:headEnd type="none" w="sm" len="sm"/>
            <a:tailEnd type="none" w="sm" len="sm"/>
          </a:ln>
        </p:spPr>
      </p:cxnSp>
      <p:sp>
        <p:nvSpPr>
          <p:cNvPr id="942" name="Google Shape;942;p63"/>
          <p:cNvSpPr/>
          <p:nvPr/>
        </p:nvSpPr>
        <p:spPr>
          <a:xfrm>
            <a:off x="2514443" y="256774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{{WS_LAMB}}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3" name="Google Shape;943;p63"/>
          <p:cNvCxnSpPr/>
          <p:nvPr/>
        </p:nvCxnSpPr>
        <p:spPr>
          <a:xfrm>
            <a:off x="365750" y="3024142"/>
            <a:ext cx="3977700" cy="0"/>
          </a:xfrm>
          <a:prstGeom prst="straightConnector1">
            <a:avLst/>
          </a:prstGeom>
          <a:noFill/>
          <a:ln w="9525" cap="flat" cmpd="sng">
            <a:solidFill>
              <a:srgbClr val="888888"/>
            </a:solidFill>
            <a:prstDash val="solid"/>
            <a:round/>
            <a:headEnd type="none" w="sm" len="sm"/>
            <a:tailEnd type="none" w="sm" len="sm"/>
          </a:ln>
        </p:spPr>
      </p:cxnSp>
      <p:sp>
        <p:nvSpPr>
          <p:cNvPr id="944" name="Google Shape;944;p63"/>
          <p:cNvSpPr/>
          <p:nvPr/>
        </p:nvSpPr>
        <p:spPr>
          <a:xfrm>
            <a:off x="2514443" y="279853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{{WS_TAGS}}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5" name="Google Shape;945;p63"/>
          <p:cNvCxnSpPr/>
          <p:nvPr/>
        </p:nvCxnSpPr>
        <p:spPr>
          <a:xfrm>
            <a:off x="365750" y="3254126"/>
            <a:ext cx="3977700" cy="0"/>
          </a:xfrm>
          <a:prstGeom prst="straightConnector1">
            <a:avLst/>
          </a:prstGeom>
          <a:noFill/>
          <a:ln w="9525" cap="flat" cmpd="sng">
            <a:solidFill>
              <a:srgbClr val="888888"/>
            </a:solidFill>
            <a:prstDash val="solid"/>
            <a:round/>
            <a:headEnd type="none" w="sm" len="sm"/>
            <a:tailEnd type="none" w="sm" len="sm"/>
          </a:ln>
        </p:spPr>
      </p:cxnSp>
      <p:sp>
        <p:nvSpPr>
          <p:cNvPr id="946" name="Google Shape;946;p63"/>
          <p:cNvSpPr/>
          <p:nvPr/>
        </p:nvSpPr>
        <p:spPr>
          <a:xfrm>
            <a:off x="2514443" y="302933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{{WS_EXCL}}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47" name="Google Shape;947;p63"/>
          <p:cNvSpPr/>
          <p:nvPr/>
        </p:nvSpPr>
        <p:spPr>
          <a:xfrm>
            <a:off x="3412669" y="3052388"/>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{{WS_EXCL_R}}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48" name="Google Shape;948;p63"/>
          <p:cNvCxnSpPr/>
          <p:nvPr/>
        </p:nvCxnSpPr>
        <p:spPr>
          <a:xfrm>
            <a:off x="365750" y="3484109"/>
            <a:ext cx="3977700" cy="0"/>
          </a:xfrm>
          <a:prstGeom prst="straightConnector1">
            <a:avLst/>
          </a:prstGeom>
          <a:noFill/>
          <a:ln w="9525" cap="flat" cmpd="sng">
            <a:solidFill>
              <a:srgbClr val="888888"/>
            </a:solidFill>
            <a:prstDash val="solid"/>
            <a:round/>
            <a:headEnd type="none" w="sm" len="sm"/>
            <a:tailEnd type="none" w="sm" len="sm"/>
          </a:ln>
        </p:spPr>
      </p:cxnSp>
      <p:sp>
        <p:nvSpPr>
          <p:cNvPr id="949" name="Google Shape;949;p63"/>
          <p:cNvSpPr/>
          <p:nvPr/>
        </p:nvSpPr>
        <p:spPr>
          <a:xfrm>
            <a:off x="2514443" y="3260127"/>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{{WS_CIGS}}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0" name="Google Shape;950;p63"/>
          <p:cNvSpPr/>
          <p:nvPr/>
        </p:nvSpPr>
        <p:spPr>
          <a:xfrm>
            <a:off x="3412669" y="3282298"/>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{{WS_CIGS_R}}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51" name="Google Shape;951;p63"/>
          <p:cNvCxnSpPr/>
          <p:nvPr/>
        </p:nvCxnSpPr>
        <p:spPr>
          <a:xfrm>
            <a:off x="365750" y="3714092"/>
            <a:ext cx="3977700" cy="0"/>
          </a:xfrm>
          <a:prstGeom prst="straightConnector1">
            <a:avLst/>
          </a:prstGeom>
          <a:noFill/>
          <a:ln w="9525" cap="flat" cmpd="sng">
            <a:solidFill>
              <a:srgbClr val="888888"/>
            </a:solidFill>
            <a:prstDash val="solid"/>
            <a:round/>
            <a:headEnd type="none" w="sm" len="sm"/>
            <a:tailEnd type="none" w="sm" len="sm"/>
          </a:ln>
        </p:spPr>
      </p:cxnSp>
      <p:sp>
        <p:nvSpPr>
          <p:cNvPr id="952" name="Google Shape;952;p63"/>
          <p:cNvSpPr/>
          <p:nvPr/>
        </p:nvSpPr>
        <p:spPr>
          <a:xfrm>
            <a:off x="2514443" y="3490921"/>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{{WS_ADE1}}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3" name="Google Shape;953;p63"/>
          <p:cNvCxnSpPr/>
          <p:nvPr/>
        </p:nvCxnSpPr>
        <p:spPr>
          <a:xfrm>
            <a:off x="365750" y="3944076"/>
            <a:ext cx="3977700" cy="0"/>
          </a:xfrm>
          <a:prstGeom prst="straightConnector1">
            <a:avLst/>
          </a:prstGeom>
          <a:noFill/>
          <a:ln w="9525" cap="flat" cmpd="sng">
            <a:solidFill>
              <a:srgbClr val="888888"/>
            </a:solidFill>
            <a:prstDash val="solid"/>
            <a:round/>
            <a:headEnd type="none" w="sm" len="sm"/>
            <a:tailEnd type="none" w="sm" len="sm"/>
          </a:ln>
        </p:spPr>
      </p:cxnSp>
      <p:sp>
        <p:nvSpPr>
          <p:cNvPr id="954" name="Google Shape;954;p63"/>
          <p:cNvSpPr/>
          <p:nvPr/>
        </p:nvSpPr>
        <p:spPr>
          <a:xfrm>
            <a:off x="2514443" y="372171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{{WS_ADE2}}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5" name="Google Shape;955;p63"/>
          <p:cNvCxnSpPr/>
          <p:nvPr/>
        </p:nvCxnSpPr>
        <p:spPr>
          <a:xfrm>
            <a:off x="365750" y="4174059"/>
            <a:ext cx="3977700" cy="0"/>
          </a:xfrm>
          <a:prstGeom prst="straightConnector1">
            <a:avLst/>
          </a:prstGeom>
          <a:noFill/>
          <a:ln w="9525" cap="flat" cmpd="sng">
            <a:solidFill>
              <a:srgbClr val="888888"/>
            </a:solidFill>
            <a:prstDash val="solid"/>
            <a:round/>
            <a:headEnd type="none" w="sm" len="sm"/>
            <a:tailEnd type="none" w="sm" len="sm"/>
          </a:ln>
        </p:spPr>
      </p:cxnSp>
      <p:sp>
        <p:nvSpPr>
          <p:cNvPr id="956" name="Google Shape;956;p63"/>
          <p:cNvSpPr/>
          <p:nvPr/>
        </p:nvSpPr>
        <p:spPr>
          <a:xfrm>
            <a:off x="2514443" y="395250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{{WS_NRT}}</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7" name="Google Shape;957;p63"/>
          <p:cNvSpPr/>
          <p:nvPr/>
        </p:nvSpPr>
        <p:spPr>
          <a:xfrm>
            <a:off x="4676033" y="868680"/>
            <a:ext cx="4224479" cy="274200"/>
          </a:xfrm>
          <a:prstGeom prst="rect">
            <a:avLst/>
          </a:prstGeom>
          <a:solidFill>
            <a:srgbClr val="DCC0C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58" name="Google Shape;958;p63"/>
          <p:cNvSpPr/>
          <p:nvPr/>
        </p:nvSpPr>
        <p:spPr>
          <a:xfrm>
            <a:off x="4678332" y="868680"/>
            <a:ext cx="91440" cy="274200"/>
          </a:xfrm>
          <a:prstGeom prst="rect">
            <a:avLst/>
          </a:prstGeom>
          <a:solidFill>
            <a:srgbClr val="DC262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59" name="Google Shape;959;p63"/>
          <p:cNvSpPr/>
          <p:nvPr/>
        </p:nvSpPr>
        <p:spPr>
          <a:xfrm>
            <a:off x="4937760" y="85826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C262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7"/>
              </a:rPr>
              <a:t>ATTACK SURFACE MANAGEMENT</a:t>
            </a:r>
            <a:r>
              <a:rPr lang="en" sz="1100" b="0" i="0" u="none" strike="noStrike" cap="none">
                <a:solidFill>
                  <a:srgbClr val="CC0000"/>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6"/>
              </a:rPr>
              <a:t>↗</a:t>
            </a:r>
            <a:endParaRPr sz="1100" b="0" i="0" u="none" strike="noStrike" cap="none">
              <a:solidFill>
                <a:srgbClr val="CC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0" name="Google Shape;960;p63"/>
          <p:cNvSpPr/>
          <p:nvPr/>
        </p:nvSpPr>
        <p:spPr>
          <a:xfrm>
            <a:off x="4788323" y="1204132"/>
            <a:ext cx="3947400" cy="197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961" name="Google Shape;961;p63"/>
          <p:cNvSpPr/>
          <p:nvPr/>
        </p:nvSpPr>
        <p:spPr>
          <a:xfrm>
            <a:off x="4879063" y="1204132"/>
            <a:ext cx="19734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2" name="Google Shape;962;p63"/>
          <p:cNvSpPr/>
          <p:nvPr/>
        </p:nvSpPr>
        <p:spPr>
          <a:xfrm>
            <a:off x="6929140" y="1204132"/>
            <a:ext cx="8682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3" name="Google Shape;963;p63"/>
          <p:cNvSpPr/>
          <p:nvPr/>
        </p:nvSpPr>
        <p:spPr>
          <a:xfrm>
            <a:off x="7777620" y="1204132"/>
            <a:ext cx="10263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64" name="Google Shape;964;p63"/>
          <p:cNvCxnSpPr/>
          <p:nvPr/>
        </p:nvCxnSpPr>
        <p:spPr>
          <a:xfrm>
            <a:off x="4788600" y="1598105"/>
            <a:ext cx="4012500" cy="0"/>
          </a:xfrm>
          <a:prstGeom prst="straightConnector1">
            <a:avLst/>
          </a:prstGeom>
          <a:noFill/>
          <a:ln w="9525" cap="flat" cmpd="sng">
            <a:solidFill>
              <a:srgbClr val="888888"/>
            </a:solidFill>
            <a:prstDash val="solid"/>
            <a:round/>
            <a:headEnd type="none" w="sm" len="sm"/>
            <a:tailEnd type="none" w="sm" len="sm"/>
          </a:ln>
        </p:spPr>
      </p:cxnSp>
      <p:cxnSp>
        <p:nvCxnSpPr>
          <p:cNvPr id="965" name="Google Shape;965;p63"/>
          <p:cNvCxnSpPr/>
          <p:nvPr/>
        </p:nvCxnSpPr>
        <p:spPr>
          <a:xfrm>
            <a:off x="4788600" y="1800944"/>
            <a:ext cx="4012500" cy="0"/>
          </a:xfrm>
          <a:prstGeom prst="straightConnector1">
            <a:avLst/>
          </a:prstGeom>
          <a:noFill/>
          <a:ln w="9525" cap="flat" cmpd="sng">
            <a:solidFill>
              <a:srgbClr val="888888"/>
            </a:solidFill>
            <a:prstDash val="solid"/>
            <a:round/>
            <a:headEnd type="none" w="sm" len="sm"/>
            <a:tailEnd type="none" w="sm" len="sm"/>
          </a:ln>
        </p:spPr>
      </p:cxnSp>
      <p:cxnSp>
        <p:nvCxnSpPr>
          <p:cNvPr id="966" name="Google Shape;966;p63"/>
          <p:cNvCxnSpPr/>
          <p:nvPr/>
        </p:nvCxnSpPr>
        <p:spPr>
          <a:xfrm>
            <a:off x="4788600" y="2003784"/>
            <a:ext cx="4012500" cy="0"/>
          </a:xfrm>
          <a:prstGeom prst="straightConnector1">
            <a:avLst/>
          </a:prstGeom>
          <a:noFill/>
          <a:ln w="9525" cap="flat" cmpd="sng">
            <a:solidFill>
              <a:srgbClr val="888888"/>
            </a:solidFill>
            <a:prstDash val="solid"/>
            <a:round/>
            <a:headEnd type="none" w="sm" len="sm"/>
            <a:tailEnd type="none" w="sm" len="sm"/>
          </a:ln>
        </p:spPr>
      </p:cxnSp>
      <p:cxnSp>
        <p:nvCxnSpPr>
          <p:cNvPr id="967" name="Google Shape;967;p63"/>
          <p:cNvCxnSpPr/>
          <p:nvPr/>
        </p:nvCxnSpPr>
        <p:spPr>
          <a:xfrm>
            <a:off x="4788600" y="2206623"/>
            <a:ext cx="4012500" cy="0"/>
          </a:xfrm>
          <a:prstGeom prst="straightConnector1">
            <a:avLst/>
          </a:prstGeom>
          <a:noFill/>
          <a:ln w="9525" cap="flat" cmpd="sng">
            <a:solidFill>
              <a:srgbClr val="888888"/>
            </a:solidFill>
            <a:prstDash val="solid"/>
            <a:round/>
            <a:headEnd type="none" w="sm" len="sm"/>
            <a:tailEnd type="none" w="sm" len="sm"/>
          </a:ln>
        </p:spPr>
      </p:cxnSp>
      <p:cxnSp>
        <p:nvCxnSpPr>
          <p:cNvPr id="968" name="Google Shape;968;p63"/>
          <p:cNvCxnSpPr/>
          <p:nvPr/>
        </p:nvCxnSpPr>
        <p:spPr>
          <a:xfrm>
            <a:off x="4788600" y="2409463"/>
            <a:ext cx="4012500" cy="0"/>
          </a:xfrm>
          <a:prstGeom prst="straightConnector1">
            <a:avLst/>
          </a:prstGeom>
          <a:noFill/>
          <a:ln w="9525" cap="flat" cmpd="sng">
            <a:solidFill>
              <a:srgbClr val="888888"/>
            </a:solidFill>
            <a:prstDash val="solid"/>
            <a:round/>
            <a:headEnd type="none" w="sm" len="sm"/>
            <a:tailEnd type="none" w="sm" len="sm"/>
          </a:ln>
        </p:spPr>
      </p:cxnSp>
      <p:cxnSp>
        <p:nvCxnSpPr>
          <p:cNvPr id="969" name="Google Shape;969;p63"/>
          <p:cNvCxnSpPr/>
          <p:nvPr/>
        </p:nvCxnSpPr>
        <p:spPr>
          <a:xfrm>
            <a:off x="4788600" y="2612303"/>
            <a:ext cx="4012500" cy="0"/>
          </a:xfrm>
          <a:prstGeom prst="straightConnector1">
            <a:avLst/>
          </a:prstGeom>
          <a:noFill/>
          <a:ln w="9525" cap="flat" cmpd="sng">
            <a:solidFill>
              <a:srgbClr val="888888"/>
            </a:solidFill>
            <a:prstDash val="solid"/>
            <a:round/>
            <a:headEnd type="none" w="sm" len="sm"/>
            <a:tailEnd type="none" w="sm" len="sm"/>
          </a:ln>
        </p:spPr>
      </p:cxnSp>
      <p:cxnSp>
        <p:nvCxnSpPr>
          <p:cNvPr id="970" name="Google Shape;970;p63"/>
          <p:cNvCxnSpPr/>
          <p:nvPr/>
        </p:nvCxnSpPr>
        <p:spPr>
          <a:xfrm>
            <a:off x="4788600" y="2815142"/>
            <a:ext cx="4012500" cy="0"/>
          </a:xfrm>
          <a:prstGeom prst="straightConnector1">
            <a:avLst/>
          </a:prstGeom>
          <a:noFill/>
          <a:ln w="9525" cap="flat" cmpd="sng">
            <a:solidFill>
              <a:srgbClr val="888888"/>
            </a:solidFill>
            <a:prstDash val="solid"/>
            <a:round/>
            <a:headEnd type="none" w="sm" len="sm"/>
            <a:tailEnd type="none" w="sm" len="sm"/>
          </a:ln>
        </p:spPr>
      </p:cxnSp>
      <p:cxnSp>
        <p:nvCxnSpPr>
          <p:cNvPr id="971" name="Google Shape;971;p63"/>
          <p:cNvCxnSpPr/>
          <p:nvPr/>
        </p:nvCxnSpPr>
        <p:spPr>
          <a:xfrm>
            <a:off x="4794352" y="3626501"/>
            <a:ext cx="4012500" cy="0"/>
          </a:xfrm>
          <a:prstGeom prst="straightConnector1">
            <a:avLst/>
          </a:prstGeom>
          <a:noFill/>
          <a:ln w="9525" cap="flat" cmpd="sng">
            <a:solidFill>
              <a:srgbClr val="888888"/>
            </a:solidFill>
            <a:prstDash val="solid"/>
            <a:round/>
            <a:headEnd type="none" w="sm" len="sm"/>
            <a:tailEnd type="none" w="sm" len="sm"/>
          </a:ln>
        </p:spPr>
      </p:cxnSp>
      <p:sp>
        <p:nvSpPr>
          <p:cNvPr id="972" name="Google Shape;972;p63"/>
          <p:cNvSpPr txBox="1"/>
          <p:nvPr/>
        </p:nvSpPr>
        <p:spPr>
          <a:xfrm>
            <a:off x="3412674" y="1913341"/>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{{WS_CMK_R}}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3" name="Google Shape;973;p63"/>
          <p:cNvSpPr txBox="1"/>
          <p:nvPr/>
        </p:nvSpPr>
        <p:spPr>
          <a:xfrm>
            <a:off x="3412674" y="2141150"/>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{{WS_TVOL_R}}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4" name="Google Shape;974;p63"/>
          <p:cNvSpPr txBox="1"/>
          <p:nvPr/>
        </p:nvSpPr>
        <p:spPr>
          <a:xfrm>
            <a:off x="3412674" y="2368960"/>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{{WS_LSAIL_R}}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5" name="Google Shape;975;p63"/>
          <p:cNvSpPr txBox="1"/>
          <p:nvPr/>
        </p:nvSpPr>
        <p:spPr>
          <a:xfrm>
            <a:off x="3412674" y="2596769"/>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{{WS_LAMB_R}}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6" name="Google Shape;976;p63"/>
          <p:cNvSpPr txBox="1"/>
          <p:nvPr/>
        </p:nvSpPr>
        <p:spPr>
          <a:xfrm>
            <a:off x="3412675" y="2824579"/>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{{WS_TAGS_R}}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7" name="Google Shape;977;p63"/>
          <p:cNvSpPr txBox="1"/>
          <p:nvPr/>
        </p:nvSpPr>
        <p:spPr>
          <a:xfrm>
            <a:off x="3412674" y="3512208"/>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{{WS_ADE1_R}}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8" name="Google Shape;978;p63"/>
          <p:cNvSpPr txBox="1"/>
          <p:nvPr/>
        </p:nvSpPr>
        <p:spPr>
          <a:xfrm>
            <a:off x="3412674" y="3740017"/>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{{WS_ADE2_R}}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79" name="Google Shape;979;p63"/>
          <p:cNvSpPr txBox="1"/>
          <p:nvPr/>
        </p:nvSpPr>
        <p:spPr>
          <a:xfrm>
            <a:off x="3412674" y="3967827"/>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{{WS_NRT_R}}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80" name="Google Shape;980;p63"/>
          <p:cNvCxnSpPr/>
          <p:nvPr/>
        </p:nvCxnSpPr>
        <p:spPr>
          <a:xfrm>
            <a:off x="4805551" y="1390969"/>
            <a:ext cx="3947400" cy="0"/>
          </a:xfrm>
          <a:prstGeom prst="straightConnector1">
            <a:avLst/>
          </a:prstGeom>
          <a:noFill/>
          <a:ln w="14300" cap="flat" cmpd="sng">
            <a:solidFill>
              <a:srgbClr val="888888"/>
            </a:solidFill>
            <a:prstDash val="solid"/>
            <a:round/>
            <a:headEnd type="none" w="sm" len="sm"/>
            <a:tailEnd type="none" w="sm" len="sm"/>
          </a:ln>
        </p:spPr>
      </p:cxnSp>
      <p:cxnSp>
        <p:nvCxnSpPr>
          <p:cNvPr id="981" name="Google Shape;981;p63"/>
          <p:cNvCxnSpPr/>
          <p:nvPr/>
        </p:nvCxnSpPr>
        <p:spPr>
          <a:xfrm>
            <a:off x="377157" y="1403236"/>
            <a:ext cx="3977700" cy="0"/>
          </a:xfrm>
          <a:prstGeom prst="straightConnector1">
            <a:avLst/>
          </a:prstGeom>
          <a:noFill/>
          <a:ln w="14300" cap="flat" cmpd="sng">
            <a:solidFill>
              <a:srgbClr val="888888"/>
            </a:solidFill>
            <a:prstDash val="solid"/>
            <a:round/>
            <a:headEnd type="none" w="sm" len="sm"/>
            <a:tailEnd type="none" w="sm" len="sm"/>
          </a:ln>
        </p:spPr>
      </p:cxnSp>
      <p:sp>
        <p:nvSpPr>
          <p:cNvPr id="982" name="Google Shape;982;p63"/>
          <p:cNvSpPr/>
          <p:nvPr/>
        </p:nvSpPr>
        <p:spPr>
          <a:xfrm>
            <a:off x="7010768" y="134170"/>
            <a:ext cx="2491200" cy="434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JetBrains Mono"/>
              </a:rPr>
              <a:t>✓</a:t>
            </a: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t> = Aligned with Wiz Recommendation</a:t>
            </a:r>
            <a:b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br>
            <a:r>
              <a:rPr lang="en"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rPr>
              <a:t>✗ = May want to revisit configuration </a:t>
            </a:r>
            <a:endParaRPr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N/A = Informational, customer preference</a:t>
            </a:r>
            <a:endParaRPr sz="10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983" name="Google Shape;983;p63"/>
          <p:cNvCxnSpPr/>
          <p:nvPr/>
        </p:nvCxnSpPr>
        <p:spPr>
          <a:xfrm>
            <a:off x="4794607" y="3017982"/>
            <a:ext cx="4012500" cy="0"/>
          </a:xfrm>
          <a:prstGeom prst="straightConnector1">
            <a:avLst/>
          </a:prstGeom>
          <a:noFill/>
          <a:ln w="9525" cap="flat" cmpd="sng">
            <a:solidFill>
              <a:srgbClr val="888888"/>
            </a:solidFill>
            <a:prstDash val="solid"/>
            <a:round/>
            <a:headEnd type="none" w="sm" len="sm"/>
            <a:tailEnd type="none" w="sm" len="sm"/>
          </a:ln>
        </p:spPr>
      </p:cxnSp>
      <p:cxnSp>
        <p:nvCxnSpPr>
          <p:cNvPr id="984" name="Google Shape;984;p63"/>
          <p:cNvCxnSpPr/>
          <p:nvPr/>
        </p:nvCxnSpPr>
        <p:spPr>
          <a:xfrm>
            <a:off x="4794607" y="3220821"/>
            <a:ext cx="4012500" cy="0"/>
          </a:xfrm>
          <a:prstGeom prst="straightConnector1">
            <a:avLst/>
          </a:prstGeom>
          <a:noFill/>
          <a:ln w="9525" cap="flat" cmpd="sng">
            <a:solidFill>
              <a:srgbClr val="888888"/>
            </a:solidFill>
            <a:prstDash val="solid"/>
            <a:round/>
            <a:headEnd type="none" w="sm" len="sm"/>
            <a:tailEnd type="none" w="sm" len="sm"/>
          </a:ln>
        </p:spPr>
      </p:cxnSp>
      <p:cxnSp>
        <p:nvCxnSpPr>
          <p:cNvPr id="985" name="Google Shape;985;p63"/>
          <p:cNvCxnSpPr/>
          <p:nvPr/>
        </p:nvCxnSpPr>
        <p:spPr>
          <a:xfrm>
            <a:off x="4800614" y="3423661"/>
            <a:ext cx="4012500" cy="0"/>
          </a:xfrm>
          <a:prstGeom prst="straightConnector1">
            <a:avLst/>
          </a:prstGeom>
          <a:noFill/>
          <a:ln w="9525" cap="flat" cmpd="sng">
            <a:solidFill>
              <a:srgbClr val="888888"/>
            </a:solidFill>
            <a:prstDash val="solid"/>
            <a:round/>
            <a:headEnd type="none" w="sm" len="sm"/>
            <a:tailEnd type="none" w="sm" len="sm"/>
          </a:ln>
        </p:spPr>
      </p:cxnSp>
      <p:cxnSp>
        <p:nvCxnSpPr>
          <p:cNvPr id="986" name="Google Shape;986;p63"/>
          <p:cNvCxnSpPr/>
          <p:nvPr/>
        </p:nvCxnSpPr>
        <p:spPr>
          <a:xfrm>
            <a:off x="4783871" y="3829340"/>
            <a:ext cx="4012500" cy="0"/>
          </a:xfrm>
          <a:prstGeom prst="straightConnector1">
            <a:avLst/>
          </a:prstGeom>
          <a:noFill/>
          <a:ln w="9525" cap="flat" cmpd="sng">
            <a:solidFill>
              <a:srgbClr val="888888"/>
            </a:solidFill>
            <a:prstDash val="solid"/>
            <a:round/>
            <a:headEnd type="none" w="sm" len="sm"/>
            <a:tailEnd type="none" w="sm" len="sm"/>
          </a:ln>
        </p:spPr>
      </p:cxnSp>
      <p:cxnSp>
        <p:nvCxnSpPr>
          <p:cNvPr id="987" name="Google Shape;987;p63"/>
          <p:cNvCxnSpPr/>
          <p:nvPr/>
        </p:nvCxnSpPr>
        <p:spPr>
          <a:xfrm>
            <a:off x="4778376" y="4032180"/>
            <a:ext cx="4012500" cy="0"/>
          </a:xfrm>
          <a:prstGeom prst="straightConnector1">
            <a:avLst/>
          </a:prstGeom>
          <a:noFill/>
          <a:ln w="9525" cap="flat" cmpd="sng">
            <a:solidFill>
              <a:srgbClr val="888888"/>
            </a:solidFill>
            <a:prstDash val="solid"/>
            <a:round/>
            <a:headEnd type="none" w="sm" len="sm"/>
            <a:tailEnd type="none" w="sm" len="sm"/>
          </a:ln>
        </p:spPr>
      </p:cxnSp>
      <p:cxnSp>
        <p:nvCxnSpPr>
          <p:cNvPr id="988" name="Google Shape;988;p63"/>
          <p:cNvCxnSpPr/>
          <p:nvPr/>
        </p:nvCxnSpPr>
        <p:spPr>
          <a:xfrm>
            <a:off x="4776331" y="4235019"/>
            <a:ext cx="4012500" cy="0"/>
          </a:xfrm>
          <a:prstGeom prst="straightConnector1">
            <a:avLst/>
          </a:prstGeom>
          <a:noFill/>
          <a:ln w="9525" cap="flat" cmpd="sng">
            <a:solidFill>
              <a:srgbClr val="888888"/>
            </a:solidFill>
            <a:prstDash val="solid"/>
            <a:round/>
            <a:headEnd type="none" w="sm" len="sm"/>
            <a:tailEnd type="none" w="sm" len="sm"/>
          </a:ln>
        </p:spPr>
      </p:cxnSp>
      <p:cxnSp>
        <p:nvCxnSpPr>
          <p:cNvPr id="989" name="Google Shape;989;p63"/>
          <p:cNvCxnSpPr/>
          <p:nvPr/>
        </p:nvCxnSpPr>
        <p:spPr>
          <a:xfrm>
            <a:off x="4774287" y="4437859"/>
            <a:ext cx="4012500" cy="0"/>
          </a:xfrm>
          <a:prstGeom prst="straightConnector1">
            <a:avLst/>
          </a:prstGeom>
          <a:noFill/>
          <a:ln w="9525" cap="flat" cmpd="sng">
            <a:solidFill>
              <a:srgbClr val="888888"/>
            </a:solidFill>
            <a:prstDash val="solid"/>
            <a:round/>
            <a:headEnd type="none" w="sm" len="sm"/>
            <a:tailEnd type="none" w="sm" len="sm"/>
          </a:ln>
        </p:spPr>
      </p:cxnSp>
      <p:sp>
        <p:nvSpPr>
          <p:cNvPr id="990" name="Google Shape;990;p63"/>
          <p:cNvSpPr/>
          <p:nvPr/>
        </p:nvSpPr>
        <p:spPr>
          <a:xfrm>
            <a:off x="2516118" y="418330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{{WS_NRTW}}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91" name="Google Shape;991;p63"/>
          <p:cNvSpPr txBox="1"/>
          <p:nvPr/>
        </p:nvSpPr>
        <p:spPr>
          <a:xfrm>
            <a:off x="3408069" y="4195636"/>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{{WS_NRTW_R}}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92" name="Google Shape;992;p63"/>
          <p:cNvSpPr/>
          <p:nvPr/>
        </p:nvSpPr>
        <p:spPr>
          <a:xfrm>
            <a:off x="2519847" y="4414097"/>
            <a:ext cx="878700" cy="22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{{WS_AFIM}}</a:t>
            </a:r>
            <a:endParaRPr sz="686"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endParaRPr>
          </a:p>
        </p:txBody>
      </p:sp>
      <p:cxnSp>
        <p:nvCxnSpPr>
          <p:cNvPr id="993" name="Google Shape;993;p63"/>
          <p:cNvCxnSpPr/>
          <p:nvPr/>
        </p:nvCxnSpPr>
        <p:spPr>
          <a:xfrm>
            <a:off x="362488" y="4634025"/>
            <a:ext cx="3993600" cy="0"/>
          </a:xfrm>
          <a:prstGeom prst="straightConnector1">
            <a:avLst/>
          </a:prstGeom>
          <a:noFill/>
          <a:ln w="9525" cap="flat" cmpd="sng">
            <a:solidFill>
              <a:srgbClr val="888888"/>
            </a:solidFill>
            <a:prstDash val="solid"/>
            <a:round/>
            <a:headEnd type="none" w="sm" len="sm"/>
            <a:tailEnd type="none" w="sm" len="sm"/>
          </a:ln>
        </p:spPr>
      </p:cxnSp>
      <p:cxnSp>
        <p:nvCxnSpPr>
          <p:cNvPr id="994" name="Google Shape;994;p63"/>
          <p:cNvCxnSpPr/>
          <p:nvPr/>
        </p:nvCxnSpPr>
        <p:spPr>
          <a:xfrm>
            <a:off x="364163" y="4404042"/>
            <a:ext cx="3993600" cy="0"/>
          </a:xfrm>
          <a:prstGeom prst="straightConnector1">
            <a:avLst/>
          </a:prstGeom>
          <a:noFill/>
          <a:ln w="9525" cap="flat" cmpd="sng">
            <a:solidFill>
              <a:srgbClr val="888888"/>
            </a:solidFill>
            <a:prstDash val="solid"/>
            <a:round/>
            <a:headEnd type="none" w="sm" len="sm"/>
            <a:tailEnd type="none" w="sm" len="sm"/>
          </a:ln>
        </p:spPr>
      </p:cxnSp>
      <p:sp>
        <p:nvSpPr>
          <p:cNvPr id="995" name="Google Shape;995;p63"/>
          <p:cNvSpPr txBox="1"/>
          <p:nvPr/>
        </p:nvSpPr>
        <p:spPr>
          <a:xfrm>
            <a:off x="3403463" y="4423446"/>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{{WS_AFIM_R}}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pic>
        <p:nvPicPr>
          <p:cNvPr id="996" name="Google Shape;996;p63"/>
          <p:cNvPicPr preferRelativeResize="0"/>
          <p:nvPr/>
        </p:nvPicPr>
        <p:blipFill rotWithShape="1">
          <a:blip r:embed="rId8">
            <a:alphaModFix/>
          </a:blip>
          <a:srcRect/>
          <a:stretch/>
        </p:blipFill>
        <p:spPr>
          <a:xfrm>
            <a:off x="8285539" y="4822005"/>
            <a:ext cx="733511" cy="212512"/>
          </a:xfrm>
          <a:prstGeom prst="rect">
            <a:avLst/>
          </a:prstGeom>
          <a:noFill/>
          <a:ln>
            <a:noFill/>
          </a:ln>
        </p:spPr>
      </p:pic>
      <p:cxnSp>
        <p:nvCxnSpPr>
          <p:cNvPr id="997" name="Google Shape;997;p63"/>
          <p:cNvCxnSpPr/>
          <p:nvPr/>
        </p:nvCxnSpPr>
        <p:spPr>
          <a:xfrm>
            <a:off x="4771650" y="4641518"/>
            <a:ext cx="4012500" cy="0"/>
          </a:xfrm>
          <a:prstGeom prst="straightConnector1">
            <a:avLst/>
          </a:prstGeom>
          <a:noFill/>
          <a:ln w="9525" cap="flat" cmpd="sng">
            <a:solidFill>
              <a:srgbClr val="888888"/>
            </a:solidFill>
            <a:prstDash val="solid"/>
            <a:round/>
            <a:headEnd type="none" w="sm" len="sm"/>
            <a:tailEnd type="none" w="sm" len="sm"/>
          </a:ln>
        </p:spPr>
      </p:cxnSp>
      <p:sp>
        <p:nvSpPr>
          <p:cNvPr id="998" name="Google Shape;998;p63"/>
          <p:cNvSpPr/>
          <p:nvPr/>
        </p:nvSpPr>
        <p:spPr>
          <a:xfrm>
            <a:off x="4852708" y="444656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Secret Findings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999" name="Google Shape;999;p63"/>
          <p:cNvSpPr/>
          <p:nvPr/>
        </p:nvSpPr>
        <p:spPr>
          <a:xfrm>
            <a:off x="4850663" y="464952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Risk: Secret Validation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0" name="Google Shape;1000;p63"/>
          <p:cNvSpPr txBox="1"/>
          <p:nvPr/>
        </p:nvSpPr>
        <p:spPr>
          <a:xfrm>
            <a:off x="7752775" y="4481811"/>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{{ASM_SEC_R}}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1" name="Google Shape;1001;p63"/>
          <p:cNvSpPr txBox="1"/>
          <p:nvPr/>
        </p:nvSpPr>
        <p:spPr>
          <a:xfrm>
            <a:off x="7750731" y="4685015"/>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{{ASM_SV_R}}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2" name="Google Shape;1002;p63"/>
          <p:cNvSpPr/>
          <p:nvPr/>
        </p:nvSpPr>
        <p:spPr>
          <a:xfrm>
            <a:off x="6899000" y="444636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{{ASM_SEC}}</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3" name="Google Shape;1003;p63"/>
          <p:cNvSpPr/>
          <p:nvPr/>
        </p:nvSpPr>
        <p:spPr>
          <a:xfrm>
            <a:off x="6896955" y="464931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{{ASM_SV}}</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04" name="Google Shape;1004;p63"/>
          <p:cNvCxnSpPr/>
          <p:nvPr/>
        </p:nvCxnSpPr>
        <p:spPr>
          <a:xfrm rot="10800000" flipH="1">
            <a:off x="4779864" y="4844405"/>
            <a:ext cx="4011300" cy="13800"/>
          </a:xfrm>
          <a:prstGeom prst="straightConnector1">
            <a:avLst/>
          </a:prstGeom>
          <a:noFill/>
          <a:ln w="9525" cap="flat" cmpd="sng">
            <a:solidFill>
              <a:srgbClr val="888888"/>
            </a:solidFill>
            <a:prstDash val="solid"/>
            <a:round/>
            <a:headEnd type="none" w="sm" len="sm"/>
            <a:tailEnd type="none" w="sm" len="sm"/>
          </a:ln>
        </p:spPr>
      </p:cxnSp>
      <p:sp>
        <p:nvSpPr>
          <p:cNvPr id="1005" name="Google Shape;1005;p63"/>
          <p:cNvSpPr/>
          <p:nvPr/>
        </p:nvSpPr>
        <p:spPr>
          <a:xfrm>
            <a:off x="4849232" y="486439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Application Endpoint Exposure Level</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6" name="Google Shape;1006;p63"/>
          <p:cNvSpPr txBox="1"/>
          <p:nvPr/>
        </p:nvSpPr>
        <p:spPr>
          <a:xfrm>
            <a:off x="7761860" y="4899639"/>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{{ASM_EXPL_R}}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07" name="Google Shape;1007;p63"/>
          <p:cNvSpPr/>
          <p:nvPr/>
        </p:nvSpPr>
        <p:spPr>
          <a:xfrm>
            <a:off x="6895524" y="4864194"/>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JetBrains Mono"/>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{{ASM_EXPL}}</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 name="Action Button: Blank 1">
            <a:hlinkClick r:id="" action="ppaction://noaction" highlightClick="1"/>
            <a:extLst>
              <a:ext uri="{FF2B5EF4-FFF2-40B4-BE49-F238E27FC236}">
                <a16:creationId xmlns:a16="http://schemas.microsoft.com/office/drawing/2014/main" id="{6C06A3FF-E719-7CF8-6291-0B366A4C368F}"/>
              </a:ext>
            </a:extLst>
          </p:cNvPr>
          <p:cNvSpPr/>
          <p:nvPr/>
        </p:nvSpPr>
        <p:spPr>
          <a:xfrm>
            <a:off x="239233" y="867612"/>
            <a:ext cx="4224479" cy="4146767"/>
          </a:xfrm>
          <a:prstGeom prst="actionButtonBlank">
            <a:avLst/>
          </a:prstGeom>
          <a:noFill/>
          <a:ln w="6350">
            <a:solidFill>
              <a:srgbClr val="0254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ction Button: Blank 2">
            <a:hlinkClick r:id="" action="ppaction://noaction" highlightClick="1"/>
            <a:extLst>
              <a:ext uri="{FF2B5EF4-FFF2-40B4-BE49-F238E27FC236}">
                <a16:creationId xmlns:a16="http://schemas.microsoft.com/office/drawing/2014/main" id="{6F777D06-035B-F269-218F-876EFD7D8F9A}"/>
              </a:ext>
            </a:extLst>
          </p:cNvPr>
          <p:cNvSpPr/>
          <p:nvPr/>
        </p:nvSpPr>
        <p:spPr>
          <a:xfrm>
            <a:off x="4676033" y="867086"/>
            <a:ext cx="4224479" cy="4194012"/>
          </a:xfrm>
          <a:prstGeom prst="actionButtonBlank">
            <a:avLst/>
          </a:prstGeom>
          <a:noFill/>
          <a:ln w="6350">
            <a:solidFill>
              <a:srgbClr val="0254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13"/>
        <p:cNvGrpSpPr/>
        <p:nvPr/>
      </p:nvGrpSpPr>
      <p:grpSpPr>
        <a:xfrm>
          <a:off x="0" y="0"/>
          <a:ext cx="0" cy="0"/>
          <a:chOff x="0" y="0"/>
          <a:chExt cx="0" cy="0"/>
        </a:xfrm>
      </p:grpSpPr>
      <p:sp>
        <p:nvSpPr>
          <p:cNvPr id="6" name="Action Button: Blank 5">
            <a:hlinkClick r:id="" action="ppaction://noaction" highlightClick="1"/>
            <a:extLst>
              <a:ext uri="{FF2B5EF4-FFF2-40B4-BE49-F238E27FC236}">
                <a16:creationId xmlns:a16="http://schemas.microsoft.com/office/drawing/2014/main" id="{389ACB91-1ABB-82F9-7C97-2022312CBC11}"/>
              </a:ext>
            </a:extLst>
          </p:cNvPr>
          <p:cNvSpPr/>
          <p:nvPr/>
        </p:nvSpPr>
        <p:spPr>
          <a:xfrm>
            <a:off x="4671608" y="795592"/>
            <a:ext cx="4224479" cy="4277976"/>
          </a:xfrm>
          <a:prstGeom prst="actionButtonBlank">
            <a:avLst/>
          </a:prstGeom>
          <a:noFill/>
          <a:ln w="6350">
            <a:solidFill>
              <a:srgbClr val="0254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14" name="Google Shape;1014;p64"/>
          <p:cNvPicPr preferRelativeResize="0"/>
          <p:nvPr/>
        </p:nvPicPr>
        <p:blipFill rotWithShape="1">
          <a:blip r:embed="rId3">
            <a:alphaModFix/>
          </a:blip>
          <a:srcRect/>
          <a:stretch/>
        </p:blipFill>
        <p:spPr>
          <a:xfrm>
            <a:off x="8048746" y="4692300"/>
            <a:ext cx="943800" cy="381270"/>
          </a:xfrm>
          <a:prstGeom prst="rect">
            <a:avLst/>
          </a:prstGeom>
          <a:noFill/>
          <a:ln>
            <a:noFill/>
          </a:ln>
        </p:spPr>
      </p:pic>
      <p:sp>
        <p:nvSpPr>
          <p:cNvPr id="1015" name="Google Shape;1015;p64"/>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16" name="Google Shape;1016;p64"/>
          <p:cNvSpPr/>
          <p:nvPr/>
        </p:nvSpPr>
        <p:spPr>
          <a:xfrm>
            <a:off x="457200" y="164588"/>
            <a:ext cx="69444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rPr>
              <a:t>Scanner Configuration — Vulnerability &amp; Data Security</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17" name="Google Shape;1017;p64"/>
          <p:cNvSpPr/>
          <p:nvPr/>
        </p:nvSpPr>
        <p:spPr>
          <a:xfrm>
            <a:off x="457200" y="548640"/>
            <a:ext cx="73152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900"/>
              <a:buFont typeface="DM Sans"/>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Current vulnerability scanner tuning and data security scanning coverage.</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018" name="Google Shape;1018;p64"/>
          <p:cNvSpPr/>
          <p:nvPr/>
        </p:nvSpPr>
        <p:spPr>
          <a:xfrm>
            <a:off x="239233" y="868680"/>
            <a:ext cx="4224479" cy="274200"/>
          </a:xfrm>
          <a:prstGeom prst="rect">
            <a:avLst/>
          </a:prstGeom>
          <a:solidFill>
            <a:srgbClr val="EFE6C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19" name="Google Shape;1019;p64"/>
          <p:cNvSpPr/>
          <p:nvPr/>
        </p:nvSpPr>
        <p:spPr>
          <a:xfrm>
            <a:off x="243492" y="868680"/>
            <a:ext cx="93336" cy="274200"/>
          </a:xfrm>
          <a:prstGeom prst="rect">
            <a:avLst/>
          </a:prstGeom>
          <a:solidFill>
            <a:srgbClr val="D9770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20" name="Google Shape;1020;p64"/>
          <p:cNvSpPr/>
          <p:nvPr/>
        </p:nvSpPr>
        <p:spPr>
          <a:xfrm>
            <a:off x="502920" y="847856"/>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4"/>
              </a:rPr>
              <a:t>VULNERABILITY SCANNER</a:t>
            </a:r>
            <a:r>
              <a:rPr lang="en" sz="1100" b="0"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5"/>
              </a:rPr>
              <a:t>↗</a:t>
            </a:r>
            <a:endParaRPr sz="900" b="0"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1" name="Google Shape;1021;p64"/>
          <p:cNvSpPr/>
          <p:nvPr/>
        </p:nvSpPr>
        <p:spPr>
          <a:xfrm>
            <a:off x="371458" y="1191602"/>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22" name="Google Shape;1022;p64"/>
          <p:cNvSpPr/>
          <p:nvPr/>
        </p:nvSpPr>
        <p:spPr>
          <a:xfrm>
            <a:off x="371454" y="1180568"/>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3" name="Google Shape;1023;p64"/>
          <p:cNvSpPr/>
          <p:nvPr/>
        </p:nvSpPr>
        <p:spPr>
          <a:xfrm>
            <a:off x="2537260" y="1191602"/>
            <a:ext cx="8751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4" name="Google Shape;1024;p64"/>
          <p:cNvSpPr/>
          <p:nvPr/>
        </p:nvSpPr>
        <p:spPr>
          <a:xfrm>
            <a:off x="3429612" y="1186270"/>
            <a:ext cx="10341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5" name="Google Shape;1025;p64"/>
          <p:cNvSpPr/>
          <p:nvPr/>
        </p:nvSpPr>
        <p:spPr>
          <a:xfrm>
            <a:off x="371449" y="1431983"/>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26" name="Google Shape;1026;p64"/>
          <p:cNvCxnSpPr/>
          <p:nvPr/>
        </p:nvCxnSpPr>
        <p:spPr>
          <a:xfrm>
            <a:off x="371449" y="1678076"/>
            <a:ext cx="3977700" cy="0"/>
          </a:xfrm>
          <a:prstGeom prst="straightConnector1">
            <a:avLst/>
          </a:prstGeom>
          <a:noFill/>
          <a:ln w="9525" cap="flat" cmpd="sng">
            <a:solidFill>
              <a:srgbClr val="E5E7EB"/>
            </a:solidFill>
            <a:prstDash val="solid"/>
            <a:round/>
            <a:headEnd type="none" w="sm" len="sm"/>
            <a:tailEnd type="none" w="sm" len="sm"/>
          </a:ln>
        </p:spPr>
      </p:cxnSp>
      <p:sp>
        <p:nvSpPr>
          <p:cNvPr id="1027" name="Google Shape;1027;p64"/>
          <p:cNvSpPr/>
          <p:nvPr/>
        </p:nvSpPr>
        <p:spPr>
          <a:xfrm>
            <a:off x="371445" y="1431975"/>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OS-Package Managed Code Libraries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8" name="Google Shape;1028;p64"/>
          <p:cNvSpPr/>
          <p:nvPr/>
        </p:nvSpPr>
        <p:spPr>
          <a:xfrm>
            <a:off x="2569586" y="1431983"/>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{{VS_OSPKG}}</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9" name="Google Shape;1029;p64"/>
          <p:cNvSpPr/>
          <p:nvPr/>
        </p:nvSpPr>
        <p:spPr>
          <a:xfrm>
            <a:off x="371449" y="1678076"/>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30" name="Google Shape;1030;p64"/>
          <p:cNvCxnSpPr/>
          <p:nvPr/>
        </p:nvCxnSpPr>
        <p:spPr>
          <a:xfrm>
            <a:off x="355736" y="1916264"/>
            <a:ext cx="3977700" cy="0"/>
          </a:xfrm>
          <a:prstGeom prst="straightConnector1">
            <a:avLst/>
          </a:prstGeom>
          <a:noFill/>
          <a:ln w="9525" cap="flat" cmpd="sng">
            <a:solidFill>
              <a:srgbClr val="888888"/>
            </a:solidFill>
            <a:prstDash val="solid"/>
            <a:round/>
            <a:headEnd type="none" w="sm" len="sm"/>
            <a:tailEnd type="none" w="sm" len="sm"/>
          </a:ln>
        </p:spPr>
      </p:cxnSp>
      <p:sp>
        <p:nvSpPr>
          <p:cNvPr id="1031" name="Google Shape;1031;p64"/>
          <p:cNvSpPr/>
          <p:nvPr/>
        </p:nvSpPr>
        <p:spPr>
          <a:xfrm>
            <a:off x="371445" y="1678069"/>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Windows App Bundled Libraries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2" name="Google Shape;1032;p64"/>
          <p:cNvSpPr/>
          <p:nvPr/>
        </p:nvSpPr>
        <p:spPr>
          <a:xfrm>
            <a:off x="2569586" y="1678076"/>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{{VS_WINB}}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3" name="Google Shape;1033;p64"/>
          <p:cNvSpPr/>
          <p:nvPr/>
        </p:nvSpPr>
        <p:spPr>
          <a:xfrm>
            <a:off x="371449" y="1924169"/>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34" name="Google Shape;1034;p64"/>
          <p:cNvCxnSpPr/>
          <p:nvPr/>
        </p:nvCxnSpPr>
        <p:spPr>
          <a:xfrm>
            <a:off x="371449" y="2170262"/>
            <a:ext cx="3977700" cy="0"/>
          </a:xfrm>
          <a:prstGeom prst="straightConnector1">
            <a:avLst/>
          </a:prstGeom>
          <a:noFill/>
          <a:ln w="9525" cap="flat" cmpd="sng">
            <a:solidFill>
              <a:srgbClr val="E5E7EB"/>
            </a:solidFill>
            <a:prstDash val="solid"/>
            <a:round/>
            <a:headEnd type="none" w="sm" len="sm"/>
            <a:tailEnd type="none" w="sm" len="sm"/>
          </a:ln>
        </p:spPr>
      </p:cxnSp>
      <p:sp>
        <p:nvSpPr>
          <p:cNvPr id="1035" name="Google Shape;1035;p64"/>
          <p:cNvSpPr/>
          <p:nvPr/>
        </p:nvSpPr>
        <p:spPr>
          <a:xfrm>
            <a:off x="371445" y="192416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Go Standard Library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6" name="Google Shape;1036;p64"/>
          <p:cNvSpPr/>
          <p:nvPr/>
        </p:nvSpPr>
        <p:spPr>
          <a:xfrm>
            <a:off x="2569586" y="1924169"/>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{{VS_GOSTD}}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7" name="Google Shape;1037;p64"/>
          <p:cNvSpPr/>
          <p:nvPr/>
        </p:nvSpPr>
        <p:spPr>
          <a:xfrm>
            <a:off x="371449" y="2170262"/>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38" name="Google Shape;1038;p64"/>
          <p:cNvCxnSpPr/>
          <p:nvPr/>
        </p:nvCxnSpPr>
        <p:spPr>
          <a:xfrm>
            <a:off x="358777" y="2406445"/>
            <a:ext cx="3977700" cy="0"/>
          </a:xfrm>
          <a:prstGeom prst="straightConnector1">
            <a:avLst/>
          </a:prstGeom>
          <a:noFill/>
          <a:ln w="9525" cap="flat" cmpd="sng">
            <a:solidFill>
              <a:srgbClr val="888888"/>
            </a:solidFill>
            <a:prstDash val="solid"/>
            <a:round/>
            <a:headEnd type="none" w="sm" len="sm"/>
            <a:tailEnd type="none" w="sm" len="sm"/>
          </a:ln>
        </p:spPr>
      </p:cxnSp>
      <p:sp>
        <p:nvSpPr>
          <p:cNvPr id="1039" name="Google Shape;1039;p64"/>
          <p:cNvSpPr/>
          <p:nvPr/>
        </p:nvSpPr>
        <p:spPr>
          <a:xfrm>
            <a:off x="371445" y="217025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Code Library Exclusion Paths (Legacy)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0" name="Google Shape;1040;p64"/>
          <p:cNvSpPr/>
          <p:nvPr/>
        </p:nvSpPr>
        <p:spPr>
          <a:xfrm>
            <a:off x="2569586" y="2170262"/>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{{VS_EXCL}}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1" name="Google Shape;1041;p64"/>
          <p:cNvSpPr/>
          <p:nvPr/>
        </p:nvSpPr>
        <p:spPr>
          <a:xfrm>
            <a:off x="371449" y="2416355"/>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42" name="Google Shape;1042;p64"/>
          <p:cNvCxnSpPr/>
          <p:nvPr/>
        </p:nvCxnSpPr>
        <p:spPr>
          <a:xfrm>
            <a:off x="361818" y="2665905"/>
            <a:ext cx="3977700" cy="0"/>
          </a:xfrm>
          <a:prstGeom prst="straightConnector1">
            <a:avLst/>
          </a:prstGeom>
          <a:noFill/>
          <a:ln w="9525" cap="flat" cmpd="sng">
            <a:solidFill>
              <a:srgbClr val="E5E7EB"/>
            </a:solidFill>
            <a:prstDash val="solid"/>
            <a:round/>
            <a:headEnd type="none" w="sm" len="sm"/>
            <a:tailEnd type="none" w="sm" len="sm"/>
          </a:ln>
        </p:spPr>
      </p:cxnSp>
      <p:sp>
        <p:nvSpPr>
          <p:cNvPr id="1043" name="Google Shape;1043;p64"/>
          <p:cNvSpPr/>
          <p:nvPr/>
        </p:nvSpPr>
        <p:spPr>
          <a:xfrm>
            <a:off x="371445" y="241635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Ignore Red Hat OpenShift Vulns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4" name="Google Shape;1044;p64"/>
          <p:cNvSpPr/>
          <p:nvPr/>
        </p:nvSpPr>
        <p:spPr>
          <a:xfrm>
            <a:off x="2569586" y="2416355"/>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{{VS_RHOS}}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5" name="Google Shape;1045;p64"/>
          <p:cNvSpPr/>
          <p:nvPr/>
        </p:nvSpPr>
        <p:spPr>
          <a:xfrm>
            <a:off x="371449" y="2662448"/>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46" name="Google Shape;1046;p64"/>
          <p:cNvCxnSpPr/>
          <p:nvPr/>
        </p:nvCxnSpPr>
        <p:spPr>
          <a:xfrm>
            <a:off x="364860" y="2898661"/>
            <a:ext cx="3977700" cy="0"/>
          </a:xfrm>
          <a:prstGeom prst="straightConnector1">
            <a:avLst/>
          </a:prstGeom>
          <a:noFill/>
          <a:ln w="9525" cap="flat" cmpd="sng">
            <a:solidFill>
              <a:srgbClr val="888888"/>
            </a:solidFill>
            <a:prstDash val="solid"/>
            <a:round/>
            <a:headEnd type="none" w="sm" len="sm"/>
            <a:tailEnd type="none" w="sm" len="sm"/>
          </a:ln>
        </p:spPr>
      </p:cxnSp>
      <p:sp>
        <p:nvSpPr>
          <p:cNvPr id="1047" name="Google Shape;1047;p64"/>
          <p:cNvSpPr/>
          <p:nvPr/>
        </p:nvSpPr>
        <p:spPr>
          <a:xfrm>
            <a:off x="371445" y="266244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Manifest Files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8" name="Google Shape;1048;p64"/>
          <p:cNvSpPr/>
          <p:nvPr/>
        </p:nvSpPr>
        <p:spPr>
          <a:xfrm>
            <a:off x="2569586" y="2662448"/>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{{VS_MANIF}}</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9" name="Google Shape;1049;p64"/>
          <p:cNvSpPr/>
          <p:nvPr/>
        </p:nvSpPr>
        <p:spPr>
          <a:xfrm>
            <a:off x="3395224" y="2698429"/>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{{VS_MANIF_R}}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0" name="Google Shape;1050;p64"/>
          <p:cNvSpPr/>
          <p:nvPr/>
        </p:nvSpPr>
        <p:spPr>
          <a:xfrm>
            <a:off x="371449" y="2908541"/>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51" name="Google Shape;1051;p64"/>
          <p:cNvCxnSpPr/>
          <p:nvPr/>
        </p:nvCxnSpPr>
        <p:spPr>
          <a:xfrm>
            <a:off x="367901" y="3157103"/>
            <a:ext cx="3977700" cy="0"/>
          </a:xfrm>
          <a:prstGeom prst="straightConnector1">
            <a:avLst/>
          </a:prstGeom>
          <a:noFill/>
          <a:ln w="9525" cap="flat" cmpd="sng">
            <a:solidFill>
              <a:srgbClr val="E5E7EB"/>
            </a:solidFill>
            <a:prstDash val="solid"/>
            <a:round/>
            <a:headEnd type="none" w="sm" len="sm"/>
            <a:tailEnd type="none" w="sm" len="sm"/>
          </a:ln>
        </p:spPr>
      </p:cxnSp>
      <p:sp>
        <p:nvSpPr>
          <p:cNvPr id="1052" name="Google Shape;1052;p64"/>
          <p:cNvSpPr/>
          <p:nvPr/>
        </p:nvSpPr>
        <p:spPr>
          <a:xfrm>
            <a:off x="371445" y="290853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Lock Files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3" name="Google Shape;1053;p64"/>
          <p:cNvSpPr/>
          <p:nvPr/>
        </p:nvSpPr>
        <p:spPr>
          <a:xfrm>
            <a:off x="2569586" y="2908541"/>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{{VS_LOCK}}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4" name="Google Shape;1054;p64"/>
          <p:cNvSpPr/>
          <p:nvPr/>
        </p:nvSpPr>
        <p:spPr>
          <a:xfrm>
            <a:off x="3395224" y="2947594"/>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{{VS_LOCK_R}}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5" name="Google Shape;1055;p64"/>
          <p:cNvSpPr/>
          <p:nvPr/>
        </p:nvSpPr>
        <p:spPr>
          <a:xfrm>
            <a:off x="371449" y="3154634"/>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56" name="Google Shape;1056;p64"/>
          <p:cNvCxnSpPr/>
          <p:nvPr/>
        </p:nvCxnSpPr>
        <p:spPr>
          <a:xfrm>
            <a:off x="370942" y="3389859"/>
            <a:ext cx="3977700" cy="0"/>
          </a:xfrm>
          <a:prstGeom prst="straightConnector1">
            <a:avLst/>
          </a:prstGeom>
          <a:noFill/>
          <a:ln w="9525" cap="flat" cmpd="sng">
            <a:solidFill>
              <a:srgbClr val="888888"/>
            </a:solidFill>
            <a:prstDash val="solid"/>
            <a:round/>
            <a:headEnd type="none" w="sm" len="sm"/>
            <a:tailEnd type="none" w="sm" len="sm"/>
          </a:ln>
        </p:spPr>
      </p:cxnSp>
      <p:sp>
        <p:nvSpPr>
          <p:cNvPr id="1057" name="Google Shape;1057;p64"/>
          <p:cNvSpPr/>
          <p:nvPr/>
        </p:nvSpPr>
        <p:spPr>
          <a:xfrm>
            <a:off x="371445" y="315463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Artifacts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8" name="Google Shape;1058;p64"/>
          <p:cNvSpPr/>
          <p:nvPr/>
        </p:nvSpPr>
        <p:spPr>
          <a:xfrm>
            <a:off x="2569586" y="3154634"/>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{{VS_ARTIF}}</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9" name="Google Shape;1059;p64"/>
          <p:cNvSpPr/>
          <p:nvPr/>
        </p:nvSpPr>
        <p:spPr>
          <a:xfrm>
            <a:off x="3395224" y="3196759"/>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{{VS_ARTIF_R}}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0" name="Google Shape;1060;p64"/>
          <p:cNvSpPr/>
          <p:nvPr/>
        </p:nvSpPr>
        <p:spPr>
          <a:xfrm>
            <a:off x="371449" y="3400727"/>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61" name="Google Shape;1061;p64"/>
          <p:cNvCxnSpPr/>
          <p:nvPr/>
        </p:nvCxnSpPr>
        <p:spPr>
          <a:xfrm>
            <a:off x="371449" y="3646820"/>
            <a:ext cx="3977700" cy="0"/>
          </a:xfrm>
          <a:prstGeom prst="straightConnector1">
            <a:avLst/>
          </a:prstGeom>
          <a:noFill/>
          <a:ln w="9525" cap="flat" cmpd="sng">
            <a:solidFill>
              <a:srgbClr val="E5E7EB"/>
            </a:solidFill>
            <a:prstDash val="solid"/>
            <a:round/>
            <a:headEnd type="none" w="sm" len="sm"/>
            <a:tailEnd type="none" w="sm" len="sm"/>
          </a:ln>
        </p:spPr>
      </p:cxnSp>
      <p:sp>
        <p:nvSpPr>
          <p:cNvPr id="1062" name="Google Shape;1062;p64"/>
          <p:cNvSpPr/>
          <p:nvPr/>
        </p:nvSpPr>
        <p:spPr>
          <a:xfrm>
            <a:off x="371445" y="340072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Dependency Scopes: Maven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3" name="Google Shape;1063;p64"/>
          <p:cNvSpPr/>
          <p:nvPr/>
        </p:nvSpPr>
        <p:spPr>
          <a:xfrm>
            <a:off x="2569586" y="3400727"/>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{{VS_MAVEN}}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4" name="Google Shape;1064;p64"/>
          <p:cNvSpPr/>
          <p:nvPr/>
        </p:nvSpPr>
        <p:spPr>
          <a:xfrm>
            <a:off x="371449" y="3646820"/>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65" name="Google Shape;1065;p64"/>
          <p:cNvCxnSpPr/>
          <p:nvPr/>
        </p:nvCxnSpPr>
        <p:spPr>
          <a:xfrm>
            <a:off x="373984" y="3874636"/>
            <a:ext cx="3977700" cy="0"/>
          </a:xfrm>
          <a:prstGeom prst="straightConnector1">
            <a:avLst/>
          </a:prstGeom>
          <a:noFill/>
          <a:ln w="9525" cap="flat" cmpd="sng">
            <a:solidFill>
              <a:srgbClr val="888888"/>
            </a:solidFill>
            <a:prstDash val="solid"/>
            <a:round/>
            <a:headEnd type="none" w="sm" len="sm"/>
            <a:tailEnd type="none" w="sm" len="sm"/>
          </a:ln>
        </p:spPr>
      </p:cxnSp>
      <p:sp>
        <p:nvSpPr>
          <p:cNvPr id="1066" name="Google Shape;1066;p64"/>
          <p:cNvSpPr/>
          <p:nvPr/>
        </p:nvSpPr>
        <p:spPr>
          <a:xfrm>
            <a:off x="371450" y="3646825"/>
            <a:ext cx="21657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Dependency Scopes: JS (npm/pnpm/Yarn)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7" name="Google Shape;1067;p64"/>
          <p:cNvSpPr/>
          <p:nvPr/>
        </p:nvSpPr>
        <p:spPr>
          <a:xfrm>
            <a:off x="2569586" y="3646820"/>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{{VS_JSDEP}}</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8" name="Google Shape;1068;p64"/>
          <p:cNvSpPr/>
          <p:nvPr/>
        </p:nvSpPr>
        <p:spPr>
          <a:xfrm>
            <a:off x="371449" y="3892913"/>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69" name="Google Shape;1069;p64"/>
          <p:cNvCxnSpPr/>
          <p:nvPr/>
        </p:nvCxnSpPr>
        <p:spPr>
          <a:xfrm>
            <a:off x="371449" y="4139007"/>
            <a:ext cx="3977700" cy="0"/>
          </a:xfrm>
          <a:prstGeom prst="straightConnector1">
            <a:avLst/>
          </a:prstGeom>
          <a:noFill/>
          <a:ln w="9525" cap="flat" cmpd="sng">
            <a:solidFill>
              <a:srgbClr val="E5E7EB"/>
            </a:solidFill>
            <a:prstDash val="solid"/>
            <a:round/>
            <a:headEnd type="none" w="sm" len="sm"/>
            <a:tailEnd type="none" w="sm" len="sm"/>
          </a:ln>
        </p:spPr>
      </p:cxnSp>
      <p:sp>
        <p:nvSpPr>
          <p:cNvPr id="1070" name="Google Shape;1070;p64"/>
          <p:cNvSpPr/>
          <p:nvPr/>
        </p:nvSpPr>
        <p:spPr>
          <a:xfrm>
            <a:off x="371445" y="389291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Dependency Scopes: Gradle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1" name="Google Shape;1071;p64"/>
          <p:cNvSpPr/>
          <p:nvPr/>
        </p:nvSpPr>
        <p:spPr>
          <a:xfrm>
            <a:off x="2569586" y="3892913"/>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{{VS_GRADL}}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2" name="Google Shape;1072;p64"/>
          <p:cNvSpPr/>
          <p:nvPr/>
        </p:nvSpPr>
        <p:spPr>
          <a:xfrm>
            <a:off x="371449" y="4139007"/>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73" name="Google Shape;1073;p64"/>
          <p:cNvCxnSpPr/>
          <p:nvPr/>
        </p:nvCxnSpPr>
        <p:spPr>
          <a:xfrm>
            <a:off x="377025" y="4385100"/>
            <a:ext cx="3977700" cy="0"/>
          </a:xfrm>
          <a:prstGeom prst="straightConnector1">
            <a:avLst/>
          </a:prstGeom>
          <a:noFill/>
          <a:ln w="9525" cap="flat" cmpd="sng">
            <a:solidFill>
              <a:srgbClr val="888888"/>
            </a:solidFill>
            <a:prstDash val="solid"/>
            <a:round/>
            <a:headEnd type="none" w="sm" len="sm"/>
            <a:tailEnd type="none" w="sm" len="sm"/>
          </a:ln>
        </p:spPr>
      </p:cxnSp>
      <p:sp>
        <p:nvSpPr>
          <p:cNvPr id="1074" name="Google Shape;1074;p64"/>
          <p:cNvSpPr/>
          <p:nvPr/>
        </p:nvSpPr>
        <p:spPr>
          <a:xfrm>
            <a:off x="371445" y="413900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End of Life Detection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5" name="Google Shape;1075;p64"/>
          <p:cNvSpPr/>
          <p:nvPr/>
        </p:nvSpPr>
        <p:spPr>
          <a:xfrm>
            <a:off x="2569586" y="4139007"/>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{{VS_EOL}}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6" name="Google Shape;1076;p64"/>
          <p:cNvSpPr/>
          <p:nvPr/>
        </p:nvSpPr>
        <p:spPr>
          <a:xfrm>
            <a:off x="4671607" y="799572"/>
            <a:ext cx="4224479" cy="274200"/>
          </a:xfrm>
          <a:prstGeom prst="rect">
            <a:avLst/>
          </a:prstGeom>
          <a:solidFill>
            <a:srgbClr val="E6DDF7"/>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77" name="Google Shape;1077;p64"/>
          <p:cNvSpPr/>
          <p:nvPr/>
        </p:nvSpPr>
        <p:spPr>
          <a:xfrm flipH="1">
            <a:off x="4677713" y="799572"/>
            <a:ext cx="92559" cy="274200"/>
          </a:xfrm>
          <a:prstGeom prst="rect">
            <a:avLst/>
          </a:prstGeom>
          <a:solidFill>
            <a:srgbClr val="7C3AE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78" name="Google Shape;1078;p64"/>
          <p:cNvSpPr/>
          <p:nvPr/>
        </p:nvSpPr>
        <p:spPr>
          <a:xfrm>
            <a:off x="4937760" y="77874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7C3AED"/>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6"/>
              </a:rPr>
              <a:t>DATA SECURITY SCANNER</a:t>
            </a:r>
            <a:r>
              <a:rPr lang="en" sz="1100" b="0" i="0" u="none" strike="noStrike" cap="none">
                <a:solidFill>
                  <a:srgbClr val="9900FF"/>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Poppins"/>
                <a:hlinkClick r:id="rId5"/>
              </a:rPr>
              <a:t>↗</a:t>
            </a:r>
            <a:r>
              <a:rPr lang="en" sz="12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rPr>
              <a:t> </a:t>
            </a:r>
            <a:endParaRPr sz="1100" b="0" i="0" u="none" strike="noStrike" cap="none">
              <a:solidFill>
                <a:srgbClr val="9900FF"/>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9" name="Google Shape;1079;p64"/>
          <p:cNvSpPr/>
          <p:nvPr/>
        </p:nvSpPr>
        <p:spPr>
          <a:xfrm>
            <a:off x="4800600" y="1132096"/>
            <a:ext cx="3977700" cy="201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80" name="Google Shape;1080;p64"/>
          <p:cNvSpPr/>
          <p:nvPr/>
        </p:nvSpPr>
        <p:spPr>
          <a:xfrm>
            <a:off x="4892040" y="1132096"/>
            <a:ext cx="19887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1" name="Google Shape;1081;p64"/>
          <p:cNvSpPr/>
          <p:nvPr/>
        </p:nvSpPr>
        <p:spPr>
          <a:xfrm>
            <a:off x="6916585" y="1132096"/>
            <a:ext cx="875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2" name="Google Shape;1082;p64"/>
          <p:cNvSpPr/>
          <p:nvPr/>
        </p:nvSpPr>
        <p:spPr>
          <a:xfrm>
            <a:off x="7869988" y="1132096"/>
            <a:ext cx="1034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3" name="Google Shape;1083;p64"/>
          <p:cNvSpPr/>
          <p:nvPr/>
        </p:nvSpPr>
        <p:spPr>
          <a:xfrm>
            <a:off x="4800600" y="1333264"/>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84" name="Google Shape;1084;p64"/>
          <p:cNvCxnSpPr/>
          <p:nvPr/>
        </p:nvCxnSpPr>
        <p:spPr>
          <a:xfrm>
            <a:off x="4800600" y="1521418"/>
            <a:ext cx="3977700" cy="0"/>
          </a:xfrm>
          <a:prstGeom prst="straightConnector1">
            <a:avLst/>
          </a:prstGeom>
          <a:noFill/>
          <a:ln w="9525" cap="flat" cmpd="sng">
            <a:solidFill>
              <a:srgbClr val="888888"/>
            </a:solidFill>
            <a:prstDash val="solid"/>
            <a:round/>
            <a:headEnd type="none" w="sm" len="sm"/>
            <a:tailEnd type="none" w="sm" len="sm"/>
          </a:ln>
        </p:spPr>
      </p:cxnSp>
      <p:sp>
        <p:nvSpPr>
          <p:cNvPr id="1085" name="Google Shape;1085;p64"/>
          <p:cNvSpPr/>
          <p:nvPr/>
        </p:nvSpPr>
        <p:spPr>
          <a:xfrm>
            <a:off x="4892040" y="133326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Data Security Scanner</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6" name="Google Shape;1086;p64"/>
          <p:cNvSpPr/>
          <p:nvPr/>
        </p:nvSpPr>
        <p:spPr>
          <a:xfrm>
            <a:off x="6883223" y="1333264"/>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dirty="0">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{{DSS_ON}}</a:t>
            </a:r>
            <a:endParaRPr sz="7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7" name="Google Shape;1087;p64"/>
          <p:cNvSpPr/>
          <p:nvPr/>
        </p:nvSpPr>
        <p:spPr>
          <a:xfrm>
            <a:off x="4800600" y="1521418"/>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88" name="Google Shape;1088;p64"/>
          <p:cNvCxnSpPr/>
          <p:nvPr/>
        </p:nvCxnSpPr>
        <p:spPr>
          <a:xfrm>
            <a:off x="4800600" y="1773843"/>
            <a:ext cx="3977700" cy="0"/>
          </a:xfrm>
          <a:prstGeom prst="straightConnector1">
            <a:avLst/>
          </a:prstGeom>
          <a:noFill/>
          <a:ln w="9525" cap="flat" cmpd="sng">
            <a:solidFill>
              <a:srgbClr val="888888"/>
            </a:solidFill>
            <a:prstDash val="solid"/>
            <a:round/>
            <a:headEnd type="none" w="sm" len="sm"/>
            <a:tailEnd type="none" w="sm" len="sm"/>
          </a:ln>
        </p:spPr>
      </p:cxnSp>
      <p:sp>
        <p:nvSpPr>
          <p:cNvPr id="1089" name="Google Shape;1089;p64"/>
          <p:cNvSpPr/>
          <p:nvPr/>
        </p:nvSpPr>
        <p:spPr>
          <a:xfrm>
            <a:off x="4892044" y="1523856"/>
            <a:ext cx="1970400" cy="26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Buckets (Public &amp; Private)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0" name="Google Shape;1090;p64"/>
          <p:cNvSpPr/>
          <p:nvPr/>
        </p:nvSpPr>
        <p:spPr>
          <a:xfrm>
            <a:off x="6883221" y="1523417"/>
            <a:ext cx="1091197" cy="26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dirty="0">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{{DSS_BUCK}}</a:t>
            </a:r>
            <a:endParaRPr sz="7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1" name="Google Shape;1091;p64"/>
          <p:cNvSpPr/>
          <p:nvPr/>
        </p:nvSpPr>
        <p:spPr>
          <a:xfrm>
            <a:off x="7864530" y="1527427"/>
            <a:ext cx="943800" cy="260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JetBrains Mono"/>
              </a:rPr>
              <a:t>{{DSS_BUCK_R}}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2" name="Google Shape;1092;p64"/>
          <p:cNvSpPr/>
          <p:nvPr/>
        </p:nvSpPr>
        <p:spPr>
          <a:xfrm>
            <a:off x="4800600" y="179510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93" name="Google Shape;1093;p64"/>
          <p:cNvCxnSpPr/>
          <p:nvPr/>
        </p:nvCxnSpPr>
        <p:spPr>
          <a:xfrm>
            <a:off x="4800600" y="1983260"/>
            <a:ext cx="3977700" cy="0"/>
          </a:xfrm>
          <a:prstGeom prst="straightConnector1">
            <a:avLst/>
          </a:prstGeom>
          <a:noFill/>
          <a:ln w="9525" cap="flat" cmpd="sng">
            <a:solidFill>
              <a:srgbClr val="888888"/>
            </a:solidFill>
            <a:prstDash val="solid"/>
            <a:round/>
            <a:headEnd type="none" w="sm" len="sm"/>
            <a:tailEnd type="none" w="sm" len="sm"/>
          </a:ln>
        </p:spPr>
      </p:cxnSp>
      <p:sp>
        <p:nvSpPr>
          <p:cNvPr id="1094" name="Google Shape;1094;p64"/>
          <p:cNvSpPr/>
          <p:nvPr/>
        </p:nvSpPr>
        <p:spPr>
          <a:xfrm>
            <a:off x="4892040" y="179394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Storage: Azure PE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5" name="Google Shape;1095;p64"/>
          <p:cNvSpPr/>
          <p:nvPr/>
        </p:nvSpPr>
        <p:spPr>
          <a:xfrm>
            <a:off x="6883223" y="179510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dirty="0">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{{DSS_AZ1}}</a:t>
            </a:r>
            <a:endParaRPr sz="7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6" name="Google Shape;1096;p64"/>
          <p:cNvSpPr/>
          <p:nvPr/>
        </p:nvSpPr>
        <p:spPr>
          <a:xfrm>
            <a:off x="4800600" y="1983260"/>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097" name="Google Shape;1097;p64"/>
          <p:cNvCxnSpPr/>
          <p:nvPr/>
        </p:nvCxnSpPr>
        <p:spPr>
          <a:xfrm>
            <a:off x="4800600" y="2171414"/>
            <a:ext cx="3977700" cy="0"/>
          </a:xfrm>
          <a:prstGeom prst="straightConnector1">
            <a:avLst/>
          </a:prstGeom>
          <a:noFill/>
          <a:ln w="9525" cap="flat" cmpd="sng">
            <a:solidFill>
              <a:srgbClr val="888888"/>
            </a:solidFill>
            <a:prstDash val="solid"/>
            <a:round/>
            <a:headEnd type="none" w="sm" len="sm"/>
            <a:tailEnd type="none" w="sm" len="sm"/>
          </a:ln>
        </p:spPr>
      </p:cxnSp>
      <p:sp>
        <p:nvSpPr>
          <p:cNvPr id="1098" name="Google Shape;1098;p64"/>
          <p:cNvSpPr/>
          <p:nvPr/>
        </p:nvSpPr>
        <p:spPr>
          <a:xfrm>
            <a:off x="4892040" y="198454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Storage: Azure PE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9" name="Google Shape;1099;p64"/>
          <p:cNvSpPr/>
          <p:nvPr/>
        </p:nvSpPr>
        <p:spPr>
          <a:xfrm>
            <a:off x="6883223" y="1983260"/>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{{DSS_AZ2}}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0" name="Google Shape;1100;p64"/>
          <p:cNvSpPr/>
          <p:nvPr/>
        </p:nvSpPr>
        <p:spPr>
          <a:xfrm>
            <a:off x="4800600" y="2553470"/>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01" name="Google Shape;1101;p64"/>
          <p:cNvCxnSpPr/>
          <p:nvPr/>
        </p:nvCxnSpPr>
        <p:spPr>
          <a:xfrm>
            <a:off x="4800600" y="2741624"/>
            <a:ext cx="3977700" cy="0"/>
          </a:xfrm>
          <a:prstGeom prst="straightConnector1">
            <a:avLst/>
          </a:prstGeom>
          <a:noFill/>
          <a:ln w="9525" cap="flat" cmpd="sng">
            <a:solidFill>
              <a:srgbClr val="888888"/>
            </a:solidFill>
            <a:prstDash val="solid"/>
            <a:round/>
            <a:headEnd type="none" w="sm" len="sm"/>
            <a:tailEnd type="none" w="sm" len="sm"/>
          </a:ln>
        </p:spPr>
      </p:cxnSp>
      <p:sp>
        <p:nvSpPr>
          <p:cNvPr id="1102" name="Google Shape;1102;p64"/>
          <p:cNvSpPr/>
          <p:nvPr/>
        </p:nvSpPr>
        <p:spPr>
          <a:xfrm>
            <a:off x="4892040" y="255631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Virtual Drives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3" name="Google Shape;1103;p64"/>
          <p:cNvSpPr/>
          <p:nvPr/>
        </p:nvSpPr>
        <p:spPr>
          <a:xfrm>
            <a:off x="6883223" y="2553470"/>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{{DSS_VDRV}}</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4" name="Google Shape;1104;p64"/>
          <p:cNvSpPr/>
          <p:nvPr/>
        </p:nvSpPr>
        <p:spPr>
          <a:xfrm>
            <a:off x="7864530" y="2578982"/>
            <a:ext cx="943800" cy="1578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JetBrains Mono"/>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{{DSS_VDRV_R}}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05" name="Google Shape;1105;p64"/>
          <p:cNvSpPr/>
          <p:nvPr/>
        </p:nvSpPr>
        <p:spPr>
          <a:xfrm>
            <a:off x="4800600" y="2741624"/>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06" name="Google Shape;1106;p64"/>
          <p:cNvCxnSpPr/>
          <p:nvPr/>
        </p:nvCxnSpPr>
        <p:spPr>
          <a:xfrm>
            <a:off x="4800600" y="2929777"/>
            <a:ext cx="3977700" cy="0"/>
          </a:xfrm>
          <a:prstGeom prst="straightConnector1">
            <a:avLst/>
          </a:prstGeom>
          <a:noFill/>
          <a:ln w="9525" cap="flat" cmpd="sng">
            <a:solidFill>
              <a:srgbClr val="888888"/>
            </a:solidFill>
            <a:prstDash val="solid"/>
            <a:round/>
            <a:headEnd type="none" w="sm" len="sm"/>
            <a:tailEnd type="none" w="sm" len="sm"/>
          </a:ln>
        </p:spPr>
      </p:cxnSp>
      <p:sp>
        <p:nvSpPr>
          <p:cNvPr id="1107" name="Google Shape;1107;p64"/>
          <p:cNvSpPr/>
          <p:nvPr/>
        </p:nvSpPr>
        <p:spPr>
          <a:xfrm>
            <a:off x="4892040" y="274690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Cloud Managed Databases (PaaS)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8" name="Google Shape;1108;p64"/>
          <p:cNvSpPr/>
          <p:nvPr/>
        </p:nvSpPr>
        <p:spPr>
          <a:xfrm>
            <a:off x="6883223" y="2741624"/>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{{DSS_PAAS}}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9" name="Google Shape;1109;p64"/>
          <p:cNvSpPr/>
          <p:nvPr/>
        </p:nvSpPr>
        <p:spPr>
          <a:xfrm>
            <a:off x="4800600" y="292977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10" name="Google Shape;1110;p64"/>
          <p:cNvCxnSpPr/>
          <p:nvPr/>
        </p:nvCxnSpPr>
        <p:spPr>
          <a:xfrm>
            <a:off x="4800600" y="3117931"/>
            <a:ext cx="3977700" cy="0"/>
          </a:xfrm>
          <a:prstGeom prst="straightConnector1">
            <a:avLst/>
          </a:prstGeom>
          <a:noFill/>
          <a:ln w="9525" cap="flat" cmpd="sng">
            <a:solidFill>
              <a:srgbClr val="888888"/>
            </a:solidFill>
            <a:prstDash val="solid"/>
            <a:round/>
            <a:headEnd type="none" w="sm" len="sm"/>
            <a:tailEnd type="none" w="sm" len="sm"/>
          </a:ln>
        </p:spPr>
      </p:cxnSp>
      <p:sp>
        <p:nvSpPr>
          <p:cNvPr id="1111" name="Google Shape;1111;p64"/>
          <p:cNvSpPr/>
          <p:nvPr/>
        </p:nvSpPr>
        <p:spPr>
          <a:xfrm>
            <a:off x="4892040" y="293750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Data Warehouses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2" name="Google Shape;1112;p64"/>
          <p:cNvSpPr/>
          <p:nvPr/>
        </p:nvSpPr>
        <p:spPr>
          <a:xfrm>
            <a:off x="6883223" y="292977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{{DSS_DW}}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3" name="Google Shape;1113;p64"/>
          <p:cNvSpPr/>
          <p:nvPr/>
        </p:nvSpPr>
        <p:spPr>
          <a:xfrm>
            <a:off x="4800600" y="3117931"/>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14" name="Google Shape;1114;p64"/>
          <p:cNvCxnSpPr/>
          <p:nvPr/>
        </p:nvCxnSpPr>
        <p:spPr>
          <a:xfrm>
            <a:off x="4800600" y="3306084"/>
            <a:ext cx="3977700" cy="0"/>
          </a:xfrm>
          <a:prstGeom prst="straightConnector1">
            <a:avLst/>
          </a:prstGeom>
          <a:noFill/>
          <a:ln w="9525" cap="flat" cmpd="sng">
            <a:solidFill>
              <a:srgbClr val="888888"/>
            </a:solidFill>
            <a:prstDash val="solid"/>
            <a:round/>
            <a:headEnd type="none" w="sm" len="sm"/>
            <a:tailEnd type="none" w="sm" len="sm"/>
          </a:ln>
        </p:spPr>
      </p:cxnSp>
      <p:sp>
        <p:nvSpPr>
          <p:cNvPr id="1115" name="Google Shape;1115;p64"/>
          <p:cNvSpPr/>
          <p:nvPr/>
        </p:nvSpPr>
        <p:spPr>
          <a:xfrm>
            <a:off x="4892040" y="312809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Google BigQuery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6" name="Google Shape;1116;p64"/>
          <p:cNvSpPr/>
          <p:nvPr/>
        </p:nvSpPr>
        <p:spPr>
          <a:xfrm>
            <a:off x="6883223" y="3117931"/>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{{DSS_BQ}}</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7" name="Google Shape;1117;p64"/>
          <p:cNvSpPr/>
          <p:nvPr/>
        </p:nvSpPr>
        <p:spPr>
          <a:xfrm>
            <a:off x="4800600" y="3306084"/>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18" name="Google Shape;1118;p64"/>
          <p:cNvCxnSpPr/>
          <p:nvPr/>
        </p:nvCxnSpPr>
        <p:spPr>
          <a:xfrm>
            <a:off x="4800600" y="3494238"/>
            <a:ext cx="3977700" cy="0"/>
          </a:xfrm>
          <a:prstGeom prst="straightConnector1">
            <a:avLst/>
          </a:prstGeom>
          <a:noFill/>
          <a:ln w="9525" cap="flat" cmpd="sng">
            <a:solidFill>
              <a:srgbClr val="888888"/>
            </a:solidFill>
            <a:prstDash val="solid"/>
            <a:round/>
            <a:headEnd type="none" w="sm" len="sm"/>
            <a:tailEnd type="none" w="sm" len="sm"/>
          </a:ln>
        </p:spPr>
      </p:cxnSp>
      <p:sp>
        <p:nvSpPr>
          <p:cNvPr id="1119" name="Google Shape;1119;p64"/>
          <p:cNvSpPr/>
          <p:nvPr/>
        </p:nvSpPr>
        <p:spPr>
          <a:xfrm>
            <a:off x="4892040" y="331868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Amazon DynamoDB</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0" name="Google Shape;1120;p64"/>
          <p:cNvSpPr/>
          <p:nvPr/>
        </p:nvSpPr>
        <p:spPr>
          <a:xfrm>
            <a:off x="6883223" y="3306084"/>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{{DSS_DDB}}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1" name="Google Shape;1121;p64"/>
          <p:cNvSpPr/>
          <p:nvPr/>
        </p:nvSpPr>
        <p:spPr>
          <a:xfrm>
            <a:off x="4800600" y="3494238"/>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22" name="Google Shape;1122;p64"/>
          <p:cNvCxnSpPr/>
          <p:nvPr/>
        </p:nvCxnSpPr>
        <p:spPr>
          <a:xfrm>
            <a:off x="4800600" y="3682392"/>
            <a:ext cx="3977700" cy="0"/>
          </a:xfrm>
          <a:prstGeom prst="straightConnector1">
            <a:avLst/>
          </a:prstGeom>
          <a:noFill/>
          <a:ln w="9525" cap="flat" cmpd="sng">
            <a:solidFill>
              <a:srgbClr val="888888"/>
            </a:solidFill>
            <a:prstDash val="solid"/>
            <a:round/>
            <a:headEnd type="none" w="sm" len="sm"/>
            <a:tailEnd type="none" w="sm" len="sm"/>
          </a:ln>
        </p:spPr>
      </p:cxnSp>
      <p:sp>
        <p:nvSpPr>
          <p:cNvPr id="1123" name="Google Shape;1123;p64"/>
          <p:cNvSpPr/>
          <p:nvPr/>
        </p:nvSpPr>
        <p:spPr>
          <a:xfrm>
            <a:off x="4892040" y="350927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Snowflake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4" name="Google Shape;1124;p64"/>
          <p:cNvSpPr/>
          <p:nvPr/>
        </p:nvSpPr>
        <p:spPr>
          <a:xfrm>
            <a:off x="6883223" y="3494238"/>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{{DSS_SNOW}}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5" name="Google Shape;1125;p64"/>
          <p:cNvSpPr/>
          <p:nvPr/>
        </p:nvSpPr>
        <p:spPr>
          <a:xfrm>
            <a:off x="4800600" y="3682392"/>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26" name="Google Shape;1126;p64"/>
          <p:cNvCxnSpPr/>
          <p:nvPr/>
        </p:nvCxnSpPr>
        <p:spPr>
          <a:xfrm>
            <a:off x="4800600" y="3870545"/>
            <a:ext cx="3977700" cy="0"/>
          </a:xfrm>
          <a:prstGeom prst="straightConnector1">
            <a:avLst/>
          </a:prstGeom>
          <a:noFill/>
          <a:ln w="9525" cap="flat" cmpd="sng">
            <a:solidFill>
              <a:srgbClr val="888888"/>
            </a:solidFill>
            <a:prstDash val="solid"/>
            <a:round/>
            <a:headEnd type="none" w="sm" len="sm"/>
            <a:tailEnd type="none" w="sm" len="sm"/>
          </a:ln>
        </p:spPr>
      </p:cxnSp>
      <p:sp>
        <p:nvSpPr>
          <p:cNvPr id="1127" name="Google Shape;1127;p64"/>
          <p:cNvSpPr/>
          <p:nvPr/>
        </p:nvSpPr>
        <p:spPr>
          <a:xfrm>
            <a:off x="4892040" y="369986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Hosted Databases (IaaS)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8" name="Google Shape;1128;p64"/>
          <p:cNvSpPr/>
          <p:nvPr/>
        </p:nvSpPr>
        <p:spPr>
          <a:xfrm>
            <a:off x="6883223" y="368239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{{DSS_IAAS}}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9" name="Google Shape;1129;p64"/>
          <p:cNvSpPr/>
          <p:nvPr/>
        </p:nvSpPr>
        <p:spPr>
          <a:xfrm>
            <a:off x="4800600" y="3870545"/>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30" name="Google Shape;1130;p64"/>
          <p:cNvCxnSpPr/>
          <p:nvPr/>
        </p:nvCxnSpPr>
        <p:spPr>
          <a:xfrm>
            <a:off x="4800600" y="4058699"/>
            <a:ext cx="3977700" cy="0"/>
          </a:xfrm>
          <a:prstGeom prst="straightConnector1">
            <a:avLst/>
          </a:prstGeom>
          <a:noFill/>
          <a:ln w="9525" cap="flat" cmpd="sng">
            <a:solidFill>
              <a:srgbClr val="888888"/>
            </a:solidFill>
            <a:prstDash val="solid"/>
            <a:round/>
            <a:headEnd type="none" w="sm" len="sm"/>
            <a:tailEnd type="none" w="sm" len="sm"/>
          </a:ln>
        </p:spPr>
      </p:cxnSp>
      <p:sp>
        <p:nvSpPr>
          <p:cNvPr id="1131" name="Google Shape;1131;p64"/>
          <p:cNvSpPr/>
          <p:nvPr/>
        </p:nvSpPr>
        <p:spPr>
          <a:xfrm>
            <a:off x="4892040" y="389046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VM Disks (OS and non-OS)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2" name="Google Shape;1132;p64"/>
          <p:cNvSpPr/>
          <p:nvPr/>
        </p:nvSpPr>
        <p:spPr>
          <a:xfrm>
            <a:off x="6883223" y="3870545"/>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{{DSS_VMD}}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3" name="Google Shape;1133;p64"/>
          <p:cNvSpPr/>
          <p:nvPr/>
        </p:nvSpPr>
        <p:spPr>
          <a:xfrm>
            <a:off x="4800600" y="405869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34" name="Google Shape;1134;p64"/>
          <p:cNvCxnSpPr/>
          <p:nvPr/>
        </p:nvCxnSpPr>
        <p:spPr>
          <a:xfrm>
            <a:off x="4800600" y="4246852"/>
            <a:ext cx="3977700" cy="0"/>
          </a:xfrm>
          <a:prstGeom prst="straightConnector1">
            <a:avLst/>
          </a:prstGeom>
          <a:noFill/>
          <a:ln w="9525" cap="flat" cmpd="sng">
            <a:solidFill>
              <a:srgbClr val="888888"/>
            </a:solidFill>
            <a:prstDash val="solid"/>
            <a:round/>
            <a:headEnd type="none" w="sm" len="sm"/>
            <a:tailEnd type="none" w="sm" len="sm"/>
          </a:ln>
        </p:spPr>
      </p:cxnSp>
      <p:sp>
        <p:nvSpPr>
          <p:cNvPr id="1135" name="Google Shape;1135;p64"/>
          <p:cNvSpPr/>
          <p:nvPr/>
        </p:nvSpPr>
        <p:spPr>
          <a:xfrm>
            <a:off x="4892040" y="4081051"/>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Serverless Functions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6" name="Google Shape;1136;p64"/>
          <p:cNvSpPr/>
          <p:nvPr/>
        </p:nvSpPr>
        <p:spPr>
          <a:xfrm>
            <a:off x="6883223" y="405869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{{DSS_SLS}}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7" name="Google Shape;1137;p64"/>
          <p:cNvSpPr/>
          <p:nvPr/>
        </p:nvSpPr>
        <p:spPr>
          <a:xfrm>
            <a:off x="4800600" y="4246852"/>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38" name="Google Shape;1138;p64"/>
          <p:cNvCxnSpPr/>
          <p:nvPr/>
        </p:nvCxnSpPr>
        <p:spPr>
          <a:xfrm>
            <a:off x="4800600" y="4435006"/>
            <a:ext cx="3977700" cy="0"/>
          </a:xfrm>
          <a:prstGeom prst="straightConnector1">
            <a:avLst/>
          </a:prstGeom>
          <a:noFill/>
          <a:ln w="9525" cap="flat" cmpd="sng">
            <a:solidFill>
              <a:srgbClr val="888888"/>
            </a:solidFill>
            <a:prstDash val="solid"/>
            <a:round/>
            <a:headEnd type="none" w="sm" len="sm"/>
            <a:tailEnd type="none" w="sm" len="sm"/>
          </a:ln>
        </p:spPr>
      </p:cxnSp>
      <p:sp>
        <p:nvSpPr>
          <p:cNvPr id="1139" name="Google Shape;1139;p64"/>
          <p:cNvSpPr/>
          <p:nvPr/>
        </p:nvSpPr>
        <p:spPr>
          <a:xfrm>
            <a:off x="4892040" y="4271643"/>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Vertex 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0" name="Google Shape;1140;p64"/>
          <p:cNvSpPr/>
          <p:nvPr/>
        </p:nvSpPr>
        <p:spPr>
          <a:xfrm>
            <a:off x="6883223" y="424685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{{DSS_AIV}}</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1" name="Google Shape;1141;p64"/>
          <p:cNvSpPr/>
          <p:nvPr/>
        </p:nvSpPr>
        <p:spPr>
          <a:xfrm>
            <a:off x="4816611" y="4449251"/>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42" name="Google Shape;1142;p64"/>
          <p:cNvCxnSpPr/>
          <p:nvPr/>
        </p:nvCxnSpPr>
        <p:spPr>
          <a:xfrm>
            <a:off x="4816611" y="4637405"/>
            <a:ext cx="3977700" cy="0"/>
          </a:xfrm>
          <a:prstGeom prst="straightConnector1">
            <a:avLst/>
          </a:prstGeom>
          <a:noFill/>
          <a:ln w="9525" cap="flat" cmpd="sng">
            <a:solidFill>
              <a:srgbClr val="888888"/>
            </a:solidFill>
            <a:prstDash val="solid"/>
            <a:round/>
            <a:headEnd type="none" w="sm" len="sm"/>
            <a:tailEnd type="none" w="sm" len="sm"/>
          </a:ln>
        </p:spPr>
      </p:cxnSp>
      <p:sp>
        <p:nvSpPr>
          <p:cNvPr id="1143" name="Google Shape;1143;p64"/>
          <p:cNvSpPr/>
          <p:nvPr/>
        </p:nvSpPr>
        <p:spPr>
          <a:xfrm>
            <a:off x="4908051" y="4462235"/>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Azure OpenAI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4" name="Google Shape;1144;p64"/>
          <p:cNvSpPr/>
          <p:nvPr/>
        </p:nvSpPr>
        <p:spPr>
          <a:xfrm>
            <a:off x="6899234" y="4449251"/>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{{DSS_AIAO}}</a:t>
            </a:r>
            <a:endParaRPr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endParaRPr>
          </a:p>
        </p:txBody>
      </p:sp>
      <p:sp>
        <p:nvSpPr>
          <p:cNvPr id="1145" name="Google Shape;1145;p64"/>
          <p:cNvSpPr/>
          <p:nvPr/>
        </p:nvSpPr>
        <p:spPr>
          <a:xfrm>
            <a:off x="4816611" y="4637405"/>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146" name="Google Shape;1146;p64"/>
          <p:cNvSpPr/>
          <p:nvPr/>
        </p:nvSpPr>
        <p:spPr>
          <a:xfrm>
            <a:off x="4908051" y="4652827"/>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OpenAI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7" name="Google Shape;1147;p64"/>
          <p:cNvSpPr/>
          <p:nvPr/>
        </p:nvSpPr>
        <p:spPr>
          <a:xfrm>
            <a:off x="6899234" y="4637405"/>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{{DSS_AIOA}}</a:t>
            </a:r>
            <a:endParaRPr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endParaRPr>
          </a:p>
        </p:txBody>
      </p:sp>
      <p:sp>
        <p:nvSpPr>
          <p:cNvPr id="1148" name="Google Shape;1148;p64"/>
          <p:cNvSpPr/>
          <p:nvPr/>
        </p:nvSpPr>
        <p:spPr>
          <a:xfrm>
            <a:off x="4816865" y="484341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149" name="Google Shape;1149;p64"/>
          <p:cNvSpPr/>
          <p:nvPr/>
        </p:nvSpPr>
        <p:spPr>
          <a:xfrm>
            <a:off x="4908305" y="4843419"/>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Shadow Data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0" name="Google Shape;1150;p64"/>
          <p:cNvSpPr/>
          <p:nvPr/>
        </p:nvSpPr>
        <p:spPr>
          <a:xfrm>
            <a:off x="6899488" y="484341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{{DSS_SHAD}}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2" name="Google Shape;1152;p64"/>
          <p:cNvSpPr txBox="1"/>
          <p:nvPr/>
        </p:nvSpPr>
        <p:spPr>
          <a:xfrm>
            <a:off x="3395224" y="1457671"/>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{{VS_OSPKG_R}}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3" name="Google Shape;1153;p64"/>
          <p:cNvSpPr txBox="1"/>
          <p:nvPr/>
        </p:nvSpPr>
        <p:spPr>
          <a:xfrm>
            <a:off x="3395224" y="1705822"/>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{{VS_WINB_R}}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4" name="Google Shape;1154;p64"/>
          <p:cNvSpPr txBox="1"/>
          <p:nvPr/>
        </p:nvSpPr>
        <p:spPr>
          <a:xfrm>
            <a:off x="3395224" y="1953974"/>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{{VS_GOSTD_R}}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5" name="Google Shape;1155;p64"/>
          <p:cNvSpPr txBox="1"/>
          <p:nvPr/>
        </p:nvSpPr>
        <p:spPr>
          <a:xfrm>
            <a:off x="3395224" y="2202126"/>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{{VS_EXCL_R}}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6" name="Google Shape;1156;p64"/>
          <p:cNvSpPr txBox="1"/>
          <p:nvPr/>
        </p:nvSpPr>
        <p:spPr>
          <a:xfrm>
            <a:off x="3395224" y="2450277"/>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{{VS_RHOS_R}}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7" name="Google Shape;1157;p64"/>
          <p:cNvSpPr txBox="1"/>
          <p:nvPr/>
        </p:nvSpPr>
        <p:spPr>
          <a:xfrm>
            <a:off x="3395224" y="3445924"/>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{{VS_MAVEN_R}}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8" name="Google Shape;1158;p64"/>
          <p:cNvSpPr txBox="1"/>
          <p:nvPr/>
        </p:nvSpPr>
        <p:spPr>
          <a:xfrm>
            <a:off x="3395224" y="3694076"/>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{{VS_JSDEP_R}}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59" name="Google Shape;1159;p64"/>
          <p:cNvSpPr txBox="1"/>
          <p:nvPr/>
        </p:nvSpPr>
        <p:spPr>
          <a:xfrm>
            <a:off x="3395224" y="3942227"/>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{{VS_GRADL_R}}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0" name="Google Shape;1160;p64"/>
          <p:cNvSpPr txBox="1"/>
          <p:nvPr/>
        </p:nvSpPr>
        <p:spPr>
          <a:xfrm>
            <a:off x="3395224" y="4190379"/>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{{VS_EOL_R}}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1" name="Google Shape;1161;p64"/>
          <p:cNvSpPr txBox="1"/>
          <p:nvPr/>
        </p:nvSpPr>
        <p:spPr>
          <a:xfrm>
            <a:off x="7864530" y="133896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{{DSS_ON_R}}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2" name="Google Shape;1162;p64"/>
          <p:cNvSpPr txBox="1"/>
          <p:nvPr/>
        </p:nvSpPr>
        <p:spPr>
          <a:xfrm>
            <a:off x="7864530" y="1819992"/>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{{DSS_AZ1_R}}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3" name="Google Shape;1163;p64"/>
          <p:cNvSpPr txBox="1"/>
          <p:nvPr/>
        </p:nvSpPr>
        <p:spPr>
          <a:xfrm>
            <a:off x="7864530" y="200845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{{DSS_AZ2_R}}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4" name="Google Shape;1164;p64"/>
          <p:cNvSpPr txBox="1"/>
          <p:nvPr/>
        </p:nvSpPr>
        <p:spPr>
          <a:xfrm>
            <a:off x="7864530" y="2767448"/>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{{DSS_PAAS_R}}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5" name="Google Shape;1165;p64"/>
          <p:cNvSpPr txBox="1"/>
          <p:nvPr/>
        </p:nvSpPr>
        <p:spPr>
          <a:xfrm>
            <a:off x="7854823" y="2955915"/>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{{DSS_DW_R}}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6" name="Google Shape;1166;p64"/>
          <p:cNvSpPr txBox="1"/>
          <p:nvPr/>
        </p:nvSpPr>
        <p:spPr>
          <a:xfrm>
            <a:off x="7854823" y="3144382"/>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{{DSS_BQ_R}}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7" name="Google Shape;1167;p64"/>
          <p:cNvSpPr txBox="1"/>
          <p:nvPr/>
        </p:nvSpPr>
        <p:spPr>
          <a:xfrm>
            <a:off x="7864530" y="333284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{{DSS_DDB_R}}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8" name="Google Shape;1168;p64"/>
          <p:cNvSpPr txBox="1"/>
          <p:nvPr/>
        </p:nvSpPr>
        <p:spPr>
          <a:xfrm>
            <a:off x="7864530" y="3521315"/>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{{DSS_SNOW_R}}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69" name="Google Shape;1169;p64"/>
          <p:cNvSpPr txBox="1"/>
          <p:nvPr/>
        </p:nvSpPr>
        <p:spPr>
          <a:xfrm>
            <a:off x="7864530" y="3709782"/>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{{DSS_IAAS_R}}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0" name="Google Shape;1170;p64"/>
          <p:cNvSpPr txBox="1"/>
          <p:nvPr/>
        </p:nvSpPr>
        <p:spPr>
          <a:xfrm>
            <a:off x="7864530" y="389824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{{DSS_VMD_R}}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1" name="Google Shape;1171;p64"/>
          <p:cNvSpPr txBox="1"/>
          <p:nvPr/>
        </p:nvSpPr>
        <p:spPr>
          <a:xfrm>
            <a:off x="7864530" y="4086716"/>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{{DSS_SLS_R}}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2" name="Google Shape;1172;p64"/>
          <p:cNvSpPr txBox="1"/>
          <p:nvPr/>
        </p:nvSpPr>
        <p:spPr>
          <a:xfrm>
            <a:off x="7864530" y="4275183"/>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{{DSS_AIV_R}}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3" name="Google Shape;1173;p64"/>
          <p:cNvSpPr txBox="1"/>
          <p:nvPr/>
        </p:nvSpPr>
        <p:spPr>
          <a:xfrm>
            <a:off x="7880542" y="4477894"/>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{{DSS_AIAO_R}}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4" name="Google Shape;1174;p64"/>
          <p:cNvSpPr txBox="1"/>
          <p:nvPr/>
        </p:nvSpPr>
        <p:spPr>
          <a:xfrm>
            <a:off x="7880542" y="466636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{{DSS_AIOA_R}}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75" name="Google Shape;1175;p64"/>
          <p:cNvSpPr txBox="1"/>
          <p:nvPr/>
        </p:nvSpPr>
        <p:spPr>
          <a:xfrm>
            <a:off x="7880549" y="4830150"/>
            <a:ext cx="943800" cy="188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{{DSS_SHAD_R}}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1176" name="Google Shape;1176;p64"/>
          <p:cNvCxnSpPr/>
          <p:nvPr/>
        </p:nvCxnSpPr>
        <p:spPr>
          <a:xfrm>
            <a:off x="383107" y="4139500"/>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7" name="Google Shape;1177;p64"/>
          <p:cNvCxnSpPr/>
          <p:nvPr/>
        </p:nvCxnSpPr>
        <p:spPr>
          <a:xfrm>
            <a:off x="380066" y="3648302"/>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8" name="Google Shape;1178;p64"/>
          <p:cNvCxnSpPr/>
          <p:nvPr/>
        </p:nvCxnSpPr>
        <p:spPr>
          <a:xfrm>
            <a:off x="360551" y="3158776"/>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9" name="Google Shape;1179;p64"/>
          <p:cNvCxnSpPr/>
          <p:nvPr/>
        </p:nvCxnSpPr>
        <p:spPr>
          <a:xfrm>
            <a:off x="349400" y="2660090"/>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0" name="Google Shape;1180;p64"/>
          <p:cNvCxnSpPr/>
          <p:nvPr/>
        </p:nvCxnSpPr>
        <p:spPr>
          <a:xfrm>
            <a:off x="349653" y="2174706"/>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1" name="Google Shape;1181;p64"/>
          <p:cNvCxnSpPr/>
          <p:nvPr/>
        </p:nvCxnSpPr>
        <p:spPr>
          <a:xfrm>
            <a:off x="352695" y="1683508"/>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2" name="Google Shape;1182;p64"/>
          <p:cNvCxnSpPr/>
          <p:nvPr/>
        </p:nvCxnSpPr>
        <p:spPr>
          <a:xfrm>
            <a:off x="4817960" y="1322458"/>
            <a:ext cx="3977700" cy="0"/>
          </a:xfrm>
          <a:prstGeom prst="straightConnector1">
            <a:avLst/>
          </a:prstGeom>
          <a:noFill/>
          <a:ln w="14300" cap="flat" cmpd="sng">
            <a:solidFill>
              <a:srgbClr val="888888"/>
            </a:solidFill>
            <a:prstDash val="solid"/>
            <a:round/>
            <a:headEnd type="none" w="sm" len="sm"/>
            <a:tailEnd type="none" w="sm" len="sm"/>
          </a:ln>
        </p:spPr>
      </p:cxnSp>
      <p:cxnSp>
        <p:nvCxnSpPr>
          <p:cNvPr id="1183" name="Google Shape;1183;p64"/>
          <p:cNvCxnSpPr/>
          <p:nvPr/>
        </p:nvCxnSpPr>
        <p:spPr>
          <a:xfrm>
            <a:off x="370950" y="1408929"/>
            <a:ext cx="3977700" cy="0"/>
          </a:xfrm>
          <a:prstGeom prst="straightConnector1">
            <a:avLst/>
          </a:prstGeom>
          <a:noFill/>
          <a:ln w="14300" cap="flat" cmpd="sng">
            <a:solidFill>
              <a:srgbClr val="888888"/>
            </a:solidFill>
            <a:prstDash val="solid"/>
            <a:round/>
            <a:headEnd type="none" w="sm" len="sm"/>
            <a:tailEnd type="none" w="sm" len="sm"/>
          </a:ln>
        </p:spPr>
      </p:cxnSp>
      <p:sp>
        <p:nvSpPr>
          <p:cNvPr id="1184" name="Google Shape;1184;p64"/>
          <p:cNvSpPr/>
          <p:nvPr/>
        </p:nvSpPr>
        <p:spPr>
          <a:xfrm>
            <a:off x="4805920" y="218130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85" name="Google Shape;1185;p64"/>
          <p:cNvCxnSpPr/>
          <p:nvPr/>
        </p:nvCxnSpPr>
        <p:spPr>
          <a:xfrm>
            <a:off x="4805920" y="2369463"/>
            <a:ext cx="3977700" cy="0"/>
          </a:xfrm>
          <a:prstGeom prst="straightConnector1">
            <a:avLst/>
          </a:prstGeom>
          <a:noFill/>
          <a:ln w="9525" cap="flat" cmpd="sng">
            <a:solidFill>
              <a:srgbClr val="888888"/>
            </a:solidFill>
            <a:prstDash val="solid"/>
            <a:round/>
            <a:headEnd type="none" w="sm" len="sm"/>
            <a:tailEnd type="none" w="sm" len="sm"/>
          </a:ln>
        </p:spPr>
      </p:cxnSp>
      <p:sp>
        <p:nvSpPr>
          <p:cNvPr id="1186" name="Google Shape;1186;p64"/>
          <p:cNvSpPr/>
          <p:nvPr/>
        </p:nvSpPr>
        <p:spPr>
          <a:xfrm>
            <a:off x="4897361" y="217513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CosmosDB: Azure PE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87" name="Google Shape;1187;p64"/>
          <p:cNvSpPr/>
          <p:nvPr/>
        </p:nvSpPr>
        <p:spPr>
          <a:xfrm>
            <a:off x="6888543" y="218130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{{DSS_CDBAZ1}}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88" name="Google Shape;1188;p64"/>
          <p:cNvSpPr/>
          <p:nvPr/>
        </p:nvSpPr>
        <p:spPr>
          <a:xfrm>
            <a:off x="4805920" y="2369463"/>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89" name="Google Shape;1189;p64"/>
          <p:cNvCxnSpPr/>
          <p:nvPr/>
        </p:nvCxnSpPr>
        <p:spPr>
          <a:xfrm>
            <a:off x="4805920" y="2563319"/>
            <a:ext cx="3977700" cy="0"/>
          </a:xfrm>
          <a:prstGeom prst="straightConnector1">
            <a:avLst/>
          </a:prstGeom>
          <a:noFill/>
          <a:ln w="9525" cap="flat" cmpd="sng">
            <a:solidFill>
              <a:srgbClr val="888888"/>
            </a:solidFill>
            <a:prstDash val="solid"/>
            <a:round/>
            <a:headEnd type="none" w="sm" len="sm"/>
            <a:tailEnd type="none" w="sm" len="sm"/>
          </a:ln>
        </p:spPr>
      </p:cxnSp>
      <p:sp>
        <p:nvSpPr>
          <p:cNvPr id="1190" name="Google Shape;1190;p64"/>
          <p:cNvSpPr/>
          <p:nvPr/>
        </p:nvSpPr>
        <p:spPr>
          <a:xfrm>
            <a:off x="4897361" y="236572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CosmosDB: Azure PE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1" name="Google Shape;1191;p64"/>
          <p:cNvSpPr/>
          <p:nvPr/>
        </p:nvSpPr>
        <p:spPr>
          <a:xfrm>
            <a:off x="6888543" y="2369463"/>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{{DSS_CDBAZ2}}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2" name="Google Shape;1192;p64"/>
          <p:cNvSpPr txBox="1"/>
          <p:nvPr/>
        </p:nvSpPr>
        <p:spPr>
          <a:xfrm>
            <a:off x="7869851" y="2206194"/>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{{DSS_CDBAZ1_R}}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93" name="Google Shape;1193;p64"/>
          <p:cNvSpPr txBox="1"/>
          <p:nvPr/>
        </p:nvSpPr>
        <p:spPr>
          <a:xfrm>
            <a:off x="7869851" y="239466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{{DSS_CDBAZ2_R}}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cxnSp>
        <p:nvCxnSpPr>
          <p:cNvPr id="1194" name="Google Shape;1194;p64"/>
          <p:cNvCxnSpPr/>
          <p:nvPr/>
        </p:nvCxnSpPr>
        <p:spPr>
          <a:xfrm>
            <a:off x="4816611" y="4831261"/>
            <a:ext cx="3977700" cy="0"/>
          </a:xfrm>
          <a:prstGeom prst="straightConnector1">
            <a:avLst/>
          </a:prstGeom>
          <a:noFill/>
          <a:ln w="9525" cap="flat" cmpd="sng">
            <a:solidFill>
              <a:srgbClr val="888888"/>
            </a:solidFill>
            <a:prstDash val="solid"/>
            <a:round/>
            <a:headEnd type="none" w="sm" len="sm"/>
            <a:tailEnd type="none" w="sm" len="sm"/>
          </a:ln>
        </p:spPr>
      </p:cxnSp>
      <p:sp>
        <p:nvSpPr>
          <p:cNvPr id="1195" name="Google Shape;1195;p64"/>
          <p:cNvSpPr/>
          <p:nvPr/>
        </p:nvSpPr>
        <p:spPr>
          <a:xfrm>
            <a:off x="7042170" y="146730"/>
            <a:ext cx="2491200" cy="434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JetBrains Mono"/>
              </a:rPr>
              <a:t>✓</a:t>
            </a: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t> = Aligned with Wiz Recommendation</a:t>
            </a:r>
            <a:b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DM Sans"/>
              </a:rPr>
            </a:br>
            <a:r>
              <a:rPr lang="en"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rPr>
              <a:t>✗ = May want to revisit configuration </a:t>
            </a:r>
            <a:endParaRPr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9CA3AF"/>
              </a:buClr>
              <a:buSzPts val="500"/>
              <a:buFont typeface="JetBrains Mono"/>
              <a:buNone/>
            </a:pPr>
            <a:r>
              <a:rPr lang="en" sz="8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N/A = Informational, customer preference</a:t>
            </a:r>
            <a:endParaRPr sz="10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196" name="Google Shape;1196;p64"/>
          <p:cNvSpPr/>
          <p:nvPr/>
        </p:nvSpPr>
        <p:spPr>
          <a:xfrm>
            <a:off x="366844" y="4379330"/>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197" name="Google Shape;1197;p64"/>
          <p:cNvCxnSpPr/>
          <p:nvPr/>
        </p:nvCxnSpPr>
        <p:spPr>
          <a:xfrm>
            <a:off x="372419" y="4625423"/>
            <a:ext cx="3977700" cy="0"/>
          </a:xfrm>
          <a:prstGeom prst="straightConnector1">
            <a:avLst/>
          </a:prstGeom>
          <a:noFill/>
          <a:ln w="9525" cap="flat" cmpd="sng">
            <a:solidFill>
              <a:srgbClr val="888888"/>
            </a:solidFill>
            <a:prstDash val="solid"/>
            <a:round/>
            <a:headEnd type="none" w="sm" len="sm"/>
            <a:tailEnd type="none" w="sm" len="sm"/>
          </a:ln>
        </p:spPr>
      </p:cxnSp>
      <p:sp>
        <p:nvSpPr>
          <p:cNvPr id="1198" name="Google Shape;1198;p64"/>
          <p:cNvSpPr/>
          <p:nvPr/>
        </p:nvSpPr>
        <p:spPr>
          <a:xfrm>
            <a:off x="373120" y="4379331"/>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Linux Vulnerabilities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9" name="Google Shape;1199;p64"/>
          <p:cNvSpPr/>
          <p:nvPr/>
        </p:nvSpPr>
        <p:spPr>
          <a:xfrm>
            <a:off x="2571260" y="4379330"/>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JetBrains Mono"/>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JetBrains Mono"/>
              </a:rPr>
              <a:t>{{VS_LVULN}}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00" name="Google Shape;1200;p64"/>
          <p:cNvSpPr txBox="1"/>
          <p:nvPr/>
        </p:nvSpPr>
        <p:spPr>
          <a:xfrm>
            <a:off x="3396898" y="4430702"/>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{{VS_LVULN_R}}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4" name="Action Button: Blank 3">
            <a:hlinkClick r:id="" action="ppaction://noaction" highlightClick="1"/>
            <a:extLst>
              <a:ext uri="{FF2B5EF4-FFF2-40B4-BE49-F238E27FC236}">
                <a16:creationId xmlns:a16="http://schemas.microsoft.com/office/drawing/2014/main" id="{00DCB317-8500-9FAD-B954-9F762EE7B9BA}"/>
              </a:ext>
            </a:extLst>
          </p:cNvPr>
          <p:cNvSpPr/>
          <p:nvPr/>
        </p:nvSpPr>
        <p:spPr>
          <a:xfrm>
            <a:off x="239233" y="867612"/>
            <a:ext cx="4224479" cy="4146767"/>
          </a:xfrm>
          <a:prstGeom prst="actionButtonBlank">
            <a:avLst/>
          </a:prstGeom>
          <a:noFill/>
          <a:ln w="6350">
            <a:solidFill>
              <a:srgbClr val="0254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5"/>
        <p:cNvGrpSpPr/>
        <p:nvPr/>
      </p:nvGrpSpPr>
      <p:grpSpPr>
        <a:xfrm>
          <a:off x="0" y="0"/>
          <a:ext cx="0" cy="0"/>
          <a:chOff x="0" y="0"/>
          <a:chExt cx="0" cy="0"/>
        </a:xfrm>
      </p:grpSpPr>
      <p:sp>
        <p:nvSpPr>
          <p:cNvPr id="1206" name="Google Shape;1206;p65"/>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07" name="Google Shape;1207;p65"/>
          <p:cNvSpPr/>
          <p:nvPr/>
        </p:nvSpPr>
        <p:spPr>
          <a:xfrm>
            <a:off x="457200" y="164588"/>
            <a:ext cx="69444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rPr>
              <a:t>Potential Technology Overlap</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208" name="Google Shape;1208;p65"/>
          <p:cNvSpPr/>
          <p:nvPr/>
        </p:nvSpPr>
        <p:spPr>
          <a:xfrm>
            <a:off x="457200" y="548650"/>
            <a:ext cx="83445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Third-party principals detected in your cloud environments, grouped by functional overlap with Wiz platform capabilities.</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a:p>
            <a:pPr marL="0" marR="0" lvl="0" indent="0" algn="l" rtl="0">
              <a:lnSpc>
                <a:spcPct val="100000"/>
              </a:lnSpc>
              <a:spcBef>
                <a:spcPts val="0"/>
              </a:spcBef>
              <a:spcAft>
                <a:spcPts val="0"/>
              </a:spcAft>
              <a:buClr>
                <a:srgbClr val="6B7280"/>
              </a:buClr>
              <a:buSzPts val="900"/>
              <a:buFont typeface="DM Sans"/>
              <a:buNone/>
            </a:pP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endParaRPr>
          </a:p>
        </p:txBody>
      </p:sp>
      <p:sp>
        <p:nvSpPr>
          <p:cNvPr id="1209" name="Google Shape;1209;p65"/>
          <p:cNvSpPr/>
          <p:nvPr/>
        </p:nvSpPr>
        <p:spPr>
          <a:xfrm>
            <a:off x="365750" y="868675"/>
            <a:ext cx="4019400" cy="431400"/>
          </a:xfrm>
          <a:prstGeom prst="rect">
            <a:avLst/>
          </a:prstGeom>
          <a:solidFill>
            <a:srgbClr val="F4CC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10" name="Google Shape;1210;p65"/>
          <p:cNvSpPr/>
          <p:nvPr/>
        </p:nvSpPr>
        <p:spPr>
          <a:xfrm>
            <a:off x="365750" y="868672"/>
            <a:ext cx="36600" cy="431400"/>
          </a:xfrm>
          <a:prstGeom prst="rect">
            <a:avLst/>
          </a:prstGeom>
          <a:solidFill>
            <a:srgbClr val="85200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11" name="Google Shape;1211;p65"/>
          <p:cNvSpPr/>
          <p:nvPr/>
        </p:nvSpPr>
        <p:spPr>
          <a:xfrm>
            <a:off x="502911" y="948505"/>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3"/>
              </a:rPr>
              <a:t>CLOUD SECURITY PLATFORM </a:t>
            </a:r>
            <a:r>
              <a:rPr lang="en" sz="1400" b="1"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3"/>
              </a:rPr>
              <a:t>↗</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r>
              <a:rPr lang="en" sz="1100" b="0" i="0" u="none" strike="noStrike" cap="none">
                <a:solidFill>
                  <a:srgbClr val="CC4125"/>
                </a:solidFill>
                <a:latin typeface="Calibri" panose="020F0502020204030204" pitchFamily="34" charset="0"/>
                <a:ea typeface="Calibri" panose="020F0502020204030204" pitchFamily="34" charset="0"/>
                <a:cs typeface="Calibri" panose="020F0502020204030204" pitchFamily="34" charset="0"/>
                <a:sym typeface="DM Sans"/>
              </a:rPr>
              <a:t>Potential Overlap with Wiz CNAPP, CSPM, CIEM, DSPM</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2" name="Google Shape;1212;p65"/>
          <p:cNvSpPr/>
          <p:nvPr/>
        </p:nvSpPr>
        <p:spPr>
          <a:xfrm>
            <a:off x="371458" y="1391184"/>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13" name="Google Shape;1213;p65"/>
          <p:cNvSpPr/>
          <p:nvPr/>
        </p:nvSpPr>
        <p:spPr>
          <a:xfrm>
            <a:off x="371454" y="1380149"/>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Technology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4" name="Google Shape;1214;p65"/>
          <p:cNvSpPr/>
          <p:nvPr/>
        </p:nvSpPr>
        <p:spPr>
          <a:xfrm>
            <a:off x="2308825" y="1392425"/>
            <a:ext cx="736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 of SAs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5" name="Google Shape;1215;p65"/>
          <p:cNvSpPr/>
          <p:nvPr/>
        </p:nvSpPr>
        <p:spPr>
          <a:xfrm>
            <a:off x="2926225" y="1385850"/>
            <a:ext cx="15945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First / Last Created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6" name="Google Shape;1216;p65"/>
          <p:cNvSpPr/>
          <p:nvPr/>
        </p:nvSpPr>
        <p:spPr>
          <a:xfrm>
            <a:off x="371449" y="1631564"/>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17" name="Google Shape;1217;p65"/>
          <p:cNvCxnSpPr/>
          <p:nvPr/>
        </p:nvCxnSpPr>
        <p:spPr>
          <a:xfrm>
            <a:off x="371449" y="1877657"/>
            <a:ext cx="3977700" cy="0"/>
          </a:xfrm>
          <a:prstGeom prst="straightConnector1">
            <a:avLst/>
          </a:prstGeom>
          <a:noFill/>
          <a:ln w="9525" cap="flat" cmpd="sng">
            <a:solidFill>
              <a:srgbClr val="E5E7EB"/>
            </a:solidFill>
            <a:prstDash val="solid"/>
            <a:round/>
            <a:headEnd type="none" w="sm" len="sm"/>
            <a:tailEnd type="none" w="sm" len="sm"/>
          </a:ln>
        </p:spPr>
      </p:cxnSp>
      <p:sp>
        <p:nvSpPr>
          <p:cNvPr id="1218" name="Google Shape;1218;p65"/>
          <p:cNvSpPr/>
          <p:nvPr/>
        </p:nvSpPr>
        <p:spPr>
          <a:xfrm>
            <a:off x="371445" y="163155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{{PI_T1_1}}</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19" name="Google Shape;1219;p65"/>
          <p:cNvSpPr/>
          <p:nvPr/>
        </p:nvSpPr>
        <p:spPr>
          <a:xfrm>
            <a:off x="2311680" y="1631575"/>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{{PI_T1_1_SA}}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0" name="Google Shape;1220;p65"/>
          <p:cNvSpPr/>
          <p:nvPr/>
        </p:nvSpPr>
        <p:spPr>
          <a:xfrm>
            <a:off x="371449" y="1877657"/>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21" name="Google Shape;1221;p65"/>
          <p:cNvCxnSpPr/>
          <p:nvPr/>
        </p:nvCxnSpPr>
        <p:spPr>
          <a:xfrm>
            <a:off x="355736" y="2115845"/>
            <a:ext cx="3977700" cy="0"/>
          </a:xfrm>
          <a:prstGeom prst="straightConnector1">
            <a:avLst/>
          </a:prstGeom>
          <a:noFill/>
          <a:ln w="9525" cap="flat" cmpd="sng">
            <a:solidFill>
              <a:srgbClr val="888888"/>
            </a:solidFill>
            <a:prstDash val="solid"/>
            <a:round/>
            <a:headEnd type="none" w="sm" len="sm"/>
            <a:tailEnd type="none" w="sm" len="sm"/>
          </a:ln>
        </p:spPr>
      </p:cxnSp>
      <p:sp>
        <p:nvSpPr>
          <p:cNvPr id="1222" name="Google Shape;1222;p65"/>
          <p:cNvSpPr/>
          <p:nvPr/>
        </p:nvSpPr>
        <p:spPr>
          <a:xfrm>
            <a:off x="371445" y="187765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{{PI_T1_2}}</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3" name="Google Shape;1223;p65"/>
          <p:cNvSpPr/>
          <p:nvPr/>
        </p:nvSpPr>
        <p:spPr>
          <a:xfrm>
            <a:off x="371449" y="2123750"/>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24" name="Google Shape;1224;p65"/>
          <p:cNvCxnSpPr/>
          <p:nvPr/>
        </p:nvCxnSpPr>
        <p:spPr>
          <a:xfrm>
            <a:off x="371449" y="2369843"/>
            <a:ext cx="3977700" cy="0"/>
          </a:xfrm>
          <a:prstGeom prst="straightConnector1">
            <a:avLst/>
          </a:prstGeom>
          <a:noFill/>
          <a:ln w="9525" cap="flat" cmpd="sng">
            <a:solidFill>
              <a:srgbClr val="E5E7EB"/>
            </a:solidFill>
            <a:prstDash val="solid"/>
            <a:round/>
            <a:headEnd type="none" w="sm" len="sm"/>
            <a:tailEnd type="none" w="sm" len="sm"/>
          </a:ln>
        </p:spPr>
      </p:cxnSp>
      <p:sp>
        <p:nvSpPr>
          <p:cNvPr id="1225" name="Google Shape;1225;p65"/>
          <p:cNvSpPr/>
          <p:nvPr/>
        </p:nvSpPr>
        <p:spPr>
          <a:xfrm>
            <a:off x="371445" y="212374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{{PI_T1_3}}</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6" name="Google Shape;1226;p65"/>
          <p:cNvSpPr/>
          <p:nvPr/>
        </p:nvSpPr>
        <p:spPr>
          <a:xfrm>
            <a:off x="371449" y="2369843"/>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27" name="Google Shape;1227;p65"/>
          <p:cNvCxnSpPr/>
          <p:nvPr/>
        </p:nvCxnSpPr>
        <p:spPr>
          <a:xfrm>
            <a:off x="358777" y="2606026"/>
            <a:ext cx="3977700" cy="0"/>
          </a:xfrm>
          <a:prstGeom prst="straightConnector1">
            <a:avLst/>
          </a:prstGeom>
          <a:noFill/>
          <a:ln w="9525" cap="flat" cmpd="sng">
            <a:solidFill>
              <a:srgbClr val="888888"/>
            </a:solidFill>
            <a:prstDash val="solid"/>
            <a:round/>
            <a:headEnd type="none" w="sm" len="sm"/>
            <a:tailEnd type="none" w="sm" len="sm"/>
          </a:ln>
        </p:spPr>
      </p:cxnSp>
      <p:sp>
        <p:nvSpPr>
          <p:cNvPr id="1228" name="Google Shape;1228;p65"/>
          <p:cNvSpPr/>
          <p:nvPr/>
        </p:nvSpPr>
        <p:spPr>
          <a:xfrm>
            <a:off x="371445" y="236983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{{PI_T1_4}}</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29" name="Google Shape;1229;p65"/>
          <p:cNvSpPr/>
          <p:nvPr/>
        </p:nvSpPr>
        <p:spPr>
          <a:xfrm>
            <a:off x="371449" y="261593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30" name="Google Shape;1230;p65"/>
          <p:cNvCxnSpPr/>
          <p:nvPr/>
        </p:nvCxnSpPr>
        <p:spPr>
          <a:xfrm>
            <a:off x="361818" y="2865486"/>
            <a:ext cx="3977700" cy="0"/>
          </a:xfrm>
          <a:prstGeom prst="straightConnector1">
            <a:avLst/>
          </a:prstGeom>
          <a:noFill/>
          <a:ln w="9525" cap="flat" cmpd="sng">
            <a:solidFill>
              <a:srgbClr val="E5E7EB"/>
            </a:solidFill>
            <a:prstDash val="solid"/>
            <a:round/>
            <a:headEnd type="none" w="sm" len="sm"/>
            <a:tailEnd type="none" w="sm" len="sm"/>
          </a:ln>
        </p:spPr>
      </p:cxnSp>
      <p:sp>
        <p:nvSpPr>
          <p:cNvPr id="1231" name="Google Shape;1231;p65"/>
          <p:cNvSpPr/>
          <p:nvPr/>
        </p:nvSpPr>
        <p:spPr>
          <a:xfrm>
            <a:off x="371445" y="261593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{{PI_T1_5}}</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232" name="Google Shape;1232;p65"/>
          <p:cNvCxnSpPr/>
          <p:nvPr/>
        </p:nvCxnSpPr>
        <p:spPr>
          <a:xfrm>
            <a:off x="349400" y="2859671"/>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3" name="Google Shape;1233;p65"/>
          <p:cNvCxnSpPr/>
          <p:nvPr/>
        </p:nvCxnSpPr>
        <p:spPr>
          <a:xfrm>
            <a:off x="349653" y="2374288"/>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4" name="Google Shape;1234;p65"/>
          <p:cNvCxnSpPr/>
          <p:nvPr/>
        </p:nvCxnSpPr>
        <p:spPr>
          <a:xfrm>
            <a:off x="352695" y="1883089"/>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5" name="Google Shape;1235;p65"/>
          <p:cNvCxnSpPr/>
          <p:nvPr/>
        </p:nvCxnSpPr>
        <p:spPr>
          <a:xfrm>
            <a:off x="370950" y="1608510"/>
            <a:ext cx="3977700" cy="0"/>
          </a:xfrm>
          <a:prstGeom prst="straightConnector1">
            <a:avLst/>
          </a:prstGeom>
          <a:noFill/>
          <a:ln w="14300" cap="flat" cmpd="sng">
            <a:solidFill>
              <a:srgbClr val="888888"/>
            </a:solidFill>
            <a:prstDash val="solid"/>
            <a:round/>
            <a:headEnd type="none" w="sm" len="sm"/>
            <a:tailEnd type="none" w="sm" len="sm"/>
          </a:ln>
        </p:spPr>
      </p:cxnSp>
      <p:sp>
        <p:nvSpPr>
          <p:cNvPr id="1236" name="Google Shape;1236;p65"/>
          <p:cNvSpPr/>
          <p:nvPr/>
        </p:nvSpPr>
        <p:spPr>
          <a:xfrm>
            <a:off x="4711846" y="3088397"/>
            <a:ext cx="4023300" cy="431400"/>
          </a:xfrm>
          <a:prstGeom prst="rect">
            <a:avLst/>
          </a:prstGeom>
          <a:solidFill>
            <a:srgbClr val="D9D9D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EAD1DC"/>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37" name="Google Shape;1237;p65"/>
          <p:cNvSpPr/>
          <p:nvPr/>
        </p:nvSpPr>
        <p:spPr>
          <a:xfrm>
            <a:off x="4711846" y="3088397"/>
            <a:ext cx="36600" cy="431400"/>
          </a:xfrm>
          <a:prstGeom prst="rect">
            <a:avLst/>
          </a:prstGeom>
          <a:solidFill>
            <a:srgbClr val="59595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38" name="Google Shape;1238;p65"/>
          <p:cNvSpPr/>
          <p:nvPr/>
        </p:nvSpPr>
        <p:spPr>
          <a:xfrm>
            <a:off x="4849007" y="3168230"/>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4"/>
              </a:rPr>
              <a:t>RUNTIME / WORKLOAD PROTECTION </a:t>
            </a:r>
            <a:r>
              <a:rPr lang="en" sz="1400" b="1"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4"/>
              </a:rPr>
              <a:t>↗</a:t>
            </a:r>
            <a:br>
              <a:rPr lang="en" sz="11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b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DM Sans"/>
              </a:rPr>
              <a:t>Potential Overlap with Wiz Sensor, Defend, CWPP,, TDR</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39" name="Google Shape;1239;p65"/>
          <p:cNvSpPr/>
          <p:nvPr/>
        </p:nvSpPr>
        <p:spPr>
          <a:xfrm>
            <a:off x="4717478" y="884700"/>
            <a:ext cx="4023300" cy="431400"/>
          </a:xfrm>
          <a:prstGeom prst="rect">
            <a:avLst/>
          </a:prstGeom>
          <a:solidFill>
            <a:srgbClr val="CBDA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40" name="Google Shape;1240;p65"/>
          <p:cNvSpPr/>
          <p:nvPr/>
        </p:nvSpPr>
        <p:spPr>
          <a:xfrm>
            <a:off x="4688967" y="884697"/>
            <a:ext cx="36600" cy="431400"/>
          </a:xfrm>
          <a:prstGeom prst="rect">
            <a:avLst/>
          </a:prstGeom>
          <a:solidFill>
            <a:srgbClr val="0B539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41" name="Google Shape;1241;p65"/>
          <p:cNvSpPr/>
          <p:nvPr/>
        </p:nvSpPr>
        <p:spPr>
          <a:xfrm>
            <a:off x="4854639" y="964530"/>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DM Sans"/>
                <a:hlinkClick r:id="rId5"/>
              </a:rPr>
              <a:t>CODE SECURITY </a:t>
            </a:r>
            <a:r>
              <a:rPr lang="en" sz="1400" b="1"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5"/>
              </a:rPr>
              <a:t>↗</a:t>
            </a:r>
            <a:br>
              <a:rPr lang="en" sz="1100" b="1" i="0" u="none" strike="noStrike" cap="none">
                <a:solidFill>
                  <a:srgbClr val="0B5394"/>
                </a:solidFill>
                <a:latin typeface="Calibri" panose="020F0502020204030204" pitchFamily="34" charset="0"/>
                <a:ea typeface="Calibri" panose="020F0502020204030204" pitchFamily="34" charset="0"/>
                <a:cs typeface="Calibri" panose="020F0502020204030204" pitchFamily="34" charset="0"/>
                <a:sym typeface="DM Sans"/>
              </a:rPr>
            </a:br>
            <a:r>
              <a:rPr lang="en" sz="1100" b="0" i="0" u="none" strike="noStrike" cap="none">
                <a:solidFill>
                  <a:srgbClr val="0B5394"/>
                </a:solidFill>
                <a:latin typeface="Calibri" panose="020F0502020204030204" pitchFamily="34" charset="0"/>
                <a:ea typeface="Calibri" panose="020F0502020204030204" pitchFamily="34" charset="0"/>
                <a:cs typeface="Calibri" panose="020F0502020204030204" pitchFamily="34" charset="0"/>
                <a:sym typeface="DM Sans"/>
              </a:rPr>
              <a:t>Potential Overlap with Wiz Code, SAST, SCA, Wiz CLI</a:t>
            </a:r>
            <a:br>
              <a:rPr lang="en" sz="1100" b="1"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DM Sans"/>
              </a:rPr>
            </a:b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2" name="Google Shape;1242;p65"/>
          <p:cNvSpPr/>
          <p:nvPr/>
        </p:nvSpPr>
        <p:spPr>
          <a:xfrm>
            <a:off x="2308828" y="1875197"/>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{{PI_T1_2_SA}}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3" name="Google Shape;1243;p65"/>
          <p:cNvSpPr/>
          <p:nvPr/>
        </p:nvSpPr>
        <p:spPr>
          <a:xfrm>
            <a:off x="2317385" y="2118819"/>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{{PI_T1_3_SA}}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4" name="Google Shape;1244;p65"/>
          <p:cNvSpPr/>
          <p:nvPr/>
        </p:nvSpPr>
        <p:spPr>
          <a:xfrm>
            <a:off x="2320237" y="2362441"/>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{{PI_T1_4_SA}}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5" name="Google Shape;1245;p65"/>
          <p:cNvSpPr/>
          <p:nvPr/>
        </p:nvSpPr>
        <p:spPr>
          <a:xfrm>
            <a:off x="2314532" y="260606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{{PI_T1_5_SA}}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6" name="Google Shape;1246;p65"/>
          <p:cNvSpPr/>
          <p:nvPr/>
        </p:nvSpPr>
        <p:spPr>
          <a:xfrm>
            <a:off x="2926250" y="1629200"/>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{{PI_T1_1_FA}} / {{PI_T1_1_LA}}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7" name="Google Shape;1247;p65"/>
          <p:cNvSpPr/>
          <p:nvPr/>
        </p:nvSpPr>
        <p:spPr>
          <a:xfrm>
            <a:off x="2930509" y="187280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{{PI_T1_2_FA}} / {{PI_T1_2_LA}}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8" name="Google Shape;1248;p65"/>
          <p:cNvSpPr/>
          <p:nvPr/>
        </p:nvSpPr>
        <p:spPr>
          <a:xfrm>
            <a:off x="2934768" y="2116406"/>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{{PI_T1_3_FA}} / {{PI_T1_3_LA}}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49" name="Google Shape;1249;p65"/>
          <p:cNvSpPr/>
          <p:nvPr/>
        </p:nvSpPr>
        <p:spPr>
          <a:xfrm>
            <a:off x="2943286" y="2360009"/>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{{PI_T1_4_FA}} / {{PI_T1_4_LA}}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0" name="Google Shape;1250;p65"/>
          <p:cNvSpPr/>
          <p:nvPr/>
        </p:nvSpPr>
        <p:spPr>
          <a:xfrm>
            <a:off x="2939027" y="260361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{{PI_T1_5_FA}} / {{PI_T1_5_LA}}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1" name="Google Shape;1251;p65"/>
          <p:cNvSpPr/>
          <p:nvPr/>
        </p:nvSpPr>
        <p:spPr>
          <a:xfrm>
            <a:off x="4723186" y="1386854"/>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52" name="Google Shape;1252;p65"/>
          <p:cNvSpPr/>
          <p:nvPr/>
        </p:nvSpPr>
        <p:spPr>
          <a:xfrm>
            <a:off x="4706075" y="1375819"/>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Technology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3" name="Google Shape;1253;p65"/>
          <p:cNvSpPr/>
          <p:nvPr/>
        </p:nvSpPr>
        <p:spPr>
          <a:xfrm>
            <a:off x="6607455" y="1388100"/>
            <a:ext cx="772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 of SAs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4" name="Google Shape;1254;p65"/>
          <p:cNvSpPr/>
          <p:nvPr/>
        </p:nvSpPr>
        <p:spPr>
          <a:xfrm>
            <a:off x="7277955" y="1381525"/>
            <a:ext cx="16212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First / Last Created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5" name="Google Shape;1255;p65"/>
          <p:cNvSpPr/>
          <p:nvPr/>
        </p:nvSpPr>
        <p:spPr>
          <a:xfrm>
            <a:off x="4723178" y="1627234"/>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56" name="Google Shape;1256;p65"/>
          <p:cNvCxnSpPr/>
          <p:nvPr/>
        </p:nvCxnSpPr>
        <p:spPr>
          <a:xfrm>
            <a:off x="4723178" y="1873327"/>
            <a:ext cx="3977700" cy="0"/>
          </a:xfrm>
          <a:prstGeom prst="straightConnector1">
            <a:avLst/>
          </a:prstGeom>
          <a:noFill/>
          <a:ln w="9525" cap="flat" cmpd="sng">
            <a:solidFill>
              <a:srgbClr val="E5E7EB"/>
            </a:solidFill>
            <a:prstDash val="solid"/>
            <a:round/>
            <a:headEnd type="none" w="sm" len="sm"/>
            <a:tailEnd type="none" w="sm" len="sm"/>
          </a:ln>
        </p:spPr>
      </p:cxnSp>
      <p:sp>
        <p:nvSpPr>
          <p:cNvPr id="1257" name="Google Shape;1257;p65"/>
          <p:cNvSpPr/>
          <p:nvPr/>
        </p:nvSpPr>
        <p:spPr>
          <a:xfrm>
            <a:off x="4706067" y="162722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{{PI_T2_1}}</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8" name="Google Shape;1258;p65"/>
          <p:cNvSpPr/>
          <p:nvPr/>
        </p:nvSpPr>
        <p:spPr>
          <a:xfrm>
            <a:off x="6609971" y="1627250"/>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{{PI_T2_1_SA}}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59" name="Google Shape;1259;p65"/>
          <p:cNvSpPr/>
          <p:nvPr/>
        </p:nvSpPr>
        <p:spPr>
          <a:xfrm>
            <a:off x="4723178" y="1873327"/>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60" name="Google Shape;1260;p65"/>
          <p:cNvCxnSpPr/>
          <p:nvPr/>
        </p:nvCxnSpPr>
        <p:spPr>
          <a:xfrm>
            <a:off x="4707464" y="2111515"/>
            <a:ext cx="3977700" cy="0"/>
          </a:xfrm>
          <a:prstGeom prst="straightConnector1">
            <a:avLst/>
          </a:prstGeom>
          <a:noFill/>
          <a:ln w="9525" cap="flat" cmpd="sng">
            <a:solidFill>
              <a:srgbClr val="888888"/>
            </a:solidFill>
            <a:prstDash val="solid"/>
            <a:round/>
            <a:headEnd type="none" w="sm" len="sm"/>
            <a:tailEnd type="none" w="sm" len="sm"/>
          </a:ln>
        </p:spPr>
      </p:cxnSp>
      <p:sp>
        <p:nvSpPr>
          <p:cNvPr id="1261" name="Google Shape;1261;p65"/>
          <p:cNvSpPr/>
          <p:nvPr/>
        </p:nvSpPr>
        <p:spPr>
          <a:xfrm>
            <a:off x="4706067" y="187332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{{PI_T2_2}}</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62" name="Google Shape;1262;p65"/>
          <p:cNvSpPr/>
          <p:nvPr/>
        </p:nvSpPr>
        <p:spPr>
          <a:xfrm>
            <a:off x="4723178" y="2119420"/>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63" name="Google Shape;1263;p65"/>
          <p:cNvCxnSpPr/>
          <p:nvPr/>
        </p:nvCxnSpPr>
        <p:spPr>
          <a:xfrm>
            <a:off x="4723178" y="2365513"/>
            <a:ext cx="3977700" cy="0"/>
          </a:xfrm>
          <a:prstGeom prst="straightConnector1">
            <a:avLst/>
          </a:prstGeom>
          <a:noFill/>
          <a:ln w="9525" cap="flat" cmpd="sng">
            <a:solidFill>
              <a:srgbClr val="E5E7EB"/>
            </a:solidFill>
            <a:prstDash val="solid"/>
            <a:round/>
            <a:headEnd type="none" w="sm" len="sm"/>
            <a:tailEnd type="none" w="sm" len="sm"/>
          </a:ln>
        </p:spPr>
      </p:cxnSp>
      <p:sp>
        <p:nvSpPr>
          <p:cNvPr id="1264" name="Google Shape;1264;p65"/>
          <p:cNvSpPr/>
          <p:nvPr/>
        </p:nvSpPr>
        <p:spPr>
          <a:xfrm>
            <a:off x="4706067" y="211941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{{PI_T2_3}}</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65" name="Google Shape;1265;p65"/>
          <p:cNvSpPr/>
          <p:nvPr/>
        </p:nvSpPr>
        <p:spPr>
          <a:xfrm>
            <a:off x="4723178" y="2365513"/>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66" name="Google Shape;1266;p65"/>
          <p:cNvCxnSpPr/>
          <p:nvPr/>
        </p:nvCxnSpPr>
        <p:spPr>
          <a:xfrm>
            <a:off x="4710506" y="2601696"/>
            <a:ext cx="3977700" cy="0"/>
          </a:xfrm>
          <a:prstGeom prst="straightConnector1">
            <a:avLst/>
          </a:prstGeom>
          <a:noFill/>
          <a:ln w="9525" cap="flat" cmpd="sng">
            <a:solidFill>
              <a:srgbClr val="888888"/>
            </a:solidFill>
            <a:prstDash val="solid"/>
            <a:round/>
            <a:headEnd type="none" w="sm" len="sm"/>
            <a:tailEnd type="none" w="sm" len="sm"/>
          </a:ln>
        </p:spPr>
      </p:cxnSp>
      <p:sp>
        <p:nvSpPr>
          <p:cNvPr id="1267" name="Google Shape;1267;p65"/>
          <p:cNvSpPr/>
          <p:nvPr/>
        </p:nvSpPr>
        <p:spPr>
          <a:xfrm>
            <a:off x="4706067" y="236550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{{PI_T2_4}}</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68" name="Google Shape;1268;p65"/>
          <p:cNvSpPr/>
          <p:nvPr/>
        </p:nvSpPr>
        <p:spPr>
          <a:xfrm>
            <a:off x="4723178" y="261160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69" name="Google Shape;1269;p65"/>
          <p:cNvSpPr/>
          <p:nvPr/>
        </p:nvSpPr>
        <p:spPr>
          <a:xfrm>
            <a:off x="4706067" y="261160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{{PI_T2_5}}</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270" name="Google Shape;1270;p65"/>
          <p:cNvCxnSpPr/>
          <p:nvPr/>
        </p:nvCxnSpPr>
        <p:spPr>
          <a:xfrm>
            <a:off x="4716068" y="2855341"/>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1" name="Google Shape;1271;p65"/>
          <p:cNvCxnSpPr/>
          <p:nvPr/>
        </p:nvCxnSpPr>
        <p:spPr>
          <a:xfrm>
            <a:off x="4701382" y="2369958"/>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2" name="Google Shape;1272;p65"/>
          <p:cNvCxnSpPr/>
          <p:nvPr/>
        </p:nvCxnSpPr>
        <p:spPr>
          <a:xfrm>
            <a:off x="4704423" y="1878759"/>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3" name="Google Shape;1273;p65"/>
          <p:cNvCxnSpPr/>
          <p:nvPr/>
        </p:nvCxnSpPr>
        <p:spPr>
          <a:xfrm>
            <a:off x="4722679" y="1604180"/>
            <a:ext cx="3977700" cy="0"/>
          </a:xfrm>
          <a:prstGeom prst="straightConnector1">
            <a:avLst/>
          </a:prstGeom>
          <a:noFill/>
          <a:ln w="14300" cap="flat" cmpd="sng">
            <a:solidFill>
              <a:srgbClr val="888888"/>
            </a:solidFill>
            <a:prstDash val="solid"/>
            <a:round/>
            <a:headEnd type="none" w="sm" len="sm"/>
            <a:tailEnd type="none" w="sm" len="sm"/>
          </a:ln>
        </p:spPr>
      </p:cxnSp>
      <p:sp>
        <p:nvSpPr>
          <p:cNvPr id="1274" name="Google Shape;1274;p65"/>
          <p:cNvSpPr/>
          <p:nvPr/>
        </p:nvSpPr>
        <p:spPr>
          <a:xfrm>
            <a:off x="6606980" y="1870869"/>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{{PI_T2_2_SA}}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5" name="Google Shape;1275;p65"/>
          <p:cNvSpPr/>
          <p:nvPr/>
        </p:nvSpPr>
        <p:spPr>
          <a:xfrm>
            <a:off x="6615954" y="2114489"/>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{{PI_T2_3_SA}}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6" name="Google Shape;1276;p65"/>
          <p:cNvSpPr/>
          <p:nvPr/>
        </p:nvSpPr>
        <p:spPr>
          <a:xfrm>
            <a:off x="6618945" y="2358108"/>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{{PI_T2_4_SA}}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7" name="Google Shape;1277;p65"/>
          <p:cNvSpPr/>
          <p:nvPr/>
        </p:nvSpPr>
        <p:spPr>
          <a:xfrm>
            <a:off x="6612962" y="2601728"/>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{{PI_T2_5_SA}}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8" name="Google Shape;1278;p65"/>
          <p:cNvSpPr/>
          <p:nvPr/>
        </p:nvSpPr>
        <p:spPr>
          <a:xfrm>
            <a:off x="7277980" y="1624875"/>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{{PI_T2_1_FA}} / {{PI_T2_1_LA}}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79" name="Google Shape;1279;p65"/>
          <p:cNvSpPr/>
          <p:nvPr/>
        </p:nvSpPr>
        <p:spPr>
          <a:xfrm>
            <a:off x="7282310" y="1868476"/>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{{PI_T2_2_FA}} / {{PI_T2_2_LA}}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0" name="Google Shape;1280;p65"/>
          <p:cNvSpPr/>
          <p:nvPr/>
        </p:nvSpPr>
        <p:spPr>
          <a:xfrm>
            <a:off x="7286640" y="2112076"/>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{{PI_T2_3_FA}} / {{PI_T2_3_LA}}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1" name="Google Shape;1281;p65"/>
          <p:cNvSpPr/>
          <p:nvPr/>
        </p:nvSpPr>
        <p:spPr>
          <a:xfrm>
            <a:off x="7295300" y="2355677"/>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{{PI_T2_4_FA}} / {{PI_T2_4_LA}}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2" name="Google Shape;1282;p65"/>
          <p:cNvSpPr/>
          <p:nvPr/>
        </p:nvSpPr>
        <p:spPr>
          <a:xfrm>
            <a:off x="7290970" y="2599278"/>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{{PI_T2_5_FA}} / {{PI_T2_5_LA}}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3" name="Google Shape;1283;p65"/>
          <p:cNvSpPr/>
          <p:nvPr/>
        </p:nvSpPr>
        <p:spPr>
          <a:xfrm>
            <a:off x="4733920" y="3618329"/>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84" name="Google Shape;1284;p65"/>
          <p:cNvSpPr/>
          <p:nvPr/>
        </p:nvSpPr>
        <p:spPr>
          <a:xfrm>
            <a:off x="4716809" y="3607294"/>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Technology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5" name="Google Shape;1285;p65"/>
          <p:cNvSpPr/>
          <p:nvPr/>
        </p:nvSpPr>
        <p:spPr>
          <a:xfrm>
            <a:off x="6618189" y="3619575"/>
            <a:ext cx="772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 of SAs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6" name="Google Shape;1286;p65"/>
          <p:cNvSpPr/>
          <p:nvPr/>
        </p:nvSpPr>
        <p:spPr>
          <a:xfrm>
            <a:off x="7288689" y="3613000"/>
            <a:ext cx="16212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DM Sans"/>
              </a:rPr>
              <a:t>First / Last Created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87" name="Google Shape;1287;p65"/>
          <p:cNvSpPr/>
          <p:nvPr/>
        </p:nvSpPr>
        <p:spPr>
          <a:xfrm>
            <a:off x="4733912" y="3858709"/>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88" name="Google Shape;1288;p65"/>
          <p:cNvCxnSpPr/>
          <p:nvPr/>
        </p:nvCxnSpPr>
        <p:spPr>
          <a:xfrm>
            <a:off x="4733912" y="4104802"/>
            <a:ext cx="3977700" cy="0"/>
          </a:xfrm>
          <a:prstGeom prst="straightConnector1">
            <a:avLst/>
          </a:prstGeom>
          <a:noFill/>
          <a:ln w="9525" cap="flat" cmpd="sng">
            <a:solidFill>
              <a:srgbClr val="E5E7EB"/>
            </a:solidFill>
            <a:prstDash val="solid"/>
            <a:round/>
            <a:headEnd type="none" w="sm" len="sm"/>
            <a:tailEnd type="none" w="sm" len="sm"/>
          </a:ln>
        </p:spPr>
      </p:cxnSp>
      <p:sp>
        <p:nvSpPr>
          <p:cNvPr id="1289" name="Google Shape;1289;p65"/>
          <p:cNvSpPr/>
          <p:nvPr/>
        </p:nvSpPr>
        <p:spPr>
          <a:xfrm>
            <a:off x="4716801" y="3858701"/>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{{PI_T3_1}}</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0" name="Google Shape;1290;p65"/>
          <p:cNvSpPr/>
          <p:nvPr/>
        </p:nvSpPr>
        <p:spPr>
          <a:xfrm>
            <a:off x="6620705" y="3858725"/>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{{PI_T3_1_SA}}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1" name="Google Shape;1291;p65"/>
          <p:cNvSpPr/>
          <p:nvPr/>
        </p:nvSpPr>
        <p:spPr>
          <a:xfrm>
            <a:off x="4733912" y="4104802"/>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92" name="Google Shape;1292;p65"/>
          <p:cNvCxnSpPr/>
          <p:nvPr/>
        </p:nvCxnSpPr>
        <p:spPr>
          <a:xfrm>
            <a:off x="4718198" y="4342990"/>
            <a:ext cx="3977700" cy="0"/>
          </a:xfrm>
          <a:prstGeom prst="straightConnector1">
            <a:avLst/>
          </a:prstGeom>
          <a:noFill/>
          <a:ln w="9525" cap="flat" cmpd="sng">
            <a:solidFill>
              <a:srgbClr val="888888"/>
            </a:solidFill>
            <a:prstDash val="solid"/>
            <a:round/>
            <a:headEnd type="none" w="sm" len="sm"/>
            <a:tailEnd type="none" w="sm" len="sm"/>
          </a:ln>
        </p:spPr>
      </p:cxnSp>
      <p:sp>
        <p:nvSpPr>
          <p:cNvPr id="1293" name="Google Shape;1293;p65"/>
          <p:cNvSpPr/>
          <p:nvPr/>
        </p:nvSpPr>
        <p:spPr>
          <a:xfrm>
            <a:off x="4716801" y="4104795"/>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{{PI_T3_2}}</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4" name="Google Shape;1294;p65"/>
          <p:cNvSpPr/>
          <p:nvPr/>
        </p:nvSpPr>
        <p:spPr>
          <a:xfrm>
            <a:off x="4733912" y="4350895"/>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95" name="Google Shape;1295;p65"/>
          <p:cNvCxnSpPr/>
          <p:nvPr/>
        </p:nvCxnSpPr>
        <p:spPr>
          <a:xfrm>
            <a:off x="4733912" y="4596988"/>
            <a:ext cx="3977700" cy="0"/>
          </a:xfrm>
          <a:prstGeom prst="straightConnector1">
            <a:avLst/>
          </a:prstGeom>
          <a:noFill/>
          <a:ln w="9525" cap="flat" cmpd="sng">
            <a:solidFill>
              <a:srgbClr val="E5E7EB"/>
            </a:solidFill>
            <a:prstDash val="solid"/>
            <a:round/>
            <a:headEnd type="none" w="sm" len="sm"/>
            <a:tailEnd type="none" w="sm" len="sm"/>
          </a:ln>
        </p:spPr>
      </p:cxnSp>
      <p:sp>
        <p:nvSpPr>
          <p:cNvPr id="1296" name="Google Shape;1296;p65"/>
          <p:cNvSpPr/>
          <p:nvPr/>
        </p:nvSpPr>
        <p:spPr>
          <a:xfrm>
            <a:off x="4716801" y="4350889"/>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{{PI_T3_3}}</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97" name="Google Shape;1297;p65"/>
          <p:cNvSpPr/>
          <p:nvPr/>
        </p:nvSpPr>
        <p:spPr>
          <a:xfrm>
            <a:off x="4733912" y="4596988"/>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298" name="Google Shape;1298;p65"/>
          <p:cNvCxnSpPr/>
          <p:nvPr/>
        </p:nvCxnSpPr>
        <p:spPr>
          <a:xfrm>
            <a:off x="4721240" y="4833171"/>
            <a:ext cx="3977700" cy="0"/>
          </a:xfrm>
          <a:prstGeom prst="straightConnector1">
            <a:avLst/>
          </a:prstGeom>
          <a:noFill/>
          <a:ln w="9525" cap="flat" cmpd="sng">
            <a:solidFill>
              <a:srgbClr val="888888"/>
            </a:solidFill>
            <a:prstDash val="solid"/>
            <a:round/>
            <a:headEnd type="none" w="sm" len="sm"/>
            <a:tailEnd type="none" w="sm" len="sm"/>
          </a:ln>
        </p:spPr>
      </p:cxnSp>
      <p:sp>
        <p:nvSpPr>
          <p:cNvPr id="1299" name="Google Shape;1299;p65"/>
          <p:cNvSpPr/>
          <p:nvPr/>
        </p:nvSpPr>
        <p:spPr>
          <a:xfrm>
            <a:off x="4716801" y="4596983"/>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{{PI_T3_4}}</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0" name="Google Shape;1300;p65"/>
          <p:cNvSpPr/>
          <p:nvPr/>
        </p:nvSpPr>
        <p:spPr>
          <a:xfrm>
            <a:off x="4733912" y="4843081"/>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301" name="Google Shape;1301;p65"/>
          <p:cNvSpPr/>
          <p:nvPr/>
        </p:nvSpPr>
        <p:spPr>
          <a:xfrm>
            <a:off x="4716801" y="4843077"/>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{{PI_T3_5}}</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02" name="Google Shape;1302;p65"/>
          <p:cNvCxnSpPr/>
          <p:nvPr/>
        </p:nvCxnSpPr>
        <p:spPr>
          <a:xfrm>
            <a:off x="4694756" y="5086816"/>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3" name="Google Shape;1303;p65"/>
          <p:cNvCxnSpPr/>
          <p:nvPr/>
        </p:nvCxnSpPr>
        <p:spPr>
          <a:xfrm>
            <a:off x="4712116" y="4601433"/>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4" name="Google Shape;1304;p65"/>
          <p:cNvCxnSpPr/>
          <p:nvPr/>
        </p:nvCxnSpPr>
        <p:spPr>
          <a:xfrm>
            <a:off x="4715157" y="4110234"/>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5" name="Google Shape;1305;p65"/>
          <p:cNvCxnSpPr/>
          <p:nvPr/>
        </p:nvCxnSpPr>
        <p:spPr>
          <a:xfrm>
            <a:off x="4733413" y="3835655"/>
            <a:ext cx="3977700" cy="0"/>
          </a:xfrm>
          <a:prstGeom prst="straightConnector1">
            <a:avLst/>
          </a:prstGeom>
          <a:noFill/>
          <a:ln w="14300" cap="flat" cmpd="sng">
            <a:solidFill>
              <a:srgbClr val="888888"/>
            </a:solidFill>
            <a:prstDash val="solid"/>
            <a:round/>
            <a:headEnd type="none" w="sm" len="sm"/>
            <a:tailEnd type="none" w="sm" len="sm"/>
          </a:ln>
        </p:spPr>
      </p:cxnSp>
      <p:sp>
        <p:nvSpPr>
          <p:cNvPr id="1306" name="Google Shape;1306;p65"/>
          <p:cNvSpPr/>
          <p:nvPr/>
        </p:nvSpPr>
        <p:spPr>
          <a:xfrm>
            <a:off x="6617714" y="4102344"/>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{{PI_T3_2_SA}}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7" name="Google Shape;1307;p65"/>
          <p:cNvSpPr/>
          <p:nvPr/>
        </p:nvSpPr>
        <p:spPr>
          <a:xfrm>
            <a:off x="6626688" y="4345964"/>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{{PI_T3_3_SA}}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8" name="Google Shape;1308;p65"/>
          <p:cNvSpPr/>
          <p:nvPr/>
        </p:nvSpPr>
        <p:spPr>
          <a:xfrm>
            <a:off x="6629679" y="4589583"/>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{{PI_T3_4_SA}}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09" name="Google Shape;1309;p65"/>
          <p:cNvSpPr/>
          <p:nvPr/>
        </p:nvSpPr>
        <p:spPr>
          <a:xfrm>
            <a:off x="6623696" y="4833203"/>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{{PI_T3_5_SA}}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0" name="Google Shape;1310;p65"/>
          <p:cNvSpPr/>
          <p:nvPr/>
        </p:nvSpPr>
        <p:spPr>
          <a:xfrm>
            <a:off x="7288714" y="3856350"/>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{{PI_T3_1_FA}} / {{PI_T3_1_LA}}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1" name="Google Shape;1311;p65"/>
          <p:cNvSpPr/>
          <p:nvPr/>
        </p:nvSpPr>
        <p:spPr>
          <a:xfrm>
            <a:off x="7293044" y="4099951"/>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{{PI_T3_2_FA}} / {{PI_T3_2_LA}}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2" name="Google Shape;1312;p65"/>
          <p:cNvSpPr/>
          <p:nvPr/>
        </p:nvSpPr>
        <p:spPr>
          <a:xfrm>
            <a:off x="7297374" y="4343551"/>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{{PI_T3_3_FA}} / {{PI_T3_3_LA}}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3" name="Google Shape;1313;p65"/>
          <p:cNvSpPr/>
          <p:nvPr/>
        </p:nvSpPr>
        <p:spPr>
          <a:xfrm>
            <a:off x="7306035" y="4587152"/>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{{PI_T3_4_FA}} / {{PI_T3_4_LA}}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4" name="Google Shape;1314;p65"/>
          <p:cNvSpPr/>
          <p:nvPr/>
        </p:nvSpPr>
        <p:spPr>
          <a:xfrm>
            <a:off x="7301704" y="4830753"/>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{{PI_T3_5_FA}} / {{PI_T3_5_LA}}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15" name="Google Shape;1315;p65"/>
          <p:cNvSpPr/>
          <p:nvPr/>
        </p:nvSpPr>
        <p:spPr>
          <a:xfrm>
            <a:off x="369464" y="28911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316" name="Google Shape;1316;p65"/>
          <p:cNvCxnSpPr/>
          <p:nvPr/>
        </p:nvCxnSpPr>
        <p:spPr>
          <a:xfrm>
            <a:off x="359833" y="3140736"/>
            <a:ext cx="3977700" cy="0"/>
          </a:xfrm>
          <a:prstGeom prst="straightConnector1">
            <a:avLst/>
          </a:prstGeom>
          <a:noFill/>
          <a:ln w="9525" cap="flat" cmpd="sng">
            <a:solidFill>
              <a:srgbClr val="E5E7EB"/>
            </a:solidFill>
            <a:prstDash val="solid"/>
            <a:round/>
            <a:headEnd type="none" w="sm" len="sm"/>
            <a:tailEnd type="none" w="sm" len="sm"/>
          </a:ln>
        </p:spPr>
      </p:cxnSp>
      <p:sp>
        <p:nvSpPr>
          <p:cNvPr id="1317" name="Google Shape;1317;p65"/>
          <p:cNvSpPr/>
          <p:nvPr/>
        </p:nvSpPr>
        <p:spPr>
          <a:xfrm>
            <a:off x="369460" y="28911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{{PI_T1_6}}</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18" name="Google Shape;1318;p65"/>
          <p:cNvCxnSpPr/>
          <p:nvPr/>
        </p:nvCxnSpPr>
        <p:spPr>
          <a:xfrm>
            <a:off x="347415" y="3134921"/>
            <a:ext cx="3977700" cy="0"/>
          </a:xfrm>
          <a:prstGeom prst="straightConnector1">
            <a:avLst/>
          </a:prstGeom>
          <a:noFill/>
          <a:ln w="9525" cap="flat" cmpd="sng">
            <a:solidFill>
              <a:srgbClr val="888888"/>
            </a:solidFill>
            <a:prstDash val="solid"/>
            <a:round/>
            <a:headEnd type="none" w="sm" len="sm"/>
            <a:tailEnd type="none" w="sm" len="sm"/>
          </a:ln>
        </p:spPr>
      </p:cxnSp>
      <p:sp>
        <p:nvSpPr>
          <p:cNvPr id="1319" name="Google Shape;1319;p65"/>
          <p:cNvSpPr/>
          <p:nvPr/>
        </p:nvSpPr>
        <p:spPr>
          <a:xfrm>
            <a:off x="2312547" y="28813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{{PI_T1_6_SA}}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0" name="Google Shape;1320;p65"/>
          <p:cNvSpPr/>
          <p:nvPr/>
        </p:nvSpPr>
        <p:spPr>
          <a:xfrm>
            <a:off x="2937042" y="28788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{{PI_T1_6_FA}} / {{PI_T1_6_LA}}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1" name="Google Shape;1321;p65"/>
          <p:cNvSpPr/>
          <p:nvPr/>
        </p:nvSpPr>
        <p:spPr>
          <a:xfrm>
            <a:off x="380824" y="31565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322" name="Google Shape;1322;p65"/>
          <p:cNvCxnSpPr/>
          <p:nvPr/>
        </p:nvCxnSpPr>
        <p:spPr>
          <a:xfrm>
            <a:off x="371193" y="3406136"/>
            <a:ext cx="3977700" cy="0"/>
          </a:xfrm>
          <a:prstGeom prst="straightConnector1">
            <a:avLst/>
          </a:prstGeom>
          <a:noFill/>
          <a:ln w="9525" cap="flat" cmpd="sng">
            <a:solidFill>
              <a:srgbClr val="E5E7EB"/>
            </a:solidFill>
            <a:prstDash val="solid"/>
            <a:round/>
            <a:headEnd type="none" w="sm" len="sm"/>
            <a:tailEnd type="none" w="sm" len="sm"/>
          </a:ln>
        </p:spPr>
      </p:cxnSp>
      <p:sp>
        <p:nvSpPr>
          <p:cNvPr id="1323" name="Google Shape;1323;p65"/>
          <p:cNvSpPr/>
          <p:nvPr/>
        </p:nvSpPr>
        <p:spPr>
          <a:xfrm>
            <a:off x="380820" y="31565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{{PI_T1_7}}</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24" name="Google Shape;1324;p65"/>
          <p:cNvCxnSpPr/>
          <p:nvPr/>
        </p:nvCxnSpPr>
        <p:spPr>
          <a:xfrm>
            <a:off x="358775" y="3400321"/>
            <a:ext cx="3977700" cy="0"/>
          </a:xfrm>
          <a:prstGeom prst="straightConnector1">
            <a:avLst/>
          </a:prstGeom>
          <a:noFill/>
          <a:ln w="9525" cap="flat" cmpd="sng">
            <a:solidFill>
              <a:srgbClr val="888888"/>
            </a:solidFill>
            <a:prstDash val="solid"/>
            <a:round/>
            <a:headEnd type="none" w="sm" len="sm"/>
            <a:tailEnd type="none" w="sm" len="sm"/>
          </a:ln>
        </p:spPr>
      </p:cxnSp>
      <p:sp>
        <p:nvSpPr>
          <p:cNvPr id="1325" name="Google Shape;1325;p65"/>
          <p:cNvSpPr/>
          <p:nvPr/>
        </p:nvSpPr>
        <p:spPr>
          <a:xfrm>
            <a:off x="2323907" y="31467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{{PI_T1_7_SA}}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6" name="Google Shape;1326;p65"/>
          <p:cNvSpPr/>
          <p:nvPr/>
        </p:nvSpPr>
        <p:spPr>
          <a:xfrm>
            <a:off x="2948402" y="31442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{{PI_T1_7_FA}} / {{PI_T1_7_LA}}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27" name="Google Shape;1327;p65"/>
          <p:cNvSpPr/>
          <p:nvPr/>
        </p:nvSpPr>
        <p:spPr>
          <a:xfrm>
            <a:off x="377476" y="34219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Arial"/>
            </a:endParaRPr>
          </a:p>
        </p:txBody>
      </p:sp>
      <p:cxnSp>
        <p:nvCxnSpPr>
          <p:cNvPr id="1328" name="Google Shape;1328;p65"/>
          <p:cNvCxnSpPr/>
          <p:nvPr/>
        </p:nvCxnSpPr>
        <p:spPr>
          <a:xfrm>
            <a:off x="367845" y="3671536"/>
            <a:ext cx="3977700" cy="0"/>
          </a:xfrm>
          <a:prstGeom prst="straightConnector1">
            <a:avLst/>
          </a:prstGeom>
          <a:noFill/>
          <a:ln w="9525" cap="flat" cmpd="sng">
            <a:solidFill>
              <a:srgbClr val="E5E7EB"/>
            </a:solidFill>
            <a:prstDash val="solid"/>
            <a:round/>
            <a:headEnd type="none" w="sm" len="sm"/>
            <a:tailEnd type="none" w="sm" len="sm"/>
          </a:ln>
        </p:spPr>
      </p:cxnSp>
      <p:sp>
        <p:nvSpPr>
          <p:cNvPr id="1329" name="Google Shape;1329;p65"/>
          <p:cNvSpPr/>
          <p:nvPr/>
        </p:nvSpPr>
        <p:spPr>
          <a:xfrm>
            <a:off x="377472" y="34219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{{PI_T1_8}}</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330" name="Google Shape;1330;p65"/>
          <p:cNvCxnSpPr/>
          <p:nvPr/>
        </p:nvCxnSpPr>
        <p:spPr>
          <a:xfrm>
            <a:off x="355427" y="3665721"/>
            <a:ext cx="3977700" cy="0"/>
          </a:xfrm>
          <a:prstGeom prst="straightConnector1">
            <a:avLst/>
          </a:prstGeom>
          <a:noFill/>
          <a:ln w="9525" cap="flat" cmpd="sng">
            <a:solidFill>
              <a:srgbClr val="888888"/>
            </a:solidFill>
            <a:prstDash val="solid"/>
            <a:round/>
            <a:headEnd type="none" w="sm" len="sm"/>
            <a:tailEnd type="none" w="sm" len="sm"/>
          </a:ln>
        </p:spPr>
      </p:cxnSp>
      <p:sp>
        <p:nvSpPr>
          <p:cNvPr id="1331" name="Google Shape;1331;p65"/>
          <p:cNvSpPr/>
          <p:nvPr/>
        </p:nvSpPr>
        <p:spPr>
          <a:xfrm>
            <a:off x="2320559" y="34121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{{PI_T1_8_SA}}</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332" name="Google Shape;1332;p65"/>
          <p:cNvSpPr/>
          <p:nvPr/>
        </p:nvSpPr>
        <p:spPr>
          <a:xfrm>
            <a:off x="2945054" y="34096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DM Sans"/>
              </a:rPr>
              <a:t>{{PI_T1_8_FA}} / {{PI_T1_8_LA}}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1337"/>
        <p:cNvGrpSpPr/>
        <p:nvPr/>
      </p:nvGrpSpPr>
      <p:grpSpPr>
        <a:xfrm>
          <a:off x="0" y="0"/>
          <a:ext cx="0" cy="0"/>
          <a:chOff x="0" y="0"/>
          <a:chExt cx="0" cy="0"/>
        </a:xfrm>
      </p:grpSpPr>
      <p:pic>
        <p:nvPicPr>
          <p:cNvPr id="1338" name="Google Shape;1338;p66" title="Rectangle 7854.png"/>
          <p:cNvPicPr preferRelativeResize="0"/>
          <p:nvPr/>
        </p:nvPicPr>
        <p:blipFill rotWithShape="1">
          <a:blip r:embed="rId3">
            <a:alphaModFix/>
          </a:blip>
          <a:srcRect/>
          <a:stretch/>
        </p:blipFill>
        <p:spPr>
          <a:xfrm>
            <a:off x="3237298" y="1837850"/>
            <a:ext cx="2669404" cy="3050125"/>
          </a:xfrm>
          <a:prstGeom prst="rect">
            <a:avLst/>
          </a:prstGeom>
          <a:noFill/>
          <a:ln>
            <a:noFill/>
          </a:ln>
        </p:spPr>
      </p:pic>
      <p:pic>
        <p:nvPicPr>
          <p:cNvPr id="1339" name="Google Shape;1339;p66" title="Rectangle 7854.png"/>
          <p:cNvPicPr preferRelativeResize="0"/>
          <p:nvPr/>
        </p:nvPicPr>
        <p:blipFill rotWithShape="1">
          <a:blip r:embed="rId3">
            <a:alphaModFix/>
          </a:blip>
          <a:srcRect/>
          <a:stretch/>
        </p:blipFill>
        <p:spPr>
          <a:xfrm>
            <a:off x="357125" y="1837850"/>
            <a:ext cx="2669404" cy="3050125"/>
          </a:xfrm>
          <a:prstGeom prst="rect">
            <a:avLst/>
          </a:prstGeom>
          <a:noFill/>
          <a:ln>
            <a:noFill/>
          </a:ln>
        </p:spPr>
      </p:pic>
      <p:cxnSp>
        <p:nvCxnSpPr>
          <p:cNvPr id="1340" name="Google Shape;1340;p66"/>
          <p:cNvCxnSpPr/>
          <p:nvPr/>
        </p:nvCxnSpPr>
        <p:spPr>
          <a:xfrm>
            <a:off x="63057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41" name="Google Shape;1341;p66"/>
          <p:cNvSpPr txBox="1"/>
          <p:nvPr/>
        </p:nvSpPr>
        <p:spPr>
          <a:xfrm>
            <a:off x="357125" y="3164537"/>
            <a:ext cx="2641800" cy="1539900"/>
          </a:xfrm>
          <a:prstGeom prst="rect">
            <a:avLst/>
          </a:prstGeom>
          <a:noFill/>
          <a:ln>
            <a:noFill/>
          </a:ln>
        </p:spPr>
        <p:txBody>
          <a:bodyPr spcFirstLastPara="1" wrap="square" lIns="68575" tIns="34275" rIns="68575" bIns="34275" anchor="t" anchorCtr="0">
            <a:no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An unscanned resource</a:t>
            </a:r>
            <a:r>
              <a:rPr lang="en" sz="900" b="0" i="0" u="none" strike="noStrike" cap="none">
                <a:solidFill>
                  <a:srgbClr val="01123F"/>
                </a:solidFill>
                <a:latin typeface="Poppins Light"/>
                <a:ea typeface="Poppins Light"/>
                <a:cs typeface="Poppins Light"/>
                <a:sym typeface="Poppins Light"/>
              </a:rPr>
              <a:t> is one in which </a:t>
            </a:r>
            <a:r>
              <a:rPr lang="en" sz="900" b="0" i="0" u="none" strike="noStrike" cap="none">
                <a:solidFill>
                  <a:schemeClr val="dk1"/>
                </a:solidFill>
                <a:highlight>
                  <a:srgbClr val="FFFFFF"/>
                </a:highlight>
                <a:latin typeface="Poppins Light"/>
                <a:ea typeface="Poppins Light"/>
                <a:cs typeface="Poppins Light"/>
                <a:sym typeface="Poppins Light"/>
              </a:rPr>
              <a:t>Wiz can identify but cannot directly scan, such as unconnected repositories, cloud accounts, and organizations.</a:t>
            </a:r>
            <a:r>
              <a:rPr lang="en" sz="900" b="0" i="0" u="none" strike="noStrike" cap="none">
                <a:solidFill>
                  <a:schemeClr val="dk1"/>
                </a:solidFill>
                <a:latin typeface="Poppins Light"/>
                <a:ea typeface="Poppins Light"/>
                <a:cs typeface="Poppins Light"/>
                <a:sym typeface="Poppins Light"/>
              </a:rPr>
              <a:t> </a:t>
            </a:r>
            <a:endParaRPr sz="900" b="0" i="0" u="none" strike="noStrike" cap="none">
              <a:solidFill>
                <a:schemeClr val="dk1"/>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Classify </a:t>
            </a:r>
            <a:r>
              <a:rPr lang="en" sz="900" b="0" i="0" u="none" strike="noStrike" cap="none">
                <a:solidFill>
                  <a:schemeClr val="dk1"/>
                </a:solidFill>
                <a:highlight>
                  <a:srgbClr val="FFFFFF"/>
                </a:highlight>
                <a:latin typeface="Poppins Light"/>
                <a:ea typeface="Poppins Light"/>
                <a:cs typeface="Poppins Light"/>
                <a:sym typeface="Poppins Light"/>
              </a:rPr>
              <a:t>these resources, determine if they belong to your organization or a third party, and identify gaps in your security coverage.</a:t>
            </a:r>
            <a:r>
              <a:rPr lang="en" sz="900" b="0" i="0" u="none" strike="noStrike" cap="none">
                <a:solidFill>
                  <a:schemeClr val="dk1"/>
                </a:solidFill>
                <a:latin typeface="Poppins Light"/>
                <a:ea typeface="Poppins Light"/>
                <a:cs typeface="Poppins Light"/>
                <a:sym typeface="Poppins Light"/>
              </a:rPr>
              <a:t> </a:t>
            </a:r>
            <a:endParaRPr sz="900" b="0" i="0" u="none" strike="noStrike" cap="none">
              <a:solidFill>
                <a:schemeClr val="dk1"/>
              </a:solidFill>
              <a:latin typeface="Poppins Light"/>
              <a:ea typeface="Poppins Light"/>
              <a:cs typeface="Poppins Light"/>
              <a:sym typeface="Poppins Light"/>
            </a:endParaRPr>
          </a:p>
        </p:txBody>
      </p:sp>
      <p:cxnSp>
        <p:nvCxnSpPr>
          <p:cNvPr id="1342" name="Google Shape;1342;p66"/>
          <p:cNvCxnSpPr/>
          <p:nvPr/>
        </p:nvCxnSpPr>
        <p:spPr>
          <a:xfrm>
            <a:off x="3510750" y="3063399"/>
            <a:ext cx="2122500" cy="0"/>
          </a:xfrm>
          <a:prstGeom prst="straightConnector1">
            <a:avLst/>
          </a:prstGeom>
          <a:noFill/>
          <a:ln w="9525" cap="flat" cmpd="sng">
            <a:solidFill>
              <a:srgbClr val="0254EC"/>
            </a:solidFill>
            <a:prstDash val="solid"/>
            <a:round/>
            <a:headEnd type="none" w="sm" len="sm"/>
            <a:tailEnd type="none" w="sm" len="sm"/>
          </a:ln>
        </p:spPr>
      </p:cxnSp>
      <p:pic>
        <p:nvPicPr>
          <p:cNvPr id="1343" name="Google Shape;1343;p66" title="Rectangle 7854.png"/>
          <p:cNvPicPr preferRelativeResize="0"/>
          <p:nvPr/>
        </p:nvPicPr>
        <p:blipFill rotWithShape="1">
          <a:blip r:embed="rId3">
            <a:alphaModFix/>
          </a:blip>
          <a:srcRect/>
          <a:stretch/>
        </p:blipFill>
        <p:spPr>
          <a:xfrm>
            <a:off x="6117471" y="1837850"/>
            <a:ext cx="2669404" cy="3050125"/>
          </a:xfrm>
          <a:prstGeom prst="rect">
            <a:avLst/>
          </a:prstGeom>
          <a:noFill/>
          <a:ln>
            <a:noFill/>
          </a:ln>
        </p:spPr>
      </p:pic>
      <p:cxnSp>
        <p:nvCxnSpPr>
          <p:cNvPr id="1344" name="Google Shape;1344;p66"/>
          <p:cNvCxnSpPr/>
          <p:nvPr/>
        </p:nvCxnSpPr>
        <p:spPr>
          <a:xfrm>
            <a:off x="639092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45" name="Google Shape;1345;p66"/>
          <p:cNvSpPr txBox="1"/>
          <p:nvPr/>
        </p:nvSpPr>
        <p:spPr>
          <a:xfrm>
            <a:off x="3269550" y="3164537"/>
            <a:ext cx="2599800" cy="16185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Enable DSPM more widely</a:t>
            </a:r>
            <a:r>
              <a:rPr lang="en" sz="900" b="0" i="0" u="none" strike="noStrike" cap="none">
                <a:solidFill>
                  <a:srgbClr val="01123F"/>
                </a:solidFill>
                <a:latin typeface="Poppins Light"/>
                <a:ea typeface="Poppins Light"/>
                <a:cs typeface="Poppins Light"/>
                <a:sym typeface="Poppins Light"/>
              </a:rPr>
              <a:t> to extend visibility to your sensitive data and complement your existing tools. Discover PII, PHI and PCI across private buckets, PaaS, IaaS and AI buckets.</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Enable Near Real-Time Scanning</a:t>
            </a:r>
            <a:r>
              <a:rPr lang="en" sz="900" b="0" i="0" u="none" strike="noStrike" cap="none">
                <a:solidFill>
                  <a:srgbClr val="01123F"/>
                </a:solidFill>
                <a:latin typeface="Poppins Light"/>
                <a:ea typeface="Poppins Light"/>
                <a:cs typeface="Poppins Light"/>
                <a:sym typeface="Poppins Light"/>
              </a:rPr>
              <a:t> to cut misconfiguration detection from 24-hour to an hour or less.</a:t>
            </a:r>
            <a:endParaRPr sz="900" b="0" i="0" u="none" strike="noStrike" cap="none">
              <a:solidFill>
                <a:srgbClr val="01123F"/>
              </a:solidFill>
              <a:latin typeface="Poppins Light"/>
              <a:ea typeface="Poppins Light"/>
              <a:cs typeface="Poppins Light"/>
              <a:sym typeface="Poppins Light"/>
            </a:endParaRPr>
          </a:p>
        </p:txBody>
      </p:sp>
      <p:sp>
        <p:nvSpPr>
          <p:cNvPr id="1346" name="Google Shape;1346;p66"/>
          <p:cNvSpPr txBox="1"/>
          <p:nvPr/>
        </p:nvSpPr>
        <p:spPr>
          <a:xfrm>
            <a:off x="6131275" y="3177641"/>
            <a:ext cx="2641800" cy="1684200"/>
          </a:xfrm>
          <a:prstGeom prst="rect">
            <a:avLst/>
          </a:prstGeom>
          <a:noFill/>
          <a:ln>
            <a:noFill/>
          </a:ln>
        </p:spPr>
        <p:txBody>
          <a:bodyPr spcFirstLastPara="1" wrap="square" lIns="68575" tIns="34275" rIns="68575" bIns="34275" anchor="t" anchorCtr="0">
            <a:normAutofit/>
          </a:bodyPr>
          <a:lstStyle/>
          <a:p>
            <a:pPr marL="274320" marR="0" lvl="0" indent="-8382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Enable</a:t>
            </a:r>
            <a:r>
              <a:rPr lang="en" sz="900" b="0" i="0" u="none" strike="noStrike" cap="none">
                <a:solidFill>
                  <a:srgbClr val="01123F"/>
                </a:solidFill>
                <a:latin typeface="Poppins Light"/>
                <a:ea typeface="Poppins Light"/>
                <a:cs typeface="Poppins Light"/>
                <a:sym typeface="Poppins Light"/>
              </a:rPr>
              <a:t> </a:t>
            </a:r>
            <a:r>
              <a:rPr lang="en" sz="900" b="1" i="0" u="none" strike="noStrike" cap="none">
                <a:solidFill>
                  <a:srgbClr val="01123F"/>
                </a:solidFill>
                <a:latin typeface="Poppins"/>
                <a:ea typeface="Poppins"/>
                <a:cs typeface="Poppins"/>
                <a:sym typeface="Poppins"/>
              </a:rPr>
              <a:t>Akamai Connector </a:t>
            </a:r>
            <a:r>
              <a:rPr lang="en" sz="900" b="0" i="0" u="none" strike="noStrike" cap="none">
                <a:solidFill>
                  <a:srgbClr val="01123F"/>
                </a:solidFill>
                <a:latin typeface="Poppins Light"/>
                <a:ea typeface="Poppins Light"/>
                <a:cs typeface="Poppins Light"/>
                <a:sym typeface="Poppins Light"/>
              </a:rPr>
              <a:t>provide better visibility in terms of exposure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a:solidFill>
                  <a:srgbClr val="01123F"/>
                </a:solidFill>
                <a:latin typeface="Poppins"/>
                <a:ea typeface="Poppins"/>
                <a:cs typeface="Poppins"/>
                <a:sym typeface="Poppins"/>
              </a:rPr>
              <a:t>Fold in third-party telemetry</a:t>
            </a:r>
            <a:r>
              <a:rPr lang="en" sz="900" b="0" i="0" u="none" strike="noStrike" cap="none">
                <a:solidFill>
                  <a:srgbClr val="01123F"/>
                </a:solidFill>
                <a:latin typeface="Poppins Light"/>
                <a:ea typeface="Poppins Light"/>
                <a:cs typeface="Poppins Light"/>
                <a:sym typeface="Poppins Light"/>
              </a:rPr>
              <a:t>. Integrating with additional tools to provide stronger attribution. I.e. Pull findings from tools like ServiceNow, Armorcode, Crowdstrike, etc.) across cloud and on-prem.</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Normalize, deduplicate and enrich existing Wiz data, in one view.</a:t>
            </a:r>
            <a:endParaRPr sz="900" b="0" i="0" u="none" strike="noStrike" cap="none">
              <a:solidFill>
                <a:srgbClr val="01123F"/>
              </a:solidFill>
              <a:latin typeface="Poppins Light"/>
              <a:ea typeface="Poppins Light"/>
              <a:cs typeface="Poppins Light"/>
              <a:sym typeface="Poppins Light"/>
            </a:endParaRPr>
          </a:p>
        </p:txBody>
      </p:sp>
      <p:sp>
        <p:nvSpPr>
          <p:cNvPr id="1347" name="Google Shape;1347;p66"/>
          <p:cNvSpPr txBox="1"/>
          <p:nvPr/>
        </p:nvSpPr>
        <p:spPr>
          <a:xfrm>
            <a:off x="6243025" y="262467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Expand Coverage 3rd Party Resources &amp; Telemetry</a:t>
            </a:r>
            <a:endParaRPr sz="1000" b="0" i="0" u="none" strike="noStrike" cap="none">
              <a:solidFill>
                <a:schemeClr val="dk1"/>
              </a:solidFill>
              <a:latin typeface="Poppins SemiBold"/>
              <a:ea typeface="Poppins SemiBold"/>
              <a:cs typeface="Poppins SemiBold"/>
              <a:sym typeface="Poppins SemiBold"/>
            </a:endParaRPr>
          </a:p>
        </p:txBody>
      </p:sp>
      <p:sp>
        <p:nvSpPr>
          <p:cNvPr id="1348" name="Google Shape;1348;p66"/>
          <p:cNvSpPr txBox="1">
            <a:spLocks noGrp="1"/>
          </p:cNvSpPr>
          <p:nvPr>
            <p:ph type="title" idx="4294967295"/>
          </p:nvPr>
        </p:nvSpPr>
        <p:spPr>
          <a:xfrm>
            <a:off x="0" y="535725"/>
            <a:ext cx="91440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Improve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Cloud Visibility &amp; Coverage</a:t>
            </a:r>
            <a:endParaRPr sz="2420">
              <a:latin typeface="Poppins Light"/>
              <a:ea typeface="Poppins Light"/>
              <a:cs typeface="Poppins Light"/>
              <a:sym typeface="Poppins Light"/>
            </a:endParaRPr>
          </a:p>
        </p:txBody>
      </p:sp>
      <p:pic>
        <p:nvPicPr>
          <p:cNvPr id="1349" name="Google Shape;1349;p66"/>
          <p:cNvPicPr preferRelativeResize="0"/>
          <p:nvPr/>
        </p:nvPicPr>
        <p:blipFill rotWithShape="1">
          <a:blip r:embed="rId4">
            <a:alphaModFix/>
          </a:blip>
          <a:srcRect/>
          <a:stretch/>
        </p:blipFill>
        <p:spPr>
          <a:xfrm>
            <a:off x="1326966" y="1926775"/>
            <a:ext cx="729718" cy="693550"/>
          </a:xfrm>
          <a:prstGeom prst="rect">
            <a:avLst/>
          </a:prstGeom>
          <a:noFill/>
          <a:ln>
            <a:noFill/>
          </a:ln>
        </p:spPr>
      </p:pic>
      <p:pic>
        <p:nvPicPr>
          <p:cNvPr id="1350" name="Google Shape;1350;p66"/>
          <p:cNvPicPr preferRelativeResize="0"/>
          <p:nvPr/>
        </p:nvPicPr>
        <p:blipFill rotWithShape="1">
          <a:blip r:embed="rId5">
            <a:alphaModFix/>
          </a:blip>
          <a:srcRect/>
          <a:stretch/>
        </p:blipFill>
        <p:spPr>
          <a:xfrm>
            <a:off x="4225225" y="1913375"/>
            <a:ext cx="693550" cy="693550"/>
          </a:xfrm>
          <a:prstGeom prst="rect">
            <a:avLst/>
          </a:prstGeom>
          <a:noFill/>
          <a:ln>
            <a:noFill/>
          </a:ln>
        </p:spPr>
      </p:pic>
      <p:pic>
        <p:nvPicPr>
          <p:cNvPr id="1351" name="Google Shape;1351;p66" title="Group 1000002779.png"/>
          <p:cNvPicPr preferRelativeResize="0"/>
          <p:nvPr/>
        </p:nvPicPr>
        <p:blipFill rotWithShape="1">
          <a:blip r:embed="rId6">
            <a:alphaModFix/>
          </a:blip>
          <a:srcRect/>
          <a:stretch/>
        </p:blipFill>
        <p:spPr>
          <a:xfrm>
            <a:off x="7043298" y="1991749"/>
            <a:ext cx="817750" cy="563600"/>
          </a:xfrm>
          <a:prstGeom prst="rect">
            <a:avLst/>
          </a:prstGeom>
          <a:noFill/>
          <a:ln>
            <a:noFill/>
          </a:ln>
        </p:spPr>
      </p:pic>
      <p:sp>
        <p:nvSpPr>
          <p:cNvPr id="1352" name="Google Shape;1352;p66"/>
          <p:cNvSpPr txBox="1"/>
          <p:nvPr/>
        </p:nvSpPr>
        <p:spPr>
          <a:xfrm>
            <a:off x="482675" y="2640997"/>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Review Unscanned </a:t>
            </a:r>
            <a:br>
              <a:rPr lang="en" sz="1000" b="0" i="0" u="none" strike="noStrike" cap="none">
                <a:solidFill>
                  <a:schemeClr val="dk1"/>
                </a:solidFill>
                <a:latin typeface="Poppins SemiBold"/>
                <a:ea typeface="Poppins SemiBold"/>
                <a:cs typeface="Poppins SemiBold"/>
                <a:sym typeface="Poppins SemiBold"/>
              </a:rPr>
            </a:br>
            <a:r>
              <a:rPr lang="en" sz="1000" b="0" i="0" u="none" strike="noStrike" cap="none">
                <a:solidFill>
                  <a:schemeClr val="dk1"/>
                </a:solidFill>
                <a:latin typeface="Poppins SemiBold"/>
                <a:ea typeface="Poppins SemiBold"/>
                <a:cs typeface="Poppins SemiBold"/>
                <a:sym typeface="Poppins SemiBold"/>
              </a:rPr>
              <a:t>Resources for Coverage Gaps</a:t>
            </a:r>
            <a:endParaRPr sz="1000" b="0" i="0" u="none" strike="noStrike" cap="none">
              <a:solidFill>
                <a:schemeClr val="dk1"/>
              </a:solidFill>
              <a:latin typeface="Poppins SemiBold"/>
              <a:ea typeface="Poppins SemiBold"/>
              <a:cs typeface="Poppins SemiBold"/>
              <a:sym typeface="Poppins SemiBold"/>
            </a:endParaRPr>
          </a:p>
        </p:txBody>
      </p:sp>
      <p:sp>
        <p:nvSpPr>
          <p:cNvPr id="1353" name="Google Shape;1353;p66"/>
          <p:cNvSpPr txBox="1"/>
          <p:nvPr/>
        </p:nvSpPr>
        <p:spPr>
          <a:xfrm>
            <a:off x="3362850" y="2627164"/>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Adopt Additional Features &amp; Functionality in Wiz</a:t>
            </a:r>
            <a:endParaRPr sz="1000" b="0" i="0" u="none" strike="noStrike" cap="none">
              <a:solidFill>
                <a:schemeClr val="dk1"/>
              </a:solidFill>
              <a:latin typeface="Poppins SemiBold"/>
              <a:ea typeface="Poppins SemiBold"/>
              <a:cs typeface="Poppins SemiBold"/>
              <a:sym typeface="Poppins SemiBo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Shape 1358"/>
        <p:cNvGrpSpPr/>
        <p:nvPr/>
      </p:nvGrpSpPr>
      <p:grpSpPr>
        <a:xfrm>
          <a:off x="0" y="0"/>
          <a:ext cx="0" cy="0"/>
          <a:chOff x="0" y="0"/>
          <a:chExt cx="0" cy="0"/>
        </a:xfrm>
      </p:grpSpPr>
      <p:pic>
        <p:nvPicPr>
          <p:cNvPr id="1359" name="Google Shape;1359;p67" title="Rectangle 7854.png"/>
          <p:cNvPicPr preferRelativeResize="0"/>
          <p:nvPr/>
        </p:nvPicPr>
        <p:blipFill rotWithShape="1">
          <a:blip r:embed="rId3">
            <a:alphaModFix/>
          </a:blip>
          <a:srcRect/>
          <a:stretch/>
        </p:blipFill>
        <p:spPr>
          <a:xfrm>
            <a:off x="3237297" y="1445495"/>
            <a:ext cx="2669405" cy="2471275"/>
          </a:xfrm>
          <a:prstGeom prst="rect">
            <a:avLst/>
          </a:prstGeom>
          <a:noFill/>
          <a:ln>
            <a:noFill/>
          </a:ln>
        </p:spPr>
      </p:pic>
      <p:pic>
        <p:nvPicPr>
          <p:cNvPr id="1360" name="Google Shape;1360;p67" title="Rectangle 7854.png"/>
          <p:cNvPicPr preferRelativeResize="0"/>
          <p:nvPr/>
        </p:nvPicPr>
        <p:blipFill rotWithShape="1">
          <a:blip r:embed="rId3">
            <a:alphaModFix/>
          </a:blip>
          <a:srcRect/>
          <a:stretch/>
        </p:blipFill>
        <p:spPr>
          <a:xfrm>
            <a:off x="357122" y="1445495"/>
            <a:ext cx="2669405" cy="2471275"/>
          </a:xfrm>
          <a:prstGeom prst="rect">
            <a:avLst/>
          </a:prstGeom>
          <a:noFill/>
          <a:ln>
            <a:noFill/>
          </a:ln>
        </p:spPr>
      </p:pic>
      <p:cxnSp>
        <p:nvCxnSpPr>
          <p:cNvPr id="1361" name="Google Shape;1361;p67"/>
          <p:cNvCxnSpPr/>
          <p:nvPr/>
        </p:nvCxnSpPr>
        <p:spPr>
          <a:xfrm>
            <a:off x="630575"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2" name="Google Shape;1362;p67"/>
          <p:cNvSpPr txBox="1"/>
          <p:nvPr/>
        </p:nvSpPr>
        <p:spPr>
          <a:xfrm>
            <a:off x="522275" y="2210368"/>
            <a:ext cx="23391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Assigning Ownership</a:t>
            </a:r>
            <a:endParaRPr sz="1000" b="0" i="0" u="none" strike="noStrike" cap="none">
              <a:solidFill>
                <a:schemeClr val="dk1"/>
              </a:solidFill>
              <a:latin typeface="Poppins SemiBold"/>
              <a:ea typeface="Poppins SemiBold"/>
              <a:cs typeface="Poppins SemiBold"/>
              <a:sym typeface="Poppins SemiBold"/>
            </a:endParaRPr>
          </a:p>
        </p:txBody>
      </p:sp>
      <p:sp>
        <p:nvSpPr>
          <p:cNvPr id="1363" name="Google Shape;1363;p67"/>
          <p:cNvSpPr txBox="1"/>
          <p:nvPr/>
        </p:nvSpPr>
        <p:spPr>
          <a:xfrm>
            <a:off x="391576" y="2613904"/>
            <a:ext cx="2575800" cy="1222500"/>
          </a:xfrm>
          <a:prstGeom prst="rect">
            <a:avLst/>
          </a:prstGeom>
          <a:noFill/>
          <a:ln>
            <a:noFill/>
          </a:ln>
        </p:spPr>
        <p:txBody>
          <a:bodyPr spcFirstLastPara="1" wrap="square" lIns="68575" tIns="34275" rIns="68575" bIns="34275" anchor="t" anchorCtr="0">
            <a:normAutofit lnSpcReduction="10000"/>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Service Catalog democratizes ownership to developers. Auto-group resources by applications</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Resource Tag Rules convert Security Graph queries into auto-assigned tags, that can then be used as conditions to route tickets to the right owners</a:t>
            </a:r>
            <a:endParaRPr sz="900" b="0" i="0" u="none" strike="noStrike" cap="none">
              <a:solidFill>
                <a:srgbClr val="01123F"/>
              </a:solidFill>
              <a:latin typeface="Poppins Light"/>
              <a:ea typeface="Poppins Light"/>
              <a:cs typeface="Poppins Light"/>
              <a:sym typeface="Poppins Light"/>
            </a:endParaRPr>
          </a:p>
        </p:txBody>
      </p:sp>
      <p:cxnSp>
        <p:nvCxnSpPr>
          <p:cNvPr id="1364" name="Google Shape;1364;p67"/>
          <p:cNvCxnSpPr/>
          <p:nvPr/>
        </p:nvCxnSpPr>
        <p:spPr>
          <a:xfrm>
            <a:off x="3510750"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5" name="Google Shape;1365;p67"/>
          <p:cNvSpPr txBox="1"/>
          <p:nvPr/>
        </p:nvSpPr>
        <p:spPr>
          <a:xfrm>
            <a:off x="3362850" y="2210368"/>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1"/>
              </a:buClr>
              <a:buSzPts val="1100"/>
              <a:buFont typeface="Arial"/>
              <a:buNone/>
            </a:pPr>
            <a:r>
              <a:rPr lang="en" sz="1000" b="0" i="0" u="none" strike="noStrike" cap="none">
                <a:solidFill>
                  <a:schemeClr val="dk1"/>
                </a:solidFill>
                <a:latin typeface="Poppins SemiBold"/>
                <a:ea typeface="Poppins SemiBold"/>
                <a:cs typeface="Poppins SemiBold"/>
                <a:sym typeface="Poppins SemiBold"/>
              </a:rPr>
              <a:t>Leverage Integrations</a:t>
            </a:r>
            <a:endParaRPr sz="1000" b="0" i="0" u="none" strike="noStrike" cap="none">
              <a:solidFill>
                <a:schemeClr val="dk1"/>
              </a:solidFill>
              <a:latin typeface="Poppins SemiBold"/>
              <a:ea typeface="Poppins SemiBold"/>
              <a:cs typeface="Poppins SemiBold"/>
              <a:sym typeface="Poppins SemiBold"/>
            </a:endParaRPr>
          </a:p>
        </p:txBody>
      </p:sp>
      <p:pic>
        <p:nvPicPr>
          <p:cNvPr id="1366" name="Google Shape;1366;p67" title="Rectangle 7854.png"/>
          <p:cNvPicPr preferRelativeResize="0"/>
          <p:nvPr/>
        </p:nvPicPr>
        <p:blipFill rotWithShape="1">
          <a:blip r:embed="rId3">
            <a:alphaModFix/>
          </a:blip>
          <a:srcRect/>
          <a:stretch/>
        </p:blipFill>
        <p:spPr>
          <a:xfrm>
            <a:off x="6117472" y="1445495"/>
            <a:ext cx="2669405" cy="2471275"/>
          </a:xfrm>
          <a:prstGeom prst="rect">
            <a:avLst/>
          </a:prstGeom>
          <a:noFill/>
          <a:ln>
            <a:noFill/>
          </a:ln>
        </p:spPr>
      </p:pic>
      <p:cxnSp>
        <p:nvCxnSpPr>
          <p:cNvPr id="1367" name="Google Shape;1367;p67"/>
          <p:cNvCxnSpPr/>
          <p:nvPr/>
        </p:nvCxnSpPr>
        <p:spPr>
          <a:xfrm>
            <a:off x="6390925"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8" name="Google Shape;1368;p67"/>
          <p:cNvSpPr txBox="1"/>
          <p:nvPr/>
        </p:nvSpPr>
        <p:spPr>
          <a:xfrm>
            <a:off x="3251700" y="2613901"/>
            <a:ext cx="2655000" cy="972300"/>
          </a:xfrm>
          <a:prstGeom prst="rect">
            <a:avLst/>
          </a:prstGeom>
          <a:noFill/>
          <a:ln>
            <a:noFill/>
          </a:ln>
        </p:spPr>
        <p:txBody>
          <a:bodyPr spcFirstLastPara="1" wrap="square" lIns="68575" tIns="34275" rIns="68575" bIns="34275" anchor="t" anchorCtr="0">
            <a:no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Get Issues in front of the right people, using the tools they’re accustomed to. Jira, ServiceNow, Teams, etc.</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Send prescriptive data to SIEM / SOAR</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Route by team, severity or environment. Integration + per-team Action templates = Cutting the noise and operationalizing Wiz </a:t>
            </a:r>
            <a:endParaRPr sz="900" b="0" i="0" u="none" strike="noStrike" cap="none">
              <a:solidFill>
                <a:srgbClr val="01123F"/>
              </a:solidFill>
              <a:latin typeface="Poppins Light"/>
              <a:ea typeface="Poppins Light"/>
              <a:cs typeface="Poppins Light"/>
              <a:sym typeface="Poppins Light"/>
            </a:endParaRPr>
          </a:p>
        </p:txBody>
      </p:sp>
      <p:sp>
        <p:nvSpPr>
          <p:cNvPr id="1369" name="Google Shape;1369;p67"/>
          <p:cNvSpPr txBox="1"/>
          <p:nvPr/>
        </p:nvSpPr>
        <p:spPr>
          <a:xfrm>
            <a:off x="6114876" y="2638600"/>
            <a:ext cx="2604000" cy="1278300"/>
          </a:xfrm>
          <a:prstGeom prst="rect">
            <a:avLst/>
          </a:prstGeom>
          <a:noFill/>
          <a:ln>
            <a:noFill/>
          </a:ln>
        </p:spPr>
        <p:txBody>
          <a:bodyPr spcFirstLastPara="1" wrap="square" lIns="68575" tIns="34275" rIns="68575" bIns="34275" anchor="t" anchorCtr="0">
            <a:normAutofit lnSpcReduction="10000"/>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Take the human out of the routing. Auto-assign Issues to the right owners and notify accordingly</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Enable self-service remediation with Worklows. Designed to offer more granular control around which context to include (i.e. Remediation steps, Investigation details, etc).</a:t>
            </a:r>
            <a:endParaRPr sz="900" b="0" i="0" u="none" strike="noStrike" cap="none">
              <a:solidFill>
                <a:srgbClr val="01123F"/>
              </a:solidFill>
              <a:latin typeface="Poppins Light"/>
              <a:ea typeface="Poppins Light"/>
              <a:cs typeface="Poppins Light"/>
              <a:sym typeface="Poppins Light"/>
            </a:endParaRPr>
          </a:p>
        </p:txBody>
      </p:sp>
      <p:sp>
        <p:nvSpPr>
          <p:cNvPr id="1370" name="Google Shape;1370;p67"/>
          <p:cNvSpPr txBox="1"/>
          <p:nvPr/>
        </p:nvSpPr>
        <p:spPr>
          <a:xfrm>
            <a:off x="6243025" y="2210368"/>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Automation (Workflows)</a:t>
            </a:r>
            <a:endParaRPr sz="1000" b="0" i="0" u="none" strike="noStrike" cap="none">
              <a:solidFill>
                <a:schemeClr val="dk1"/>
              </a:solidFill>
              <a:latin typeface="Poppins SemiBold"/>
              <a:ea typeface="Poppins SemiBold"/>
              <a:cs typeface="Poppins SemiBold"/>
              <a:sym typeface="Poppins SemiBold"/>
            </a:endParaRPr>
          </a:p>
        </p:txBody>
      </p:sp>
      <p:pic>
        <p:nvPicPr>
          <p:cNvPr id="1371" name="Google Shape;1371;p67"/>
          <p:cNvPicPr preferRelativeResize="0"/>
          <p:nvPr/>
        </p:nvPicPr>
        <p:blipFill rotWithShape="1">
          <a:blip r:embed="rId4">
            <a:alphaModFix/>
          </a:blip>
          <a:srcRect/>
          <a:stretch/>
        </p:blipFill>
        <p:spPr>
          <a:xfrm>
            <a:off x="1337712" y="1516460"/>
            <a:ext cx="708225" cy="708225"/>
          </a:xfrm>
          <a:prstGeom prst="rect">
            <a:avLst/>
          </a:prstGeom>
          <a:noFill/>
          <a:ln>
            <a:noFill/>
          </a:ln>
        </p:spPr>
      </p:pic>
      <p:sp>
        <p:nvSpPr>
          <p:cNvPr id="1372" name="Google Shape;1372;p67"/>
          <p:cNvSpPr txBox="1">
            <a:spLocks noGrp="1"/>
          </p:cNvSpPr>
          <p:nvPr>
            <p:ph type="title" idx="4294967295"/>
          </p:nvPr>
        </p:nvSpPr>
        <p:spPr>
          <a:xfrm>
            <a:off x="-302400" y="535725"/>
            <a:ext cx="97488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Mature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for Democratization Improvements</a:t>
            </a:r>
            <a:endParaRPr sz="2420">
              <a:latin typeface="Poppins Light"/>
              <a:ea typeface="Poppins Light"/>
              <a:cs typeface="Poppins Light"/>
              <a:sym typeface="Poppins Light"/>
            </a:endParaRPr>
          </a:p>
        </p:txBody>
      </p:sp>
      <p:pic>
        <p:nvPicPr>
          <p:cNvPr id="1373" name="Google Shape;1373;p67" title="Group 1000002969.png"/>
          <p:cNvPicPr preferRelativeResize="0"/>
          <p:nvPr/>
        </p:nvPicPr>
        <p:blipFill rotWithShape="1">
          <a:blip r:embed="rId5">
            <a:alphaModFix/>
          </a:blip>
          <a:srcRect/>
          <a:stretch/>
        </p:blipFill>
        <p:spPr>
          <a:xfrm>
            <a:off x="4195263" y="1618451"/>
            <a:ext cx="753475" cy="504238"/>
          </a:xfrm>
          <a:prstGeom prst="rect">
            <a:avLst/>
          </a:prstGeom>
          <a:noFill/>
          <a:ln>
            <a:noFill/>
          </a:ln>
        </p:spPr>
      </p:pic>
      <p:pic>
        <p:nvPicPr>
          <p:cNvPr id="1374" name="Google Shape;1374;p67" title="Group 1000003039.png"/>
          <p:cNvPicPr preferRelativeResize="0"/>
          <p:nvPr/>
        </p:nvPicPr>
        <p:blipFill rotWithShape="1">
          <a:blip r:embed="rId6">
            <a:alphaModFix/>
          </a:blip>
          <a:srcRect/>
          <a:stretch/>
        </p:blipFill>
        <p:spPr>
          <a:xfrm>
            <a:off x="7196474" y="1601139"/>
            <a:ext cx="511400" cy="538875"/>
          </a:xfrm>
          <a:prstGeom prst="rect">
            <a:avLst/>
          </a:prstGeom>
          <a:noFill/>
          <a:ln>
            <a:noFill/>
          </a:ln>
        </p:spPr>
      </p:pic>
      <p:grpSp>
        <p:nvGrpSpPr>
          <p:cNvPr id="1375" name="Google Shape;1375;p67"/>
          <p:cNvGrpSpPr/>
          <p:nvPr/>
        </p:nvGrpSpPr>
        <p:grpSpPr>
          <a:xfrm>
            <a:off x="4726377" y="4145669"/>
            <a:ext cx="4010949" cy="832434"/>
            <a:chOff x="4726377" y="3456975"/>
            <a:chExt cx="4010949" cy="832434"/>
          </a:xfrm>
        </p:grpSpPr>
        <p:pic>
          <p:nvPicPr>
            <p:cNvPr id="1376" name="Google Shape;1376;p67" title="Rectangle 16310.png"/>
            <p:cNvPicPr preferRelativeResize="0"/>
            <p:nvPr/>
          </p:nvPicPr>
          <p:blipFill rotWithShape="1">
            <a:blip r:embed="rId7">
              <a:alphaModFix/>
            </a:blip>
            <a:srcRect/>
            <a:stretch/>
          </p:blipFill>
          <p:spPr>
            <a:xfrm>
              <a:off x="5072702" y="3456975"/>
              <a:ext cx="3664624" cy="832327"/>
            </a:xfrm>
            <a:prstGeom prst="rect">
              <a:avLst/>
            </a:prstGeom>
            <a:noFill/>
            <a:ln>
              <a:noFill/>
            </a:ln>
          </p:spPr>
        </p:pic>
        <p:sp>
          <p:nvSpPr>
            <p:cNvPr id="1377" name="Google Shape;1377;p67"/>
            <p:cNvSpPr txBox="1"/>
            <p:nvPr/>
          </p:nvSpPr>
          <p:spPr>
            <a:xfrm>
              <a:off x="5566125" y="3585438"/>
              <a:ext cx="3048900" cy="575400"/>
            </a:xfrm>
            <a:prstGeom prst="rect">
              <a:avLst/>
            </a:prstGeom>
            <a:noFill/>
            <a:ln>
              <a:noFill/>
            </a:ln>
          </p:spPr>
          <p:txBody>
            <a:bodyPr spcFirstLastPara="1" wrap="square" lIns="66950" tIns="33450" rIns="66950" bIns="33450" anchor="t" anchorCtr="0">
              <a:spAutoFit/>
            </a:bodyPr>
            <a:lstStyle/>
            <a:p>
              <a:pPr marL="0" marR="0" lvl="0" indent="0" algn="l" rtl="0">
                <a:lnSpc>
                  <a:spcPct val="100000"/>
                </a:lnSpc>
                <a:spcBef>
                  <a:spcPts val="0"/>
                </a:spcBef>
                <a:spcAft>
                  <a:spcPts val="0"/>
                </a:spcAft>
                <a:buClr>
                  <a:schemeClr val="dk1"/>
                </a:buClr>
                <a:buSzPts val="1200"/>
                <a:buFont typeface="Arial"/>
                <a:buNone/>
              </a:pPr>
              <a:r>
                <a:rPr lang="en" sz="1100" b="0" i="0" u="none" strike="noStrike" cap="none">
                  <a:solidFill>
                    <a:schemeClr val="dk1"/>
                  </a:solidFill>
                  <a:latin typeface="Poppins Light"/>
                  <a:ea typeface="Poppins Light"/>
                  <a:cs typeface="Poppins Light"/>
                  <a:sym typeface="Poppins Light"/>
                </a:rPr>
                <a:t>Is Wiz completely integrated into your workflow? What could help make it part of day to day?</a:t>
              </a:r>
              <a:endParaRPr sz="1100" b="0" i="0" u="none" strike="noStrike" cap="none">
                <a:solidFill>
                  <a:schemeClr val="dk1"/>
                </a:solidFill>
                <a:latin typeface="Poppins Light"/>
                <a:ea typeface="Poppins Light"/>
                <a:cs typeface="Poppins Light"/>
                <a:sym typeface="Poppins Light"/>
              </a:endParaRPr>
            </a:p>
          </p:txBody>
        </p:sp>
        <p:pic>
          <p:nvPicPr>
            <p:cNvPr id="1378" name="Google Shape;1378;p67" title="Ellipse icon_color.png"/>
            <p:cNvPicPr preferRelativeResize="0"/>
            <p:nvPr/>
          </p:nvPicPr>
          <p:blipFill rotWithShape="1">
            <a:blip r:embed="rId8">
              <a:alphaModFix/>
            </a:blip>
            <a:srcRect/>
            <a:stretch/>
          </p:blipFill>
          <p:spPr>
            <a:xfrm>
              <a:off x="4726377" y="3457087"/>
              <a:ext cx="839753" cy="832322"/>
            </a:xfrm>
            <a:prstGeom prst="rect">
              <a:avLst/>
            </a:prstGeom>
            <a:noFill/>
            <a:ln>
              <a:noFill/>
            </a:ln>
          </p:spPr>
        </p:pic>
      </p:grpSp>
      <p:grpSp>
        <p:nvGrpSpPr>
          <p:cNvPr id="1379" name="Google Shape;1379;p67"/>
          <p:cNvGrpSpPr/>
          <p:nvPr/>
        </p:nvGrpSpPr>
        <p:grpSpPr>
          <a:xfrm>
            <a:off x="434302" y="4145669"/>
            <a:ext cx="4010949" cy="832434"/>
            <a:chOff x="434302" y="3456975"/>
            <a:chExt cx="4010949" cy="832434"/>
          </a:xfrm>
        </p:grpSpPr>
        <p:pic>
          <p:nvPicPr>
            <p:cNvPr id="1380" name="Google Shape;1380;p67" title="Rectangle 16310.png"/>
            <p:cNvPicPr preferRelativeResize="0"/>
            <p:nvPr/>
          </p:nvPicPr>
          <p:blipFill rotWithShape="1">
            <a:blip r:embed="rId7">
              <a:alphaModFix/>
            </a:blip>
            <a:srcRect/>
            <a:stretch/>
          </p:blipFill>
          <p:spPr>
            <a:xfrm>
              <a:off x="780627" y="3456975"/>
              <a:ext cx="3664624" cy="832327"/>
            </a:xfrm>
            <a:prstGeom prst="rect">
              <a:avLst/>
            </a:prstGeom>
            <a:noFill/>
            <a:ln>
              <a:noFill/>
            </a:ln>
          </p:spPr>
        </p:pic>
        <p:sp>
          <p:nvSpPr>
            <p:cNvPr id="1381" name="Google Shape;1381;p67"/>
            <p:cNvSpPr txBox="1"/>
            <p:nvPr/>
          </p:nvSpPr>
          <p:spPr>
            <a:xfrm>
              <a:off x="1274050" y="3585438"/>
              <a:ext cx="3165300" cy="575400"/>
            </a:xfrm>
            <a:prstGeom prst="rect">
              <a:avLst/>
            </a:prstGeom>
            <a:noFill/>
            <a:ln>
              <a:noFill/>
            </a:ln>
          </p:spPr>
          <p:txBody>
            <a:bodyPr spcFirstLastPara="1" wrap="square" lIns="66950" tIns="33450" rIns="66950" bIns="33450" anchor="t" anchorCtr="0">
              <a:spAutoFit/>
            </a:bodyPr>
            <a:lstStyle/>
            <a:p>
              <a:pPr marL="0" marR="0" lvl="0" indent="0" algn="l" rtl="0">
                <a:lnSpc>
                  <a:spcPct val="100000"/>
                </a:lnSpc>
                <a:spcBef>
                  <a:spcPts val="0"/>
                </a:spcBef>
                <a:spcAft>
                  <a:spcPts val="0"/>
                </a:spcAft>
                <a:buClr>
                  <a:schemeClr val="dk1"/>
                </a:buClr>
                <a:buSzPts val="1171"/>
                <a:buFont typeface="Arial"/>
                <a:buNone/>
              </a:pPr>
              <a:r>
                <a:rPr lang="en" sz="1100" b="0" i="0" u="none" strike="noStrike" cap="none">
                  <a:solidFill>
                    <a:schemeClr val="dk1"/>
                  </a:solidFill>
                  <a:latin typeface="Poppins Light"/>
                  <a:ea typeface="Poppins Light"/>
                  <a:cs typeface="Poppins Light"/>
                  <a:sym typeface="Poppins Light"/>
                </a:rPr>
                <a:t>What is your current issues resolution flow? What is your ideal state? Is there anything blocking you from further democratization? </a:t>
              </a:r>
              <a:endParaRPr sz="1100" b="0" i="0" u="none" strike="noStrike" cap="none">
                <a:solidFill>
                  <a:schemeClr val="dk1"/>
                </a:solidFill>
                <a:latin typeface="Poppins Light"/>
                <a:ea typeface="Poppins Light"/>
                <a:cs typeface="Poppins Light"/>
                <a:sym typeface="Poppins Light"/>
              </a:endParaRPr>
            </a:p>
          </p:txBody>
        </p:sp>
        <p:grpSp>
          <p:nvGrpSpPr>
            <p:cNvPr id="1382" name="Google Shape;1382;p67"/>
            <p:cNvGrpSpPr/>
            <p:nvPr/>
          </p:nvGrpSpPr>
          <p:grpSpPr>
            <a:xfrm>
              <a:off x="434302" y="3457087"/>
              <a:ext cx="839753" cy="832322"/>
              <a:chOff x="434302" y="3457087"/>
              <a:chExt cx="839753" cy="832322"/>
            </a:xfrm>
          </p:grpSpPr>
          <p:pic>
            <p:nvPicPr>
              <p:cNvPr id="1383" name="Google Shape;1383;p67" title="Ellipse icon_color.png"/>
              <p:cNvPicPr preferRelativeResize="0"/>
              <p:nvPr/>
            </p:nvPicPr>
            <p:blipFill rotWithShape="1">
              <a:blip r:embed="rId8">
                <a:alphaModFix/>
              </a:blip>
              <a:srcRect/>
              <a:stretch/>
            </p:blipFill>
            <p:spPr>
              <a:xfrm>
                <a:off x="434302" y="3457087"/>
                <a:ext cx="839753" cy="832322"/>
              </a:xfrm>
              <a:prstGeom prst="rect">
                <a:avLst/>
              </a:prstGeom>
              <a:noFill/>
              <a:ln>
                <a:noFill/>
              </a:ln>
            </p:spPr>
          </p:pic>
          <p:pic>
            <p:nvPicPr>
              <p:cNvPr id="1384" name="Google Shape;1384;p67"/>
              <p:cNvPicPr preferRelativeResize="0"/>
              <p:nvPr/>
            </p:nvPicPr>
            <p:blipFill rotWithShape="1">
              <a:blip r:embed="rId9">
                <a:alphaModFix/>
              </a:blip>
              <a:srcRect/>
              <a:stretch/>
            </p:blipFill>
            <p:spPr>
              <a:xfrm>
                <a:off x="577339" y="3703834"/>
                <a:ext cx="553675" cy="338602"/>
              </a:xfrm>
              <a:prstGeom prst="rect">
                <a:avLst/>
              </a:prstGeom>
              <a:noFill/>
              <a:ln>
                <a:noFill/>
              </a:ln>
            </p:spPr>
          </p:pic>
        </p:grpSp>
      </p:grpSp>
      <p:pic>
        <p:nvPicPr>
          <p:cNvPr id="1385" name="Google Shape;1385;p67" title="Group 1000003678 (1).png"/>
          <p:cNvPicPr preferRelativeResize="0"/>
          <p:nvPr/>
        </p:nvPicPr>
        <p:blipFill rotWithShape="1">
          <a:blip r:embed="rId10">
            <a:alphaModFix/>
          </a:blip>
          <a:srcRect/>
          <a:stretch/>
        </p:blipFill>
        <p:spPr>
          <a:xfrm>
            <a:off x="4930184" y="4346632"/>
            <a:ext cx="430800" cy="42465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Shape 1390"/>
        <p:cNvGrpSpPr/>
        <p:nvPr/>
      </p:nvGrpSpPr>
      <p:grpSpPr>
        <a:xfrm>
          <a:off x="0" y="0"/>
          <a:ext cx="0" cy="0"/>
          <a:chOff x="0" y="0"/>
          <a:chExt cx="0" cy="0"/>
        </a:xfrm>
      </p:grpSpPr>
      <p:pic>
        <p:nvPicPr>
          <p:cNvPr id="1391" name="Google Shape;1391;p68" title="Rectangle 7854.png"/>
          <p:cNvPicPr preferRelativeResize="0"/>
          <p:nvPr/>
        </p:nvPicPr>
        <p:blipFill rotWithShape="1">
          <a:blip r:embed="rId3">
            <a:alphaModFix/>
          </a:blip>
          <a:srcRect/>
          <a:stretch/>
        </p:blipFill>
        <p:spPr>
          <a:xfrm>
            <a:off x="3237298" y="1837850"/>
            <a:ext cx="2669404" cy="3050125"/>
          </a:xfrm>
          <a:prstGeom prst="rect">
            <a:avLst/>
          </a:prstGeom>
          <a:noFill/>
          <a:ln>
            <a:noFill/>
          </a:ln>
        </p:spPr>
      </p:pic>
      <p:pic>
        <p:nvPicPr>
          <p:cNvPr id="1392" name="Google Shape;1392;p68" title="Rectangle 7854.png"/>
          <p:cNvPicPr preferRelativeResize="0"/>
          <p:nvPr/>
        </p:nvPicPr>
        <p:blipFill rotWithShape="1">
          <a:blip r:embed="rId3">
            <a:alphaModFix/>
          </a:blip>
          <a:srcRect/>
          <a:stretch/>
        </p:blipFill>
        <p:spPr>
          <a:xfrm>
            <a:off x="357125" y="1837850"/>
            <a:ext cx="2669404" cy="3050125"/>
          </a:xfrm>
          <a:prstGeom prst="rect">
            <a:avLst/>
          </a:prstGeom>
          <a:noFill/>
          <a:ln>
            <a:noFill/>
          </a:ln>
        </p:spPr>
      </p:pic>
      <p:cxnSp>
        <p:nvCxnSpPr>
          <p:cNvPr id="1393" name="Google Shape;1393;p68"/>
          <p:cNvCxnSpPr/>
          <p:nvPr/>
        </p:nvCxnSpPr>
        <p:spPr>
          <a:xfrm>
            <a:off x="63057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94" name="Google Shape;1394;p68"/>
          <p:cNvSpPr txBox="1"/>
          <p:nvPr/>
        </p:nvSpPr>
        <p:spPr>
          <a:xfrm>
            <a:off x="357125" y="3203850"/>
            <a:ext cx="2641800" cy="12321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How do you determine what to work on first?</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Why are the custom TWDC Graph Controls marked as “Critical”? Is this still relevant?</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How are you alerted on Critical Issues, when they arise?</a:t>
            </a:r>
            <a:endParaRPr sz="900" b="0" i="0" u="none" strike="noStrike" cap="none">
              <a:solidFill>
                <a:srgbClr val="01123F"/>
              </a:solidFill>
              <a:latin typeface="Poppins Light"/>
              <a:ea typeface="Poppins Light"/>
              <a:cs typeface="Poppins Light"/>
              <a:sym typeface="Poppins Light"/>
            </a:endParaRPr>
          </a:p>
        </p:txBody>
      </p:sp>
      <p:cxnSp>
        <p:nvCxnSpPr>
          <p:cNvPr id="1395" name="Google Shape;1395;p68"/>
          <p:cNvCxnSpPr/>
          <p:nvPr/>
        </p:nvCxnSpPr>
        <p:spPr>
          <a:xfrm>
            <a:off x="3510750" y="3063399"/>
            <a:ext cx="2122500" cy="0"/>
          </a:xfrm>
          <a:prstGeom prst="straightConnector1">
            <a:avLst/>
          </a:prstGeom>
          <a:noFill/>
          <a:ln w="9525" cap="flat" cmpd="sng">
            <a:solidFill>
              <a:srgbClr val="0254EC"/>
            </a:solidFill>
            <a:prstDash val="solid"/>
            <a:round/>
            <a:headEnd type="none" w="sm" len="sm"/>
            <a:tailEnd type="none" w="sm" len="sm"/>
          </a:ln>
        </p:spPr>
      </p:cxnSp>
      <p:pic>
        <p:nvPicPr>
          <p:cNvPr id="1396" name="Google Shape;1396;p68" title="Rectangle 7854.png"/>
          <p:cNvPicPr preferRelativeResize="0"/>
          <p:nvPr/>
        </p:nvPicPr>
        <p:blipFill rotWithShape="1">
          <a:blip r:embed="rId3">
            <a:alphaModFix/>
          </a:blip>
          <a:srcRect/>
          <a:stretch/>
        </p:blipFill>
        <p:spPr>
          <a:xfrm>
            <a:off x="6117471" y="1837850"/>
            <a:ext cx="2669404" cy="3050125"/>
          </a:xfrm>
          <a:prstGeom prst="rect">
            <a:avLst/>
          </a:prstGeom>
          <a:noFill/>
          <a:ln>
            <a:noFill/>
          </a:ln>
        </p:spPr>
      </p:pic>
      <p:cxnSp>
        <p:nvCxnSpPr>
          <p:cNvPr id="1397" name="Google Shape;1397;p68"/>
          <p:cNvCxnSpPr/>
          <p:nvPr/>
        </p:nvCxnSpPr>
        <p:spPr>
          <a:xfrm>
            <a:off x="639092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98" name="Google Shape;1398;p68"/>
          <p:cNvSpPr txBox="1"/>
          <p:nvPr/>
        </p:nvSpPr>
        <p:spPr>
          <a:xfrm>
            <a:off x="3269550" y="3203850"/>
            <a:ext cx="2599800" cy="14220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You only have “MBI” (Medium Business Impact) resources defined, why?</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Grouping filters or queries to identify the “low hanging fruit” Issues (i.e. resources exhibiting the same Issue)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Are you using Posture Policies to identify and group high-impact vulnerabilities?</a:t>
            </a:r>
            <a:endParaRPr sz="900" b="0" i="0" u="none" strike="noStrike" cap="none">
              <a:solidFill>
                <a:srgbClr val="01123F"/>
              </a:solidFill>
              <a:latin typeface="Poppins Light"/>
              <a:ea typeface="Poppins Light"/>
              <a:cs typeface="Poppins Light"/>
              <a:sym typeface="Poppins Light"/>
            </a:endParaRPr>
          </a:p>
        </p:txBody>
      </p:sp>
      <p:sp>
        <p:nvSpPr>
          <p:cNvPr id="1399" name="Google Shape;1399;p68"/>
          <p:cNvSpPr txBox="1"/>
          <p:nvPr/>
        </p:nvSpPr>
        <p:spPr>
          <a:xfrm>
            <a:off x="6081878" y="3203850"/>
            <a:ext cx="2641800" cy="16842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Utilize Green Agent for automated investigation and remediation context</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Utilize Advanced ASM to validate which external exposures are truly exploitable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Utilize Red Agent to actively probe your web apps and APIS to proactively identify high-impact exposures</a:t>
            </a:r>
            <a:endParaRPr sz="900" b="0" i="0" u="none" strike="noStrike" cap="none">
              <a:solidFill>
                <a:srgbClr val="01123F"/>
              </a:solidFill>
              <a:latin typeface="Poppins Light"/>
              <a:ea typeface="Poppins Light"/>
              <a:cs typeface="Poppins Light"/>
              <a:sym typeface="Poppins Light"/>
            </a:endParaRPr>
          </a:p>
        </p:txBody>
      </p:sp>
      <p:sp>
        <p:nvSpPr>
          <p:cNvPr id="1400" name="Google Shape;1400;p68"/>
          <p:cNvSpPr txBox="1"/>
          <p:nvPr/>
        </p:nvSpPr>
        <p:spPr>
          <a:xfrm>
            <a:off x="6243025" y="262467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Using Wiz Tools to Remediate</a:t>
            </a:r>
            <a:br>
              <a:rPr lang="en" sz="1000" b="0" i="0" u="none" strike="noStrike" cap="none">
                <a:solidFill>
                  <a:schemeClr val="dk1"/>
                </a:solidFill>
                <a:latin typeface="Poppins SemiBold"/>
                <a:ea typeface="Poppins SemiBold"/>
                <a:cs typeface="Poppins SemiBold"/>
                <a:sym typeface="Poppins SemiBold"/>
              </a:rPr>
            </a:br>
            <a:r>
              <a:rPr lang="en" sz="1000" b="0" i="0" u="none" strike="noStrike" cap="none">
                <a:solidFill>
                  <a:schemeClr val="dk1"/>
                </a:solidFill>
                <a:latin typeface="Poppins SemiBold"/>
                <a:ea typeface="Poppins SemiBold"/>
                <a:cs typeface="Poppins SemiBold"/>
                <a:sym typeface="Poppins SemiBold"/>
              </a:rPr>
              <a:t>More Efficiently</a:t>
            </a:r>
            <a:endParaRPr sz="1000" b="0" i="0" u="none" strike="noStrike" cap="none">
              <a:solidFill>
                <a:schemeClr val="dk1"/>
              </a:solidFill>
              <a:latin typeface="Poppins SemiBold"/>
              <a:ea typeface="Poppins SemiBold"/>
              <a:cs typeface="Poppins SemiBold"/>
              <a:sym typeface="Poppins SemiBold"/>
            </a:endParaRPr>
          </a:p>
        </p:txBody>
      </p:sp>
      <p:sp>
        <p:nvSpPr>
          <p:cNvPr id="1401" name="Google Shape;1401;p68"/>
          <p:cNvSpPr txBox="1">
            <a:spLocks noGrp="1"/>
          </p:cNvSpPr>
          <p:nvPr>
            <p:ph type="title" idx="4294967295"/>
          </p:nvPr>
        </p:nvSpPr>
        <p:spPr>
          <a:xfrm>
            <a:off x="-302400" y="535725"/>
            <a:ext cx="97488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Improve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Security Posture &amp; Risk Reduction</a:t>
            </a:r>
            <a:endParaRPr sz="2420">
              <a:latin typeface="Poppins Light"/>
              <a:ea typeface="Poppins Light"/>
              <a:cs typeface="Poppins Light"/>
              <a:sym typeface="Poppins Light"/>
            </a:endParaRPr>
          </a:p>
        </p:txBody>
      </p:sp>
      <p:pic>
        <p:nvPicPr>
          <p:cNvPr id="1402" name="Google Shape;1402;p68"/>
          <p:cNvPicPr preferRelativeResize="0"/>
          <p:nvPr/>
        </p:nvPicPr>
        <p:blipFill rotWithShape="1">
          <a:blip r:embed="rId4">
            <a:alphaModFix/>
          </a:blip>
          <a:srcRect/>
          <a:stretch/>
        </p:blipFill>
        <p:spPr>
          <a:xfrm>
            <a:off x="1326966" y="1926775"/>
            <a:ext cx="729718" cy="693550"/>
          </a:xfrm>
          <a:prstGeom prst="rect">
            <a:avLst/>
          </a:prstGeom>
          <a:noFill/>
          <a:ln>
            <a:noFill/>
          </a:ln>
        </p:spPr>
      </p:pic>
      <p:pic>
        <p:nvPicPr>
          <p:cNvPr id="1403" name="Google Shape;1403;p68"/>
          <p:cNvPicPr preferRelativeResize="0"/>
          <p:nvPr/>
        </p:nvPicPr>
        <p:blipFill rotWithShape="1">
          <a:blip r:embed="rId5">
            <a:alphaModFix/>
          </a:blip>
          <a:srcRect/>
          <a:stretch/>
        </p:blipFill>
        <p:spPr>
          <a:xfrm>
            <a:off x="4225225" y="1913375"/>
            <a:ext cx="693550" cy="693550"/>
          </a:xfrm>
          <a:prstGeom prst="rect">
            <a:avLst/>
          </a:prstGeom>
          <a:noFill/>
          <a:ln>
            <a:noFill/>
          </a:ln>
        </p:spPr>
      </p:pic>
      <p:pic>
        <p:nvPicPr>
          <p:cNvPr id="1404" name="Google Shape;1404;p68" title="Group 1000002779.png"/>
          <p:cNvPicPr preferRelativeResize="0"/>
          <p:nvPr/>
        </p:nvPicPr>
        <p:blipFill rotWithShape="1">
          <a:blip r:embed="rId6">
            <a:alphaModFix/>
          </a:blip>
          <a:srcRect/>
          <a:stretch/>
        </p:blipFill>
        <p:spPr>
          <a:xfrm>
            <a:off x="7043298" y="1991749"/>
            <a:ext cx="817750" cy="563600"/>
          </a:xfrm>
          <a:prstGeom prst="rect">
            <a:avLst/>
          </a:prstGeom>
          <a:noFill/>
          <a:ln>
            <a:noFill/>
          </a:ln>
        </p:spPr>
      </p:pic>
      <p:sp>
        <p:nvSpPr>
          <p:cNvPr id="1405" name="Google Shape;1405;p68"/>
          <p:cNvSpPr txBox="1"/>
          <p:nvPr/>
        </p:nvSpPr>
        <p:spPr>
          <a:xfrm>
            <a:off x="482675" y="2640997"/>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Prioritize Investigation by       Severity  &amp; Criticality</a:t>
            </a:r>
            <a:endParaRPr sz="1000" b="0" i="0" u="none" strike="noStrike" cap="none">
              <a:solidFill>
                <a:schemeClr val="dk1"/>
              </a:solidFill>
              <a:latin typeface="Poppins SemiBold"/>
              <a:ea typeface="Poppins SemiBold"/>
              <a:cs typeface="Poppins SemiBold"/>
              <a:sym typeface="Poppins SemiBold"/>
            </a:endParaRPr>
          </a:p>
        </p:txBody>
      </p:sp>
      <p:sp>
        <p:nvSpPr>
          <p:cNvPr id="1406" name="Google Shape;1406;p68"/>
          <p:cNvSpPr txBox="1"/>
          <p:nvPr/>
        </p:nvSpPr>
        <p:spPr>
          <a:xfrm>
            <a:off x="3362850" y="2627164"/>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Prioritize Remediation by       Greatest Impact </a:t>
            </a:r>
            <a:endParaRPr sz="1000" b="0" i="0" u="none" strike="noStrike" cap="none">
              <a:solidFill>
                <a:schemeClr val="dk1"/>
              </a:solidFill>
              <a:latin typeface="Poppins SemiBold"/>
              <a:ea typeface="Poppins SemiBold"/>
              <a:cs typeface="Poppins SemiBold"/>
              <a:sym typeface="Poppins SemiBo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1411"/>
        <p:cNvGrpSpPr/>
        <p:nvPr/>
      </p:nvGrpSpPr>
      <p:grpSpPr>
        <a:xfrm>
          <a:off x="0" y="0"/>
          <a:ext cx="0" cy="0"/>
          <a:chOff x="0" y="0"/>
          <a:chExt cx="0" cy="0"/>
        </a:xfrm>
      </p:grpSpPr>
      <p:pic>
        <p:nvPicPr>
          <p:cNvPr id="1412" name="Google Shape;1412;p69" title="Rectangle 7854.png"/>
          <p:cNvPicPr preferRelativeResize="0"/>
          <p:nvPr/>
        </p:nvPicPr>
        <p:blipFill rotWithShape="1">
          <a:blip r:embed="rId3">
            <a:alphaModFix/>
          </a:blip>
          <a:srcRect/>
          <a:stretch/>
        </p:blipFill>
        <p:spPr>
          <a:xfrm>
            <a:off x="3237298" y="1837849"/>
            <a:ext cx="2669404" cy="2703664"/>
          </a:xfrm>
          <a:prstGeom prst="rect">
            <a:avLst/>
          </a:prstGeom>
          <a:noFill/>
          <a:ln>
            <a:noFill/>
          </a:ln>
        </p:spPr>
      </p:pic>
      <p:pic>
        <p:nvPicPr>
          <p:cNvPr id="1413" name="Google Shape;1413;p69" title="Rectangle 7854.png"/>
          <p:cNvPicPr preferRelativeResize="0"/>
          <p:nvPr/>
        </p:nvPicPr>
        <p:blipFill rotWithShape="1">
          <a:blip r:embed="rId3">
            <a:alphaModFix/>
          </a:blip>
          <a:srcRect/>
          <a:stretch/>
        </p:blipFill>
        <p:spPr>
          <a:xfrm>
            <a:off x="357125" y="1837849"/>
            <a:ext cx="2669404" cy="2703664"/>
          </a:xfrm>
          <a:prstGeom prst="rect">
            <a:avLst/>
          </a:prstGeom>
          <a:noFill/>
          <a:ln>
            <a:noFill/>
          </a:ln>
        </p:spPr>
      </p:pic>
      <p:cxnSp>
        <p:nvCxnSpPr>
          <p:cNvPr id="1414" name="Google Shape;1414;p69"/>
          <p:cNvCxnSpPr/>
          <p:nvPr/>
        </p:nvCxnSpPr>
        <p:spPr>
          <a:xfrm>
            <a:off x="630575"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15" name="Google Shape;1415;p69"/>
          <p:cNvSpPr txBox="1"/>
          <p:nvPr/>
        </p:nvSpPr>
        <p:spPr>
          <a:xfrm>
            <a:off x="522275" y="2664476"/>
            <a:ext cx="23391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7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K8S Connectors</a:t>
            </a:r>
            <a:endParaRPr sz="1000" b="0" i="0" u="none" strike="noStrike" cap="none">
              <a:solidFill>
                <a:schemeClr val="dk1"/>
              </a:solidFill>
              <a:latin typeface="Poppins SemiBold"/>
              <a:ea typeface="Poppins SemiBold"/>
              <a:cs typeface="Poppins SemiBold"/>
              <a:sym typeface="Poppins SemiBold"/>
            </a:endParaRPr>
          </a:p>
        </p:txBody>
      </p:sp>
      <p:sp>
        <p:nvSpPr>
          <p:cNvPr id="1416" name="Google Shape;1416;p69"/>
          <p:cNvSpPr txBox="1"/>
          <p:nvPr/>
        </p:nvSpPr>
        <p:spPr>
          <a:xfrm>
            <a:off x="403925" y="3092700"/>
            <a:ext cx="2575800" cy="13674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Map Cluster architectures more effectively in Wiz.</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Allows Wiz to assess K8S clusters directly via the Kubernetes API, to identify risks associated with K8S specific identities, secretes, configs, etc.</a:t>
            </a:r>
            <a:endParaRPr sz="900" b="0" i="0" u="none" strike="noStrike" cap="none">
              <a:solidFill>
                <a:srgbClr val="01123F"/>
              </a:solidFill>
              <a:latin typeface="Poppins Light"/>
              <a:ea typeface="Poppins Light"/>
              <a:cs typeface="Poppins Light"/>
              <a:sym typeface="Poppins Light"/>
            </a:endParaRPr>
          </a:p>
        </p:txBody>
      </p:sp>
      <p:cxnSp>
        <p:nvCxnSpPr>
          <p:cNvPr id="1417" name="Google Shape;1417;p69"/>
          <p:cNvCxnSpPr/>
          <p:nvPr/>
        </p:nvCxnSpPr>
        <p:spPr>
          <a:xfrm>
            <a:off x="3510750"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18" name="Google Shape;1418;p69"/>
          <p:cNvSpPr txBox="1"/>
          <p:nvPr/>
        </p:nvSpPr>
        <p:spPr>
          <a:xfrm>
            <a:off x="3362850" y="2664476"/>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WizOS &amp; Image Tagging</a:t>
            </a:r>
            <a:endParaRPr sz="1000" b="0" i="0" u="none" strike="noStrike" cap="none">
              <a:solidFill>
                <a:schemeClr val="dk1"/>
              </a:solidFill>
              <a:latin typeface="Poppins SemiBold"/>
              <a:ea typeface="Poppins SemiBold"/>
              <a:cs typeface="Poppins SemiBold"/>
              <a:sym typeface="Poppins SemiBold"/>
            </a:endParaRPr>
          </a:p>
        </p:txBody>
      </p:sp>
      <p:pic>
        <p:nvPicPr>
          <p:cNvPr id="1419" name="Google Shape;1419;p69" title="Rectangle 7854.png"/>
          <p:cNvPicPr preferRelativeResize="0"/>
          <p:nvPr/>
        </p:nvPicPr>
        <p:blipFill rotWithShape="1">
          <a:blip r:embed="rId3">
            <a:alphaModFix/>
          </a:blip>
          <a:srcRect/>
          <a:stretch/>
        </p:blipFill>
        <p:spPr>
          <a:xfrm>
            <a:off x="6117471" y="1837849"/>
            <a:ext cx="2669404" cy="2703664"/>
          </a:xfrm>
          <a:prstGeom prst="rect">
            <a:avLst/>
          </a:prstGeom>
          <a:noFill/>
          <a:ln>
            <a:noFill/>
          </a:ln>
        </p:spPr>
      </p:pic>
      <p:cxnSp>
        <p:nvCxnSpPr>
          <p:cNvPr id="1420" name="Google Shape;1420;p69"/>
          <p:cNvCxnSpPr/>
          <p:nvPr/>
        </p:nvCxnSpPr>
        <p:spPr>
          <a:xfrm>
            <a:off x="6390925"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21" name="Google Shape;1421;p69"/>
          <p:cNvSpPr txBox="1"/>
          <p:nvPr/>
        </p:nvSpPr>
        <p:spPr>
          <a:xfrm>
            <a:off x="6164274" y="3093376"/>
            <a:ext cx="2575800" cy="1500600"/>
          </a:xfrm>
          <a:prstGeom prst="rect">
            <a:avLst/>
          </a:prstGeom>
          <a:noFill/>
          <a:ln>
            <a:noFill/>
          </a:ln>
        </p:spPr>
        <p:txBody>
          <a:bodyPr spcFirstLastPara="1" wrap="square" lIns="68575" tIns="34275" rIns="68575" bIns="34275" anchor="t" anchorCtr="0">
            <a:normAutofit lnSpcReduction="10000"/>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Scan your repos for vulnerabilities, SAST flaws, IaC misconfigurations, secrets and Malware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Allow Developers to scan their code at the IDE</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Scan PRs and (optionally) block merges that introduce risk </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Trace every risk back to its origin. Catch risks at the source, before they ship.</a:t>
            </a:r>
            <a:endParaRPr sz="900" b="0" i="0" u="none" strike="noStrike" cap="none">
              <a:solidFill>
                <a:srgbClr val="01123F"/>
              </a:solidFill>
              <a:latin typeface="Poppins Light"/>
              <a:ea typeface="Poppins Light"/>
              <a:cs typeface="Poppins Light"/>
              <a:sym typeface="Poppins Light"/>
            </a:endParaRPr>
          </a:p>
          <a:p>
            <a:pPr marL="0" marR="0" lvl="0" indent="0" algn="l" rtl="0">
              <a:lnSpc>
                <a:spcPct val="112000"/>
              </a:lnSpc>
              <a:spcBef>
                <a:spcPts val="0"/>
              </a:spcBef>
              <a:spcAft>
                <a:spcPts val="0"/>
              </a:spcAft>
              <a:buClr>
                <a:srgbClr val="000000"/>
              </a:buClr>
              <a:buSzPts val="900"/>
              <a:buFont typeface="Arial"/>
              <a:buNone/>
            </a:pPr>
            <a:endParaRPr sz="900" b="0" i="0" u="none" strike="noStrike" cap="none">
              <a:solidFill>
                <a:srgbClr val="01123F"/>
              </a:solidFill>
              <a:latin typeface="Poppins Light"/>
              <a:ea typeface="Poppins Light"/>
              <a:cs typeface="Poppins Light"/>
              <a:sym typeface="Poppins Light"/>
            </a:endParaRPr>
          </a:p>
        </p:txBody>
      </p:sp>
      <p:sp>
        <p:nvSpPr>
          <p:cNvPr id="1422" name="Google Shape;1422;p69"/>
          <p:cNvSpPr txBox="1"/>
          <p:nvPr/>
        </p:nvSpPr>
        <p:spPr>
          <a:xfrm>
            <a:off x="6243025" y="2644820"/>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Poppins SemiBold"/>
                <a:ea typeface="Poppins SemiBold"/>
                <a:cs typeface="Poppins SemiBold"/>
                <a:sym typeface="Poppins SemiBold"/>
              </a:rPr>
              <a:t>Full Code-to-Cloud Context </a:t>
            </a:r>
            <a:br>
              <a:rPr lang="en" sz="1000" b="0" i="0" u="none" strike="noStrike" cap="none">
                <a:solidFill>
                  <a:schemeClr val="dk1"/>
                </a:solidFill>
                <a:latin typeface="Poppins SemiBold"/>
                <a:ea typeface="Poppins SemiBold"/>
                <a:cs typeface="Poppins SemiBold"/>
                <a:sym typeface="Poppins SemiBold"/>
              </a:rPr>
            </a:br>
            <a:r>
              <a:rPr lang="en" sz="1000" b="0" i="0" u="none" strike="noStrike" cap="none">
                <a:solidFill>
                  <a:schemeClr val="dk1"/>
                </a:solidFill>
                <a:latin typeface="Poppins SemiBold"/>
                <a:ea typeface="Poppins SemiBold"/>
                <a:cs typeface="Poppins SemiBold"/>
                <a:sym typeface="Poppins SemiBold"/>
              </a:rPr>
              <a:t>Wiz Code POV</a:t>
            </a:r>
            <a:endParaRPr sz="1000" b="0" i="0" u="none" strike="noStrike" cap="none">
              <a:solidFill>
                <a:schemeClr val="dk1"/>
              </a:solidFill>
              <a:latin typeface="Poppins SemiBold"/>
              <a:ea typeface="Poppins SemiBold"/>
              <a:cs typeface="Poppins SemiBold"/>
              <a:sym typeface="Poppins SemiBold"/>
            </a:endParaRPr>
          </a:p>
        </p:txBody>
      </p:sp>
      <p:pic>
        <p:nvPicPr>
          <p:cNvPr id="1423" name="Google Shape;1423;p69"/>
          <p:cNvPicPr preferRelativeResize="0"/>
          <p:nvPr/>
        </p:nvPicPr>
        <p:blipFill rotWithShape="1">
          <a:blip r:embed="rId4">
            <a:alphaModFix/>
          </a:blip>
          <a:srcRect/>
          <a:stretch/>
        </p:blipFill>
        <p:spPr>
          <a:xfrm>
            <a:off x="1337712" y="1908821"/>
            <a:ext cx="708225" cy="708225"/>
          </a:xfrm>
          <a:prstGeom prst="rect">
            <a:avLst/>
          </a:prstGeom>
          <a:noFill/>
          <a:ln>
            <a:noFill/>
          </a:ln>
        </p:spPr>
      </p:pic>
      <p:sp>
        <p:nvSpPr>
          <p:cNvPr id="1424" name="Google Shape;1424;p69"/>
          <p:cNvSpPr txBox="1">
            <a:spLocks noGrp="1"/>
          </p:cNvSpPr>
          <p:nvPr>
            <p:ph type="title" idx="4294967295"/>
          </p:nvPr>
        </p:nvSpPr>
        <p:spPr>
          <a:xfrm>
            <a:off x="0" y="535725"/>
            <a:ext cx="91440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Mature</a:t>
            </a:r>
            <a:endParaRPr sz="2420">
              <a:latin typeface="Poppins Light"/>
              <a:ea typeface="Poppins Light"/>
              <a:cs typeface="Poppins Light"/>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for Developing Securely Improvements</a:t>
            </a:r>
            <a:endParaRPr sz="2420">
              <a:latin typeface="Poppins Light"/>
              <a:ea typeface="Poppins Light"/>
              <a:cs typeface="Poppins Light"/>
              <a:sym typeface="Poppins Light"/>
            </a:endParaRPr>
          </a:p>
        </p:txBody>
      </p:sp>
      <p:pic>
        <p:nvPicPr>
          <p:cNvPr id="1425" name="Google Shape;1425;p69" title="Group 1000002969.png"/>
          <p:cNvPicPr preferRelativeResize="0"/>
          <p:nvPr/>
        </p:nvPicPr>
        <p:blipFill rotWithShape="1">
          <a:blip r:embed="rId5">
            <a:alphaModFix/>
          </a:blip>
          <a:srcRect/>
          <a:stretch/>
        </p:blipFill>
        <p:spPr>
          <a:xfrm>
            <a:off x="4195263" y="2010813"/>
            <a:ext cx="753475" cy="504238"/>
          </a:xfrm>
          <a:prstGeom prst="rect">
            <a:avLst/>
          </a:prstGeom>
          <a:noFill/>
          <a:ln>
            <a:noFill/>
          </a:ln>
        </p:spPr>
      </p:pic>
      <p:pic>
        <p:nvPicPr>
          <p:cNvPr id="1426" name="Google Shape;1426;p69" title="Group 1000003039.png"/>
          <p:cNvPicPr preferRelativeResize="0"/>
          <p:nvPr/>
        </p:nvPicPr>
        <p:blipFill rotWithShape="1">
          <a:blip r:embed="rId6">
            <a:alphaModFix/>
          </a:blip>
          <a:srcRect/>
          <a:stretch/>
        </p:blipFill>
        <p:spPr>
          <a:xfrm>
            <a:off x="7196474" y="1993500"/>
            <a:ext cx="511400" cy="538875"/>
          </a:xfrm>
          <a:prstGeom prst="rect">
            <a:avLst/>
          </a:prstGeom>
          <a:noFill/>
          <a:ln>
            <a:noFill/>
          </a:ln>
        </p:spPr>
      </p:pic>
      <p:sp>
        <p:nvSpPr>
          <p:cNvPr id="1427" name="Google Shape;1427;p69"/>
          <p:cNvSpPr txBox="1"/>
          <p:nvPr/>
        </p:nvSpPr>
        <p:spPr>
          <a:xfrm>
            <a:off x="3284100" y="3084550"/>
            <a:ext cx="2575800" cy="13674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Build on a clean image base with WizOS. Hardened, minimal, near-zero-CVE base images.</a:t>
            </a:r>
            <a:endParaRPr sz="900" b="0" i="0" u="none" strike="noStrike" cap="none">
              <a:solidFill>
                <a:srgbClr val="01123F"/>
              </a:solidFill>
              <a:latin typeface="Poppins Light"/>
              <a:ea typeface="Poppins Light"/>
              <a:cs typeface="Poppins Light"/>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Poppins Light"/>
                <a:ea typeface="Poppins Light"/>
                <a:cs typeface="Poppins Light"/>
                <a:sym typeface="Poppins Light"/>
              </a:rPr>
              <a:t>Allows Enforce quality with proper image tagging via Wiz CLI. Stamps each image by digest, giving full code-to-cloud traceability.</a:t>
            </a:r>
            <a:endParaRPr sz="900" b="0" i="0" u="none" strike="noStrike" cap="none">
              <a:solidFill>
                <a:srgbClr val="01123F"/>
              </a:solidFill>
              <a:latin typeface="Poppins Light"/>
              <a:ea typeface="Poppins Light"/>
              <a:cs typeface="Poppins Light"/>
              <a:sym typeface="Poppins Light"/>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ntent Slides">
  <a:themeElements>
    <a:clrScheme name="Wiz Colors">
      <a:dk1>
        <a:srgbClr val="01123F"/>
      </a:dk1>
      <a:lt1>
        <a:srgbClr val="FFFFFF"/>
      </a:lt1>
      <a:dk2>
        <a:srgbClr val="0054EC"/>
      </a:dk2>
      <a:lt2>
        <a:srgbClr val="F3F8FF"/>
      </a:lt2>
      <a:accent1>
        <a:srgbClr val="B8D3FF"/>
      </a:accent1>
      <a:accent2>
        <a:srgbClr val="6195FF"/>
      </a:accent2>
      <a:accent3>
        <a:srgbClr val="FFBFFF"/>
      </a:accent3>
      <a:accent4>
        <a:srgbClr val="F595F5"/>
      </a:accent4>
      <a:accent5>
        <a:srgbClr val="E9F9EE"/>
      </a:accent5>
      <a:accent6>
        <a:srgbClr val="FFEFEF"/>
      </a:accent6>
      <a:hlink>
        <a:srgbClr val="0055F5"/>
      </a:hlink>
      <a:folHlink>
        <a:srgbClr val="01123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1297</TotalTime>
  <Words>5200</Words>
  <Application>Microsoft Office PowerPoint</Application>
  <PresentationFormat>On-screen Show (16:9)</PresentationFormat>
  <Paragraphs>800</Paragraphs>
  <Slides>23</Slides>
  <Notes>23</Notes>
  <HiddenSlides>4</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23</vt:i4>
      </vt:variant>
    </vt:vector>
  </HeadingPairs>
  <TitlesOfParts>
    <vt:vector size="33" baseType="lpstr">
      <vt:lpstr>JetBrains Mono</vt:lpstr>
      <vt:lpstr>Poppins</vt:lpstr>
      <vt:lpstr>DM Sans</vt:lpstr>
      <vt:lpstr>Arial</vt:lpstr>
      <vt:lpstr>Poppins SemiBold</vt:lpstr>
      <vt:lpstr>Poppins Light</vt:lpstr>
      <vt:lpstr>Calibri</vt:lpstr>
      <vt:lpstr>DM Sans Medium</vt:lpstr>
      <vt:lpstr>Simple Light</vt:lpstr>
      <vt:lpstr>Content Slides</vt:lpstr>
      <vt:lpstr>PowerPoint Presentation</vt:lpstr>
      <vt:lpstr>Wiz Adoption &amp; Democratization Maturity Model </vt:lpstr>
      <vt:lpstr>Cloud and AI Visibility Snapshot</vt:lpstr>
      <vt:lpstr>Wiz Adoption &amp; Usage Snapshot</vt:lpstr>
      <vt:lpstr>Wiz System Health &amp; Scans Snapshot</vt:lpstr>
      <vt:lpstr>Democratization Snapshot</vt:lpstr>
      <vt:lpstr>Preview Hub Availability vs Usage</vt:lpstr>
      <vt:lpstr>Preview Hub Availability vs Usage</vt:lpstr>
      <vt:lpstr>Roadmap Tracker Usage</vt:lpstr>
      <vt:lpstr>PowerPoint Presentation</vt:lpstr>
      <vt:lpstr>Wiz Security Maturity Model </vt:lpstr>
      <vt:lpstr>Cloud Security Posture Snapshot</vt:lpstr>
      <vt:lpstr>Cloud Security Risk Snapshot</vt:lpstr>
      <vt:lpstr>PowerPoint Presentation</vt:lpstr>
      <vt:lpstr>Secure Development Snapshot</vt:lpstr>
      <vt:lpstr>PowerPoint Presentation</vt:lpstr>
      <vt:lpstr>PowerPoint Presentation</vt:lpstr>
      <vt:lpstr>PowerPoint Presentation</vt:lpstr>
      <vt:lpstr>PowerPoint Presentation</vt:lpstr>
      <vt:lpstr>Top Three Focus Areas to Improve Cloud Visibility &amp; Coverage</vt:lpstr>
      <vt:lpstr>Top Three Focus Areas to Mature for Democratization Improvements</vt:lpstr>
      <vt:lpstr>Top Three Focus Areas to Improve Security Posture &amp; Risk Reduction</vt:lpstr>
      <vt:lpstr>Top Three Focus Areas to Mature for Developing Securely Improvements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Lindsey Petrone</cp:lastModifiedBy>
  <cp:revision>9</cp:revision>
  <dcterms:modified xsi:type="dcterms:W3CDTF">2026-08-26T22:31:53Z</dcterms:modified>
</cp:coreProperties>
</file>