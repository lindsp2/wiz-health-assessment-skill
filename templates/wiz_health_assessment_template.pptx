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2" r:id="rId3"/>
    <p:sldMasterId id="2147483693"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y="5143500" cx="9144000"/>
  <p:notesSz cx="6858000" cy="9144000"/>
  <p:embeddedFontLst>
    <p:embeddedFont>
      <p:font typeface="DM Sans Medium"/>
      <p:regular r:id="rId28"/>
      <p:bold r:id="rId29"/>
      <p:italic r:id="rId30"/>
      <p:boldItalic r:id="rId31"/>
    </p:embeddedFont>
    <p:embeddedFont>
      <p:font typeface="Poppins"/>
      <p:regular r:id="rId32"/>
      <p:bold r:id="rId33"/>
      <p:italic r:id="rId34"/>
      <p:boldItalic r:id="rId35"/>
    </p:embeddedFont>
    <p:embeddedFont>
      <p:font typeface="Poppins Light"/>
      <p:regular r:id="rId36"/>
      <p:bold r:id="rId37"/>
      <p:italic r:id="rId38"/>
      <p:boldItalic r:id="rId39"/>
    </p:embeddedFont>
    <p:embeddedFont>
      <p:font typeface="Poppins Medium"/>
      <p:regular r:id="rId40"/>
      <p:bold r:id="rId41"/>
      <p:italic r:id="rId42"/>
      <p:boldItalic r:id="rId43"/>
    </p:embeddedFont>
    <p:embeddedFont>
      <p:font typeface="Poppins SemiBold"/>
      <p:regular r:id="rId44"/>
      <p:bold r:id="rId45"/>
      <p:italic r:id="rId46"/>
      <p:boldItalic r:id="rId47"/>
    </p:embeddedFont>
    <p:embeddedFont>
      <p:font typeface="DM Sans"/>
      <p:regular r:id="rId48"/>
      <p:bold r:id="rId49"/>
      <p:italic r:id="rId50"/>
      <p:boldItalic r:id="rId51"/>
    </p:embeddedFont>
    <p:embeddedFont>
      <p:font typeface="JetBrains Mono"/>
      <p:regular r:id="rId52"/>
      <p:bold r:id="rId53"/>
      <p:italic r:id="rId54"/>
      <p:boldItalic r:id="rId5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PoppinsMedium-regular.fntdata"/><Relationship Id="rId42" Type="http://schemas.openxmlformats.org/officeDocument/2006/relationships/font" Target="fonts/PoppinsMedium-italic.fntdata"/><Relationship Id="rId41" Type="http://schemas.openxmlformats.org/officeDocument/2006/relationships/font" Target="fonts/PoppinsMedium-bold.fntdata"/><Relationship Id="rId44" Type="http://schemas.openxmlformats.org/officeDocument/2006/relationships/font" Target="fonts/PoppinsSemiBold-regular.fntdata"/><Relationship Id="rId43" Type="http://schemas.openxmlformats.org/officeDocument/2006/relationships/font" Target="fonts/PoppinsMedium-boldItalic.fntdata"/><Relationship Id="rId46" Type="http://schemas.openxmlformats.org/officeDocument/2006/relationships/font" Target="fonts/PoppinsSemiBold-italic.fntdata"/><Relationship Id="rId45" Type="http://schemas.openxmlformats.org/officeDocument/2006/relationships/font" Target="fonts/PoppinsSemiBold-bold.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DMSans-regular.fntdata"/><Relationship Id="rId47" Type="http://schemas.openxmlformats.org/officeDocument/2006/relationships/font" Target="fonts/PoppinsSemiBold-boldItalic.fntdata"/><Relationship Id="rId49" Type="http://schemas.openxmlformats.org/officeDocument/2006/relationships/font" Target="fonts/DMSans-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DMSansMedium-boldItalic.fntdata"/><Relationship Id="rId30" Type="http://schemas.openxmlformats.org/officeDocument/2006/relationships/font" Target="fonts/DMSansMedium-italic.fntdata"/><Relationship Id="rId33" Type="http://schemas.openxmlformats.org/officeDocument/2006/relationships/font" Target="fonts/Poppins-bold.fntdata"/><Relationship Id="rId32" Type="http://schemas.openxmlformats.org/officeDocument/2006/relationships/font" Target="fonts/Poppins-regular.fntdata"/><Relationship Id="rId35" Type="http://schemas.openxmlformats.org/officeDocument/2006/relationships/font" Target="fonts/Poppins-boldItalic.fntdata"/><Relationship Id="rId34" Type="http://schemas.openxmlformats.org/officeDocument/2006/relationships/font" Target="fonts/Poppins-italic.fntdata"/><Relationship Id="rId37" Type="http://schemas.openxmlformats.org/officeDocument/2006/relationships/font" Target="fonts/PoppinsLight-bold.fntdata"/><Relationship Id="rId36" Type="http://schemas.openxmlformats.org/officeDocument/2006/relationships/font" Target="fonts/PoppinsLight-regular.fntdata"/><Relationship Id="rId39" Type="http://schemas.openxmlformats.org/officeDocument/2006/relationships/font" Target="fonts/PoppinsLight-boldItalic.fntdata"/><Relationship Id="rId38" Type="http://schemas.openxmlformats.org/officeDocument/2006/relationships/font" Target="fonts/PoppinsLight-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font" Target="fonts/DMSansMedium-regular.fntdata"/><Relationship Id="rId27" Type="http://schemas.openxmlformats.org/officeDocument/2006/relationships/slide" Target="slides/slide22.xml"/><Relationship Id="rId29" Type="http://schemas.openxmlformats.org/officeDocument/2006/relationships/font" Target="fonts/DMSansMedium-bold.fntdata"/><Relationship Id="rId51" Type="http://schemas.openxmlformats.org/officeDocument/2006/relationships/font" Target="fonts/DMSans-boldItalic.fntdata"/><Relationship Id="rId50" Type="http://schemas.openxmlformats.org/officeDocument/2006/relationships/font" Target="fonts/DMSans-italic.fntdata"/><Relationship Id="rId53" Type="http://schemas.openxmlformats.org/officeDocument/2006/relationships/font" Target="fonts/JetBrainsMono-bold.fntdata"/><Relationship Id="rId52" Type="http://schemas.openxmlformats.org/officeDocument/2006/relationships/font" Target="fonts/JetBrainsMono-regular.fntdata"/><Relationship Id="rId11" Type="http://schemas.openxmlformats.org/officeDocument/2006/relationships/slide" Target="slides/slide6.xml"/><Relationship Id="rId55" Type="http://schemas.openxmlformats.org/officeDocument/2006/relationships/font" Target="fonts/JetBrainsMono-boldItalic.fntdata"/><Relationship Id="rId10" Type="http://schemas.openxmlformats.org/officeDocument/2006/relationships/slide" Target="slides/slide5.xml"/><Relationship Id="rId54" Type="http://schemas.openxmlformats.org/officeDocument/2006/relationships/font" Target="fonts/JetBrainsMono-italic.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e898d6d9b6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g3e898d6d9b6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35" name="Google Shape;235;g3e898d6d9b6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f27d5d50f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f27d5d50f5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marR="381000" rtl="0" algn="l">
              <a:lnSpc>
                <a:spcPct val="115000"/>
              </a:lnSpc>
              <a:spcBef>
                <a:spcPts val="1200"/>
              </a:spcBef>
              <a:spcAft>
                <a:spcPts val="0"/>
              </a:spcAft>
              <a:buClr>
                <a:schemeClr val="dk1"/>
              </a:buClr>
              <a:buSzPts val="1100"/>
              <a:buChar char="-"/>
            </a:pPr>
            <a:r>
              <a:t/>
            </a:r>
            <a:endParaRPr>
              <a:solidFill>
                <a:schemeClr val="dk1"/>
              </a:solidFill>
            </a:endParaRPr>
          </a:p>
        </p:txBody>
      </p:sp>
      <p:sp>
        <p:nvSpPr>
          <p:cNvPr id="245" name="Google Shape;245;g3f27d5d50f5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898d6d9b6_0_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g3e898d6d9b6_0_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solidFill>
                <a:schemeClr val="dk1"/>
              </a:solidFill>
            </a:endParaRPr>
          </a:p>
        </p:txBody>
      </p:sp>
      <p:sp>
        <p:nvSpPr>
          <p:cNvPr id="288" name="Google Shape;288;g3e898d6d9b6_0_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e898d6d9b6_0_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g3e898d6d9b6_0_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solidFill>
                <a:schemeClr val="dk1"/>
              </a:solidFill>
            </a:endParaRPr>
          </a:p>
        </p:txBody>
      </p:sp>
      <p:sp>
        <p:nvSpPr>
          <p:cNvPr id="386" name="Google Shape;386;g3e898d6d9b6_0_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3f27d5d50f5_0_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g3f27d5d50f5_0_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p>
        </p:txBody>
      </p:sp>
      <p:sp>
        <p:nvSpPr>
          <p:cNvPr id="464" name="Google Shape;464;g3f27d5d50f5_0_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e898d6d9b6_0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4" name="Google Shape;484;g3e898d6d9b6_0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solidFill>
                <a:schemeClr val="dk1"/>
              </a:solidFill>
            </a:endParaRPr>
          </a:p>
        </p:txBody>
      </p:sp>
      <p:sp>
        <p:nvSpPr>
          <p:cNvPr id="485" name="Google Shape;485;g3e898d6d9b6_0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3f27d5d50f5_0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g3f27d5d50f5_0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457200" rtl="0" algn="l">
              <a:spcBef>
                <a:spcPts val="0"/>
              </a:spcBef>
              <a:spcAft>
                <a:spcPts val="0"/>
              </a:spcAft>
              <a:buNone/>
            </a:pPr>
            <a:r>
              <a:t/>
            </a:r>
            <a:endParaRPr/>
          </a:p>
        </p:txBody>
      </p:sp>
      <p:sp>
        <p:nvSpPr>
          <p:cNvPr id="574" name="Google Shape;574;g3f27d5d50f5_0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f27d5d50f5_0_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5" name="Google Shape;605;g3f27d5d50f5_0_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06" name="Google Shape;606;g3f27d5d50f5_0_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f27d5d50f5_0_4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f27d5d50f5_0_4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p>
        </p:txBody>
      </p:sp>
      <p:sp>
        <p:nvSpPr>
          <p:cNvPr id="615" name="Google Shape;615;g3f27d5d50f5_0_4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g3ee8ea9dfc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g3ee8ea9dfc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38083"/>
              </a:lnSpc>
              <a:spcBef>
                <a:spcPts val="0"/>
              </a:spcBef>
              <a:spcAft>
                <a:spcPts val="0"/>
              </a:spcAft>
              <a:buClr>
                <a:schemeClr val="dk1"/>
              </a:buClr>
              <a:buSzPts val="1200"/>
              <a:buChar char="•"/>
            </a:pPr>
            <a:r>
              <a:t/>
            </a:r>
            <a:endParaRPr sz="1200">
              <a:solidFill>
                <a:schemeClr val="dk1"/>
              </a:solidFill>
            </a:endParaRPr>
          </a:p>
        </p:txBody>
      </p:sp>
      <p:sp>
        <p:nvSpPr>
          <p:cNvPr id="655" name="Google Shape;655;g3ee8ea9dfc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g3f27d5d50f5_0_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g3f27d5d50f5_0_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38083"/>
              </a:lnSpc>
              <a:spcBef>
                <a:spcPts val="0"/>
              </a:spcBef>
              <a:spcAft>
                <a:spcPts val="0"/>
              </a:spcAft>
              <a:buClr>
                <a:schemeClr val="dk1"/>
              </a:buClr>
              <a:buSzPts val="1200"/>
              <a:buChar char="•"/>
            </a:pPr>
            <a:r>
              <a:t/>
            </a:r>
            <a:endParaRPr sz="1200">
              <a:solidFill>
                <a:schemeClr val="dk1"/>
              </a:solidFill>
            </a:endParaRPr>
          </a:p>
        </p:txBody>
      </p:sp>
      <p:sp>
        <p:nvSpPr>
          <p:cNvPr id="698" name="Google Shape;698;g3f27d5d50f5_0_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g3f27d5d50f5_0_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g3f27d5d50f5_0_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p>
        </p:txBody>
      </p:sp>
      <p:sp>
        <p:nvSpPr>
          <p:cNvPr id="733" name="Google Shape;733;g3f27d5d50f5_0_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1" name="Shape 751"/>
        <p:cNvGrpSpPr/>
        <p:nvPr/>
      </p:nvGrpSpPr>
      <p:grpSpPr>
        <a:xfrm>
          <a:off x="0" y="0"/>
          <a:ext cx="0" cy="0"/>
          <a:chOff x="0" y="0"/>
          <a:chExt cx="0" cy="0"/>
        </a:xfrm>
      </p:grpSpPr>
      <p:sp>
        <p:nvSpPr>
          <p:cNvPr id="752" name="Google Shape;752;g3f27d5d50f5_0_5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3" name="Google Shape;753;g3f27d5d50f5_0_5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t/>
            </a:r>
            <a:endParaRPr>
              <a:solidFill>
                <a:schemeClr val="dk1"/>
              </a:solidFill>
            </a:endParaRPr>
          </a:p>
        </p:txBody>
      </p:sp>
      <p:sp>
        <p:nvSpPr>
          <p:cNvPr id="754" name="Google Shape;754;g3f27d5d50f5_0_5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3e898d6d9b6_0_3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g3e898d6d9b6_0_3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38083"/>
              </a:lnSpc>
              <a:spcBef>
                <a:spcPts val="0"/>
              </a:spcBef>
              <a:spcAft>
                <a:spcPts val="0"/>
              </a:spcAft>
              <a:buClr>
                <a:schemeClr val="dk1"/>
              </a:buClr>
              <a:buSzPts val="1200"/>
              <a:buChar char="•"/>
            </a:pPr>
            <a:r>
              <a:t/>
            </a:r>
            <a:endParaRPr sz="1200">
              <a:solidFill>
                <a:schemeClr val="dk1"/>
              </a:solidFill>
            </a:endParaRPr>
          </a:p>
        </p:txBody>
      </p:sp>
      <p:sp>
        <p:nvSpPr>
          <p:cNvPr id="763" name="Google Shape;763;g3e898d6d9b6_0_3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f27d5d50f5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2" name="Google Shape;852;g3f27d5d50f5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3" name="Google Shape;853;g3f27d5d50f5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g3ee8ea9dfcf_0_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g3ee8ea9dfcf_0_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solidFill>
                <a:schemeClr val="dk1"/>
              </a:solidFill>
            </a:endParaRPr>
          </a:p>
        </p:txBody>
      </p:sp>
      <p:sp>
        <p:nvSpPr>
          <p:cNvPr id="874" name="Google Shape;874;g3ee8ea9dfcf_0_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g3f6ed528c36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6" name="Google Shape;886;g3f6ed528c36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solidFill>
                <a:schemeClr val="dk1"/>
              </a:solidFill>
            </a:endParaRPr>
          </a:p>
        </p:txBody>
      </p:sp>
      <p:sp>
        <p:nvSpPr>
          <p:cNvPr id="887" name="Google Shape;887;g3f6ed528c36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7" name="Shape 897"/>
        <p:cNvGrpSpPr/>
        <p:nvPr/>
      </p:nvGrpSpPr>
      <p:grpSpPr>
        <a:xfrm>
          <a:off x="0" y="0"/>
          <a:ext cx="0" cy="0"/>
          <a:chOff x="0" y="0"/>
          <a:chExt cx="0" cy="0"/>
        </a:xfrm>
      </p:grpSpPr>
      <p:sp>
        <p:nvSpPr>
          <p:cNvPr id="898" name="Google Shape;898;g3f703505ebe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9" name="Google Shape;899;g3f703505ebe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t/>
            </a:r>
            <a:endParaRPr>
              <a:solidFill>
                <a:schemeClr val="dk1"/>
              </a:solidFill>
            </a:endParaRPr>
          </a:p>
        </p:txBody>
      </p:sp>
      <p:sp>
        <p:nvSpPr>
          <p:cNvPr id="900" name="Google Shape;900;g3f703505ebe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7" name="Shape 907"/>
        <p:cNvGrpSpPr/>
        <p:nvPr/>
      </p:nvGrpSpPr>
      <p:grpSpPr>
        <a:xfrm>
          <a:off x="0" y="0"/>
          <a:ext cx="0" cy="0"/>
          <a:chOff x="0" y="0"/>
          <a:chExt cx="0" cy="0"/>
        </a:xfrm>
      </p:grpSpPr>
      <p:sp>
        <p:nvSpPr>
          <p:cNvPr id="908" name="Google Shape;908;g3f681266c6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9" name="Google Shape;909;g3f681266c6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t/>
            </a:r>
            <a:endParaRPr>
              <a:solidFill>
                <a:schemeClr val="dk1"/>
              </a:solidFill>
            </a:endParaRPr>
          </a:p>
        </p:txBody>
      </p:sp>
      <p:sp>
        <p:nvSpPr>
          <p:cNvPr id="910" name="Google Shape;910;g3f681266c6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6" name="Shape 916"/>
        <p:cNvGrpSpPr/>
        <p:nvPr/>
      </p:nvGrpSpPr>
      <p:grpSpPr>
        <a:xfrm>
          <a:off x="0" y="0"/>
          <a:ext cx="0" cy="0"/>
          <a:chOff x="0" y="0"/>
          <a:chExt cx="0" cy="0"/>
        </a:xfrm>
      </p:grpSpPr>
      <p:sp>
        <p:nvSpPr>
          <p:cNvPr id="917" name="Google Shape;917;g3f6285d47c9_0_2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8" name="Google Shape;918;g3f6285d47c9_0_20: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9" name="Google Shape;919;g3f6285d47c9_0_20: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0" name="Shape 1070"/>
        <p:cNvGrpSpPr/>
        <p:nvPr/>
      </p:nvGrpSpPr>
      <p:grpSpPr>
        <a:xfrm>
          <a:off x="0" y="0"/>
          <a:ext cx="0" cy="0"/>
          <a:chOff x="0" y="0"/>
          <a:chExt cx="0" cy="0"/>
        </a:xfrm>
      </p:grpSpPr>
      <p:sp>
        <p:nvSpPr>
          <p:cNvPr id="1071" name="Google Shape;1071;g3eb9281d27b_0_81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2" name="Google Shape;1072;g3eb9281d27b_0_81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73" name="Google Shape;1073;g3eb9281d27b_0_81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2" name="Shape 1262"/>
        <p:cNvGrpSpPr/>
        <p:nvPr/>
      </p:nvGrpSpPr>
      <p:grpSpPr>
        <a:xfrm>
          <a:off x="0" y="0"/>
          <a:ext cx="0" cy="0"/>
          <a:chOff x="0" y="0"/>
          <a:chExt cx="0" cy="0"/>
        </a:xfrm>
      </p:grpSpPr>
      <p:sp>
        <p:nvSpPr>
          <p:cNvPr id="1263" name="Google Shape;1263;g3eb9281d27b_0_100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4" name="Google Shape;1264;g3eb9281d27b_0_1005: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5" name="Google Shape;1265;g3eb9281d27b_0_1005: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43.png"/><Relationship Id="rId4"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pening_Blank">
  <p:cSld name="Opening_Blank">
    <p:bg>
      <p:bgPr>
        <a:solidFill>
          <a:srgbClr val="0254EC"/>
        </a:solidFill>
      </p:bgPr>
    </p:bg>
    <p:spTree>
      <p:nvGrpSpPr>
        <p:cNvPr id="9" name="Shape 9"/>
        <p:cNvGrpSpPr/>
        <p:nvPr/>
      </p:nvGrpSpPr>
      <p:grpSpPr>
        <a:xfrm>
          <a:off x="0" y="0"/>
          <a:ext cx="0" cy="0"/>
          <a:chOff x="0" y="0"/>
          <a:chExt cx="0" cy="0"/>
        </a:xfrm>
      </p:grpSpPr>
      <p:pic>
        <p:nvPicPr>
          <p:cNvPr id="10" name="Google Shape;10;p2" title="bg_blue.png"/>
          <p:cNvPicPr preferRelativeResize="0"/>
          <p:nvPr/>
        </p:nvPicPr>
        <p:blipFill>
          <a:blip r:embed="rId2">
            <a:alphaModFix/>
          </a:blip>
          <a:stretch>
            <a:fill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pic>
        <p:nvPicPr>
          <p:cNvPr id="12" name="Google Shape;12;p3" title="bg_blue2.png"/>
          <p:cNvPicPr preferRelativeResize="0"/>
          <p:nvPr/>
        </p:nvPicPr>
        <p:blipFill>
          <a:blip r:embed="rId2">
            <a:alphaModFix/>
          </a:blip>
          <a:stretch>
            <a:fillRect/>
          </a:stretch>
        </p:blipFill>
        <p:spPr>
          <a:xfrm>
            <a:off x="0" y="-5"/>
            <a:ext cx="9144000" cy="514350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pic>
        <p:nvPicPr>
          <p:cNvPr id="14" name="Google Shape;14;p4" title="bg1.png"/>
          <p:cNvPicPr preferRelativeResize="0"/>
          <p:nvPr/>
        </p:nvPicPr>
        <p:blipFill>
          <a:blip r:embed="rId2">
            <a:alphaModFix/>
          </a:blip>
          <a:stretch>
            <a:fillRect/>
          </a:stretch>
        </p:blipFill>
        <p:spPr>
          <a:xfrm>
            <a:off x="0" y="-5"/>
            <a:ext cx="9144000" cy="514350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pic>
        <p:nvPicPr>
          <p:cNvPr id="16" name="Google Shape;16;p5" title="bg2.png"/>
          <p:cNvPicPr preferRelativeResize="0"/>
          <p:nvPr/>
        </p:nvPicPr>
        <p:blipFill>
          <a:blip r:embed="rId2">
            <a:alphaModFix/>
          </a:blip>
          <a:stretch>
            <a:fill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pic>
        <p:nvPicPr>
          <p:cNvPr id="18" name="Google Shape;18;p6" title="bg3.png"/>
          <p:cNvPicPr preferRelativeResize="0"/>
          <p:nvPr/>
        </p:nvPicPr>
        <p:blipFill>
          <a:blip r:embed="rId2">
            <a:alphaModFix/>
          </a:blip>
          <a:stretch>
            <a:fillRect/>
          </a:stretch>
        </p:blipFill>
        <p:spPr>
          <a:xfrm>
            <a:off x="0" y="10"/>
            <a:ext cx="9143997" cy="514349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9" name="Shape 19"/>
        <p:cNvGrpSpPr/>
        <p:nvPr/>
      </p:nvGrpSpPr>
      <p:grpSpPr>
        <a:xfrm>
          <a:off x="0" y="0"/>
          <a:ext cx="0" cy="0"/>
          <a:chOff x="0" y="0"/>
          <a:chExt cx="0" cy="0"/>
        </a:xfrm>
      </p:grpSpPr>
      <p:pic>
        <p:nvPicPr>
          <p:cNvPr id="20" name="Google Shape;20;p7" title="bg4.png"/>
          <p:cNvPicPr preferRelativeResize="0"/>
          <p:nvPr/>
        </p:nvPicPr>
        <p:blipFill>
          <a:blip r:embed="rId2">
            <a:alphaModFix/>
          </a:blip>
          <a:stretch>
            <a:fill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1" name="Shape 21"/>
        <p:cNvGrpSpPr/>
        <p:nvPr/>
      </p:nvGrpSpPr>
      <p:grpSpPr>
        <a:xfrm>
          <a:off x="0" y="0"/>
          <a:ext cx="0" cy="0"/>
          <a:chOff x="0" y="0"/>
          <a:chExt cx="0" cy="0"/>
        </a:xfrm>
      </p:grpSpPr>
      <p:pic>
        <p:nvPicPr>
          <p:cNvPr id="22" name="Google Shape;22;p8" title="bg5.png"/>
          <p:cNvPicPr preferRelativeResize="0"/>
          <p:nvPr/>
        </p:nvPicPr>
        <p:blipFill>
          <a:blip r:embed="rId2">
            <a:alphaModFix/>
          </a:blip>
          <a:stretch>
            <a:fillRect/>
          </a:stretch>
        </p:blipFill>
        <p:spPr>
          <a:xfrm>
            <a:off x="0" y="-10"/>
            <a:ext cx="9144003" cy="521493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3">
  <p:cSld name="ONE_COLUMN_TEXT">
    <p:spTree>
      <p:nvGrpSpPr>
        <p:cNvPr id="23" name="Shape 23"/>
        <p:cNvGrpSpPr/>
        <p:nvPr/>
      </p:nvGrpSpPr>
      <p:grpSpPr>
        <a:xfrm>
          <a:off x="0" y="0"/>
          <a:ext cx="0" cy="0"/>
          <a:chOff x="0" y="0"/>
          <a:chExt cx="0" cy="0"/>
        </a:xfrm>
      </p:grpSpPr>
      <p:pic>
        <p:nvPicPr>
          <p:cNvPr id="24" name="Google Shape;24;p9" title="bg6.png"/>
          <p:cNvPicPr preferRelativeResize="0"/>
          <p:nvPr/>
        </p:nvPicPr>
        <p:blipFill>
          <a:blip r:embed="rId2">
            <a:alphaModFix/>
          </a:blip>
          <a:stretch>
            <a:fillRect/>
          </a:stretch>
        </p:blipFill>
        <p:spPr>
          <a:xfrm>
            <a:off x="0" y="10"/>
            <a:ext cx="9144003" cy="514349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5" name="Shape 25"/>
        <p:cNvGrpSpPr/>
        <p:nvPr/>
      </p:nvGrpSpPr>
      <p:grpSpPr>
        <a:xfrm>
          <a:off x="0" y="0"/>
          <a:ext cx="0" cy="0"/>
          <a:chOff x="0" y="0"/>
          <a:chExt cx="0" cy="0"/>
        </a:xfrm>
      </p:grpSpPr>
      <p:sp>
        <p:nvSpPr>
          <p:cNvPr id="26" name="Google Shape;26;p1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27" name="Google Shape;2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8" name="Shape 28"/>
        <p:cNvGrpSpPr/>
        <p:nvPr/>
      </p:nvGrpSpPr>
      <p:grpSpPr>
        <a:xfrm>
          <a:off x="0" y="0"/>
          <a:ext cx="0" cy="0"/>
          <a:chOff x="0" y="0"/>
          <a:chExt cx="0" cy="0"/>
        </a:xfrm>
      </p:grpSpPr>
      <p:sp>
        <p:nvSpPr>
          <p:cNvPr id="29" name="Google Shape;29;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 name="Google Shape;30;p1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1" name="Google Shape;31;p1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2" name="Google Shape;32;p1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33" name="Google Shape;33;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4" name="Shape 34"/>
        <p:cNvGrpSpPr/>
        <p:nvPr/>
      </p:nvGrpSpPr>
      <p:grpSpPr>
        <a:xfrm>
          <a:off x="0" y="0"/>
          <a:ext cx="0" cy="0"/>
          <a:chOff x="0" y="0"/>
          <a:chExt cx="0" cy="0"/>
        </a:xfrm>
      </p:grpSpPr>
      <p:sp>
        <p:nvSpPr>
          <p:cNvPr id="35" name="Google Shape;35;p1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6" name="Google Shape;36;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7" name="Shape 37"/>
        <p:cNvGrpSpPr/>
        <p:nvPr/>
      </p:nvGrpSpPr>
      <p:grpSpPr>
        <a:xfrm>
          <a:off x="0" y="0"/>
          <a:ext cx="0" cy="0"/>
          <a:chOff x="0" y="0"/>
          <a:chExt cx="0" cy="0"/>
        </a:xfrm>
      </p:grpSpPr>
      <p:sp>
        <p:nvSpPr>
          <p:cNvPr id="38" name="Google Shape;38;p1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39" name="Google Shape;39;p1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0" name="Google Shape;4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1" name="Shape 41"/>
        <p:cNvGrpSpPr/>
        <p:nvPr/>
      </p:nvGrpSpPr>
      <p:grpSpPr>
        <a:xfrm>
          <a:off x="0" y="0"/>
          <a:ext cx="0" cy="0"/>
          <a:chOff x="0" y="0"/>
          <a:chExt cx="0" cy="0"/>
        </a:xfrm>
      </p:grpSpPr>
      <p:sp>
        <p:nvSpPr>
          <p:cNvPr id="42" name="Google Shape;42;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3 1">
  <p:cSld name="ONE_COLUMN_TEXT_1">
    <p:spTree>
      <p:nvGrpSpPr>
        <p:cNvPr id="43" name="Shape 43"/>
        <p:cNvGrpSpPr/>
        <p:nvPr/>
      </p:nvGrpSpPr>
      <p:grpSpPr>
        <a:xfrm>
          <a:off x="0" y="0"/>
          <a:ext cx="0" cy="0"/>
          <a:chOff x="0" y="0"/>
          <a:chExt cx="0" cy="0"/>
        </a:xfrm>
      </p:grpSpPr>
      <p:pic>
        <p:nvPicPr>
          <p:cNvPr id="44" name="Google Shape;44;p15" title="bg6.png"/>
          <p:cNvPicPr preferRelativeResize="0"/>
          <p:nvPr/>
        </p:nvPicPr>
        <p:blipFill>
          <a:blip r:embed="rId2">
            <a:alphaModFix/>
          </a:blip>
          <a:stretch>
            <a:fillRect/>
          </a:stretch>
        </p:blipFill>
        <p:spPr>
          <a:xfrm>
            <a:off x="0" y="10"/>
            <a:ext cx="9144003" cy="5143490"/>
          </a:xfrm>
          <a:prstGeom prst="rect">
            <a:avLst/>
          </a:prstGeom>
          <a:noFill/>
          <a:ln>
            <a:noFill/>
          </a:ln>
        </p:spPr>
      </p:pic>
      <p:sp>
        <p:nvSpPr>
          <p:cNvPr id="45" name="Google Shape;45;p15"/>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i">
  <p:cSld name="ONE_COLUMN_TEXT_1_1">
    <p:spTree>
      <p:nvGrpSpPr>
        <p:cNvPr id="46" name="Shape 46"/>
        <p:cNvGrpSpPr/>
        <p:nvPr/>
      </p:nvGrpSpPr>
      <p:grpSpPr>
        <a:xfrm>
          <a:off x="0" y="0"/>
          <a:ext cx="0" cy="0"/>
          <a:chOff x="0" y="0"/>
          <a:chExt cx="0" cy="0"/>
        </a:xfrm>
      </p:grpSpPr>
      <p:pic>
        <p:nvPicPr>
          <p:cNvPr id="47" name="Google Shape;47;p16" title="bg7.png"/>
          <p:cNvPicPr preferRelativeResize="0"/>
          <p:nvPr/>
        </p:nvPicPr>
        <p:blipFill>
          <a:blip r:embed="rId2">
            <a:alphaModFix/>
          </a:blip>
          <a:stretch>
            <a:fill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2/3) Light">
  <p:cSld name="Title and Content (2/3) Light">
    <p:spTree>
      <p:nvGrpSpPr>
        <p:cNvPr id="53" name="Shape 53"/>
        <p:cNvGrpSpPr/>
        <p:nvPr/>
      </p:nvGrpSpPr>
      <p:grpSpPr>
        <a:xfrm>
          <a:off x="0" y="0"/>
          <a:ext cx="0" cy="0"/>
          <a:chOff x="0" y="0"/>
          <a:chExt cx="0" cy="0"/>
        </a:xfrm>
      </p:grpSpPr>
      <p:sp>
        <p:nvSpPr>
          <p:cNvPr id="54" name="Google Shape;54;p18"/>
          <p:cNvSpPr/>
          <p:nvPr/>
        </p:nvSpPr>
        <p:spPr>
          <a:xfrm>
            <a:off x="-4188" y="0"/>
            <a:ext cx="30777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55" name="Google Shape;55;p18"/>
          <p:cNvSpPr txBox="1"/>
          <p:nvPr>
            <p:ph type="title"/>
          </p:nvPr>
        </p:nvSpPr>
        <p:spPr>
          <a:xfrm>
            <a:off x="420742" y="273844"/>
            <a:ext cx="22278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6" name="Google Shape;56;p18"/>
          <p:cNvSpPr txBox="1"/>
          <p:nvPr>
            <p:ph idx="1" type="body"/>
          </p:nvPr>
        </p:nvSpPr>
        <p:spPr>
          <a:xfrm>
            <a:off x="420742" y="812524"/>
            <a:ext cx="22278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7" name="Google Shape;57;p18"/>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Divider Slide">
  <p:cSld name="Divider Slide">
    <p:spTree>
      <p:nvGrpSpPr>
        <p:cNvPr id="58" name="Shape 58"/>
        <p:cNvGrpSpPr/>
        <p:nvPr/>
      </p:nvGrpSpPr>
      <p:grpSpPr>
        <a:xfrm>
          <a:off x="0" y="0"/>
          <a:ext cx="0" cy="0"/>
          <a:chOff x="0" y="0"/>
          <a:chExt cx="0" cy="0"/>
        </a:xfrm>
      </p:grpSpPr>
      <p:pic>
        <p:nvPicPr>
          <p:cNvPr id="59" name="Google Shape;59;p19"/>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60" name="Google Shape;60;p19"/>
          <p:cNvSpPr txBox="1"/>
          <p:nvPr>
            <p:ph type="title"/>
          </p:nvPr>
        </p:nvSpPr>
        <p:spPr>
          <a:xfrm>
            <a:off x="420742" y="1645445"/>
            <a:ext cx="8302500" cy="367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pic>
        <p:nvPicPr>
          <p:cNvPr id="61" name="Google Shape;61;p19"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background_Plain">
  <p:cSld name="White background_Plain">
    <p:spTree>
      <p:nvGrpSpPr>
        <p:cNvPr id="62" name="Shape 62"/>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 Name">
  <p:cSld name="Title Slide + Name">
    <p:bg>
      <p:bgPr>
        <a:solidFill>
          <a:schemeClr val="dk2"/>
        </a:solidFill>
      </p:bgPr>
    </p:bg>
    <p:spTree>
      <p:nvGrpSpPr>
        <p:cNvPr id="63" name="Shape 63"/>
        <p:cNvGrpSpPr/>
        <p:nvPr/>
      </p:nvGrpSpPr>
      <p:grpSpPr>
        <a:xfrm>
          <a:off x="0" y="0"/>
          <a:ext cx="0" cy="0"/>
          <a:chOff x="0" y="0"/>
          <a:chExt cx="0" cy="0"/>
        </a:xfrm>
      </p:grpSpPr>
      <p:sp>
        <p:nvSpPr>
          <p:cNvPr id="64" name="Google Shape;64;p21"/>
          <p:cNvSpPr txBox="1"/>
          <p:nvPr>
            <p:ph type="ctrTitle"/>
          </p:nvPr>
        </p:nvSpPr>
        <p:spPr>
          <a:xfrm>
            <a:off x="716304" y="1261139"/>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p:txBody>
      </p:sp>
      <p:sp>
        <p:nvSpPr>
          <p:cNvPr id="65" name="Google Shape;65;p21"/>
          <p:cNvSpPr txBox="1"/>
          <p:nvPr>
            <p:ph idx="1" type="subTitle"/>
          </p:nvPr>
        </p:nvSpPr>
        <p:spPr>
          <a:xfrm>
            <a:off x="716304" y="232276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p:txBody>
      </p:sp>
      <p:pic>
        <p:nvPicPr>
          <p:cNvPr id="66" name="Google Shape;66;p21"/>
          <p:cNvPicPr preferRelativeResize="0"/>
          <p:nvPr/>
        </p:nvPicPr>
        <p:blipFill rotWithShape="1">
          <a:blip r:embed="rId2">
            <a:alphaModFix/>
          </a:blip>
          <a:srcRect b="0" l="0" r="0" t="0"/>
          <a:stretch/>
        </p:blipFill>
        <p:spPr>
          <a:xfrm>
            <a:off x="716304" y="564606"/>
            <a:ext cx="639881" cy="306710"/>
          </a:xfrm>
          <a:prstGeom prst="rect">
            <a:avLst/>
          </a:prstGeom>
          <a:noFill/>
          <a:ln>
            <a:noFill/>
          </a:ln>
        </p:spPr>
      </p:pic>
      <p:pic>
        <p:nvPicPr>
          <p:cNvPr id="67" name="Google Shape;67;p21"/>
          <p:cNvPicPr preferRelativeResize="0"/>
          <p:nvPr/>
        </p:nvPicPr>
        <p:blipFill rotWithShape="1">
          <a:blip r:embed="rId3">
            <a:alphaModFix/>
          </a:blip>
          <a:srcRect b="0" l="0" r="0" t="0"/>
          <a:stretch/>
        </p:blipFill>
        <p:spPr>
          <a:xfrm>
            <a:off x="5693291" y="1210831"/>
            <a:ext cx="2822062" cy="2877556"/>
          </a:xfrm>
          <a:prstGeom prst="rect">
            <a:avLst/>
          </a:prstGeom>
          <a:noFill/>
          <a:ln>
            <a:noFill/>
          </a:ln>
        </p:spPr>
      </p:pic>
      <p:sp>
        <p:nvSpPr>
          <p:cNvPr id="68" name="Google Shape;68;p21"/>
          <p:cNvSpPr/>
          <p:nvPr>
            <p:ph idx="2" type="pic"/>
          </p:nvPr>
        </p:nvSpPr>
        <p:spPr>
          <a:xfrm>
            <a:off x="716304" y="3312109"/>
            <a:ext cx="714600" cy="714600"/>
          </a:xfrm>
          <a:prstGeom prst="ellipse">
            <a:avLst/>
          </a:prstGeom>
          <a:noFill/>
          <a:ln cap="flat" cmpd="sng" w="12700">
            <a:solidFill>
              <a:schemeClr val="lt1"/>
            </a:solidFill>
            <a:prstDash val="solid"/>
            <a:round/>
            <a:headEnd len="sm" w="sm" type="none"/>
            <a:tailEnd len="sm" w="sm" type="none"/>
          </a:ln>
        </p:spPr>
      </p:sp>
      <p:sp>
        <p:nvSpPr>
          <p:cNvPr id="69" name="Google Shape;69;p21"/>
          <p:cNvSpPr txBox="1"/>
          <p:nvPr>
            <p:ph idx="3" type="body"/>
          </p:nvPr>
        </p:nvSpPr>
        <p:spPr>
          <a:xfrm>
            <a:off x="1531868" y="3442481"/>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lt1"/>
              </a:buClr>
              <a:buSzPts val="1400"/>
              <a:buNone/>
              <a:defRPr sz="1400">
                <a:solidFill>
                  <a:schemeClr val="lt1"/>
                </a:solidFill>
              </a:defRPr>
            </a:lvl1pPr>
            <a:lvl2pPr indent="-228600" lvl="1" marL="914400" algn="l">
              <a:lnSpc>
                <a:spcPct val="90000"/>
              </a:lnSpc>
              <a:spcBef>
                <a:spcPts val="400"/>
              </a:spcBef>
              <a:spcAft>
                <a:spcPts val="0"/>
              </a:spcAft>
              <a:buClr>
                <a:schemeClr val="lt1"/>
              </a:buClr>
              <a:buSzPts val="1400"/>
              <a:buNone/>
              <a:defRPr>
                <a:solidFill>
                  <a:schemeClr val="lt1"/>
                </a:solidFill>
              </a:defRPr>
            </a:lvl2pPr>
            <a:lvl3pPr indent="-317500" lvl="2" marL="1371600" algn="l">
              <a:lnSpc>
                <a:spcPct val="90000"/>
              </a:lnSpc>
              <a:spcBef>
                <a:spcPts val="400"/>
              </a:spcBef>
              <a:spcAft>
                <a:spcPts val="0"/>
              </a:spcAft>
              <a:buClr>
                <a:schemeClr val="lt1"/>
              </a:buClr>
              <a:buSzPts val="1400"/>
              <a:buChar char="•"/>
              <a:defRPr>
                <a:solidFill>
                  <a:schemeClr val="lt1"/>
                </a:solidFill>
              </a:defRPr>
            </a:lvl3pPr>
            <a:lvl4pPr indent="-317500" lvl="3" marL="1828800" algn="l">
              <a:lnSpc>
                <a:spcPct val="90000"/>
              </a:lnSpc>
              <a:spcBef>
                <a:spcPts val="400"/>
              </a:spcBef>
              <a:spcAft>
                <a:spcPts val="0"/>
              </a:spcAft>
              <a:buClr>
                <a:schemeClr val="lt1"/>
              </a:buClr>
              <a:buSzPts val="1400"/>
              <a:buChar char="•"/>
              <a:defRPr>
                <a:solidFill>
                  <a:schemeClr val="lt1"/>
                </a:solidFill>
              </a:defRPr>
            </a:lvl4pPr>
            <a:lvl5pPr indent="-317500" lvl="4" marL="2286000" algn="l">
              <a:lnSpc>
                <a:spcPct val="90000"/>
              </a:lnSpc>
              <a:spcBef>
                <a:spcPts val="400"/>
              </a:spcBef>
              <a:spcAft>
                <a:spcPts val="0"/>
              </a:spcAft>
              <a:buClr>
                <a:schemeClr val="lt1"/>
              </a:buClr>
              <a:buSzPts val="14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
        <p:nvSpPr>
          <p:cNvPr id="70" name="Google Shape;70;p21"/>
          <p:cNvSpPr txBox="1"/>
          <p:nvPr>
            <p:ph idx="4" type="body"/>
          </p:nvPr>
        </p:nvSpPr>
        <p:spPr>
          <a:xfrm>
            <a:off x="1531868" y="3657984"/>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lt1"/>
              </a:buClr>
              <a:buSzPts val="1100"/>
              <a:buNone/>
              <a:defRPr sz="1100">
                <a:solidFill>
                  <a:schemeClr val="lt1"/>
                </a:solidFill>
              </a:defRPr>
            </a:lvl1pPr>
            <a:lvl2pPr indent="-228600" lvl="1" marL="914400" algn="l">
              <a:lnSpc>
                <a:spcPct val="90000"/>
              </a:lnSpc>
              <a:spcBef>
                <a:spcPts val="400"/>
              </a:spcBef>
              <a:spcAft>
                <a:spcPts val="0"/>
              </a:spcAft>
              <a:buClr>
                <a:schemeClr val="lt1"/>
              </a:buClr>
              <a:buSzPts val="1400"/>
              <a:buNone/>
              <a:defRPr>
                <a:solidFill>
                  <a:schemeClr val="lt1"/>
                </a:solidFill>
              </a:defRPr>
            </a:lvl2pPr>
            <a:lvl3pPr indent="-317500" lvl="2" marL="1371600" algn="l">
              <a:lnSpc>
                <a:spcPct val="90000"/>
              </a:lnSpc>
              <a:spcBef>
                <a:spcPts val="400"/>
              </a:spcBef>
              <a:spcAft>
                <a:spcPts val="0"/>
              </a:spcAft>
              <a:buClr>
                <a:schemeClr val="lt1"/>
              </a:buClr>
              <a:buSzPts val="1400"/>
              <a:buChar char="•"/>
              <a:defRPr>
                <a:solidFill>
                  <a:schemeClr val="lt1"/>
                </a:solidFill>
              </a:defRPr>
            </a:lvl3pPr>
            <a:lvl4pPr indent="-317500" lvl="3" marL="1828800" algn="l">
              <a:lnSpc>
                <a:spcPct val="90000"/>
              </a:lnSpc>
              <a:spcBef>
                <a:spcPts val="400"/>
              </a:spcBef>
              <a:spcAft>
                <a:spcPts val="0"/>
              </a:spcAft>
              <a:buClr>
                <a:schemeClr val="lt1"/>
              </a:buClr>
              <a:buSzPts val="1400"/>
              <a:buChar char="•"/>
              <a:defRPr>
                <a:solidFill>
                  <a:schemeClr val="lt1"/>
                </a:solidFill>
              </a:defRPr>
            </a:lvl4pPr>
            <a:lvl5pPr indent="-317500" lvl="4" marL="2286000" algn="l">
              <a:lnSpc>
                <a:spcPct val="90000"/>
              </a:lnSpc>
              <a:spcBef>
                <a:spcPts val="400"/>
              </a:spcBef>
              <a:spcAft>
                <a:spcPts val="0"/>
              </a:spcAft>
              <a:buClr>
                <a:schemeClr val="lt1"/>
              </a:buClr>
              <a:buSzPts val="14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1">
  <p:cSld name="Title Slide 1">
    <p:bg>
      <p:bgPr>
        <a:solidFill>
          <a:schemeClr val="dk2"/>
        </a:solidFill>
      </p:bgPr>
    </p:bg>
    <p:spTree>
      <p:nvGrpSpPr>
        <p:cNvPr id="71" name="Shape 71"/>
        <p:cNvGrpSpPr/>
        <p:nvPr/>
      </p:nvGrpSpPr>
      <p:grpSpPr>
        <a:xfrm>
          <a:off x="0" y="0"/>
          <a:ext cx="0" cy="0"/>
          <a:chOff x="0" y="0"/>
          <a:chExt cx="0" cy="0"/>
        </a:xfrm>
      </p:grpSpPr>
      <p:sp>
        <p:nvSpPr>
          <p:cNvPr id="72" name="Google Shape;72;p22"/>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p:txBody>
      </p:sp>
      <p:sp>
        <p:nvSpPr>
          <p:cNvPr id="73" name="Google Shape;73;p22"/>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p:txBody>
      </p:sp>
      <p:pic>
        <p:nvPicPr>
          <p:cNvPr id="74" name="Google Shape;74;p22"/>
          <p:cNvPicPr preferRelativeResize="0"/>
          <p:nvPr/>
        </p:nvPicPr>
        <p:blipFill rotWithShape="1">
          <a:blip r:embed="rId2">
            <a:alphaModFix/>
          </a:blip>
          <a:srcRect b="0" l="0" r="0" t="0"/>
          <a:stretch/>
        </p:blipFill>
        <p:spPr>
          <a:xfrm>
            <a:off x="716304" y="564606"/>
            <a:ext cx="639881" cy="306710"/>
          </a:xfrm>
          <a:prstGeom prst="rect">
            <a:avLst/>
          </a:prstGeom>
          <a:noFill/>
          <a:ln>
            <a:noFill/>
          </a:ln>
        </p:spPr>
      </p:pic>
      <p:pic>
        <p:nvPicPr>
          <p:cNvPr id="75" name="Google Shape;75;p22"/>
          <p:cNvPicPr preferRelativeResize="0"/>
          <p:nvPr/>
        </p:nvPicPr>
        <p:blipFill rotWithShape="1">
          <a:blip r:embed="rId3">
            <a:alphaModFix/>
          </a:blip>
          <a:srcRect b="0" l="0" r="0" t="0"/>
          <a:stretch/>
        </p:blipFill>
        <p:spPr>
          <a:xfrm>
            <a:off x="5693291" y="1210831"/>
            <a:ext cx="2822062" cy="2877556"/>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2">
  <p:cSld name="Title Slide 2">
    <p:spTree>
      <p:nvGrpSpPr>
        <p:cNvPr id="76" name="Shape 76"/>
        <p:cNvGrpSpPr/>
        <p:nvPr/>
      </p:nvGrpSpPr>
      <p:grpSpPr>
        <a:xfrm>
          <a:off x="0" y="0"/>
          <a:ext cx="0" cy="0"/>
          <a:chOff x="0" y="0"/>
          <a:chExt cx="0" cy="0"/>
        </a:xfrm>
      </p:grpSpPr>
      <p:pic>
        <p:nvPicPr>
          <p:cNvPr id="77" name="Google Shape;77;p23"/>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78" name="Google Shape;78;p23"/>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23"/>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80" name="Google Shape;80;p23"/>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3">
  <p:cSld name="1_Title Slide 2">
    <p:spTree>
      <p:nvGrpSpPr>
        <p:cNvPr id="81" name="Shape 81"/>
        <p:cNvGrpSpPr/>
        <p:nvPr/>
      </p:nvGrpSpPr>
      <p:grpSpPr>
        <a:xfrm>
          <a:off x="0" y="0"/>
          <a:ext cx="0" cy="0"/>
          <a:chOff x="0" y="0"/>
          <a:chExt cx="0" cy="0"/>
        </a:xfrm>
      </p:grpSpPr>
      <p:pic>
        <p:nvPicPr>
          <p:cNvPr id="82" name="Google Shape;82;p24"/>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83" name="Google Shape;83;p24"/>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24"/>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85" name="Google Shape;85;p24"/>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_Title Slide 4">
  <p:cSld name="2_Title Slide 2">
    <p:spTree>
      <p:nvGrpSpPr>
        <p:cNvPr id="86" name="Shape 86"/>
        <p:cNvGrpSpPr/>
        <p:nvPr/>
      </p:nvGrpSpPr>
      <p:grpSpPr>
        <a:xfrm>
          <a:off x="0" y="0"/>
          <a:ext cx="0" cy="0"/>
          <a:chOff x="0" y="0"/>
          <a:chExt cx="0" cy="0"/>
        </a:xfrm>
      </p:grpSpPr>
      <p:pic>
        <p:nvPicPr>
          <p:cNvPr id="87" name="Google Shape;87;p25"/>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88" name="Google Shape;88;p25"/>
          <p:cNvSpPr txBox="1"/>
          <p:nvPr>
            <p:ph type="ctrTitle"/>
          </p:nvPr>
        </p:nvSpPr>
        <p:spPr>
          <a:xfrm>
            <a:off x="716304" y="1721858"/>
            <a:ext cx="4166100" cy="10359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9" name="Google Shape;89;p25"/>
          <p:cNvSpPr txBox="1"/>
          <p:nvPr>
            <p:ph idx="1" type="subTitle"/>
          </p:nvPr>
        </p:nvSpPr>
        <p:spPr>
          <a:xfrm>
            <a:off x="716304" y="2783485"/>
            <a:ext cx="4166100" cy="714600"/>
          </a:xfrm>
          <a:prstGeom prst="rect">
            <a:avLst/>
          </a:prstGeom>
          <a:noFill/>
          <a:ln>
            <a:noFill/>
          </a:ln>
        </p:spPr>
        <p:txBody>
          <a:bodyPr anchorCtr="0" anchor="t" bIns="34275" lIns="68575" spcFirstLastPara="1" rIns="68575" wrap="square" tIns="34275">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id="90" name="Google Shape;90;p25"/>
          <p:cNvPicPr preferRelativeResize="0"/>
          <p:nvPr/>
        </p:nvPicPr>
        <p:blipFill rotWithShape="1">
          <a:blip r:embed="rId3">
            <a:alphaModFix/>
          </a:blip>
          <a:srcRect b="0" l="0" r="0" t="0"/>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3/2) Blue">
  <p:cSld name="Title and Content (3/2) Blue">
    <p:bg>
      <p:bgPr>
        <a:blipFill>
          <a:blip r:embed="rId2">
            <a:alphaModFix/>
          </a:blip>
          <a:stretch>
            <a:fillRect/>
          </a:stretch>
        </a:blipFill>
      </p:bgPr>
    </p:bg>
    <p:spTree>
      <p:nvGrpSpPr>
        <p:cNvPr id="91" name="Shape 91"/>
        <p:cNvGrpSpPr/>
        <p:nvPr/>
      </p:nvGrpSpPr>
      <p:grpSpPr>
        <a:xfrm>
          <a:off x="0" y="0"/>
          <a:ext cx="0" cy="0"/>
          <a:chOff x="0" y="0"/>
          <a:chExt cx="0" cy="0"/>
        </a:xfrm>
      </p:grpSpPr>
      <p:sp>
        <p:nvSpPr>
          <p:cNvPr id="92" name="Google Shape;92;p26"/>
          <p:cNvSpPr/>
          <p:nvPr/>
        </p:nvSpPr>
        <p:spPr>
          <a:xfrm>
            <a:off x="6066275" y="0"/>
            <a:ext cx="30777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93" name="Google Shape;93;p26"/>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94" name="Google Shape;94;p26"/>
          <p:cNvSpPr txBox="1"/>
          <p:nvPr>
            <p:ph type="title"/>
          </p:nvPr>
        </p:nvSpPr>
        <p:spPr>
          <a:xfrm>
            <a:off x="420742" y="273844"/>
            <a:ext cx="52800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26"/>
          <p:cNvSpPr txBox="1"/>
          <p:nvPr>
            <p:ph idx="1" type="body"/>
          </p:nvPr>
        </p:nvSpPr>
        <p:spPr>
          <a:xfrm>
            <a:off x="420742" y="812524"/>
            <a:ext cx="52752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96" name="Google Shape;96;p26"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extLst>
    <p:ext uri="{DCECCB84-F9BA-43D5-87BE-67443E8EF086}">
      <p15:sldGuideLst>
        <p15:guide id="1" pos="4918">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type="obj">
  <p:cSld name="OBJECT">
    <p:spTree>
      <p:nvGrpSpPr>
        <p:cNvPr id="97" name="Shape 97"/>
        <p:cNvGrpSpPr/>
        <p:nvPr/>
      </p:nvGrpSpPr>
      <p:grpSpPr>
        <a:xfrm>
          <a:off x="0" y="0"/>
          <a:ext cx="0" cy="0"/>
          <a:chOff x="0" y="0"/>
          <a:chExt cx="0" cy="0"/>
        </a:xfrm>
      </p:grpSpPr>
      <p:sp>
        <p:nvSpPr>
          <p:cNvPr id="98" name="Google Shape;98;p27"/>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9" name="Google Shape;99;p27"/>
          <p:cNvSpPr txBox="1"/>
          <p:nvPr>
            <p:ph idx="1" type="body"/>
          </p:nvPr>
        </p:nvSpPr>
        <p:spPr>
          <a:xfrm>
            <a:off x="420743" y="812524"/>
            <a:ext cx="83025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1/2) Light">
  <p:cSld name="Title and Content (1/2) Light">
    <p:spTree>
      <p:nvGrpSpPr>
        <p:cNvPr id="100" name="Shape 100"/>
        <p:cNvGrpSpPr/>
        <p:nvPr/>
      </p:nvGrpSpPr>
      <p:grpSpPr>
        <a:xfrm>
          <a:off x="0" y="0"/>
          <a:ext cx="0" cy="0"/>
          <a:chOff x="0" y="0"/>
          <a:chExt cx="0" cy="0"/>
        </a:xfrm>
      </p:grpSpPr>
      <p:sp>
        <p:nvSpPr>
          <p:cNvPr id="101" name="Google Shape;101;p28"/>
          <p:cNvSpPr/>
          <p:nvPr/>
        </p:nvSpPr>
        <p:spPr>
          <a:xfrm>
            <a:off x="4572000" y="0"/>
            <a:ext cx="45720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02" name="Google Shape;102;p28"/>
          <p:cNvSpPr txBox="1"/>
          <p:nvPr>
            <p:ph type="title"/>
          </p:nvPr>
        </p:nvSpPr>
        <p:spPr>
          <a:xfrm>
            <a:off x="420742" y="273844"/>
            <a:ext cx="38496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3" name="Google Shape;103;p28"/>
          <p:cNvSpPr txBox="1"/>
          <p:nvPr>
            <p:ph idx="1" type="body"/>
          </p:nvPr>
        </p:nvSpPr>
        <p:spPr>
          <a:xfrm>
            <a:off x="420742" y="812524"/>
            <a:ext cx="38496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04" name="Google Shape;104;p28"/>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105" name="Google Shape;105;p28"/>
          <p:cNvPicPr preferRelativeResize="0"/>
          <p:nvPr/>
        </p:nvPicPr>
        <p:blipFill rotWithShape="1">
          <a:blip r:embed="rId2">
            <a:alphaModFix/>
          </a:blip>
          <a:srcRect b="0" l="0" r="0" t="0"/>
          <a:stretch/>
        </p:blipFill>
        <p:spPr>
          <a:xfrm>
            <a:off x="8412332" y="4829647"/>
            <a:ext cx="310926" cy="149074"/>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1/2) Blue">
  <p:cSld name="Title and Content (1/2) Blue">
    <p:spTree>
      <p:nvGrpSpPr>
        <p:cNvPr id="106" name="Shape 106"/>
        <p:cNvGrpSpPr/>
        <p:nvPr/>
      </p:nvGrpSpPr>
      <p:grpSpPr>
        <a:xfrm>
          <a:off x="0" y="0"/>
          <a:ext cx="0" cy="0"/>
          <a:chOff x="0" y="0"/>
          <a:chExt cx="0" cy="0"/>
        </a:xfrm>
      </p:grpSpPr>
      <p:sp>
        <p:nvSpPr>
          <p:cNvPr id="107" name="Google Shape;107;p29"/>
          <p:cNvSpPr/>
          <p:nvPr/>
        </p:nvSpPr>
        <p:spPr>
          <a:xfrm>
            <a:off x="4572000" y="0"/>
            <a:ext cx="45720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08" name="Google Shape;108;p29"/>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109" name="Google Shape;109;p29"/>
          <p:cNvSpPr txBox="1"/>
          <p:nvPr>
            <p:ph type="title"/>
          </p:nvPr>
        </p:nvSpPr>
        <p:spPr>
          <a:xfrm>
            <a:off x="420742" y="273844"/>
            <a:ext cx="38496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29"/>
          <p:cNvSpPr txBox="1"/>
          <p:nvPr>
            <p:ph idx="1" type="body"/>
          </p:nvPr>
        </p:nvSpPr>
        <p:spPr>
          <a:xfrm>
            <a:off x="420742" y="812524"/>
            <a:ext cx="38496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111" name="Google Shape;111;p29"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2/3) Blue">
  <p:cSld name="Title and Content (2/3) Blue">
    <p:spTree>
      <p:nvGrpSpPr>
        <p:cNvPr id="112" name="Shape 112"/>
        <p:cNvGrpSpPr/>
        <p:nvPr/>
      </p:nvGrpSpPr>
      <p:grpSpPr>
        <a:xfrm>
          <a:off x="0" y="0"/>
          <a:ext cx="0" cy="0"/>
          <a:chOff x="0" y="0"/>
          <a:chExt cx="0" cy="0"/>
        </a:xfrm>
      </p:grpSpPr>
      <p:sp>
        <p:nvSpPr>
          <p:cNvPr id="113" name="Google Shape;113;p30"/>
          <p:cNvSpPr/>
          <p:nvPr/>
        </p:nvSpPr>
        <p:spPr>
          <a:xfrm>
            <a:off x="-4188" y="0"/>
            <a:ext cx="3077700" cy="5143500"/>
          </a:xfrm>
          <a:prstGeom prst="rect">
            <a:avLst/>
          </a:prstGeom>
          <a:solidFill>
            <a:schemeClr val="dk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14" name="Google Shape;114;p30"/>
          <p:cNvSpPr txBox="1"/>
          <p:nvPr>
            <p:ph type="title"/>
          </p:nvPr>
        </p:nvSpPr>
        <p:spPr>
          <a:xfrm>
            <a:off x="420742" y="273844"/>
            <a:ext cx="22278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5" name="Google Shape;115;p30"/>
          <p:cNvSpPr txBox="1"/>
          <p:nvPr>
            <p:ph idx="1" type="body"/>
          </p:nvPr>
        </p:nvSpPr>
        <p:spPr>
          <a:xfrm>
            <a:off x="420742" y="812524"/>
            <a:ext cx="2227800" cy="3820200"/>
          </a:xfrm>
          <a:prstGeom prst="rect">
            <a:avLst/>
          </a:prstGeom>
          <a:noFill/>
          <a:ln>
            <a:noFill/>
          </a:ln>
        </p:spPr>
        <p:txBody>
          <a:bodyPr anchorCtr="0" anchor="t" bIns="34275" lIns="68575" spcFirstLastPara="1" rIns="68575" wrap="square" tIns="34275">
            <a:normAutofit/>
          </a:bodyPr>
          <a:lstStyle>
            <a:lvl1pPr indent="-323850" lvl="0" marL="457200" algn="l">
              <a:lnSpc>
                <a:spcPct val="90000"/>
              </a:lnSpc>
              <a:spcBef>
                <a:spcPts val="800"/>
              </a:spcBef>
              <a:spcAft>
                <a:spcPts val="0"/>
              </a:spcAft>
              <a:buClr>
                <a:schemeClr val="lt1"/>
              </a:buClr>
              <a:buSzPts val="1500"/>
              <a:buChar char="•"/>
              <a:defRPr>
                <a:solidFill>
                  <a:schemeClr val="lt1"/>
                </a:solidFill>
              </a:defRPr>
            </a:lvl1pPr>
            <a:lvl2pPr indent="-317500" lvl="1" marL="914400" algn="l">
              <a:lnSpc>
                <a:spcPct val="90000"/>
              </a:lnSpc>
              <a:spcBef>
                <a:spcPts val="400"/>
              </a:spcBef>
              <a:spcAft>
                <a:spcPts val="0"/>
              </a:spcAft>
              <a:buClr>
                <a:schemeClr val="lt1"/>
              </a:buClr>
              <a:buSzPts val="1400"/>
              <a:buChar char="•"/>
              <a:defRPr>
                <a:solidFill>
                  <a:schemeClr val="lt1"/>
                </a:solidFill>
              </a:defRPr>
            </a:lvl2pPr>
            <a:lvl3pPr indent="-304800" lvl="2" marL="1371600" algn="l">
              <a:lnSpc>
                <a:spcPct val="90000"/>
              </a:lnSpc>
              <a:spcBef>
                <a:spcPts val="400"/>
              </a:spcBef>
              <a:spcAft>
                <a:spcPts val="0"/>
              </a:spcAft>
              <a:buClr>
                <a:schemeClr val="lt1"/>
              </a:buClr>
              <a:buSzPts val="1200"/>
              <a:buChar char="•"/>
              <a:defRPr>
                <a:solidFill>
                  <a:schemeClr val="lt1"/>
                </a:solidFill>
              </a:defRPr>
            </a:lvl3pPr>
            <a:lvl4pPr indent="-298450" lvl="3" marL="1828800" algn="l">
              <a:lnSpc>
                <a:spcPct val="90000"/>
              </a:lnSpc>
              <a:spcBef>
                <a:spcPts val="400"/>
              </a:spcBef>
              <a:spcAft>
                <a:spcPts val="0"/>
              </a:spcAft>
              <a:buClr>
                <a:schemeClr val="lt1"/>
              </a:buClr>
              <a:buSzPts val="1100"/>
              <a:buChar char="•"/>
              <a:defRPr>
                <a:solidFill>
                  <a:schemeClr val="lt1"/>
                </a:solidFill>
              </a:defRPr>
            </a:lvl4pPr>
            <a:lvl5pPr indent="-298450" lvl="4" marL="2286000" algn="l">
              <a:lnSpc>
                <a:spcPct val="90000"/>
              </a:lnSpc>
              <a:spcBef>
                <a:spcPts val="400"/>
              </a:spcBef>
              <a:spcAft>
                <a:spcPts val="0"/>
              </a:spcAft>
              <a:buClr>
                <a:schemeClr val="lt1"/>
              </a:buClr>
              <a:buSzPts val="1100"/>
              <a:buChar char="•"/>
              <a:defRPr>
                <a:solidFill>
                  <a:schemeClr val="lt1"/>
                </a:solidFill>
              </a:defRPr>
            </a:lvl5pPr>
            <a:lvl6pPr indent="-317500" lvl="5" marL="2743200" algn="l">
              <a:lnSpc>
                <a:spcPct val="90000"/>
              </a:lnSpc>
              <a:spcBef>
                <a:spcPts val="400"/>
              </a:spcBef>
              <a:spcAft>
                <a:spcPts val="0"/>
              </a:spcAft>
              <a:buClr>
                <a:schemeClr val="lt1"/>
              </a:buClr>
              <a:buSzPts val="1400"/>
              <a:buChar char="•"/>
              <a:defRPr>
                <a:solidFill>
                  <a:schemeClr val="lt1"/>
                </a:solidFill>
              </a:defRPr>
            </a:lvl6pPr>
            <a:lvl7pPr indent="-317500" lvl="6" marL="3200400" algn="l">
              <a:lnSpc>
                <a:spcPct val="90000"/>
              </a:lnSpc>
              <a:spcBef>
                <a:spcPts val="400"/>
              </a:spcBef>
              <a:spcAft>
                <a:spcPts val="0"/>
              </a:spcAft>
              <a:buClr>
                <a:schemeClr val="lt1"/>
              </a:buClr>
              <a:buSzPts val="1400"/>
              <a:buChar char="•"/>
              <a:defRPr>
                <a:solidFill>
                  <a:schemeClr val="lt1"/>
                </a:solidFill>
              </a:defRPr>
            </a:lvl7pPr>
            <a:lvl8pPr indent="-317500" lvl="7" marL="3657600" algn="l">
              <a:lnSpc>
                <a:spcPct val="90000"/>
              </a:lnSpc>
              <a:spcBef>
                <a:spcPts val="400"/>
              </a:spcBef>
              <a:spcAft>
                <a:spcPts val="0"/>
              </a:spcAft>
              <a:buClr>
                <a:schemeClr val="lt1"/>
              </a:buClr>
              <a:buSzPts val="1400"/>
              <a:buChar char="•"/>
              <a:defRPr>
                <a:solidFill>
                  <a:schemeClr val="lt1"/>
                </a:solidFill>
              </a:defRPr>
            </a:lvl8pPr>
            <a:lvl9pPr indent="-317500" lvl="8" marL="4114800" algn="l">
              <a:lnSpc>
                <a:spcPct val="90000"/>
              </a:lnSpc>
              <a:spcBef>
                <a:spcPts val="400"/>
              </a:spcBef>
              <a:spcAft>
                <a:spcPts val="0"/>
              </a:spcAft>
              <a:buClr>
                <a:schemeClr val="lt1"/>
              </a:buClr>
              <a:buSzPts val="1400"/>
              <a:buChar char="•"/>
              <a:defRPr>
                <a:solidFill>
                  <a:schemeClr val="lt1"/>
                </a:solidFill>
              </a:defRPr>
            </a:lvl9pPr>
          </a:lstStyle>
          <a:p/>
        </p:txBody>
      </p:sp>
      <p:sp>
        <p:nvSpPr>
          <p:cNvPr id="116" name="Google Shape;116;p30"/>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117" name="Google Shape;117;p30"/>
          <p:cNvPicPr preferRelativeResize="0"/>
          <p:nvPr/>
        </p:nvPicPr>
        <p:blipFill rotWithShape="1">
          <a:blip r:embed="rId2">
            <a:alphaModFix/>
          </a:blip>
          <a:srcRect b="0" l="0" r="0" t="0"/>
          <a:stretch/>
        </p:blipFill>
        <p:spPr>
          <a:xfrm>
            <a:off x="420742" y="4829647"/>
            <a:ext cx="310926" cy="149074"/>
          </a:xfrm>
          <a:prstGeom prst="rect">
            <a:avLst/>
          </a:prstGeom>
          <a:noFill/>
          <a:ln>
            <a:noFill/>
          </a:ln>
        </p:spPr>
      </p:pic>
      <p:pic>
        <p:nvPicPr>
          <p:cNvPr id="118" name="Google Shape;118;p30"/>
          <p:cNvPicPr preferRelativeResize="0"/>
          <p:nvPr/>
        </p:nvPicPr>
        <p:blipFill rotWithShape="1">
          <a:blip r:embed="rId3">
            <a:alphaModFix/>
          </a:blip>
          <a:srcRect b="0" l="0" r="0" t="0"/>
          <a:stretch/>
        </p:blipFill>
        <p:spPr>
          <a:xfrm>
            <a:off x="4719311" y="3391372"/>
            <a:ext cx="313335" cy="151200"/>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itle and Content (3/2) Light">
  <p:cSld name="Title and Content (3/2) Light">
    <p:spTree>
      <p:nvGrpSpPr>
        <p:cNvPr id="119" name="Shape 119"/>
        <p:cNvGrpSpPr/>
        <p:nvPr/>
      </p:nvGrpSpPr>
      <p:grpSpPr>
        <a:xfrm>
          <a:off x="0" y="0"/>
          <a:ext cx="0" cy="0"/>
          <a:chOff x="0" y="0"/>
          <a:chExt cx="0" cy="0"/>
        </a:xfrm>
      </p:grpSpPr>
      <p:sp>
        <p:nvSpPr>
          <p:cNvPr id="120" name="Google Shape;120;p31"/>
          <p:cNvSpPr/>
          <p:nvPr/>
        </p:nvSpPr>
        <p:spPr>
          <a:xfrm>
            <a:off x="6066275" y="0"/>
            <a:ext cx="3077700" cy="51435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1" name="Google Shape;121;p31"/>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122" name="Google Shape;122;p31"/>
          <p:cNvSpPr txBox="1"/>
          <p:nvPr>
            <p:ph type="title"/>
          </p:nvPr>
        </p:nvSpPr>
        <p:spPr>
          <a:xfrm>
            <a:off x="420742" y="273844"/>
            <a:ext cx="52800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31"/>
          <p:cNvSpPr txBox="1"/>
          <p:nvPr>
            <p:ph idx="1" type="body"/>
          </p:nvPr>
        </p:nvSpPr>
        <p:spPr>
          <a:xfrm>
            <a:off x="420742" y="812524"/>
            <a:ext cx="5275200" cy="38202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id="124" name="Google Shape;124;p31"/>
          <p:cNvPicPr preferRelativeResize="0"/>
          <p:nvPr/>
        </p:nvPicPr>
        <p:blipFill rotWithShape="1">
          <a:blip r:embed="rId2">
            <a:alphaModFix/>
          </a:blip>
          <a:srcRect b="0" l="0" r="0" t="0"/>
          <a:stretch/>
        </p:blipFill>
        <p:spPr>
          <a:xfrm>
            <a:off x="8412332" y="4829647"/>
            <a:ext cx="310926" cy="149074"/>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1">
  <p:cSld name="Cards 1">
    <p:spTree>
      <p:nvGrpSpPr>
        <p:cNvPr id="125" name="Shape 125"/>
        <p:cNvGrpSpPr/>
        <p:nvPr/>
      </p:nvGrpSpPr>
      <p:grpSpPr>
        <a:xfrm>
          <a:off x="0" y="0"/>
          <a:ext cx="0" cy="0"/>
          <a:chOff x="0" y="0"/>
          <a:chExt cx="0" cy="0"/>
        </a:xfrm>
      </p:grpSpPr>
      <p:sp>
        <p:nvSpPr>
          <p:cNvPr id="126" name="Google Shape;126;p32"/>
          <p:cNvSpPr/>
          <p:nvPr/>
        </p:nvSpPr>
        <p:spPr>
          <a:xfrm>
            <a:off x="492931" y="813038"/>
            <a:ext cx="2406000" cy="37590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7" name="Google Shape;127;p32"/>
          <p:cNvSpPr/>
          <p:nvPr/>
        </p:nvSpPr>
        <p:spPr>
          <a:xfrm>
            <a:off x="3378413" y="813038"/>
            <a:ext cx="2406000" cy="37590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8" name="Google Shape;128;p32"/>
          <p:cNvSpPr/>
          <p:nvPr/>
        </p:nvSpPr>
        <p:spPr>
          <a:xfrm>
            <a:off x="6256421" y="813038"/>
            <a:ext cx="2406000" cy="37590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29" name="Google Shape;129;p32"/>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32"/>
          <p:cNvSpPr txBox="1"/>
          <p:nvPr>
            <p:ph idx="1" type="body"/>
          </p:nvPr>
        </p:nvSpPr>
        <p:spPr>
          <a:xfrm>
            <a:off x="740774"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1" name="Google Shape;131;p32"/>
          <p:cNvSpPr txBox="1"/>
          <p:nvPr>
            <p:ph idx="2" type="body"/>
          </p:nvPr>
        </p:nvSpPr>
        <p:spPr>
          <a:xfrm>
            <a:off x="667264"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2" name="Google Shape;132;p32"/>
          <p:cNvSpPr txBox="1"/>
          <p:nvPr>
            <p:ph idx="3" type="body"/>
          </p:nvPr>
        </p:nvSpPr>
        <p:spPr>
          <a:xfrm>
            <a:off x="3625767"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3" name="Google Shape;133;p32"/>
          <p:cNvSpPr txBox="1"/>
          <p:nvPr>
            <p:ph idx="4" type="body"/>
          </p:nvPr>
        </p:nvSpPr>
        <p:spPr>
          <a:xfrm>
            <a:off x="3552257"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32"/>
          <p:cNvSpPr txBox="1"/>
          <p:nvPr>
            <p:ph idx="5" type="body"/>
          </p:nvPr>
        </p:nvSpPr>
        <p:spPr>
          <a:xfrm>
            <a:off x="6503777" y="1537190"/>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5" name="Google Shape;135;p32"/>
          <p:cNvSpPr txBox="1"/>
          <p:nvPr>
            <p:ph idx="6" type="body"/>
          </p:nvPr>
        </p:nvSpPr>
        <p:spPr>
          <a:xfrm>
            <a:off x="6430267" y="1982956"/>
            <a:ext cx="2057400" cy="241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36" name="Google Shape;136;p32"/>
          <p:cNvCxnSpPr/>
          <p:nvPr/>
        </p:nvCxnSpPr>
        <p:spPr>
          <a:xfrm>
            <a:off x="740774" y="1847088"/>
            <a:ext cx="1910400" cy="0"/>
          </a:xfrm>
          <a:prstGeom prst="straightConnector1">
            <a:avLst/>
          </a:prstGeom>
          <a:noFill/>
          <a:ln cap="flat" cmpd="sng" w="12700">
            <a:solidFill>
              <a:schemeClr val="dk2"/>
            </a:solidFill>
            <a:prstDash val="solid"/>
            <a:miter lim="800000"/>
            <a:headEnd len="sm" w="sm" type="none"/>
            <a:tailEnd len="sm" w="sm" type="none"/>
          </a:ln>
        </p:spPr>
      </p:cxnSp>
      <p:cxnSp>
        <p:nvCxnSpPr>
          <p:cNvPr id="137" name="Google Shape;137;p32"/>
          <p:cNvCxnSpPr/>
          <p:nvPr/>
        </p:nvCxnSpPr>
        <p:spPr>
          <a:xfrm>
            <a:off x="3625767" y="1847088"/>
            <a:ext cx="1910400" cy="0"/>
          </a:xfrm>
          <a:prstGeom prst="straightConnector1">
            <a:avLst/>
          </a:prstGeom>
          <a:noFill/>
          <a:ln cap="flat" cmpd="sng" w="12700">
            <a:solidFill>
              <a:schemeClr val="dk2"/>
            </a:solidFill>
            <a:prstDash val="solid"/>
            <a:miter lim="800000"/>
            <a:headEnd len="sm" w="sm" type="none"/>
            <a:tailEnd len="sm" w="sm" type="none"/>
          </a:ln>
        </p:spPr>
      </p:cxnSp>
      <p:cxnSp>
        <p:nvCxnSpPr>
          <p:cNvPr id="138" name="Google Shape;138;p32"/>
          <p:cNvCxnSpPr/>
          <p:nvPr/>
        </p:nvCxnSpPr>
        <p:spPr>
          <a:xfrm>
            <a:off x="6503777" y="1847088"/>
            <a:ext cx="1910400" cy="0"/>
          </a:xfrm>
          <a:prstGeom prst="straightConnector1">
            <a:avLst/>
          </a:prstGeom>
          <a:noFill/>
          <a:ln cap="flat" cmpd="sng" w="12700">
            <a:solidFill>
              <a:schemeClr val="dk2"/>
            </a:solidFill>
            <a:prstDash val="solid"/>
            <a:miter lim="800000"/>
            <a:headEnd len="sm" w="sm" type="none"/>
            <a:tailEnd len="sm" w="sm" type="none"/>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2">
  <p:cSld name="Cards 2">
    <p:spTree>
      <p:nvGrpSpPr>
        <p:cNvPr id="139" name="Shape 139"/>
        <p:cNvGrpSpPr/>
        <p:nvPr/>
      </p:nvGrpSpPr>
      <p:grpSpPr>
        <a:xfrm>
          <a:off x="0" y="0"/>
          <a:ext cx="0" cy="0"/>
          <a:chOff x="0" y="0"/>
          <a:chExt cx="0" cy="0"/>
        </a:xfrm>
      </p:grpSpPr>
      <p:sp>
        <p:nvSpPr>
          <p:cNvPr id="140" name="Google Shape;140;p33"/>
          <p:cNvSpPr/>
          <p:nvPr/>
        </p:nvSpPr>
        <p:spPr>
          <a:xfrm>
            <a:off x="492931" y="2389174"/>
            <a:ext cx="2406000" cy="21828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1" name="Google Shape;141;p33"/>
          <p:cNvSpPr/>
          <p:nvPr/>
        </p:nvSpPr>
        <p:spPr>
          <a:xfrm>
            <a:off x="3378413" y="2389174"/>
            <a:ext cx="2406000" cy="21828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2" name="Google Shape;142;p33"/>
          <p:cNvSpPr/>
          <p:nvPr/>
        </p:nvSpPr>
        <p:spPr>
          <a:xfrm>
            <a:off x="6256421" y="2389174"/>
            <a:ext cx="2406000" cy="2182800"/>
          </a:xfrm>
          <a:prstGeom prst="roundRect">
            <a:avLst>
              <a:gd fmla="val 2226" name="adj"/>
            </a:avLst>
          </a:prstGeom>
          <a:solidFill>
            <a:schemeClr val="lt1"/>
          </a:solidFill>
          <a:ln cap="flat" cmpd="sng" w="12700">
            <a:solidFill>
              <a:schemeClr val="dk2"/>
            </a:solidFill>
            <a:prstDash val="solid"/>
            <a:miter lim="800000"/>
            <a:headEnd len="sm" w="sm" type="none"/>
            <a:tailEnd len="sm" w="sm" type="none"/>
          </a:ln>
          <a:effectLst>
            <a:outerShdw rotWithShape="0" algn="ctr" dir="7800000" dist="63500">
              <a:schemeClr val="accent3"/>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43" name="Google Shape;143;p33"/>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4" name="Google Shape;144;p33"/>
          <p:cNvSpPr txBox="1"/>
          <p:nvPr>
            <p:ph idx="1" type="body"/>
          </p:nvPr>
        </p:nvSpPr>
        <p:spPr>
          <a:xfrm>
            <a:off x="740774"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5" name="Google Shape;145;p33"/>
          <p:cNvSpPr txBox="1"/>
          <p:nvPr>
            <p:ph idx="2" type="body"/>
          </p:nvPr>
        </p:nvSpPr>
        <p:spPr>
          <a:xfrm>
            <a:off x="667264"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6" name="Google Shape;146;p33"/>
          <p:cNvSpPr txBox="1"/>
          <p:nvPr>
            <p:ph idx="3" type="body"/>
          </p:nvPr>
        </p:nvSpPr>
        <p:spPr>
          <a:xfrm>
            <a:off x="3626255"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7" name="Google Shape;147;p33"/>
          <p:cNvSpPr txBox="1"/>
          <p:nvPr>
            <p:ph idx="4" type="body"/>
          </p:nvPr>
        </p:nvSpPr>
        <p:spPr>
          <a:xfrm>
            <a:off x="3552745"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8" name="Google Shape;148;p33"/>
          <p:cNvSpPr txBox="1"/>
          <p:nvPr>
            <p:ph idx="5" type="body"/>
          </p:nvPr>
        </p:nvSpPr>
        <p:spPr>
          <a:xfrm>
            <a:off x="6504263" y="3113325"/>
            <a:ext cx="1910400" cy="309900"/>
          </a:xfrm>
          <a:prstGeom prst="rect">
            <a:avLst/>
          </a:prstGeom>
          <a:noFill/>
          <a:ln>
            <a:noFill/>
          </a:ln>
        </p:spPr>
        <p:txBody>
          <a:bodyPr anchorCtr="0" anchor="t" bIns="34275" lIns="68575" spcFirstLastPara="1" rIns="68575" wrap="square" tIns="34275">
            <a:normAutofit/>
          </a:bodyPr>
          <a:lstStyle>
            <a:lvl1pPr indent="-228600" lvl="0" marL="457200" algn="ctr">
              <a:lnSpc>
                <a:spcPct val="90000"/>
              </a:lnSpc>
              <a:spcBef>
                <a:spcPts val="800"/>
              </a:spcBef>
              <a:spcAft>
                <a:spcPts val="0"/>
              </a:spcAft>
              <a:buClr>
                <a:schemeClr val="dk2"/>
              </a:buClr>
              <a:buSzPts val="1200"/>
              <a:buNone/>
              <a:defRPr b="0" i="0" sz="1200">
                <a:solidFill>
                  <a:schemeClr val="dk2"/>
                </a:solidFill>
                <a:latin typeface="DM Sans"/>
                <a:ea typeface="DM Sans"/>
                <a:cs typeface="DM Sans"/>
                <a:sym typeface="DM Sans"/>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49" name="Google Shape;149;p33"/>
          <p:cNvSpPr txBox="1"/>
          <p:nvPr>
            <p:ph idx="6" type="body"/>
          </p:nvPr>
        </p:nvSpPr>
        <p:spPr>
          <a:xfrm>
            <a:off x="6430754" y="3559092"/>
            <a:ext cx="2057400" cy="8565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50" name="Google Shape;150;p33"/>
          <p:cNvSpPr txBox="1"/>
          <p:nvPr>
            <p:ph idx="7" type="body"/>
          </p:nvPr>
        </p:nvSpPr>
        <p:spPr>
          <a:xfrm>
            <a:off x="420743" y="812524"/>
            <a:ext cx="8302500" cy="13815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51" name="Google Shape;151;p33"/>
          <p:cNvCxnSpPr/>
          <p:nvPr/>
        </p:nvCxnSpPr>
        <p:spPr>
          <a:xfrm>
            <a:off x="740774" y="3423224"/>
            <a:ext cx="1910400" cy="0"/>
          </a:xfrm>
          <a:prstGeom prst="straightConnector1">
            <a:avLst/>
          </a:prstGeom>
          <a:noFill/>
          <a:ln cap="flat" cmpd="sng" w="12700">
            <a:solidFill>
              <a:schemeClr val="dk2"/>
            </a:solidFill>
            <a:prstDash val="solid"/>
            <a:miter lim="800000"/>
            <a:headEnd len="sm" w="sm" type="none"/>
            <a:tailEnd len="sm" w="sm" type="none"/>
          </a:ln>
        </p:spPr>
      </p:cxnSp>
      <p:cxnSp>
        <p:nvCxnSpPr>
          <p:cNvPr id="152" name="Google Shape;152;p33"/>
          <p:cNvCxnSpPr/>
          <p:nvPr/>
        </p:nvCxnSpPr>
        <p:spPr>
          <a:xfrm>
            <a:off x="3628353" y="3423224"/>
            <a:ext cx="1910400" cy="0"/>
          </a:xfrm>
          <a:prstGeom prst="straightConnector1">
            <a:avLst/>
          </a:prstGeom>
          <a:noFill/>
          <a:ln cap="flat" cmpd="sng" w="12700">
            <a:solidFill>
              <a:schemeClr val="dk2"/>
            </a:solidFill>
            <a:prstDash val="solid"/>
            <a:miter lim="800000"/>
            <a:headEnd len="sm" w="sm" type="none"/>
            <a:tailEnd len="sm" w="sm" type="none"/>
          </a:ln>
        </p:spPr>
      </p:cxnSp>
      <p:cxnSp>
        <p:nvCxnSpPr>
          <p:cNvPr id="153" name="Google Shape;153;p33"/>
          <p:cNvCxnSpPr/>
          <p:nvPr/>
        </p:nvCxnSpPr>
        <p:spPr>
          <a:xfrm>
            <a:off x="6503777" y="3423224"/>
            <a:ext cx="1910400" cy="0"/>
          </a:xfrm>
          <a:prstGeom prst="straightConnector1">
            <a:avLst/>
          </a:prstGeom>
          <a:noFill/>
          <a:ln cap="flat" cmpd="sng" w="12700">
            <a:solidFill>
              <a:schemeClr val="dk2"/>
            </a:solidFill>
            <a:prstDash val="solid"/>
            <a:miter lim="800000"/>
            <a:headEnd len="sm" w="sm" type="none"/>
            <a:tailEnd len="sm" w="sm" type="none"/>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3">
  <p:cSld name="Cards 3">
    <p:spTree>
      <p:nvGrpSpPr>
        <p:cNvPr id="154" name="Shape 154"/>
        <p:cNvGrpSpPr/>
        <p:nvPr/>
      </p:nvGrpSpPr>
      <p:grpSpPr>
        <a:xfrm>
          <a:off x="0" y="0"/>
          <a:ext cx="0" cy="0"/>
          <a:chOff x="0" y="0"/>
          <a:chExt cx="0" cy="0"/>
        </a:xfrm>
      </p:grpSpPr>
      <p:sp>
        <p:nvSpPr>
          <p:cNvPr id="155" name="Google Shape;155;p34"/>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6" name="Google Shape;156;p34"/>
          <p:cNvSpPr/>
          <p:nvPr/>
        </p:nvSpPr>
        <p:spPr>
          <a:xfrm>
            <a:off x="463013" y="1048888"/>
            <a:ext cx="1877100" cy="35706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57" name="Google Shape;157;p34"/>
          <p:cNvSpPr/>
          <p:nvPr/>
        </p:nvSpPr>
        <p:spPr>
          <a:xfrm>
            <a:off x="1031136" y="752468"/>
            <a:ext cx="740700" cy="740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58" name="Google Shape;158;p34"/>
          <p:cNvSpPr/>
          <p:nvPr/>
        </p:nvSpPr>
        <p:spPr>
          <a:xfrm>
            <a:off x="2596613" y="1048888"/>
            <a:ext cx="1877100" cy="35706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59" name="Google Shape;159;p34"/>
          <p:cNvSpPr/>
          <p:nvPr/>
        </p:nvSpPr>
        <p:spPr>
          <a:xfrm>
            <a:off x="3164736" y="752468"/>
            <a:ext cx="740700" cy="740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0" name="Google Shape;160;p34"/>
          <p:cNvSpPr/>
          <p:nvPr/>
        </p:nvSpPr>
        <p:spPr>
          <a:xfrm>
            <a:off x="4730213" y="1048888"/>
            <a:ext cx="1877100" cy="35706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61" name="Google Shape;161;p34"/>
          <p:cNvSpPr/>
          <p:nvPr/>
        </p:nvSpPr>
        <p:spPr>
          <a:xfrm>
            <a:off x="5298336" y="752468"/>
            <a:ext cx="740700" cy="740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2" name="Google Shape;162;p34"/>
          <p:cNvSpPr/>
          <p:nvPr/>
        </p:nvSpPr>
        <p:spPr>
          <a:xfrm>
            <a:off x="6863813" y="1048888"/>
            <a:ext cx="1877100" cy="35706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63" name="Google Shape;163;p34"/>
          <p:cNvSpPr/>
          <p:nvPr/>
        </p:nvSpPr>
        <p:spPr>
          <a:xfrm>
            <a:off x="7431936" y="752468"/>
            <a:ext cx="740700" cy="740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64" name="Google Shape;164;p34"/>
          <p:cNvSpPr txBox="1"/>
          <p:nvPr>
            <p:ph idx="1" type="body"/>
          </p:nvPr>
        </p:nvSpPr>
        <p:spPr>
          <a:xfrm>
            <a:off x="5725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5" name="Google Shape;165;p34"/>
          <p:cNvSpPr txBox="1"/>
          <p:nvPr>
            <p:ph idx="2" type="body"/>
          </p:nvPr>
        </p:nvSpPr>
        <p:spPr>
          <a:xfrm>
            <a:off x="2706160"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6" name="Google Shape;166;p34"/>
          <p:cNvSpPr txBox="1"/>
          <p:nvPr>
            <p:ph idx="3" type="body"/>
          </p:nvPr>
        </p:nvSpPr>
        <p:spPr>
          <a:xfrm>
            <a:off x="48397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7" name="Google Shape;167;p34"/>
          <p:cNvSpPr txBox="1"/>
          <p:nvPr>
            <p:ph idx="4" type="body"/>
          </p:nvPr>
        </p:nvSpPr>
        <p:spPr>
          <a:xfrm>
            <a:off x="6973361" y="2072245"/>
            <a:ext cx="1657800" cy="2390400"/>
          </a:xfrm>
          <a:prstGeom prst="rect">
            <a:avLst/>
          </a:prstGeom>
          <a:noFill/>
          <a:ln>
            <a:noFill/>
          </a:ln>
        </p:spPr>
        <p:txBody>
          <a:bodyPr anchorCtr="0" anchor="t" bIns="34275" lIns="68575" spcFirstLastPara="1" rIns="68575" wrap="square" tIns="34275">
            <a:noAutofit/>
          </a:bodyPr>
          <a:lstStyle>
            <a:lvl1pPr indent="-285750" lvl="0" marL="457200" algn="l">
              <a:lnSpc>
                <a:spcPct val="90000"/>
              </a:lnSpc>
              <a:spcBef>
                <a:spcPts val="800"/>
              </a:spcBef>
              <a:spcAft>
                <a:spcPts val="0"/>
              </a:spcAft>
              <a:buClr>
                <a:schemeClr val="dk1"/>
              </a:buClr>
              <a:buSzPts val="900"/>
              <a:buFont typeface="DM Sans"/>
              <a:buChar char="•"/>
              <a:defRPr sz="900"/>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8" name="Google Shape;168;p34"/>
          <p:cNvSpPr txBox="1"/>
          <p:nvPr>
            <p:ph idx="5" type="body"/>
          </p:nvPr>
        </p:nvSpPr>
        <p:spPr>
          <a:xfrm>
            <a:off x="572561"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9" name="Google Shape;169;p34"/>
          <p:cNvSpPr txBox="1"/>
          <p:nvPr>
            <p:ph idx="6" type="body"/>
          </p:nvPr>
        </p:nvSpPr>
        <p:spPr>
          <a:xfrm>
            <a:off x="27061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0" name="Google Shape;170;p34"/>
          <p:cNvSpPr txBox="1"/>
          <p:nvPr>
            <p:ph idx="7" type="body"/>
          </p:nvPr>
        </p:nvSpPr>
        <p:spPr>
          <a:xfrm>
            <a:off x="48397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71" name="Google Shape;171;p34"/>
          <p:cNvSpPr txBox="1"/>
          <p:nvPr>
            <p:ph idx="8" type="body"/>
          </p:nvPr>
        </p:nvSpPr>
        <p:spPr>
          <a:xfrm>
            <a:off x="6973360" y="1537189"/>
            <a:ext cx="1657800" cy="309900"/>
          </a:xfrm>
          <a:prstGeom prst="rect">
            <a:avLst/>
          </a:prstGeom>
          <a:noFill/>
          <a:ln>
            <a:noFill/>
          </a:ln>
        </p:spPr>
        <p:txBody>
          <a:bodyPr anchorCtr="0" anchor="t" bIns="34275" lIns="68575" spcFirstLastPara="1" rIns="68575" wrap="square" tIns="34275">
            <a:noAutofit/>
          </a:bodyPr>
          <a:lstStyle>
            <a:lvl1pPr indent="-228600" lvl="0" marL="457200" algn="ctr">
              <a:lnSpc>
                <a:spcPct val="90000"/>
              </a:lnSpc>
              <a:spcBef>
                <a:spcPts val="800"/>
              </a:spcBef>
              <a:spcAft>
                <a:spcPts val="0"/>
              </a:spcAft>
              <a:buClr>
                <a:schemeClr val="dk2"/>
              </a:buClr>
              <a:buSzPts val="1100"/>
              <a:buFont typeface="DM Sans"/>
              <a:buNone/>
              <a:defRPr sz="1100">
                <a:solidFill>
                  <a:schemeClr val="dk2"/>
                </a:solidFill>
              </a:defRPr>
            </a:lvl1pPr>
            <a:lvl2pPr indent="-285750" lvl="1" marL="914400" algn="l">
              <a:lnSpc>
                <a:spcPct val="90000"/>
              </a:lnSpc>
              <a:spcBef>
                <a:spcPts val="400"/>
              </a:spcBef>
              <a:spcAft>
                <a:spcPts val="0"/>
              </a:spcAft>
              <a:buClr>
                <a:schemeClr val="dk1"/>
              </a:buClr>
              <a:buSzPts val="900"/>
              <a:buFont typeface="DM Sans"/>
              <a:buChar char="•"/>
              <a:defRPr sz="900"/>
            </a:lvl2pPr>
            <a:lvl3pPr indent="-285750" lvl="2" marL="1371600" algn="l">
              <a:lnSpc>
                <a:spcPct val="90000"/>
              </a:lnSpc>
              <a:spcBef>
                <a:spcPts val="400"/>
              </a:spcBef>
              <a:spcAft>
                <a:spcPts val="0"/>
              </a:spcAft>
              <a:buClr>
                <a:schemeClr val="dk1"/>
              </a:buClr>
              <a:buSzPts val="900"/>
              <a:buFont typeface="DM Sans"/>
              <a:buChar char="•"/>
              <a:defRPr sz="900"/>
            </a:lvl3pPr>
            <a:lvl4pPr indent="-285750" lvl="3" marL="1828800" algn="l">
              <a:lnSpc>
                <a:spcPct val="90000"/>
              </a:lnSpc>
              <a:spcBef>
                <a:spcPts val="400"/>
              </a:spcBef>
              <a:spcAft>
                <a:spcPts val="0"/>
              </a:spcAft>
              <a:buClr>
                <a:schemeClr val="dk1"/>
              </a:buClr>
              <a:buSzPts val="900"/>
              <a:buFont typeface="DM Sans"/>
              <a:buChar char="•"/>
              <a:defRPr sz="900"/>
            </a:lvl4pPr>
            <a:lvl5pPr indent="-285750" lvl="4" marL="2286000" algn="l">
              <a:lnSpc>
                <a:spcPct val="90000"/>
              </a:lnSpc>
              <a:spcBef>
                <a:spcPts val="400"/>
              </a:spcBef>
              <a:spcAft>
                <a:spcPts val="0"/>
              </a:spcAft>
              <a:buClr>
                <a:schemeClr val="dk1"/>
              </a:buClr>
              <a:buSzPts val="900"/>
              <a:buFont typeface="DM Sans"/>
              <a:buChar char="•"/>
              <a:defRPr sz="9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172" name="Google Shape;172;p34"/>
          <p:cNvCxnSpPr/>
          <p:nvPr/>
        </p:nvCxnSpPr>
        <p:spPr>
          <a:xfrm>
            <a:off x="633758" y="1940821"/>
            <a:ext cx="1535400" cy="0"/>
          </a:xfrm>
          <a:prstGeom prst="straightConnector1">
            <a:avLst/>
          </a:prstGeom>
          <a:noFill/>
          <a:ln cap="flat" cmpd="sng" w="12700">
            <a:solidFill>
              <a:schemeClr val="dk2"/>
            </a:solidFill>
            <a:prstDash val="solid"/>
            <a:miter lim="800000"/>
            <a:headEnd len="sm" w="sm" type="none"/>
            <a:tailEnd len="sm" w="sm" type="none"/>
          </a:ln>
        </p:spPr>
      </p:cxnSp>
      <p:cxnSp>
        <p:nvCxnSpPr>
          <p:cNvPr id="173" name="Google Shape;173;p34"/>
          <p:cNvCxnSpPr/>
          <p:nvPr/>
        </p:nvCxnSpPr>
        <p:spPr>
          <a:xfrm>
            <a:off x="2767358" y="1940821"/>
            <a:ext cx="1535400" cy="0"/>
          </a:xfrm>
          <a:prstGeom prst="straightConnector1">
            <a:avLst/>
          </a:prstGeom>
          <a:noFill/>
          <a:ln cap="flat" cmpd="sng" w="12700">
            <a:solidFill>
              <a:schemeClr val="dk2"/>
            </a:solidFill>
            <a:prstDash val="solid"/>
            <a:miter lim="800000"/>
            <a:headEnd len="sm" w="sm" type="none"/>
            <a:tailEnd len="sm" w="sm" type="none"/>
          </a:ln>
        </p:spPr>
      </p:cxnSp>
      <p:cxnSp>
        <p:nvCxnSpPr>
          <p:cNvPr id="174" name="Google Shape;174;p34"/>
          <p:cNvCxnSpPr/>
          <p:nvPr/>
        </p:nvCxnSpPr>
        <p:spPr>
          <a:xfrm>
            <a:off x="4900958" y="1940821"/>
            <a:ext cx="1535400" cy="0"/>
          </a:xfrm>
          <a:prstGeom prst="straightConnector1">
            <a:avLst/>
          </a:prstGeom>
          <a:noFill/>
          <a:ln cap="flat" cmpd="sng" w="12700">
            <a:solidFill>
              <a:schemeClr val="dk2"/>
            </a:solidFill>
            <a:prstDash val="solid"/>
            <a:miter lim="800000"/>
            <a:headEnd len="sm" w="sm" type="none"/>
            <a:tailEnd len="sm" w="sm" type="none"/>
          </a:ln>
        </p:spPr>
      </p:cxnSp>
      <p:cxnSp>
        <p:nvCxnSpPr>
          <p:cNvPr id="175" name="Google Shape;175;p34"/>
          <p:cNvCxnSpPr/>
          <p:nvPr/>
        </p:nvCxnSpPr>
        <p:spPr>
          <a:xfrm>
            <a:off x="7034558" y="1940821"/>
            <a:ext cx="1535400" cy="0"/>
          </a:xfrm>
          <a:prstGeom prst="straightConnector1">
            <a:avLst/>
          </a:prstGeom>
          <a:noFill/>
          <a:ln cap="flat" cmpd="sng" w="12700">
            <a:solidFill>
              <a:schemeClr val="dk2"/>
            </a:solidFill>
            <a:prstDash val="solid"/>
            <a:miter lim="800000"/>
            <a:headEnd len="sm" w="sm" type="none"/>
            <a:tailEnd len="sm" w="sm" type="none"/>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Cards 4">
  <p:cSld name="Cards 4">
    <p:spTree>
      <p:nvGrpSpPr>
        <p:cNvPr id="176" name="Shape 176"/>
        <p:cNvGrpSpPr/>
        <p:nvPr/>
      </p:nvGrpSpPr>
      <p:grpSpPr>
        <a:xfrm>
          <a:off x="0" y="0"/>
          <a:ext cx="0" cy="0"/>
          <a:chOff x="0" y="0"/>
          <a:chExt cx="0" cy="0"/>
        </a:xfrm>
      </p:grpSpPr>
      <p:sp>
        <p:nvSpPr>
          <p:cNvPr id="177" name="Google Shape;177;p35"/>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8" name="Google Shape;178;p35"/>
          <p:cNvSpPr/>
          <p:nvPr/>
        </p:nvSpPr>
        <p:spPr>
          <a:xfrm>
            <a:off x="734137" y="1133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79" name="Google Shape;179;p35"/>
          <p:cNvSpPr/>
          <p:nvPr/>
        </p:nvSpPr>
        <p:spPr>
          <a:xfrm>
            <a:off x="420743" y="1247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0" name="Google Shape;180;p35"/>
          <p:cNvSpPr txBox="1"/>
          <p:nvPr>
            <p:ph idx="1" type="body"/>
          </p:nvPr>
        </p:nvSpPr>
        <p:spPr>
          <a:xfrm>
            <a:off x="1190772" y="1247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1" name="Google Shape;181;p35"/>
          <p:cNvSpPr/>
          <p:nvPr/>
        </p:nvSpPr>
        <p:spPr>
          <a:xfrm>
            <a:off x="5115637" y="1133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2" name="Google Shape;182;p35"/>
          <p:cNvSpPr/>
          <p:nvPr/>
        </p:nvSpPr>
        <p:spPr>
          <a:xfrm>
            <a:off x="4802243" y="1247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3" name="Google Shape;183;p35"/>
          <p:cNvSpPr txBox="1"/>
          <p:nvPr>
            <p:ph idx="2" type="body"/>
          </p:nvPr>
        </p:nvSpPr>
        <p:spPr>
          <a:xfrm>
            <a:off x="5572272" y="1247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4" name="Google Shape;184;p35"/>
          <p:cNvSpPr/>
          <p:nvPr/>
        </p:nvSpPr>
        <p:spPr>
          <a:xfrm>
            <a:off x="734137" y="2276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5" name="Google Shape;185;p35"/>
          <p:cNvSpPr/>
          <p:nvPr/>
        </p:nvSpPr>
        <p:spPr>
          <a:xfrm>
            <a:off x="420743" y="2390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6" name="Google Shape;186;p35"/>
          <p:cNvSpPr txBox="1"/>
          <p:nvPr>
            <p:ph idx="3" type="body"/>
          </p:nvPr>
        </p:nvSpPr>
        <p:spPr>
          <a:xfrm>
            <a:off x="1190772" y="2390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87" name="Google Shape;187;p35"/>
          <p:cNvSpPr/>
          <p:nvPr/>
        </p:nvSpPr>
        <p:spPr>
          <a:xfrm>
            <a:off x="5115637" y="2276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88" name="Google Shape;188;p35"/>
          <p:cNvSpPr/>
          <p:nvPr/>
        </p:nvSpPr>
        <p:spPr>
          <a:xfrm>
            <a:off x="4802243" y="2390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89" name="Google Shape;189;p35"/>
          <p:cNvSpPr txBox="1"/>
          <p:nvPr>
            <p:ph idx="4" type="body"/>
          </p:nvPr>
        </p:nvSpPr>
        <p:spPr>
          <a:xfrm>
            <a:off x="5572272" y="2390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0" name="Google Shape;190;p35"/>
          <p:cNvSpPr/>
          <p:nvPr/>
        </p:nvSpPr>
        <p:spPr>
          <a:xfrm>
            <a:off x="734137" y="3419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91" name="Google Shape;191;p35"/>
          <p:cNvSpPr/>
          <p:nvPr/>
        </p:nvSpPr>
        <p:spPr>
          <a:xfrm>
            <a:off x="420743" y="3533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92" name="Google Shape;192;p35"/>
          <p:cNvSpPr txBox="1"/>
          <p:nvPr>
            <p:ph idx="5" type="body"/>
          </p:nvPr>
        </p:nvSpPr>
        <p:spPr>
          <a:xfrm>
            <a:off x="1190772" y="3533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3" name="Google Shape;193;p35"/>
          <p:cNvSpPr/>
          <p:nvPr/>
        </p:nvSpPr>
        <p:spPr>
          <a:xfrm>
            <a:off x="5115637" y="3419993"/>
            <a:ext cx="3609300" cy="854400"/>
          </a:xfrm>
          <a:prstGeom prst="roundRect">
            <a:avLst>
              <a:gd fmla="val 5049" name="adj"/>
            </a:avLst>
          </a:prstGeom>
          <a:solidFill>
            <a:schemeClr val="lt1"/>
          </a:solidFill>
          <a:ln cap="flat" cmpd="sng" w="12700">
            <a:solidFill>
              <a:srgbClr val="CBDAFF"/>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l">
              <a:lnSpc>
                <a:spcPct val="100000"/>
              </a:lnSpc>
              <a:spcBef>
                <a:spcPts val="0"/>
              </a:spcBef>
              <a:spcAft>
                <a:spcPts val="0"/>
              </a:spcAft>
              <a:buClr>
                <a:schemeClr val="lt1"/>
              </a:buClr>
              <a:buSzPts val="1400"/>
              <a:buFont typeface="DM Sans"/>
              <a:buNone/>
            </a:pPr>
            <a:r>
              <a:t/>
            </a:r>
            <a:endParaRPr b="0" i="0" sz="1400" u="none" cap="none" strike="noStrike">
              <a:solidFill>
                <a:srgbClr val="001142"/>
              </a:solidFill>
              <a:latin typeface="DM Sans"/>
              <a:ea typeface="DM Sans"/>
              <a:cs typeface="DM Sans"/>
              <a:sym typeface="DM Sans"/>
            </a:endParaRPr>
          </a:p>
        </p:txBody>
      </p:sp>
      <p:sp>
        <p:nvSpPr>
          <p:cNvPr id="194" name="Google Shape;194;p35"/>
          <p:cNvSpPr/>
          <p:nvPr/>
        </p:nvSpPr>
        <p:spPr>
          <a:xfrm>
            <a:off x="4802243" y="3533774"/>
            <a:ext cx="626700" cy="626700"/>
          </a:xfrm>
          <a:prstGeom prst="ellipse">
            <a:avLst/>
          </a:prstGeom>
          <a:solidFill>
            <a:schemeClr val="lt1"/>
          </a:solidFill>
          <a:ln cap="flat" cmpd="sng" w="12700">
            <a:solidFill>
              <a:srgbClr val="0254EC"/>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DM Sans"/>
              <a:ea typeface="DM Sans"/>
              <a:cs typeface="DM Sans"/>
              <a:sym typeface="DM Sans"/>
            </a:endParaRPr>
          </a:p>
        </p:txBody>
      </p:sp>
      <p:sp>
        <p:nvSpPr>
          <p:cNvPr id="195" name="Google Shape;195;p35"/>
          <p:cNvSpPr txBox="1"/>
          <p:nvPr>
            <p:ph idx="6" type="body"/>
          </p:nvPr>
        </p:nvSpPr>
        <p:spPr>
          <a:xfrm>
            <a:off x="5572272" y="3533774"/>
            <a:ext cx="3009300" cy="626700"/>
          </a:xfrm>
          <a:prstGeom prst="rect">
            <a:avLst/>
          </a:prstGeom>
          <a:noFill/>
          <a:ln>
            <a:noFill/>
          </a:ln>
        </p:spPr>
        <p:txBody>
          <a:bodyPr anchorCtr="0" anchor="ctr"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304800" lvl="1" marL="914400" algn="l">
              <a:lnSpc>
                <a:spcPct val="90000"/>
              </a:lnSpc>
              <a:spcBef>
                <a:spcPts val="400"/>
              </a:spcBef>
              <a:spcAft>
                <a:spcPts val="0"/>
              </a:spcAft>
              <a:buClr>
                <a:schemeClr val="dk1"/>
              </a:buClr>
              <a:buSzPts val="1200"/>
              <a:buChar char="•"/>
              <a:defRPr sz="1200"/>
            </a:lvl2pPr>
            <a:lvl3pPr indent="-304800" lvl="2" marL="1371600" algn="l">
              <a:lnSpc>
                <a:spcPct val="90000"/>
              </a:lnSpc>
              <a:spcBef>
                <a:spcPts val="400"/>
              </a:spcBef>
              <a:spcAft>
                <a:spcPts val="0"/>
              </a:spcAft>
              <a:buClr>
                <a:schemeClr val="dk1"/>
              </a:buClr>
              <a:buSzPts val="1200"/>
              <a:buChar char="•"/>
              <a:defRPr sz="1200"/>
            </a:lvl3pPr>
            <a:lvl4pPr indent="-304800" lvl="3" marL="1828800" algn="l">
              <a:lnSpc>
                <a:spcPct val="90000"/>
              </a:lnSpc>
              <a:spcBef>
                <a:spcPts val="400"/>
              </a:spcBef>
              <a:spcAft>
                <a:spcPts val="0"/>
              </a:spcAft>
              <a:buClr>
                <a:schemeClr val="dk1"/>
              </a:buClr>
              <a:buSzPts val="1200"/>
              <a:buChar char="•"/>
              <a:defRPr sz="1200"/>
            </a:lvl4pPr>
            <a:lvl5pPr indent="-304800" lvl="4" marL="2286000" algn="l">
              <a:lnSpc>
                <a:spcPct val="90000"/>
              </a:lnSpc>
              <a:spcBef>
                <a:spcPts val="400"/>
              </a:spcBef>
              <a:spcAft>
                <a:spcPts val="0"/>
              </a:spcAft>
              <a:buClr>
                <a:schemeClr val="dk1"/>
              </a:buClr>
              <a:buSzPts val="1200"/>
              <a:buChar char="•"/>
              <a:defRPr sz="12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Testimonials 1">
  <p:cSld name="Testimonials 1">
    <p:bg>
      <p:bgPr>
        <a:solidFill>
          <a:schemeClr val="lt2"/>
        </a:solidFill>
      </p:bgPr>
    </p:bg>
    <p:spTree>
      <p:nvGrpSpPr>
        <p:cNvPr id="196" name="Shape 196"/>
        <p:cNvGrpSpPr/>
        <p:nvPr/>
      </p:nvGrpSpPr>
      <p:grpSpPr>
        <a:xfrm>
          <a:off x="0" y="0"/>
          <a:ext cx="0" cy="0"/>
          <a:chOff x="0" y="0"/>
          <a:chExt cx="0" cy="0"/>
        </a:xfrm>
      </p:grpSpPr>
      <p:sp>
        <p:nvSpPr>
          <p:cNvPr id="197" name="Google Shape;197;p36"/>
          <p:cNvSpPr txBox="1"/>
          <p:nvPr>
            <p:ph type="title"/>
          </p:nvPr>
        </p:nvSpPr>
        <p:spPr>
          <a:xfrm>
            <a:off x="420743" y="439044"/>
            <a:ext cx="4151400" cy="3672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chemeClr val="dk1"/>
              </a:buClr>
              <a:buSzPts val="1100"/>
              <a:buFont typeface="DM Sans"/>
              <a:buNone/>
              <a:defRPr b="1" sz="11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8" name="Google Shape;198;p36"/>
          <p:cNvSpPr txBox="1"/>
          <p:nvPr>
            <p:ph idx="1" type="body"/>
          </p:nvPr>
        </p:nvSpPr>
        <p:spPr>
          <a:xfrm>
            <a:off x="420743" y="821019"/>
            <a:ext cx="4151400" cy="2194200"/>
          </a:xfrm>
          <a:prstGeom prst="rect">
            <a:avLst/>
          </a:prstGeom>
          <a:noFill/>
          <a:ln>
            <a:noFill/>
          </a:ln>
        </p:spPr>
        <p:txBody>
          <a:bodyPr anchorCtr="0" anchor="t" bIns="34275" lIns="68575" spcFirstLastPara="1" rIns="68575" wrap="square" tIns="34275">
            <a:normAutofit/>
          </a:bodyPr>
          <a:lstStyle>
            <a:lvl1pPr indent="-361950" lvl="0" marL="457200" algn="l">
              <a:lnSpc>
                <a:spcPct val="90000"/>
              </a:lnSpc>
              <a:spcBef>
                <a:spcPts val="800"/>
              </a:spcBef>
              <a:spcAft>
                <a:spcPts val="0"/>
              </a:spcAft>
              <a:buClr>
                <a:schemeClr val="dk1"/>
              </a:buClr>
              <a:buSzPts val="2100"/>
              <a:buChar char="•"/>
              <a:defRPr sz="2100"/>
            </a:lvl1pPr>
            <a:lvl2pPr indent="-342900" lvl="1" marL="914400" algn="l">
              <a:lnSpc>
                <a:spcPct val="90000"/>
              </a:lnSpc>
              <a:spcBef>
                <a:spcPts val="400"/>
              </a:spcBef>
              <a:spcAft>
                <a:spcPts val="0"/>
              </a:spcAft>
              <a:buClr>
                <a:schemeClr val="dk1"/>
              </a:buClr>
              <a:buSzPts val="1800"/>
              <a:buChar char="•"/>
              <a:defRPr sz="1800"/>
            </a:lvl2pPr>
            <a:lvl3pPr indent="-323850" lvl="2" marL="1371600" algn="l">
              <a:lnSpc>
                <a:spcPct val="90000"/>
              </a:lnSpc>
              <a:spcBef>
                <a:spcPts val="400"/>
              </a:spcBef>
              <a:spcAft>
                <a:spcPts val="0"/>
              </a:spcAft>
              <a:buClr>
                <a:schemeClr val="dk1"/>
              </a:buClr>
              <a:buSzPts val="1500"/>
              <a:buChar char="•"/>
              <a:defRPr sz="1500"/>
            </a:lvl3pPr>
            <a:lvl4pPr indent="-317500" lvl="3" marL="1828800" algn="l">
              <a:lnSpc>
                <a:spcPct val="90000"/>
              </a:lnSpc>
              <a:spcBef>
                <a:spcPts val="400"/>
              </a:spcBef>
              <a:spcAft>
                <a:spcPts val="0"/>
              </a:spcAft>
              <a:buClr>
                <a:schemeClr val="dk1"/>
              </a:buClr>
              <a:buSzPts val="1400"/>
              <a:buChar char="•"/>
              <a:defRPr sz="1400"/>
            </a:lvl4pPr>
            <a:lvl5pPr indent="-317500" lvl="4" marL="2286000" algn="l">
              <a:lnSpc>
                <a:spcPct val="90000"/>
              </a:lnSpc>
              <a:spcBef>
                <a:spcPts val="400"/>
              </a:spcBef>
              <a:spcAft>
                <a:spcPts val="0"/>
              </a:spcAft>
              <a:buClr>
                <a:schemeClr val="dk1"/>
              </a:buClr>
              <a:buSzPts val="1400"/>
              <a:buChar char="•"/>
              <a:defRPr sz="1400"/>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99" name="Google Shape;199;p36"/>
          <p:cNvSpPr/>
          <p:nvPr>
            <p:ph idx="2" type="pic"/>
          </p:nvPr>
        </p:nvSpPr>
        <p:spPr>
          <a:xfrm>
            <a:off x="520220" y="2791738"/>
            <a:ext cx="714600" cy="714600"/>
          </a:xfrm>
          <a:prstGeom prst="ellipse">
            <a:avLst/>
          </a:prstGeom>
          <a:noFill/>
          <a:ln cap="flat" cmpd="sng" w="12700">
            <a:solidFill>
              <a:schemeClr val="dk2"/>
            </a:solidFill>
            <a:prstDash val="solid"/>
            <a:round/>
            <a:headEnd len="sm" w="sm" type="none"/>
            <a:tailEnd len="sm" w="sm" type="none"/>
          </a:ln>
        </p:spPr>
      </p:sp>
      <p:sp>
        <p:nvSpPr>
          <p:cNvPr id="200" name="Google Shape;200;p36"/>
          <p:cNvSpPr txBox="1"/>
          <p:nvPr>
            <p:ph idx="3" type="body"/>
          </p:nvPr>
        </p:nvSpPr>
        <p:spPr>
          <a:xfrm>
            <a:off x="1335785" y="2922110"/>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400"/>
              <a:buNone/>
              <a:defRPr sz="1400"/>
            </a:lvl1pPr>
            <a:lvl2pPr indent="-228600" lvl="1" marL="914400" algn="l">
              <a:lnSpc>
                <a:spcPct val="90000"/>
              </a:lnSpc>
              <a:spcBef>
                <a:spcPts val="400"/>
              </a:spcBef>
              <a:spcAft>
                <a:spcPts val="0"/>
              </a:spcAft>
              <a:buClr>
                <a:schemeClr val="dk1"/>
              </a:buClr>
              <a:buSzPts val="1400"/>
              <a:buNone/>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1" name="Google Shape;201;p36"/>
          <p:cNvSpPr txBox="1"/>
          <p:nvPr>
            <p:ph idx="4" type="body"/>
          </p:nvPr>
        </p:nvSpPr>
        <p:spPr>
          <a:xfrm>
            <a:off x="1335785" y="3137613"/>
            <a:ext cx="3350400" cy="2739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100"/>
              <a:buNone/>
              <a:defRPr sz="1100"/>
            </a:lvl1pPr>
            <a:lvl2pPr indent="-228600" lvl="1" marL="914400" algn="l">
              <a:lnSpc>
                <a:spcPct val="90000"/>
              </a:lnSpc>
              <a:spcBef>
                <a:spcPts val="400"/>
              </a:spcBef>
              <a:spcAft>
                <a:spcPts val="0"/>
              </a:spcAft>
              <a:buClr>
                <a:schemeClr val="dk1"/>
              </a:buClr>
              <a:buSzPts val="1400"/>
              <a:buNone/>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pic>
        <p:nvPicPr>
          <p:cNvPr descr="A blue line on a black background  Description automatically generated" id="202" name="Google Shape;202;p36"/>
          <p:cNvPicPr preferRelativeResize="0"/>
          <p:nvPr/>
        </p:nvPicPr>
        <p:blipFill rotWithShape="1">
          <a:blip r:embed="rId2">
            <a:alphaModFix/>
          </a:blip>
          <a:srcRect b="0" l="0" r="0" t="0"/>
          <a:stretch/>
        </p:blipFill>
        <p:spPr>
          <a:xfrm>
            <a:off x="7088382" y="3892490"/>
            <a:ext cx="2055618" cy="1282314"/>
          </a:xfrm>
          <a:prstGeom prst="rect">
            <a:avLst/>
          </a:prstGeom>
          <a:noFill/>
          <a:ln>
            <a:noFill/>
          </a:ln>
        </p:spPr>
      </p:pic>
      <p:pic>
        <p:nvPicPr>
          <p:cNvPr descr="A blue line on a black background  Description automatically generated" id="203" name="Google Shape;203;p36"/>
          <p:cNvPicPr preferRelativeResize="0"/>
          <p:nvPr/>
        </p:nvPicPr>
        <p:blipFill rotWithShape="1">
          <a:blip r:embed="rId3">
            <a:alphaModFix/>
          </a:blip>
          <a:srcRect b="0" l="0" r="0" t="0"/>
          <a:stretch/>
        </p:blipFill>
        <p:spPr>
          <a:xfrm rot="10800000">
            <a:off x="0" y="4025113"/>
            <a:ext cx="2669286" cy="1122440"/>
          </a:xfrm>
          <a:prstGeom prst="rect">
            <a:avLst/>
          </a:prstGeom>
          <a:noFill/>
          <a:ln>
            <a:noFill/>
          </a:ln>
        </p:spPr>
      </p:pic>
      <p:sp>
        <p:nvSpPr>
          <p:cNvPr id="204" name="Google Shape;204;p36"/>
          <p:cNvSpPr/>
          <p:nvPr>
            <p:ph idx="5" type="pic"/>
          </p:nvPr>
        </p:nvSpPr>
        <p:spPr>
          <a:xfrm>
            <a:off x="4803425" y="800100"/>
            <a:ext cx="3883500" cy="2171100"/>
          </a:xfrm>
          <a:prstGeom prst="roundRect">
            <a:avLst>
              <a:gd fmla="val 4242" name="adj"/>
            </a:avLst>
          </a:prstGeom>
          <a:noFill/>
          <a:ln>
            <a:noFill/>
          </a:ln>
          <a:effectLst>
            <a:outerShdw rotWithShape="0" algn="bl" dir="7800000" dist="66675">
              <a:schemeClr val="dk2"/>
            </a:outerShdw>
          </a:effectLst>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Illustration 1">
  <p:cSld name="Illustration 1">
    <p:spTree>
      <p:nvGrpSpPr>
        <p:cNvPr id="205" name="Shape 205"/>
        <p:cNvGrpSpPr/>
        <p:nvPr/>
      </p:nvGrpSpPr>
      <p:grpSpPr>
        <a:xfrm>
          <a:off x="0" y="0"/>
          <a:ext cx="0" cy="0"/>
          <a:chOff x="0" y="0"/>
          <a:chExt cx="0" cy="0"/>
        </a:xfrm>
      </p:grpSpPr>
      <p:pic>
        <p:nvPicPr>
          <p:cNvPr id="206" name="Google Shape;206;p37"/>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07" name="Google Shape;207;p37"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Plain White">
  <p:cSld name="Plain White">
    <p:spTree>
      <p:nvGrpSpPr>
        <p:cNvPr id="208" name="Shape 208"/>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_Image/Graphic Drop Shadow Asset">
  <p:cSld name="Image/Graphic Drop Shadow Asset">
    <p:bg>
      <p:bgPr>
        <a:solidFill>
          <a:schemeClr val="lt1"/>
        </a:solidFill>
      </p:bgPr>
    </p:bg>
    <p:spTree>
      <p:nvGrpSpPr>
        <p:cNvPr id="209" name="Shape 209"/>
        <p:cNvGrpSpPr/>
        <p:nvPr/>
      </p:nvGrpSpPr>
      <p:grpSpPr>
        <a:xfrm>
          <a:off x="0" y="0"/>
          <a:ext cx="0" cy="0"/>
          <a:chOff x="0" y="0"/>
          <a:chExt cx="0" cy="0"/>
        </a:xfrm>
      </p:grpSpPr>
      <p:sp>
        <p:nvSpPr>
          <p:cNvPr id="210" name="Google Shape;210;p39"/>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chemeClr val="lt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sp>
        <p:nvSpPr>
          <p:cNvPr id="211" name="Google Shape;211;p39"/>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2" name="Google Shape;212;p39"/>
          <p:cNvSpPr/>
          <p:nvPr>
            <p:ph idx="2" type="pic"/>
          </p:nvPr>
        </p:nvSpPr>
        <p:spPr>
          <a:xfrm>
            <a:off x="602200" y="880600"/>
            <a:ext cx="3904800" cy="2194200"/>
          </a:xfrm>
          <a:prstGeom prst="roundRect">
            <a:avLst>
              <a:gd fmla="val 3229" name="adj"/>
            </a:avLst>
          </a:prstGeom>
          <a:noFill/>
          <a:ln>
            <a:noFill/>
          </a:ln>
          <a:effectLst>
            <a:outerShdw rotWithShape="0" algn="ctr" dir="7800000" dist="69226">
              <a:schemeClr val="accent3"/>
            </a:outerShdw>
          </a:effectLst>
        </p:spPr>
      </p:sp>
      <p:sp>
        <p:nvSpPr>
          <p:cNvPr id="213" name="Google Shape;213;p39"/>
          <p:cNvSpPr/>
          <p:nvPr>
            <p:ph idx="3" type="pic"/>
          </p:nvPr>
        </p:nvSpPr>
        <p:spPr>
          <a:xfrm>
            <a:off x="4824700" y="880600"/>
            <a:ext cx="3898500" cy="2194200"/>
          </a:xfrm>
          <a:prstGeom prst="roundRect">
            <a:avLst>
              <a:gd fmla="val 3874" name="adj"/>
            </a:avLst>
          </a:prstGeom>
          <a:noFill/>
          <a:ln>
            <a:noFill/>
          </a:ln>
          <a:effectLst>
            <a:outerShdw rotWithShape="0" algn="ctr" dir="7800000" dist="69226">
              <a:schemeClr val="dk2"/>
            </a:outerShdw>
          </a:effectLst>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Q&amp;A">
  <p:cSld name="Q&amp;A">
    <p:bg>
      <p:bgPr>
        <a:solidFill>
          <a:schemeClr val="dk2"/>
        </a:solidFill>
      </p:bgPr>
    </p:bg>
    <p:spTree>
      <p:nvGrpSpPr>
        <p:cNvPr id="214" name="Shape 214"/>
        <p:cNvGrpSpPr/>
        <p:nvPr/>
      </p:nvGrpSpPr>
      <p:grpSpPr>
        <a:xfrm>
          <a:off x="0" y="0"/>
          <a:ext cx="0" cy="0"/>
          <a:chOff x="0" y="0"/>
          <a:chExt cx="0" cy="0"/>
        </a:xfrm>
      </p:grpSpPr>
      <p:pic>
        <p:nvPicPr>
          <p:cNvPr descr="A black and white image of a person  Description automatically generated" id="215" name="Google Shape;215;p40"/>
          <p:cNvPicPr preferRelativeResize="0"/>
          <p:nvPr/>
        </p:nvPicPr>
        <p:blipFill rotWithShape="1">
          <a:blip r:embed="rId2">
            <a:alphaModFix amt="60000"/>
          </a:blip>
          <a:srcRect b="0" l="0" r="0" t="0"/>
          <a:stretch/>
        </p:blipFill>
        <p:spPr>
          <a:xfrm rot="-900001">
            <a:off x="4096523" y="3086333"/>
            <a:ext cx="7191132" cy="2776325"/>
          </a:xfrm>
          <a:prstGeom prst="rect">
            <a:avLst/>
          </a:prstGeom>
          <a:noFill/>
          <a:ln>
            <a:noFill/>
          </a:ln>
        </p:spPr>
      </p:pic>
      <p:sp>
        <p:nvSpPr>
          <p:cNvPr id="216" name="Google Shape;216;p40"/>
          <p:cNvSpPr txBox="1"/>
          <p:nvPr>
            <p:ph type="title"/>
          </p:nvPr>
        </p:nvSpPr>
        <p:spPr>
          <a:xfrm>
            <a:off x="420742" y="1645445"/>
            <a:ext cx="8302500" cy="367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pic>
        <p:nvPicPr>
          <p:cNvPr id="217" name="Google Shape;217;p40"/>
          <p:cNvPicPr preferRelativeResize="0"/>
          <p:nvPr/>
        </p:nvPicPr>
        <p:blipFill rotWithShape="1">
          <a:blip r:embed="rId3">
            <a:alphaModFix/>
          </a:blip>
          <a:srcRect b="0" l="0" r="0" t="0"/>
          <a:stretch/>
        </p:blipFill>
        <p:spPr>
          <a:xfrm>
            <a:off x="6610333" y="3093755"/>
            <a:ext cx="2374527" cy="1795313"/>
          </a:xfrm>
          <a:prstGeom prst="rect">
            <a:avLst/>
          </a:prstGeom>
          <a:noFill/>
          <a:ln>
            <a:noFill/>
          </a:ln>
        </p:spPr>
      </p:pic>
      <p:pic>
        <p:nvPicPr>
          <p:cNvPr id="218" name="Google Shape;218;p40" title="Logo.png"/>
          <p:cNvPicPr preferRelativeResize="0"/>
          <p:nvPr/>
        </p:nvPicPr>
        <p:blipFill rotWithShape="1">
          <a:blip r:embed="rId4">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Demo">
  <p:cSld name="Demo">
    <p:bg>
      <p:bgPr>
        <a:solidFill>
          <a:schemeClr val="dk2"/>
        </a:solidFill>
      </p:bgPr>
    </p:bg>
    <p:spTree>
      <p:nvGrpSpPr>
        <p:cNvPr id="219" name="Shape 219"/>
        <p:cNvGrpSpPr/>
        <p:nvPr/>
      </p:nvGrpSpPr>
      <p:grpSpPr>
        <a:xfrm>
          <a:off x="0" y="0"/>
          <a:ext cx="0" cy="0"/>
          <a:chOff x="0" y="0"/>
          <a:chExt cx="0" cy="0"/>
        </a:xfrm>
      </p:grpSpPr>
      <p:pic>
        <p:nvPicPr>
          <p:cNvPr id="220" name="Google Shape;220;p41"/>
          <p:cNvPicPr preferRelativeResize="0"/>
          <p:nvPr/>
        </p:nvPicPr>
        <p:blipFill rotWithShape="1">
          <a:blip r:embed="rId2">
            <a:alphaModFix/>
          </a:blip>
          <a:srcRect b="0" l="0" r="0" t="0"/>
          <a:stretch/>
        </p:blipFill>
        <p:spPr>
          <a:xfrm>
            <a:off x="0" y="2741"/>
            <a:ext cx="9139128" cy="5140760"/>
          </a:xfrm>
          <a:prstGeom prst="rect">
            <a:avLst/>
          </a:prstGeom>
          <a:noFill/>
          <a:ln>
            <a:noFill/>
          </a:ln>
        </p:spPr>
      </p:pic>
      <p:pic>
        <p:nvPicPr>
          <p:cNvPr id="221" name="Google Shape;221;p41" title="Logo.png"/>
          <p:cNvPicPr preferRelativeResize="0"/>
          <p:nvPr/>
        </p:nvPicPr>
        <p:blipFill rotWithShape="1">
          <a:blip r:embed="rId3">
            <a:alphaModFix/>
          </a:blip>
          <a:srcRect b="0" l="0" r="0" t="0"/>
          <a:stretch/>
        </p:blipFill>
        <p:spPr>
          <a:xfrm>
            <a:off x="8412313" y="4830850"/>
            <a:ext cx="309686" cy="1466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20"/>
                                        </p:tgtEl>
                                        <p:attrNameLst>
                                          <p:attrName>style.visibility</p:attrName>
                                        </p:attrNameLst>
                                      </p:cBhvr>
                                      <p:to>
                                        <p:strVal val="visible"/>
                                      </p:to>
                                    </p:set>
                                    <p:animEffect filter="fade" transition="in">
                                      <p:cBhvr>
                                        <p:cTn dur="5000"/>
                                        <p:tgtEl>
                                          <p:spTgt spid="22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Thank you">
  <p:cSld name="Thank you">
    <p:bg>
      <p:bgPr>
        <a:solidFill>
          <a:schemeClr val="dk2"/>
        </a:solidFill>
      </p:bgPr>
    </p:bg>
    <p:spTree>
      <p:nvGrpSpPr>
        <p:cNvPr id="222" name="Shape 222"/>
        <p:cNvGrpSpPr/>
        <p:nvPr/>
      </p:nvGrpSpPr>
      <p:grpSpPr>
        <a:xfrm>
          <a:off x="0" y="0"/>
          <a:ext cx="0" cy="0"/>
          <a:chOff x="0" y="0"/>
          <a:chExt cx="0" cy="0"/>
        </a:xfrm>
      </p:grpSpPr>
      <p:pic>
        <p:nvPicPr>
          <p:cNvPr id="223" name="Google Shape;223;p42"/>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23"/>
                                        </p:tgtEl>
                                        <p:attrNameLst>
                                          <p:attrName>style.visibility</p:attrName>
                                        </p:attrNameLst>
                                      </p:cBhvr>
                                      <p:to>
                                        <p:strVal val="visible"/>
                                      </p:to>
                                    </p:set>
                                    <p:animEffect filter="fade" transition="in">
                                      <p:cBhvr>
                                        <p:cTn dur="3029"/>
                                        <p:tgtEl>
                                          <p:spTgt spid="2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_Plain Blue">
  <p:cSld name="Plain Blue">
    <p:bg>
      <p:bgPr>
        <a:solidFill>
          <a:schemeClr val="dk2"/>
        </a:solidFill>
      </p:bgPr>
    </p:bg>
    <p:spTree>
      <p:nvGrpSpPr>
        <p:cNvPr id="224" name="Shape 224"/>
        <p:cNvGrpSpPr/>
        <p:nvPr/>
      </p:nvGrpSpPr>
      <p:grpSpPr>
        <a:xfrm>
          <a:off x="0" y="0"/>
          <a:ext cx="0" cy="0"/>
          <a:chOff x="0" y="0"/>
          <a:chExt cx="0" cy="0"/>
        </a:xfrm>
      </p:grpSpPr>
      <p:pic>
        <p:nvPicPr>
          <p:cNvPr id="225" name="Google Shape;225;p43" title="Logo.png"/>
          <p:cNvPicPr preferRelativeResize="0"/>
          <p:nvPr/>
        </p:nvPicPr>
        <p:blipFill rotWithShape="1">
          <a:blip r:embed="rId2">
            <a:alphaModFix/>
          </a:blip>
          <a:srcRect b="0" l="0" r="0" t="0"/>
          <a:stretch/>
        </p:blipFill>
        <p:spPr>
          <a:xfrm>
            <a:off x="8412313" y="4830850"/>
            <a:ext cx="309686" cy="14667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226" name="Shape 226"/>
        <p:cNvGrpSpPr/>
        <p:nvPr/>
      </p:nvGrpSpPr>
      <p:grpSpPr>
        <a:xfrm>
          <a:off x="0" y="0"/>
          <a:ext cx="0" cy="0"/>
          <a:chOff x="0" y="0"/>
          <a:chExt cx="0" cy="0"/>
        </a:xfrm>
      </p:grpSpPr>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7" name="Shape 227"/>
        <p:cNvGrpSpPr/>
        <p:nvPr/>
      </p:nvGrpSpPr>
      <p:grpSpPr>
        <a:xfrm>
          <a:off x="0" y="0"/>
          <a:ext cx="0" cy="0"/>
          <a:chOff x="0" y="0"/>
          <a:chExt cx="0" cy="0"/>
        </a:xfrm>
      </p:grpSpPr>
      <p:sp>
        <p:nvSpPr>
          <p:cNvPr id="228" name="Google Shape;228;p45"/>
          <p:cNvSpPr txBox="1"/>
          <p:nvPr>
            <p:ph type="ctrTitle"/>
          </p:nvPr>
        </p:nvSpPr>
        <p:spPr>
          <a:xfrm>
            <a:off x="311708" y="744575"/>
            <a:ext cx="8520600" cy="2052600"/>
          </a:xfrm>
          <a:prstGeom prst="rect">
            <a:avLst/>
          </a:prstGeom>
        </p:spPr>
        <p:txBody>
          <a:bodyPr anchorCtr="0" anchor="b" bIns="34275" lIns="68575" spcFirstLastPara="1" rIns="68575" wrap="square" tIns="3427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229" name="Google Shape;229;p45"/>
          <p:cNvSpPr txBox="1"/>
          <p:nvPr>
            <p:ph idx="1" type="subTitle"/>
          </p:nvPr>
        </p:nvSpPr>
        <p:spPr>
          <a:xfrm>
            <a:off x="311700" y="2834125"/>
            <a:ext cx="8520600" cy="792600"/>
          </a:xfrm>
          <a:prstGeom prst="rect">
            <a:avLst/>
          </a:prstGeom>
        </p:spPr>
        <p:txBody>
          <a:bodyPr anchorCtr="0" anchor="t" bIns="34275" lIns="68575" spcFirstLastPara="1" rIns="68575" wrap="square" tIns="34275">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p:txBody>
      </p:sp>
      <p:sp>
        <p:nvSpPr>
          <p:cNvPr id="230" name="Google Shape;230;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sz="1400"/>
            </a:lvl1pPr>
            <a:lvl2pPr lvl="1">
              <a:buNone/>
              <a:defRPr sz="1400"/>
            </a:lvl2pPr>
            <a:lvl3pPr lvl="2">
              <a:buNone/>
              <a:defRPr sz="1400"/>
            </a:lvl3pPr>
            <a:lvl4pPr lvl="3">
              <a:buNone/>
              <a:defRPr sz="1400"/>
            </a:lvl4pPr>
            <a:lvl5pPr lvl="4">
              <a:buNone/>
              <a:defRPr sz="1400"/>
            </a:lvl5pPr>
            <a:lvl6pPr lvl="5">
              <a:buNone/>
              <a:defRPr sz="1400"/>
            </a:lvl6pPr>
            <a:lvl7pPr lvl="6">
              <a:buNone/>
              <a:defRPr sz="1400"/>
            </a:lvl7pPr>
            <a:lvl8pPr lvl="7">
              <a:buNone/>
              <a:defRPr sz="1400"/>
            </a:lvl8pPr>
            <a:lvl9pPr lvl="8">
              <a:buNone/>
              <a:defRPr sz="1400"/>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spTree>
      <p:nvGrpSpPr>
        <p:cNvPr id="23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4.xml"/><Relationship Id="rId22" Type="http://schemas.openxmlformats.org/officeDocument/2006/relationships/slideLayout" Target="../slideLayouts/slideLayout36.xml"/><Relationship Id="rId21" Type="http://schemas.openxmlformats.org/officeDocument/2006/relationships/slideLayout" Target="../slideLayouts/slideLayout35.xml"/><Relationship Id="rId24" Type="http://schemas.openxmlformats.org/officeDocument/2006/relationships/slideLayout" Target="../slideLayouts/slideLayout38.xml"/><Relationship Id="rId23" Type="http://schemas.openxmlformats.org/officeDocument/2006/relationships/slideLayout" Target="../slideLayouts/slideLayout37.xml"/><Relationship Id="rId1" Type="http://schemas.openxmlformats.org/officeDocument/2006/relationships/image" Target="../media/image11.png"/><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9" Type="http://schemas.openxmlformats.org/officeDocument/2006/relationships/slideLayout" Target="../slideLayouts/slideLayout23.xml"/><Relationship Id="rId26" Type="http://schemas.openxmlformats.org/officeDocument/2006/relationships/slideLayout" Target="../slideLayouts/slideLayout40.xml"/><Relationship Id="rId25" Type="http://schemas.openxmlformats.org/officeDocument/2006/relationships/slideLayout" Target="../slideLayouts/slideLayout39.xml"/><Relationship Id="rId28" Type="http://schemas.openxmlformats.org/officeDocument/2006/relationships/slideLayout" Target="../slideLayouts/slideLayout42.xml"/><Relationship Id="rId27" Type="http://schemas.openxmlformats.org/officeDocument/2006/relationships/slideLayout" Target="../slideLayouts/slideLayout41.xml"/><Relationship Id="rId5" Type="http://schemas.openxmlformats.org/officeDocument/2006/relationships/slideLayout" Target="../slideLayouts/slideLayout19.xml"/><Relationship Id="rId6" Type="http://schemas.openxmlformats.org/officeDocument/2006/relationships/slideLayout" Target="../slideLayouts/slideLayout20.xml"/><Relationship Id="rId29" Type="http://schemas.openxmlformats.org/officeDocument/2006/relationships/slideLayout" Target="../slideLayouts/slideLayout43.xml"/><Relationship Id="rId7" Type="http://schemas.openxmlformats.org/officeDocument/2006/relationships/slideLayout" Target="../slideLayouts/slideLayout21.xml"/><Relationship Id="rId8" Type="http://schemas.openxmlformats.org/officeDocument/2006/relationships/slideLayout" Target="../slideLayouts/slideLayout22.xml"/><Relationship Id="rId31" Type="http://schemas.openxmlformats.org/officeDocument/2006/relationships/theme" Target="../theme/theme2.xml"/><Relationship Id="rId30" Type="http://schemas.openxmlformats.org/officeDocument/2006/relationships/slideLayout" Target="../slideLayouts/slideLayout44.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3" Type="http://schemas.openxmlformats.org/officeDocument/2006/relationships/slideLayout" Target="../slideLayouts/slideLayout27.xml"/><Relationship Id="rId12" Type="http://schemas.openxmlformats.org/officeDocument/2006/relationships/slideLayout" Target="../slideLayouts/slideLayout26.xml"/><Relationship Id="rId15" Type="http://schemas.openxmlformats.org/officeDocument/2006/relationships/slideLayout" Target="../slideLayouts/slideLayout29.xml"/><Relationship Id="rId14" Type="http://schemas.openxmlformats.org/officeDocument/2006/relationships/slideLayout" Target="../slideLayouts/slideLayout28.xml"/><Relationship Id="rId17" Type="http://schemas.openxmlformats.org/officeDocument/2006/relationships/slideLayout" Target="../slideLayouts/slideLayout31.xml"/><Relationship Id="rId16" Type="http://schemas.openxmlformats.org/officeDocument/2006/relationships/slideLayout" Target="../slideLayouts/slideLayout30.xml"/><Relationship Id="rId19" Type="http://schemas.openxmlformats.org/officeDocument/2006/relationships/slideLayout" Target="../slideLayouts/slideLayout33.xml"/><Relationship Id="rId18"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8" name="Shape 48"/>
        <p:cNvGrpSpPr/>
        <p:nvPr/>
      </p:nvGrpSpPr>
      <p:grpSpPr>
        <a:xfrm>
          <a:off x="0" y="0"/>
          <a:ext cx="0" cy="0"/>
          <a:chOff x="0" y="0"/>
          <a:chExt cx="0" cy="0"/>
        </a:xfrm>
      </p:grpSpPr>
      <p:sp>
        <p:nvSpPr>
          <p:cNvPr id="49" name="Google Shape;49;p17"/>
          <p:cNvSpPr txBox="1"/>
          <p:nvPr>
            <p:ph type="title"/>
          </p:nvPr>
        </p:nvSpPr>
        <p:spPr>
          <a:xfrm>
            <a:off x="420743" y="273844"/>
            <a:ext cx="8302500" cy="367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2000"/>
              <a:buFont typeface="DM Sans"/>
              <a:buNone/>
              <a:defRPr b="0" i="0" sz="2000" u="none" cap="none" strike="noStrike">
                <a:solidFill>
                  <a:schemeClr val="dk1"/>
                </a:solidFill>
                <a:latin typeface="DM Sans"/>
                <a:ea typeface="DM Sans"/>
                <a:cs typeface="DM Sans"/>
                <a:sym typeface="DM Sans"/>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 name="Google Shape;50;p17"/>
          <p:cNvSpPr txBox="1"/>
          <p:nvPr>
            <p:ph idx="1" type="body"/>
          </p:nvPr>
        </p:nvSpPr>
        <p:spPr>
          <a:xfrm>
            <a:off x="420743" y="812524"/>
            <a:ext cx="8302500" cy="3820200"/>
          </a:xfrm>
          <a:prstGeom prst="rect">
            <a:avLst/>
          </a:prstGeom>
          <a:noFill/>
          <a:ln>
            <a:noFill/>
          </a:ln>
        </p:spPr>
        <p:txBody>
          <a:bodyPr anchorCtr="0" anchor="t" bIns="34275" lIns="68575" spcFirstLastPara="1" rIns="68575" wrap="square" tIns="34275">
            <a:normAutofit/>
          </a:bodyPr>
          <a:lstStyle>
            <a:lvl1pPr indent="-311150" lvl="0" marL="457200" marR="0" algn="l">
              <a:lnSpc>
                <a:spcPct val="90000"/>
              </a:lnSpc>
              <a:spcBef>
                <a:spcPts val="800"/>
              </a:spcBef>
              <a:spcAft>
                <a:spcPts val="0"/>
              </a:spcAft>
              <a:buClr>
                <a:schemeClr val="dk1"/>
              </a:buClr>
              <a:buSzPts val="1300"/>
              <a:buFont typeface="Arial"/>
              <a:buChar char="•"/>
              <a:defRPr b="0" i="0" sz="1300" u="none" cap="none" strike="noStrike">
                <a:solidFill>
                  <a:schemeClr val="dk1"/>
                </a:solidFill>
                <a:latin typeface="DM Sans"/>
                <a:ea typeface="DM Sans"/>
                <a:cs typeface="DM Sans"/>
                <a:sym typeface="DM Sans"/>
              </a:defRPr>
            </a:lvl1pPr>
            <a:lvl2pPr indent="-304800" lvl="1" marL="914400" marR="0" algn="l">
              <a:lnSpc>
                <a:spcPct val="90000"/>
              </a:lnSpc>
              <a:spcBef>
                <a:spcPts val="400"/>
              </a:spcBef>
              <a:spcAft>
                <a:spcPts val="0"/>
              </a:spcAft>
              <a:buClr>
                <a:schemeClr val="dk1"/>
              </a:buClr>
              <a:buSzPts val="1200"/>
              <a:buFont typeface="Arial"/>
              <a:buChar char="•"/>
              <a:defRPr b="0" i="0" sz="1200" u="none" cap="none" strike="noStrike">
                <a:solidFill>
                  <a:schemeClr val="dk1"/>
                </a:solidFill>
                <a:latin typeface="DM Sans"/>
                <a:ea typeface="DM Sans"/>
                <a:cs typeface="DM Sans"/>
                <a:sym typeface="DM Sans"/>
              </a:defRPr>
            </a:lvl2pPr>
            <a:lvl3pPr indent="-292100" lvl="2" marL="1371600" marR="0" algn="l">
              <a:lnSpc>
                <a:spcPct val="90000"/>
              </a:lnSpc>
              <a:spcBef>
                <a:spcPts val="400"/>
              </a:spcBef>
              <a:spcAft>
                <a:spcPts val="0"/>
              </a:spcAft>
              <a:buClr>
                <a:schemeClr val="dk1"/>
              </a:buClr>
              <a:buSzPts val="1000"/>
              <a:buFont typeface="Arial"/>
              <a:buChar char="•"/>
              <a:defRPr b="0" i="0" sz="1000" u="none" cap="none" strike="noStrike">
                <a:solidFill>
                  <a:schemeClr val="dk1"/>
                </a:solidFill>
                <a:latin typeface="DM Sans"/>
                <a:ea typeface="DM Sans"/>
                <a:cs typeface="DM Sans"/>
                <a:sym typeface="DM Sans"/>
              </a:defRPr>
            </a:lvl3pPr>
            <a:lvl4pPr indent="-285750" lvl="3" marL="1828800" marR="0" algn="l">
              <a:lnSpc>
                <a:spcPct val="90000"/>
              </a:lnSpc>
              <a:spcBef>
                <a:spcPts val="400"/>
              </a:spcBef>
              <a:spcAft>
                <a:spcPts val="0"/>
              </a:spcAft>
              <a:buClr>
                <a:schemeClr val="dk1"/>
              </a:buClr>
              <a:buSzPts val="900"/>
              <a:buFont typeface="Arial"/>
              <a:buChar char="•"/>
              <a:defRPr b="0" i="0" sz="900" u="none" cap="none" strike="noStrike">
                <a:solidFill>
                  <a:schemeClr val="dk1"/>
                </a:solidFill>
                <a:latin typeface="DM Sans"/>
                <a:ea typeface="DM Sans"/>
                <a:cs typeface="DM Sans"/>
                <a:sym typeface="DM Sans"/>
              </a:defRPr>
            </a:lvl4pPr>
            <a:lvl5pPr indent="-285750" lvl="4" marL="2286000" marR="0" algn="l">
              <a:lnSpc>
                <a:spcPct val="90000"/>
              </a:lnSpc>
              <a:spcBef>
                <a:spcPts val="400"/>
              </a:spcBef>
              <a:spcAft>
                <a:spcPts val="0"/>
              </a:spcAft>
              <a:buClr>
                <a:schemeClr val="dk1"/>
              </a:buClr>
              <a:buSzPts val="900"/>
              <a:buFont typeface="Arial"/>
              <a:buChar char="•"/>
              <a:defRPr b="0" i="0" sz="900" u="none" cap="none" strike="noStrike">
                <a:solidFill>
                  <a:schemeClr val="dk1"/>
                </a:solidFill>
                <a:latin typeface="DM Sans"/>
                <a:ea typeface="DM Sans"/>
                <a:cs typeface="DM Sans"/>
                <a:sym typeface="DM Sans"/>
              </a:defRPr>
            </a:lvl5pPr>
            <a:lvl6pPr indent="-279400" lvl="5" marL="2743200" marR="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6pPr>
            <a:lvl7pPr indent="-279400" lvl="6" marL="3200400" marR="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7pPr>
            <a:lvl8pPr indent="-273050" lvl="7" marL="3657600" marR="0" algn="l">
              <a:lnSpc>
                <a:spcPct val="90000"/>
              </a:lnSpc>
              <a:spcBef>
                <a:spcPts val="400"/>
              </a:spcBef>
              <a:spcAft>
                <a:spcPts val="0"/>
              </a:spcAft>
              <a:buClr>
                <a:schemeClr val="dk1"/>
              </a:buClr>
              <a:buSzPts val="700"/>
              <a:buFont typeface="Arial"/>
              <a:buChar char="•"/>
              <a:defRPr b="0" i="0" sz="700" u="none" cap="none" strike="noStrike">
                <a:solidFill>
                  <a:schemeClr val="dk1"/>
                </a:solidFill>
                <a:latin typeface="DM Sans"/>
                <a:ea typeface="DM Sans"/>
                <a:cs typeface="DM Sans"/>
                <a:sym typeface="DM Sans"/>
              </a:defRPr>
            </a:lvl8pPr>
            <a:lvl9pPr indent="-279400" lvl="8" marL="4114800" marR="0" algn="l">
              <a:lnSpc>
                <a:spcPct val="90000"/>
              </a:lnSpc>
              <a:spcBef>
                <a:spcPts val="400"/>
              </a:spcBef>
              <a:spcAft>
                <a:spcPts val="0"/>
              </a:spcAft>
              <a:buClr>
                <a:schemeClr val="dk1"/>
              </a:buClr>
              <a:buSzPts val="800"/>
              <a:buFont typeface="Arial"/>
              <a:buChar char="•"/>
              <a:defRPr b="0" i="0" sz="800" u="none" cap="none" strike="noStrike">
                <a:solidFill>
                  <a:schemeClr val="dk1"/>
                </a:solidFill>
                <a:latin typeface="DM Sans"/>
                <a:ea typeface="DM Sans"/>
                <a:cs typeface="DM Sans"/>
                <a:sym typeface="DM Sans"/>
              </a:defRPr>
            </a:lvl9pPr>
          </a:lstStyle>
          <a:p/>
        </p:txBody>
      </p:sp>
      <p:sp>
        <p:nvSpPr>
          <p:cNvPr id="51" name="Google Shape;51;p17"/>
          <p:cNvSpPr/>
          <p:nvPr/>
        </p:nvSpPr>
        <p:spPr>
          <a:xfrm>
            <a:off x="0" y="0"/>
            <a:ext cx="9128855" cy="44653"/>
          </a:xfrm>
          <a:custGeom>
            <a:rect b="b" l="l" r="r" t="t"/>
            <a:pathLst>
              <a:path extrusionOk="0" h="8930640" w="15876269">
                <a:moveTo>
                  <a:pt x="15875897" y="0"/>
                </a:moveTo>
                <a:lnTo>
                  <a:pt x="0" y="0"/>
                </a:lnTo>
                <a:lnTo>
                  <a:pt x="0" y="8930192"/>
                </a:lnTo>
                <a:lnTo>
                  <a:pt x="15875897" y="8930192"/>
                </a:lnTo>
                <a:lnTo>
                  <a:pt x="15875897" y="0"/>
                </a:lnTo>
                <a:close/>
              </a:path>
            </a:pathLst>
          </a:custGeom>
          <a:solidFill>
            <a:srgbClr val="0058EB"/>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t/>
            </a:r>
            <a:endParaRPr b="0" i="0" sz="1000" u="none" cap="none" strike="noStrik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1">
            <a:alphaModFix/>
          </a:blip>
          <a:srcRect b="0" l="0" r="0" t="0"/>
          <a:stretch/>
        </p:blipFill>
        <p:spPr>
          <a:xfrm>
            <a:off x="8412332" y="4829647"/>
            <a:ext cx="310926" cy="14907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0.png"/><Relationship Id="rId4" Type="http://schemas.openxmlformats.org/officeDocument/2006/relationships/image" Target="../media/image19.png"/><Relationship Id="rId5" Type="http://schemas.openxmlformats.org/officeDocument/2006/relationships/image" Target="../media/image27.png"/><Relationship Id="rId6" Type="http://schemas.openxmlformats.org/officeDocument/2006/relationships/image" Target="../media/image26.png"/><Relationship Id="rId7" Type="http://schemas.openxmlformats.org/officeDocument/2006/relationships/image" Target="../media/image28.png"/><Relationship Id="rId8" Type="http://schemas.openxmlformats.org/officeDocument/2006/relationships/image" Target="../media/image3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38.png"/><Relationship Id="rId9" Type="http://schemas.openxmlformats.org/officeDocument/2006/relationships/image" Target="../media/image45.png"/><Relationship Id="rId5" Type="http://schemas.openxmlformats.org/officeDocument/2006/relationships/image" Target="../media/image35.png"/><Relationship Id="rId6" Type="http://schemas.openxmlformats.org/officeDocument/2006/relationships/image" Target="../media/image31.png"/><Relationship Id="rId7" Type="http://schemas.openxmlformats.org/officeDocument/2006/relationships/image" Target="../media/image33.png"/><Relationship Id="rId8" Type="http://schemas.openxmlformats.org/officeDocument/2006/relationships/image" Target="../media/image37.png"/><Relationship Id="rId11" Type="http://schemas.openxmlformats.org/officeDocument/2006/relationships/image" Target="../media/image41.png"/><Relationship Id="rId10" Type="http://schemas.openxmlformats.org/officeDocument/2006/relationships/image" Target="../media/image58.png"/><Relationship Id="rId13" Type="http://schemas.openxmlformats.org/officeDocument/2006/relationships/hyperlink" Target="https://app.wiz.io/inventory/unscanned-resources/unclassified" TargetMode="External"/><Relationship Id="rId12" Type="http://schemas.openxmlformats.org/officeDocument/2006/relationships/hyperlink" Target="https://app.wiz.io/explorer/cloud-events#%7E%28filters%7E%28timestampv2%7E%28dateRange%7E%28past%7E%28unit%7E%27month%7Eamount%7E1%29%29%29%29%7EgroupBy%7E%28%7E%27origin%29%29" TargetMode="External"/><Relationship Id="rId15" Type="http://schemas.openxmlformats.org/officeDocument/2006/relationships/hyperlink" Target="https://app.wiz.io/boards/ai-security" TargetMode="External"/><Relationship Id="rId14" Type="http://schemas.openxmlformats.org/officeDocument/2006/relationships/image" Target="../media/image54.png"/><Relationship Id="rId16" Type="http://schemas.openxmlformats.org/officeDocument/2006/relationships/hyperlink" Target="https://app.wiz.io/inventory/unscanned-resources/unclassified" TargetMode="External"/></Relationships>
</file>

<file path=ppt/slides/_rels/slide4.xml.rels><?xml version="1.0" encoding="UTF-8" standalone="yes"?><Relationships xmlns="http://schemas.openxmlformats.org/package/2006/relationships"><Relationship Id="rId20"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22" Type="http://schemas.openxmlformats.org/officeDocument/2006/relationships/hyperlink" Target="https://app.wiz.io/inventory/container-registries" TargetMode="External"/><Relationship Id="rId21"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24" Type="http://schemas.openxmlformats.org/officeDocument/2006/relationships/image" Target="../media/image52.png"/><Relationship Id="rId23" Type="http://schemas.openxmlformats.org/officeDocument/2006/relationships/hyperlink" Target="https://app.wiz.io/inventory/containers/images" TargetMode="External"/><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4.png"/><Relationship Id="rId9" Type="http://schemas.openxmlformats.org/officeDocument/2006/relationships/hyperlink" Target="https://app.wiz.io/settings/workload-scan-log#%7E%28filters%7E%28status%7E%28%29%7Etimestamp%7E%28%29%7EdataScan%7E%28equals%7Efalse%29%29%29" TargetMode="External"/><Relationship Id="rId26" Type="http://schemas.openxmlformats.org/officeDocument/2006/relationships/hyperlink" Target="https://app.wiz.io/inventory/unscanned-resources/unclassified" TargetMode="External"/><Relationship Id="rId25" Type="http://schemas.openxmlformats.org/officeDocument/2006/relationships/hyperlink" Target="https://app.wiz.io/inventory/unscanned-resources/unclassified" TargetMode="External"/><Relationship Id="rId28" Type="http://schemas.openxmlformats.org/officeDocument/2006/relationships/hyperlink" Target="https://app.wiz.io/inventory/unscanned-resources/unclassified" TargetMode="External"/><Relationship Id="rId27" Type="http://schemas.openxmlformats.org/officeDocument/2006/relationships/hyperlink" Target="https://app.wiz.io/policies/red-agent-modules" TargetMode="External"/><Relationship Id="rId5" Type="http://schemas.openxmlformats.org/officeDocument/2006/relationships/hyperlink" Target="https://app.wiz.io/settings/system-health#%7E%28filters%7E%28status%7E%28equals%7E%28%7E%27OPEN%29%29%7Eseverity%7E%28equals%7E%28%7E%27CRITICAL%29%29%29%7EgroupBy%7E%27none%29" TargetMode="External"/><Relationship Id="rId6" Type="http://schemas.openxmlformats.org/officeDocument/2006/relationships/hyperlink" Target="https://app.wiz.io/settings/system-health#%7E%28filters%7E%28status%7E%28equals%7E%28%7E%27OPEN%29%29%7Eseverity%7E%28equals%7E%28%7E%27HIGH%29%29%29%7EgroupBy%7E%27none%29" TargetMode="External"/><Relationship Id="rId7" Type="http://schemas.openxmlformats.org/officeDocument/2006/relationships/hyperlink" Target="https://app.wiz.io/settings/system-health#%7E%28filters%7E%28status%7E%28equals%7E%28%7E%27RESOLVED%29%29%7Eseverity%7E%28equals%7E%28%7E%27CRITICAL%29%29%29%7EgroupBy%7E%27none%29" TargetMode="External"/><Relationship Id="rId8" Type="http://schemas.openxmlformats.org/officeDocument/2006/relationships/hyperlink" Target="https://app.wiz.io/settings/system-health#%7E%28filters%7E%28status%7E%28equals%7E%28%7E%27RESOLVED%29%29%7Eseverity%7E%28equals%7E%28%7E%27HIGH%29%29%29%7EgroupBy%7E%27none%29" TargetMode="External"/><Relationship Id="rId11" Type="http://schemas.openxmlformats.org/officeDocument/2006/relationships/hyperlink" Target="https://app.wiz.io/settings/workload-scan-log#%7E%28filters%7E%28status%7E%28%29%7Etimestamp%7E%28%29%7EdataScan%7E%28equals%7Efalse%29%29%29" TargetMode="External"/><Relationship Id="rId10" Type="http://schemas.openxmlformats.org/officeDocument/2006/relationships/hyperlink" Target="https://app.wiz.io/settings/workload-scan-log#%7E%28filters%7E%28status%7E%28equals%7E%28%7E%27FAILED%29%29%7Etimestamp%7E%28%29%7EdataScan%7E%28equals%7Efalse%29%29%29" TargetMode="External"/><Relationship Id="rId13" Type="http://schemas.openxmlformats.org/officeDocument/2006/relationships/hyperlink" Target="https://app.wiz.io/explorer/graph#%7E%28query%7E%28type%7E%28%7E%27CLOUD_RESOURCE%29%7Erelationships%7E%28%7E%28type%7E%28%7E%28type%7E%27SCANNED%7Ereverse%7Etrue%29%29%7Ewith%7E%28type%7E%28%7E%27SECURITY_TOOL_SCAN%29%7Eselect%7Etrue%7Ewhere%7E%28name%7E%28CONTAINS%7E%28%7E%27data*20scan%29%29%29%29%29%29%7Eselect%7Etrue%29%7Eview%7E%27table%7Ecolumns%7E%28%7E%28%7E%270%7E16%29%7E%28%7E%271%7E16%29%7E%28%7E%272%7E16%29%7E%28%7E%273%7E16%29%7E%28%7E%273cloudPlatform%7E9%29%7E%28%7E%273status%7E9%29%7E%28%7E%273externalId%7E9%29%7E%28%7E%273name%7E9%29%29%7Ecols%7E%28%7E%28%7E%27c-r0%7E361%29%7E%28%7E%27c-r0-cloud-platform%7E199%29%7E%28%7E%27c-r0-status%7E61%29%7E%28%7E%27c-r1%7E617%29%7E%28%7E%27c-r1-status%7E227%29%7E%28%7E%27c-r1-analysis-date%7E107%29%29%7Eentity%7E%28%7E%29%29" TargetMode="External"/><Relationship Id="rId12" Type="http://schemas.openxmlformats.org/officeDocument/2006/relationships/hyperlink" Target="https://app.wiz.io/settings/workload-scan-log#%7E%28filters%7E%28status%7E%28equals%7E%28%7E%27SKIPPED%29%29%7Etimestamp%7E%28%29%7EdataScan%7E%28equals%7Efalse%29%29%29" TargetMode="External"/><Relationship Id="rId15" Type="http://schemas.openxmlformats.org/officeDocument/2006/relationships/hyperlink" Target="https://app.wiz.io/explorer/graph#%7E%28query%7E%28type%7E%28%7E%27CLOUD_RESOURCE%29%7Erelationships%7E%28%7E%28type%7E%28%7E%28type%7E%27SCANNED%7Ereverse%7Etrue%29%29%7Ewith%7E%28type%7E%28%7E%27SECURITY_TOOL_SCAN%29%7Eselect%7Etrue%7Ewhere%7E%28status%7E%28EQUALS%7E%28%7E%27ScanStatusSkipped%29%29%7Ename%7E%28CONTAINS%7E%28%7E%27data*20scan%29%29%29%29%29%29%7Eselect%7Etrue%29%7Eview%7E%27table%7Ecolumns%7E%28%7E%28%7E%270%7E16%29%7E%28%7E%271%7E16%29%7E%28%7E%272%7E16%29%7E%28%7E%273%7E16%29%7E%28%7E%273cloudPlatform%7E9%29%7E%28%7E%273status%7E9%29%7E%28%7E%273externalId%7E9%29%7E%28%7E%273name%7E9%29%29%7Ecols%7E%28%7E%28%7E%27c-r0%7E361%29%7E%28%7E%27c-r0-cloud-platform%7E199%29%7E%28%7E%27c-r0-status%7E61%29%7E%28%7E%27c-r1%7E617%29%7E%28%7E%27c-r1-status%7E227%29%7E%28%7E%27c-r1-analysis-date%7E107%29%29%7Eentity%7E%28%7E%29%29" TargetMode="External"/><Relationship Id="rId14" Type="http://schemas.openxmlformats.org/officeDocument/2006/relationships/hyperlink" Target="https://app.wiz.io/explorer/graph#%7E%28query%7E%28type%7E%28%7E%27CLOUD_RESOURCE%29%7Erelationships%7E%28%7E%28type%7E%28%7E%28type%7E%27SCANNED%7Ereverse%7Etrue%29%29%7Ewith%7E%28type%7E%28%7E%27SECURITY_TOOL_SCAN%29%7Eselect%7Etrue%7Ewhere%7E%28status%7E%28EQUALS%7E%28%7E%27ScanStatusError%29%29%7Ename%7E%28CONTAINS%7E%28%7E%27data*20scan%29%29%29%29%29%29%7Eselect%7Etrue%29%7Eview%7E%27table%7Ecolumns%7E%28%7E%28%7E%270%7E16%29%7E%28%7E%271%7E16%29%7E%28%7E%272%7E16%29%7E%28%7E%273%7E16%29%7E%28%7E%273cloudPlatform%7E9%29%7E%28%7E%273status%7E9%29%7E%28%7E%273externalId%7E9%29%7E%28%7E%273name%7E9%29%29%7Ecols%7E%28%7E%28%7E%27c-r0%7E361%29%7E%28%7E%27c-r0-cloud-platform%7E199%29%7E%28%7E%27c-r0-status%7E61%29%7E%28%7E%27c-r1%7E617%29%7E%28%7E%27c-r1-status%7E227%29%7E%28%7E%27c-r1-analysis-date%7E107%29%29%7Eentity%7E%28%7E%29%29" TargetMode="External"/><Relationship Id="rId17" Type="http://schemas.openxmlformats.org/officeDocument/2006/relationships/image" Target="../media/image48.png"/><Relationship Id="rId16" Type="http://schemas.openxmlformats.org/officeDocument/2006/relationships/image" Target="../media/image42.png"/><Relationship Id="rId19" Type="http://schemas.openxmlformats.org/officeDocument/2006/relationships/hyperlink" Target="https://app.wiz.io/inventory/kubernetes-clusters" TargetMode="External"/><Relationship Id="rId18"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53.png"/><Relationship Id="rId4" Type="http://schemas.openxmlformats.org/officeDocument/2006/relationships/image" Target="../media/image41.png"/><Relationship Id="rId5" Type="http://schemas.openxmlformats.org/officeDocument/2006/relationships/image" Target="../media/image49.png"/><Relationship Id="rId6" Type="http://schemas.openxmlformats.org/officeDocument/2006/relationships/image" Target="../media/image51.png"/></Relationships>
</file>

<file path=ppt/slides/_rels/slide6.xml.rels><?xml version="1.0" encoding="UTF-8" standalone="yes"?><Relationships xmlns="http://schemas.openxmlformats.org/package/2006/relationships"><Relationship Id="rId20" Type="http://schemas.openxmlformats.org/officeDocument/2006/relationships/hyperlink" Target="https://app.wiz.io/policies/automation-rules" TargetMode="External"/><Relationship Id="rId21" Type="http://schemas.openxmlformats.org/officeDocument/2006/relationships/hyperlink" Target="https://app.wiz.io/settings/audit-log#%7E%28filters%7E%28clientType%7E%28equals%7E%28%7E%27MCP%29%29%29%7EgroupBy%7E%28%7E%27PERFORMER%29%29" TargetMode="External"/><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hyperlink" Target="https://app.wiz.io/settings/users#%7E%28filters%7E%28status%7E%28notEquals%7E%28%7E%27DELETED%29%29%29%29" TargetMode="External"/><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projects#%7E%28filters%7E%28businessImpact%7E%28equals%7E%28%7E%27HBI%29%29%29%29" TargetMode="External"/><Relationship Id="rId6" Type="http://schemas.openxmlformats.org/officeDocument/2006/relationships/hyperlink" Target="https://app.wiz.io/settings/projects#%7E%28filters%7E%28businessImpact%7E%28equals%7E%28%7E%27MBI%29%29%29%29" TargetMode="External"/><Relationship Id="rId7" Type="http://schemas.openxmlformats.org/officeDocument/2006/relationships/hyperlink" Target="https://app.wiz.io/settings/projects#%7E%28filters%7E%28businessImpact%7E%28equals%7E%28%7E%27LBI%29%29%29%29" TargetMode="External"/><Relationship Id="rId8" Type="http://schemas.openxmlformats.org/officeDocument/2006/relationships/hyperlink" Target="https://app.wiz.io/reports/compliance/security-frameworks#%7E%28filters%7E%28createdBy%7E%28equals%7E%27USER%29%29%29" TargetMode="External"/><Relationship Id="rId11" Type="http://schemas.openxmlformats.org/officeDocument/2006/relationships/hyperlink" Target="https://app.wiz.io/policies/inventory-management-rules#%7E%28filters%7E%28createdBy%7E%28equals%7E%28%7E%27USER%29%29%29%29" TargetMode="External"/><Relationship Id="rId10" Type="http://schemas.openxmlformats.org/officeDocument/2006/relationships/hyperlink" Target="https://app.wiz.io/settings/services" TargetMode="External"/><Relationship Id="rId13" Type="http://schemas.openxmlformats.org/officeDocument/2006/relationships/hyperlink" Target="https://app.wiz.io/reports/monitored-metrics#%7E%28filters%7E%28builtin%7E%28equals%7E%28%7E%27false%29%29%29%29" TargetMode="External"/><Relationship Id="rId12" Type="http://schemas.openxmlformats.org/officeDocument/2006/relationships/hyperlink" Target="https://app.wiz.io/policies/posture#%7E%28filters%7E%28creator%7E%28equals%7E%28%7E%27USER%29%29%29%29" TargetMode="External"/><Relationship Id="rId15"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14" Type="http://schemas.openxmlformats.org/officeDocument/2006/relationships/hyperlink" Target="https://app.wiz.io/boards/champion-center" TargetMode="External"/><Relationship Id="rId17" Type="http://schemas.openxmlformats.org/officeDocument/2006/relationships/image" Target="../media/image59.png"/><Relationship Id="rId16" Type="http://schemas.openxmlformats.org/officeDocument/2006/relationships/image" Target="../media/image56.png"/><Relationship Id="rId19" Type="http://schemas.openxmlformats.org/officeDocument/2006/relationships/hyperlink" Target="https://app.wiz.io/policies/workflows" TargetMode="External"/><Relationship Id="rId18"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53.png"/><Relationship Id="rId4" Type="http://schemas.openxmlformats.org/officeDocument/2006/relationships/image" Target="../media/image64.png"/><Relationship Id="rId9" Type="http://schemas.openxmlformats.org/officeDocument/2006/relationships/image" Target="../media/image68.png"/><Relationship Id="rId5" Type="http://schemas.openxmlformats.org/officeDocument/2006/relationships/image" Target="../media/image57.png"/><Relationship Id="rId6" Type="http://schemas.openxmlformats.org/officeDocument/2006/relationships/image" Target="../media/image60.png"/><Relationship Id="rId7" Type="http://schemas.openxmlformats.org/officeDocument/2006/relationships/image" Target="../media/image62.png"/><Relationship Id="rId8" Type="http://schemas.openxmlformats.org/officeDocument/2006/relationships/image" Target="../media/image67.png"/><Relationship Id="rId10" Type="http://schemas.openxmlformats.org/officeDocument/2006/relationships/image" Target="../media/image6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71.png"/><Relationship Id="rId8"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issues#%7E%28filters%7E%28status%7E%28equals%7E%28%7E%27RESOLVED%29%29%7Eseverity%7E%28equals%7E%28%7E%27HIGH%29%29%29%7EgroupBy%7E%27none%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6" Type="http://schemas.openxmlformats.org/officeDocument/2006/relationships/hyperlink" Target="https://app.wiz.io/issues#%7E%28filters%7E%28status%7E%28equals%7E%28%7E%27RESOLVED%29%29%7Eseverity%7E%28equals%7E%28%7E%27CRITICAL%29%29%29%7EgroupBy%7E%27none%29" TargetMode="External"/><Relationship Id="rId7" Type="http://schemas.openxmlformats.org/officeDocument/2006/relationships/hyperlink" Target="https://app.wiz.io/issues#%7E%28filters%7E%28status%7E%28equals%7E%28%7E%27OPEN%7E%27IN_PROGRESS%29%29%7Eseverity%7E%28equals%7E%28%7E%27HIGH%29%29%29%7EgroupBy%7E%27none%29" TargetMode="External"/><Relationship Id="rId8" Type="http://schemas.openxmlformats.org/officeDocument/2006/relationships/hyperlink" Target="https://app.wiz.io/issues#%7E%28filters%7E%28status%7E%28equals%7E%28%7E%27RESOLVED%29%29%7Eseverity%7E%28equals%7E%28%7E%27HIGH%29%29%29%7EgroupBy%7E%27none%29" TargetMode="External"/><Relationship Id="rId11" Type="http://schemas.openxmlformats.org/officeDocument/2006/relationships/hyperlink" Target="https://app.wiz.io/boards/ai-security" TargetMode="External"/><Relationship Id="rId10" Type="http://schemas.openxmlformats.org/officeDocument/2006/relationships/hyperlink" Target="https://app.wiz.io/issues#%7E%28filters%7E%28status%7E%28equals%7E%28%7E%27REJECTED%29%29%29%7EgroupBy%7E%27none%29" TargetMode="External"/><Relationship Id="rId13" Type="http://schemas.openxmlformats.org/officeDocument/2006/relationships/hyperlink" Target="https://app.wiz.io/boards/security-operations#%7E%28filters%7E%28timestamp%7E%28dateRange%7E%28past%7E%28unit%7E%27day%7Eamount%7E30%29%29%29%29%29" TargetMode="External"/><Relationship Id="rId12" Type="http://schemas.openxmlformats.org/officeDocument/2006/relationships/image" Target="../media/image54.png"/><Relationship Id="rId15" Type="http://schemas.openxmlformats.org/officeDocument/2006/relationships/hyperlink" Target="https://app.wiz.io/boards/security-operations#%7E%28filters%7E%28timestamp%7E%28dateRange%7E%28past%7E%28unit%7E%27day%7Eamount%7E30%29%29%29%29%29" TargetMode="External"/><Relationship Id="rId14" Type="http://schemas.openxmlformats.org/officeDocument/2006/relationships/hyperlink" Target="https://app.wiz.io/boards/security-operations#%7E%28filters%7E%28timestamp%7E%28dateRange%7E%28past%7E%28unit%7E%27day%7Eamount%7E30%29%29%29%29%29" TargetMode="External"/><Relationship Id="rId17" Type="http://schemas.openxmlformats.org/officeDocument/2006/relationships/image" Target="../media/image70.png"/><Relationship Id="rId16" Type="http://schemas.openxmlformats.org/officeDocument/2006/relationships/hyperlink" Target="https://app.wiz.io/threats#%7E%28filters%7E%28status%7E%28equals%7E%28%7E%27OPEN%7E%27IN_PROGRESS%29%29%7EcreatedAt%7E%28dateRange%7E%28past%7E%28amount%7E30%7Eunit%7E%27day%29%29%29%29%29" TargetMode="External"/><Relationship Id="rId18" Type="http://schemas.openxmlformats.org/officeDocument/2006/relationships/image" Target="../media/image7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54.png"/><Relationship Id="rId4" Type="http://schemas.openxmlformats.org/officeDocument/2006/relationships/image" Target="../media/image56.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 Id="rId5" Type="http://schemas.openxmlformats.org/officeDocument/2006/relationships/image" Target="../media/image59.png"/><Relationship Id="rId6" Type="http://schemas.openxmlformats.org/officeDocument/2006/relationships/image" Target="../media/image55.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8" Type="http://schemas.openxmlformats.org/officeDocument/2006/relationships/hyperlink" Target="https://app.wiz.io/inventory/kubernetes-clusters" TargetMode="External"/><Relationship Id="rId10" Type="http://schemas.openxmlformats.org/officeDocument/2006/relationships/hyperlink" Target="https://app.wiz.io/inventory/kubernetes-cluster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3.png"/><Relationship Id="rId4" Type="http://schemas.openxmlformats.org/officeDocument/2006/relationships/image" Target="../media/image41.png"/><Relationship Id="rId5" Type="http://schemas.openxmlformats.org/officeDocument/2006/relationships/image" Target="../media/image49.png"/><Relationship Id="rId6"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s>
</file>

<file path=ppt/slides/_rels/slide14.xml.rels><?xml version="1.0" encoding="UTF-8" standalone="yes"?><Relationships xmlns="http://schemas.openxmlformats.org/package/2006/relationships"><Relationship Id="rId20" Type="http://schemas.openxmlformats.org/officeDocument/2006/relationships/hyperlink" Target="https://app.wiz.io/inventory/container-registries#%7E%28filters%7E%28connectionType%7E%28equals%7E%28%7E%27STANDALONE%29%29%29%29" TargetMode="External"/><Relationship Id="rId22" Type="http://schemas.openxmlformats.org/officeDocument/2006/relationships/hyperlink" Target="https://app.wiz.io/inventory/container-registries#%7E%28filters%7E%28scanningConfigurationType%7E%28equals%7E%28%7E%27CUSTOM%29%29%29%29" TargetMode="External"/><Relationship Id="rId21"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hyperlink" Target="https://app.wiz.io/inventory/kubernetes-clusters" TargetMode="External"/><Relationship Id="rId4" Type="http://schemas.openxmlformats.org/officeDocument/2006/relationships/hyperlink" Target="https://app.wiz.io/inventory/kubernetes-clusters" TargetMode="External"/><Relationship Id="rId9" Type="http://schemas.openxmlformats.org/officeDocument/2006/relationships/hyperlink" Target="https://app.wiz.io/inventory/containers/images" TargetMode="External"/><Relationship Id="rId5" Type="http://schemas.openxmlformats.org/officeDocument/2006/relationships/hyperlink" Target="https://app.wiz.io/inventory/kubernetes-clusters" TargetMode="External"/><Relationship Id="rId6"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7"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8" Type="http://schemas.openxmlformats.org/officeDocument/2006/relationships/hyperlink" Target="https://app.wiz.io/inventory/containers/images" TargetMode="External"/><Relationship Id="rId11" Type="http://schemas.openxmlformats.org/officeDocument/2006/relationships/hyperlink" Target="https://app.wiz.io/inventory/container-registries" TargetMode="External"/><Relationship Id="rId10" Type="http://schemas.openxmlformats.org/officeDocument/2006/relationships/hyperlink" Target="https://app.wiz.io/inventory/containers/images"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2" Type="http://schemas.openxmlformats.org/officeDocument/2006/relationships/hyperlink" Target="https://app.wiz.io/inventory/container-registries" TargetMode="External"/><Relationship Id="rId15" Type="http://schemas.openxmlformats.org/officeDocument/2006/relationships/hyperlink" Target="https://app.wiz.io/inventory/kubernetes-clusters#%7E%28filters%7E%28property*3aaccessibleFrom.internet%7E%28EQUALS%7Etrue%29%29%29" TargetMode="External"/><Relationship Id="rId1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7"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6"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19" Type="http://schemas.openxmlformats.org/officeDocument/2006/relationships/image" Target="../media/image79.png"/><Relationship Id="rId1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3.png"/><Relationship Id="rId4" Type="http://schemas.openxmlformats.org/officeDocument/2006/relationships/image" Target="../media/image64.png"/><Relationship Id="rId5" Type="http://schemas.openxmlformats.org/officeDocument/2006/relationships/image" Target="../media/image57.png"/><Relationship Id="rId6" Type="http://schemas.openxmlformats.org/officeDocument/2006/relationships/image" Target="../media/image6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40.png"/><Relationship Id="rId4" Type="http://schemas.openxmlformats.org/officeDocument/2006/relationships/hyperlink" Target="https://app.wiz.io/settings/preview-and-migration-hub" TargetMode="External"/><Relationship Id="rId9" Type="http://schemas.openxmlformats.org/officeDocument/2006/relationships/hyperlink" Target="https://app.wiz.io/settings/preview-and-migration-hub" TargetMode="External"/><Relationship Id="rId5" Type="http://schemas.openxmlformats.org/officeDocument/2006/relationships/hyperlink" Target="https://app.wiz.io/settings/preview-and-migration-hub" TargetMode="External"/><Relationship Id="rId6" Type="http://schemas.openxmlformats.org/officeDocument/2006/relationships/hyperlink" Target="https://app.wiz.io/settings/preview-and-migration-hub" TargetMode="External"/><Relationship Id="rId7" Type="http://schemas.openxmlformats.org/officeDocument/2006/relationships/hyperlink" Target="https://app.wiz.io/settings/preview-and-migration-hub" TargetMode="External"/><Relationship Id="rId8" Type="http://schemas.openxmlformats.org/officeDocument/2006/relationships/hyperlink" Target="https://app.wiz.io/settings/preview-and-migration-hu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40.png"/><Relationship Id="rId4" Type="http://schemas.openxmlformats.org/officeDocument/2006/relationships/hyperlink" Target="https://app.wiz.io/settings/preview-and-migration-hub" TargetMode="External"/><Relationship Id="rId5" Type="http://schemas.openxmlformats.org/officeDocument/2006/relationships/hyperlink" Target="https://app.wiz.io/settings/preview-and-migration-hub" TargetMode="External"/><Relationship Id="rId6" Type="http://schemas.openxmlformats.org/officeDocument/2006/relationships/hyperlink" Target="https://app.wiz.io/settings/preview-and-migration-hub" TargetMode="External"/><Relationship Id="rId7" Type="http://schemas.openxmlformats.org/officeDocument/2006/relationships/hyperlink" Target="https://app.wiz.io/settings/preview-and-migration-hu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image" Target="../media/image40.png"/><Relationship Id="rId4" Type="http://schemas.openxmlformats.org/officeDocument/2006/relationships/hyperlink" Target="https://app.wiz.io/roadmap?tab=TRACKED" TargetMode="External"/><Relationship Id="rId5" Type="http://schemas.openxmlformats.org/officeDocument/2006/relationships/hyperlink" Target="https://app.wiz.io/roadmap?tab=TRACKED"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0.xml"/><Relationship Id="rId3" Type="http://schemas.openxmlformats.org/officeDocument/2006/relationships/hyperlink" Target="https://app.wiz.io/settings/scanners/cloud-configuration" TargetMode="External"/><Relationship Id="rId4" Type="http://schemas.openxmlformats.org/officeDocument/2006/relationships/hyperlink" Target="https://app.wiz.io/settings/scanners/cloud-configuration" TargetMode="External"/><Relationship Id="rId9"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file-integrity-monitoring" TargetMode="External"/><Relationship Id="rId6" Type="http://schemas.openxmlformats.org/officeDocument/2006/relationships/hyperlink" Target="https://app.wiz.io/settings/scanners/workload-scanner" TargetMode="External"/><Relationship Id="rId7" Type="http://schemas.openxmlformats.org/officeDocument/2006/relationships/hyperlink" Target="https://app.wiz.io/boards/security-operations#%7E%28filters%7E%28timestamp%7E%28dateRange%7E%28past%7E%28unit%7E%27day%7Eamount%7E30%29%29%29%29%29" TargetMode="External"/><Relationship Id="rId8" Type="http://schemas.openxmlformats.org/officeDocument/2006/relationships/hyperlink" Target="https://app.wiz.io/settings/scanners/attack-surface" TargetMode="External"/><Relationship Id="rId10" Type="http://schemas.openxmlformats.org/officeDocument/2006/relationships/image" Target="../media/image8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1.xml"/><Relationship Id="rId3" Type="http://schemas.openxmlformats.org/officeDocument/2006/relationships/image" Target="../media/image80.png"/><Relationship Id="rId4" Type="http://schemas.openxmlformats.org/officeDocument/2006/relationships/hyperlink" Target="https://app.wiz.io/settings/scanners/vulnerability-scanning" TargetMode="External"/><Relationship Id="rId5" Type="http://schemas.openxmlformats.org/officeDocument/2006/relationships/hyperlink" Target="https://app.wiz.io/boards/security-operations#%7E%28filters%7E%28timestamp%7E%28dateRange%7E%28past%7E%28unit%7E%27day%7Eamount%7E30%29%29%29%29%29" TargetMode="External"/><Relationship Id="rId6" Type="http://schemas.openxmlformats.org/officeDocument/2006/relationships/hyperlink" Target="https://app.wiz.io/settings/scanners/data-security" TargetMode="External"/><Relationship Id="rId7" Type="http://schemas.openxmlformats.org/officeDocument/2006/relationships/hyperlink" Target="https://app.wiz.io/boards/security-operations#%7E%28filters%7E%28timestamp%7E%28dateRange%7E%28past%7E%28unit%7E%27day%7Eamount%7E30%29%29%29%29%29"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2.xml"/><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 Id="rId6"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 Id="rId7"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8"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47"/>
          <p:cNvSpPr txBox="1"/>
          <p:nvPr/>
        </p:nvSpPr>
        <p:spPr>
          <a:xfrm>
            <a:off x="467650" y="1744075"/>
            <a:ext cx="3565500" cy="13161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3200"/>
              <a:buFont typeface="Arial"/>
              <a:buNone/>
            </a:pPr>
            <a:r>
              <a:rPr lang="en" sz="2700">
                <a:solidFill>
                  <a:schemeClr val="lt1"/>
                </a:solidFill>
                <a:latin typeface="Poppins"/>
                <a:ea typeface="Poppins"/>
                <a:cs typeface="Poppins"/>
                <a:sym typeface="Poppins"/>
              </a:rPr>
              <a:t>Tenant Health Assessment</a:t>
            </a:r>
            <a:r>
              <a:rPr lang="en" sz="2700">
                <a:solidFill>
                  <a:schemeClr val="lt1"/>
                </a:solidFill>
                <a:latin typeface="Poppins"/>
                <a:ea typeface="Poppins"/>
                <a:cs typeface="Poppins"/>
                <a:sym typeface="Poppins"/>
              </a:rPr>
              <a:t> for</a:t>
            </a:r>
            <a:br>
              <a:rPr lang="en" sz="2700">
                <a:solidFill>
                  <a:schemeClr val="lt1"/>
                </a:solidFill>
                <a:latin typeface="Poppins"/>
                <a:ea typeface="Poppins"/>
                <a:cs typeface="Poppins"/>
                <a:sym typeface="Poppins"/>
              </a:rPr>
            </a:br>
            <a:r>
              <a:rPr lang="en" sz="2700">
                <a:solidFill>
                  <a:schemeClr val="lt1"/>
                </a:solidFill>
                <a:latin typeface="Poppins"/>
                <a:ea typeface="Poppins"/>
                <a:cs typeface="Poppins"/>
                <a:sym typeface="Poppins"/>
              </a:rPr>
              <a:t>{{Customer}}</a:t>
            </a:r>
            <a:endParaRPr i="0" sz="2700" u="none" cap="none" strike="noStrike">
              <a:solidFill>
                <a:srgbClr val="000000"/>
              </a:solidFill>
              <a:latin typeface="Poppins"/>
              <a:ea typeface="Poppins"/>
              <a:cs typeface="Poppins"/>
              <a:sym typeface="Poppins"/>
            </a:endParaRPr>
          </a:p>
        </p:txBody>
      </p:sp>
      <p:sp>
        <p:nvSpPr>
          <p:cNvPr id="238" name="Google Shape;238;p47"/>
          <p:cNvSpPr txBox="1"/>
          <p:nvPr/>
        </p:nvSpPr>
        <p:spPr>
          <a:xfrm>
            <a:off x="467646" y="3430075"/>
            <a:ext cx="4026300" cy="5310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800"/>
              <a:buFont typeface="Arial"/>
              <a:buNone/>
            </a:pPr>
            <a:r>
              <a:t/>
            </a:r>
            <a:endParaRPr sz="1500">
              <a:solidFill>
                <a:schemeClr val="lt1"/>
              </a:solidFill>
              <a:latin typeface="Poppins"/>
              <a:ea typeface="Poppins"/>
              <a:cs typeface="Poppins"/>
              <a:sym typeface="Poppins"/>
            </a:endParaRPr>
          </a:p>
          <a:p>
            <a:pPr indent="0" lvl="0" marL="0" marR="0" rtl="0" algn="l">
              <a:lnSpc>
                <a:spcPct val="100000"/>
              </a:lnSpc>
              <a:spcBef>
                <a:spcPts val="0"/>
              </a:spcBef>
              <a:spcAft>
                <a:spcPts val="0"/>
              </a:spcAft>
              <a:buClr>
                <a:srgbClr val="000000"/>
              </a:buClr>
              <a:buSzPts val="1800"/>
              <a:buFont typeface="Arial"/>
              <a:buNone/>
            </a:pPr>
            <a:r>
              <a:rPr lang="en" sz="1500">
                <a:solidFill>
                  <a:schemeClr val="lt1"/>
                </a:solidFill>
                <a:latin typeface="Poppins"/>
                <a:ea typeface="Poppins"/>
                <a:cs typeface="Poppins"/>
                <a:sym typeface="Poppins"/>
              </a:rPr>
              <a:t>{Date}</a:t>
            </a:r>
            <a:endParaRPr i="0" sz="1500" u="none" cap="none" strike="noStrike">
              <a:solidFill>
                <a:schemeClr val="lt1"/>
              </a:solidFill>
              <a:latin typeface="Poppins"/>
              <a:ea typeface="Poppins"/>
              <a:cs typeface="Poppins"/>
              <a:sym typeface="Poppins"/>
            </a:endParaRPr>
          </a:p>
        </p:txBody>
      </p:sp>
      <p:pic>
        <p:nvPicPr>
          <p:cNvPr id="239" name="Google Shape;239;p47" title="opening_photo.png"/>
          <p:cNvPicPr preferRelativeResize="0"/>
          <p:nvPr/>
        </p:nvPicPr>
        <p:blipFill>
          <a:blip r:embed="rId3">
            <a:alphaModFix/>
          </a:blip>
          <a:stretch>
            <a:fill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a:blip r:embed="rId4">
            <a:alphaModFix/>
          </a:blip>
          <a:stretch>
            <a:fill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a:blip r:embed="rId5">
            <a:alphaModFix/>
          </a:blip>
          <a:stretch>
            <a:fill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8"/>
          <p:cNvSpPr txBox="1"/>
          <p:nvPr/>
        </p:nvSpPr>
        <p:spPr>
          <a:xfrm>
            <a:off x="6799450" y="3366600"/>
            <a:ext cx="2010300" cy="20409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248" name="Google Shape;248;p48"/>
          <p:cNvSpPr txBox="1"/>
          <p:nvPr/>
        </p:nvSpPr>
        <p:spPr>
          <a:xfrm>
            <a:off x="799800" y="4353432"/>
            <a:ext cx="2010300" cy="8313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250" name="Google Shape;250;p48"/>
          <p:cNvSpPr txBox="1"/>
          <p:nvPr/>
        </p:nvSpPr>
        <p:spPr>
          <a:xfrm>
            <a:off x="2815700" y="4060176"/>
            <a:ext cx="1987500" cy="12624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cxnSp>
        <p:nvCxnSpPr>
          <p:cNvPr id="251" name="Google Shape;251;p48"/>
          <p:cNvCxnSpPr/>
          <p:nvPr/>
        </p:nvCxnSpPr>
        <p:spPr>
          <a:xfrm rot="10800000">
            <a:off x="2813100" y="2136400"/>
            <a:ext cx="0" cy="3118500"/>
          </a:xfrm>
          <a:prstGeom prst="straightConnector1">
            <a:avLst/>
          </a:prstGeom>
          <a:noFill/>
          <a:ln cap="flat" cmpd="sng" w="9525">
            <a:solidFill>
              <a:srgbClr val="0254EC"/>
            </a:solidFill>
            <a:prstDash val="solid"/>
            <a:round/>
            <a:headEnd len="sm" w="sm" type="none"/>
            <a:tailEnd len="sm" w="sm" type="none"/>
          </a:ln>
        </p:spPr>
      </p:cxnSp>
      <p:cxnSp>
        <p:nvCxnSpPr>
          <p:cNvPr id="252" name="Google Shape;252;p48"/>
          <p:cNvCxnSpPr/>
          <p:nvPr/>
        </p:nvCxnSpPr>
        <p:spPr>
          <a:xfrm rot="10800000">
            <a:off x="4804975" y="1525650"/>
            <a:ext cx="0" cy="3713100"/>
          </a:xfrm>
          <a:prstGeom prst="straightConnector1">
            <a:avLst/>
          </a:prstGeom>
          <a:noFill/>
          <a:ln cap="flat" cmpd="sng" w="9525">
            <a:solidFill>
              <a:srgbClr val="0254EC"/>
            </a:solidFill>
            <a:prstDash val="solid"/>
            <a:round/>
            <a:headEnd len="sm" w="sm" type="none"/>
            <a:tailEnd len="sm" w="sm" type="none"/>
          </a:ln>
        </p:spPr>
      </p:cxnSp>
      <p:cxnSp>
        <p:nvCxnSpPr>
          <p:cNvPr id="253" name="Google Shape;253;p48"/>
          <p:cNvCxnSpPr/>
          <p:nvPr/>
        </p:nvCxnSpPr>
        <p:spPr>
          <a:xfrm rot="10800000">
            <a:off x="6804675" y="910700"/>
            <a:ext cx="0" cy="4311900"/>
          </a:xfrm>
          <a:prstGeom prst="straightConnector1">
            <a:avLst/>
          </a:prstGeom>
          <a:noFill/>
          <a:ln cap="flat" cmpd="sng" w="9525">
            <a:solidFill>
              <a:srgbClr val="0254EC"/>
            </a:solidFill>
            <a:prstDash val="solid"/>
            <a:round/>
            <a:headEnd len="sm" w="sm" type="none"/>
            <a:tailEnd len="sm" w="sm" type="none"/>
          </a:ln>
        </p:spPr>
      </p:cxnSp>
      <p:cxnSp>
        <p:nvCxnSpPr>
          <p:cNvPr id="254" name="Google Shape;254;p48"/>
          <p:cNvCxnSpPr/>
          <p:nvPr/>
        </p:nvCxnSpPr>
        <p:spPr>
          <a:xfrm flipH="1" rot="10800000">
            <a:off x="983850" y="193650"/>
            <a:ext cx="8194200" cy="2507100"/>
          </a:xfrm>
          <a:prstGeom prst="straightConnector1">
            <a:avLst/>
          </a:prstGeom>
          <a:noFill/>
          <a:ln cap="flat" cmpd="sng" w="9525">
            <a:solidFill>
              <a:srgbClr val="0254EC"/>
            </a:solidFill>
            <a:prstDash val="lgDash"/>
            <a:round/>
            <a:headEnd len="sm" w="sm" type="none"/>
            <a:tailEnd len="sm" w="sm" type="none"/>
          </a:ln>
        </p:spPr>
      </p:cxnSp>
      <p:cxnSp>
        <p:nvCxnSpPr>
          <p:cNvPr id="255" name="Google Shape;255;p48"/>
          <p:cNvCxnSpPr/>
          <p:nvPr/>
        </p:nvCxnSpPr>
        <p:spPr>
          <a:xfrm rot="10800000">
            <a:off x="807946" y="2756762"/>
            <a:ext cx="0" cy="2399400"/>
          </a:xfrm>
          <a:prstGeom prst="straightConnector1">
            <a:avLst/>
          </a:prstGeom>
          <a:noFill/>
          <a:ln cap="flat" cmpd="sng" w="9525">
            <a:solidFill>
              <a:srgbClr val="0254EC"/>
            </a:solidFill>
            <a:prstDash val="solid"/>
            <a:round/>
            <a:headEnd len="sm" w="sm" type="none"/>
            <a:tailEnd len="sm" w="sm" type="none"/>
          </a:ln>
        </p:spPr>
      </p:cxnSp>
      <p:pic>
        <p:nvPicPr>
          <p:cNvPr id="256" name="Google Shape;256;p48" title="Hardening_infinity.png"/>
          <p:cNvPicPr preferRelativeResize="0"/>
          <p:nvPr/>
        </p:nvPicPr>
        <p:blipFill>
          <a:blip r:embed="rId3">
            <a:alphaModFix/>
          </a:blip>
          <a:stretch>
            <a:fill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lang="en" sz="900">
                <a:solidFill>
                  <a:schemeClr val="dk1"/>
                </a:solidFill>
                <a:latin typeface="Poppins SemiBold"/>
                <a:ea typeface="Poppins SemiBold"/>
                <a:cs typeface="Poppins SemiBold"/>
                <a:sym typeface="Poppins SemiBold"/>
              </a:rPr>
              <a:t>EMBED AND AUTOMATE SECURITY</a:t>
            </a:r>
            <a:endParaRPr sz="900">
              <a:solidFill>
                <a:schemeClr val="dk1"/>
              </a:solidFill>
              <a:latin typeface="Poppins SemiBold"/>
              <a:ea typeface="Poppins SemiBold"/>
              <a:cs typeface="Poppins SemiBold"/>
              <a:sym typeface="Poppins SemiBold"/>
            </a:endParaRPr>
          </a:p>
        </p:txBody>
      </p:sp>
      <p:sp>
        <p:nvSpPr>
          <p:cNvPr id="258" name="Google Shape;258;p48"/>
          <p:cNvSpPr txBox="1"/>
          <p:nvPr/>
        </p:nvSpPr>
        <p:spPr>
          <a:xfrm>
            <a:off x="6810800" y="2070322"/>
            <a:ext cx="1811700" cy="13203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Enforce security policies consistently across cloud, code, and runtime</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Automate remediation and security lifecycle actions with automation rules</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Continuously reduce risk without manual intervention</a:t>
            </a:r>
            <a:endParaRPr sz="800">
              <a:solidFill>
                <a:srgbClr val="01123F"/>
              </a:solidFill>
              <a:latin typeface="Poppins Light"/>
              <a:ea typeface="Poppins Light"/>
              <a:cs typeface="Poppins Light"/>
              <a:sym typeface="Poppins Light"/>
            </a:endParaRPr>
          </a:p>
        </p:txBody>
      </p:sp>
      <p:sp>
        <p:nvSpPr>
          <p:cNvPr id="259" name="Google Shape;259;p48"/>
          <p:cNvSpPr txBox="1"/>
          <p:nvPr/>
        </p:nvSpPr>
        <p:spPr>
          <a:xfrm>
            <a:off x="5006084" y="2154770"/>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lang="en" sz="900">
                <a:solidFill>
                  <a:schemeClr val="dk1"/>
                </a:solidFill>
                <a:latin typeface="Poppins SemiBold"/>
                <a:ea typeface="Poppins SemiBold"/>
                <a:cs typeface="Poppins SemiBold"/>
                <a:sym typeface="Poppins SemiBold"/>
              </a:rPr>
              <a:t>SELF SERVICE SECURITY FOR DEVELOPERS</a:t>
            </a:r>
            <a:endParaRPr sz="900">
              <a:solidFill>
                <a:schemeClr val="dk1"/>
              </a:solidFill>
              <a:latin typeface="Poppins SemiBold"/>
              <a:ea typeface="Poppins SemiBold"/>
              <a:cs typeface="Poppins SemiBold"/>
              <a:sym typeface="Poppins SemiBold"/>
            </a:endParaRPr>
          </a:p>
        </p:txBody>
      </p:sp>
      <p:sp>
        <p:nvSpPr>
          <p:cNvPr id="260" name="Google Shape;260;p48"/>
          <p:cNvSpPr txBox="1"/>
          <p:nvPr/>
        </p:nvSpPr>
        <p:spPr>
          <a:xfrm>
            <a:off x="4902050" y="2498816"/>
            <a:ext cx="1811700" cy="11499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Enable developers to identify  and remediate risk independently</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Deliver security context       directly into engineering processes with Workflows, integrations, and WizExtend</a:t>
            </a:r>
            <a:endParaRPr sz="800">
              <a:solidFill>
                <a:srgbClr val="01123F"/>
              </a:solidFill>
              <a:latin typeface="Poppins Light"/>
              <a:ea typeface="Poppins Light"/>
              <a:cs typeface="Poppins Light"/>
              <a:sym typeface="Poppins Light"/>
            </a:endParaRPr>
          </a:p>
        </p:txBody>
      </p:sp>
      <p:sp>
        <p:nvSpPr>
          <p:cNvPr id="261" name="Google Shape;261;p48"/>
          <p:cNvSpPr txBox="1"/>
          <p:nvPr/>
        </p:nvSpPr>
        <p:spPr>
          <a:xfrm>
            <a:off x="3007225" y="2625300"/>
            <a:ext cx="1668300" cy="346200"/>
          </a:xfrm>
          <a:prstGeom prst="rect">
            <a:avLst/>
          </a:prstGeom>
          <a:noFill/>
          <a:ln>
            <a:noFill/>
          </a:ln>
        </p:spPr>
        <p:txBody>
          <a:bodyPr anchorCtr="0" anchor="t" bIns="34275" lIns="0" spcFirstLastPara="1" rIns="68575" wrap="square" tIns="34275">
            <a:spAutoFit/>
          </a:bodyPr>
          <a:lstStyle/>
          <a:p>
            <a:pPr indent="0" lvl="0" marL="0" rtl="0" algn="l">
              <a:spcBef>
                <a:spcPts val="0"/>
              </a:spcBef>
              <a:spcAft>
                <a:spcPts val="0"/>
              </a:spcAft>
              <a:buClr>
                <a:schemeClr val="dk1"/>
              </a:buClr>
              <a:buSzPts val="1100"/>
              <a:buFont typeface="Arial"/>
              <a:buNone/>
            </a:pPr>
            <a:r>
              <a:rPr lang="en" sz="900">
                <a:solidFill>
                  <a:schemeClr val="dk1"/>
                </a:solidFill>
                <a:latin typeface="Poppins SemiBold"/>
                <a:ea typeface="Poppins SemiBold"/>
                <a:cs typeface="Poppins SemiBold"/>
                <a:sym typeface="Poppins SemiBold"/>
              </a:rPr>
              <a:t>SHARED SECURITY CONTEXT WITH ENGINEERING</a:t>
            </a:r>
            <a:endParaRPr sz="900">
              <a:solidFill>
                <a:schemeClr val="dk1"/>
              </a:solidFill>
              <a:latin typeface="Poppins SemiBold"/>
              <a:ea typeface="Poppins SemiBold"/>
              <a:cs typeface="Poppins SemiBold"/>
              <a:sym typeface="Poppins SemiBold"/>
            </a:endParaRPr>
          </a:p>
        </p:txBody>
      </p:sp>
      <p:sp>
        <p:nvSpPr>
          <p:cNvPr id="262" name="Google Shape;262;p48"/>
          <p:cNvSpPr txBox="1"/>
          <p:nvPr/>
        </p:nvSpPr>
        <p:spPr>
          <a:xfrm>
            <a:off x="2903200" y="2966349"/>
            <a:ext cx="1811700" cy="11499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Map issues to an owner, application, or environment via Projects and Service Catalog</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Prioritize issues by business context and real exposure</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Align security and engineering on what matters most</a:t>
            </a:r>
            <a:endParaRPr sz="800">
              <a:solidFill>
                <a:srgbClr val="01123F"/>
              </a:solidFill>
              <a:latin typeface="Poppins Light"/>
              <a:ea typeface="Poppins Light"/>
              <a:cs typeface="Poppins Light"/>
              <a:sym typeface="Poppins Light"/>
            </a:endParaRPr>
          </a:p>
        </p:txBody>
      </p:sp>
      <p:sp>
        <p:nvSpPr>
          <p:cNvPr id="263" name="Google Shape;263;p48"/>
          <p:cNvSpPr txBox="1"/>
          <p:nvPr/>
        </p:nvSpPr>
        <p:spPr>
          <a:xfrm>
            <a:off x="1008697" y="3209104"/>
            <a:ext cx="1575300" cy="346200"/>
          </a:xfrm>
          <a:prstGeom prst="rect">
            <a:avLst/>
          </a:prstGeom>
          <a:noFill/>
          <a:ln>
            <a:noFill/>
          </a:ln>
        </p:spPr>
        <p:txBody>
          <a:bodyPr anchorCtr="0" anchor="t" bIns="34275" lIns="0" spcFirstLastPara="1" rIns="68575" wrap="square" tIns="34275">
            <a:spAutoFit/>
          </a:bodyPr>
          <a:lstStyle/>
          <a:p>
            <a:pPr indent="0" lvl="0" marL="0" rtl="0" algn="l">
              <a:spcBef>
                <a:spcPts val="0"/>
              </a:spcBef>
              <a:spcAft>
                <a:spcPts val="0"/>
              </a:spcAft>
              <a:buClr>
                <a:schemeClr val="dk1"/>
              </a:buClr>
              <a:buSzPts val="1100"/>
              <a:buFont typeface="Arial"/>
              <a:buNone/>
            </a:pPr>
            <a:r>
              <a:rPr lang="en" sz="900">
                <a:solidFill>
                  <a:schemeClr val="dk1"/>
                </a:solidFill>
                <a:latin typeface="Poppins SemiBold"/>
                <a:ea typeface="Poppins SemiBold"/>
                <a:cs typeface="Poppins SemiBold"/>
                <a:sym typeface="Poppins SemiBold"/>
              </a:rPr>
              <a:t>CENTRALIZE SECURITY ACROSS SECURITY TEAMS</a:t>
            </a:r>
            <a:endParaRPr sz="900">
              <a:solidFill>
                <a:schemeClr val="dk1"/>
              </a:solidFill>
              <a:latin typeface="Poppins SemiBold"/>
              <a:ea typeface="Poppins SemiBold"/>
              <a:cs typeface="Poppins SemiBold"/>
              <a:sym typeface="Poppins SemiBold"/>
            </a:endParaRPr>
          </a:p>
        </p:txBody>
      </p:sp>
      <p:sp>
        <p:nvSpPr>
          <p:cNvPr id="264" name="Google Shape;264;p48"/>
          <p:cNvSpPr txBox="1"/>
          <p:nvPr/>
        </p:nvSpPr>
        <p:spPr>
          <a:xfrm>
            <a:off x="904675" y="3573750"/>
            <a:ext cx="1890600" cy="12624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Security ownership is centralized across security teams</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Standardize policies and prioritization across security teams</a:t>
            </a:r>
            <a:endParaRPr sz="800">
              <a:solidFill>
                <a:srgbClr val="01123F"/>
              </a:solidFill>
              <a:latin typeface="Poppins Light"/>
              <a:ea typeface="Poppins Light"/>
              <a:cs typeface="Poppins Light"/>
              <a:sym typeface="Poppins Light"/>
            </a:endParaRPr>
          </a:p>
        </p:txBody>
      </p:sp>
      <p:cxnSp>
        <p:nvCxnSpPr>
          <p:cNvPr id="265" name="Google Shape;265;p48"/>
          <p:cNvCxnSpPr/>
          <p:nvPr/>
        </p:nvCxnSpPr>
        <p:spPr>
          <a:xfrm rot="10800000">
            <a:off x="8809850" y="306800"/>
            <a:ext cx="0" cy="4915800"/>
          </a:xfrm>
          <a:prstGeom prst="straightConnector1">
            <a:avLst/>
          </a:prstGeom>
          <a:noFill/>
          <a:ln cap="flat" cmpd="sng" w="9525">
            <a:solidFill>
              <a:srgbClr val="0254EC"/>
            </a:solidFill>
            <a:prstDash val="solid"/>
            <a:round/>
            <a:headEnd len="sm" w="sm" type="none"/>
            <a:tailEnd len="sm" w="sm" type="none"/>
          </a:ln>
        </p:spPr>
      </p:cxnSp>
      <p:sp>
        <p:nvSpPr>
          <p:cNvPr id="266" name="Google Shape;266;p48"/>
          <p:cNvSpPr txBox="1"/>
          <p:nvPr/>
        </p:nvSpPr>
        <p:spPr>
          <a:xfrm>
            <a:off x="6929000" y="3442800"/>
            <a:ext cx="17328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Risk is continuously mitigated and remediated by default </a:t>
            </a:r>
            <a:endParaRPr sz="1000">
              <a:solidFill>
                <a:schemeClr val="dk1"/>
              </a:solidFill>
              <a:latin typeface="Poppins Medium"/>
              <a:ea typeface="Poppins Medium"/>
              <a:cs typeface="Poppins Medium"/>
              <a:sym typeface="Poppins Medium"/>
            </a:endParaRPr>
          </a:p>
          <a:p>
            <a:pPr indent="0" lvl="0" marL="0" rtl="0" algn="l">
              <a:spcBef>
                <a:spcPts val="0"/>
              </a:spcBef>
              <a:spcAft>
                <a:spcPts val="0"/>
              </a:spcAft>
              <a:buNone/>
            </a:pPr>
            <a:r>
              <a:t/>
            </a:r>
            <a:endParaRPr sz="1000">
              <a:solidFill>
                <a:schemeClr val="dk1"/>
              </a:solidFill>
              <a:latin typeface="Poppins Medium"/>
              <a:ea typeface="Poppins Medium"/>
              <a:cs typeface="Poppins Medium"/>
              <a:sym typeface="Poppins Medium"/>
            </a:endParaRPr>
          </a:p>
        </p:txBody>
      </p:sp>
      <p:cxnSp>
        <p:nvCxnSpPr>
          <p:cNvPr id="267" name="Google Shape;267;p48"/>
          <p:cNvCxnSpPr/>
          <p:nvPr/>
        </p:nvCxnSpPr>
        <p:spPr>
          <a:xfrm>
            <a:off x="6804671" y="3366612"/>
            <a:ext cx="2005500" cy="0"/>
          </a:xfrm>
          <a:prstGeom prst="straightConnector1">
            <a:avLst/>
          </a:prstGeom>
          <a:noFill/>
          <a:ln cap="flat" cmpd="sng" w="9525">
            <a:solidFill>
              <a:srgbClr val="0254EC"/>
            </a:solidFill>
            <a:prstDash val="solid"/>
            <a:round/>
            <a:headEnd len="sm" w="sm" type="none"/>
            <a:tailEnd len="sm" w="sm" type="none"/>
          </a:ln>
        </p:spPr>
      </p:cxnSp>
      <p:cxnSp>
        <p:nvCxnSpPr>
          <p:cNvPr id="268" name="Google Shape;268;p48"/>
          <p:cNvCxnSpPr/>
          <p:nvPr/>
        </p:nvCxnSpPr>
        <p:spPr>
          <a:xfrm>
            <a:off x="805008" y="4353442"/>
            <a:ext cx="2005500" cy="0"/>
          </a:xfrm>
          <a:prstGeom prst="straightConnector1">
            <a:avLst/>
          </a:prstGeom>
          <a:noFill/>
          <a:ln cap="flat" cmpd="sng" w="9525">
            <a:solidFill>
              <a:srgbClr val="0254EC"/>
            </a:solidFill>
            <a:prstDash val="solid"/>
            <a:round/>
            <a:headEnd len="sm" w="sm" type="none"/>
            <a:tailEnd len="sm" w="sm" type="none"/>
          </a:ln>
        </p:spPr>
      </p:cxnSp>
      <p:cxnSp>
        <p:nvCxnSpPr>
          <p:cNvPr id="269" name="Google Shape;269;p48"/>
          <p:cNvCxnSpPr/>
          <p:nvPr/>
        </p:nvCxnSpPr>
        <p:spPr>
          <a:xfrm>
            <a:off x="4808759" y="3675191"/>
            <a:ext cx="2000400" cy="0"/>
          </a:xfrm>
          <a:prstGeom prst="straightConnector1">
            <a:avLst/>
          </a:prstGeom>
          <a:noFill/>
          <a:ln cap="flat" cmpd="sng" w="9525">
            <a:solidFill>
              <a:srgbClr val="0254EC"/>
            </a:solidFill>
            <a:prstDash val="solid"/>
            <a:round/>
            <a:headEnd len="sm" w="sm" type="none"/>
            <a:tailEnd len="sm" w="sm" type="none"/>
          </a:ln>
        </p:spPr>
      </p:cxnSp>
      <p:cxnSp>
        <p:nvCxnSpPr>
          <p:cNvPr id="270" name="Google Shape;270;p48"/>
          <p:cNvCxnSpPr/>
          <p:nvPr/>
        </p:nvCxnSpPr>
        <p:spPr>
          <a:xfrm>
            <a:off x="2820861" y="4060188"/>
            <a:ext cx="1982700" cy="0"/>
          </a:xfrm>
          <a:prstGeom prst="straightConnector1">
            <a:avLst/>
          </a:prstGeom>
          <a:noFill/>
          <a:ln cap="flat" cmpd="sng" w="9525">
            <a:solidFill>
              <a:srgbClr val="0254EC"/>
            </a:solidFill>
            <a:prstDash val="solid"/>
            <a:round/>
            <a:headEnd len="sm" w="sm" type="none"/>
            <a:tailEnd len="sm" w="sm" type="none"/>
          </a:ln>
        </p:spPr>
      </p:cxnSp>
      <p:sp>
        <p:nvSpPr>
          <p:cNvPr id="271" name="Google Shape;271;p48"/>
          <p:cNvSpPr txBox="1"/>
          <p:nvPr/>
        </p:nvSpPr>
        <p:spPr>
          <a:xfrm>
            <a:off x="904675" y="4416650"/>
            <a:ext cx="17328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Full visibility into vulnerabilities across all environments</a:t>
            </a:r>
            <a:endParaRPr sz="1000">
              <a:solidFill>
                <a:schemeClr val="dk1"/>
              </a:solidFill>
              <a:latin typeface="Poppins Medium"/>
              <a:ea typeface="Poppins Medium"/>
              <a:cs typeface="Poppins Medium"/>
              <a:sym typeface="Poppins Medium"/>
            </a:endParaRPr>
          </a:p>
        </p:txBody>
      </p:sp>
      <p:sp>
        <p:nvSpPr>
          <p:cNvPr id="272" name="Google Shape;272;p48"/>
          <p:cNvSpPr txBox="1"/>
          <p:nvPr/>
        </p:nvSpPr>
        <p:spPr>
          <a:xfrm>
            <a:off x="2942638" y="4136376"/>
            <a:ext cx="17328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Engineers have what they need to remediate </a:t>
            </a:r>
            <a:endParaRPr sz="1000">
              <a:solidFill>
                <a:schemeClr val="dk1"/>
              </a:solidFill>
              <a:latin typeface="Poppins Medium"/>
              <a:ea typeface="Poppins Medium"/>
              <a:cs typeface="Poppins Medium"/>
              <a:sym typeface="Poppins Medium"/>
            </a:endParaRPr>
          </a:p>
        </p:txBody>
      </p:sp>
      <p:sp>
        <p:nvSpPr>
          <p:cNvPr id="273" name="Google Shape;273;p48"/>
          <p:cNvSpPr txBox="1"/>
          <p:nvPr/>
        </p:nvSpPr>
        <p:spPr>
          <a:xfrm>
            <a:off x="4934925" y="3751400"/>
            <a:ext cx="17328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Security is a natural part of development</a:t>
            </a:r>
            <a:endParaRPr sz="1000">
              <a:solidFill>
                <a:schemeClr val="dk1"/>
              </a:solidFill>
              <a:latin typeface="Poppins Medium"/>
              <a:ea typeface="Poppins Medium"/>
              <a:cs typeface="Poppins Medium"/>
              <a:sym typeface="Poppins Medium"/>
            </a:endParaRPr>
          </a:p>
        </p:txBody>
      </p:sp>
      <p:sp>
        <p:nvSpPr>
          <p:cNvPr id="274" name="Google Shape;274;p48"/>
          <p:cNvSpPr/>
          <p:nvPr/>
        </p:nvSpPr>
        <p:spPr>
          <a:xfrm>
            <a:off x="3440152" y="629773"/>
            <a:ext cx="1453800" cy="252300"/>
          </a:xfrm>
          <a:prstGeom prst="roundRect">
            <a:avLst>
              <a:gd fmla="val 50000" name="adj"/>
            </a:avLst>
          </a:prstGeom>
          <a:solidFill>
            <a:srgbClr val="FFFFFF"/>
          </a:solidFill>
          <a:ln cap="flat" cmpd="sng" w="11350">
            <a:solidFill>
              <a:srgbClr val="CADAFF"/>
            </a:solidFill>
            <a:prstDash val="solid"/>
            <a:miter lim="8000"/>
            <a:headEnd len="sm" w="sm" type="none"/>
            <a:tailEnd len="sm" w="sm" type="none"/>
          </a:ln>
        </p:spPr>
        <p:txBody>
          <a:bodyPr anchorCtr="0" anchor="t" bIns="30650" lIns="61300" spcFirstLastPara="1" rIns="61300" wrap="square" tIns="30650">
            <a:noAutofit/>
          </a:bodyPr>
          <a:lstStyle/>
          <a:p>
            <a:pPr indent="0" lvl="0" marL="0" marR="0" rtl="0" algn="ctr">
              <a:lnSpc>
                <a:spcPct val="100000"/>
              </a:lnSpc>
              <a:spcBef>
                <a:spcPts val="0"/>
              </a:spcBef>
              <a:spcAft>
                <a:spcPts val="0"/>
              </a:spcAft>
              <a:buClr>
                <a:srgbClr val="0153EB"/>
              </a:buClr>
              <a:buSzPts val="596"/>
              <a:buFont typeface="Calibri"/>
              <a:buNone/>
            </a:pPr>
            <a:r>
              <a:t/>
            </a:r>
            <a:endParaRPr b="1" i="0" sz="596" u="none" cap="none" strike="noStrike">
              <a:solidFill>
                <a:srgbClr val="000000"/>
              </a:solidFill>
              <a:latin typeface="DM Sans"/>
              <a:ea typeface="DM Sans"/>
              <a:cs typeface="DM Sans"/>
              <a:sym typeface="DM Sans"/>
            </a:endParaRPr>
          </a:p>
        </p:txBody>
      </p:sp>
      <p:sp>
        <p:nvSpPr>
          <p:cNvPr id="275" name="Google Shape;275;p48"/>
          <p:cNvSpPr txBox="1"/>
          <p:nvPr/>
        </p:nvSpPr>
        <p:spPr>
          <a:xfrm>
            <a:off x="3725258" y="635426"/>
            <a:ext cx="1289400" cy="247800"/>
          </a:xfrm>
          <a:prstGeom prst="rect">
            <a:avLst/>
          </a:prstGeom>
          <a:noFill/>
          <a:ln>
            <a:noFill/>
          </a:ln>
        </p:spPr>
        <p:txBody>
          <a:bodyPr anchorCtr="0" anchor="t" bIns="40875" lIns="0" spcFirstLastPara="1" rIns="81750" wrap="square" tIns="40875">
            <a:spAutoFit/>
          </a:bodyPr>
          <a:lstStyle/>
          <a:p>
            <a:pPr indent="0" lvl="0" marL="0" marR="0" rtl="0" algn="l">
              <a:lnSpc>
                <a:spcPct val="100000"/>
              </a:lnSpc>
              <a:spcBef>
                <a:spcPts val="0"/>
              </a:spcBef>
              <a:spcAft>
                <a:spcPts val="0"/>
              </a:spcAft>
              <a:buClr>
                <a:srgbClr val="0153EB"/>
              </a:buClr>
              <a:buSzPts val="1073"/>
              <a:buFont typeface="DM Sans Medium"/>
              <a:buNone/>
            </a:pPr>
            <a:r>
              <a:rPr lang="en" sz="1073">
                <a:solidFill>
                  <a:srgbClr val="0153EB"/>
                </a:solidFill>
                <a:latin typeface="Poppins Medium"/>
                <a:ea typeface="Poppins Medium"/>
                <a:cs typeface="Poppins Medium"/>
                <a:sym typeface="Poppins Medium"/>
              </a:rPr>
              <a:t>Where are you?</a:t>
            </a:r>
            <a:endParaRPr i="0" sz="1311" u="none" cap="none" strike="noStrike">
              <a:solidFill>
                <a:srgbClr val="000000"/>
              </a:solidFill>
              <a:latin typeface="Poppins"/>
              <a:ea typeface="Poppins"/>
              <a:cs typeface="Poppins"/>
              <a:sym typeface="Poppins"/>
            </a:endParaRPr>
          </a:p>
        </p:txBody>
      </p:sp>
      <p:pic>
        <p:nvPicPr>
          <p:cNvPr id="276" name="Google Shape;276;p48" title="icon.png"/>
          <p:cNvPicPr preferRelativeResize="0"/>
          <p:nvPr/>
        </p:nvPicPr>
        <p:blipFill rotWithShape="1">
          <a:blip r:embed="rId4">
            <a:alphaModFix/>
          </a:blip>
          <a:srcRect b="0" l="0" r="0" t="0"/>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a:blip r:embed="rId5">
            <a:alphaModFix/>
          </a:blip>
          <a:stretch>
            <a:fill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a:blip r:embed="rId6">
            <a:alphaModFix/>
          </a:blip>
          <a:stretch>
            <a:fill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a:blip r:embed="rId7">
            <a:alphaModFix/>
          </a:blip>
          <a:stretch>
            <a:fill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a:blip r:embed="rId7">
              <a:alphaModFix/>
            </a:blip>
            <a:stretch>
              <a:fill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A blue and pink logo&#10;&#10;AI-generated content may be incorrect." id="283" name="Google Shape;283;p48"/>
            <p:cNvPicPr preferRelativeResize="0"/>
            <p:nvPr/>
          </p:nvPicPr>
          <p:blipFill rotWithShape="1">
            <a:blip r:embed="rId8">
              <a:alphaModFix/>
            </a:blip>
            <a:srcRect b="0" l="0" r="0" t="0"/>
            <a:stretch/>
          </p:blipFill>
          <p:spPr>
            <a:xfrm>
              <a:off x="6913025" y="617974"/>
              <a:ext cx="492600" cy="492600"/>
            </a:xfrm>
            <a:prstGeom prst="rect">
              <a:avLst/>
            </a:prstGeom>
            <a:noFill/>
            <a:ln>
              <a:noFill/>
            </a:ln>
          </p:spPr>
        </p:pic>
      </p:grpSp>
      <p:sp>
        <p:nvSpPr>
          <p:cNvPr id="284" name="Google Shape;284;p48"/>
          <p:cNvSpPr txBox="1"/>
          <p:nvPr>
            <p:ph idx="4294967295" type="title"/>
          </p:nvPr>
        </p:nvSpPr>
        <p:spPr>
          <a:xfrm>
            <a:off x="301950" y="201625"/>
            <a:ext cx="2915100" cy="8835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Wiz Adoption &amp; </a:t>
            </a:r>
            <a:r>
              <a:rPr lang="en" sz="2420">
                <a:latin typeface="Poppins Light"/>
                <a:ea typeface="Poppins Light"/>
                <a:cs typeface="Poppins Light"/>
                <a:sym typeface="Poppins Light"/>
              </a:rPr>
              <a:t>Democratization</a:t>
            </a:r>
            <a:endParaRPr sz="2420">
              <a:latin typeface="Poppins Light"/>
              <a:ea typeface="Poppins Light"/>
              <a:cs typeface="Poppins Light"/>
              <a:sym typeface="Poppins Light"/>
            </a:endParaRPr>
          </a:p>
          <a:p>
            <a:pPr indent="0" lvl="0" marL="0" rtl="0" algn="l">
              <a:lnSpc>
                <a:spcPct val="100000"/>
              </a:lnSpc>
              <a:spcBef>
                <a:spcPts val="0"/>
              </a:spcBef>
              <a:spcAft>
                <a:spcPts val="0"/>
              </a:spcAft>
              <a:buNone/>
            </a:pPr>
            <a:r>
              <a:rPr lang="en" sz="2420">
                <a:latin typeface="Poppins Light"/>
                <a:ea typeface="Poppins Light"/>
                <a:cs typeface="Poppins Light"/>
                <a:sym typeface="Poppins Light"/>
              </a:rPr>
              <a:t>Maturity Model </a:t>
            </a:r>
            <a:endParaRPr sz="2420">
              <a:latin typeface="Poppins Light"/>
              <a:ea typeface="Poppins Light"/>
              <a:cs typeface="Poppins Light"/>
              <a:sym typeface="Poppi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pic>
        <p:nvPicPr>
          <p:cNvPr id="290" name="Google Shape;290;p49"/>
          <p:cNvPicPr preferRelativeResize="0"/>
          <p:nvPr/>
        </p:nvPicPr>
        <p:blipFill>
          <a:blip r:embed="rId3">
            <a:alphaModFix/>
          </a:blip>
          <a:stretch>
            <a:fillRect/>
          </a:stretch>
        </p:blipFill>
        <p:spPr>
          <a:xfrm>
            <a:off x="99275" y="814525"/>
            <a:ext cx="2694900" cy="4186399"/>
          </a:xfrm>
          <a:prstGeom prst="rect">
            <a:avLst/>
          </a:prstGeom>
          <a:noFill/>
          <a:ln>
            <a:noFill/>
          </a:ln>
        </p:spPr>
      </p:pic>
      <p:sp>
        <p:nvSpPr>
          <p:cNvPr id="291" name="Google Shape;291;p49"/>
          <p:cNvSpPr txBox="1"/>
          <p:nvPr>
            <p:ph idx="4294967295" type="title"/>
          </p:nvPr>
        </p:nvSpPr>
        <p:spPr>
          <a:xfrm>
            <a:off x="0" y="221125"/>
            <a:ext cx="91443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Cloud and AI Visibility Snapshot</a:t>
            </a:r>
            <a:endParaRPr sz="2420">
              <a:latin typeface="Poppins Light"/>
              <a:ea typeface="Poppins Light"/>
              <a:cs typeface="Poppins Light"/>
              <a:sym typeface="Poppins Light"/>
            </a:endParaRPr>
          </a:p>
        </p:txBody>
      </p:sp>
      <p:pic>
        <p:nvPicPr>
          <p:cNvPr id="292" name="Google Shape;292;p49"/>
          <p:cNvPicPr preferRelativeResize="0"/>
          <p:nvPr/>
        </p:nvPicPr>
        <p:blipFill rotWithShape="1">
          <a:blip r:embed="rId4">
            <a:alphaModFix/>
          </a:blip>
          <a:srcRect b="0" l="0" r="0" t="0"/>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{{C_AWS}} AWS Connectors</a:t>
            </a:r>
            <a:endParaRPr i="0" sz="900" u="none" cap="none" strike="noStrike">
              <a:solidFill>
                <a:srgbClr val="000000"/>
              </a:solidFill>
              <a:latin typeface="Poppins"/>
              <a:ea typeface="Poppins"/>
              <a:cs typeface="Poppins"/>
              <a:sym typeface="Poppins"/>
            </a:endParaRPr>
          </a:p>
        </p:txBody>
      </p:sp>
      <p:pic>
        <p:nvPicPr>
          <p:cNvPr descr="Kubernetes Logo transparent PNG - StickPNG" id="294" name="Google Shape;294;p49"/>
          <p:cNvPicPr preferRelativeResize="0"/>
          <p:nvPr/>
        </p:nvPicPr>
        <p:blipFill rotWithShape="1">
          <a:blip r:embed="rId5">
            <a:alphaModFix/>
          </a:blip>
          <a:srcRect b="0" l="0" r="0" t="0"/>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{{K8S}} K8s Clusters</a:t>
            </a:r>
            <a:br>
              <a:rPr lang="en" sz="900">
                <a:solidFill>
                  <a:srgbClr val="00113E"/>
                </a:solidFill>
                <a:latin typeface="Poppins"/>
                <a:ea typeface="Poppins"/>
                <a:cs typeface="Poppins"/>
                <a:sym typeface="Poppins"/>
              </a:rPr>
            </a:br>
            <a:r>
              <a:rPr lang="en" sz="900">
                <a:solidFill>
                  <a:srgbClr val="00113E"/>
                </a:solidFill>
                <a:latin typeface="Poppins"/>
                <a:ea typeface="Poppins"/>
                <a:cs typeface="Poppins"/>
                <a:sym typeface="Poppins"/>
              </a:rPr>
              <a:t>{{KG_NC}} Not Connected via Connector</a:t>
            </a:r>
            <a:endParaRPr i="0" sz="900" u="none" cap="none" strike="noStrike">
              <a:solidFill>
                <a:srgbClr val="000000"/>
              </a:solidFill>
              <a:latin typeface="Poppins"/>
              <a:ea typeface="Poppins"/>
              <a:cs typeface="Poppins"/>
              <a:sym typeface="Poppins"/>
            </a:endParaRPr>
          </a:p>
        </p:txBody>
      </p:sp>
      <p:grpSp>
        <p:nvGrpSpPr>
          <p:cNvPr id="296" name="Google Shape;296;p49"/>
          <p:cNvGrpSpPr/>
          <p:nvPr/>
        </p:nvGrpSpPr>
        <p:grpSpPr>
          <a:xfrm>
            <a:off x="309832" y="2763999"/>
            <a:ext cx="189206" cy="194205"/>
            <a:chOff x="6171974" y="3205262"/>
            <a:chExt cx="189206" cy="191978"/>
          </a:xfrm>
        </p:grpSpPr>
        <p:sp>
          <p:nvSpPr>
            <p:cNvPr id="297" name="Google Shape;297;p49"/>
            <p:cNvSpPr/>
            <p:nvPr/>
          </p:nvSpPr>
          <p:spPr>
            <a:xfrm>
              <a:off x="6171974" y="3205262"/>
              <a:ext cx="107899" cy="107875"/>
            </a:xfrm>
            <a:custGeom>
              <a:rect b="b" l="l" r="r" t="t"/>
              <a:pathLst>
                <a:path extrusionOk="0" h="1078750" w="1078992">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DM Sans"/>
                <a:ea typeface="DM Sans"/>
                <a:cs typeface="DM Sans"/>
                <a:sym typeface="DM Sans"/>
              </a:endParaRPr>
            </a:p>
          </p:txBody>
        </p:sp>
        <p:sp>
          <p:nvSpPr>
            <p:cNvPr id="298" name="Google Shape;298;p49"/>
            <p:cNvSpPr/>
            <p:nvPr/>
          </p:nvSpPr>
          <p:spPr>
            <a:xfrm>
              <a:off x="6212578" y="3247251"/>
              <a:ext cx="107899" cy="107875"/>
            </a:xfrm>
            <a:custGeom>
              <a:rect b="b" l="l" r="r" t="t"/>
              <a:pathLst>
                <a:path extrusionOk="0" h="1078750" w="1078992">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DM Sans"/>
                <a:ea typeface="DM Sans"/>
                <a:cs typeface="DM Sans"/>
                <a:sym typeface="DM Sans"/>
              </a:endParaRPr>
            </a:p>
          </p:txBody>
        </p:sp>
        <p:sp>
          <p:nvSpPr>
            <p:cNvPr id="299" name="Google Shape;299;p49"/>
            <p:cNvSpPr/>
            <p:nvPr/>
          </p:nvSpPr>
          <p:spPr>
            <a:xfrm>
              <a:off x="6253181" y="3289240"/>
              <a:ext cx="108000" cy="108000"/>
            </a:xfrm>
            <a:prstGeom prst="roundRect">
              <a:avLst>
                <a:gd fmla="val 6582" name="adj"/>
              </a:avLst>
            </a:prstGeom>
            <a:solidFill>
              <a:srgbClr val="014FF7"/>
            </a:solidFill>
            <a:ln>
              <a:noFill/>
            </a:ln>
          </p:spPr>
          <p:txBody>
            <a:bodyPr anchorCtr="0" anchor="ctr" bIns="23800" lIns="47650" spcFirstLastPara="1" rIns="47650" wrap="square" tIns="23800">
              <a:noAutofit/>
            </a:bodyPr>
            <a:lstStyle/>
            <a:p>
              <a:pPr indent="0" lvl="0" marL="0" marR="0" rtl="0" algn="ctr">
                <a:lnSpc>
                  <a:spcPct val="100000"/>
                </a:lnSpc>
                <a:spcBef>
                  <a:spcPts val="0"/>
                </a:spcBef>
                <a:spcAft>
                  <a:spcPts val="0"/>
                </a:spcAft>
                <a:buClr>
                  <a:srgbClr val="FFFFFF"/>
                </a:buClr>
                <a:buSzPts val="938"/>
                <a:buFont typeface="Calibri"/>
                <a:buNone/>
              </a:pPr>
              <a:r>
                <a:t/>
              </a:r>
              <a:endParaRPr b="0" i="0" sz="938" u="none" cap="none" strike="noStrike">
                <a:solidFill>
                  <a:srgbClr val="00113E"/>
                </a:solidFill>
                <a:latin typeface="DM Sans"/>
                <a:ea typeface="DM Sans"/>
                <a:cs typeface="DM Sans"/>
                <a:sym typeface="DM Sans"/>
              </a:endParaRPr>
            </a:p>
          </p:txBody>
        </p:sp>
      </p:grpSp>
      <p:sp>
        <p:nvSpPr>
          <p:cNvPr id="300" name="Google Shape;300;p49"/>
          <p:cNvSpPr txBox="1"/>
          <p:nvPr/>
        </p:nvSpPr>
        <p:spPr>
          <a:xfrm>
            <a:off x="594175" y="2710232"/>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chemeClr val="dk1"/>
                </a:solidFill>
                <a:latin typeface="Poppins"/>
                <a:ea typeface="Poppins"/>
                <a:cs typeface="Poppins"/>
                <a:sym typeface="Poppins"/>
              </a:rPr>
              <a:t>{{C_OTH}} Others</a:t>
            </a:r>
            <a:br>
              <a:rPr lang="en" sz="900">
                <a:solidFill>
                  <a:schemeClr val="dk1"/>
                </a:solidFill>
                <a:latin typeface="Poppins"/>
                <a:ea typeface="Poppins"/>
                <a:cs typeface="Poppins"/>
                <a:sym typeface="Poppins"/>
              </a:rPr>
            </a:br>
            <a:r>
              <a:rPr lang="en" sz="800">
                <a:solidFill>
                  <a:schemeClr val="dk1"/>
                </a:solidFill>
                <a:latin typeface="Poppins"/>
                <a:ea typeface="Poppins"/>
                <a:cs typeface="Poppins"/>
                <a:sym typeface="Poppins"/>
              </a:rPr>
              <a:t>{{C_OTH_NAMES}}</a:t>
            </a:r>
            <a:br>
              <a:rPr lang="en" sz="900">
                <a:solidFill>
                  <a:schemeClr val="dk1"/>
                </a:solidFill>
                <a:latin typeface="Poppins"/>
                <a:ea typeface="Poppins"/>
                <a:cs typeface="Poppins"/>
                <a:sym typeface="Poppins"/>
              </a:rPr>
            </a:br>
            <a:endParaRPr i="0" sz="900" u="none" cap="none" strike="noStrike">
              <a:solidFill>
                <a:schemeClr val="dk1"/>
              </a:solidFill>
              <a:latin typeface="Poppins"/>
              <a:ea typeface="Poppins"/>
              <a:cs typeface="Poppins"/>
              <a:sym typeface="Poppins"/>
            </a:endParaRPr>
          </a:p>
        </p:txBody>
      </p:sp>
      <p:grpSp>
        <p:nvGrpSpPr>
          <p:cNvPr id="301" name="Google Shape;301;p49"/>
          <p:cNvGrpSpPr/>
          <p:nvPr/>
        </p:nvGrpSpPr>
        <p:grpSpPr>
          <a:xfrm>
            <a:off x="318778" y="3899121"/>
            <a:ext cx="171314" cy="178215"/>
            <a:chOff x="11835920" y="1617574"/>
            <a:chExt cx="5866915" cy="6041202"/>
          </a:xfrm>
        </p:grpSpPr>
        <p:sp>
          <p:nvSpPr>
            <p:cNvPr id="302" name="Google Shape;302;p49"/>
            <p:cNvSpPr/>
            <p:nvPr/>
          </p:nvSpPr>
          <p:spPr>
            <a:xfrm>
              <a:off x="13171525" y="1625031"/>
              <a:ext cx="1490700" cy="944700"/>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DM Sans"/>
                <a:ea typeface="DM Sans"/>
                <a:cs typeface="DM Sans"/>
                <a:sym typeface="DM Sans"/>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DM Sans"/>
                <a:ea typeface="DM Sans"/>
                <a:cs typeface="DM Sans"/>
                <a:sym typeface="DM Sans"/>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DM Sans"/>
                <a:ea typeface="DM Sans"/>
                <a:cs typeface="DM Sans"/>
                <a:sym typeface="DM Sans"/>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DM Sans"/>
                <a:ea typeface="DM Sans"/>
                <a:cs typeface="DM Sans"/>
                <a:sym typeface="DM Sans"/>
              </a:endParaRPr>
            </a:p>
          </p:txBody>
        </p:sp>
        <p:sp>
          <p:nvSpPr>
            <p:cNvPr id="306" name="Google Shape;306;p49"/>
            <p:cNvSpPr/>
            <p:nvPr/>
          </p:nvSpPr>
          <p:spPr>
            <a:xfrm>
              <a:off x="11835920" y="3725119"/>
              <a:ext cx="3579000" cy="3592200"/>
            </a:xfrm>
            <a:prstGeom prst="parallelogram">
              <a:avLst>
                <a:gd fmla="val 66161" name="adj"/>
              </a:avLst>
            </a:prstGeom>
            <a:solidFill>
              <a:srgbClr val="15DCE4"/>
            </a:solidFill>
            <a:ln>
              <a:noFill/>
            </a:ln>
          </p:spPr>
          <p:txBody>
            <a:bodyPr anchorCtr="0" anchor="ctr" bIns="20325" lIns="40650" spcFirstLastPara="1" rIns="40650" wrap="square" tIns="20325">
              <a:noAutofit/>
            </a:bodyPr>
            <a:lstStyle/>
            <a:p>
              <a:pPr indent="0" lvl="0" marL="0" marR="0" rtl="0" algn="ctr">
                <a:lnSpc>
                  <a:spcPct val="100000"/>
                </a:lnSpc>
                <a:spcBef>
                  <a:spcPts val="0"/>
                </a:spcBef>
                <a:spcAft>
                  <a:spcPts val="0"/>
                </a:spcAft>
                <a:buClr>
                  <a:srgbClr val="FFFFFF"/>
                </a:buClr>
                <a:buSzPts val="801"/>
                <a:buFont typeface="Calibri"/>
                <a:buNone/>
              </a:pPr>
              <a:r>
                <a:t/>
              </a:r>
              <a:endParaRPr b="0" i="0" sz="801" u="none" cap="none" strike="noStrike">
                <a:solidFill>
                  <a:srgbClr val="00113E"/>
                </a:solidFill>
                <a:latin typeface="DM Sans"/>
                <a:ea typeface="DM Sans"/>
                <a:cs typeface="DM Sans"/>
                <a:sym typeface="DM Sans"/>
              </a:endParaRPr>
            </a:p>
          </p:txBody>
        </p:sp>
      </p:grpSp>
      <p:sp>
        <p:nvSpPr>
          <p:cNvPr id="307" name="Google Shape;307;p49"/>
          <p:cNvSpPr txBox="1"/>
          <p:nvPr/>
        </p:nvSpPr>
        <p:spPr>
          <a:xfrm>
            <a:off x="594173" y="3867490"/>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{{SERVERLESS_FN_COUNT}} Serverless Functions</a:t>
            </a:r>
            <a:endParaRPr i="0" sz="900" u="none" cap="none" strike="noStrike">
              <a:solidFill>
                <a:srgbClr val="000000"/>
              </a:solidFill>
              <a:latin typeface="Poppins"/>
              <a:ea typeface="Poppins"/>
              <a:cs typeface="Poppins"/>
              <a:sym typeface="Poppins"/>
            </a:endParaRPr>
          </a:p>
        </p:txBody>
      </p:sp>
      <p:sp>
        <p:nvSpPr>
          <p:cNvPr id="308" name="Google Shape;308;p49"/>
          <p:cNvSpPr txBox="1"/>
          <p:nvPr/>
        </p:nvSpPr>
        <p:spPr>
          <a:xfrm>
            <a:off x="594173" y="1626385"/>
            <a:ext cx="21201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{{C_GCP}} GCP Connectors</a:t>
            </a:r>
            <a:endParaRPr i="0" sz="900" u="none" cap="none" strike="noStrike">
              <a:solidFill>
                <a:srgbClr val="000000"/>
              </a:solidFill>
              <a:latin typeface="Poppins"/>
              <a:ea typeface="Poppins"/>
              <a:cs typeface="Poppins"/>
              <a:sym typeface="Poppins"/>
            </a:endParaRPr>
          </a:p>
        </p:txBody>
      </p:sp>
      <p:pic>
        <p:nvPicPr>
          <p:cNvPr descr="Google Cloud Platform · GitHub" id="309" name="Google Shape;309;p49"/>
          <p:cNvPicPr preferRelativeResize="0"/>
          <p:nvPr/>
        </p:nvPicPr>
        <p:blipFill rotWithShape="1">
          <a:blip r:embed="rId6">
            <a:alphaModFix/>
          </a:blip>
          <a:srcRect b="0" l="0" r="0" t="0"/>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{{C_AZ}}</a:t>
            </a:r>
            <a:r>
              <a:rPr i="0" lang="en" sz="900" u="none" cap="none" strike="noStrike">
                <a:solidFill>
                  <a:srgbClr val="00113E"/>
                </a:solidFill>
                <a:latin typeface="Poppins"/>
                <a:ea typeface="Poppins"/>
                <a:cs typeface="Poppins"/>
                <a:sym typeface="Poppins"/>
              </a:rPr>
              <a:t> Azure </a:t>
            </a:r>
            <a:r>
              <a:rPr lang="en" sz="900">
                <a:solidFill>
                  <a:srgbClr val="00113E"/>
                </a:solidFill>
                <a:latin typeface="Poppins"/>
                <a:ea typeface="Poppins"/>
                <a:cs typeface="Poppins"/>
                <a:sym typeface="Poppins"/>
              </a:rPr>
              <a:t>Connectors</a:t>
            </a:r>
            <a:endParaRPr i="0" sz="900" u="none" cap="none" strike="noStrike">
              <a:solidFill>
                <a:srgbClr val="000000"/>
              </a:solidFill>
              <a:latin typeface="Poppins"/>
              <a:ea typeface="Poppins"/>
              <a:cs typeface="Poppins"/>
              <a:sym typeface="Poppins"/>
            </a:endParaRPr>
          </a:p>
        </p:txBody>
      </p:sp>
      <p:pic>
        <p:nvPicPr>
          <p:cNvPr id="311" name="Google Shape;311;p49"/>
          <p:cNvPicPr preferRelativeResize="0"/>
          <p:nvPr/>
        </p:nvPicPr>
        <p:blipFill rotWithShape="1">
          <a:blip r:embed="rId7">
            <a:alphaModFix/>
          </a:blip>
          <a:srcRect b="0" l="0" r="0" t="0"/>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4" y="371043"/>
              <a:chExt cx="3423407" cy="3428610"/>
            </a:xfrm>
          </p:grpSpPr>
          <p:grpSp>
            <p:nvGrpSpPr>
              <p:cNvPr id="314" name="Google Shape;314;p49"/>
              <p:cNvGrpSpPr/>
              <p:nvPr/>
            </p:nvGrpSpPr>
            <p:grpSpPr>
              <a:xfrm>
                <a:off x="7365680" y="1326099"/>
                <a:ext cx="2559984" cy="2230416"/>
                <a:chOff x="7359925" y="1328909"/>
                <a:chExt cx="2559984" cy="2230416"/>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grpSp>
          <p:sp>
            <p:nvSpPr>
              <p:cNvPr id="318" name="Google Shape;318;p49"/>
              <p:cNvSpPr/>
              <p:nvPr/>
            </p:nvSpPr>
            <p:spPr>
              <a:xfrm rot="5400000">
                <a:off x="6993462" y="373644"/>
                <a:ext cx="3428610" cy="3423407"/>
              </a:xfrm>
              <a:custGeom>
                <a:rect b="b" l="l" r="r" t="t"/>
                <a:pathLst>
                  <a:path extrusionOk="0" h="3547572" w="402183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sp>
            <p:nvSpPr>
              <p:cNvPr id="319" name="Google Shape;319;p49"/>
              <p:cNvSpPr/>
              <p:nvPr/>
            </p:nvSpPr>
            <p:spPr>
              <a:xfrm>
                <a:off x="8550588" y="665584"/>
                <a:ext cx="190200" cy="854100"/>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anchorCtr="0" anchor="ctr" bIns="16950" lIns="33900" spcFirstLastPara="1" rIns="33900" wrap="square" tIns="16950">
                <a:noAutofit/>
              </a:bodyPr>
              <a:lstStyle/>
              <a:p>
                <a:pPr indent="0" lvl="0" marL="0" marR="0" rtl="0" algn="ctr">
                  <a:lnSpc>
                    <a:spcPct val="100000"/>
                  </a:lnSpc>
                  <a:spcBef>
                    <a:spcPts val="0"/>
                  </a:spcBef>
                  <a:spcAft>
                    <a:spcPts val="0"/>
                  </a:spcAft>
                  <a:buClr>
                    <a:srgbClr val="FFFFFF"/>
                  </a:buClr>
                  <a:buSzPts val="667"/>
                  <a:buFont typeface="Calibri"/>
                  <a:buNone/>
                </a:pPr>
                <a:r>
                  <a:t/>
                </a:r>
                <a:endParaRPr i="0" sz="485" u="none" cap="none" strike="noStrike">
                  <a:solidFill>
                    <a:srgbClr val="00113E"/>
                  </a:solidFill>
                  <a:latin typeface="DM Sans"/>
                  <a:ea typeface="DM Sans"/>
                  <a:cs typeface="DM Sans"/>
                  <a:sym typeface="DM Sans"/>
                </a:endParaRPr>
              </a:p>
            </p:txBody>
          </p:sp>
        </p:grpSp>
        <p:pic>
          <p:nvPicPr>
            <p:cNvPr descr="Serverless Containers | Scaleway" id="322" name="Google Shape;322;p49"/>
            <p:cNvPicPr preferRelativeResize="0"/>
            <p:nvPr/>
          </p:nvPicPr>
          <p:blipFill rotWithShape="1">
            <a:blip r:embed="rId8">
              <a:alphaModFix/>
            </a:blip>
            <a:srcRect b="0" l="0" r="0" t="0"/>
            <a:stretch/>
          </p:blipFill>
          <p:spPr>
            <a:xfrm>
              <a:off x="6153425" y="3541954"/>
              <a:ext cx="540155" cy="607594"/>
            </a:xfrm>
            <a:prstGeom prst="rect">
              <a:avLst/>
            </a:prstGeom>
            <a:noFill/>
            <a:ln>
              <a:noFill/>
            </a:ln>
          </p:spPr>
        </p:pic>
      </p:grpSp>
      <p:pic>
        <p:nvPicPr>
          <p:cNvPr descr="A blue hexagon with white text&#10;&#10;Description automatically generated" id="323" name="Google Shape;323;p49"/>
          <p:cNvPicPr preferRelativeResize="0"/>
          <p:nvPr/>
        </p:nvPicPr>
        <p:blipFill rotWithShape="1">
          <a:blip r:embed="rId9">
            <a:alphaModFix/>
          </a:blip>
          <a:srcRect b="0" l="0" r="0" t="0"/>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FF0000"/>
              </a:buClr>
              <a:buSzPts val="855"/>
              <a:buFont typeface="DM Sans"/>
              <a:buNone/>
            </a:pPr>
            <a:r>
              <a:rPr lang="en" sz="900">
                <a:solidFill>
                  <a:srgbClr val="00113E"/>
                </a:solidFill>
                <a:latin typeface="Poppins"/>
                <a:ea typeface="Poppins"/>
                <a:cs typeface="Poppins"/>
                <a:sym typeface="Poppins"/>
              </a:rPr>
              <a:t>{{R_TOT}} Container Registries</a:t>
            </a:r>
            <a:endParaRPr i="0" sz="900" u="none" cap="none" strike="noStrike">
              <a:solidFill>
                <a:srgbClr val="000000"/>
              </a:solidFill>
              <a:latin typeface="Poppins"/>
              <a:ea typeface="Poppins"/>
              <a:cs typeface="Poppins"/>
              <a:sym typeface="Poppins"/>
            </a:endParaRPr>
          </a:p>
        </p:txBody>
      </p:sp>
      <p:sp>
        <p:nvSpPr>
          <p:cNvPr id="325" name="Google Shape;325;p49"/>
          <p:cNvSpPr txBox="1"/>
          <p:nvPr/>
        </p:nvSpPr>
        <p:spPr>
          <a:xfrm>
            <a:off x="99325" y="902925"/>
            <a:ext cx="2694900" cy="313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a:solidFill>
                  <a:schemeClr val="dk1"/>
                </a:solidFill>
                <a:latin typeface="Poppins"/>
                <a:ea typeface="Poppins"/>
                <a:cs typeface="Poppins"/>
                <a:sym typeface="Poppins"/>
              </a:rPr>
              <a:t>Cloud Visibility</a:t>
            </a:r>
            <a:endParaRPr>
              <a:solidFill>
                <a:schemeClr val="dk1"/>
              </a:solidFill>
              <a:latin typeface="Poppins"/>
              <a:ea typeface="Poppins"/>
              <a:cs typeface="Poppins"/>
              <a:sym typeface="Poppins"/>
            </a:endParaRPr>
          </a:p>
        </p:txBody>
      </p:sp>
      <p:sp>
        <p:nvSpPr>
          <p:cNvPr id="326" name="Google Shape;326;p49"/>
          <p:cNvSpPr txBox="1"/>
          <p:nvPr/>
        </p:nvSpPr>
        <p:spPr>
          <a:xfrm>
            <a:off x="594175" y="3523023"/>
            <a:ext cx="20859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{{SERVERLESS_CT_COUNT}} Serverless Containers</a:t>
            </a:r>
            <a:endParaRPr i="0" sz="900" u="none" cap="none" strike="noStrike">
              <a:solidFill>
                <a:srgbClr val="00113E"/>
              </a:solidFill>
              <a:latin typeface="Poppins"/>
              <a:ea typeface="Poppins"/>
              <a:cs typeface="Poppins"/>
              <a:sym typeface="Poppins"/>
            </a:endParaRPr>
          </a:p>
        </p:txBody>
      </p:sp>
      <p:sp>
        <p:nvSpPr>
          <p:cNvPr id="327" name="Google Shape;327;p49"/>
          <p:cNvSpPr txBox="1"/>
          <p:nvPr/>
        </p:nvSpPr>
        <p:spPr>
          <a:xfrm>
            <a:off x="593145" y="4603900"/>
            <a:ext cx="21477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{{L_SE}} </a:t>
            </a:r>
            <a:br>
              <a:rPr lang="en" sz="900">
                <a:solidFill>
                  <a:srgbClr val="00113E"/>
                </a:solidFill>
                <a:latin typeface="Poppins"/>
                <a:ea typeface="Poppins"/>
                <a:cs typeface="Poppins"/>
                <a:sym typeface="Poppins"/>
              </a:rPr>
            </a:br>
            <a:r>
              <a:rPr lang="en" sz="900">
                <a:solidFill>
                  <a:srgbClr val="00113E"/>
                </a:solidFill>
                <a:latin typeface="Poppins"/>
                <a:ea typeface="Poppins"/>
                <a:cs typeface="Poppins"/>
                <a:sym typeface="Poppins"/>
              </a:rPr>
              <a:t>Wiz Runtime Sensors Deployed</a:t>
            </a:r>
            <a:endParaRPr i="0" sz="900" u="none" cap="none" strike="noStrike">
              <a:solidFill>
                <a:srgbClr val="000000"/>
              </a:solidFill>
              <a:latin typeface="Poppins"/>
              <a:ea typeface="Poppins"/>
              <a:cs typeface="Poppins"/>
              <a:sym typeface="Poppins"/>
            </a:endParaRPr>
          </a:p>
        </p:txBody>
      </p:sp>
      <p:pic>
        <p:nvPicPr>
          <p:cNvPr id="328" name="Google Shape;328;p49"/>
          <p:cNvPicPr preferRelativeResize="0"/>
          <p:nvPr/>
        </p:nvPicPr>
        <p:blipFill>
          <a:blip r:embed="rId10">
            <a:alphaModFix/>
          </a:blip>
          <a:stretch>
            <a:fill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900">
                <a:solidFill>
                  <a:srgbClr val="00113E"/>
                </a:solidFill>
                <a:latin typeface="Poppins"/>
                <a:ea typeface="Poppins"/>
                <a:cs typeface="Poppins"/>
                <a:sym typeface="Poppins"/>
              </a:rPr>
              <a:t>{{CON_WE}} Connectors With Cloud Events</a:t>
            </a:r>
            <a:br>
              <a:rPr lang="en" sz="900">
                <a:solidFill>
                  <a:srgbClr val="00113E"/>
                </a:solidFill>
                <a:latin typeface="Poppins"/>
                <a:ea typeface="Poppins"/>
                <a:cs typeface="Poppins"/>
                <a:sym typeface="Poppins"/>
              </a:rPr>
            </a:br>
            <a:r>
              <a:rPr lang="en" sz="900">
                <a:solidFill>
                  <a:srgbClr val="00113E"/>
                </a:solidFill>
                <a:latin typeface="Poppins"/>
                <a:ea typeface="Poppins"/>
                <a:cs typeface="Poppins"/>
                <a:sym typeface="Poppins"/>
              </a:rPr>
              <a:t>{{CON_NE}} Connectors Without</a:t>
            </a:r>
            <a:endParaRPr i="0" sz="900" u="none" cap="none" strike="noStrike">
              <a:solidFill>
                <a:srgbClr val="000000"/>
              </a:solidFill>
              <a:latin typeface="Poppins"/>
              <a:ea typeface="Poppins"/>
              <a:cs typeface="Poppins"/>
              <a:sym typeface="Poppins"/>
            </a:endParaRPr>
          </a:p>
        </p:txBody>
      </p:sp>
      <p:pic>
        <p:nvPicPr>
          <p:cNvPr id="330" name="Google Shape;330;p49"/>
          <p:cNvPicPr preferRelativeResize="0"/>
          <p:nvPr/>
        </p:nvPicPr>
        <p:blipFill>
          <a:blip r:embed="rId11">
            <a:alphaModFix/>
          </a:blip>
          <a:stretch>
            <a:fillRect/>
          </a:stretch>
        </p:blipFill>
        <p:spPr>
          <a:xfrm>
            <a:off x="260656" y="4232746"/>
            <a:ext cx="287558" cy="276456"/>
          </a:xfrm>
          <a:prstGeom prst="rect">
            <a:avLst/>
          </a:prstGeom>
          <a:noFill/>
          <a:ln>
            <a:noFill/>
          </a:ln>
        </p:spPr>
      </p:pic>
      <p:pic>
        <p:nvPicPr>
          <p:cNvPr id="331" name="Google Shape;331;p49"/>
          <p:cNvPicPr preferRelativeResize="0"/>
          <p:nvPr/>
        </p:nvPicPr>
        <p:blipFill>
          <a:blip r:embed="rId3">
            <a:alphaModFix/>
          </a:blip>
          <a:stretch>
            <a:fillRect/>
          </a:stretch>
        </p:blipFill>
        <p:spPr>
          <a:xfrm>
            <a:off x="2972000" y="820225"/>
            <a:ext cx="2879650" cy="2923377"/>
          </a:xfrm>
          <a:prstGeom prst="rect">
            <a:avLst/>
          </a:prstGeom>
          <a:noFill/>
          <a:ln>
            <a:noFill/>
          </a:ln>
        </p:spPr>
      </p:pic>
      <p:sp>
        <p:nvSpPr>
          <p:cNvPr id="332" name="Google Shape;332;p49"/>
          <p:cNvSpPr txBox="1"/>
          <p:nvPr/>
        </p:nvSpPr>
        <p:spPr>
          <a:xfrm>
            <a:off x="2972075" y="840200"/>
            <a:ext cx="2879700" cy="313200"/>
          </a:xfrm>
          <a:prstGeom prst="rect">
            <a:avLst/>
          </a:prstGeom>
          <a:noFill/>
          <a:ln>
            <a:noFill/>
          </a:ln>
        </p:spPr>
        <p:txBody>
          <a:bodyPr anchorCtr="0" anchor="t" bIns="34275" lIns="68575" spcFirstLastPara="1" rIns="68575" wrap="square" tIns="34275">
            <a:normAutofit/>
          </a:bodyPr>
          <a:lstStyle/>
          <a:p>
            <a:pPr indent="0" lvl="0" marL="0" rtl="0" algn="ctr">
              <a:lnSpc>
                <a:spcPct val="90000"/>
              </a:lnSpc>
              <a:spcBef>
                <a:spcPts val="0"/>
              </a:spcBef>
              <a:spcAft>
                <a:spcPts val="0"/>
              </a:spcAft>
              <a:buClr>
                <a:schemeClr val="dk2"/>
              </a:buClr>
              <a:buSzPts val="1500"/>
              <a:buFont typeface="Arial"/>
              <a:buNone/>
            </a:pPr>
            <a:r>
              <a:rPr lang="en">
                <a:solidFill>
                  <a:schemeClr val="dk1"/>
                </a:solidFill>
                <a:latin typeface="Poppins"/>
                <a:ea typeface="Poppins"/>
                <a:cs typeface="Poppins"/>
                <a:sym typeface="Poppins"/>
              </a:rPr>
              <a:t>Deployments / Connectors</a:t>
            </a:r>
            <a:endParaRPr>
              <a:solidFill>
                <a:schemeClr val="dk1"/>
              </a:solidFill>
              <a:latin typeface="Poppins"/>
              <a:ea typeface="Poppins"/>
              <a:cs typeface="Poppins"/>
              <a:sym typeface="Poppins"/>
            </a:endParaRPr>
          </a:p>
        </p:txBody>
      </p:sp>
      <p:sp>
        <p:nvSpPr>
          <p:cNvPr id="333" name="Google Shape;333;p49"/>
          <p:cNvSpPr/>
          <p:nvPr/>
        </p:nvSpPr>
        <p:spPr>
          <a:xfrm>
            <a:off x="4494205" y="1157402"/>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{{CON_EN}}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Active Connectors</a:t>
            </a:r>
            <a:endParaRPr sz="700">
              <a:solidFill>
                <a:srgbClr val="00113E"/>
              </a:solidFill>
              <a:latin typeface="Poppins Light"/>
              <a:ea typeface="Poppins Light"/>
              <a:cs typeface="Poppins Light"/>
              <a:sym typeface="Poppins Light"/>
            </a:endParaRPr>
          </a:p>
        </p:txBody>
      </p:sp>
      <p:sp>
        <p:nvSpPr>
          <p:cNvPr id="334" name="Google Shape;334;p49"/>
          <p:cNvSpPr/>
          <p:nvPr/>
        </p:nvSpPr>
        <p:spPr>
          <a:xfrm>
            <a:off x="4494205" y="1683395"/>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{{CON_VCS}}</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VCS Connectors</a:t>
            </a:r>
            <a:endParaRPr sz="700">
              <a:solidFill>
                <a:srgbClr val="00113E"/>
              </a:solidFill>
              <a:latin typeface="Poppins Light"/>
              <a:ea typeface="Poppins Light"/>
              <a:cs typeface="Poppins Light"/>
              <a:sym typeface="Poppins Light"/>
            </a:endParaRPr>
          </a:p>
        </p:txBody>
      </p:sp>
      <p:sp>
        <p:nvSpPr>
          <p:cNvPr id="335" name="Google Shape;335;p49"/>
          <p:cNvSpPr/>
          <p:nvPr/>
        </p:nvSpPr>
        <p:spPr>
          <a:xfrm>
            <a:off x="3195369" y="1153399"/>
            <a:ext cx="1168200" cy="4278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{{CON_TOT}}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Total Connectors</a:t>
            </a:r>
            <a:endParaRPr sz="700">
              <a:solidFill>
                <a:srgbClr val="00113E"/>
              </a:solidFill>
              <a:latin typeface="Poppins Light"/>
              <a:ea typeface="Poppins Light"/>
              <a:cs typeface="Poppins Light"/>
              <a:sym typeface="Poppins Light"/>
            </a:endParaRPr>
          </a:p>
        </p:txBody>
      </p:sp>
      <p:sp>
        <p:nvSpPr>
          <p:cNvPr id="336" name="Google Shape;336;p49"/>
          <p:cNvSpPr/>
          <p:nvPr/>
        </p:nvSpPr>
        <p:spPr>
          <a:xfrm>
            <a:off x="3195369" y="1681109"/>
            <a:ext cx="1168200" cy="4278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{{OUT_DEP}}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Outpost Deployments</a:t>
            </a:r>
            <a:endParaRPr sz="700">
              <a:solidFill>
                <a:srgbClr val="00113E"/>
              </a:solidFill>
              <a:latin typeface="Poppins Light"/>
              <a:ea typeface="Poppins Light"/>
              <a:cs typeface="Poppins Light"/>
              <a:sym typeface="Poppins Light"/>
            </a:endParaRPr>
          </a:p>
        </p:txBody>
      </p:sp>
      <p:sp>
        <p:nvSpPr>
          <p:cNvPr id="337" name="Google Shape;337;p49"/>
          <p:cNvSpPr/>
          <p:nvPr/>
        </p:nvSpPr>
        <p:spPr>
          <a:xfrm>
            <a:off x="3201552" y="2208819"/>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{{CON_DIS}}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Inactive Connectors</a:t>
            </a:r>
            <a:endParaRPr sz="700">
              <a:solidFill>
                <a:srgbClr val="00113E"/>
              </a:solidFill>
              <a:latin typeface="Poppins Light"/>
              <a:ea typeface="Poppins Light"/>
              <a:cs typeface="Poppins Light"/>
              <a:sym typeface="Poppins Light"/>
            </a:endParaRPr>
          </a:p>
        </p:txBody>
      </p:sp>
      <p:sp>
        <p:nvSpPr>
          <p:cNvPr id="338" name="Google Shape;338;p49"/>
          <p:cNvSpPr/>
          <p:nvPr/>
        </p:nvSpPr>
        <p:spPr>
          <a:xfrm>
            <a:off x="4500405" y="2209388"/>
            <a:ext cx="1170300" cy="429900"/>
          </a:xfrm>
          <a:prstGeom prst="roundRect">
            <a:avLst>
              <a:gd fmla="val 16667" name="adj"/>
            </a:avLst>
          </a:prstGeom>
          <a:solidFill>
            <a:srgbClr val="F7FAFF"/>
          </a:solidFill>
          <a:ln cap="flat" cmpd="sng" w="9475">
            <a:solidFill>
              <a:srgbClr val="6296FF"/>
            </a:solidFill>
            <a:prstDash val="solid"/>
            <a:round/>
            <a:headEnd len="sm" w="sm" type="none"/>
            <a:tailEnd len="sm" w="sm" type="none"/>
          </a:ln>
        </p:spPr>
        <p:txBody>
          <a:bodyPr anchorCtr="0" anchor="ctr" bIns="91175" lIns="91175" spcFirstLastPara="1" rIns="91175" wrap="square" tIns="91175">
            <a:noAutofit/>
          </a:bodyPr>
          <a:lstStyle/>
          <a:p>
            <a:pPr indent="0" lvl="0" marL="0" rtl="0" algn="ctr">
              <a:lnSpc>
                <a:spcPct val="100000"/>
              </a:lnSpc>
              <a:spcBef>
                <a:spcPts val="0"/>
              </a:spcBef>
              <a:spcAft>
                <a:spcPts val="0"/>
              </a:spcAft>
              <a:buNone/>
            </a:pPr>
            <a:r>
              <a:rPr lang="en" sz="698">
                <a:solidFill>
                  <a:srgbClr val="00113E"/>
                </a:solidFill>
                <a:latin typeface="Poppins Light"/>
                <a:ea typeface="Poppins Light"/>
                <a:cs typeface="Poppins Light"/>
                <a:sym typeface="Poppins Light"/>
              </a:rPr>
              <a:t>{{CON_BRO}}</a:t>
            </a:r>
            <a:br>
              <a:rPr lang="en" sz="698">
                <a:solidFill>
                  <a:srgbClr val="00113E"/>
                </a:solidFill>
                <a:latin typeface="Poppins Light"/>
                <a:ea typeface="Poppins Light"/>
                <a:cs typeface="Poppins Light"/>
                <a:sym typeface="Poppins Light"/>
              </a:rPr>
            </a:br>
            <a:r>
              <a:rPr lang="en" sz="698">
                <a:solidFill>
                  <a:srgbClr val="00113E"/>
                </a:solidFill>
                <a:latin typeface="Poppins Light"/>
                <a:ea typeface="Poppins Light"/>
                <a:cs typeface="Poppins Light"/>
                <a:sym typeface="Poppins Light"/>
              </a:rPr>
              <a:t>Broker Deployments</a:t>
            </a:r>
            <a:endParaRPr sz="698">
              <a:solidFill>
                <a:srgbClr val="00113E"/>
              </a:solidFill>
              <a:latin typeface="Poppins Light"/>
              <a:ea typeface="Poppins Light"/>
              <a:cs typeface="Poppins Light"/>
              <a:sym typeface="Poppins Light"/>
            </a:endParaRPr>
          </a:p>
        </p:txBody>
      </p:sp>
      <p:sp>
        <p:nvSpPr>
          <p:cNvPr id="339" name="Google Shape;339;p49"/>
          <p:cNvSpPr/>
          <p:nvPr/>
        </p:nvSpPr>
        <p:spPr>
          <a:xfrm>
            <a:off x="3201552" y="2738628"/>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{{CON_R}}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Registry Connectors</a:t>
            </a:r>
            <a:endParaRPr sz="700">
              <a:solidFill>
                <a:srgbClr val="00113E"/>
              </a:solidFill>
              <a:latin typeface="Poppins Light"/>
              <a:ea typeface="Poppins Light"/>
              <a:cs typeface="Poppins Light"/>
              <a:sym typeface="Poppins Light"/>
            </a:endParaRPr>
          </a:p>
        </p:txBody>
      </p:sp>
      <p:sp>
        <p:nvSpPr>
          <p:cNvPr id="340" name="Google Shape;340;p49"/>
          <p:cNvSpPr/>
          <p:nvPr/>
        </p:nvSpPr>
        <p:spPr>
          <a:xfrm>
            <a:off x="4500395" y="2735381"/>
            <a:ext cx="11682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{{CON_K8S}}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Kubernetes Connectors</a:t>
            </a:r>
            <a:endParaRPr sz="700">
              <a:solidFill>
                <a:srgbClr val="00113E"/>
              </a:solidFill>
              <a:latin typeface="Poppins Light"/>
              <a:ea typeface="Poppins Light"/>
              <a:cs typeface="Poppins Light"/>
              <a:sym typeface="Poppins Light"/>
            </a:endParaRPr>
          </a:p>
        </p:txBody>
      </p:sp>
      <p:pic>
        <p:nvPicPr>
          <p:cNvPr id="341" name="Google Shape;341;p49"/>
          <p:cNvPicPr preferRelativeResize="0"/>
          <p:nvPr/>
        </p:nvPicPr>
        <p:blipFill>
          <a:blip r:embed="rId3">
            <a:alphaModFix/>
          </a:blip>
          <a:stretch>
            <a:fillRect/>
          </a:stretch>
        </p:blipFill>
        <p:spPr>
          <a:xfrm>
            <a:off x="5999925" y="828800"/>
            <a:ext cx="2958424" cy="2914801"/>
          </a:xfrm>
          <a:prstGeom prst="rect">
            <a:avLst/>
          </a:prstGeom>
          <a:noFill/>
          <a:ln>
            <a:noFill/>
          </a:ln>
        </p:spPr>
      </p:pic>
      <p:sp>
        <p:nvSpPr>
          <p:cNvPr id="342" name="Google Shape;342;p49"/>
          <p:cNvSpPr txBox="1"/>
          <p:nvPr/>
        </p:nvSpPr>
        <p:spPr>
          <a:xfrm>
            <a:off x="5999925" y="848775"/>
            <a:ext cx="2958300" cy="313200"/>
          </a:xfrm>
          <a:prstGeom prst="rect">
            <a:avLst/>
          </a:prstGeom>
          <a:noFill/>
          <a:ln>
            <a:noFill/>
          </a:ln>
        </p:spPr>
        <p:txBody>
          <a:bodyPr anchorCtr="0" anchor="t" bIns="34275" lIns="68575" spcFirstLastPara="1" rIns="68575" wrap="square" tIns="34275">
            <a:normAutofit/>
          </a:bodyPr>
          <a:lstStyle/>
          <a:p>
            <a:pPr indent="0" lvl="0" marL="0" rtl="0" algn="ctr">
              <a:lnSpc>
                <a:spcPct val="90000"/>
              </a:lnSpc>
              <a:spcBef>
                <a:spcPts val="0"/>
              </a:spcBef>
              <a:spcAft>
                <a:spcPts val="0"/>
              </a:spcAft>
              <a:buClr>
                <a:schemeClr val="dk2"/>
              </a:buClr>
              <a:buSzPts val="1500"/>
              <a:buFont typeface="Arial"/>
              <a:buNone/>
            </a:pPr>
            <a:r>
              <a:rPr lang="en" u="sng">
                <a:solidFill>
                  <a:srgbClr val="1A56DB"/>
                </a:solidFill>
                <a:latin typeface="Poppins"/>
                <a:ea typeface="Poppins"/>
                <a:cs typeface="Poppins"/>
                <a:sym typeface="Poppins"/>
                <a:hlinkClick r:id="rId12">
                  <a:extLst>
                    <a:ext uri="{A12FA001-AC4F-418D-AE19-62706E023703}">
                      <ahyp:hlinkClr val="tx"/>
                    </a:ext>
                  </a:extLst>
                </a:hlinkClick>
              </a:rPr>
              <a:t>Cloud Events</a:t>
            </a:r>
            <a:r>
              <a:rPr lang="en"/>
              <a:t> </a:t>
            </a:r>
            <a:r>
              <a:rPr lang="en" sz="1500">
                <a:solidFill>
                  <a:srgbClr val="1A56DB"/>
                </a:solidFill>
                <a:uFill>
                  <a:noFill/>
                </a:uFill>
                <a:latin typeface="Poppins Medium"/>
                <a:ea typeface="Poppins Medium"/>
                <a:cs typeface="Poppins Medium"/>
                <a:sym typeface="Poppins Medium"/>
                <a:hlinkClick r:id="rId13">
                  <a:extLst>
                    <a:ext uri="{A12FA001-AC4F-418D-AE19-62706E023703}">
                      <ahyp:hlinkClr val="tx"/>
                    </a:ext>
                  </a:extLst>
                </a:hlinkClick>
              </a:rPr>
              <a:t>↗</a:t>
            </a:r>
            <a:endParaRPr>
              <a:solidFill>
                <a:srgbClr val="1A56DB"/>
              </a:solidFill>
              <a:latin typeface="Poppins"/>
              <a:ea typeface="Poppins"/>
              <a:cs typeface="Poppins"/>
              <a:sym typeface="Poppins"/>
            </a:endParaRPr>
          </a:p>
        </p:txBody>
      </p:sp>
      <p:sp>
        <p:nvSpPr>
          <p:cNvPr id="343" name="Google Shape;343;p49"/>
          <p:cNvSpPr txBox="1"/>
          <p:nvPr/>
        </p:nvSpPr>
        <p:spPr>
          <a:xfrm>
            <a:off x="6015229" y="1319738"/>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{{CLOUD_EVENTS_2}}</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4" name="Google Shape;344;p49"/>
          <p:cNvSpPr txBox="1"/>
          <p:nvPr/>
        </p:nvSpPr>
        <p:spPr>
          <a:xfrm>
            <a:off x="6015229" y="1514580"/>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{{CLOUD_EVENTS_3}}</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5" name="Google Shape;345;p49"/>
          <p:cNvSpPr txBox="1"/>
          <p:nvPr/>
        </p:nvSpPr>
        <p:spPr>
          <a:xfrm>
            <a:off x="6015229" y="1709422"/>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{{CLOUD_EVENTS_4}}</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6" name="Google Shape;346;p49"/>
          <p:cNvSpPr txBox="1"/>
          <p:nvPr/>
        </p:nvSpPr>
        <p:spPr>
          <a:xfrm>
            <a:off x="6015229" y="1904264"/>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{{CLOUD_EVENTS_5}}</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7" name="Google Shape;347;p49"/>
          <p:cNvSpPr txBox="1"/>
          <p:nvPr/>
        </p:nvSpPr>
        <p:spPr>
          <a:xfrm>
            <a:off x="6015229" y="2099106"/>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{{CLOUD_EVENTS_6}}</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8" name="Google Shape;348;p49"/>
          <p:cNvSpPr txBox="1"/>
          <p:nvPr/>
        </p:nvSpPr>
        <p:spPr>
          <a:xfrm>
            <a:off x="6015229" y="2293948"/>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{{CLOUD_EVENTS_7}}</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49" name="Google Shape;349;p49"/>
          <p:cNvSpPr txBox="1"/>
          <p:nvPr/>
        </p:nvSpPr>
        <p:spPr>
          <a:xfrm>
            <a:off x="6015229" y="2488790"/>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{{CLOUD_EVENTS_8}}</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50" name="Google Shape;350;p49"/>
          <p:cNvSpPr txBox="1"/>
          <p:nvPr/>
        </p:nvSpPr>
        <p:spPr>
          <a:xfrm>
            <a:off x="6015229" y="2683632"/>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{{CLOUD_EVENTS_9}}</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51" name="Google Shape;351;p49"/>
          <p:cNvSpPr txBox="1"/>
          <p:nvPr/>
        </p:nvSpPr>
        <p:spPr>
          <a:xfrm>
            <a:off x="6015229" y="2878474"/>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{{CLOUD_EVENTS_10}}</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52" name="Google Shape;352;p49"/>
          <p:cNvSpPr txBox="1"/>
          <p:nvPr/>
        </p:nvSpPr>
        <p:spPr>
          <a:xfrm>
            <a:off x="6015229" y="3073316"/>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Clr>
                <a:srgbClr val="000000"/>
              </a:buClr>
              <a:buSzPts val="1100"/>
              <a:buFont typeface="Arial"/>
              <a:buNone/>
            </a:pPr>
            <a:r>
              <a:rPr lang="en" sz="800">
                <a:solidFill>
                  <a:srgbClr val="333333"/>
                </a:solidFill>
                <a:latin typeface="DM Sans"/>
                <a:ea typeface="DM Sans"/>
                <a:cs typeface="DM Sans"/>
                <a:sym typeface="DM Sans"/>
              </a:rPr>
              <a:t>{{CLOUD_EVENTS_11}}</a:t>
            </a:r>
            <a:endParaRPr sz="800">
              <a:solidFill>
                <a:srgbClr val="333333"/>
              </a:solidFill>
              <a:latin typeface="DM Sans"/>
              <a:ea typeface="DM Sans"/>
              <a:cs typeface="DM Sans"/>
              <a:sym typeface="DM Sans"/>
            </a:endParaRPr>
          </a:p>
          <a:p>
            <a:pPr indent="0" lvl="0" marL="0" rtl="0" algn="l">
              <a:lnSpc>
                <a:spcPct val="100000"/>
              </a:lnSpc>
              <a:spcBef>
                <a:spcPts val="0"/>
              </a:spcBef>
              <a:spcAft>
                <a:spcPts val="0"/>
              </a:spcAft>
              <a:buNone/>
            </a:pPr>
            <a:r>
              <a:t/>
            </a:r>
            <a:endParaRPr sz="800">
              <a:solidFill>
                <a:srgbClr val="333333"/>
              </a:solidFill>
              <a:latin typeface="DM Sans"/>
              <a:ea typeface="DM Sans"/>
              <a:cs typeface="DM Sans"/>
              <a:sym typeface="DM Sans"/>
            </a:endParaRPr>
          </a:p>
        </p:txBody>
      </p:sp>
      <p:sp>
        <p:nvSpPr>
          <p:cNvPr id="353" name="Google Shape;353;p49"/>
          <p:cNvSpPr txBox="1"/>
          <p:nvPr/>
        </p:nvSpPr>
        <p:spPr>
          <a:xfrm>
            <a:off x="6015229" y="3268158"/>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None/>
            </a:pPr>
            <a:r>
              <a:rPr lang="en" sz="800">
                <a:solidFill>
                  <a:srgbClr val="333333"/>
                </a:solidFill>
                <a:latin typeface="DM Sans"/>
                <a:ea typeface="DM Sans"/>
                <a:cs typeface="DM Sans"/>
                <a:sym typeface="DM Sans"/>
              </a:rPr>
              <a:t>{{CLOUD_EVENTS_12}}</a:t>
            </a:r>
            <a:endParaRPr sz="800">
              <a:solidFill>
                <a:srgbClr val="333333"/>
              </a:solidFill>
              <a:latin typeface="DM Sans"/>
              <a:ea typeface="DM Sans"/>
              <a:cs typeface="DM Sans"/>
              <a:sym typeface="DM Sans"/>
            </a:endParaRPr>
          </a:p>
        </p:txBody>
      </p:sp>
      <p:sp>
        <p:nvSpPr>
          <p:cNvPr id="354" name="Google Shape;354;p49"/>
          <p:cNvSpPr txBox="1"/>
          <p:nvPr/>
        </p:nvSpPr>
        <p:spPr>
          <a:xfrm>
            <a:off x="6015228" y="1122408"/>
            <a:ext cx="2287200" cy="183900"/>
          </a:xfrm>
          <a:prstGeom prst="rect">
            <a:avLst/>
          </a:prstGeom>
          <a:noFill/>
          <a:ln>
            <a:noFill/>
          </a:ln>
        </p:spPr>
        <p:txBody>
          <a:bodyPr anchorCtr="0" anchor="t" bIns="91225" lIns="91225" spcFirstLastPara="1" rIns="91225" wrap="square" tIns="91225">
            <a:noAutofit/>
          </a:bodyPr>
          <a:lstStyle/>
          <a:p>
            <a:pPr indent="0" lvl="0" marL="0" rtl="0" algn="l">
              <a:lnSpc>
                <a:spcPct val="100000"/>
              </a:lnSpc>
              <a:spcBef>
                <a:spcPts val="0"/>
              </a:spcBef>
              <a:spcAft>
                <a:spcPts val="0"/>
              </a:spcAft>
              <a:buNone/>
            </a:pPr>
            <a:r>
              <a:rPr lang="en" sz="800">
                <a:solidFill>
                  <a:srgbClr val="333333"/>
                </a:solidFill>
                <a:latin typeface="DM Sans"/>
                <a:ea typeface="DM Sans"/>
                <a:cs typeface="DM Sans"/>
                <a:sym typeface="DM Sans"/>
              </a:rPr>
              <a:t>{{CLOUD_EVENTS_1}}</a:t>
            </a:r>
            <a:endParaRPr sz="800">
              <a:solidFill>
                <a:srgbClr val="333333"/>
              </a:solidFill>
              <a:latin typeface="DM Sans"/>
              <a:ea typeface="DM Sans"/>
              <a:cs typeface="DM Sans"/>
              <a:sym typeface="DM Sans"/>
            </a:endParaRPr>
          </a:p>
        </p:txBody>
      </p:sp>
      <p:sp>
        <p:nvSpPr>
          <p:cNvPr id="355" name="Google Shape;355;p49"/>
          <p:cNvSpPr txBox="1"/>
          <p:nvPr/>
        </p:nvSpPr>
        <p:spPr>
          <a:xfrm>
            <a:off x="7985429" y="1105704"/>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{{CE_1}}</a:t>
            </a:r>
            <a:endParaRPr sz="800">
              <a:solidFill>
                <a:srgbClr val="333333"/>
              </a:solidFill>
              <a:latin typeface="Poppins Medium"/>
              <a:ea typeface="Poppins Medium"/>
              <a:cs typeface="Poppins Medium"/>
              <a:sym typeface="Poppins Medium"/>
            </a:endParaRPr>
          </a:p>
        </p:txBody>
      </p:sp>
      <p:sp>
        <p:nvSpPr>
          <p:cNvPr id="356" name="Google Shape;356;p49"/>
          <p:cNvSpPr txBox="1"/>
          <p:nvPr/>
        </p:nvSpPr>
        <p:spPr>
          <a:xfrm>
            <a:off x="7985429" y="1300773"/>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{{CE_2}}</a:t>
            </a:r>
            <a:endParaRPr sz="800">
              <a:solidFill>
                <a:srgbClr val="333333"/>
              </a:solidFill>
              <a:latin typeface="Poppins Medium"/>
              <a:ea typeface="Poppins Medium"/>
              <a:cs typeface="Poppins Medium"/>
              <a:sym typeface="Poppins Medium"/>
            </a:endParaRPr>
          </a:p>
        </p:txBody>
      </p:sp>
      <p:sp>
        <p:nvSpPr>
          <p:cNvPr id="357" name="Google Shape;357;p49"/>
          <p:cNvSpPr txBox="1"/>
          <p:nvPr/>
        </p:nvSpPr>
        <p:spPr>
          <a:xfrm>
            <a:off x="7985429" y="1495843"/>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{{CE_3}}</a:t>
            </a:r>
            <a:endParaRPr sz="800">
              <a:solidFill>
                <a:srgbClr val="333333"/>
              </a:solidFill>
              <a:latin typeface="Poppins Medium"/>
              <a:ea typeface="Poppins Medium"/>
              <a:cs typeface="Poppins Medium"/>
              <a:sym typeface="Poppins Medium"/>
            </a:endParaRPr>
          </a:p>
        </p:txBody>
      </p:sp>
      <p:sp>
        <p:nvSpPr>
          <p:cNvPr id="358" name="Google Shape;358;p49"/>
          <p:cNvSpPr txBox="1"/>
          <p:nvPr/>
        </p:nvSpPr>
        <p:spPr>
          <a:xfrm>
            <a:off x="7985429" y="1690912"/>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{{CE_4}}</a:t>
            </a:r>
            <a:endParaRPr sz="800">
              <a:solidFill>
                <a:srgbClr val="333333"/>
              </a:solidFill>
              <a:latin typeface="Poppins Medium"/>
              <a:ea typeface="Poppins Medium"/>
              <a:cs typeface="Poppins Medium"/>
              <a:sym typeface="Poppins Medium"/>
            </a:endParaRPr>
          </a:p>
        </p:txBody>
      </p:sp>
      <p:sp>
        <p:nvSpPr>
          <p:cNvPr id="359" name="Google Shape;359;p49"/>
          <p:cNvSpPr txBox="1"/>
          <p:nvPr/>
        </p:nvSpPr>
        <p:spPr>
          <a:xfrm>
            <a:off x="7985429" y="1885981"/>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{{CE_5}}</a:t>
            </a:r>
            <a:endParaRPr sz="800">
              <a:solidFill>
                <a:srgbClr val="333333"/>
              </a:solidFill>
              <a:latin typeface="Poppins Medium"/>
              <a:ea typeface="Poppins Medium"/>
              <a:cs typeface="Poppins Medium"/>
              <a:sym typeface="Poppins Medium"/>
            </a:endParaRPr>
          </a:p>
        </p:txBody>
      </p:sp>
      <p:sp>
        <p:nvSpPr>
          <p:cNvPr id="360" name="Google Shape;360;p49"/>
          <p:cNvSpPr txBox="1"/>
          <p:nvPr/>
        </p:nvSpPr>
        <p:spPr>
          <a:xfrm>
            <a:off x="7985429" y="2081050"/>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{{CE_6}}</a:t>
            </a:r>
            <a:endParaRPr sz="800">
              <a:solidFill>
                <a:srgbClr val="333333"/>
              </a:solidFill>
              <a:latin typeface="Poppins Medium"/>
              <a:ea typeface="Poppins Medium"/>
              <a:cs typeface="Poppins Medium"/>
              <a:sym typeface="Poppins Medium"/>
            </a:endParaRPr>
          </a:p>
        </p:txBody>
      </p:sp>
      <p:sp>
        <p:nvSpPr>
          <p:cNvPr id="361" name="Google Shape;361;p49"/>
          <p:cNvSpPr txBox="1"/>
          <p:nvPr/>
        </p:nvSpPr>
        <p:spPr>
          <a:xfrm>
            <a:off x="7985429" y="2276120"/>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{{CE_7}}</a:t>
            </a:r>
            <a:endParaRPr sz="800">
              <a:solidFill>
                <a:srgbClr val="333333"/>
              </a:solidFill>
              <a:latin typeface="Poppins Medium"/>
              <a:ea typeface="Poppins Medium"/>
              <a:cs typeface="Poppins Medium"/>
              <a:sym typeface="Poppins Medium"/>
            </a:endParaRPr>
          </a:p>
        </p:txBody>
      </p:sp>
      <p:sp>
        <p:nvSpPr>
          <p:cNvPr id="362" name="Google Shape;362;p49"/>
          <p:cNvSpPr txBox="1"/>
          <p:nvPr/>
        </p:nvSpPr>
        <p:spPr>
          <a:xfrm>
            <a:off x="7985429" y="2471189"/>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{{CE_8}}</a:t>
            </a:r>
            <a:endParaRPr sz="800">
              <a:solidFill>
                <a:srgbClr val="333333"/>
              </a:solidFill>
              <a:latin typeface="Poppins Medium"/>
              <a:ea typeface="Poppins Medium"/>
              <a:cs typeface="Poppins Medium"/>
              <a:sym typeface="Poppins Medium"/>
            </a:endParaRPr>
          </a:p>
        </p:txBody>
      </p:sp>
      <p:sp>
        <p:nvSpPr>
          <p:cNvPr id="363" name="Google Shape;363;p49"/>
          <p:cNvSpPr txBox="1"/>
          <p:nvPr/>
        </p:nvSpPr>
        <p:spPr>
          <a:xfrm>
            <a:off x="7985429" y="2666258"/>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{{CE_9}}</a:t>
            </a:r>
            <a:endParaRPr sz="800">
              <a:solidFill>
                <a:srgbClr val="333333"/>
              </a:solidFill>
              <a:latin typeface="Poppins Medium"/>
              <a:ea typeface="Poppins Medium"/>
              <a:cs typeface="Poppins Medium"/>
              <a:sym typeface="Poppins Medium"/>
            </a:endParaRPr>
          </a:p>
        </p:txBody>
      </p:sp>
      <p:sp>
        <p:nvSpPr>
          <p:cNvPr id="364" name="Google Shape;364;p49"/>
          <p:cNvSpPr txBox="1"/>
          <p:nvPr/>
        </p:nvSpPr>
        <p:spPr>
          <a:xfrm>
            <a:off x="7985429" y="2861327"/>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{{CE_10}}</a:t>
            </a:r>
            <a:endParaRPr sz="800">
              <a:solidFill>
                <a:srgbClr val="333333"/>
              </a:solidFill>
              <a:latin typeface="Poppins Medium"/>
              <a:ea typeface="Poppins Medium"/>
              <a:cs typeface="Poppins Medium"/>
              <a:sym typeface="Poppins Medium"/>
            </a:endParaRPr>
          </a:p>
        </p:txBody>
      </p:sp>
      <p:sp>
        <p:nvSpPr>
          <p:cNvPr id="365" name="Google Shape;365;p49"/>
          <p:cNvSpPr txBox="1"/>
          <p:nvPr/>
        </p:nvSpPr>
        <p:spPr>
          <a:xfrm>
            <a:off x="7990523" y="3056397"/>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{{CE_11}}</a:t>
            </a:r>
            <a:endParaRPr sz="800">
              <a:solidFill>
                <a:srgbClr val="333333"/>
              </a:solidFill>
              <a:latin typeface="Poppins Medium"/>
              <a:ea typeface="Poppins Medium"/>
              <a:cs typeface="Poppins Medium"/>
              <a:sym typeface="Poppins Medium"/>
            </a:endParaRPr>
          </a:p>
        </p:txBody>
      </p:sp>
      <p:sp>
        <p:nvSpPr>
          <p:cNvPr id="366" name="Google Shape;366;p49"/>
          <p:cNvSpPr txBox="1"/>
          <p:nvPr/>
        </p:nvSpPr>
        <p:spPr>
          <a:xfrm>
            <a:off x="7985429" y="3251466"/>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{{CE_12}}</a:t>
            </a:r>
            <a:endParaRPr sz="800">
              <a:solidFill>
                <a:srgbClr val="333333"/>
              </a:solidFill>
              <a:latin typeface="Poppins Medium"/>
              <a:ea typeface="Poppins Medium"/>
              <a:cs typeface="Poppins Medium"/>
              <a:sym typeface="Poppins Medium"/>
            </a:endParaRPr>
          </a:p>
        </p:txBody>
      </p:sp>
      <p:pic>
        <p:nvPicPr>
          <p:cNvPr id="367" name="Google Shape;367;p49"/>
          <p:cNvPicPr preferRelativeResize="0"/>
          <p:nvPr/>
        </p:nvPicPr>
        <p:blipFill>
          <a:blip r:embed="rId14">
            <a:alphaModFix/>
          </a:blip>
          <a:stretch>
            <a:fillRect/>
          </a:stretch>
        </p:blipFill>
        <p:spPr>
          <a:xfrm>
            <a:off x="2972000" y="3837150"/>
            <a:ext cx="5986350" cy="1180899"/>
          </a:xfrm>
          <a:prstGeom prst="rect">
            <a:avLst/>
          </a:prstGeom>
          <a:noFill/>
          <a:ln>
            <a:noFill/>
          </a:ln>
        </p:spPr>
      </p:pic>
      <p:sp>
        <p:nvSpPr>
          <p:cNvPr id="368" name="Google Shape;368;p49"/>
          <p:cNvSpPr txBox="1"/>
          <p:nvPr/>
        </p:nvSpPr>
        <p:spPr>
          <a:xfrm>
            <a:off x="3107645" y="3877908"/>
            <a:ext cx="2630400" cy="309000"/>
          </a:xfrm>
          <a:prstGeom prst="rect">
            <a:avLst/>
          </a:prstGeom>
          <a:noFill/>
          <a:ln>
            <a:noFill/>
          </a:ln>
        </p:spPr>
        <p:txBody>
          <a:bodyPr anchorCtr="0" anchor="t" bIns="34275" lIns="68575" spcFirstLastPara="1" rIns="68575" wrap="square" tIns="34275">
            <a:normAutofit/>
          </a:bodyPr>
          <a:lstStyle/>
          <a:p>
            <a:pPr indent="0" lvl="0" marL="0" marR="0" rtl="0" algn="l">
              <a:lnSpc>
                <a:spcPct val="90000"/>
              </a:lnSpc>
              <a:spcBef>
                <a:spcPts val="0"/>
              </a:spcBef>
              <a:spcAft>
                <a:spcPts val="0"/>
              </a:spcAft>
              <a:buClr>
                <a:schemeClr val="dk2"/>
              </a:buClr>
              <a:buSzPts val="1500"/>
              <a:buFont typeface="Arial"/>
              <a:buNone/>
            </a:pPr>
            <a:r>
              <a:rPr lang="en" u="sng">
                <a:solidFill>
                  <a:srgbClr val="1A56DB"/>
                </a:solidFill>
                <a:latin typeface="Poppins"/>
                <a:ea typeface="Poppins"/>
                <a:cs typeface="Poppins"/>
                <a:sym typeface="Poppins"/>
                <a:hlinkClick r:id="rId15">
                  <a:extLst>
                    <a:ext uri="{A12FA001-AC4F-418D-AE19-62706E023703}">
                      <ahyp:hlinkClr val="tx"/>
                    </a:ext>
                  </a:extLst>
                </a:hlinkClick>
              </a:rPr>
              <a:t>AI Visibility / Inventory</a:t>
            </a:r>
            <a:r>
              <a:rPr lang="en">
                <a:solidFill>
                  <a:srgbClr val="1A56DB"/>
                </a:solidFill>
                <a:latin typeface="Poppins"/>
                <a:ea typeface="Poppins"/>
                <a:cs typeface="Poppins"/>
                <a:sym typeface="Poppins"/>
              </a:rPr>
              <a:t> </a:t>
            </a:r>
            <a:r>
              <a:rPr lang="en" sz="1500">
                <a:solidFill>
                  <a:srgbClr val="1A56DB"/>
                </a:solidFill>
                <a:uFill>
                  <a:noFill/>
                </a:uFill>
                <a:latin typeface="Poppins Medium"/>
                <a:ea typeface="Poppins Medium"/>
                <a:cs typeface="Poppins Medium"/>
                <a:sym typeface="Poppins Medium"/>
                <a:hlinkClick r:id="rId16">
                  <a:extLst>
                    <a:ext uri="{A12FA001-AC4F-418D-AE19-62706E023703}">
                      <ahyp:hlinkClr val="tx"/>
                    </a:ext>
                  </a:extLst>
                </a:hlinkClick>
              </a:rPr>
              <a:t>↗</a:t>
            </a:r>
            <a:endParaRPr>
              <a:solidFill>
                <a:srgbClr val="1A56DB"/>
              </a:solidFill>
              <a:latin typeface="Poppins"/>
              <a:ea typeface="Poppins"/>
              <a:cs typeface="Poppins"/>
              <a:sym typeface="Poppins"/>
            </a:endParaRPr>
          </a:p>
        </p:txBody>
      </p:sp>
      <p:sp>
        <p:nvSpPr>
          <p:cNvPr id="369" name="Google Shape;369;p49"/>
          <p:cNvSpPr/>
          <p:nvPr/>
        </p:nvSpPr>
        <p:spPr>
          <a:xfrm>
            <a:off x="3139402" y="427905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{{AI_MODELS_COUNT}}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Models</a:t>
            </a:r>
            <a:endParaRPr sz="1200">
              <a:latin typeface="Poppins Light"/>
              <a:ea typeface="Poppins Light"/>
              <a:cs typeface="Poppins Light"/>
              <a:sym typeface="Poppins Light"/>
            </a:endParaRPr>
          </a:p>
        </p:txBody>
      </p:sp>
      <p:sp>
        <p:nvSpPr>
          <p:cNvPr id="370" name="Google Shape;370;p49"/>
          <p:cNvSpPr/>
          <p:nvPr/>
        </p:nvSpPr>
        <p:spPr>
          <a:xfrm>
            <a:off x="4314761" y="427905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{{AI_AGENTS_COUNT}}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Agents</a:t>
            </a:r>
            <a:endParaRPr sz="700">
              <a:solidFill>
                <a:srgbClr val="00113E"/>
              </a:solidFill>
              <a:latin typeface="Poppins Light"/>
              <a:ea typeface="Poppins Light"/>
              <a:cs typeface="Poppins Light"/>
              <a:sym typeface="Poppins Light"/>
            </a:endParaRPr>
          </a:p>
        </p:txBody>
      </p:sp>
      <p:sp>
        <p:nvSpPr>
          <p:cNvPr id="371" name="Google Shape;371;p49"/>
          <p:cNvSpPr/>
          <p:nvPr/>
        </p:nvSpPr>
        <p:spPr>
          <a:xfrm>
            <a:off x="5490120" y="4279060"/>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{{AI_PIPELINES_COUNT}}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Pipelines</a:t>
            </a:r>
            <a:endParaRPr sz="700">
              <a:solidFill>
                <a:srgbClr val="00113E"/>
              </a:solidFill>
              <a:latin typeface="Poppins Light"/>
              <a:ea typeface="Poppins Light"/>
              <a:cs typeface="Poppins Light"/>
              <a:sym typeface="Poppins Light"/>
            </a:endParaRPr>
          </a:p>
        </p:txBody>
      </p:sp>
      <p:sp>
        <p:nvSpPr>
          <p:cNvPr id="372" name="Google Shape;372;p49"/>
          <p:cNvSpPr/>
          <p:nvPr/>
        </p:nvSpPr>
        <p:spPr>
          <a:xfrm>
            <a:off x="6665479" y="4284759"/>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{{AI_WORKLOADS_COUNT}}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Workloads</a:t>
            </a:r>
            <a:endParaRPr sz="700">
              <a:solidFill>
                <a:srgbClr val="00113E"/>
              </a:solidFill>
              <a:latin typeface="Poppins Light"/>
              <a:ea typeface="Poppins Light"/>
              <a:cs typeface="Poppins Light"/>
              <a:sym typeface="Poppins Light"/>
            </a:endParaRPr>
          </a:p>
        </p:txBody>
      </p:sp>
      <p:sp>
        <p:nvSpPr>
          <p:cNvPr id="373" name="Google Shape;373;p49"/>
          <p:cNvSpPr/>
          <p:nvPr/>
        </p:nvSpPr>
        <p:spPr>
          <a:xfrm>
            <a:off x="3145104" y="4656960"/>
            <a:ext cx="1060500" cy="2844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{{AI_GUARDRAILS_COUNT}}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Guardrails</a:t>
            </a:r>
            <a:endParaRPr sz="700">
              <a:solidFill>
                <a:srgbClr val="00113E"/>
              </a:solidFill>
              <a:latin typeface="Poppins Light"/>
              <a:ea typeface="Poppins Light"/>
              <a:cs typeface="Poppins Light"/>
              <a:sym typeface="Poppins Light"/>
            </a:endParaRPr>
          </a:p>
        </p:txBody>
      </p:sp>
      <p:sp>
        <p:nvSpPr>
          <p:cNvPr id="374" name="Google Shape;374;p49"/>
          <p:cNvSpPr/>
          <p:nvPr/>
        </p:nvSpPr>
        <p:spPr>
          <a:xfrm>
            <a:off x="4319779" y="4664450"/>
            <a:ext cx="1060500" cy="2844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{{AI_MCP_SERVERS_COUNT}}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MCP Servers</a:t>
            </a:r>
            <a:endParaRPr sz="700">
              <a:solidFill>
                <a:srgbClr val="00113E"/>
              </a:solidFill>
              <a:latin typeface="Poppins Light"/>
              <a:ea typeface="Poppins Light"/>
              <a:cs typeface="Poppins Light"/>
              <a:sym typeface="Poppins Light"/>
            </a:endParaRPr>
          </a:p>
        </p:txBody>
      </p:sp>
      <p:sp>
        <p:nvSpPr>
          <p:cNvPr id="375" name="Google Shape;375;p49"/>
          <p:cNvSpPr/>
          <p:nvPr/>
        </p:nvSpPr>
        <p:spPr>
          <a:xfrm>
            <a:off x="5494453" y="4657061"/>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{{AI_TECHNOLOGIES_COUNT}}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Technologies</a:t>
            </a:r>
            <a:endParaRPr sz="700">
              <a:solidFill>
                <a:srgbClr val="00113E"/>
              </a:solidFill>
              <a:latin typeface="Poppins Light"/>
              <a:ea typeface="Poppins Light"/>
              <a:cs typeface="Poppins Light"/>
              <a:sym typeface="Poppins Light"/>
            </a:endParaRPr>
          </a:p>
        </p:txBody>
      </p:sp>
      <p:sp>
        <p:nvSpPr>
          <p:cNvPr id="376" name="Google Shape;376;p49"/>
          <p:cNvSpPr/>
          <p:nvPr/>
        </p:nvSpPr>
        <p:spPr>
          <a:xfrm>
            <a:off x="6669128" y="4655787"/>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{{AI_CODE_REPOS_COUNT}}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Code Repos with AI</a:t>
            </a:r>
            <a:endParaRPr sz="700">
              <a:solidFill>
                <a:srgbClr val="00113E"/>
              </a:solidFill>
              <a:latin typeface="Poppins Light"/>
              <a:ea typeface="Poppins Light"/>
              <a:cs typeface="Poppins Light"/>
              <a:sym typeface="Poppins Light"/>
            </a:endParaRPr>
          </a:p>
        </p:txBody>
      </p:sp>
      <p:sp>
        <p:nvSpPr>
          <p:cNvPr id="377" name="Google Shape;377;p49"/>
          <p:cNvSpPr txBox="1"/>
          <p:nvPr/>
        </p:nvSpPr>
        <p:spPr>
          <a:xfrm>
            <a:off x="6013666" y="3460474"/>
            <a:ext cx="2287200" cy="181200"/>
          </a:xfrm>
          <a:prstGeom prst="rect">
            <a:avLst/>
          </a:prstGeom>
          <a:noFill/>
          <a:ln>
            <a:noFill/>
          </a:ln>
        </p:spPr>
        <p:txBody>
          <a:bodyPr anchorCtr="0" anchor="t" bIns="91225" lIns="91225" spcFirstLastPara="1" rIns="91225" wrap="square" tIns="91225">
            <a:noAutofit/>
          </a:bodyPr>
          <a:lstStyle/>
          <a:p>
            <a:pPr indent="0" lvl="0" marL="0" rtl="0" algn="l">
              <a:spcBef>
                <a:spcPts val="0"/>
              </a:spcBef>
              <a:spcAft>
                <a:spcPts val="0"/>
              </a:spcAft>
              <a:buNone/>
            </a:pPr>
            <a:r>
              <a:rPr lang="en" sz="800">
                <a:solidFill>
                  <a:srgbClr val="333333"/>
                </a:solidFill>
                <a:latin typeface="DM Sans"/>
                <a:ea typeface="DM Sans"/>
                <a:cs typeface="DM Sans"/>
                <a:sym typeface="DM Sans"/>
              </a:rPr>
              <a:t>{{CLOUD_EVENTS_13}}</a:t>
            </a:r>
            <a:endParaRPr sz="800">
              <a:solidFill>
                <a:srgbClr val="333333"/>
              </a:solidFill>
              <a:latin typeface="DM Sans"/>
              <a:ea typeface="DM Sans"/>
              <a:cs typeface="DM Sans"/>
              <a:sym typeface="DM Sans"/>
            </a:endParaRPr>
          </a:p>
        </p:txBody>
      </p:sp>
      <p:sp>
        <p:nvSpPr>
          <p:cNvPr id="378" name="Google Shape;378;p49"/>
          <p:cNvSpPr txBox="1"/>
          <p:nvPr/>
        </p:nvSpPr>
        <p:spPr>
          <a:xfrm>
            <a:off x="7983866" y="3443782"/>
            <a:ext cx="798300" cy="183900"/>
          </a:xfrm>
          <a:prstGeom prst="rect">
            <a:avLst/>
          </a:prstGeom>
          <a:noFill/>
          <a:ln>
            <a:noFill/>
          </a:ln>
        </p:spPr>
        <p:txBody>
          <a:bodyPr anchorCtr="0" anchor="t" bIns="91225" lIns="91225" spcFirstLastPara="1" rIns="91225" wrap="square" tIns="91225">
            <a:noAutofit/>
          </a:bodyPr>
          <a:lstStyle/>
          <a:p>
            <a:pPr indent="0" lvl="0" marL="0" rtl="0" algn="r">
              <a:lnSpc>
                <a:spcPct val="100000"/>
              </a:lnSpc>
              <a:spcBef>
                <a:spcPts val="0"/>
              </a:spcBef>
              <a:spcAft>
                <a:spcPts val="0"/>
              </a:spcAft>
              <a:buNone/>
            </a:pPr>
            <a:r>
              <a:rPr lang="en" sz="800">
                <a:solidFill>
                  <a:srgbClr val="333333"/>
                </a:solidFill>
                <a:latin typeface="Poppins Medium"/>
                <a:ea typeface="Poppins Medium"/>
                <a:cs typeface="Poppins Medium"/>
                <a:sym typeface="Poppins Medium"/>
              </a:rPr>
              <a:t>{{CE_13}}</a:t>
            </a:r>
            <a:endParaRPr sz="800">
              <a:solidFill>
                <a:srgbClr val="333333"/>
              </a:solidFill>
              <a:latin typeface="Poppins Medium"/>
              <a:ea typeface="Poppins Medium"/>
              <a:cs typeface="Poppins Medium"/>
              <a:sym typeface="Poppins Medium"/>
            </a:endParaRPr>
          </a:p>
        </p:txBody>
      </p:sp>
      <p:sp>
        <p:nvSpPr>
          <p:cNvPr id="379" name="Google Shape;379;p49"/>
          <p:cNvSpPr/>
          <p:nvPr/>
        </p:nvSpPr>
        <p:spPr>
          <a:xfrm>
            <a:off x="3190949" y="3268438"/>
            <a:ext cx="11787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{{CON_R}}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Admission Controllers</a:t>
            </a:r>
            <a:endParaRPr sz="700">
              <a:solidFill>
                <a:srgbClr val="00113E"/>
              </a:solidFill>
              <a:latin typeface="Poppins Light"/>
              <a:ea typeface="Poppins Light"/>
              <a:cs typeface="Poppins Light"/>
              <a:sym typeface="Poppins Light"/>
            </a:endParaRPr>
          </a:p>
        </p:txBody>
      </p:sp>
      <p:sp>
        <p:nvSpPr>
          <p:cNvPr id="380" name="Google Shape;380;p49"/>
          <p:cNvSpPr/>
          <p:nvPr/>
        </p:nvSpPr>
        <p:spPr>
          <a:xfrm>
            <a:off x="7840838" y="4284759"/>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{{AI_DATASETS_COUNT}}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AI Datastores</a:t>
            </a:r>
            <a:endParaRPr sz="700">
              <a:solidFill>
                <a:srgbClr val="00113E"/>
              </a:solidFill>
              <a:latin typeface="Poppins Light"/>
              <a:ea typeface="Poppins Light"/>
              <a:cs typeface="Poppins Light"/>
              <a:sym typeface="Poppins Light"/>
            </a:endParaRPr>
          </a:p>
        </p:txBody>
      </p:sp>
      <p:sp>
        <p:nvSpPr>
          <p:cNvPr id="381" name="Google Shape;381;p49"/>
          <p:cNvSpPr/>
          <p:nvPr/>
        </p:nvSpPr>
        <p:spPr>
          <a:xfrm>
            <a:off x="7843803" y="4655787"/>
            <a:ext cx="1060500" cy="2730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0" spcFirstLastPara="1" rIns="0"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{{AI_CA_COUNT}}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Coding Agents (IDE)</a:t>
            </a:r>
            <a:endParaRPr sz="700">
              <a:solidFill>
                <a:srgbClr val="00113E"/>
              </a:solidFill>
              <a:latin typeface="Poppins Light"/>
              <a:ea typeface="Poppins Light"/>
              <a:cs typeface="Poppins Light"/>
              <a:sym typeface="Poppins Light"/>
            </a:endParaRPr>
          </a:p>
        </p:txBody>
      </p:sp>
      <p:sp>
        <p:nvSpPr>
          <p:cNvPr id="382" name="Google Shape;382;p49"/>
          <p:cNvSpPr/>
          <p:nvPr/>
        </p:nvSpPr>
        <p:spPr>
          <a:xfrm>
            <a:off x="4488949" y="3261374"/>
            <a:ext cx="1178700" cy="429900"/>
          </a:xfrm>
          <a:prstGeom prst="roundRect">
            <a:avLst>
              <a:gd fmla="val 16667" name="adj"/>
            </a:avLst>
          </a:prstGeom>
          <a:solidFill>
            <a:srgbClr val="F7FAFF"/>
          </a:solidFill>
          <a:ln cap="flat" cmpd="sng" w="9525">
            <a:solidFill>
              <a:srgbClr val="629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700">
                <a:solidFill>
                  <a:srgbClr val="00113E"/>
                </a:solidFill>
                <a:latin typeface="Poppins Light"/>
                <a:ea typeface="Poppins Light"/>
                <a:cs typeface="Poppins Light"/>
                <a:sym typeface="Poppins Light"/>
              </a:rPr>
              <a:t>{{CON_WOS}} </a:t>
            </a:r>
            <a:br>
              <a:rPr lang="en" sz="700">
                <a:solidFill>
                  <a:srgbClr val="00113E"/>
                </a:solidFill>
                <a:latin typeface="Poppins Light"/>
                <a:ea typeface="Poppins Light"/>
                <a:cs typeface="Poppins Light"/>
                <a:sym typeface="Poppins Light"/>
              </a:rPr>
            </a:br>
            <a:r>
              <a:rPr lang="en" sz="700">
                <a:solidFill>
                  <a:srgbClr val="00113E"/>
                </a:solidFill>
                <a:latin typeface="Poppins Light"/>
                <a:ea typeface="Poppins Light"/>
                <a:cs typeface="Poppins Light"/>
                <a:sym typeface="Poppins Light"/>
              </a:rPr>
              <a:t>WizOS Workloads</a:t>
            </a:r>
            <a:endParaRPr sz="700">
              <a:solidFill>
                <a:srgbClr val="00113E"/>
              </a:solidFill>
              <a:latin typeface="Poppins Light"/>
              <a:ea typeface="Poppins Light"/>
              <a:cs typeface="Poppins Light"/>
              <a:sym typeface="Poppins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pic>
        <p:nvPicPr>
          <p:cNvPr id="388" name="Google Shape;388;p50"/>
          <p:cNvPicPr preferRelativeResize="0"/>
          <p:nvPr/>
        </p:nvPicPr>
        <p:blipFill>
          <a:blip r:embed="rId3">
            <a:alphaModFix/>
          </a:blip>
          <a:stretch>
            <a:fillRect/>
          </a:stretch>
        </p:blipFill>
        <p:spPr>
          <a:xfrm>
            <a:off x="230450" y="739780"/>
            <a:ext cx="2848805" cy="3118438"/>
          </a:xfrm>
          <a:prstGeom prst="rect">
            <a:avLst/>
          </a:prstGeom>
          <a:noFill/>
          <a:ln>
            <a:noFill/>
          </a:ln>
        </p:spPr>
      </p:pic>
      <p:sp>
        <p:nvSpPr>
          <p:cNvPr id="389" name="Google Shape;389;p50"/>
          <p:cNvSpPr txBox="1"/>
          <p:nvPr>
            <p:ph idx="4294967295" type="title"/>
          </p:nvPr>
        </p:nvSpPr>
        <p:spPr>
          <a:xfrm>
            <a:off x="150" y="249625"/>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Wiz Adoption &amp; Health Snapshot</a:t>
            </a:r>
            <a:endParaRPr sz="2420">
              <a:latin typeface="Poppins Light"/>
              <a:ea typeface="Poppins Light"/>
              <a:cs typeface="Poppins Light"/>
              <a:sym typeface="Poppins Light"/>
            </a:endParaRPr>
          </a:p>
        </p:txBody>
      </p:sp>
      <p:sp>
        <p:nvSpPr>
          <p:cNvPr id="390" name="Google Shape;390;p50"/>
          <p:cNvSpPr txBox="1"/>
          <p:nvPr/>
        </p:nvSpPr>
        <p:spPr>
          <a:xfrm>
            <a:off x="619526" y="1155345"/>
            <a:ext cx="2432700" cy="1830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1200">
                <a:solidFill>
                  <a:srgbClr val="38761D"/>
                </a:solidFill>
                <a:latin typeface="Poppins Medium"/>
                <a:ea typeface="Poppins Medium"/>
                <a:cs typeface="Poppins Medium"/>
                <a:sym typeface="Poppins Medium"/>
              </a:rPr>
              <a:t>{{L_CL_PCT}}</a:t>
            </a:r>
            <a:r>
              <a:rPr lang="en" sz="1100">
                <a:solidFill>
                  <a:srgbClr val="00113E"/>
                </a:solidFill>
                <a:latin typeface="Poppins Medium"/>
                <a:ea typeface="Poppins Medium"/>
                <a:cs typeface="Poppins Medium"/>
                <a:sym typeface="Poppins Medium"/>
              </a:rPr>
              <a:t> Cloud Advanced</a:t>
            </a:r>
            <a:endParaRPr i="0" sz="1100" u="none" cap="none" strike="noStrike">
              <a:solidFill>
                <a:srgbClr val="000000"/>
              </a:solidFill>
              <a:latin typeface="Poppins Medium"/>
              <a:ea typeface="Poppins Medium"/>
              <a:cs typeface="Poppins Medium"/>
              <a:sym typeface="Poppins Medium"/>
            </a:endParaRPr>
          </a:p>
        </p:txBody>
      </p:sp>
      <p:sp>
        <p:nvSpPr>
          <p:cNvPr id="391" name="Google Shape;391;p50"/>
          <p:cNvSpPr txBox="1"/>
          <p:nvPr/>
        </p:nvSpPr>
        <p:spPr>
          <a:xfrm>
            <a:off x="673238" y="1381562"/>
            <a:ext cx="2538600" cy="877500"/>
          </a:xfrm>
          <a:prstGeom prst="rect">
            <a:avLst/>
          </a:prstGeom>
          <a:noFill/>
          <a:ln>
            <a:noFill/>
          </a:ln>
        </p:spPr>
        <p:txBody>
          <a:bodyPr anchorCtr="0" anchor="t" bIns="27925" lIns="55875" spcFirstLastPara="1" rIns="55875" wrap="square" tIns="27925">
            <a:noAutofit/>
          </a:bodyPr>
          <a:lstStyle/>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Compute </a:t>
            </a:r>
            <a:br>
              <a:rPr lang="en" sz="800">
                <a:solidFill>
                  <a:srgbClr val="00113E"/>
                </a:solidFill>
                <a:latin typeface="Poppins"/>
                <a:ea typeface="Poppins"/>
                <a:cs typeface="Poppins"/>
                <a:sym typeface="Poppins"/>
              </a:rPr>
            </a:br>
            <a:r>
              <a:rPr lang="en" sz="800">
                <a:solidFill>
                  <a:srgbClr val="00113E"/>
                </a:solidFill>
                <a:latin typeface="Poppins"/>
                <a:ea typeface="Poppins"/>
                <a:cs typeface="Poppins"/>
                <a:sym typeface="Poppins"/>
              </a:rPr>
              <a:t>- Data </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Non-OS / Registry / VM Image</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WizOS </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Unified Vulnerability Mgmt</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Advanced ASM</a:t>
            </a:r>
            <a:endParaRPr sz="800">
              <a:solidFill>
                <a:srgbClr val="00113E"/>
              </a:solidFill>
              <a:latin typeface="Poppins"/>
              <a:ea typeface="Poppins"/>
              <a:cs typeface="Poppins"/>
              <a:sym typeface="Poppins"/>
            </a:endParaRPr>
          </a:p>
          <a:p>
            <a:pPr indent="0" lvl="0" marL="0" rtl="0" algn="l">
              <a:lnSpc>
                <a:spcPct val="115000"/>
              </a:lnSpc>
              <a:spcBef>
                <a:spcPts val="0"/>
              </a:spcBef>
              <a:spcAft>
                <a:spcPts val="0"/>
              </a:spcAft>
              <a:buClr>
                <a:schemeClr val="dk1"/>
              </a:buClr>
              <a:buSzPts val="1100"/>
              <a:buFont typeface="Arial"/>
              <a:buNone/>
            </a:pPr>
            <a:r>
              <a:rPr lang="en" sz="800">
                <a:solidFill>
                  <a:srgbClr val="00113E"/>
                </a:solidFill>
                <a:latin typeface="Poppins"/>
                <a:ea typeface="Poppins"/>
                <a:cs typeface="Poppins"/>
                <a:sym typeface="Poppins"/>
              </a:rPr>
              <a:t>- Red Agent</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rPr lang="en" sz="800">
                <a:solidFill>
                  <a:srgbClr val="00113E"/>
                </a:solidFill>
                <a:latin typeface="Poppins"/>
                <a:ea typeface="Poppins"/>
                <a:cs typeface="Poppins"/>
                <a:sym typeface="Poppins"/>
              </a:rPr>
              <a:t>- SaaS Users</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800">
              <a:solidFill>
                <a:srgbClr val="00113E"/>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800">
              <a:solidFill>
                <a:srgbClr val="00113E"/>
              </a:solidFill>
              <a:latin typeface="Poppins"/>
              <a:ea typeface="Poppins"/>
              <a:cs typeface="Poppins"/>
              <a:sym typeface="Poppins"/>
            </a:endParaRPr>
          </a:p>
        </p:txBody>
      </p:sp>
      <p:sp>
        <p:nvSpPr>
          <p:cNvPr id="392" name="Google Shape;392;p50"/>
          <p:cNvSpPr txBox="1"/>
          <p:nvPr/>
        </p:nvSpPr>
        <p:spPr>
          <a:xfrm>
            <a:off x="230450" y="772642"/>
            <a:ext cx="2843100" cy="3444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600">
                <a:solidFill>
                  <a:schemeClr val="dk1"/>
                </a:solidFill>
                <a:latin typeface="Poppins"/>
                <a:ea typeface="Poppins"/>
                <a:cs typeface="Poppins"/>
                <a:sym typeface="Poppins"/>
              </a:rPr>
              <a:t>Product Usage</a:t>
            </a:r>
            <a:endParaRPr sz="1600">
              <a:solidFill>
                <a:schemeClr val="dk1"/>
              </a:solidFill>
              <a:latin typeface="Poppins"/>
              <a:ea typeface="Poppins"/>
              <a:cs typeface="Poppins"/>
              <a:sym typeface="Poppins"/>
            </a:endParaRPr>
          </a:p>
        </p:txBody>
      </p:sp>
      <p:pic>
        <p:nvPicPr>
          <p:cNvPr id="393" name="Google Shape;393;p50"/>
          <p:cNvPicPr preferRelativeResize="0"/>
          <p:nvPr/>
        </p:nvPicPr>
        <p:blipFill>
          <a:blip r:embed="rId4">
            <a:alphaModFix/>
          </a:blip>
          <a:stretch>
            <a:fillRect/>
          </a:stretch>
        </p:blipFill>
        <p:spPr>
          <a:xfrm>
            <a:off x="6405838" y="734305"/>
            <a:ext cx="2540575" cy="1594700"/>
          </a:xfrm>
          <a:prstGeom prst="rect">
            <a:avLst/>
          </a:prstGeom>
          <a:noFill/>
          <a:ln>
            <a:noFill/>
          </a:ln>
        </p:spPr>
      </p:pic>
      <p:sp>
        <p:nvSpPr>
          <p:cNvPr id="394" name="Google Shape;394;p50"/>
          <p:cNvSpPr txBox="1"/>
          <p:nvPr/>
        </p:nvSpPr>
        <p:spPr>
          <a:xfrm>
            <a:off x="6405838" y="734846"/>
            <a:ext cx="2538600" cy="225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a:solidFill>
                  <a:schemeClr val="dk1"/>
                </a:solidFill>
                <a:latin typeface="Poppins"/>
                <a:ea typeface="Poppins"/>
                <a:cs typeface="Poppins"/>
                <a:sym typeface="Poppins"/>
              </a:rPr>
              <a:t>System Health </a:t>
            </a:r>
            <a:br>
              <a:rPr lang="en" sz="1500">
                <a:solidFill>
                  <a:schemeClr val="dk1"/>
                </a:solidFill>
                <a:latin typeface="Poppins"/>
                <a:ea typeface="Poppins"/>
                <a:cs typeface="Poppins"/>
                <a:sym typeface="Poppins"/>
              </a:rPr>
            </a:br>
            <a:r>
              <a:rPr lang="en" sz="1500">
                <a:solidFill>
                  <a:schemeClr val="dk1"/>
                </a:solidFill>
                <a:latin typeface="Poppins"/>
                <a:ea typeface="Poppins"/>
                <a:cs typeface="Poppins"/>
                <a:sym typeface="Poppins"/>
              </a:rPr>
              <a:t>Issues</a:t>
            </a:r>
            <a:endParaRPr sz="1500">
              <a:solidFill>
                <a:schemeClr val="dk1"/>
              </a:solidFill>
              <a:latin typeface="Poppins"/>
              <a:ea typeface="Poppins"/>
              <a:cs typeface="Poppins"/>
              <a:sym typeface="Poppins"/>
            </a:endParaRPr>
          </a:p>
        </p:txBody>
      </p:sp>
      <p:sp>
        <p:nvSpPr>
          <p:cNvPr id="395" name="Google Shape;395;p50"/>
          <p:cNvSpPr txBox="1"/>
          <p:nvPr/>
        </p:nvSpPr>
        <p:spPr>
          <a:xfrm>
            <a:off x="6499219" y="1318397"/>
            <a:ext cx="2317800" cy="336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396" name="Google Shape;396;p50"/>
          <p:cNvSpPr txBox="1"/>
          <p:nvPr/>
        </p:nvSpPr>
        <p:spPr>
          <a:xfrm>
            <a:off x="6444571" y="1040114"/>
            <a:ext cx="2432700" cy="2868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397" name="Google Shape;397;p50"/>
          <p:cNvSpPr txBox="1"/>
          <p:nvPr/>
        </p:nvSpPr>
        <p:spPr>
          <a:xfrm>
            <a:off x="6527850" y="1161252"/>
            <a:ext cx="1596600" cy="169800"/>
          </a:xfrm>
          <a:prstGeom prst="rect">
            <a:avLst/>
          </a:prstGeom>
          <a:noFill/>
          <a:ln>
            <a:noFill/>
          </a:ln>
        </p:spPr>
        <p:txBody>
          <a:bodyPr anchorCtr="0" anchor="t" bIns="91250" lIns="91250" spcFirstLastPara="1" rIns="91250" wrap="square" tIns="91250">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5">
                  <a:extLst>
                    <a:ext uri="{A12FA001-AC4F-418D-AE19-62706E023703}">
                      <ahyp:hlinkClr val="tx"/>
                    </a:ext>
                  </a:extLst>
                </a:hlinkClick>
              </a:rPr>
              <a:t>Critical SHIs</a:t>
            </a:r>
            <a:endParaRPr sz="1000">
              <a:solidFill>
                <a:srgbClr val="333333"/>
              </a:solidFill>
              <a:latin typeface="Poppins"/>
              <a:ea typeface="Poppins"/>
              <a:cs typeface="Poppins"/>
              <a:sym typeface="Poppins"/>
            </a:endParaRPr>
          </a:p>
        </p:txBody>
      </p:sp>
      <p:sp>
        <p:nvSpPr>
          <p:cNvPr id="398" name="Google Shape;398;p50"/>
          <p:cNvSpPr txBox="1"/>
          <p:nvPr/>
        </p:nvSpPr>
        <p:spPr>
          <a:xfrm>
            <a:off x="7878542" y="1161252"/>
            <a:ext cx="997800" cy="169800"/>
          </a:xfrm>
          <a:prstGeom prst="rect">
            <a:avLst/>
          </a:prstGeom>
          <a:noFill/>
          <a:ln>
            <a:noFill/>
          </a:ln>
        </p:spPr>
        <p:txBody>
          <a:bodyPr anchorCtr="0" anchor="t" bIns="91250" lIns="91250" spcFirstLastPara="1" rIns="91250" wrap="square" tIns="91250">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{{SHI_C}}</a:t>
            </a:r>
            <a:endParaRPr sz="1000">
              <a:solidFill>
                <a:srgbClr val="333333"/>
              </a:solidFill>
              <a:latin typeface="Poppins"/>
              <a:ea typeface="Poppins"/>
              <a:cs typeface="Poppins"/>
              <a:sym typeface="Poppins"/>
            </a:endParaRPr>
          </a:p>
        </p:txBody>
      </p:sp>
      <p:sp>
        <p:nvSpPr>
          <p:cNvPr id="399" name="Google Shape;399;p50"/>
          <p:cNvSpPr txBox="1"/>
          <p:nvPr/>
        </p:nvSpPr>
        <p:spPr>
          <a:xfrm>
            <a:off x="6527850" y="1340878"/>
            <a:ext cx="1596600" cy="169800"/>
          </a:xfrm>
          <a:prstGeom prst="rect">
            <a:avLst/>
          </a:prstGeom>
          <a:noFill/>
          <a:ln>
            <a:noFill/>
          </a:ln>
        </p:spPr>
        <p:txBody>
          <a:bodyPr anchorCtr="0" anchor="t" bIns="91250" lIns="91250" spcFirstLastPara="1" rIns="91250" wrap="square" tIns="91250">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6">
                  <a:extLst>
                    <a:ext uri="{A12FA001-AC4F-418D-AE19-62706E023703}">
                      <ahyp:hlinkClr val="tx"/>
                    </a:ext>
                  </a:extLst>
                </a:hlinkClick>
              </a:rPr>
              <a:t>High SHIs</a:t>
            </a:r>
            <a:endParaRPr sz="1000">
              <a:solidFill>
                <a:srgbClr val="333333"/>
              </a:solidFill>
              <a:latin typeface="Poppins"/>
              <a:ea typeface="Poppins"/>
              <a:cs typeface="Poppins"/>
              <a:sym typeface="Poppins"/>
            </a:endParaRPr>
          </a:p>
        </p:txBody>
      </p:sp>
      <p:sp>
        <p:nvSpPr>
          <p:cNvPr id="400" name="Google Shape;400;p50"/>
          <p:cNvSpPr txBox="1"/>
          <p:nvPr/>
        </p:nvSpPr>
        <p:spPr>
          <a:xfrm>
            <a:off x="7878542" y="1340878"/>
            <a:ext cx="997800" cy="169800"/>
          </a:xfrm>
          <a:prstGeom prst="rect">
            <a:avLst/>
          </a:prstGeom>
          <a:noFill/>
          <a:ln>
            <a:noFill/>
          </a:ln>
        </p:spPr>
        <p:txBody>
          <a:bodyPr anchorCtr="0" anchor="t" bIns="91250" lIns="91250" spcFirstLastPara="1" rIns="91250" wrap="square" tIns="91250">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{{SHI_H}}</a:t>
            </a:r>
            <a:endParaRPr sz="1000">
              <a:solidFill>
                <a:srgbClr val="333333"/>
              </a:solidFill>
              <a:latin typeface="Poppins"/>
              <a:ea typeface="Poppins"/>
              <a:cs typeface="Poppins"/>
              <a:sym typeface="Poppins"/>
            </a:endParaRPr>
          </a:p>
        </p:txBody>
      </p:sp>
      <p:sp>
        <p:nvSpPr>
          <p:cNvPr id="401" name="Google Shape;401;p50"/>
          <p:cNvSpPr txBox="1"/>
          <p:nvPr/>
        </p:nvSpPr>
        <p:spPr>
          <a:xfrm>
            <a:off x="6528104" y="1817274"/>
            <a:ext cx="1596600" cy="169800"/>
          </a:xfrm>
          <a:prstGeom prst="rect">
            <a:avLst/>
          </a:prstGeom>
          <a:noFill/>
          <a:ln>
            <a:noFill/>
          </a:ln>
        </p:spPr>
        <p:txBody>
          <a:bodyPr anchorCtr="0" anchor="t" bIns="91250" lIns="91250" spcFirstLastPara="1" rIns="91250" wrap="square" tIns="91250">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7">
                  <a:extLst>
                    <a:ext uri="{A12FA001-AC4F-418D-AE19-62706E023703}">
                      <ahyp:hlinkClr val="tx"/>
                    </a:ext>
                  </a:extLst>
                </a:hlinkClick>
              </a:rPr>
              <a:t>Resolved Critical SHIs</a:t>
            </a:r>
            <a:endParaRPr sz="1000">
              <a:solidFill>
                <a:srgbClr val="333333"/>
              </a:solidFill>
              <a:latin typeface="Poppins"/>
              <a:ea typeface="Poppins"/>
              <a:cs typeface="Poppins"/>
              <a:sym typeface="Poppins"/>
            </a:endParaRPr>
          </a:p>
        </p:txBody>
      </p:sp>
      <p:sp>
        <p:nvSpPr>
          <p:cNvPr id="402" name="Google Shape;402;p50"/>
          <p:cNvSpPr txBox="1"/>
          <p:nvPr/>
        </p:nvSpPr>
        <p:spPr>
          <a:xfrm>
            <a:off x="7884497" y="1817274"/>
            <a:ext cx="997800" cy="169800"/>
          </a:xfrm>
          <a:prstGeom prst="rect">
            <a:avLst/>
          </a:prstGeom>
          <a:noFill/>
          <a:ln>
            <a:noFill/>
          </a:ln>
        </p:spPr>
        <p:txBody>
          <a:bodyPr anchorCtr="0" anchor="t" bIns="91250" lIns="91250" spcFirstLastPara="1" rIns="91250" wrap="square" tIns="91250">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{{SHI_R_C}}</a:t>
            </a:r>
            <a:endParaRPr sz="1000">
              <a:solidFill>
                <a:srgbClr val="333333"/>
              </a:solidFill>
              <a:latin typeface="Poppins"/>
              <a:ea typeface="Poppins"/>
              <a:cs typeface="Poppins"/>
              <a:sym typeface="Poppins"/>
            </a:endParaRPr>
          </a:p>
        </p:txBody>
      </p:sp>
      <p:sp>
        <p:nvSpPr>
          <p:cNvPr id="403" name="Google Shape;403;p50"/>
          <p:cNvSpPr txBox="1"/>
          <p:nvPr/>
        </p:nvSpPr>
        <p:spPr>
          <a:xfrm>
            <a:off x="6528104" y="1996899"/>
            <a:ext cx="1596600" cy="169800"/>
          </a:xfrm>
          <a:prstGeom prst="rect">
            <a:avLst/>
          </a:prstGeom>
          <a:noFill/>
          <a:ln>
            <a:noFill/>
          </a:ln>
        </p:spPr>
        <p:txBody>
          <a:bodyPr anchorCtr="0" anchor="t" bIns="91250" lIns="91250" spcFirstLastPara="1" rIns="91250" wrap="square" tIns="91250">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8">
                  <a:extLst>
                    <a:ext uri="{A12FA001-AC4F-418D-AE19-62706E023703}">
                      <ahyp:hlinkClr val="tx"/>
                    </a:ext>
                  </a:extLst>
                </a:hlinkClick>
              </a:rPr>
              <a:t>Resolved High SHIs</a:t>
            </a:r>
            <a:endParaRPr sz="1000">
              <a:solidFill>
                <a:srgbClr val="333333"/>
              </a:solidFill>
              <a:latin typeface="Poppins"/>
              <a:ea typeface="Poppins"/>
              <a:cs typeface="Poppins"/>
              <a:sym typeface="Poppins"/>
            </a:endParaRPr>
          </a:p>
        </p:txBody>
      </p:sp>
      <p:sp>
        <p:nvSpPr>
          <p:cNvPr id="404" name="Google Shape;404;p50"/>
          <p:cNvSpPr txBox="1"/>
          <p:nvPr/>
        </p:nvSpPr>
        <p:spPr>
          <a:xfrm>
            <a:off x="7884497" y="1996899"/>
            <a:ext cx="997800" cy="169800"/>
          </a:xfrm>
          <a:prstGeom prst="rect">
            <a:avLst/>
          </a:prstGeom>
          <a:noFill/>
          <a:ln>
            <a:noFill/>
          </a:ln>
        </p:spPr>
        <p:txBody>
          <a:bodyPr anchorCtr="0" anchor="t" bIns="91250" lIns="91250" spcFirstLastPara="1" rIns="91250" wrap="square" tIns="91250">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{{SHI_R_H}}</a:t>
            </a:r>
            <a:endParaRPr sz="1000">
              <a:solidFill>
                <a:srgbClr val="333333"/>
              </a:solidFill>
              <a:latin typeface="Poppins"/>
              <a:ea typeface="Poppins"/>
              <a:cs typeface="Poppins"/>
              <a:sym typeface="Poppins"/>
            </a:endParaRPr>
          </a:p>
        </p:txBody>
      </p:sp>
      <p:sp>
        <p:nvSpPr>
          <p:cNvPr id="405" name="Google Shape;405;p50"/>
          <p:cNvSpPr txBox="1"/>
          <p:nvPr/>
        </p:nvSpPr>
        <p:spPr>
          <a:xfrm>
            <a:off x="6516957" y="1617950"/>
            <a:ext cx="2374800" cy="219900"/>
          </a:xfrm>
          <a:prstGeom prst="rect">
            <a:avLst/>
          </a:prstGeom>
          <a:noFill/>
          <a:ln>
            <a:noFill/>
          </a:ln>
        </p:spPr>
        <p:txBody>
          <a:bodyPr anchorCtr="0" anchor="t" bIns="91250" lIns="91250" spcFirstLastPara="1" rIns="91250" wrap="square" tIns="91250">
            <a:noAutofit/>
          </a:bodyPr>
          <a:lstStyle/>
          <a:p>
            <a:pPr indent="0" lvl="0" marL="0" rtl="0" algn="l">
              <a:lnSpc>
                <a:spcPct val="150000"/>
              </a:lnSpc>
              <a:spcBef>
                <a:spcPts val="0"/>
              </a:spcBef>
              <a:spcAft>
                <a:spcPts val="0"/>
              </a:spcAft>
              <a:buNone/>
            </a:pPr>
            <a:r>
              <a:rPr lang="en" sz="1000">
                <a:solidFill>
                  <a:srgbClr val="333333"/>
                </a:solidFill>
                <a:latin typeface="Poppins SemiBold"/>
                <a:ea typeface="Poppins SemiBold"/>
                <a:cs typeface="Poppins SemiBold"/>
                <a:sym typeface="Poppins SemiBold"/>
              </a:rPr>
              <a:t>Resolved SHIs in Past 30 Days</a:t>
            </a:r>
            <a:endParaRPr sz="1000">
              <a:solidFill>
                <a:srgbClr val="333333"/>
              </a:solidFill>
              <a:latin typeface="Poppins SemiBold"/>
              <a:ea typeface="Poppins SemiBold"/>
              <a:cs typeface="Poppins SemiBold"/>
              <a:sym typeface="Poppins SemiBold"/>
            </a:endParaRPr>
          </a:p>
        </p:txBody>
      </p:sp>
      <p:pic>
        <p:nvPicPr>
          <p:cNvPr id="406" name="Google Shape;406;p50"/>
          <p:cNvPicPr preferRelativeResize="0"/>
          <p:nvPr/>
        </p:nvPicPr>
        <p:blipFill>
          <a:blip r:embed="rId4">
            <a:alphaModFix/>
          </a:blip>
          <a:stretch>
            <a:fillRect/>
          </a:stretch>
        </p:blipFill>
        <p:spPr>
          <a:xfrm>
            <a:off x="6413796" y="2407700"/>
            <a:ext cx="2540554" cy="1288197"/>
          </a:xfrm>
          <a:prstGeom prst="rect">
            <a:avLst/>
          </a:prstGeom>
          <a:noFill/>
          <a:ln>
            <a:noFill/>
          </a:ln>
        </p:spPr>
      </p:pic>
      <p:sp>
        <p:nvSpPr>
          <p:cNvPr id="407" name="Google Shape;407;p50"/>
          <p:cNvSpPr txBox="1"/>
          <p:nvPr/>
        </p:nvSpPr>
        <p:spPr>
          <a:xfrm>
            <a:off x="6413796" y="2424866"/>
            <a:ext cx="2538600" cy="3456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a:solidFill>
                  <a:schemeClr val="dk1"/>
                </a:solidFill>
                <a:latin typeface="Poppins"/>
                <a:ea typeface="Poppins"/>
                <a:cs typeface="Poppins"/>
                <a:sym typeface="Poppins"/>
              </a:rPr>
              <a:t>Workload Scans</a:t>
            </a:r>
            <a:endParaRPr sz="1500">
              <a:solidFill>
                <a:schemeClr val="dk1"/>
              </a:solidFill>
              <a:latin typeface="Poppins"/>
              <a:ea typeface="Poppins"/>
              <a:cs typeface="Poppins"/>
              <a:sym typeface="Poppins"/>
            </a:endParaRPr>
          </a:p>
        </p:txBody>
      </p:sp>
      <p:sp>
        <p:nvSpPr>
          <p:cNvPr id="408" name="Google Shape;408;p50"/>
          <p:cNvSpPr txBox="1"/>
          <p:nvPr/>
        </p:nvSpPr>
        <p:spPr>
          <a:xfrm>
            <a:off x="6507165" y="2947450"/>
            <a:ext cx="2317800" cy="317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409" name="Google Shape;409;p50"/>
          <p:cNvSpPr txBox="1"/>
          <p:nvPr/>
        </p:nvSpPr>
        <p:spPr>
          <a:xfrm>
            <a:off x="6452517" y="2685435"/>
            <a:ext cx="2432700" cy="2700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410" name="Google Shape;410;p50"/>
          <p:cNvSpPr txBox="1"/>
          <p:nvPr/>
        </p:nvSpPr>
        <p:spPr>
          <a:xfrm>
            <a:off x="6569565" y="2735399"/>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4EC"/>
                </a:solidFill>
                <a:latin typeface="Poppins Medium"/>
                <a:ea typeface="Poppins Medium"/>
                <a:cs typeface="Poppins Medium"/>
                <a:sym typeface="Poppins Medium"/>
                <a:hlinkClick r:id="rId9">
                  <a:extLst>
                    <a:ext uri="{A12FA001-AC4F-418D-AE19-62706E023703}">
                      <ahyp:hlinkClr val="tx"/>
                    </a:ext>
                  </a:extLst>
                </a:hlinkClick>
              </a:rPr>
              <a:t>Total</a:t>
            </a:r>
            <a:r>
              <a:rPr lang="en" sz="1000">
                <a:solidFill>
                  <a:srgbClr val="333333"/>
                </a:solidFill>
                <a:latin typeface="Poppins Medium"/>
                <a:ea typeface="Poppins Medium"/>
                <a:cs typeface="Poppins Medium"/>
                <a:sym typeface="Poppins Medium"/>
              </a:rPr>
              <a:t>: {{WS_T}}</a:t>
            </a:r>
            <a:endParaRPr sz="1000">
              <a:solidFill>
                <a:srgbClr val="333333"/>
              </a:solidFill>
              <a:latin typeface="Poppins Medium"/>
              <a:ea typeface="Poppins Medium"/>
              <a:cs typeface="Poppins Medium"/>
              <a:sym typeface="Poppins Medium"/>
            </a:endParaRPr>
          </a:p>
        </p:txBody>
      </p:sp>
      <p:sp>
        <p:nvSpPr>
          <p:cNvPr id="411" name="Google Shape;411;p50"/>
          <p:cNvSpPr txBox="1"/>
          <p:nvPr/>
        </p:nvSpPr>
        <p:spPr>
          <a:xfrm>
            <a:off x="6569176" y="2965656"/>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5F5"/>
                </a:solidFill>
                <a:latin typeface="Poppins Medium"/>
                <a:ea typeface="Poppins Medium"/>
                <a:cs typeface="Poppins Medium"/>
                <a:sym typeface="Poppins Medium"/>
                <a:hlinkClick r:id="rId10">
                  <a:extLst>
                    <a:ext uri="{A12FA001-AC4F-418D-AE19-62706E023703}">
                      <ahyp:hlinkClr val="tx"/>
                    </a:ext>
                  </a:extLst>
                </a:hlinkClick>
              </a:rPr>
              <a:t>Failed</a:t>
            </a:r>
            <a:r>
              <a:rPr lang="en" sz="1000">
                <a:solidFill>
                  <a:srgbClr val="333333"/>
                </a:solidFill>
                <a:latin typeface="Poppins Medium"/>
                <a:ea typeface="Poppins Medium"/>
                <a:cs typeface="Poppins Medium"/>
                <a:sym typeface="Poppins Medium"/>
              </a:rPr>
              <a:t>: {{WS_F}}</a:t>
            </a:r>
            <a:endParaRPr sz="1000">
              <a:solidFill>
                <a:srgbClr val="333333"/>
              </a:solidFill>
              <a:latin typeface="Poppins Medium"/>
              <a:ea typeface="Poppins Medium"/>
              <a:cs typeface="Poppins Medium"/>
              <a:sym typeface="Poppins Medium"/>
            </a:endParaRPr>
          </a:p>
        </p:txBody>
      </p:sp>
      <p:sp>
        <p:nvSpPr>
          <p:cNvPr id="412" name="Google Shape;412;p50"/>
          <p:cNvSpPr txBox="1"/>
          <p:nvPr/>
        </p:nvSpPr>
        <p:spPr>
          <a:xfrm>
            <a:off x="6573921" y="3426169"/>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1A56DB"/>
                </a:solidFill>
                <a:latin typeface="Poppins Medium"/>
                <a:ea typeface="Poppins Medium"/>
                <a:cs typeface="Poppins Medium"/>
                <a:sym typeface="Poppins Medium"/>
                <a:hlinkClick r:id="rId11">
                  <a:extLst>
                    <a:ext uri="{A12FA001-AC4F-418D-AE19-62706E023703}">
                      <ahyp:hlinkClr val="tx"/>
                    </a:ext>
                  </a:extLst>
                </a:hlinkClick>
              </a:rPr>
              <a:t>Scan Coverage %</a:t>
            </a:r>
            <a:r>
              <a:rPr lang="en" sz="1000">
                <a:solidFill>
                  <a:srgbClr val="333333"/>
                </a:solidFill>
                <a:latin typeface="Poppins Medium"/>
                <a:ea typeface="Poppins Medium"/>
                <a:cs typeface="Poppins Medium"/>
                <a:sym typeface="Poppins Medium"/>
              </a:rPr>
              <a:t> {{WS_P}}</a:t>
            </a:r>
            <a:endParaRPr sz="1000">
              <a:solidFill>
                <a:srgbClr val="333333"/>
              </a:solidFill>
              <a:latin typeface="Poppins Medium"/>
              <a:ea typeface="Poppins Medium"/>
              <a:cs typeface="Poppins Medium"/>
              <a:sym typeface="Poppins Medium"/>
            </a:endParaRPr>
          </a:p>
        </p:txBody>
      </p:sp>
      <p:sp>
        <p:nvSpPr>
          <p:cNvPr id="413" name="Google Shape;413;p50"/>
          <p:cNvSpPr txBox="1"/>
          <p:nvPr/>
        </p:nvSpPr>
        <p:spPr>
          <a:xfrm>
            <a:off x="6573914" y="3195913"/>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5F5"/>
                </a:solidFill>
                <a:latin typeface="Poppins Medium"/>
                <a:ea typeface="Poppins Medium"/>
                <a:cs typeface="Poppins Medium"/>
                <a:sym typeface="Poppins Medium"/>
                <a:hlinkClick r:id="rId12">
                  <a:extLst>
                    <a:ext uri="{A12FA001-AC4F-418D-AE19-62706E023703}">
                      <ahyp:hlinkClr val="tx"/>
                    </a:ext>
                  </a:extLst>
                </a:hlinkClick>
              </a:rPr>
              <a:t>Skipped</a:t>
            </a:r>
            <a:r>
              <a:rPr lang="en" sz="1000">
                <a:solidFill>
                  <a:srgbClr val="333333"/>
                </a:solidFill>
                <a:latin typeface="Poppins Medium"/>
                <a:ea typeface="Poppins Medium"/>
                <a:cs typeface="Poppins Medium"/>
                <a:sym typeface="Poppins Medium"/>
              </a:rPr>
              <a:t>: {{WS_SK}}</a:t>
            </a:r>
            <a:endParaRPr sz="1000">
              <a:solidFill>
                <a:srgbClr val="333333"/>
              </a:solidFill>
              <a:latin typeface="Poppins Medium"/>
              <a:ea typeface="Poppins Medium"/>
              <a:cs typeface="Poppins Medium"/>
              <a:sym typeface="Poppins Medium"/>
            </a:endParaRPr>
          </a:p>
        </p:txBody>
      </p:sp>
      <p:pic>
        <p:nvPicPr>
          <p:cNvPr id="414" name="Google Shape;414;p50"/>
          <p:cNvPicPr preferRelativeResize="0"/>
          <p:nvPr/>
        </p:nvPicPr>
        <p:blipFill>
          <a:blip r:embed="rId4">
            <a:alphaModFix/>
          </a:blip>
          <a:stretch>
            <a:fillRect/>
          </a:stretch>
        </p:blipFill>
        <p:spPr>
          <a:xfrm>
            <a:off x="6412821" y="3777004"/>
            <a:ext cx="2540554" cy="1288197"/>
          </a:xfrm>
          <a:prstGeom prst="rect">
            <a:avLst/>
          </a:prstGeom>
          <a:noFill/>
          <a:ln>
            <a:noFill/>
          </a:ln>
        </p:spPr>
      </p:pic>
      <p:sp>
        <p:nvSpPr>
          <p:cNvPr id="415" name="Google Shape;415;p50"/>
          <p:cNvSpPr txBox="1"/>
          <p:nvPr/>
        </p:nvSpPr>
        <p:spPr>
          <a:xfrm>
            <a:off x="6412821" y="3804367"/>
            <a:ext cx="2538600" cy="3456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a:solidFill>
                  <a:schemeClr val="dk1"/>
                </a:solidFill>
                <a:latin typeface="Poppins"/>
                <a:ea typeface="Poppins"/>
                <a:cs typeface="Poppins"/>
                <a:sym typeface="Poppins"/>
              </a:rPr>
              <a:t>Data Scans</a:t>
            </a:r>
            <a:endParaRPr sz="1500">
              <a:solidFill>
                <a:schemeClr val="dk1"/>
              </a:solidFill>
              <a:latin typeface="Poppins"/>
              <a:ea typeface="Poppins"/>
              <a:cs typeface="Poppins"/>
              <a:sym typeface="Poppins"/>
            </a:endParaRPr>
          </a:p>
        </p:txBody>
      </p:sp>
      <p:sp>
        <p:nvSpPr>
          <p:cNvPr id="416" name="Google Shape;416;p50"/>
          <p:cNvSpPr txBox="1"/>
          <p:nvPr/>
        </p:nvSpPr>
        <p:spPr>
          <a:xfrm>
            <a:off x="6506190" y="4326951"/>
            <a:ext cx="2317800" cy="317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417" name="Google Shape;417;p50"/>
          <p:cNvSpPr txBox="1"/>
          <p:nvPr/>
        </p:nvSpPr>
        <p:spPr>
          <a:xfrm>
            <a:off x="6451542" y="4064935"/>
            <a:ext cx="2432700" cy="2700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418" name="Google Shape;418;p50"/>
          <p:cNvSpPr txBox="1"/>
          <p:nvPr/>
        </p:nvSpPr>
        <p:spPr>
          <a:xfrm>
            <a:off x="6568590" y="4114900"/>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4EC"/>
                </a:solidFill>
                <a:latin typeface="Poppins Medium"/>
                <a:ea typeface="Poppins Medium"/>
                <a:cs typeface="Poppins Medium"/>
                <a:sym typeface="Poppins Medium"/>
                <a:hlinkClick r:id="rId13">
                  <a:extLst>
                    <a:ext uri="{A12FA001-AC4F-418D-AE19-62706E023703}">
                      <ahyp:hlinkClr val="tx"/>
                    </a:ext>
                  </a:extLst>
                </a:hlinkClick>
              </a:rPr>
              <a:t>Total</a:t>
            </a:r>
            <a:r>
              <a:rPr lang="en" sz="1000">
                <a:solidFill>
                  <a:srgbClr val="333333"/>
                </a:solidFill>
                <a:latin typeface="Poppins Medium"/>
                <a:ea typeface="Poppins Medium"/>
                <a:cs typeface="Poppins Medium"/>
                <a:sym typeface="Poppins Medium"/>
              </a:rPr>
              <a:t>: {{DS_T}}</a:t>
            </a:r>
            <a:endParaRPr sz="1000">
              <a:solidFill>
                <a:srgbClr val="333333"/>
              </a:solidFill>
              <a:latin typeface="Poppins Medium"/>
              <a:ea typeface="Poppins Medium"/>
              <a:cs typeface="Poppins Medium"/>
              <a:sym typeface="Poppins Medium"/>
            </a:endParaRPr>
          </a:p>
        </p:txBody>
      </p:sp>
      <p:sp>
        <p:nvSpPr>
          <p:cNvPr id="419" name="Google Shape;419;p50"/>
          <p:cNvSpPr txBox="1"/>
          <p:nvPr/>
        </p:nvSpPr>
        <p:spPr>
          <a:xfrm>
            <a:off x="6568201" y="4338967"/>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5F5"/>
                </a:solidFill>
                <a:latin typeface="Poppins Medium"/>
                <a:ea typeface="Poppins Medium"/>
                <a:cs typeface="Poppins Medium"/>
                <a:sym typeface="Poppins Medium"/>
                <a:hlinkClick r:id="rId14">
                  <a:extLst>
                    <a:ext uri="{A12FA001-AC4F-418D-AE19-62706E023703}">
                      <ahyp:hlinkClr val="tx"/>
                    </a:ext>
                  </a:extLst>
                </a:hlinkClick>
              </a:rPr>
              <a:t>Failed</a:t>
            </a:r>
            <a:r>
              <a:rPr lang="en" sz="1000">
                <a:solidFill>
                  <a:srgbClr val="333333"/>
                </a:solidFill>
                <a:latin typeface="Poppins Medium"/>
                <a:ea typeface="Poppins Medium"/>
                <a:cs typeface="Poppins Medium"/>
                <a:sym typeface="Poppins Medium"/>
              </a:rPr>
              <a:t>: {{DS_F}}</a:t>
            </a:r>
            <a:endParaRPr sz="1000">
              <a:solidFill>
                <a:srgbClr val="333333"/>
              </a:solidFill>
              <a:latin typeface="Poppins Medium"/>
              <a:ea typeface="Poppins Medium"/>
              <a:cs typeface="Poppins Medium"/>
              <a:sym typeface="Poppins Medium"/>
            </a:endParaRPr>
          </a:p>
        </p:txBody>
      </p:sp>
      <p:sp>
        <p:nvSpPr>
          <p:cNvPr id="420" name="Google Shape;420;p50"/>
          <p:cNvSpPr txBox="1"/>
          <p:nvPr/>
        </p:nvSpPr>
        <p:spPr>
          <a:xfrm>
            <a:off x="6424225" y="4787100"/>
            <a:ext cx="25287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a:latin typeface="Poppins Medium"/>
                <a:ea typeface="Poppins Medium"/>
                <a:cs typeface="Poppins Medium"/>
                <a:sym typeface="Poppins Medium"/>
              </a:rPr>
              <a:t>Data Scan Coverage</a:t>
            </a:r>
            <a:r>
              <a:rPr lang="en" sz="1000">
                <a:latin typeface="Poppins Medium"/>
                <a:ea typeface="Poppins Medium"/>
                <a:cs typeface="Poppins Medium"/>
                <a:sym typeface="Poppins Medium"/>
              </a:rPr>
              <a:t> %:</a:t>
            </a:r>
            <a:r>
              <a:rPr lang="en" sz="1000">
                <a:solidFill>
                  <a:srgbClr val="333333"/>
                </a:solidFill>
                <a:latin typeface="Poppins Medium"/>
                <a:ea typeface="Poppins Medium"/>
                <a:cs typeface="Poppins Medium"/>
                <a:sym typeface="Poppins Medium"/>
              </a:rPr>
              <a:t> {{DS_P}}</a:t>
            </a:r>
            <a:endParaRPr sz="1000">
              <a:solidFill>
                <a:srgbClr val="333333"/>
              </a:solidFill>
              <a:latin typeface="Poppins Medium"/>
              <a:ea typeface="Poppins Medium"/>
              <a:cs typeface="Poppins Medium"/>
              <a:sym typeface="Poppins Medium"/>
            </a:endParaRPr>
          </a:p>
        </p:txBody>
      </p:sp>
      <p:sp>
        <p:nvSpPr>
          <p:cNvPr id="421" name="Google Shape;421;p50"/>
          <p:cNvSpPr txBox="1"/>
          <p:nvPr/>
        </p:nvSpPr>
        <p:spPr>
          <a:xfrm>
            <a:off x="6562839" y="4563033"/>
            <a:ext cx="2283000" cy="2073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000" u="sng">
                <a:solidFill>
                  <a:srgbClr val="0055F5"/>
                </a:solidFill>
                <a:latin typeface="Poppins Medium"/>
                <a:ea typeface="Poppins Medium"/>
                <a:cs typeface="Poppins Medium"/>
                <a:sym typeface="Poppins Medium"/>
                <a:hlinkClick r:id="rId15">
                  <a:extLst>
                    <a:ext uri="{A12FA001-AC4F-418D-AE19-62706E023703}">
                      <ahyp:hlinkClr val="tx"/>
                    </a:ext>
                  </a:extLst>
                </a:hlinkClick>
              </a:rPr>
              <a:t>Skipped</a:t>
            </a:r>
            <a:r>
              <a:rPr lang="en" sz="1000">
                <a:solidFill>
                  <a:srgbClr val="333333"/>
                </a:solidFill>
                <a:latin typeface="Poppins Medium"/>
                <a:ea typeface="Poppins Medium"/>
                <a:cs typeface="Poppins Medium"/>
                <a:sym typeface="Poppins Medium"/>
              </a:rPr>
              <a:t>: {{DS_SK}}</a:t>
            </a:r>
            <a:endParaRPr sz="1000">
              <a:solidFill>
                <a:srgbClr val="333333"/>
              </a:solidFill>
              <a:latin typeface="Poppins Medium"/>
              <a:ea typeface="Poppins Medium"/>
              <a:cs typeface="Poppins Medium"/>
              <a:sym typeface="Poppins Medium"/>
            </a:endParaRPr>
          </a:p>
        </p:txBody>
      </p:sp>
      <p:sp>
        <p:nvSpPr>
          <p:cNvPr id="422" name="Google Shape;422;p50"/>
          <p:cNvSpPr txBox="1"/>
          <p:nvPr/>
        </p:nvSpPr>
        <p:spPr>
          <a:xfrm>
            <a:off x="674388" y="2536336"/>
            <a:ext cx="2120100" cy="1830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1100">
                <a:solidFill>
                  <a:srgbClr val="00113E"/>
                </a:solidFill>
                <a:latin typeface="Poppins Medium"/>
                <a:ea typeface="Poppins Medium"/>
                <a:cs typeface="Poppins Medium"/>
                <a:sym typeface="Poppins Medium"/>
              </a:rPr>
              <a:t>Runtime Sensor</a:t>
            </a:r>
            <a:br>
              <a:rPr lang="en" sz="1100">
                <a:solidFill>
                  <a:srgbClr val="00113E"/>
                </a:solidFill>
                <a:latin typeface="Poppins Medium"/>
                <a:ea typeface="Poppins Medium"/>
                <a:cs typeface="Poppins Medium"/>
                <a:sym typeface="Poppins Medium"/>
              </a:rPr>
            </a:br>
            <a:r>
              <a:rPr lang="en" sz="1200">
                <a:solidFill>
                  <a:srgbClr val="38761D"/>
                </a:solidFill>
                <a:latin typeface="Poppins Medium"/>
                <a:ea typeface="Poppins Medium"/>
                <a:cs typeface="Poppins Medium"/>
                <a:sym typeface="Poppins Medium"/>
              </a:rPr>
              <a:t>{{L_SE}}</a:t>
            </a:r>
            <a:endParaRPr i="0" sz="1300" u="none" cap="none" strike="noStrike">
              <a:solidFill>
                <a:srgbClr val="38761D"/>
              </a:solidFill>
              <a:latin typeface="Poppins Medium"/>
              <a:ea typeface="Poppins Medium"/>
              <a:cs typeface="Poppins Medium"/>
              <a:sym typeface="Poppins Medium"/>
            </a:endParaRPr>
          </a:p>
        </p:txBody>
      </p:sp>
      <p:pic>
        <p:nvPicPr>
          <p:cNvPr id="423" name="Google Shape;423;p50" title="Screenshot 2025-07-09 at 19.45.30.png"/>
          <p:cNvPicPr preferRelativeResize="0"/>
          <p:nvPr/>
        </p:nvPicPr>
        <p:blipFill>
          <a:blip r:embed="rId16">
            <a:alphaModFix/>
          </a:blip>
          <a:stretch>
            <a:fillRect/>
          </a:stretch>
        </p:blipFill>
        <p:spPr>
          <a:xfrm>
            <a:off x="272947" y="2561881"/>
            <a:ext cx="384943" cy="350407"/>
          </a:xfrm>
          <a:prstGeom prst="rect">
            <a:avLst/>
          </a:prstGeom>
          <a:noFill/>
          <a:ln>
            <a:noFill/>
          </a:ln>
        </p:spPr>
      </p:pic>
      <p:sp>
        <p:nvSpPr>
          <p:cNvPr id="424" name="Google Shape;424;p50"/>
          <p:cNvSpPr txBox="1"/>
          <p:nvPr/>
        </p:nvSpPr>
        <p:spPr>
          <a:xfrm>
            <a:off x="679157" y="2983148"/>
            <a:ext cx="2120100" cy="1830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1100">
                <a:solidFill>
                  <a:srgbClr val="00113E"/>
                </a:solidFill>
                <a:latin typeface="Poppins Medium"/>
                <a:ea typeface="Poppins Medium"/>
                <a:cs typeface="Poppins Medium"/>
                <a:sym typeface="Poppins Medium"/>
              </a:rPr>
              <a:t>Wiz Defend Ingestion</a:t>
            </a:r>
            <a:br>
              <a:rPr lang="en" sz="1100">
                <a:solidFill>
                  <a:srgbClr val="00113E"/>
                </a:solidFill>
                <a:latin typeface="Poppins Medium"/>
                <a:ea typeface="Poppins Medium"/>
                <a:cs typeface="Poppins Medium"/>
                <a:sym typeface="Poppins Medium"/>
              </a:rPr>
            </a:br>
            <a:r>
              <a:rPr lang="en" sz="1200">
                <a:solidFill>
                  <a:srgbClr val="38761D"/>
                </a:solidFill>
                <a:latin typeface="Poppins Medium"/>
                <a:ea typeface="Poppins Medium"/>
                <a:cs typeface="Poppins Medium"/>
                <a:sym typeface="Poppins Medium"/>
              </a:rPr>
              <a:t>{{L_DE}} Units</a:t>
            </a:r>
            <a:endParaRPr i="0" sz="1300" u="none" cap="none" strike="noStrike">
              <a:solidFill>
                <a:srgbClr val="38761D"/>
              </a:solidFill>
              <a:latin typeface="Poppins Medium"/>
              <a:ea typeface="Poppins Medium"/>
              <a:cs typeface="Poppins Medium"/>
              <a:sym typeface="Poppins Medium"/>
            </a:endParaRPr>
          </a:p>
        </p:txBody>
      </p:sp>
      <p:pic>
        <p:nvPicPr>
          <p:cNvPr id="425" name="Google Shape;425;p50" title="Screenshot 2025-07-09 at 19.46.40.png"/>
          <p:cNvPicPr preferRelativeResize="0"/>
          <p:nvPr/>
        </p:nvPicPr>
        <p:blipFill>
          <a:blip r:embed="rId17">
            <a:alphaModFix/>
          </a:blip>
          <a:stretch>
            <a:fillRect/>
          </a:stretch>
        </p:blipFill>
        <p:spPr>
          <a:xfrm>
            <a:off x="255150" y="3021601"/>
            <a:ext cx="403070" cy="350407"/>
          </a:xfrm>
          <a:prstGeom prst="rect">
            <a:avLst/>
          </a:prstGeom>
          <a:noFill/>
          <a:ln>
            <a:noFill/>
          </a:ln>
        </p:spPr>
      </p:pic>
      <p:pic>
        <p:nvPicPr>
          <p:cNvPr id="426" name="Google Shape;426;p50" title="Screenshot 2025-07-09 at 19.46.06.png"/>
          <p:cNvPicPr preferRelativeResize="0"/>
          <p:nvPr/>
        </p:nvPicPr>
        <p:blipFill>
          <a:blip r:embed="rId18">
            <a:alphaModFix/>
          </a:blip>
          <a:stretch>
            <a:fillRect/>
          </a:stretch>
        </p:blipFill>
        <p:spPr>
          <a:xfrm>
            <a:off x="277777" y="3455959"/>
            <a:ext cx="385849" cy="345589"/>
          </a:xfrm>
          <a:prstGeom prst="rect">
            <a:avLst/>
          </a:prstGeom>
          <a:noFill/>
          <a:ln>
            <a:noFill/>
          </a:ln>
        </p:spPr>
      </p:pic>
      <p:sp>
        <p:nvSpPr>
          <p:cNvPr id="427" name="Google Shape;427;p50"/>
          <p:cNvSpPr txBox="1"/>
          <p:nvPr/>
        </p:nvSpPr>
        <p:spPr>
          <a:xfrm>
            <a:off x="682719" y="3414189"/>
            <a:ext cx="2120100" cy="183000"/>
          </a:xfrm>
          <a:prstGeom prst="rect">
            <a:avLst/>
          </a:prstGeom>
          <a:noFill/>
          <a:ln>
            <a:noFill/>
          </a:ln>
        </p:spPr>
        <p:txBody>
          <a:bodyPr anchorCtr="0" anchor="t" bIns="27925" lIns="55875" spcFirstLastPara="1" rIns="55875" wrap="square" tIns="27925">
            <a:noAutofit/>
          </a:bodyPr>
          <a:lstStyle/>
          <a:p>
            <a:pPr indent="0" lvl="0" marL="0" marR="0" rtl="0" algn="l">
              <a:lnSpc>
                <a:spcPct val="100000"/>
              </a:lnSpc>
              <a:spcBef>
                <a:spcPts val="0"/>
              </a:spcBef>
              <a:spcAft>
                <a:spcPts val="0"/>
              </a:spcAft>
              <a:buClr>
                <a:srgbClr val="00113E"/>
              </a:buClr>
              <a:buSzPts val="855"/>
              <a:buFont typeface="DM Sans"/>
              <a:buNone/>
            </a:pPr>
            <a:r>
              <a:rPr lang="en" sz="1100">
                <a:solidFill>
                  <a:srgbClr val="00113E"/>
                </a:solidFill>
                <a:latin typeface="Poppins Medium"/>
                <a:ea typeface="Poppins Medium"/>
                <a:cs typeface="Poppins Medium"/>
                <a:sym typeface="Poppins Medium"/>
              </a:rPr>
              <a:t>Wiz Code</a:t>
            </a:r>
            <a:br>
              <a:rPr lang="en" sz="1100">
                <a:solidFill>
                  <a:srgbClr val="00113E"/>
                </a:solidFill>
                <a:latin typeface="Poppins Medium"/>
                <a:ea typeface="Poppins Medium"/>
                <a:cs typeface="Poppins Medium"/>
                <a:sym typeface="Poppins Medium"/>
              </a:rPr>
            </a:br>
            <a:r>
              <a:rPr lang="en" sz="1200">
                <a:solidFill>
                  <a:srgbClr val="38761D"/>
                </a:solidFill>
                <a:latin typeface="Poppins Medium"/>
                <a:ea typeface="Poppins Medium"/>
                <a:cs typeface="Poppins Medium"/>
                <a:sym typeface="Poppins Medium"/>
              </a:rPr>
              <a:t>{{L_CO}} Developers</a:t>
            </a:r>
            <a:endParaRPr i="0" sz="1300" u="none" cap="none" strike="noStrike">
              <a:solidFill>
                <a:srgbClr val="38761D"/>
              </a:solidFill>
              <a:latin typeface="Poppins Medium"/>
              <a:ea typeface="Poppins Medium"/>
              <a:cs typeface="Poppins Medium"/>
              <a:sym typeface="Poppins Medium"/>
            </a:endParaRPr>
          </a:p>
        </p:txBody>
      </p:sp>
      <p:pic>
        <p:nvPicPr>
          <p:cNvPr id="428" name="Google Shape;428;p50"/>
          <p:cNvPicPr preferRelativeResize="0"/>
          <p:nvPr/>
        </p:nvPicPr>
        <p:blipFill>
          <a:blip r:embed="rId4">
            <a:alphaModFix/>
          </a:blip>
          <a:stretch>
            <a:fillRect/>
          </a:stretch>
        </p:blipFill>
        <p:spPr>
          <a:xfrm>
            <a:off x="3330712" y="741100"/>
            <a:ext cx="2838298" cy="1109701"/>
          </a:xfrm>
          <a:prstGeom prst="rect">
            <a:avLst/>
          </a:prstGeom>
          <a:noFill/>
          <a:ln>
            <a:noFill/>
          </a:ln>
        </p:spPr>
      </p:pic>
      <p:sp>
        <p:nvSpPr>
          <p:cNvPr id="429" name="Google Shape;429;p50"/>
          <p:cNvSpPr txBox="1"/>
          <p:nvPr/>
        </p:nvSpPr>
        <p:spPr>
          <a:xfrm>
            <a:off x="3330718" y="746321"/>
            <a:ext cx="2836200" cy="285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a:solidFill>
                  <a:schemeClr val="dk1"/>
                </a:solidFill>
                <a:latin typeface="Poppins"/>
                <a:ea typeface="Poppins"/>
                <a:cs typeface="Poppins"/>
                <a:sym typeface="Poppins"/>
              </a:rPr>
              <a:t>Time With Wiz</a:t>
            </a:r>
            <a:endParaRPr sz="1500">
              <a:solidFill>
                <a:schemeClr val="dk1"/>
              </a:solidFill>
              <a:latin typeface="Poppins"/>
              <a:ea typeface="Poppins"/>
              <a:cs typeface="Poppins"/>
              <a:sym typeface="Poppins"/>
            </a:endParaRPr>
          </a:p>
        </p:txBody>
      </p:sp>
      <p:sp>
        <p:nvSpPr>
          <p:cNvPr id="430" name="Google Shape;430;p50"/>
          <p:cNvSpPr txBox="1"/>
          <p:nvPr/>
        </p:nvSpPr>
        <p:spPr>
          <a:xfrm>
            <a:off x="3469435" y="1262363"/>
            <a:ext cx="2556900" cy="306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431" name="Google Shape;431;p50"/>
          <p:cNvSpPr txBox="1"/>
          <p:nvPr/>
        </p:nvSpPr>
        <p:spPr>
          <a:xfrm>
            <a:off x="3409152" y="1009320"/>
            <a:ext cx="2683500" cy="2607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pic>
        <p:nvPicPr>
          <p:cNvPr id="432" name="Google Shape;432;p50"/>
          <p:cNvPicPr preferRelativeResize="0"/>
          <p:nvPr/>
        </p:nvPicPr>
        <p:blipFill>
          <a:blip r:embed="rId4">
            <a:alphaModFix/>
          </a:blip>
          <a:stretch>
            <a:fillRect/>
          </a:stretch>
        </p:blipFill>
        <p:spPr>
          <a:xfrm>
            <a:off x="3326487" y="1946200"/>
            <a:ext cx="2841001" cy="1880624"/>
          </a:xfrm>
          <a:prstGeom prst="rect">
            <a:avLst/>
          </a:prstGeom>
          <a:noFill/>
          <a:ln>
            <a:noFill/>
          </a:ln>
        </p:spPr>
      </p:pic>
      <p:sp>
        <p:nvSpPr>
          <p:cNvPr id="433" name="Google Shape;433;p50"/>
          <p:cNvSpPr txBox="1"/>
          <p:nvPr/>
        </p:nvSpPr>
        <p:spPr>
          <a:xfrm>
            <a:off x="3326497" y="1999435"/>
            <a:ext cx="2838900" cy="4953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a:solidFill>
                  <a:schemeClr val="dk1"/>
                </a:solidFill>
                <a:latin typeface="Poppins"/>
                <a:ea typeface="Poppins"/>
                <a:cs typeface="Poppins"/>
                <a:sym typeface="Poppins"/>
              </a:rPr>
              <a:t>Kubernetes / Containers</a:t>
            </a:r>
            <a:br>
              <a:rPr lang="en" sz="1500">
                <a:solidFill>
                  <a:schemeClr val="dk1"/>
                </a:solidFill>
                <a:latin typeface="Poppins"/>
                <a:ea typeface="Poppins"/>
                <a:cs typeface="Poppins"/>
                <a:sym typeface="Poppins"/>
              </a:rPr>
            </a:br>
            <a:r>
              <a:rPr lang="en" sz="1500">
                <a:solidFill>
                  <a:schemeClr val="dk1"/>
                </a:solidFill>
                <a:latin typeface="Poppins"/>
                <a:ea typeface="Poppins"/>
                <a:cs typeface="Poppins"/>
                <a:sym typeface="Poppins"/>
              </a:rPr>
              <a:t>&amp; Wiz CLI</a:t>
            </a:r>
            <a:endParaRPr sz="1500">
              <a:solidFill>
                <a:schemeClr val="dk1"/>
              </a:solidFill>
              <a:latin typeface="Poppins"/>
              <a:ea typeface="Poppins"/>
              <a:cs typeface="Poppins"/>
              <a:sym typeface="Poppins"/>
            </a:endParaRPr>
          </a:p>
        </p:txBody>
      </p:sp>
      <p:sp>
        <p:nvSpPr>
          <p:cNvPr id="434" name="Google Shape;434;p50"/>
          <p:cNvSpPr txBox="1"/>
          <p:nvPr/>
        </p:nvSpPr>
        <p:spPr>
          <a:xfrm>
            <a:off x="3430897" y="2858677"/>
            <a:ext cx="2592000" cy="531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435" name="Google Shape;435;p50"/>
          <p:cNvSpPr txBox="1"/>
          <p:nvPr/>
        </p:nvSpPr>
        <p:spPr>
          <a:xfrm>
            <a:off x="3369787" y="2419446"/>
            <a:ext cx="2720400" cy="4524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436" name="Google Shape;436;p50"/>
          <p:cNvSpPr txBox="1"/>
          <p:nvPr/>
        </p:nvSpPr>
        <p:spPr>
          <a:xfrm>
            <a:off x="3462187" y="2526251"/>
            <a:ext cx="1695900" cy="1554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19">
                  <a:extLst>
                    <a:ext uri="{A12FA001-AC4F-418D-AE19-62706E023703}">
                      <ahyp:hlinkClr val="tx"/>
                    </a:ext>
                  </a:extLst>
                </a:hlinkClick>
              </a:rPr>
              <a:t>K8s Clusters</a:t>
            </a:r>
            <a:endParaRPr sz="1000">
              <a:solidFill>
                <a:srgbClr val="333333"/>
              </a:solidFill>
              <a:latin typeface="Poppins"/>
              <a:ea typeface="Poppins"/>
              <a:cs typeface="Poppins"/>
              <a:sym typeface="Poppins"/>
            </a:endParaRPr>
          </a:p>
        </p:txBody>
      </p:sp>
      <p:sp>
        <p:nvSpPr>
          <p:cNvPr id="437" name="Google Shape;437;p50"/>
          <p:cNvSpPr txBox="1"/>
          <p:nvPr/>
        </p:nvSpPr>
        <p:spPr>
          <a:xfrm>
            <a:off x="4948473" y="2526251"/>
            <a:ext cx="1059900" cy="1554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{{K8S}}</a:t>
            </a:r>
            <a:endParaRPr sz="1000">
              <a:solidFill>
                <a:srgbClr val="333333"/>
              </a:solidFill>
              <a:latin typeface="Poppins"/>
              <a:ea typeface="Poppins"/>
              <a:cs typeface="Poppins"/>
              <a:sym typeface="Poppins"/>
            </a:endParaRPr>
          </a:p>
        </p:txBody>
      </p:sp>
      <p:sp>
        <p:nvSpPr>
          <p:cNvPr id="438" name="Google Shape;438;p50"/>
          <p:cNvSpPr txBox="1"/>
          <p:nvPr/>
        </p:nvSpPr>
        <p:spPr>
          <a:xfrm>
            <a:off x="4948473" y="2690526"/>
            <a:ext cx="1059900" cy="1554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{{TI}}</a:t>
            </a:r>
            <a:endParaRPr sz="1000">
              <a:solidFill>
                <a:srgbClr val="333333"/>
              </a:solidFill>
              <a:latin typeface="Poppins"/>
              <a:ea typeface="Poppins"/>
              <a:cs typeface="Poppins"/>
              <a:sym typeface="Poppins"/>
            </a:endParaRPr>
          </a:p>
        </p:txBody>
      </p:sp>
      <p:sp>
        <p:nvSpPr>
          <p:cNvPr id="439" name="Google Shape;439;p50"/>
          <p:cNvSpPr txBox="1"/>
          <p:nvPr/>
        </p:nvSpPr>
        <p:spPr>
          <a:xfrm>
            <a:off x="3326486" y="3108593"/>
            <a:ext cx="2838900" cy="200700"/>
          </a:xfrm>
          <a:prstGeom prst="rect">
            <a:avLst/>
          </a:prstGeom>
          <a:noFill/>
          <a:ln>
            <a:noFill/>
          </a:ln>
        </p:spPr>
        <p:txBody>
          <a:bodyPr anchorCtr="0" anchor="t" bIns="91225" lIns="91225" spcFirstLastPara="1" rIns="91225" wrap="square" tIns="91225">
            <a:noAutofit/>
          </a:bodyPr>
          <a:lstStyle/>
          <a:p>
            <a:pPr indent="0" lvl="0" marL="0" rtl="0" algn="ctr">
              <a:lnSpc>
                <a:spcPct val="150000"/>
              </a:lnSpc>
              <a:spcBef>
                <a:spcPts val="0"/>
              </a:spcBef>
              <a:spcAft>
                <a:spcPts val="0"/>
              </a:spcAft>
              <a:buNone/>
            </a:pPr>
            <a:r>
              <a:rPr lang="en" sz="1100" u="sng">
                <a:solidFill>
                  <a:srgbClr val="0055F5"/>
                </a:solidFill>
                <a:latin typeface="Poppins"/>
                <a:ea typeface="Poppins"/>
                <a:cs typeface="Poppins"/>
                <a:sym typeface="Poppins"/>
                <a:hlinkClick r:id="rId20">
                  <a:extLst>
                    <a:ext uri="{A12FA001-AC4F-418D-AE19-62706E023703}">
                      <ahyp:hlinkClr val="tx"/>
                    </a:ext>
                  </a:extLst>
                </a:hlinkClick>
              </a:rPr>
              <a:t>Wiz CLI SCANS (30d) </a:t>
            </a:r>
            <a:r>
              <a:rPr lang="en">
                <a:solidFill>
                  <a:srgbClr val="0055F5"/>
                </a:solidFill>
                <a:uFill>
                  <a:noFill/>
                </a:uFill>
                <a:latin typeface="Poppins"/>
                <a:ea typeface="Poppins"/>
                <a:cs typeface="Poppins"/>
                <a:sym typeface="Poppins"/>
                <a:hlinkClick r:id="rId21">
                  <a:extLst>
                    <a:ext uri="{A12FA001-AC4F-418D-AE19-62706E023703}">
                      <ahyp:hlinkClr val="tx"/>
                    </a:ext>
                  </a:extLst>
                </a:hlinkClick>
              </a:rPr>
              <a:t>↗</a:t>
            </a:r>
            <a:endParaRPr sz="1100">
              <a:solidFill>
                <a:srgbClr val="333333"/>
              </a:solidFill>
              <a:latin typeface="Poppins"/>
              <a:ea typeface="Poppins"/>
              <a:cs typeface="Poppins"/>
              <a:sym typeface="Poppins"/>
            </a:endParaRPr>
          </a:p>
        </p:txBody>
      </p:sp>
      <p:sp>
        <p:nvSpPr>
          <p:cNvPr id="440" name="Google Shape;440;p50"/>
          <p:cNvSpPr txBox="1"/>
          <p:nvPr/>
        </p:nvSpPr>
        <p:spPr>
          <a:xfrm>
            <a:off x="3326486" y="3373023"/>
            <a:ext cx="2838900" cy="365100"/>
          </a:xfrm>
          <a:prstGeom prst="rect">
            <a:avLst/>
          </a:prstGeom>
          <a:noFill/>
          <a:ln>
            <a:noFill/>
          </a:ln>
        </p:spPr>
        <p:txBody>
          <a:bodyPr anchorCtr="0" anchor="t" bIns="91225" lIns="91225" spcFirstLastPara="1" rIns="91225" wrap="square" tIns="91225">
            <a:noAutofit/>
          </a:bodyPr>
          <a:lstStyle/>
          <a:p>
            <a:pPr indent="0" lvl="0" marL="0" rtl="0" algn="ctr">
              <a:lnSpc>
                <a:spcPct val="150000"/>
              </a:lnSpc>
              <a:spcBef>
                <a:spcPts val="0"/>
              </a:spcBef>
              <a:spcAft>
                <a:spcPts val="0"/>
              </a:spcAft>
              <a:buNone/>
            </a:pPr>
            <a:r>
              <a:rPr lang="en" sz="2000">
                <a:solidFill>
                  <a:srgbClr val="333333"/>
                </a:solidFill>
                <a:latin typeface="Poppins"/>
                <a:ea typeface="Poppins"/>
                <a:cs typeface="Poppins"/>
                <a:sym typeface="Poppins"/>
              </a:rPr>
              <a:t>{{CLI}}</a:t>
            </a:r>
            <a:endParaRPr sz="2000">
              <a:solidFill>
                <a:srgbClr val="333333"/>
              </a:solidFill>
              <a:latin typeface="Poppins"/>
              <a:ea typeface="Poppins"/>
              <a:cs typeface="Poppins"/>
              <a:sym typeface="Poppins"/>
            </a:endParaRPr>
          </a:p>
        </p:txBody>
      </p:sp>
      <p:sp>
        <p:nvSpPr>
          <p:cNvPr id="441" name="Google Shape;441;p50"/>
          <p:cNvSpPr txBox="1"/>
          <p:nvPr/>
        </p:nvSpPr>
        <p:spPr>
          <a:xfrm>
            <a:off x="3465707" y="2854294"/>
            <a:ext cx="1695900" cy="1554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22">
                  <a:extLst>
                    <a:ext uri="{A12FA001-AC4F-418D-AE19-62706E023703}">
                      <ahyp:hlinkClr val="tx"/>
                    </a:ext>
                  </a:extLst>
                </a:hlinkClick>
              </a:rPr>
              <a:t>Container Registries</a:t>
            </a:r>
            <a:endParaRPr sz="1000">
              <a:solidFill>
                <a:srgbClr val="333333"/>
              </a:solidFill>
              <a:latin typeface="Poppins"/>
              <a:ea typeface="Poppins"/>
              <a:cs typeface="Poppins"/>
              <a:sym typeface="Poppins"/>
            </a:endParaRPr>
          </a:p>
        </p:txBody>
      </p:sp>
      <p:sp>
        <p:nvSpPr>
          <p:cNvPr id="442" name="Google Shape;442;p50"/>
          <p:cNvSpPr txBox="1"/>
          <p:nvPr/>
        </p:nvSpPr>
        <p:spPr>
          <a:xfrm>
            <a:off x="4951992" y="2854294"/>
            <a:ext cx="1059900" cy="1554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1000">
                <a:solidFill>
                  <a:srgbClr val="333333"/>
                </a:solidFill>
                <a:latin typeface="Poppins"/>
                <a:ea typeface="Poppins"/>
                <a:cs typeface="Poppins"/>
                <a:sym typeface="Poppins"/>
              </a:rPr>
              <a:t>{{R_TOT}}</a:t>
            </a:r>
            <a:endParaRPr sz="1000">
              <a:solidFill>
                <a:srgbClr val="333333"/>
              </a:solidFill>
              <a:latin typeface="Poppins"/>
              <a:ea typeface="Poppins"/>
              <a:cs typeface="Poppins"/>
              <a:sym typeface="Poppins"/>
            </a:endParaRPr>
          </a:p>
        </p:txBody>
      </p:sp>
      <p:sp>
        <p:nvSpPr>
          <p:cNvPr id="443" name="Google Shape;443;p50"/>
          <p:cNvSpPr txBox="1"/>
          <p:nvPr/>
        </p:nvSpPr>
        <p:spPr>
          <a:xfrm>
            <a:off x="3452987" y="2689853"/>
            <a:ext cx="1784700" cy="1554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1000" u="sng">
                <a:solidFill>
                  <a:srgbClr val="0055F5"/>
                </a:solidFill>
                <a:latin typeface="Poppins"/>
                <a:ea typeface="Poppins"/>
                <a:cs typeface="Poppins"/>
                <a:sym typeface="Poppins"/>
                <a:hlinkClick r:id="rId23">
                  <a:extLst>
                    <a:ext uri="{A12FA001-AC4F-418D-AE19-62706E023703}">
                      <ahyp:hlinkClr val="tx"/>
                    </a:ext>
                  </a:extLst>
                </a:hlinkClick>
              </a:rPr>
              <a:t>Container Images</a:t>
            </a:r>
            <a:endParaRPr sz="1000">
              <a:solidFill>
                <a:srgbClr val="333333"/>
              </a:solidFill>
              <a:latin typeface="Poppins"/>
              <a:ea typeface="Poppins"/>
              <a:cs typeface="Poppins"/>
              <a:sym typeface="Poppins"/>
            </a:endParaRPr>
          </a:p>
        </p:txBody>
      </p:sp>
      <p:sp>
        <p:nvSpPr>
          <p:cNvPr id="444" name="Google Shape;444;p50"/>
          <p:cNvSpPr txBox="1"/>
          <p:nvPr/>
        </p:nvSpPr>
        <p:spPr>
          <a:xfrm>
            <a:off x="1878571" y="1431799"/>
            <a:ext cx="1225800" cy="1109700"/>
          </a:xfrm>
          <a:prstGeom prst="rect">
            <a:avLst/>
          </a:prstGeom>
          <a:noFill/>
          <a:ln>
            <a:noFill/>
          </a:ln>
        </p:spPr>
        <p:txBody>
          <a:bodyPr anchorCtr="0" anchor="ctr" bIns="91225" lIns="91225" spcFirstLastPara="1" rIns="91225" wrap="square" tIns="91225">
            <a:noAutofit/>
          </a:bodyPr>
          <a:lstStyle/>
          <a:p>
            <a:pPr indent="0" lvl="0" marL="0" rtl="0" algn="r">
              <a:lnSpc>
                <a:spcPct val="115000"/>
              </a:lnSpc>
              <a:spcBef>
                <a:spcPts val="0"/>
              </a:spcBef>
              <a:spcAft>
                <a:spcPts val="0"/>
              </a:spcAft>
              <a:buNone/>
            </a:pPr>
            <a:r>
              <a:rPr lang="en" sz="800">
                <a:solidFill>
                  <a:srgbClr val="333333"/>
                </a:solidFill>
                <a:latin typeface="Poppins"/>
                <a:ea typeface="Poppins"/>
                <a:cs typeface="Poppins"/>
                <a:sym typeface="Poppins"/>
              </a:rPr>
              <a:t>{{CL_CP}}%</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{{CL_DP}}%</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{{CL_NRVP}}%</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{{CL_WOP}}%</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{{CL_UVMP}}%</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{{CL_ASMP}}%</a:t>
            </a:r>
            <a:endParaRPr sz="800">
              <a:solidFill>
                <a:srgbClr val="333333"/>
              </a:solidFill>
              <a:latin typeface="Poppins"/>
              <a:ea typeface="Poppins"/>
              <a:cs typeface="Poppins"/>
              <a:sym typeface="Poppins"/>
            </a:endParaRPr>
          </a:p>
          <a:p>
            <a:pPr indent="0" lvl="0" marL="0" rtl="0" algn="r">
              <a:lnSpc>
                <a:spcPct val="115000"/>
              </a:lnSpc>
              <a:spcBef>
                <a:spcPts val="0"/>
              </a:spcBef>
              <a:spcAft>
                <a:spcPts val="0"/>
              </a:spcAft>
              <a:buNone/>
            </a:pPr>
            <a:r>
              <a:rPr lang="en" sz="800">
                <a:solidFill>
                  <a:srgbClr val="333333"/>
                </a:solidFill>
                <a:latin typeface="Poppins"/>
                <a:ea typeface="Poppins"/>
                <a:cs typeface="Poppins"/>
                <a:sym typeface="Poppins"/>
              </a:rPr>
              <a:t>{{CL_REDA}}%</a:t>
            </a:r>
            <a:br>
              <a:rPr lang="en" sz="8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{{CL_SUP}}%</a:t>
            </a:r>
            <a:endParaRPr sz="800">
              <a:solidFill>
                <a:srgbClr val="333333"/>
              </a:solidFill>
              <a:latin typeface="Poppins"/>
              <a:ea typeface="Poppins"/>
              <a:cs typeface="Poppins"/>
              <a:sym typeface="Poppins"/>
            </a:endParaRPr>
          </a:p>
        </p:txBody>
      </p:sp>
      <p:sp>
        <p:nvSpPr>
          <p:cNvPr id="445" name="Google Shape;445;p50"/>
          <p:cNvSpPr txBox="1"/>
          <p:nvPr/>
        </p:nvSpPr>
        <p:spPr>
          <a:xfrm>
            <a:off x="3454675" y="1225999"/>
            <a:ext cx="2528700" cy="33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lang="en" sz="1000">
                <a:solidFill>
                  <a:schemeClr val="dk1"/>
                </a:solidFill>
                <a:latin typeface="Poppins Light"/>
                <a:ea typeface="Poppins Light"/>
                <a:cs typeface="Poppins Light"/>
                <a:sym typeface="Poppins Light"/>
              </a:rPr>
              <a:t>Current Contract End</a:t>
            </a:r>
            <a:br>
              <a:rPr lang="en" sz="1000">
                <a:solidFill>
                  <a:schemeClr val="dk1"/>
                </a:solidFill>
                <a:latin typeface="Poppins Light"/>
                <a:ea typeface="Poppins Light"/>
                <a:cs typeface="Poppins Light"/>
                <a:sym typeface="Poppins Light"/>
              </a:rPr>
            </a:br>
            <a:r>
              <a:rPr lang="en" sz="1000">
                <a:solidFill>
                  <a:schemeClr val="dk1"/>
                </a:solidFill>
                <a:latin typeface="Poppins Light"/>
                <a:ea typeface="Poppins Light"/>
                <a:cs typeface="Poppins Light"/>
                <a:sym typeface="Poppins Light"/>
              </a:rPr>
              <a:t>{{CONTRACT_END_FMT}}</a:t>
            </a:r>
            <a:endParaRPr sz="1000">
              <a:solidFill>
                <a:schemeClr val="dk1"/>
              </a:solidFill>
              <a:latin typeface="Poppins Light"/>
              <a:ea typeface="Poppins Light"/>
              <a:cs typeface="Poppins Light"/>
              <a:sym typeface="Poppins Light"/>
            </a:endParaRPr>
          </a:p>
        </p:txBody>
      </p:sp>
      <p:sp>
        <p:nvSpPr>
          <p:cNvPr id="446" name="Google Shape;446;p50"/>
          <p:cNvSpPr txBox="1"/>
          <p:nvPr/>
        </p:nvSpPr>
        <p:spPr>
          <a:xfrm>
            <a:off x="3425922" y="1045440"/>
            <a:ext cx="2683500" cy="285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100">
                <a:solidFill>
                  <a:srgbClr val="1155CC"/>
                </a:solidFill>
                <a:latin typeface="Poppins SemiBold"/>
                <a:ea typeface="Poppins SemiBold"/>
                <a:cs typeface="Poppins SemiBold"/>
                <a:sym typeface="Poppins SemiBold"/>
              </a:rPr>
              <a:t>{{CUS_NOD}} Days as Wiz Customer</a:t>
            </a:r>
            <a:endParaRPr sz="1100">
              <a:solidFill>
                <a:srgbClr val="1155CC"/>
              </a:solidFill>
              <a:latin typeface="Poppins SemiBold"/>
              <a:ea typeface="Poppins SemiBold"/>
              <a:cs typeface="Poppins SemiBold"/>
              <a:sym typeface="Poppins SemiBold"/>
            </a:endParaRPr>
          </a:p>
        </p:txBody>
      </p:sp>
      <p:sp>
        <p:nvSpPr>
          <p:cNvPr id="447" name="Google Shape;447;p50"/>
          <p:cNvSpPr txBox="1"/>
          <p:nvPr/>
        </p:nvSpPr>
        <p:spPr>
          <a:xfrm>
            <a:off x="3463158" y="1576458"/>
            <a:ext cx="27123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Light"/>
                <a:ea typeface="Poppins Light"/>
                <a:cs typeface="Poppins Light"/>
                <a:sym typeface="Poppins Light"/>
              </a:rPr>
              <a:t>{{D_U_R}} Days Until Renewal</a:t>
            </a:r>
            <a:endParaRPr sz="1000">
              <a:solidFill>
                <a:schemeClr val="dk1"/>
              </a:solidFill>
              <a:latin typeface="Poppins Light"/>
              <a:ea typeface="Poppins Light"/>
              <a:cs typeface="Poppins Light"/>
              <a:sym typeface="Poppins Light"/>
            </a:endParaRPr>
          </a:p>
        </p:txBody>
      </p:sp>
      <p:pic>
        <p:nvPicPr>
          <p:cNvPr id="448" name="Google Shape;448;p50"/>
          <p:cNvPicPr preferRelativeResize="0"/>
          <p:nvPr/>
        </p:nvPicPr>
        <p:blipFill>
          <a:blip r:embed="rId24">
            <a:alphaModFix/>
          </a:blip>
          <a:stretch>
            <a:fillRect/>
          </a:stretch>
        </p:blipFill>
        <p:spPr>
          <a:xfrm>
            <a:off x="292006" y="1115642"/>
            <a:ext cx="338329" cy="317364"/>
          </a:xfrm>
          <a:prstGeom prst="rect">
            <a:avLst/>
          </a:prstGeom>
          <a:noFill/>
          <a:ln>
            <a:noFill/>
          </a:ln>
        </p:spPr>
      </p:pic>
      <p:pic>
        <p:nvPicPr>
          <p:cNvPr id="449" name="Google Shape;449;p50"/>
          <p:cNvPicPr preferRelativeResize="0"/>
          <p:nvPr/>
        </p:nvPicPr>
        <p:blipFill>
          <a:blip r:embed="rId4">
            <a:alphaModFix/>
          </a:blip>
          <a:stretch>
            <a:fillRect/>
          </a:stretch>
        </p:blipFill>
        <p:spPr>
          <a:xfrm>
            <a:off x="3329162" y="3917300"/>
            <a:ext cx="2855142" cy="1147900"/>
          </a:xfrm>
          <a:prstGeom prst="rect">
            <a:avLst/>
          </a:prstGeom>
          <a:noFill/>
          <a:ln>
            <a:noFill/>
          </a:ln>
        </p:spPr>
      </p:pic>
      <p:sp>
        <p:nvSpPr>
          <p:cNvPr id="450" name="Google Shape;450;p50"/>
          <p:cNvSpPr txBox="1"/>
          <p:nvPr/>
        </p:nvSpPr>
        <p:spPr>
          <a:xfrm>
            <a:off x="3329166" y="3934422"/>
            <a:ext cx="2855100" cy="3120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rgbClr val="595959"/>
              </a:buClr>
              <a:buSzPts val="1500"/>
              <a:buFont typeface="Arial"/>
              <a:buNone/>
            </a:pPr>
            <a:r>
              <a:rPr lang="en" sz="1500" u="sng">
                <a:solidFill>
                  <a:srgbClr val="0254EC"/>
                </a:solidFill>
                <a:latin typeface="Poppins Medium"/>
                <a:ea typeface="Poppins Medium"/>
                <a:cs typeface="Poppins Medium"/>
                <a:sym typeface="Poppins Medium"/>
                <a:hlinkClick r:id="rId25">
                  <a:extLst>
                    <a:ext uri="{A12FA001-AC4F-418D-AE19-62706E023703}">
                      <ahyp:hlinkClr val="tx"/>
                    </a:ext>
                  </a:extLst>
                </a:hlinkClick>
              </a:rPr>
              <a:t>Unscanned Resources </a:t>
            </a:r>
            <a:r>
              <a:rPr lang="en" sz="1500">
                <a:solidFill>
                  <a:srgbClr val="0254EC"/>
                </a:solidFill>
                <a:uFill>
                  <a:noFill/>
                </a:uFill>
                <a:latin typeface="Poppins Medium"/>
                <a:ea typeface="Poppins Medium"/>
                <a:cs typeface="Poppins Medium"/>
                <a:sym typeface="Poppins Medium"/>
                <a:hlinkClick r:id="rId26">
                  <a:extLst>
                    <a:ext uri="{A12FA001-AC4F-418D-AE19-62706E023703}">
                      <ahyp:hlinkClr val="tx"/>
                    </a:ext>
                  </a:extLst>
                </a:hlinkClick>
              </a:rPr>
              <a:t>↗</a:t>
            </a:r>
            <a:endParaRPr sz="1500">
              <a:solidFill>
                <a:srgbClr val="0254EC"/>
              </a:solidFill>
              <a:latin typeface="Poppins Medium"/>
              <a:ea typeface="Poppins Medium"/>
              <a:cs typeface="Poppins Medium"/>
              <a:sym typeface="Poppins Medium"/>
            </a:endParaRPr>
          </a:p>
        </p:txBody>
      </p:sp>
      <p:sp>
        <p:nvSpPr>
          <p:cNvPr id="451" name="Google Shape;451;p50"/>
          <p:cNvSpPr txBox="1"/>
          <p:nvPr/>
        </p:nvSpPr>
        <p:spPr>
          <a:xfrm>
            <a:off x="3382037" y="4503637"/>
            <a:ext cx="3322800" cy="3444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452" name="Google Shape;452;p50"/>
          <p:cNvSpPr txBox="1"/>
          <p:nvPr/>
        </p:nvSpPr>
        <p:spPr>
          <a:xfrm>
            <a:off x="3329174" y="4264402"/>
            <a:ext cx="2855100" cy="779400"/>
          </a:xfrm>
          <a:prstGeom prst="rect">
            <a:avLst/>
          </a:prstGeom>
          <a:noFill/>
          <a:ln>
            <a:noFill/>
          </a:ln>
        </p:spPr>
        <p:txBody>
          <a:bodyPr anchorCtr="0" anchor="t" bIns="92600" lIns="92600" spcFirstLastPara="1" rIns="92600" wrap="square" tIns="92600">
            <a:noAutofit/>
          </a:bodyPr>
          <a:lstStyle/>
          <a:p>
            <a:pPr indent="0" lvl="0" marL="0" rtl="0" algn="ctr">
              <a:lnSpc>
                <a:spcPct val="115000"/>
              </a:lnSpc>
              <a:spcBef>
                <a:spcPts val="0"/>
              </a:spcBef>
              <a:spcAft>
                <a:spcPts val="0"/>
              </a:spcAft>
              <a:buNone/>
            </a:pPr>
            <a:r>
              <a:rPr lang="en" sz="1200">
                <a:solidFill>
                  <a:srgbClr val="333333"/>
                </a:solidFill>
                <a:latin typeface="Poppins"/>
                <a:ea typeface="Poppins"/>
                <a:cs typeface="Poppins"/>
                <a:sym typeface="Poppins"/>
              </a:rPr>
              <a:t>{{U_RES}}</a:t>
            </a:r>
            <a:r>
              <a:rPr lang="en" sz="1200">
                <a:solidFill>
                  <a:srgbClr val="333333"/>
                </a:solidFill>
                <a:latin typeface="Poppins"/>
                <a:ea typeface="Poppins"/>
                <a:cs typeface="Poppins"/>
                <a:sym typeface="Poppins"/>
              </a:rPr>
              <a:t> Unscanned Resources</a:t>
            </a:r>
            <a:br>
              <a:rPr lang="en" sz="1200">
                <a:solidFill>
                  <a:srgbClr val="333333"/>
                </a:solidFill>
                <a:latin typeface="Poppins"/>
                <a:ea typeface="Poppins"/>
                <a:cs typeface="Poppins"/>
                <a:sym typeface="Poppins"/>
              </a:rPr>
            </a:br>
            <a:r>
              <a:rPr lang="en" sz="800">
                <a:solidFill>
                  <a:srgbClr val="333333"/>
                </a:solidFill>
                <a:latin typeface="Poppins"/>
                <a:ea typeface="Poppins"/>
                <a:cs typeface="Poppins"/>
                <a:sym typeface="Poppins"/>
              </a:rPr>
              <a:t>Cloud Organizations, Code Repositories &amp; Subscriptions</a:t>
            </a:r>
            <a:endParaRPr sz="800">
              <a:solidFill>
                <a:srgbClr val="333333"/>
              </a:solidFill>
              <a:latin typeface="Poppins"/>
              <a:ea typeface="Poppins"/>
              <a:cs typeface="Poppins"/>
              <a:sym typeface="Poppins"/>
            </a:endParaRPr>
          </a:p>
        </p:txBody>
      </p:sp>
      <p:pic>
        <p:nvPicPr>
          <p:cNvPr id="453" name="Google Shape;453;p50"/>
          <p:cNvPicPr preferRelativeResize="0"/>
          <p:nvPr/>
        </p:nvPicPr>
        <p:blipFill>
          <a:blip r:embed="rId4">
            <a:alphaModFix/>
          </a:blip>
          <a:stretch>
            <a:fillRect/>
          </a:stretch>
        </p:blipFill>
        <p:spPr>
          <a:xfrm>
            <a:off x="204325" y="3917300"/>
            <a:ext cx="2843100" cy="1147900"/>
          </a:xfrm>
          <a:prstGeom prst="rect">
            <a:avLst/>
          </a:prstGeom>
          <a:noFill/>
          <a:ln>
            <a:noFill/>
          </a:ln>
        </p:spPr>
      </p:pic>
      <p:sp>
        <p:nvSpPr>
          <p:cNvPr id="454" name="Google Shape;454;p50"/>
          <p:cNvSpPr txBox="1"/>
          <p:nvPr/>
        </p:nvSpPr>
        <p:spPr>
          <a:xfrm>
            <a:off x="204325" y="3933957"/>
            <a:ext cx="2841000" cy="335400"/>
          </a:xfrm>
          <a:prstGeom prst="rect">
            <a:avLst/>
          </a:prstGeom>
          <a:noFill/>
          <a:ln>
            <a:noFill/>
          </a:ln>
        </p:spPr>
        <p:txBody>
          <a:bodyPr anchorCtr="0" anchor="ctr"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500" u="sng">
                <a:solidFill>
                  <a:srgbClr val="1A56DB"/>
                </a:solidFill>
                <a:latin typeface="Poppins Medium"/>
                <a:ea typeface="Poppins Medium"/>
                <a:cs typeface="Poppins Medium"/>
                <a:sym typeface="Poppins Medium"/>
                <a:hlinkClick r:id="rId27">
                  <a:extLst>
                    <a:ext uri="{A12FA001-AC4F-418D-AE19-62706E023703}">
                      <ahyp:hlinkClr val="tx"/>
                    </a:ext>
                  </a:extLst>
                </a:hlinkClick>
              </a:rPr>
              <a:t>Red Agent Scans</a:t>
            </a:r>
            <a:r>
              <a:rPr lang="en" sz="1500">
                <a:solidFill>
                  <a:srgbClr val="1A56DB"/>
                </a:solidFill>
                <a:latin typeface="Poppins Medium"/>
                <a:ea typeface="Poppins Medium"/>
                <a:cs typeface="Poppins Medium"/>
                <a:sym typeface="Poppins Medium"/>
              </a:rPr>
              <a:t> </a:t>
            </a:r>
            <a:r>
              <a:rPr lang="en" sz="1500">
                <a:solidFill>
                  <a:srgbClr val="0254EC"/>
                </a:solidFill>
                <a:uFill>
                  <a:noFill/>
                </a:uFill>
                <a:latin typeface="Poppins Medium"/>
                <a:ea typeface="Poppins Medium"/>
                <a:cs typeface="Poppins Medium"/>
                <a:sym typeface="Poppins Medium"/>
                <a:hlinkClick r:id="rId28">
                  <a:extLst>
                    <a:ext uri="{A12FA001-AC4F-418D-AE19-62706E023703}">
                      <ahyp:hlinkClr val="tx"/>
                    </a:ext>
                  </a:extLst>
                </a:hlinkClick>
              </a:rPr>
              <a:t>↗</a:t>
            </a:r>
            <a:endParaRPr sz="1500">
              <a:solidFill>
                <a:srgbClr val="1A56DB"/>
              </a:solidFill>
              <a:latin typeface="Poppins Medium"/>
              <a:ea typeface="Poppins Medium"/>
              <a:cs typeface="Poppins Medium"/>
              <a:sym typeface="Poppins Medium"/>
            </a:endParaRPr>
          </a:p>
        </p:txBody>
      </p:sp>
      <p:sp>
        <p:nvSpPr>
          <p:cNvPr id="455" name="Google Shape;455;p50"/>
          <p:cNvSpPr txBox="1"/>
          <p:nvPr/>
        </p:nvSpPr>
        <p:spPr>
          <a:xfrm>
            <a:off x="308813" y="4441026"/>
            <a:ext cx="2593800" cy="307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t/>
            </a:r>
            <a:endParaRPr sz="900">
              <a:solidFill>
                <a:schemeClr val="dk1"/>
              </a:solidFill>
              <a:latin typeface="Poppins Light"/>
              <a:ea typeface="Poppins Light"/>
              <a:cs typeface="Poppins Light"/>
              <a:sym typeface="Poppins Light"/>
            </a:endParaRPr>
          </a:p>
        </p:txBody>
      </p:sp>
      <p:sp>
        <p:nvSpPr>
          <p:cNvPr id="456" name="Google Shape;456;p50"/>
          <p:cNvSpPr txBox="1"/>
          <p:nvPr/>
        </p:nvSpPr>
        <p:spPr>
          <a:xfrm>
            <a:off x="247658" y="4186789"/>
            <a:ext cx="2722500" cy="2619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sz="2100">
              <a:solidFill>
                <a:srgbClr val="1155CC"/>
              </a:solidFill>
              <a:latin typeface="Poppins SemiBold"/>
              <a:ea typeface="Poppins SemiBold"/>
              <a:cs typeface="Poppins SemiBold"/>
              <a:sym typeface="Poppins SemiBold"/>
            </a:endParaRPr>
          </a:p>
        </p:txBody>
      </p:sp>
      <p:sp>
        <p:nvSpPr>
          <p:cNvPr id="457" name="Google Shape;457;p50"/>
          <p:cNvSpPr txBox="1"/>
          <p:nvPr/>
        </p:nvSpPr>
        <p:spPr>
          <a:xfrm>
            <a:off x="213695" y="4210150"/>
            <a:ext cx="2838300" cy="2010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900">
                <a:solidFill>
                  <a:srgbClr val="333333"/>
                </a:solidFill>
                <a:latin typeface="Poppins Medium"/>
                <a:ea typeface="Poppins Medium"/>
                <a:cs typeface="Poppins Medium"/>
                <a:sym typeface="Poppins Medium"/>
              </a:rPr>
              <a:t>DAST Attacker</a:t>
            </a:r>
            <a:r>
              <a:rPr lang="en" sz="900">
                <a:solidFill>
                  <a:srgbClr val="333333"/>
                </a:solidFill>
                <a:latin typeface="Poppins Medium"/>
                <a:ea typeface="Poppins Medium"/>
                <a:cs typeface="Poppins Medium"/>
                <a:sym typeface="Poppins Medium"/>
              </a:rPr>
              <a:t>: {{RA_DAST}}</a:t>
            </a:r>
            <a:endParaRPr sz="900">
              <a:solidFill>
                <a:srgbClr val="333333"/>
              </a:solidFill>
              <a:latin typeface="Poppins Medium"/>
              <a:ea typeface="Poppins Medium"/>
              <a:cs typeface="Poppins Medium"/>
              <a:sym typeface="Poppins Medium"/>
            </a:endParaRPr>
          </a:p>
        </p:txBody>
      </p:sp>
      <p:sp>
        <p:nvSpPr>
          <p:cNvPr id="458" name="Google Shape;458;p50"/>
          <p:cNvSpPr txBox="1"/>
          <p:nvPr/>
        </p:nvSpPr>
        <p:spPr>
          <a:xfrm>
            <a:off x="213211" y="4405425"/>
            <a:ext cx="2838300" cy="2010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900">
                <a:solidFill>
                  <a:srgbClr val="333333"/>
                </a:solidFill>
                <a:latin typeface="Poppins Medium"/>
                <a:ea typeface="Poppins Medium"/>
                <a:cs typeface="Poppins Medium"/>
                <a:sym typeface="Poppins Medium"/>
              </a:rPr>
              <a:t>Web Crawler</a:t>
            </a:r>
            <a:r>
              <a:rPr lang="en" sz="900">
                <a:solidFill>
                  <a:srgbClr val="333333"/>
                </a:solidFill>
                <a:latin typeface="Poppins Medium"/>
                <a:ea typeface="Poppins Medium"/>
                <a:cs typeface="Poppins Medium"/>
                <a:sym typeface="Poppins Medium"/>
              </a:rPr>
              <a:t>: {{RA_WC}}</a:t>
            </a:r>
            <a:endParaRPr sz="900">
              <a:solidFill>
                <a:srgbClr val="333333"/>
              </a:solidFill>
              <a:latin typeface="Poppins Medium"/>
              <a:ea typeface="Poppins Medium"/>
              <a:cs typeface="Poppins Medium"/>
              <a:sym typeface="Poppins Medium"/>
            </a:endParaRPr>
          </a:p>
        </p:txBody>
      </p:sp>
      <p:sp>
        <p:nvSpPr>
          <p:cNvPr id="459" name="Google Shape;459;p50"/>
          <p:cNvSpPr txBox="1"/>
          <p:nvPr/>
        </p:nvSpPr>
        <p:spPr>
          <a:xfrm>
            <a:off x="213050" y="4600700"/>
            <a:ext cx="2838300" cy="2010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900">
                <a:solidFill>
                  <a:srgbClr val="333333"/>
                </a:solidFill>
                <a:latin typeface="Poppins Medium"/>
                <a:ea typeface="Poppins Medium"/>
                <a:cs typeface="Poppins Medium"/>
                <a:sym typeface="Poppins Medium"/>
              </a:rPr>
              <a:t>Secret Impact:</a:t>
            </a:r>
            <a:r>
              <a:rPr lang="en" sz="900">
                <a:solidFill>
                  <a:srgbClr val="333333"/>
                </a:solidFill>
                <a:latin typeface="Poppins Medium"/>
                <a:ea typeface="Poppins Medium"/>
                <a:cs typeface="Poppins Medium"/>
                <a:sym typeface="Poppins Medium"/>
              </a:rPr>
              <a:t> {{RA_SI}}</a:t>
            </a:r>
            <a:endParaRPr sz="900">
              <a:solidFill>
                <a:srgbClr val="333333"/>
              </a:solidFill>
              <a:latin typeface="Poppins Medium"/>
              <a:ea typeface="Poppins Medium"/>
              <a:cs typeface="Poppins Medium"/>
              <a:sym typeface="Poppins Medium"/>
            </a:endParaRPr>
          </a:p>
        </p:txBody>
      </p:sp>
      <p:sp>
        <p:nvSpPr>
          <p:cNvPr id="460" name="Google Shape;460;p50"/>
          <p:cNvSpPr txBox="1"/>
          <p:nvPr/>
        </p:nvSpPr>
        <p:spPr>
          <a:xfrm>
            <a:off x="202164" y="4790781"/>
            <a:ext cx="2838300" cy="201000"/>
          </a:xfrm>
          <a:prstGeom prst="rect">
            <a:avLst/>
          </a:prstGeom>
          <a:noFill/>
          <a:ln>
            <a:noFill/>
          </a:ln>
        </p:spPr>
        <p:txBody>
          <a:bodyPr anchorCtr="0" anchor="t" bIns="91250" lIns="91250" spcFirstLastPara="1" rIns="91250" wrap="square" tIns="91250">
            <a:noAutofit/>
          </a:bodyPr>
          <a:lstStyle/>
          <a:p>
            <a:pPr indent="0" lvl="0" marL="0" rtl="0" algn="ctr">
              <a:lnSpc>
                <a:spcPct val="150000"/>
              </a:lnSpc>
              <a:spcBef>
                <a:spcPts val="0"/>
              </a:spcBef>
              <a:spcAft>
                <a:spcPts val="0"/>
              </a:spcAft>
              <a:buNone/>
            </a:pPr>
            <a:r>
              <a:rPr lang="en" sz="1100">
                <a:solidFill>
                  <a:srgbClr val="333333"/>
                </a:solidFill>
                <a:latin typeface="Poppins Medium"/>
                <a:ea typeface="Poppins Medium"/>
                <a:cs typeface="Poppins Medium"/>
                <a:sym typeface="Poppins Medium"/>
              </a:rPr>
              <a:t>Total Monthly Scans: {{RA_TOTS}}</a:t>
            </a:r>
            <a:endParaRPr sz="1100">
              <a:solidFill>
                <a:srgbClr val="333333"/>
              </a:solidFill>
              <a:latin typeface="Poppins Medium"/>
              <a:ea typeface="Poppins Medium"/>
              <a:cs typeface="Poppins Medium"/>
              <a:sym typeface="Poppins Medium"/>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pic>
        <p:nvPicPr>
          <p:cNvPr id="466" name="Google Shape;466;p51" title="Rectangle 7854.png"/>
          <p:cNvPicPr preferRelativeResize="0"/>
          <p:nvPr/>
        </p:nvPicPr>
        <p:blipFill>
          <a:blip r:embed="rId3">
            <a:alphaModFix/>
          </a:blip>
          <a:stretch>
            <a:fillRect/>
          </a:stretch>
        </p:blipFill>
        <p:spPr>
          <a:xfrm>
            <a:off x="3237298" y="1837850"/>
            <a:ext cx="2669404" cy="3050125"/>
          </a:xfrm>
          <a:prstGeom prst="rect">
            <a:avLst/>
          </a:prstGeom>
          <a:noFill/>
          <a:ln>
            <a:noFill/>
          </a:ln>
        </p:spPr>
      </p:pic>
      <p:pic>
        <p:nvPicPr>
          <p:cNvPr id="467" name="Google Shape;467;p51" title="Rectangle 7854.png"/>
          <p:cNvPicPr preferRelativeResize="0"/>
          <p:nvPr/>
        </p:nvPicPr>
        <p:blipFill>
          <a:blip r:embed="rId3">
            <a:alphaModFix/>
          </a:blip>
          <a:stretch>
            <a:fillRect/>
          </a:stretch>
        </p:blipFill>
        <p:spPr>
          <a:xfrm>
            <a:off x="357125" y="1837850"/>
            <a:ext cx="2669404" cy="3050125"/>
          </a:xfrm>
          <a:prstGeom prst="rect">
            <a:avLst/>
          </a:prstGeom>
          <a:noFill/>
          <a:ln>
            <a:noFill/>
          </a:ln>
        </p:spPr>
      </p:pic>
      <p:cxnSp>
        <p:nvCxnSpPr>
          <p:cNvPr id="468" name="Google Shape;468;p51"/>
          <p:cNvCxnSpPr/>
          <p:nvPr/>
        </p:nvCxnSpPr>
        <p:spPr>
          <a:xfrm>
            <a:off x="630575" y="3063399"/>
            <a:ext cx="2122500" cy="0"/>
          </a:xfrm>
          <a:prstGeom prst="straightConnector1">
            <a:avLst/>
          </a:prstGeom>
          <a:noFill/>
          <a:ln cap="flat" cmpd="sng" w="9525">
            <a:solidFill>
              <a:srgbClr val="0254EC"/>
            </a:solidFill>
            <a:prstDash val="solid"/>
            <a:round/>
            <a:headEnd len="med" w="med" type="none"/>
            <a:tailEnd len="med" w="med" type="none"/>
          </a:ln>
        </p:spPr>
      </p:cxnSp>
      <p:sp>
        <p:nvSpPr>
          <p:cNvPr id="469" name="Google Shape;469;p51"/>
          <p:cNvSpPr txBox="1"/>
          <p:nvPr/>
        </p:nvSpPr>
        <p:spPr>
          <a:xfrm>
            <a:off x="357125" y="3164537"/>
            <a:ext cx="2641800" cy="1539900"/>
          </a:xfrm>
          <a:prstGeom prst="rect">
            <a:avLst/>
          </a:prstGeom>
          <a:noFill/>
          <a:ln>
            <a:noFill/>
          </a:ln>
        </p:spPr>
        <p:txBody>
          <a:bodyPr anchorCtr="0" anchor="t" bIns="34275" lIns="68575" spcFirstLastPara="1" rIns="68575" wrap="square" tIns="34275">
            <a:noAutofit/>
          </a:bodyPr>
          <a:lstStyle/>
          <a:p>
            <a:pPr indent="-95250" lvl="0" marL="285750" rtl="0" algn="l">
              <a:lnSpc>
                <a:spcPct val="112000"/>
              </a:lnSpc>
              <a:spcBef>
                <a:spcPts val="0"/>
              </a:spcBef>
              <a:spcAft>
                <a:spcPts val="0"/>
              </a:spcAft>
              <a:buClr>
                <a:srgbClr val="01123F"/>
              </a:buClr>
              <a:buSzPts val="600"/>
              <a:buFont typeface="Poppins Light"/>
              <a:buChar char="●"/>
            </a:pPr>
            <a:r>
              <a:rPr b="1" lang="en" sz="900">
                <a:solidFill>
                  <a:srgbClr val="01123F"/>
                </a:solidFill>
                <a:latin typeface="Poppins"/>
                <a:ea typeface="Poppins"/>
                <a:cs typeface="Poppins"/>
                <a:sym typeface="Poppins"/>
              </a:rPr>
              <a:t>An unscanned resource</a:t>
            </a:r>
            <a:r>
              <a:rPr lang="en" sz="900">
                <a:solidFill>
                  <a:srgbClr val="01123F"/>
                </a:solidFill>
                <a:latin typeface="Poppins Light"/>
                <a:ea typeface="Poppins Light"/>
                <a:cs typeface="Poppins Light"/>
                <a:sym typeface="Poppins Light"/>
              </a:rPr>
              <a:t> is one in which </a:t>
            </a:r>
            <a:r>
              <a:rPr lang="en" sz="900">
                <a:solidFill>
                  <a:schemeClr val="dk1"/>
                </a:solidFill>
                <a:highlight>
                  <a:srgbClr val="FFFFFF"/>
                </a:highlight>
                <a:latin typeface="Poppins Light"/>
                <a:ea typeface="Poppins Light"/>
                <a:cs typeface="Poppins Light"/>
                <a:sym typeface="Poppins Light"/>
              </a:rPr>
              <a:t>Wiz can identify but cannot directly scan, such as unconnected repositories, cloud accounts, and organizations.</a:t>
            </a:r>
            <a:r>
              <a:rPr lang="en" sz="900">
                <a:solidFill>
                  <a:schemeClr val="dk1"/>
                </a:solidFill>
                <a:latin typeface="Poppins Light"/>
                <a:ea typeface="Poppins Light"/>
                <a:cs typeface="Poppins Light"/>
                <a:sym typeface="Poppins Light"/>
              </a:rPr>
              <a:t> </a:t>
            </a:r>
            <a:endParaRPr sz="900">
              <a:solidFill>
                <a:schemeClr val="dk1"/>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Classify </a:t>
            </a:r>
            <a:r>
              <a:rPr lang="en" sz="900">
                <a:solidFill>
                  <a:schemeClr val="dk1"/>
                </a:solidFill>
                <a:highlight>
                  <a:srgbClr val="FFFFFF"/>
                </a:highlight>
                <a:latin typeface="Poppins Light"/>
                <a:ea typeface="Poppins Light"/>
                <a:cs typeface="Poppins Light"/>
                <a:sym typeface="Poppins Light"/>
              </a:rPr>
              <a:t>these resources, determine if they belong to your organization or a third party, and identify gaps in your security coverage.</a:t>
            </a:r>
            <a:r>
              <a:rPr lang="en" sz="900">
                <a:solidFill>
                  <a:schemeClr val="dk1"/>
                </a:solidFill>
                <a:latin typeface="Poppins Light"/>
                <a:ea typeface="Poppins Light"/>
                <a:cs typeface="Poppins Light"/>
                <a:sym typeface="Poppins Light"/>
              </a:rPr>
              <a:t> </a:t>
            </a:r>
            <a:endParaRPr sz="900">
              <a:solidFill>
                <a:schemeClr val="dk1"/>
              </a:solidFill>
              <a:latin typeface="Poppins Light"/>
              <a:ea typeface="Poppins Light"/>
              <a:cs typeface="Poppins Light"/>
              <a:sym typeface="Poppins Light"/>
            </a:endParaRPr>
          </a:p>
        </p:txBody>
      </p:sp>
      <p:cxnSp>
        <p:nvCxnSpPr>
          <p:cNvPr id="470" name="Google Shape;470;p51"/>
          <p:cNvCxnSpPr/>
          <p:nvPr/>
        </p:nvCxnSpPr>
        <p:spPr>
          <a:xfrm>
            <a:off x="3510750" y="3063399"/>
            <a:ext cx="2122500" cy="0"/>
          </a:xfrm>
          <a:prstGeom prst="straightConnector1">
            <a:avLst/>
          </a:prstGeom>
          <a:noFill/>
          <a:ln cap="flat" cmpd="sng" w="9525">
            <a:solidFill>
              <a:srgbClr val="0254EC"/>
            </a:solidFill>
            <a:prstDash val="solid"/>
            <a:round/>
            <a:headEnd len="med" w="med" type="none"/>
            <a:tailEnd len="med" w="med" type="none"/>
          </a:ln>
        </p:spPr>
      </p:cxnSp>
      <p:pic>
        <p:nvPicPr>
          <p:cNvPr id="471" name="Google Shape;471;p51" title="Rectangle 7854.png"/>
          <p:cNvPicPr preferRelativeResize="0"/>
          <p:nvPr/>
        </p:nvPicPr>
        <p:blipFill>
          <a:blip r:embed="rId3">
            <a:alphaModFix/>
          </a:blip>
          <a:stretch>
            <a:fillRect/>
          </a:stretch>
        </p:blipFill>
        <p:spPr>
          <a:xfrm>
            <a:off x="6117471" y="1837850"/>
            <a:ext cx="2669404" cy="3050125"/>
          </a:xfrm>
          <a:prstGeom prst="rect">
            <a:avLst/>
          </a:prstGeom>
          <a:noFill/>
          <a:ln>
            <a:noFill/>
          </a:ln>
        </p:spPr>
      </p:pic>
      <p:cxnSp>
        <p:nvCxnSpPr>
          <p:cNvPr id="472" name="Google Shape;472;p51"/>
          <p:cNvCxnSpPr/>
          <p:nvPr/>
        </p:nvCxnSpPr>
        <p:spPr>
          <a:xfrm>
            <a:off x="6390925" y="3063399"/>
            <a:ext cx="2122500" cy="0"/>
          </a:xfrm>
          <a:prstGeom prst="straightConnector1">
            <a:avLst/>
          </a:prstGeom>
          <a:noFill/>
          <a:ln cap="flat" cmpd="sng" w="9525">
            <a:solidFill>
              <a:srgbClr val="0254EC"/>
            </a:solidFill>
            <a:prstDash val="solid"/>
            <a:round/>
            <a:headEnd len="med" w="med" type="none"/>
            <a:tailEnd len="med" w="med" type="none"/>
          </a:ln>
        </p:spPr>
      </p:cxnSp>
      <p:sp>
        <p:nvSpPr>
          <p:cNvPr id="473" name="Google Shape;473;p51"/>
          <p:cNvSpPr txBox="1"/>
          <p:nvPr/>
        </p:nvSpPr>
        <p:spPr>
          <a:xfrm>
            <a:off x="3269550" y="3164537"/>
            <a:ext cx="2599800" cy="16185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b="1" lang="en" sz="900">
                <a:solidFill>
                  <a:srgbClr val="01123F"/>
                </a:solidFill>
                <a:latin typeface="Poppins"/>
                <a:ea typeface="Poppins"/>
                <a:cs typeface="Poppins"/>
                <a:sym typeface="Poppins"/>
              </a:rPr>
              <a:t>Enable DSPM more widely</a:t>
            </a:r>
            <a:r>
              <a:rPr lang="en" sz="900">
                <a:solidFill>
                  <a:srgbClr val="01123F"/>
                </a:solidFill>
                <a:latin typeface="Poppins Light"/>
                <a:ea typeface="Poppins Light"/>
                <a:cs typeface="Poppins Light"/>
                <a:sym typeface="Poppins Light"/>
              </a:rPr>
              <a:t> to extend visibility to your sensitive data and complement your existing tools. Discover PII, PHI and PCI across private buckets, PaaS, IaaS and AI buckets.</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b="1" lang="en" sz="900">
                <a:solidFill>
                  <a:srgbClr val="01123F"/>
                </a:solidFill>
                <a:latin typeface="Poppins"/>
                <a:ea typeface="Poppins"/>
                <a:cs typeface="Poppins"/>
                <a:sym typeface="Poppins"/>
              </a:rPr>
              <a:t>Enable Near Real-Time Scanning</a:t>
            </a:r>
            <a:r>
              <a:rPr lang="en" sz="900">
                <a:solidFill>
                  <a:srgbClr val="01123F"/>
                </a:solidFill>
                <a:latin typeface="Poppins Light"/>
                <a:ea typeface="Poppins Light"/>
                <a:cs typeface="Poppins Light"/>
                <a:sym typeface="Poppins Light"/>
              </a:rPr>
              <a:t> to cut misconfiguration detection from 24-hour to an hour or less.</a:t>
            </a:r>
            <a:endParaRPr sz="900">
              <a:solidFill>
                <a:srgbClr val="01123F"/>
              </a:solidFill>
              <a:latin typeface="Poppins Light"/>
              <a:ea typeface="Poppins Light"/>
              <a:cs typeface="Poppins Light"/>
              <a:sym typeface="Poppins Light"/>
            </a:endParaRPr>
          </a:p>
        </p:txBody>
      </p:sp>
      <p:sp>
        <p:nvSpPr>
          <p:cNvPr id="474" name="Google Shape;474;p51"/>
          <p:cNvSpPr txBox="1"/>
          <p:nvPr/>
        </p:nvSpPr>
        <p:spPr>
          <a:xfrm>
            <a:off x="6131275" y="3177641"/>
            <a:ext cx="2641800" cy="1684200"/>
          </a:xfrm>
          <a:prstGeom prst="rect">
            <a:avLst/>
          </a:prstGeom>
          <a:noFill/>
          <a:ln>
            <a:noFill/>
          </a:ln>
        </p:spPr>
        <p:txBody>
          <a:bodyPr anchorCtr="0" anchor="t" bIns="34275" lIns="68575" spcFirstLastPara="1" rIns="68575" wrap="square" tIns="34275">
            <a:normAutofit/>
          </a:bodyPr>
          <a:lstStyle/>
          <a:p>
            <a:pPr indent="-83820" lvl="0" marL="274320" rtl="0" algn="l">
              <a:lnSpc>
                <a:spcPct val="112000"/>
              </a:lnSpc>
              <a:spcBef>
                <a:spcPts val="0"/>
              </a:spcBef>
              <a:spcAft>
                <a:spcPts val="0"/>
              </a:spcAft>
              <a:buClr>
                <a:srgbClr val="01123F"/>
              </a:buClr>
              <a:buSzPts val="600"/>
              <a:buFont typeface="Poppins Light"/>
              <a:buChar char="●"/>
            </a:pPr>
            <a:r>
              <a:rPr b="1" lang="en" sz="900">
                <a:solidFill>
                  <a:srgbClr val="01123F"/>
                </a:solidFill>
                <a:latin typeface="Poppins"/>
                <a:ea typeface="Poppins"/>
                <a:cs typeface="Poppins"/>
                <a:sym typeface="Poppins"/>
              </a:rPr>
              <a:t>Enable</a:t>
            </a:r>
            <a:r>
              <a:rPr lang="en" sz="900">
                <a:solidFill>
                  <a:srgbClr val="01123F"/>
                </a:solidFill>
                <a:latin typeface="Poppins Light"/>
                <a:ea typeface="Poppins Light"/>
                <a:cs typeface="Poppins Light"/>
                <a:sym typeface="Poppins Light"/>
              </a:rPr>
              <a:t> </a:t>
            </a:r>
            <a:r>
              <a:rPr b="1" lang="en" sz="900">
                <a:solidFill>
                  <a:srgbClr val="01123F"/>
                </a:solidFill>
                <a:latin typeface="Poppins"/>
                <a:ea typeface="Poppins"/>
                <a:cs typeface="Poppins"/>
                <a:sym typeface="Poppins"/>
              </a:rPr>
              <a:t>Akamai Connector </a:t>
            </a:r>
            <a:r>
              <a:rPr lang="en" sz="900">
                <a:solidFill>
                  <a:srgbClr val="01123F"/>
                </a:solidFill>
                <a:latin typeface="Poppins Light"/>
                <a:ea typeface="Poppins Light"/>
                <a:cs typeface="Poppins Light"/>
                <a:sym typeface="Poppins Light"/>
              </a:rPr>
              <a:t>provide better visibility in terms of exposure</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b="1" lang="en" sz="900">
                <a:solidFill>
                  <a:srgbClr val="01123F"/>
                </a:solidFill>
                <a:latin typeface="Poppins"/>
                <a:ea typeface="Poppins"/>
                <a:cs typeface="Poppins"/>
                <a:sym typeface="Poppins"/>
              </a:rPr>
              <a:t>Fold in third-party telemetry</a:t>
            </a:r>
            <a:r>
              <a:rPr lang="en" sz="900">
                <a:solidFill>
                  <a:srgbClr val="01123F"/>
                </a:solidFill>
                <a:latin typeface="Poppins Light"/>
                <a:ea typeface="Poppins Light"/>
                <a:cs typeface="Poppins Light"/>
                <a:sym typeface="Poppins Light"/>
              </a:rPr>
              <a:t>.</a:t>
            </a:r>
            <a:r>
              <a:rPr lang="en" sz="900">
                <a:solidFill>
                  <a:srgbClr val="01123F"/>
                </a:solidFill>
                <a:latin typeface="Poppins Light"/>
                <a:ea typeface="Poppins Light"/>
                <a:cs typeface="Poppins Light"/>
                <a:sym typeface="Poppins Light"/>
              </a:rPr>
              <a:t> Integrating with additional tools to provide stronger attribution. I.e. Pull findings from tools like ServiceNow, Armorcode, Crowdstrike, etc.) across cloud and on-prem.</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Normalize, deduplicate and enrich existing Wiz data, in one view.</a:t>
            </a:r>
            <a:endParaRPr sz="900">
              <a:solidFill>
                <a:srgbClr val="01123F"/>
              </a:solidFill>
              <a:latin typeface="Poppins Light"/>
              <a:ea typeface="Poppins Light"/>
              <a:cs typeface="Poppins Light"/>
              <a:sym typeface="Poppins Light"/>
            </a:endParaRPr>
          </a:p>
        </p:txBody>
      </p:sp>
      <p:sp>
        <p:nvSpPr>
          <p:cNvPr id="475" name="Google Shape;475;p51"/>
          <p:cNvSpPr txBox="1"/>
          <p:nvPr/>
        </p:nvSpPr>
        <p:spPr>
          <a:xfrm>
            <a:off x="6243025" y="2624673"/>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Expand Coverage 3rd Party Resources &amp; Telemetry</a:t>
            </a:r>
            <a:endParaRPr sz="1000">
              <a:solidFill>
                <a:schemeClr val="dk1"/>
              </a:solidFill>
              <a:latin typeface="Poppins SemiBold"/>
              <a:ea typeface="Poppins SemiBold"/>
              <a:cs typeface="Poppins SemiBold"/>
              <a:sym typeface="Poppins SemiBold"/>
            </a:endParaRPr>
          </a:p>
        </p:txBody>
      </p:sp>
      <p:sp>
        <p:nvSpPr>
          <p:cNvPr id="476" name="Google Shape;476;p51"/>
          <p:cNvSpPr txBox="1"/>
          <p:nvPr>
            <p:ph idx="4294967295" type="title"/>
          </p:nvPr>
        </p:nvSpPr>
        <p:spPr>
          <a:xfrm>
            <a:off x="0" y="535725"/>
            <a:ext cx="91440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Cloud Visibility &amp; Coverage</a:t>
            </a:r>
            <a:endParaRPr sz="2420">
              <a:latin typeface="Poppins Light"/>
              <a:ea typeface="Poppins Light"/>
              <a:cs typeface="Poppins Light"/>
              <a:sym typeface="Poppins Light"/>
            </a:endParaRPr>
          </a:p>
        </p:txBody>
      </p:sp>
      <p:pic>
        <p:nvPicPr>
          <p:cNvPr id="477" name="Google Shape;477;p51"/>
          <p:cNvPicPr preferRelativeResize="0"/>
          <p:nvPr/>
        </p:nvPicPr>
        <p:blipFill>
          <a:blip r:embed="rId4">
            <a:alphaModFix/>
          </a:blip>
          <a:stretch>
            <a:fillRect/>
          </a:stretch>
        </p:blipFill>
        <p:spPr>
          <a:xfrm>
            <a:off x="1326966" y="1926775"/>
            <a:ext cx="729718" cy="693550"/>
          </a:xfrm>
          <a:prstGeom prst="rect">
            <a:avLst/>
          </a:prstGeom>
          <a:noFill/>
          <a:ln>
            <a:noFill/>
          </a:ln>
        </p:spPr>
      </p:pic>
      <p:pic>
        <p:nvPicPr>
          <p:cNvPr id="478" name="Google Shape;478;p51"/>
          <p:cNvPicPr preferRelativeResize="0"/>
          <p:nvPr/>
        </p:nvPicPr>
        <p:blipFill>
          <a:blip r:embed="rId5">
            <a:alphaModFix/>
          </a:blip>
          <a:stretch>
            <a:fillRect/>
          </a:stretch>
        </p:blipFill>
        <p:spPr>
          <a:xfrm>
            <a:off x="4225225" y="1913375"/>
            <a:ext cx="693550" cy="693550"/>
          </a:xfrm>
          <a:prstGeom prst="rect">
            <a:avLst/>
          </a:prstGeom>
          <a:noFill/>
          <a:ln>
            <a:noFill/>
          </a:ln>
        </p:spPr>
      </p:pic>
      <p:pic>
        <p:nvPicPr>
          <p:cNvPr id="479" name="Google Shape;479;p51" title="Group 1000002779.png"/>
          <p:cNvPicPr preferRelativeResize="0"/>
          <p:nvPr/>
        </p:nvPicPr>
        <p:blipFill>
          <a:blip r:embed="rId6">
            <a:alphaModFix/>
          </a:blip>
          <a:stretch>
            <a:fillRect/>
          </a:stretch>
        </p:blipFill>
        <p:spPr>
          <a:xfrm>
            <a:off x="7043298" y="1991749"/>
            <a:ext cx="817750" cy="563600"/>
          </a:xfrm>
          <a:prstGeom prst="rect">
            <a:avLst/>
          </a:prstGeom>
          <a:noFill/>
          <a:ln>
            <a:noFill/>
          </a:ln>
        </p:spPr>
      </p:pic>
      <p:sp>
        <p:nvSpPr>
          <p:cNvPr id="480" name="Google Shape;480;p51"/>
          <p:cNvSpPr txBox="1"/>
          <p:nvPr/>
        </p:nvSpPr>
        <p:spPr>
          <a:xfrm>
            <a:off x="482675" y="2640997"/>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Review Unscanned </a:t>
            </a:r>
            <a:br>
              <a:rPr lang="en" sz="1000">
                <a:solidFill>
                  <a:schemeClr val="dk1"/>
                </a:solidFill>
                <a:latin typeface="Poppins SemiBold"/>
                <a:ea typeface="Poppins SemiBold"/>
                <a:cs typeface="Poppins SemiBold"/>
                <a:sym typeface="Poppins SemiBold"/>
              </a:rPr>
            </a:br>
            <a:r>
              <a:rPr lang="en" sz="1000">
                <a:solidFill>
                  <a:schemeClr val="dk1"/>
                </a:solidFill>
                <a:latin typeface="Poppins SemiBold"/>
                <a:ea typeface="Poppins SemiBold"/>
                <a:cs typeface="Poppins SemiBold"/>
                <a:sym typeface="Poppins SemiBold"/>
              </a:rPr>
              <a:t>Resources for Coverage Gaps</a:t>
            </a:r>
            <a:endParaRPr sz="1000">
              <a:solidFill>
                <a:schemeClr val="dk1"/>
              </a:solidFill>
              <a:latin typeface="Poppins SemiBold"/>
              <a:ea typeface="Poppins SemiBold"/>
              <a:cs typeface="Poppins SemiBold"/>
              <a:sym typeface="Poppins SemiBold"/>
            </a:endParaRPr>
          </a:p>
        </p:txBody>
      </p:sp>
      <p:sp>
        <p:nvSpPr>
          <p:cNvPr id="481" name="Google Shape;481;p51"/>
          <p:cNvSpPr txBox="1"/>
          <p:nvPr/>
        </p:nvSpPr>
        <p:spPr>
          <a:xfrm>
            <a:off x="3362850" y="2627164"/>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Adopt Additional Features &amp; Functionality in Wiz</a:t>
            </a:r>
            <a:endParaRPr sz="1000">
              <a:solidFill>
                <a:schemeClr val="dk1"/>
              </a:solidFill>
              <a:latin typeface="Poppins SemiBold"/>
              <a:ea typeface="Poppins SemiBold"/>
              <a:cs typeface="Poppins SemiBold"/>
              <a:sym typeface="Poppins SemiBo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6" name="Shape 486"/>
        <p:cNvGrpSpPr/>
        <p:nvPr/>
      </p:nvGrpSpPr>
      <p:grpSpPr>
        <a:xfrm>
          <a:off x="0" y="0"/>
          <a:ext cx="0" cy="0"/>
          <a:chOff x="0" y="0"/>
          <a:chExt cx="0" cy="0"/>
        </a:xfrm>
      </p:grpSpPr>
      <p:sp>
        <p:nvSpPr>
          <p:cNvPr id="487" name="Google Shape;487;p52"/>
          <p:cNvSpPr txBox="1"/>
          <p:nvPr>
            <p:ph idx="4294967295" type="title"/>
          </p:nvPr>
        </p:nvSpPr>
        <p:spPr>
          <a:xfrm>
            <a:off x="150" y="2661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Democratization Snapshot</a:t>
            </a:r>
            <a:endParaRPr sz="2420">
              <a:latin typeface="Poppins Light"/>
              <a:ea typeface="Poppins Light"/>
              <a:cs typeface="Poppins Light"/>
              <a:sym typeface="Poppins Light"/>
            </a:endParaRPr>
          </a:p>
        </p:txBody>
      </p:sp>
      <p:sp>
        <p:nvSpPr>
          <p:cNvPr id="488" name="Google Shape;488;p52"/>
          <p:cNvSpPr/>
          <p:nvPr/>
        </p:nvSpPr>
        <p:spPr>
          <a:xfrm>
            <a:off x="145225" y="1212546"/>
            <a:ext cx="2401200" cy="953400"/>
          </a:xfrm>
          <a:prstGeom prst="roundRect">
            <a:avLst>
              <a:gd fmla="val 16667" name="adj"/>
            </a:avLst>
          </a:prstGeom>
          <a:noFill/>
          <a:ln cap="flat" cmpd="sng" w="9650">
            <a:solidFill>
              <a:srgbClr val="595959"/>
            </a:solidFill>
            <a:prstDash val="solid"/>
            <a:round/>
            <a:headEnd len="sm" w="sm" type="none"/>
            <a:tailEnd len="sm" w="sm" type="none"/>
          </a:ln>
        </p:spPr>
        <p:txBody>
          <a:bodyPr anchorCtr="0" anchor="ctr" bIns="92600" lIns="92600" spcFirstLastPara="1" rIns="92600" wrap="square" tIns="92600">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489" name="Google Shape;489;p52"/>
          <p:cNvSpPr txBox="1"/>
          <p:nvPr/>
        </p:nvSpPr>
        <p:spPr>
          <a:xfrm>
            <a:off x="145225" y="914076"/>
            <a:ext cx="2401200" cy="303900"/>
          </a:xfrm>
          <a:prstGeom prst="rect">
            <a:avLst/>
          </a:prstGeom>
          <a:noFill/>
          <a:ln>
            <a:noFill/>
          </a:ln>
        </p:spPr>
        <p:txBody>
          <a:bodyPr anchorCtr="0" anchor="ctr" bIns="92600" lIns="92600" spcFirstLastPara="1" rIns="92600" wrap="square" tIns="92600">
            <a:noAutofit/>
          </a:bodyPr>
          <a:lstStyle/>
          <a:p>
            <a:pPr indent="0" lvl="0" marL="0" rtl="0" algn="ctr">
              <a:lnSpc>
                <a:spcPct val="100000"/>
              </a:lnSpc>
              <a:spcBef>
                <a:spcPts val="0"/>
              </a:spcBef>
              <a:spcAft>
                <a:spcPts val="0"/>
              </a:spcAft>
              <a:buNone/>
            </a:pPr>
            <a:r>
              <a:rPr lang="en" sz="1300">
                <a:solidFill>
                  <a:srgbClr val="333333"/>
                </a:solidFill>
                <a:latin typeface="Poppins"/>
                <a:ea typeface="Poppins"/>
                <a:cs typeface="Poppins"/>
                <a:sym typeface="Poppins"/>
              </a:rPr>
              <a:t>Users &amp; Engagement</a:t>
            </a:r>
            <a:endParaRPr sz="1300">
              <a:solidFill>
                <a:srgbClr val="333333"/>
              </a:solidFill>
              <a:latin typeface="Poppins"/>
              <a:ea typeface="Poppins"/>
              <a:cs typeface="Poppins"/>
              <a:sym typeface="Poppins"/>
            </a:endParaRPr>
          </a:p>
        </p:txBody>
      </p:sp>
      <p:sp>
        <p:nvSpPr>
          <p:cNvPr id="490" name="Google Shape;490;p52"/>
          <p:cNvSpPr txBox="1"/>
          <p:nvPr/>
        </p:nvSpPr>
        <p:spPr>
          <a:xfrm>
            <a:off x="178750" y="1317248"/>
            <a:ext cx="1723200" cy="172500"/>
          </a:xfrm>
          <a:prstGeom prst="rect">
            <a:avLst/>
          </a:prstGeom>
          <a:noFill/>
          <a:ln>
            <a:noFill/>
          </a:ln>
        </p:spPr>
        <p:txBody>
          <a:bodyPr anchorCtr="0" anchor="t" bIns="92600" lIns="92600" spcFirstLastPara="1" rIns="92600" wrap="square" tIns="92600">
            <a:noAutofit/>
          </a:bodyPr>
          <a:lstStyle/>
          <a:p>
            <a:pPr indent="0" lvl="0" marL="0" rtl="0" algn="l">
              <a:lnSpc>
                <a:spcPct val="150000"/>
              </a:lnSpc>
              <a:spcBef>
                <a:spcPts val="0"/>
              </a:spcBef>
              <a:spcAft>
                <a:spcPts val="0"/>
              </a:spcAft>
              <a:buNone/>
            </a:pPr>
            <a:r>
              <a:rPr lang="en" sz="1000" u="sng">
                <a:solidFill>
                  <a:srgbClr val="0055F5"/>
                </a:solidFill>
                <a:latin typeface="DM Sans"/>
                <a:ea typeface="DM Sans"/>
                <a:cs typeface="DM Sans"/>
                <a:sym typeface="DM Sans"/>
                <a:hlinkClick r:id="rId3">
                  <a:extLst>
                    <a:ext uri="{A12FA001-AC4F-418D-AE19-62706E023703}">
                      <ahyp:hlinkClr val="tx"/>
                    </a:ext>
                  </a:extLst>
                </a:hlinkClick>
              </a:rPr>
              <a:t>Total Users</a:t>
            </a:r>
            <a:endParaRPr sz="1000">
              <a:solidFill>
                <a:srgbClr val="333333"/>
              </a:solidFill>
              <a:latin typeface="DM Sans"/>
              <a:ea typeface="DM Sans"/>
              <a:cs typeface="DM Sans"/>
              <a:sym typeface="DM Sans"/>
            </a:endParaRPr>
          </a:p>
        </p:txBody>
      </p:sp>
      <p:sp>
        <p:nvSpPr>
          <p:cNvPr id="491" name="Google Shape;491;p52"/>
          <p:cNvSpPr txBox="1"/>
          <p:nvPr/>
        </p:nvSpPr>
        <p:spPr>
          <a:xfrm>
            <a:off x="1549880" y="1317243"/>
            <a:ext cx="953400" cy="172500"/>
          </a:xfrm>
          <a:prstGeom prst="rect">
            <a:avLst/>
          </a:prstGeom>
          <a:noFill/>
          <a:ln>
            <a:noFill/>
          </a:ln>
        </p:spPr>
        <p:txBody>
          <a:bodyPr anchorCtr="0" anchor="t" bIns="92600" lIns="92600" spcFirstLastPara="1" rIns="92600" wrap="square" tIns="92600">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{{U_TOT}}</a:t>
            </a:r>
            <a:endParaRPr b="1" sz="1000">
              <a:solidFill>
                <a:srgbClr val="333333"/>
              </a:solidFill>
              <a:latin typeface="DM Sans"/>
              <a:ea typeface="DM Sans"/>
              <a:cs typeface="DM Sans"/>
              <a:sym typeface="DM Sans"/>
            </a:endParaRPr>
          </a:p>
        </p:txBody>
      </p:sp>
      <p:sp>
        <p:nvSpPr>
          <p:cNvPr id="492" name="Google Shape;492;p52"/>
          <p:cNvSpPr txBox="1"/>
          <p:nvPr/>
        </p:nvSpPr>
        <p:spPr>
          <a:xfrm>
            <a:off x="178750" y="1499584"/>
            <a:ext cx="1723200" cy="172500"/>
          </a:xfrm>
          <a:prstGeom prst="rect">
            <a:avLst/>
          </a:prstGeom>
          <a:noFill/>
          <a:ln>
            <a:noFill/>
          </a:ln>
        </p:spPr>
        <p:txBody>
          <a:bodyPr anchorCtr="0" anchor="t" bIns="92600" lIns="92600" spcFirstLastPara="1" rIns="92600" wrap="square" tIns="92600">
            <a:noAutofit/>
          </a:bodyPr>
          <a:lstStyle/>
          <a:p>
            <a:pPr indent="0" lvl="0" marL="0" rtl="0" algn="l">
              <a:lnSpc>
                <a:spcPct val="150000"/>
              </a:lnSpc>
              <a:spcBef>
                <a:spcPts val="0"/>
              </a:spcBef>
              <a:spcAft>
                <a:spcPts val="0"/>
              </a:spcAft>
              <a:buNone/>
            </a:pPr>
            <a:r>
              <a:rPr lang="en" sz="1000" u="sng">
                <a:solidFill>
                  <a:srgbClr val="0055F5"/>
                </a:solidFill>
                <a:latin typeface="DM Sans"/>
                <a:ea typeface="DM Sans"/>
                <a:cs typeface="DM Sans"/>
                <a:sym typeface="DM Sans"/>
                <a:hlinkClick r:id="rId4">
                  <a:extLst>
                    <a:ext uri="{A12FA001-AC4F-418D-AE19-62706E023703}">
                      <ahyp:hlinkClr val="tx"/>
                    </a:ext>
                  </a:extLst>
                </a:hlinkClick>
              </a:rPr>
              <a:t>Active (Last 30 Days)</a:t>
            </a:r>
            <a:endParaRPr sz="1000">
              <a:solidFill>
                <a:srgbClr val="333333"/>
              </a:solidFill>
              <a:latin typeface="DM Sans"/>
              <a:ea typeface="DM Sans"/>
              <a:cs typeface="DM Sans"/>
              <a:sym typeface="DM Sans"/>
            </a:endParaRPr>
          </a:p>
        </p:txBody>
      </p:sp>
      <p:sp>
        <p:nvSpPr>
          <p:cNvPr id="493" name="Google Shape;493;p52"/>
          <p:cNvSpPr txBox="1"/>
          <p:nvPr/>
        </p:nvSpPr>
        <p:spPr>
          <a:xfrm>
            <a:off x="1549880" y="1499580"/>
            <a:ext cx="953400" cy="172500"/>
          </a:xfrm>
          <a:prstGeom prst="rect">
            <a:avLst/>
          </a:prstGeom>
          <a:noFill/>
          <a:ln>
            <a:noFill/>
          </a:ln>
        </p:spPr>
        <p:txBody>
          <a:bodyPr anchorCtr="0" anchor="t" bIns="92600" lIns="92600" spcFirstLastPara="1" rIns="92600" wrap="square" tIns="92600">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{{U_ACT}}</a:t>
            </a:r>
            <a:endParaRPr b="1" sz="1000">
              <a:solidFill>
                <a:srgbClr val="333333"/>
              </a:solidFill>
              <a:latin typeface="DM Sans"/>
              <a:ea typeface="DM Sans"/>
              <a:cs typeface="DM Sans"/>
              <a:sym typeface="DM Sans"/>
            </a:endParaRPr>
          </a:p>
        </p:txBody>
      </p:sp>
      <p:sp>
        <p:nvSpPr>
          <p:cNvPr id="494" name="Google Shape;494;p52"/>
          <p:cNvSpPr txBox="1"/>
          <p:nvPr/>
        </p:nvSpPr>
        <p:spPr>
          <a:xfrm>
            <a:off x="178750" y="1681919"/>
            <a:ext cx="1723200" cy="172500"/>
          </a:xfrm>
          <a:prstGeom prst="rect">
            <a:avLst/>
          </a:prstGeom>
          <a:noFill/>
          <a:ln>
            <a:noFill/>
          </a:ln>
        </p:spPr>
        <p:txBody>
          <a:bodyPr anchorCtr="0" anchor="t" bIns="92600" lIns="92600" spcFirstLastPara="1" rIns="92600" wrap="square" tIns="92600">
            <a:noAutofit/>
          </a:bodyPr>
          <a:lstStyle/>
          <a:p>
            <a:pPr indent="0" lvl="0" marL="0" rtl="0" algn="l">
              <a:lnSpc>
                <a:spcPct val="150000"/>
              </a:lnSpc>
              <a:spcBef>
                <a:spcPts val="0"/>
              </a:spcBef>
              <a:spcAft>
                <a:spcPts val="0"/>
              </a:spcAft>
              <a:buNone/>
            </a:pPr>
            <a:r>
              <a:rPr lang="en" sz="1000">
                <a:solidFill>
                  <a:srgbClr val="333333"/>
                </a:solidFill>
                <a:latin typeface="DM Sans"/>
                <a:ea typeface="DM Sans"/>
                <a:cs typeface="DM Sans"/>
                <a:sym typeface="DM Sans"/>
              </a:rPr>
              <a:t>Engagement Rate</a:t>
            </a:r>
            <a:endParaRPr sz="1000">
              <a:solidFill>
                <a:srgbClr val="333333"/>
              </a:solidFill>
              <a:latin typeface="DM Sans"/>
              <a:ea typeface="DM Sans"/>
              <a:cs typeface="DM Sans"/>
              <a:sym typeface="DM Sans"/>
            </a:endParaRPr>
          </a:p>
        </p:txBody>
      </p:sp>
      <p:sp>
        <p:nvSpPr>
          <p:cNvPr id="495" name="Google Shape;495;p52"/>
          <p:cNvSpPr txBox="1"/>
          <p:nvPr/>
        </p:nvSpPr>
        <p:spPr>
          <a:xfrm>
            <a:off x="1549880" y="1681918"/>
            <a:ext cx="953400" cy="172500"/>
          </a:xfrm>
          <a:prstGeom prst="rect">
            <a:avLst/>
          </a:prstGeom>
          <a:noFill/>
          <a:ln>
            <a:noFill/>
          </a:ln>
        </p:spPr>
        <p:txBody>
          <a:bodyPr anchorCtr="0" anchor="t" bIns="92600" lIns="92600" spcFirstLastPara="1" rIns="92600" wrap="square" tIns="92600">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{{U_ENG}}</a:t>
            </a:r>
            <a:endParaRPr b="1" sz="1000">
              <a:solidFill>
                <a:srgbClr val="333333"/>
              </a:solidFill>
              <a:latin typeface="DM Sans"/>
              <a:ea typeface="DM Sans"/>
              <a:cs typeface="DM Sans"/>
              <a:sym typeface="DM Sans"/>
            </a:endParaRPr>
          </a:p>
        </p:txBody>
      </p:sp>
      <p:sp>
        <p:nvSpPr>
          <p:cNvPr id="496" name="Google Shape;496;p52"/>
          <p:cNvSpPr/>
          <p:nvPr/>
        </p:nvSpPr>
        <p:spPr>
          <a:xfrm>
            <a:off x="2714775" y="1111825"/>
            <a:ext cx="2802600" cy="2119200"/>
          </a:xfrm>
          <a:prstGeom prst="roundRect">
            <a:avLst>
              <a:gd fmla="val 16667" name="adj"/>
            </a:avLst>
          </a:prstGeom>
          <a:noFill/>
          <a:ln cap="flat" cmpd="sng" w="9100">
            <a:solidFill>
              <a:srgbClr val="595959"/>
            </a:solidFill>
            <a:prstDash val="solid"/>
            <a:round/>
            <a:headEnd len="sm" w="sm" type="none"/>
            <a:tailEnd len="sm" w="sm" type="none"/>
          </a:ln>
        </p:spPr>
        <p:txBody>
          <a:bodyPr anchorCtr="0" anchor="ctr" bIns="87225" lIns="87225" spcFirstLastPara="1" rIns="87225" wrap="square" tIns="87225">
            <a:noAutofit/>
          </a:bodyPr>
          <a:lstStyle/>
          <a:p>
            <a:pPr indent="0" lvl="0" marL="0" rtl="0" algn="ctr">
              <a:spcBef>
                <a:spcPts val="0"/>
              </a:spcBef>
              <a:spcAft>
                <a:spcPts val="0"/>
              </a:spcAft>
              <a:buNone/>
            </a:pPr>
            <a:r>
              <a:t/>
            </a:r>
            <a:endParaRPr sz="1319">
              <a:latin typeface="DM Sans"/>
              <a:ea typeface="DM Sans"/>
              <a:cs typeface="DM Sans"/>
              <a:sym typeface="DM Sans"/>
            </a:endParaRPr>
          </a:p>
        </p:txBody>
      </p:sp>
      <p:sp>
        <p:nvSpPr>
          <p:cNvPr id="497" name="Google Shape;497;p52"/>
          <p:cNvSpPr txBox="1"/>
          <p:nvPr/>
        </p:nvSpPr>
        <p:spPr>
          <a:xfrm>
            <a:off x="2795327" y="1529715"/>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{{IA_2}}</a:t>
            </a:r>
            <a:endParaRPr sz="848">
              <a:solidFill>
                <a:srgbClr val="333333"/>
              </a:solidFill>
              <a:latin typeface="DM Sans"/>
              <a:ea typeface="DM Sans"/>
              <a:cs typeface="DM Sans"/>
              <a:sym typeface="DM Sans"/>
            </a:endParaRPr>
          </a:p>
        </p:txBody>
      </p:sp>
      <p:sp>
        <p:nvSpPr>
          <p:cNvPr id="498" name="Google Shape;498;p52"/>
          <p:cNvSpPr txBox="1"/>
          <p:nvPr/>
        </p:nvSpPr>
        <p:spPr>
          <a:xfrm>
            <a:off x="2795327" y="1705039"/>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{{IA_3}}</a:t>
            </a:r>
            <a:endParaRPr sz="848">
              <a:solidFill>
                <a:srgbClr val="333333"/>
              </a:solidFill>
              <a:latin typeface="DM Sans"/>
              <a:ea typeface="DM Sans"/>
              <a:cs typeface="DM Sans"/>
              <a:sym typeface="DM Sans"/>
            </a:endParaRPr>
          </a:p>
        </p:txBody>
      </p:sp>
      <p:sp>
        <p:nvSpPr>
          <p:cNvPr id="499" name="Google Shape;499;p52"/>
          <p:cNvSpPr txBox="1"/>
          <p:nvPr/>
        </p:nvSpPr>
        <p:spPr>
          <a:xfrm>
            <a:off x="2795325" y="1880390"/>
            <a:ext cx="1596300" cy="1626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{{IA_4}}</a:t>
            </a:r>
            <a:endParaRPr sz="848">
              <a:solidFill>
                <a:srgbClr val="333333"/>
              </a:solidFill>
              <a:latin typeface="DM Sans"/>
              <a:ea typeface="DM Sans"/>
              <a:cs typeface="DM Sans"/>
              <a:sym typeface="DM Sans"/>
            </a:endParaRPr>
          </a:p>
        </p:txBody>
      </p:sp>
      <p:sp>
        <p:nvSpPr>
          <p:cNvPr id="500" name="Google Shape;500;p52"/>
          <p:cNvSpPr txBox="1"/>
          <p:nvPr/>
        </p:nvSpPr>
        <p:spPr>
          <a:xfrm>
            <a:off x="2795327" y="2055722"/>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{{IA_5}}</a:t>
            </a:r>
            <a:endParaRPr sz="848">
              <a:solidFill>
                <a:srgbClr val="333333"/>
              </a:solidFill>
              <a:latin typeface="DM Sans"/>
              <a:ea typeface="DM Sans"/>
              <a:cs typeface="DM Sans"/>
              <a:sym typeface="DM Sans"/>
            </a:endParaRPr>
          </a:p>
        </p:txBody>
      </p:sp>
      <p:sp>
        <p:nvSpPr>
          <p:cNvPr id="501" name="Google Shape;501;p52"/>
          <p:cNvSpPr txBox="1"/>
          <p:nvPr/>
        </p:nvSpPr>
        <p:spPr>
          <a:xfrm>
            <a:off x="2795327" y="2231057"/>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{{IA_6}}</a:t>
            </a:r>
            <a:endParaRPr sz="848">
              <a:solidFill>
                <a:srgbClr val="333333"/>
              </a:solidFill>
              <a:latin typeface="DM Sans"/>
              <a:ea typeface="DM Sans"/>
              <a:cs typeface="DM Sans"/>
              <a:sym typeface="DM Sans"/>
            </a:endParaRPr>
          </a:p>
        </p:txBody>
      </p:sp>
      <p:sp>
        <p:nvSpPr>
          <p:cNvPr id="502" name="Google Shape;502;p52"/>
          <p:cNvSpPr txBox="1"/>
          <p:nvPr/>
        </p:nvSpPr>
        <p:spPr>
          <a:xfrm>
            <a:off x="2795327" y="2406393"/>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{{IA_7}}</a:t>
            </a:r>
            <a:endParaRPr sz="848">
              <a:solidFill>
                <a:srgbClr val="333333"/>
              </a:solidFill>
              <a:latin typeface="DM Sans"/>
              <a:ea typeface="DM Sans"/>
              <a:cs typeface="DM Sans"/>
              <a:sym typeface="DM Sans"/>
            </a:endParaRPr>
          </a:p>
        </p:txBody>
      </p:sp>
      <p:sp>
        <p:nvSpPr>
          <p:cNvPr id="503" name="Google Shape;503;p52"/>
          <p:cNvSpPr txBox="1"/>
          <p:nvPr/>
        </p:nvSpPr>
        <p:spPr>
          <a:xfrm>
            <a:off x="2795327" y="2581729"/>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{{IA_8}}</a:t>
            </a:r>
            <a:endParaRPr sz="848">
              <a:solidFill>
                <a:srgbClr val="333333"/>
              </a:solidFill>
              <a:latin typeface="DM Sans"/>
              <a:ea typeface="DM Sans"/>
              <a:cs typeface="DM Sans"/>
              <a:sym typeface="DM Sans"/>
            </a:endParaRPr>
          </a:p>
        </p:txBody>
      </p:sp>
      <p:sp>
        <p:nvSpPr>
          <p:cNvPr id="504" name="Google Shape;504;p52"/>
          <p:cNvSpPr txBox="1"/>
          <p:nvPr/>
        </p:nvSpPr>
        <p:spPr>
          <a:xfrm>
            <a:off x="2795327" y="2757064"/>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{{IA_9}}</a:t>
            </a:r>
            <a:endParaRPr sz="848">
              <a:solidFill>
                <a:srgbClr val="333333"/>
              </a:solidFill>
              <a:latin typeface="DM Sans"/>
              <a:ea typeface="DM Sans"/>
              <a:cs typeface="DM Sans"/>
              <a:sym typeface="DM Sans"/>
            </a:endParaRPr>
          </a:p>
        </p:txBody>
      </p:sp>
      <p:sp>
        <p:nvSpPr>
          <p:cNvPr id="505" name="Google Shape;505;p52"/>
          <p:cNvSpPr txBox="1"/>
          <p:nvPr/>
        </p:nvSpPr>
        <p:spPr>
          <a:xfrm>
            <a:off x="2795327" y="2932400"/>
            <a:ext cx="1596300" cy="1461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{{IA_10}}</a:t>
            </a:r>
            <a:endParaRPr sz="848">
              <a:solidFill>
                <a:srgbClr val="333333"/>
              </a:solidFill>
              <a:latin typeface="DM Sans"/>
              <a:ea typeface="DM Sans"/>
              <a:cs typeface="DM Sans"/>
              <a:sym typeface="DM Sans"/>
            </a:endParaRPr>
          </a:p>
        </p:txBody>
      </p:sp>
      <p:sp>
        <p:nvSpPr>
          <p:cNvPr id="506" name="Google Shape;506;p52"/>
          <p:cNvSpPr txBox="1"/>
          <p:nvPr/>
        </p:nvSpPr>
        <p:spPr>
          <a:xfrm>
            <a:off x="2795325" y="1352375"/>
            <a:ext cx="1596300" cy="148200"/>
          </a:xfrm>
          <a:prstGeom prst="rect">
            <a:avLst/>
          </a:prstGeom>
          <a:noFill/>
          <a:ln>
            <a:noFill/>
          </a:ln>
        </p:spPr>
        <p:txBody>
          <a:bodyPr anchorCtr="0" anchor="t" bIns="87225" lIns="87225" spcFirstLastPara="1" rIns="87225" wrap="square" tIns="87225">
            <a:noAutofit/>
          </a:bodyPr>
          <a:lstStyle/>
          <a:p>
            <a:pPr indent="0" lvl="0" marL="0" rtl="0" algn="l">
              <a:lnSpc>
                <a:spcPct val="100000"/>
              </a:lnSpc>
              <a:spcBef>
                <a:spcPts val="0"/>
              </a:spcBef>
              <a:spcAft>
                <a:spcPts val="0"/>
              </a:spcAft>
              <a:buNone/>
            </a:pPr>
            <a:r>
              <a:rPr lang="en" sz="848">
                <a:solidFill>
                  <a:srgbClr val="333333"/>
                </a:solidFill>
                <a:latin typeface="DM Sans"/>
                <a:ea typeface="DM Sans"/>
                <a:cs typeface="DM Sans"/>
                <a:sym typeface="DM Sans"/>
              </a:rPr>
              <a:t>{{IA_1}}</a:t>
            </a:r>
            <a:endParaRPr sz="848">
              <a:solidFill>
                <a:srgbClr val="333333"/>
              </a:solidFill>
              <a:latin typeface="DM Sans"/>
              <a:ea typeface="DM Sans"/>
              <a:cs typeface="DM Sans"/>
              <a:sym typeface="DM Sans"/>
            </a:endParaRPr>
          </a:p>
        </p:txBody>
      </p:sp>
      <p:sp>
        <p:nvSpPr>
          <p:cNvPr id="507" name="Google Shape;507;p52"/>
          <p:cNvSpPr txBox="1"/>
          <p:nvPr/>
        </p:nvSpPr>
        <p:spPr>
          <a:xfrm>
            <a:off x="4474074" y="1343525"/>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{{IR_1}}</a:t>
            </a:r>
            <a:endParaRPr b="1" sz="848">
              <a:solidFill>
                <a:srgbClr val="333333"/>
              </a:solidFill>
              <a:latin typeface="DM Sans"/>
              <a:ea typeface="DM Sans"/>
              <a:cs typeface="DM Sans"/>
              <a:sym typeface="DM Sans"/>
            </a:endParaRPr>
          </a:p>
        </p:txBody>
      </p:sp>
      <p:sp>
        <p:nvSpPr>
          <p:cNvPr id="508" name="Google Shape;508;p52"/>
          <p:cNvSpPr txBox="1"/>
          <p:nvPr/>
        </p:nvSpPr>
        <p:spPr>
          <a:xfrm>
            <a:off x="4474074" y="1519058"/>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{{IR_2}}</a:t>
            </a:r>
            <a:endParaRPr b="1" sz="848">
              <a:solidFill>
                <a:srgbClr val="333333"/>
              </a:solidFill>
              <a:latin typeface="DM Sans"/>
              <a:ea typeface="DM Sans"/>
              <a:cs typeface="DM Sans"/>
              <a:sym typeface="DM Sans"/>
            </a:endParaRPr>
          </a:p>
        </p:txBody>
      </p:sp>
      <p:sp>
        <p:nvSpPr>
          <p:cNvPr id="509" name="Google Shape;509;p52"/>
          <p:cNvSpPr txBox="1"/>
          <p:nvPr/>
        </p:nvSpPr>
        <p:spPr>
          <a:xfrm>
            <a:off x="4474074" y="1694592"/>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{{IR_3}}</a:t>
            </a:r>
            <a:endParaRPr b="1" sz="848">
              <a:solidFill>
                <a:srgbClr val="333333"/>
              </a:solidFill>
              <a:latin typeface="DM Sans"/>
              <a:ea typeface="DM Sans"/>
              <a:cs typeface="DM Sans"/>
              <a:sym typeface="DM Sans"/>
            </a:endParaRPr>
          </a:p>
        </p:txBody>
      </p:sp>
      <p:sp>
        <p:nvSpPr>
          <p:cNvPr id="510" name="Google Shape;510;p52"/>
          <p:cNvSpPr txBox="1"/>
          <p:nvPr/>
        </p:nvSpPr>
        <p:spPr>
          <a:xfrm>
            <a:off x="4474074" y="1870125"/>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{{IR_4}}</a:t>
            </a:r>
            <a:endParaRPr b="1" sz="848">
              <a:solidFill>
                <a:srgbClr val="333333"/>
              </a:solidFill>
              <a:latin typeface="DM Sans"/>
              <a:ea typeface="DM Sans"/>
              <a:cs typeface="DM Sans"/>
              <a:sym typeface="DM Sans"/>
            </a:endParaRPr>
          </a:p>
        </p:txBody>
      </p:sp>
      <p:sp>
        <p:nvSpPr>
          <p:cNvPr id="511" name="Google Shape;511;p52"/>
          <p:cNvSpPr txBox="1"/>
          <p:nvPr/>
        </p:nvSpPr>
        <p:spPr>
          <a:xfrm>
            <a:off x="4474074" y="2045659"/>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{{IR_5}}</a:t>
            </a:r>
            <a:endParaRPr b="1" sz="848">
              <a:solidFill>
                <a:srgbClr val="333333"/>
              </a:solidFill>
              <a:latin typeface="DM Sans"/>
              <a:ea typeface="DM Sans"/>
              <a:cs typeface="DM Sans"/>
              <a:sym typeface="DM Sans"/>
            </a:endParaRPr>
          </a:p>
        </p:txBody>
      </p:sp>
      <p:sp>
        <p:nvSpPr>
          <p:cNvPr id="512" name="Google Shape;512;p52"/>
          <p:cNvSpPr txBox="1"/>
          <p:nvPr/>
        </p:nvSpPr>
        <p:spPr>
          <a:xfrm>
            <a:off x="4474074" y="2221192"/>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{{IR_6}}</a:t>
            </a:r>
            <a:endParaRPr b="1" sz="848">
              <a:solidFill>
                <a:srgbClr val="333333"/>
              </a:solidFill>
              <a:latin typeface="DM Sans"/>
              <a:ea typeface="DM Sans"/>
              <a:cs typeface="DM Sans"/>
              <a:sym typeface="DM Sans"/>
            </a:endParaRPr>
          </a:p>
        </p:txBody>
      </p:sp>
      <p:sp>
        <p:nvSpPr>
          <p:cNvPr id="513" name="Google Shape;513;p52"/>
          <p:cNvSpPr txBox="1"/>
          <p:nvPr/>
        </p:nvSpPr>
        <p:spPr>
          <a:xfrm>
            <a:off x="4474074" y="2396725"/>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{{IR_7}}</a:t>
            </a:r>
            <a:endParaRPr b="1" sz="848">
              <a:solidFill>
                <a:srgbClr val="333333"/>
              </a:solidFill>
              <a:latin typeface="DM Sans"/>
              <a:ea typeface="DM Sans"/>
              <a:cs typeface="DM Sans"/>
              <a:sym typeface="DM Sans"/>
            </a:endParaRPr>
          </a:p>
        </p:txBody>
      </p:sp>
      <p:sp>
        <p:nvSpPr>
          <p:cNvPr id="514" name="Google Shape;514;p52"/>
          <p:cNvSpPr txBox="1"/>
          <p:nvPr/>
        </p:nvSpPr>
        <p:spPr>
          <a:xfrm>
            <a:off x="4474074" y="2572259"/>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{{IR_8}}</a:t>
            </a:r>
            <a:endParaRPr b="1" sz="848">
              <a:solidFill>
                <a:srgbClr val="333333"/>
              </a:solidFill>
              <a:latin typeface="DM Sans"/>
              <a:ea typeface="DM Sans"/>
              <a:cs typeface="DM Sans"/>
              <a:sym typeface="DM Sans"/>
            </a:endParaRPr>
          </a:p>
        </p:txBody>
      </p:sp>
      <p:sp>
        <p:nvSpPr>
          <p:cNvPr id="515" name="Google Shape;515;p52"/>
          <p:cNvSpPr txBox="1"/>
          <p:nvPr/>
        </p:nvSpPr>
        <p:spPr>
          <a:xfrm>
            <a:off x="4474074" y="2747792"/>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{{IR_9}}</a:t>
            </a:r>
            <a:endParaRPr b="1" sz="848">
              <a:solidFill>
                <a:srgbClr val="333333"/>
              </a:solidFill>
              <a:latin typeface="DM Sans"/>
              <a:ea typeface="DM Sans"/>
              <a:cs typeface="DM Sans"/>
              <a:sym typeface="DM Sans"/>
            </a:endParaRPr>
          </a:p>
        </p:txBody>
      </p:sp>
      <p:sp>
        <p:nvSpPr>
          <p:cNvPr id="516" name="Google Shape;516;p52"/>
          <p:cNvSpPr txBox="1"/>
          <p:nvPr/>
        </p:nvSpPr>
        <p:spPr>
          <a:xfrm>
            <a:off x="4474074" y="2923326"/>
            <a:ext cx="912300" cy="148200"/>
          </a:xfrm>
          <a:prstGeom prst="rect">
            <a:avLst/>
          </a:prstGeom>
          <a:noFill/>
          <a:ln>
            <a:noFill/>
          </a:ln>
        </p:spPr>
        <p:txBody>
          <a:bodyPr anchorCtr="0" anchor="t" bIns="87225" lIns="87225" spcFirstLastPara="1" rIns="87225" wrap="square" tIns="87225">
            <a:noAutofit/>
          </a:bodyPr>
          <a:lstStyle/>
          <a:p>
            <a:pPr indent="0" lvl="0" marL="0" rtl="0" algn="r">
              <a:lnSpc>
                <a:spcPct val="100000"/>
              </a:lnSpc>
              <a:spcBef>
                <a:spcPts val="0"/>
              </a:spcBef>
              <a:spcAft>
                <a:spcPts val="0"/>
              </a:spcAft>
              <a:buNone/>
            </a:pPr>
            <a:r>
              <a:rPr b="1" lang="en" sz="848">
                <a:solidFill>
                  <a:srgbClr val="333333"/>
                </a:solidFill>
                <a:latin typeface="DM Sans"/>
                <a:ea typeface="DM Sans"/>
                <a:cs typeface="DM Sans"/>
                <a:sym typeface="DM Sans"/>
              </a:rPr>
              <a:t>{{IR_10}}</a:t>
            </a:r>
            <a:endParaRPr b="1" sz="848">
              <a:solidFill>
                <a:srgbClr val="333333"/>
              </a:solidFill>
              <a:latin typeface="DM Sans"/>
              <a:ea typeface="DM Sans"/>
              <a:cs typeface="DM Sans"/>
              <a:sym typeface="DM Sans"/>
            </a:endParaRPr>
          </a:p>
        </p:txBody>
      </p:sp>
      <p:sp>
        <p:nvSpPr>
          <p:cNvPr id="517" name="Google Shape;517;p52"/>
          <p:cNvSpPr txBox="1"/>
          <p:nvPr/>
        </p:nvSpPr>
        <p:spPr>
          <a:xfrm>
            <a:off x="2857049" y="792813"/>
            <a:ext cx="2547300" cy="301800"/>
          </a:xfrm>
          <a:prstGeom prst="rect">
            <a:avLst/>
          </a:prstGeom>
          <a:noFill/>
          <a:ln>
            <a:noFill/>
          </a:ln>
        </p:spPr>
        <p:txBody>
          <a:bodyPr anchorCtr="0" anchor="ctr" bIns="87225" lIns="87225" spcFirstLastPara="1" rIns="87225" wrap="square" tIns="87225">
            <a:noAutofit/>
          </a:bodyPr>
          <a:lstStyle/>
          <a:p>
            <a:pPr indent="0" lvl="0" marL="0" rtl="0" algn="ctr">
              <a:lnSpc>
                <a:spcPct val="100000"/>
              </a:lnSpc>
              <a:spcBef>
                <a:spcPts val="0"/>
              </a:spcBef>
              <a:spcAft>
                <a:spcPts val="0"/>
              </a:spcAft>
              <a:buNone/>
            </a:pPr>
            <a:r>
              <a:rPr lang="en" sz="1300">
                <a:solidFill>
                  <a:srgbClr val="333333"/>
                </a:solidFill>
                <a:latin typeface="Poppins"/>
                <a:ea typeface="Poppins"/>
                <a:cs typeface="Poppins"/>
                <a:sym typeface="Poppins"/>
              </a:rPr>
              <a:t>Active Integrations</a:t>
            </a:r>
            <a:endParaRPr sz="1300">
              <a:solidFill>
                <a:srgbClr val="333333"/>
              </a:solidFill>
              <a:latin typeface="Poppins"/>
              <a:ea typeface="Poppins"/>
              <a:cs typeface="Poppins"/>
              <a:sym typeface="Poppins"/>
            </a:endParaRPr>
          </a:p>
        </p:txBody>
      </p:sp>
      <p:sp>
        <p:nvSpPr>
          <p:cNvPr id="518" name="Google Shape;518;p52"/>
          <p:cNvSpPr txBox="1"/>
          <p:nvPr/>
        </p:nvSpPr>
        <p:spPr>
          <a:xfrm>
            <a:off x="2880894" y="1098210"/>
            <a:ext cx="2524500" cy="148200"/>
          </a:xfrm>
          <a:prstGeom prst="rect">
            <a:avLst/>
          </a:prstGeom>
          <a:noFill/>
          <a:ln>
            <a:noFill/>
          </a:ln>
        </p:spPr>
        <p:txBody>
          <a:bodyPr anchorCtr="0" anchor="t" bIns="87225" lIns="87225" spcFirstLastPara="1" rIns="87225" wrap="square" tIns="87225">
            <a:noAutofit/>
          </a:bodyPr>
          <a:lstStyle/>
          <a:p>
            <a:pPr indent="0" lvl="0" marL="0" rtl="0" algn="ctr">
              <a:lnSpc>
                <a:spcPct val="150000"/>
              </a:lnSpc>
              <a:spcBef>
                <a:spcPts val="0"/>
              </a:spcBef>
              <a:spcAft>
                <a:spcPts val="0"/>
              </a:spcAft>
              <a:buNone/>
            </a:pPr>
            <a:r>
              <a:rPr lang="en" sz="1136">
                <a:solidFill>
                  <a:srgbClr val="333333"/>
                </a:solidFill>
                <a:latin typeface="Poppins Medium"/>
                <a:ea typeface="Poppins Medium"/>
                <a:cs typeface="Poppins Medium"/>
                <a:sym typeface="Poppins Medium"/>
              </a:rPr>
              <a:t>Integration                     Last Seen</a:t>
            </a:r>
            <a:endParaRPr sz="1136">
              <a:solidFill>
                <a:srgbClr val="333333"/>
              </a:solidFill>
              <a:latin typeface="Poppins Medium"/>
              <a:ea typeface="Poppins Medium"/>
              <a:cs typeface="Poppins Medium"/>
              <a:sym typeface="Poppins Medium"/>
            </a:endParaRPr>
          </a:p>
        </p:txBody>
      </p:sp>
      <p:sp>
        <p:nvSpPr>
          <p:cNvPr id="519" name="Google Shape;519;p52"/>
          <p:cNvSpPr/>
          <p:nvPr/>
        </p:nvSpPr>
        <p:spPr>
          <a:xfrm>
            <a:off x="145250" y="2537551"/>
            <a:ext cx="2401200" cy="1159200"/>
          </a:xfrm>
          <a:prstGeom prst="roundRect">
            <a:avLst>
              <a:gd fmla="val 16667" name="adj"/>
            </a:avLst>
          </a:prstGeom>
          <a:noFill/>
          <a:ln cap="flat" cmpd="sng" w="8700">
            <a:solidFill>
              <a:srgbClr val="595959"/>
            </a:solidFill>
            <a:prstDash val="solid"/>
            <a:round/>
            <a:headEnd len="sm" w="sm" type="none"/>
            <a:tailEnd len="sm" w="sm" type="none"/>
          </a:ln>
        </p:spPr>
        <p:txBody>
          <a:bodyPr anchorCtr="0" anchor="ctr" bIns="83375" lIns="83375" spcFirstLastPara="1" rIns="83375" wrap="square" tIns="83375">
            <a:noAutofit/>
          </a:bodyPr>
          <a:lstStyle/>
          <a:p>
            <a:pPr indent="0" lvl="0" marL="0" rtl="0" algn="ctr">
              <a:spcBef>
                <a:spcPts val="0"/>
              </a:spcBef>
              <a:spcAft>
                <a:spcPts val="0"/>
              </a:spcAft>
              <a:buNone/>
            </a:pPr>
            <a:r>
              <a:t/>
            </a:r>
            <a:endParaRPr sz="1261">
              <a:latin typeface="DM Sans"/>
              <a:ea typeface="DM Sans"/>
              <a:cs typeface="DM Sans"/>
              <a:sym typeface="DM Sans"/>
            </a:endParaRPr>
          </a:p>
        </p:txBody>
      </p:sp>
      <p:sp>
        <p:nvSpPr>
          <p:cNvPr id="520" name="Google Shape;520;p52"/>
          <p:cNvSpPr txBox="1"/>
          <p:nvPr/>
        </p:nvSpPr>
        <p:spPr>
          <a:xfrm>
            <a:off x="178755" y="3069300"/>
            <a:ext cx="1609200" cy="155400"/>
          </a:xfrm>
          <a:prstGeom prst="rect">
            <a:avLst/>
          </a:prstGeom>
          <a:noFill/>
          <a:ln>
            <a:noFill/>
          </a:ln>
        </p:spPr>
        <p:txBody>
          <a:bodyPr anchorCtr="0" anchor="t" bIns="83375" lIns="83375" spcFirstLastPara="1" rIns="83375" wrap="square" tIns="83375">
            <a:noAutofit/>
          </a:bodyPr>
          <a:lstStyle/>
          <a:p>
            <a:pPr indent="0" lvl="0" marL="0" rtl="0" algn="l">
              <a:lnSpc>
                <a:spcPct val="150000"/>
              </a:lnSpc>
              <a:spcBef>
                <a:spcPts val="0"/>
              </a:spcBef>
              <a:spcAft>
                <a:spcPts val="0"/>
              </a:spcAft>
              <a:buNone/>
            </a:pPr>
            <a:r>
              <a:rPr lang="en" sz="810" u="sng">
                <a:solidFill>
                  <a:srgbClr val="0055F5"/>
                </a:solidFill>
                <a:latin typeface="DM Sans"/>
                <a:ea typeface="DM Sans"/>
                <a:cs typeface="DM Sans"/>
                <a:sym typeface="DM Sans"/>
                <a:hlinkClick r:id="rId5">
                  <a:extLst>
                    <a:ext uri="{A12FA001-AC4F-418D-AE19-62706E023703}">
                      <ahyp:hlinkClr val="tx"/>
                    </a:ext>
                  </a:extLst>
                </a:hlinkClick>
              </a:rPr>
              <a:t>HBI</a:t>
            </a:r>
            <a:r>
              <a:rPr lang="en" sz="810">
                <a:solidFill>
                  <a:srgbClr val="333333"/>
                </a:solidFill>
                <a:latin typeface="DM Sans"/>
                <a:ea typeface="DM Sans"/>
                <a:cs typeface="DM Sans"/>
                <a:sym typeface="DM Sans"/>
              </a:rPr>
              <a:t> (High Business Impact)</a:t>
            </a:r>
            <a:endParaRPr sz="810">
              <a:solidFill>
                <a:srgbClr val="333333"/>
              </a:solidFill>
              <a:latin typeface="DM Sans"/>
              <a:ea typeface="DM Sans"/>
              <a:cs typeface="DM Sans"/>
              <a:sym typeface="DM Sans"/>
            </a:endParaRPr>
          </a:p>
        </p:txBody>
      </p:sp>
      <p:sp>
        <p:nvSpPr>
          <p:cNvPr id="521" name="Google Shape;521;p52"/>
          <p:cNvSpPr txBox="1"/>
          <p:nvPr/>
        </p:nvSpPr>
        <p:spPr>
          <a:xfrm>
            <a:off x="1499205" y="3069298"/>
            <a:ext cx="912300" cy="155400"/>
          </a:xfrm>
          <a:prstGeom prst="rect">
            <a:avLst/>
          </a:prstGeom>
          <a:noFill/>
          <a:ln>
            <a:noFill/>
          </a:ln>
        </p:spPr>
        <p:txBody>
          <a:bodyPr anchorCtr="0" anchor="t" bIns="83375" lIns="83375" spcFirstLastPara="1" rIns="83375" wrap="square" tIns="83375">
            <a:noAutofit/>
          </a:bodyPr>
          <a:lstStyle/>
          <a:p>
            <a:pPr indent="0" lvl="0" marL="0" rtl="0" algn="r">
              <a:lnSpc>
                <a:spcPct val="150000"/>
              </a:lnSpc>
              <a:spcBef>
                <a:spcPts val="0"/>
              </a:spcBef>
              <a:spcAft>
                <a:spcPts val="0"/>
              </a:spcAft>
              <a:buNone/>
            </a:pPr>
            <a:r>
              <a:rPr b="1" lang="en" sz="810">
                <a:solidFill>
                  <a:srgbClr val="333333"/>
                </a:solidFill>
                <a:latin typeface="DM Sans"/>
                <a:ea typeface="DM Sans"/>
                <a:cs typeface="DM Sans"/>
                <a:sym typeface="DM Sans"/>
              </a:rPr>
              <a:t>{{P_HBI}}</a:t>
            </a:r>
            <a:endParaRPr b="1" sz="810">
              <a:solidFill>
                <a:srgbClr val="333333"/>
              </a:solidFill>
              <a:latin typeface="DM Sans"/>
              <a:ea typeface="DM Sans"/>
              <a:cs typeface="DM Sans"/>
              <a:sym typeface="DM Sans"/>
            </a:endParaRPr>
          </a:p>
        </p:txBody>
      </p:sp>
      <p:sp>
        <p:nvSpPr>
          <p:cNvPr id="522" name="Google Shape;522;p52"/>
          <p:cNvSpPr txBox="1"/>
          <p:nvPr/>
        </p:nvSpPr>
        <p:spPr>
          <a:xfrm>
            <a:off x="178763" y="3233461"/>
            <a:ext cx="1650000" cy="164100"/>
          </a:xfrm>
          <a:prstGeom prst="rect">
            <a:avLst/>
          </a:prstGeom>
          <a:noFill/>
          <a:ln>
            <a:noFill/>
          </a:ln>
        </p:spPr>
        <p:txBody>
          <a:bodyPr anchorCtr="0" anchor="t" bIns="83375" lIns="83375" spcFirstLastPara="1" rIns="83375" wrap="square" tIns="83375">
            <a:noAutofit/>
          </a:bodyPr>
          <a:lstStyle/>
          <a:p>
            <a:pPr indent="0" lvl="0" marL="0" rtl="0" algn="l">
              <a:lnSpc>
                <a:spcPct val="150000"/>
              </a:lnSpc>
              <a:spcBef>
                <a:spcPts val="0"/>
              </a:spcBef>
              <a:spcAft>
                <a:spcPts val="0"/>
              </a:spcAft>
              <a:buNone/>
            </a:pPr>
            <a:r>
              <a:rPr lang="en" sz="810" u="sng">
                <a:solidFill>
                  <a:srgbClr val="0055F5"/>
                </a:solidFill>
                <a:latin typeface="DM Sans"/>
                <a:ea typeface="DM Sans"/>
                <a:cs typeface="DM Sans"/>
                <a:sym typeface="DM Sans"/>
                <a:hlinkClick r:id="rId6">
                  <a:extLst>
                    <a:ext uri="{A12FA001-AC4F-418D-AE19-62706E023703}">
                      <ahyp:hlinkClr val="tx"/>
                    </a:ext>
                  </a:extLst>
                </a:hlinkClick>
              </a:rPr>
              <a:t>MBI</a:t>
            </a:r>
            <a:r>
              <a:rPr lang="en" sz="810">
                <a:solidFill>
                  <a:srgbClr val="333333"/>
                </a:solidFill>
                <a:latin typeface="DM Sans"/>
                <a:ea typeface="DM Sans"/>
                <a:cs typeface="DM Sans"/>
                <a:sym typeface="DM Sans"/>
              </a:rPr>
              <a:t> (Medium Business Impact)</a:t>
            </a:r>
            <a:endParaRPr sz="810">
              <a:solidFill>
                <a:srgbClr val="333333"/>
              </a:solidFill>
              <a:latin typeface="DM Sans"/>
              <a:ea typeface="DM Sans"/>
              <a:cs typeface="DM Sans"/>
              <a:sym typeface="DM Sans"/>
            </a:endParaRPr>
          </a:p>
        </p:txBody>
      </p:sp>
      <p:sp>
        <p:nvSpPr>
          <p:cNvPr id="523" name="Google Shape;523;p52"/>
          <p:cNvSpPr txBox="1"/>
          <p:nvPr/>
        </p:nvSpPr>
        <p:spPr>
          <a:xfrm>
            <a:off x="1499205" y="3226999"/>
            <a:ext cx="912300" cy="155400"/>
          </a:xfrm>
          <a:prstGeom prst="rect">
            <a:avLst/>
          </a:prstGeom>
          <a:noFill/>
          <a:ln>
            <a:noFill/>
          </a:ln>
        </p:spPr>
        <p:txBody>
          <a:bodyPr anchorCtr="0" anchor="t" bIns="83375" lIns="83375" spcFirstLastPara="1" rIns="83375" wrap="square" tIns="83375">
            <a:noAutofit/>
          </a:bodyPr>
          <a:lstStyle/>
          <a:p>
            <a:pPr indent="0" lvl="0" marL="0" rtl="0" algn="r">
              <a:lnSpc>
                <a:spcPct val="150000"/>
              </a:lnSpc>
              <a:spcBef>
                <a:spcPts val="0"/>
              </a:spcBef>
              <a:spcAft>
                <a:spcPts val="0"/>
              </a:spcAft>
              <a:buNone/>
            </a:pPr>
            <a:r>
              <a:rPr b="1" lang="en" sz="810">
                <a:solidFill>
                  <a:srgbClr val="333333"/>
                </a:solidFill>
                <a:latin typeface="DM Sans"/>
                <a:ea typeface="DM Sans"/>
                <a:cs typeface="DM Sans"/>
                <a:sym typeface="DM Sans"/>
              </a:rPr>
              <a:t>{{P_MBI}}</a:t>
            </a:r>
            <a:endParaRPr b="1" sz="810">
              <a:solidFill>
                <a:srgbClr val="333333"/>
              </a:solidFill>
              <a:latin typeface="DM Sans"/>
              <a:ea typeface="DM Sans"/>
              <a:cs typeface="DM Sans"/>
              <a:sym typeface="DM Sans"/>
            </a:endParaRPr>
          </a:p>
        </p:txBody>
      </p:sp>
      <p:sp>
        <p:nvSpPr>
          <p:cNvPr id="524" name="Google Shape;524;p52"/>
          <p:cNvSpPr txBox="1"/>
          <p:nvPr/>
        </p:nvSpPr>
        <p:spPr>
          <a:xfrm>
            <a:off x="103249" y="2268903"/>
            <a:ext cx="2443200" cy="273600"/>
          </a:xfrm>
          <a:prstGeom prst="rect">
            <a:avLst/>
          </a:prstGeom>
          <a:noFill/>
          <a:ln>
            <a:noFill/>
          </a:ln>
        </p:spPr>
        <p:txBody>
          <a:bodyPr anchorCtr="0" anchor="ctr" bIns="83375" lIns="83375" spcFirstLastPara="1" rIns="83375" wrap="square" tIns="83375">
            <a:noAutofit/>
          </a:bodyPr>
          <a:lstStyle/>
          <a:p>
            <a:pPr indent="0" lvl="0" marL="0" rtl="0" algn="ctr">
              <a:lnSpc>
                <a:spcPct val="100000"/>
              </a:lnSpc>
              <a:spcBef>
                <a:spcPts val="0"/>
              </a:spcBef>
              <a:spcAft>
                <a:spcPts val="0"/>
              </a:spcAft>
              <a:buNone/>
            </a:pPr>
            <a:r>
              <a:rPr lang="en" sz="1300">
                <a:solidFill>
                  <a:srgbClr val="333333"/>
                </a:solidFill>
                <a:latin typeface="Poppins"/>
                <a:ea typeface="Poppins"/>
                <a:cs typeface="Poppins"/>
                <a:sym typeface="Poppins"/>
              </a:rPr>
              <a:t>Projects</a:t>
            </a:r>
            <a:endParaRPr sz="1300">
              <a:solidFill>
                <a:srgbClr val="333333"/>
              </a:solidFill>
              <a:latin typeface="Poppins"/>
              <a:ea typeface="Poppins"/>
              <a:cs typeface="Poppins"/>
              <a:sym typeface="Poppins"/>
            </a:endParaRPr>
          </a:p>
        </p:txBody>
      </p:sp>
      <p:sp>
        <p:nvSpPr>
          <p:cNvPr id="525" name="Google Shape;525;p52"/>
          <p:cNvSpPr txBox="1"/>
          <p:nvPr/>
        </p:nvSpPr>
        <p:spPr>
          <a:xfrm>
            <a:off x="201255" y="2630860"/>
            <a:ext cx="1550400" cy="141600"/>
          </a:xfrm>
          <a:prstGeom prst="rect">
            <a:avLst/>
          </a:prstGeom>
          <a:noFill/>
          <a:ln>
            <a:noFill/>
          </a:ln>
        </p:spPr>
        <p:txBody>
          <a:bodyPr anchorCtr="0" anchor="t" bIns="83375" lIns="83375" spcFirstLastPara="1" rIns="83375" wrap="square" tIns="83375">
            <a:noAutofit/>
          </a:bodyPr>
          <a:lstStyle/>
          <a:p>
            <a:pPr indent="0" lvl="0" marL="0" rtl="0" algn="l">
              <a:lnSpc>
                <a:spcPct val="150000"/>
              </a:lnSpc>
              <a:spcBef>
                <a:spcPts val="0"/>
              </a:spcBef>
              <a:spcAft>
                <a:spcPts val="0"/>
              </a:spcAft>
              <a:buNone/>
            </a:pPr>
            <a:r>
              <a:rPr lang="en" sz="1000">
                <a:solidFill>
                  <a:schemeClr val="dk1"/>
                </a:solidFill>
                <a:latin typeface="Poppins Medium"/>
                <a:ea typeface="Poppins Medium"/>
                <a:cs typeface="Poppins Medium"/>
                <a:sym typeface="Poppins Medium"/>
              </a:rPr>
              <a:t>Total Parent</a:t>
            </a:r>
            <a:endParaRPr sz="1000">
              <a:solidFill>
                <a:schemeClr val="dk1"/>
              </a:solidFill>
              <a:latin typeface="Poppins Medium"/>
              <a:ea typeface="Poppins Medium"/>
              <a:cs typeface="Poppins Medium"/>
              <a:sym typeface="Poppins Medium"/>
            </a:endParaRPr>
          </a:p>
        </p:txBody>
      </p:sp>
      <p:sp>
        <p:nvSpPr>
          <p:cNvPr id="526" name="Google Shape;526;p52"/>
          <p:cNvSpPr txBox="1"/>
          <p:nvPr/>
        </p:nvSpPr>
        <p:spPr>
          <a:xfrm>
            <a:off x="1401337" y="2613283"/>
            <a:ext cx="1003500" cy="141600"/>
          </a:xfrm>
          <a:prstGeom prst="rect">
            <a:avLst/>
          </a:prstGeom>
          <a:noFill/>
          <a:ln>
            <a:noFill/>
          </a:ln>
        </p:spPr>
        <p:txBody>
          <a:bodyPr anchorCtr="0" anchor="t" bIns="83375" lIns="83375" spcFirstLastPara="1" rIns="83375" wrap="square" tIns="83375">
            <a:noAutofit/>
          </a:bodyPr>
          <a:lstStyle/>
          <a:p>
            <a:pPr indent="0" lvl="0" marL="0" rtl="0" algn="r">
              <a:lnSpc>
                <a:spcPct val="150000"/>
              </a:lnSpc>
              <a:spcBef>
                <a:spcPts val="0"/>
              </a:spcBef>
              <a:spcAft>
                <a:spcPts val="0"/>
              </a:spcAft>
              <a:buNone/>
            </a:pPr>
            <a:r>
              <a:rPr b="1" lang="en" sz="990">
                <a:solidFill>
                  <a:srgbClr val="333333"/>
                </a:solidFill>
                <a:latin typeface="DM Sans"/>
                <a:ea typeface="DM Sans"/>
                <a:cs typeface="DM Sans"/>
                <a:sym typeface="DM Sans"/>
              </a:rPr>
              <a:t>{{P_TOT}}</a:t>
            </a:r>
            <a:endParaRPr b="1" sz="990">
              <a:solidFill>
                <a:srgbClr val="333333"/>
              </a:solidFill>
              <a:latin typeface="DM Sans"/>
              <a:ea typeface="DM Sans"/>
              <a:cs typeface="DM Sans"/>
              <a:sym typeface="DM Sans"/>
            </a:endParaRPr>
          </a:p>
        </p:txBody>
      </p:sp>
      <p:sp>
        <p:nvSpPr>
          <p:cNvPr id="527" name="Google Shape;527;p52"/>
          <p:cNvSpPr txBox="1"/>
          <p:nvPr/>
        </p:nvSpPr>
        <p:spPr>
          <a:xfrm>
            <a:off x="181215" y="3397646"/>
            <a:ext cx="1459200" cy="155400"/>
          </a:xfrm>
          <a:prstGeom prst="rect">
            <a:avLst/>
          </a:prstGeom>
          <a:noFill/>
          <a:ln>
            <a:noFill/>
          </a:ln>
        </p:spPr>
        <p:txBody>
          <a:bodyPr anchorCtr="0" anchor="t" bIns="83375" lIns="83375" spcFirstLastPara="1" rIns="83375" wrap="square" tIns="83375">
            <a:noAutofit/>
          </a:bodyPr>
          <a:lstStyle/>
          <a:p>
            <a:pPr indent="0" lvl="0" marL="0" rtl="0" algn="l">
              <a:lnSpc>
                <a:spcPct val="150000"/>
              </a:lnSpc>
              <a:spcBef>
                <a:spcPts val="0"/>
              </a:spcBef>
              <a:spcAft>
                <a:spcPts val="0"/>
              </a:spcAft>
              <a:buNone/>
            </a:pPr>
            <a:r>
              <a:rPr lang="en" sz="810" u="sng">
                <a:solidFill>
                  <a:srgbClr val="0055F5"/>
                </a:solidFill>
                <a:latin typeface="DM Sans"/>
                <a:ea typeface="DM Sans"/>
                <a:cs typeface="DM Sans"/>
                <a:sym typeface="DM Sans"/>
                <a:hlinkClick r:id="rId7">
                  <a:extLst>
                    <a:ext uri="{A12FA001-AC4F-418D-AE19-62706E023703}">
                      <ahyp:hlinkClr val="tx"/>
                    </a:ext>
                  </a:extLst>
                </a:hlinkClick>
              </a:rPr>
              <a:t>LBI</a:t>
            </a:r>
            <a:r>
              <a:rPr lang="en" sz="810">
                <a:solidFill>
                  <a:srgbClr val="333333"/>
                </a:solidFill>
                <a:latin typeface="DM Sans"/>
                <a:ea typeface="DM Sans"/>
                <a:cs typeface="DM Sans"/>
                <a:sym typeface="DM Sans"/>
              </a:rPr>
              <a:t> (Low Business Impact)</a:t>
            </a:r>
            <a:endParaRPr sz="810">
              <a:solidFill>
                <a:srgbClr val="333333"/>
              </a:solidFill>
              <a:latin typeface="DM Sans"/>
              <a:ea typeface="DM Sans"/>
              <a:cs typeface="DM Sans"/>
              <a:sym typeface="DM Sans"/>
            </a:endParaRPr>
          </a:p>
        </p:txBody>
      </p:sp>
      <p:sp>
        <p:nvSpPr>
          <p:cNvPr id="528" name="Google Shape;528;p52"/>
          <p:cNvSpPr txBox="1"/>
          <p:nvPr/>
        </p:nvSpPr>
        <p:spPr>
          <a:xfrm>
            <a:off x="1500450" y="3384700"/>
            <a:ext cx="912300" cy="155400"/>
          </a:xfrm>
          <a:prstGeom prst="rect">
            <a:avLst/>
          </a:prstGeom>
          <a:noFill/>
          <a:ln>
            <a:noFill/>
          </a:ln>
        </p:spPr>
        <p:txBody>
          <a:bodyPr anchorCtr="0" anchor="t" bIns="83375" lIns="83375" spcFirstLastPara="1" rIns="83375" wrap="square" tIns="83375">
            <a:noAutofit/>
          </a:bodyPr>
          <a:lstStyle/>
          <a:p>
            <a:pPr indent="0" lvl="0" marL="0" rtl="0" algn="r">
              <a:lnSpc>
                <a:spcPct val="150000"/>
              </a:lnSpc>
              <a:spcBef>
                <a:spcPts val="0"/>
              </a:spcBef>
              <a:spcAft>
                <a:spcPts val="0"/>
              </a:spcAft>
              <a:buNone/>
            </a:pPr>
            <a:r>
              <a:rPr b="1" lang="en" sz="810">
                <a:solidFill>
                  <a:srgbClr val="333333"/>
                </a:solidFill>
                <a:latin typeface="DM Sans"/>
                <a:ea typeface="DM Sans"/>
                <a:cs typeface="DM Sans"/>
                <a:sym typeface="DM Sans"/>
              </a:rPr>
              <a:t>{{P_LBI}}</a:t>
            </a:r>
            <a:endParaRPr b="1" sz="810">
              <a:solidFill>
                <a:srgbClr val="333333"/>
              </a:solidFill>
              <a:latin typeface="DM Sans"/>
              <a:ea typeface="DM Sans"/>
              <a:cs typeface="DM Sans"/>
              <a:sym typeface="DM Sans"/>
            </a:endParaRPr>
          </a:p>
        </p:txBody>
      </p:sp>
      <p:sp>
        <p:nvSpPr>
          <p:cNvPr id="529" name="Google Shape;529;p52"/>
          <p:cNvSpPr txBox="1"/>
          <p:nvPr/>
        </p:nvSpPr>
        <p:spPr>
          <a:xfrm>
            <a:off x="200888" y="2823111"/>
            <a:ext cx="1550400" cy="141600"/>
          </a:xfrm>
          <a:prstGeom prst="rect">
            <a:avLst/>
          </a:prstGeom>
          <a:noFill/>
          <a:ln>
            <a:noFill/>
          </a:ln>
        </p:spPr>
        <p:txBody>
          <a:bodyPr anchorCtr="0" anchor="t" bIns="83375" lIns="83375" spcFirstLastPara="1" rIns="83375" wrap="square" tIns="83375">
            <a:noAutofit/>
          </a:bodyPr>
          <a:lstStyle/>
          <a:p>
            <a:pPr indent="0" lvl="0" marL="0" rtl="0" algn="l">
              <a:lnSpc>
                <a:spcPct val="150000"/>
              </a:lnSpc>
              <a:spcBef>
                <a:spcPts val="0"/>
              </a:spcBef>
              <a:spcAft>
                <a:spcPts val="0"/>
              </a:spcAft>
              <a:buNone/>
            </a:pPr>
            <a:r>
              <a:rPr lang="en" sz="1000">
                <a:solidFill>
                  <a:schemeClr val="dk1"/>
                </a:solidFill>
                <a:latin typeface="Poppins Medium"/>
                <a:ea typeface="Poppins Medium"/>
                <a:cs typeface="Poppins Medium"/>
                <a:sym typeface="Poppins Medium"/>
              </a:rPr>
              <a:t>Total Child</a:t>
            </a:r>
            <a:endParaRPr sz="1000">
              <a:solidFill>
                <a:schemeClr val="dk1"/>
              </a:solidFill>
              <a:latin typeface="Poppins Medium"/>
              <a:ea typeface="Poppins Medium"/>
              <a:cs typeface="Poppins Medium"/>
              <a:sym typeface="Poppins Medium"/>
            </a:endParaRPr>
          </a:p>
        </p:txBody>
      </p:sp>
      <p:sp>
        <p:nvSpPr>
          <p:cNvPr id="530" name="Google Shape;530;p52"/>
          <p:cNvSpPr txBox="1"/>
          <p:nvPr/>
        </p:nvSpPr>
        <p:spPr>
          <a:xfrm>
            <a:off x="1400970" y="2805535"/>
            <a:ext cx="1003500" cy="141600"/>
          </a:xfrm>
          <a:prstGeom prst="rect">
            <a:avLst/>
          </a:prstGeom>
          <a:noFill/>
          <a:ln>
            <a:noFill/>
          </a:ln>
        </p:spPr>
        <p:txBody>
          <a:bodyPr anchorCtr="0" anchor="t" bIns="83375" lIns="83375" spcFirstLastPara="1" rIns="83375" wrap="square" tIns="83375">
            <a:noAutofit/>
          </a:bodyPr>
          <a:lstStyle/>
          <a:p>
            <a:pPr indent="0" lvl="0" marL="0" rtl="0" algn="r">
              <a:lnSpc>
                <a:spcPct val="150000"/>
              </a:lnSpc>
              <a:spcBef>
                <a:spcPts val="0"/>
              </a:spcBef>
              <a:spcAft>
                <a:spcPts val="0"/>
              </a:spcAft>
              <a:buNone/>
            </a:pPr>
            <a:r>
              <a:rPr b="1" lang="en" sz="990">
                <a:solidFill>
                  <a:srgbClr val="333333"/>
                </a:solidFill>
                <a:latin typeface="DM Sans"/>
                <a:ea typeface="DM Sans"/>
                <a:cs typeface="DM Sans"/>
                <a:sym typeface="DM Sans"/>
              </a:rPr>
              <a:t>{{PC_TOT}}</a:t>
            </a:r>
            <a:endParaRPr b="1" sz="990">
              <a:solidFill>
                <a:srgbClr val="333333"/>
              </a:solidFill>
              <a:latin typeface="DM Sans"/>
              <a:ea typeface="DM Sans"/>
              <a:cs typeface="DM Sans"/>
              <a:sym typeface="DM Sans"/>
            </a:endParaRPr>
          </a:p>
        </p:txBody>
      </p:sp>
      <p:sp>
        <p:nvSpPr>
          <p:cNvPr id="531" name="Google Shape;531;p52"/>
          <p:cNvSpPr txBox="1"/>
          <p:nvPr/>
        </p:nvSpPr>
        <p:spPr>
          <a:xfrm>
            <a:off x="5657650" y="792816"/>
            <a:ext cx="3193800" cy="301800"/>
          </a:xfrm>
          <a:prstGeom prst="rect">
            <a:avLst/>
          </a:prstGeom>
          <a:noFill/>
          <a:ln>
            <a:noFill/>
          </a:ln>
        </p:spPr>
        <p:txBody>
          <a:bodyPr anchorCtr="0" anchor="ctr" bIns="87225" lIns="87225" spcFirstLastPara="1" rIns="87225" wrap="square" tIns="87225">
            <a:noAutofit/>
          </a:bodyPr>
          <a:lstStyle/>
          <a:p>
            <a:pPr indent="0" lvl="0" marL="0" rtl="0" algn="ctr">
              <a:lnSpc>
                <a:spcPct val="100000"/>
              </a:lnSpc>
              <a:spcBef>
                <a:spcPts val="0"/>
              </a:spcBef>
              <a:spcAft>
                <a:spcPts val="0"/>
              </a:spcAft>
              <a:buNone/>
            </a:pPr>
            <a:r>
              <a:rPr lang="en" sz="1300">
                <a:solidFill>
                  <a:srgbClr val="333333"/>
                </a:solidFill>
                <a:latin typeface="Poppins"/>
                <a:ea typeface="Poppins"/>
                <a:cs typeface="Poppins"/>
                <a:sym typeface="Poppins"/>
              </a:rPr>
              <a:t>Features / Functionality Usage</a:t>
            </a:r>
            <a:endParaRPr sz="1300">
              <a:solidFill>
                <a:srgbClr val="333333"/>
              </a:solidFill>
              <a:latin typeface="Poppins"/>
              <a:ea typeface="Poppins"/>
              <a:cs typeface="Poppins"/>
              <a:sym typeface="Poppins"/>
            </a:endParaRPr>
          </a:p>
        </p:txBody>
      </p:sp>
      <p:sp>
        <p:nvSpPr>
          <p:cNvPr id="532" name="Google Shape;532;p52"/>
          <p:cNvSpPr/>
          <p:nvPr/>
        </p:nvSpPr>
        <p:spPr>
          <a:xfrm>
            <a:off x="5657625" y="1111700"/>
            <a:ext cx="3193800" cy="2585100"/>
          </a:xfrm>
          <a:prstGeom prst="roundRect">
            <a:avLst>
              <a:gd fmla="val 16667" name="adj"/>
            </a:avLst>
          </a:prstGeom>
          <a:noFill/>
          <a:ln cap="flat" cmpd="sng" w="9500">
            <a:solidFill>
              <a:srgbClr val="595959"/>
            </a:solidFill>
            <a:prstDash val="solid"/>
            <a:round/>
            <a:headEnd len="sm" w="sm" type="none"/>
            <a:tailEnd len="sm" w="sm" type="none"/>
          </a:ln>
        </p:spPr>
        <p:txBody>
          <a:bodyPr anchorCtr="0" anchor="ctr" bIns="91225" lIns="91225" spcFirstLastPara="1" rIns="91225" wrap="square" tIns="9122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533" name="Google Shape;533;p52"/>
          <p:cNvSpPr txBox="1"/>
          <p:nvPr/>
        </p:nvSpPr>
        <p:spPr>
          <a:xfrm>
            <a:off x="5738075" y="1326355"/>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8">
                  <a:extLst>
                    <a:ext uri="{A12FA001-AC4F-418D-AE19-62706E023703}">
                      <ahyp:hlinkClr val="tx"/>
                    </a:ext>
                  </a:extLst>
                </a:hlinkClick>
              </a:rPr>
              <a:t>Custom Compliance Frameworks</a:t>
            </a:r>
            <a:endParaRPr sz="900">
              <a:solidFill>
                <a:srgbClr val="333333"/>
              </a:solidFill>
              <a:latin typeface="DM Sans"/>
              <a:ea typeface="DM Sans"/>
              <a:cs typeface="DM Sans"/>
              <a:sym typeface="DM Sans"/>
            </a:endParaRPr>
          </a:p>
        </p:txBody>
      </p:sp>
      <p:sp>
        <p:nvSpPr>
          <p:cNvPr id="534" name="Google Shape;534;p52"/>
          <p:cNvSpPr txBox="1"/>
          <p:nvPr/>
        </p:nvSpPr>
        <p:spPr>
          <a:xfrm>
            <a:off x="7118060" y="1340774"/>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{{F_FW}}</a:t>
            </a:r>
            <a:endParaRPr b="1" sz="900">
              <a:solidFill>
                <a:srgbClr val="333333"/>
              </a:solidFill>
              <a:latin typeface="DM Sans"/>
              <a:ea typeface="DM Sans"/>
              <a:cs typeface="DM Sans"/>
              <a:sym typeface="DM Sans"/>
            </a:endParaRPr>
          </a:p>
        </p:txBody>
      </p:sp>
      <p:sp>
        <p:nvSpPr>
          <p:cNvPr id="535" name="Google Shape;535;p52"/>
          <p:cNvSpPr txBox="1"/>
          <p:nvPr/>
        </p:nvSpPr>
        <p:spPr>
          <a:xfrm>
            <a:off x="5738075" y="1525883"/>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9">
                  <a:extLst>
                    <a:ext uri="{A12FA001-AC4F-418D-AE19-62706E023703}">
                      <ahyp:hlinkClr val="tx"/>
                    </a:ext>
                  </a:extLst>
                </a:hlinkClick>
              </a:rPr>
              <a:t>Resource Tag Rules (On / Off)</a:t>
            </a:r>
            <a:endParaRPr sz="900">
              <a:solidFill>
                <a:srgbClr val="333333"/>
              </a:solidFill>
              <a:latin typeface="DM Sans"/>
              <a:ea typeface="DM Sans"/>
              <a:cs typeface="DM Sans"/>
              <a:sym typeface="DM Sans"/>
            </a:endParaRPr>
          </a:p>
        </p:txBody>
      </p:sp>
      <p:sp>
        <p:nvSpPr>
          <p:cNvPr id="536" name="Google Shape;536;p52"/>
          <p:cNvSpPr txBox="1"/>
          <p:nvPr/>
        </p:nvSpPr>
        <p:spPr>
          <a:xfrm>
            <a:off x="7118060" y="1540302"/>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{{F_TR}}</a:t>
            </a:r>
            <a:endParaRPr b="1" sz="900">
              <a:solidFill>
                <a:srgbClr val="333333"/>
              </a:solidFill>
              <a:latin typeface="DM Sans"/>
              <a:ea typeface="DM Sans"/>
              <a:cs typeface="DM Sans"/>
              <a:sym typeface="DM Sans"/>
            </a:endParaRPr>
          </a:p>
        </p:txBody>
      </p:sp>
      <p:sp>
        <p:nvSpPr>
          <p:cNvPr id="537" name="Google Shape;537;p52"/>
          <p:cNvSpPr txBox="1"/>
          <p:nvPr/>
        </p:nvSpPr>
        <p:spPr>
          <a:xfrm>
            <a:off x="5738075" y="1725412"/>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10">
                  <a:extLst>
                    <a:ext uri="{A12FA001-AC4F-418D-AE19-62706E023703}">
                      <ahyp:hlinkClr val="tx"/>
                    </a:ext>
                  </a:extLst>
                </a:hlinkClick>
              </a:rPr>
              <a:t>Service Catalog Discovery Rules</a:t>
            </a:r>
            <a:endParaRPr sz="900">
              <a:solidFill>
                <a:srgbClr val="333333"/>
              </a:solidFill>
              <a:latin typeface="DM Sans"/>
              <a:ea typeface="DM Sans"/>
              <a:cs typeface="DM Sans"/>
              <a:sym typeface="DM Sans"/>
            </a:endParaRPr>
          </a:p>
        </p:txBody>
      </p:sp>
      <p:sp>
        <p:nvSpPr>
          <p:cNvPr id="538" name="Google Shape;538;p52"/>
          <p:cNvSpPr txBox="1"/>
          <p:nvPr/>
        </p:nvSpPr>
        <p:spPr>
          <a:xfrm>
            <a:off x="7118060" y="1739831"/>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{{F_DR}}</a:t>
            </a:r>
            <a:endParaRPr b="1" sz="900">
              <a:solidFill>
                <a:srgbClr val="333333"/>
              </a:solidFill>
              <a:latin typeface="DM Sans"/>
              <a:ea typeface="DM Sans"/>
              <a:cs typeface="DM Sans"/>
              <a:sym typeface="DM Sans"/>
            </a:endParaRPr>
          </a:p>
        </p:txBody>
      </p:sp>
      <p:sp>
        <p:nvSpPr>
          <p:cNvPr id="539" name="Google Shape;539;p52"/>
          <p:cNvSpPr txBox="1"/>
          <p:nvPr/>
        </p:nvSpPr>
        <p:spPr>
          <a:xfrm>
            <a:off x="5738075" y="1918199"/>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11">
                  <a:extLst>
                    <a:ext uri="{A12FA001-AC4F-418D-AE19-62706E023703}">
                      <ahyp:hlinkClr val="tx"/>
                    </a:ext>
                  </a:extLst>
                </a:hlinkClick>
              </a:rPr>
              <a:t>Inventory Management Rules</a:t>
            </a:r>
            <a:endParaRPr sz="900">
              <a:solidFill>
                <a:srgbClr val="333333"/>
              </a:solidFill>
              <a:latin typeface="DM Sans"/>
              <a:ea typeface="DM Sans"/>
              <a:cs typeface="DM Sans"/>
              <a:sym typeface="DM Sans"/>
            </a:endParaRPr>
          </a:p>
        </p:txBody>
      </p:sp>
      <p:sp>
        <p:nvSpPr>
          <p:cNvPr id="540" name="Google Shape;540;p52"/>
          <p:cNvSpPr txBox="1"/>
          <p:nvPr/>
        </p:nvSpPr>
        <p:spPr>
          <a:xfrm>
            <a:off x="7118060" y="1932618"/>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{{F_IR}}</a:t>
            </a:r>
            <a:endParaRPr b="1" sz="900">
              <a:solidFill>
                <a:srgbClr val="333333"/>
              </a:solidFill>
              <a:latin typeface="DM Sans"/>
              <a:ea typeface="DM Sans"/>
              <a:cs typeface="DM Sans"/>
              <a:sym typeface="DM Sans"/>
            </a:endParaRPr>
          </a:p>
        </p:txBody>
      </p:sp>
      <p:sp>
        <p:nvSpPr>
          <p:cNvPr id="541" name="Google Shape;541;p52"/>
          <p:cNvSpPr txBox="1"/>
          <p:nvPr/>
        </p:nvSpPr>
        <p:spPr>
          <a:xfrm>
            <a:off x="5738075" y="2117727"/>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12">
                  <a:extLst>
                    <a:ext uri="{A12FA001-AC4F-418D-AE19-62706E023703}">
                      <ahyp:hlinkClr val="tx"/>
                    </a:ext>
                  </a:extLst>
                </a:hlinkClick>
              </a:rPr>
              <a:t>User Created Posture Policies</a:t>
            </a:r>
            <a:endParaRPr sz="900">
              <a:solidFill>
                <a:srgbClr val="333333"/>
              </a:solidFill>
              <a:latin typeface="DM Sans"/>
              <a:ea typeface="DM Sans"/>
              <a:cs typeface="DM Sans"/>
              <a:sym typeface="DM Sans"/>
            </a:endParaRPr>
          </a:p>
        </p:txBody>
      </p:sp>
      <p:sp>
        <p:nvSpPr>
          <p:cNvPr id="542" name="Google Shape;542;p52"/>
          <p:cNvSpPr txBox="1"/>
          <p:nvPr/>
        </p:nvSpPr>
        <p:spPr>
          <a:xfrm>
            <a:off x="7118060" y="2132146"/>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{{F_PP}}</a:t>
            </a:r>
            <a:endParaRPr b="1" sz="900">
              <a:solidFill>
                <a:srgbClr val="333333"/>
              </a:solidFill>
              <a:latin typeface="DM Sans"/>
              <a:ea typeface="DM Sans"/>
              <a:cs typeface="DM Sans"/>
              <a:sym typeface="DM Sans"/>
            </a:endParaRPr>
          </a:p>
        </p:txBody>
      </p:sp>
      <p:sp>
        <p:nvSpPr>
          <p:cNvPr id="543" name="Google Shape;543;p52"/>
          <p:cNvSpPr txBox="1"/>
          <p:nvPr/>
        </p:nvSpPr>
        <p:spPr>
          <a:xfrm>
            <a:off x="5738075" y="2317256"/>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13">
                  <a:extLst>
                    <a:ext uri="{A12FA001-AC4F-418D-AE19-62706E023703}">
                      <ahyp:hlinkClr val="tx"/>
                    </a:ext>
                  </a:extLst>
                </a:hlinkClick>
              </a:rPr>
              <a:t>User Created Monitored Metrics</a:t>
            </a:r>
            <a:endParaRPr sz="900">
              <a:solidFill>
                <a:srgbClr val="333333"/>
              </a:solidFill>
              <a:latin typeface="DM Sans"/>
              <a:ea typeface="DM Sans"/>
              <a:cs typeface="DM Sans"/>
              <a:sym typeface="DM Sans"/>
            </a:endParaRPr>
          </a:p>
        </p:txBody>
      </p:sp>
      <p:sp>
        <p:nvSpPr>
          <p:cNvPr id="544" name="Google Shape;544;p52"/>
          <p:cNvSpPr txBox="1"/>
          <p:nvPr/>
        </p:nvSpPr>
        <p:spPr>
          <a:xfrm>
            <a:off x="7118060" y="2331675"/>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{{F_MM}}</a:t>
            </a:r>
            <a:endParaRPr b="1" sz="900">
              <a:solidFill>
                <a:srgbClr val="333333"/>
              </a:solidFill>
              <a:latin typeface="DM Sans"/>
              <a:ea typeface="DM Sans"/>
              <a:cs typeface="DM Sans"/>
              <a:sym typeface="DM Sans"/>
            </a:endParaRPr>
          </a:p>
        </p:txBody>
      </p:sp>
      <p:sp>
        <p:nvSpPr>
          <p:cNvPr id="545" name="Google Shape;545;p52"/>
          <p:cNvSpPr txBox="1"/>
          <p:nvPr/>
        </p:nvSpPr>
        <p:spPr>
          <a:xfrm>
            <a:off x="5730809" y="2513785"/>
            <a:ext cx="3267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153EB"/>
                </a:solidFill>
                <a:latin typeface="DM Sans"/>
                <a:ea typeface="DM Sans"/>
                <a:cs typeface="DM Sans"/>
                <a:sym typeface="DM Sans"/>
                <a:hlinkClick r:id="rId14">
                  <a:extLst>
                    <a:ext uri="{A12FA001-AC4F-418D-AE19-62706E023703}">
                      <ahyp:hlinkClr val="tx"/>
                    </a:ext>
                  </a:extLst>
                </a:hlinkClick>
              </a:rPr>
              <a:t>Champion Center Owners</a:t>
            </a:r>
            <a:endParaRPr sz="900">
              <a:solidFill>
                <a:srgbClr val="0153EB"/>
              </a:solidFill>
              <a:latin typeface="DM Sans"/>
              <a:ea typeface="DM Sans"/>
              <a:cs typeface="DM Sans"/>
              <a:sym typeface="DM Sans"/>
            </a:endParaRPr>
          </a:p>
        </p:txBody>
      </p:sp>
      <p:sp>
        <p:nvSpPr>
          <p:cNvPr id="546" name="Google Shape;546;p52"/>
          <p:cNvSpPr txBox="1"/>
          <p:nvPr/>
        </p:nvSpPr>
        <p:spPr>
          <a:xfrm>
            <a:off x="7110793" y="2516800"/>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{{CC_TOT}}</a:t>
            </a:r>
            <a:endParaRPr b="1" sz="900">
              <a:solidFill>
                <a:srgbClr val="333333"/>
              </a:solidFill>
              <a:latin typeface="DM Sans"/>
              <a:ea typeface="DM Sans"/>
              <a:cs typeface="DM Sans"/>
              <a:sym typeface="DM Sans"/>
            </a:endParaRPr>
          </a:p>
        </p:txBody>
      </p:sp>
      <p:sp>
        <p:nvSpPr>
          <p:cNvPr id="547" name="Google Shape;547;p52"/>
          <p:cNvSpPr txBox="1"/>
          <p:nvPr/>
        </p:nvSpPr>
        <p:spPr>
          <a:xfrm>
            <a:off x="5734950" y="2700400"/>
            <a:ext cx="2223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153EB"/>
                </a:solidFill>
                <a:latin typeface="DM Sans"/>
                <a:ea typeface="DM Sans"/>
                <a:cs typeface="DM Sans"/>
                <a:sym typeface="DM Sans"/>
                <a:hlinkClick r:id="rId15">
                  <a:extLst>
                    <a:ext uri="{A12FA001-AC4F-418D-AE19-62706E023703}">
                      <ahyp:hlinkClr val="tx"/>
                    </a:ext>
                  </a:extLst>
                </a:hlinkClick>
              </a:rPr>
              <a:t>Using Wiz Browser Extension</a:t>
            </a:r>
            <a:endParaRPr sz="900">
              <a:solidFill>
                <a:srgbClr val="0153EB"/>
              </a:solidFill>
              <a:latin typeface="DM Sans"/>
              <a:ea typeface="DM Sans"/>
              <a:cs typeface="DM Sans"/>
              <a:sym typeface="DM Sans"/>
            </a:endParaRPr>
          </a:p>
        </p:txBody>
      </p:sp>
      <p:sp>
        <p:nvSpPr>
          <p:cNvPr id="548" name="Google Shape;548;p52"/>
          <p:cNvSpPr txBox="1"/>
          <p:nvPr/>
        </p:nvSpPr>
        <p:spPr>
          <a:xfrm>
            <a:off x="7114933" y="2703414"/>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{{F_BE}}</a:t>
            </a:r>
            <a:endParaRPr b="1" sz="900">
              <a:solidFill>
                <a:srgbClr val="333333"/>
              </a:solidFill>
              <a:latin typeface="DM Sans"/>
              <a:ea typeface="DM Sans"/>
              <a:cs typeface="DM Sans"/>
              <a:sym typeface="DM Sans"/>
            </a:endParaRPr>
          </a:p>
        </p:txBody>
      </p:sp>
      <p:pic>
        <p:nvPicPr>
          <p:cNvPr id="549" name="Google Shape;549;p52" title="Group 1000004640.png"/>
          <p:cNvPicPr preferRelativeResize="0"/>
          <p:nvPr/>
        </p:nvPicPr>
        <p:blipFill>
          <a:blip r:embed="rId16">
            <a:alphaModFix/>
          </a:blip>
          <a:stretch>
            <a:fillRect/>
          </a:stretch>
        </p:blipFill>
        <p:spPr>
          <a:xfrm>
            <a:off x="6701399" y="3967102"/>
            <a:ext cx="1202026" cy="1159184"/>
          </a:xfrm>
          <a:prstGeom prst="rect">
            <a:avLst/>
          </a:prstGeom>
          <a:noFill/>
          <a:ln>
            <a:noFill/>
          </a:ln>
        </p:spPr>
      </p:pic>
      <p:pic>
        <p:nvPicPr>
          <p:cNvPr id="550" name="Google Shape;550;p52" title="Group 1000004641.png"/>
          <p:cNvPicPr preferRelativeResize="0"/>
          <p:nvPr/>
        </p:nvPicPr>
        <p:blipFill>
          <a:blip r:embed="rId17">
            <a:alphaModFix/>
          </a:blip>
          <a:stretch>
            <a:fillRect/>
          </a:stretch>
        </p:blipFill>
        <p:spPr>
          <a:xfrm>
            <a:off x="4245479" y="3967102"/>
            <a:ext cx="1202026" cy="1155693"/>
          </a:xfrm>
          <a:prstGeom prst="rect">
            <a:avLst/>
          </a:prstGeom>
          <a:noFill/>
          <a:ln>
            <a:noFill/>
          </a:ln>
        </p:spPr>
      </p:pic>
      <p:pic>
        <p:nvPicPr>
          <p:cNvPr id="551" name="Google Shape;551;p52" title="Group 1000004639.png"/>
          <p:cNvPicPr preferRelativeResize="0"/>
          <p:nvPr/>
        </p:nvPicPr>
        <p:blipFill>
          <a:blip r:embed="rId18">
            <a:alphaModFix/>
          </a:blip>
          <a:stretch>
            <a:fillRect/>
          </a:stretch>
        </p:blipFill>
        <p:spPr>
          <a:xfrm>
            <a:off x="1789559" y="3967102"/>
            <a:ext cx="1202026" cy="1159200"/>
          </a:xfrm>
          <a:prstGeom prst="rect">
            <a:avLst/>
          </a:prstGeom>
          <a:noFill/>
          <a:ln>
            <a:noFill/>
          </a:ln>
        </p:spPr>
      </p:pic>
      <p:sp>
        <p:nvSpPr>
          <p:cNvPr id="552" name="Google Shape;552;p52"/>
          <p:cNvSpPr/>
          <p:nvPr/>
        </p:nvSpPr>
        <p:spPr>
          <a:xfrm>
            <a:off x="1826818" y="4593453"/>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Green Agent</a:t>
            </a:r>
            <a:endParaRPr b="1" sz="626" u="none" cap="none" strike="noStrike">
              <a:solidFill>
                <a:srgbClr val="000000"/>
              </a:solidFill>
              <a:latin typeface="Poppins"/>
              <a:ea typeface="Poppins"/>
              <a:cs typeface="Poppins"/>
              <a:sym typeface="Poppins"/>
            </a:endParaRPr>
          </a:p>
        </p:txBody>
      </p:sp>
      <p:sp>
        <p:nvSpPr>
          <p:cNvPr id="553" name="Google Shape;553;p52"/>
          <p:cNvSpPr/>
          <p:nvPr/>
        </p:nvSpPr>
        <p:spPr>
          <a:xfrm>
            <a:off x="1842610" y="4876841"/>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1021">
                <a:latin typeface="Poppins"/>
                <a:ea typeface="Poppins"/>
                <a:cs typeface="Poppins"/>
                <a:sym typeface="Poppins"/>
              </a:rPr>
              <a:t>Enabled</a:t>
            </a:r>
            <a:br>
              <a:rPr lang="en" sz="1021">
                <a:latin typeface="Poppins"/>
                <a:ea typeface="Poppins"/>
                <a:cs typeface="Poppins"/>
                <a:sym typeface="Poppins"/>
              </a:rPr>
            </a:br>
            <a:r>
              <a:rPr lang="en" sz="1021">
                <a:latin typeface="Poppins"/>
                <a:ea typeface="Poppins"/>
                <a:cs typeface="Poppins"/>
                <a:sym typeface="Poppins"/>
              </a:rPr>
              <a:t>{{F_GA}}</a:t>
            </a:r>
            <a:br>
              <a:rPr lang="en" sz="1021">
                <a:latin typeface="Poppins"/>
                <a:ea typeface="Poppins"/>
                <a:cs typeface="Poppins"/>
                <a:sym typeface="Poppins"/>
              </a:rPr>
            </a:br>
            <a:endParaRPr sz="1021" u="none" cap="none" strike="noStrike">
              <a:solidFill>
                <a:srgbClr val="000000"/>
              </a:solidFill>
              <a:latin typeface="Poppins"/>
              <a:ea typeface="Poppins"/>
              <a:cs typeface="Poppins"/>
              <a:sym typeface="Poppins"/>
            </a:endParaRPr>
          </a:p>
        </p:txBody>
      </p:sp>
      <p:sp>
        <p:nvSpPr>
          <p:cNvPr id="554" name="Google Shape;554;p52"/>
          <p:cNvSpPr/>
          <p:nvPr/>
        </p:nvSpPr>
        <p:spPr>
          <a:xfrm>
            <a:off x="792658" y="4512343"/>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631">
                <a:solidFill>
                  <a:srgbClr val="0254EC"/>
                </a:solidFill>
                <a:latin typeface="Poppins"/>
                <a:ea typeface="Poppins"/>
                <a:cs typeface="Poppins"/>
                <a:sym typeface="Poppins"/>
              </a:rPr>
              <a:t>Preventive Security</a:t>
            </a:r>
            <a:endParaRPr b="1" sz="526" u="none" cap="none" strike="noStrike">
              <a:solidFill>
                <a:srgbClr val="000000"/>
              </a:solidFill>
              <a:latin typeface="Poppins"/>
              <a:ea typeface="Poppins"/>
              <a:cs typeface="Poppins"/>
              <a:sym typeface="Poppins"/>
            </a:endParaRPr>
          </a:p>
        </p:txBody>
      </p:sp>
      <p:sp>
        <p:nvSpPr>
          <p:cNvPr id="555" name="Google Shape;555;p52"/>
          <p:cNvSpPr/>
          <p:nvPr/>
        </p:nvSpPr>
        <p:spPr>
          <a:xfrm>
            <a:off x="755800" y="4748530"/>
            <a:ext cx="10293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Build securely and </a:t>
            </a:r>
            <a:br>
              <a:rPr lang="en" sz="726">
                <a:solidFill>
                  <a:srgbClr val="001741"/>
                </a:solidFill>
                <a:latin typeface="Poppins"/>
                <a:ea typeface="Poppins"/>
                <a:cs typeface="Poppins"/>
                <a:sym typeface="Poppins"/>
              </a:rPr>
            </a:br>
            <a:r>
              <a:rPr lang="en" sz="726">
                <a:solidFill>
                  <a:srgbClr val="001741"/>
                </a:solidFill>
                <a:latin typeface="Poppins"/>
                <a:ea typeface="Poppins"/>
                <a:cs typeface="Poppins"/>
                <a:sym typeface="Poppins"/>
              </a:rPr>
              <a:t>remediate at the source</a:t>
            </a:r>
            <a:endParaRPr sz="621" u="none" cap="none" strike="noStrike">
              <a:solidFill>
                <a:srgbClr val="000000"/>
              </a:solidFill>
              <a:latin typeface="Poppins"/>
              <a:ea typeface="Poppins"/>
              <a:cs typeface="Poppins"/>
              <a:sym typeface="Poppins"/>
            </a:endParaRPr>
          </a:p>
        </p:txBody>
      </p:sp>
      <p:sp>
        <p:nvSpPr>
          <p:cNvPr id="556" name="Google Shape;556;p52"/>
          <p:cNvSpPr/>
          <p:nvPr/>
        </p:nvSpPr>
        <p:spPr>
          <a:xfrm>
            <a:off x="3258006" y="4512343"/>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631">
                <a:solidFill>
                  <a:srgbClr val="0254EC"/>
                </a:solidFill>
                <a:latin typeface="Poppins"/>
                <a:ea typeface="Poppins"/>
                <a:cs typeface="Poppins"/>
                <a:sym typeface="Poppins"/>
              </a:rPr>
              <a:t>Reactive Security</a:t>
            </a:r>
            <a:endParaRPr b="1" sz="526" u="none" cap="none" strike="noStrike">
              <a:solidFill>
                <a:srgbClr val="000000"/>
              </a:solidFill>
              <a:latin typeface="Poppins"/>
              <a:ea typeface="Poppins"/>
              <a:cs typeface="Poppins"/>
              <a:sym typeface="Poppins"/>
            </a:endParaRPr>
          </a:p>
        </p:txBody>
      </p:sp>
      <p:sp>
        <p:nvSpPr>
          <p:cNvPr id="557" name="Google Shape;557;p52"/>
          <p:cNvSpPr/>
          <p:nvPr/>
        </p:nvSpPr>
        <p:spPr>
          <a:xfrm>
            <a:off x="3173074" y="4738385"/>
            <a:ext cx="1117800" cy="3147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Investigate and </a:t>
            </a:r>
            <a:br>
              <a:rPr lang="en" sz="726">
                <a:solidFill>
                  <a:srgbClr val="001741"/>
                </a:solidFill>
                <a:latin typeface="Poppins"/>
                <a:ea typeface="Poppins"/>
                <a:cs typeface="Poppins"/>
                <a:sym typeface="Poppins"/>
              </a:rPr>
            </a:br>
            <a:r>
              <a:rPr lang="en" sz="726">
                <a:solidFill>
                  <a:srgbClr val="001741"/>
                </a:solidFill>
                <a:latin typeface="Poppins"/>
                <a:ea typeface="Poppins"/>
                <a:cs typeface="Poppins"/>
                <a:sym typeface="Poppins"/>
              </a:rPr>
              <a:t>triage high-fidelity threats</a:t>
            </a:r>
            <a:endParaRPr sz="621" u="none" cap="none" strike="noStrike">
              <a:solidFill>
                <a:srgbClr val="000000"/>
              </a:solidFill>
              <a:latin typeface="Poppins"/>
              <a:ea typeface="Poppins"/>
              <a:cs typeface="Poppins"/>
              <a:sym typeface="Poppins"/>
            </a:endParaRPr>
          </a:p>
        </p:txBody>
      </p:sp>
      <p:sp>
        <p:nvSpPr>
          <p:cNvPr id="558" name="Google Shape;558;p52"/>
          <p:cNvSpPr/>
          <p:nvPr/>
        </p:nvSpPr>
        <p:spPr>
          <a:xfrm>
            <a:off x="5714491" y="4512343"/>
            <a:ext cx="9384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631">
                <a:solidFill>
                  <a:srgbClr val="0254EC"/>
                </a:solidFill>
                <a:latin typeface="Poppins"/>
                <a:ea typeface="Poppins"/>
                <a:cs typeface="Poppins"/>
                <a:sym typeface="Poppins"/>
              </a:rPr>
              <a:t>Proactive Security</a:t>
            </a:r>
            <a:endParaRPr b="1" sz="526" u="none" cap="none" strike="noStrike">
              <a:solidFill>
                <a:srgbClr val="000000"/>
              </a:solidFill>
              <a:latin typeface="Poppins"/>
              <a:ea typeface="Poppins"/>
              <a:cs typeface="Poppins"/>
              <a:sym typeface="Poppins"/>
            </a:endParaRPr>
          </a:p>
        </p:txBody>
      </p:sp>
      <p:sp>
        <p:nvSpPr>
          <p:cNvPr id="559" name="Google Shape;559;p52"/>
          <p:cNvSpPr/>
          <p:nvPr/>
        </p:nvSpPr>
        <p:spPr>
          <a:xfrm>
            <a:off x="5629558" y="4738385"/>
            <a:ext cx="11178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Identify high-risk </a:t>
            </a:r>
            <a:br>
              <a:rPr lang="en" sz="726">
                <a:solidFill>
                  <a:srgbClr val="001741"/>
                </a:solidFill>
                <a:latin typeface="Poppins"/>
                <a:ea typeface="Poppins"/>
                <a:cs typeface="Poppins"/>
                <a:sym typeface="Poppins"/>
              </a:rPr>
            </a:br>
            <a:r>
              <a:rPr lang="en" sz="726">
                <a:solidFill>
                  <a:srgbClr val="001741"/>
                </a:solidFill>
                <a:latin typeface="Poppins"/>
                <a:ea typeface="Poppins"/>
                <a:cs typeface="Poppins"/>
                <a:sym typeface="Poppins"/>
              </a:rPr>
              <a:t>issues before they </a:t>
            </a:r>
            <a:br>
              <a:rPr lang="en" sz="726">
                <a:solidFill>
                  <a:srgbClr val="001741"/>
                </a:solidFill>
                <a:latin typeface="Poppins"/>
                <a:ea typeface="Poppins"/>
                <a:cs typeface="Poppins"/>
                <a:sym typeface="Poppins"/>
              </a:rPr>
            </a:br>
            <a:r>
              <a:rPr lang="en" sz="726">
                <a:solidFill>
                  <a:srgbClr val="001741"/>
                </a:solidFill>
                <a:latin typeface="Poppins"/>
                <a:ea typeface="Poppins"/>
                <a:cs typeface="Poppins"/>
                <a:sym typeface="Poppins"/>
              </a:rPr>
              <a:t>can be exploited</a:t>
            </a:r>
            <a:endParaRPr sz="621" u="none" cap="none" strike="noStrike">
              <a:solidFill>
                <a:srgbClr val="000000"/>
              </a:solidFill>
              <a:latin typeface="Poppins"/>
              <a:ea typeface="Poppins"/>
              <a:cs typeface="Poppins"/>
              <a:sym typeface="Poppins"/>
            </a:endParaRPr>
          </a:p>
        </p:txBody>
      </p:sp>
      <p:sp>
        <p:nvSpPr>
          <p:cNvPr id="560" name="Google Shape;560;p52"/>
          <p:cNvSpPr/>
          <p:nvPr/>
        </p:nvSpPr>
        <p:spPr>
          <a:xfrm>
            <a:off x="4293866" y="4602589"/>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Blue</a:t>
            </a:r>
            <a:r>
              <a:rPr b="1" lang="en" sz="731">
                <a:solidFill>
                  <a:srgbClr val="0254EC"/>
                </a:solidFill>
                <a:latin typeface="Poppins"/>
                <a:ea typeface="Poppins"/>
                <a:cs typeface="Poppins"/>
                <a:sym typeface="Poppins"/>
              </a:rPr>
              <a:t> Agent</a:t>
            </a:r>
            <a:endParaRPr b="1" sz="626" u="none" cap="none" strike="noStrike">
              <a:solidFill>
                <a:srgbClr val="000000"/>
              </a:solidFill>
              <a:latin typeface="Poppins"/>
              <a:ea typeface="Poppins"/>
              <a:cs typeface="Poppins"/>
              <a:sym typeface="Poppins"/>
            </a:endParaRPr>
          </a:p>
        </p:txBody>
      </p:sp>
      <p:sp>
        <p:nvSpPr>
          <p:cNvPr id="561" name="Google Shape;561;p52"/>
          <p:cNvSpPr/>
          <p:nvPr/>
        </p:nvSpPr>
        <p:spPr>
          <a:xfrm>
            <a:off x="4309658" y="4885978"/>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1021">
                <a:latin typeface="Poppins"/>
                <a:ea typeface="Poppins"/>
                <a:cs typeface="Poppins"/>
                <a:sym typeface="Poppins"/>
              </a:rPr>
              <a:t>Enabled</a:t>
            </a:r>
            <a:br>
              <a:rPr lang="en" sz="1021">
                <a:latin typeface="Poppins"/>
                <a:ea typeface="Poppins"/>
                <a:cs typeface="Poppins"/>
                <a:sym typeface="Poppins"/>
              </a:rPr>
            </a:br>
            <a:r>
              <a:rPr lang="en" sz="1021">
                <a:latin typeface="Poppins"/>
                <a:ea typeface="Poppins"/>
                <a:cs typeface="Poppins"/>
                <a:sym typeface="Poppins"/>
              </a:rPr>
              <a:t>{{F_BA}}</a:t>
            </a:r>
            <a:br>
              <a:rPr lang="en" sz="1021">
                <a:latin typeface="Poppins"/>
                <a:ea typeface="Poppins"/>
                <a:cs typeface="Poppins"/>
                <a:sym typeface="Poppins"/>
              </a:rPr>
            </a:br>
            <a:endParaRPr sz="1021" u="none" cap="none" strike="noStrike">
              <a:solidFill>
                <a:srgbClr val="000000"/>
              </a:solidFill>
              <a:latin typeface="Poppins"/>
              <a:ea typeface="Poppins"/>
              <a:cs typeface="Poppins"/>
              <a:sym typeface="Poppins"/>
            </a:endParaRPr>
          </a:p>
        </p:txBody>
      </p:sp>
      <p:sp>
        <p:nvSpPr>
          <p:cNvPr id="562" name="Google Shape;562;p52"/>
          <p:cNvSpPr/>
          <p:nvPr/>
        </p:nvSpPr>
        <p:spPr>
          <a:xfrm>
            <a:off x="6751047" y="4611991"/>
            <a:ext cx="1115100" cy="1203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Red </a:t>
            </a:r>
            <a:r>
              <a:rPr b="1" lang="en" sz="731">
                <a:solidFill>
                  <a:srgbClr val="0254EC"/>
                </a:solidFill>
                <a:latin typeface="Poppins"/>
                <a:ea typeface="Poppins"/>
                <a:cs typeface="Poppins"/>
                <a:sym typeface="Poppins"/>
              </a:rPr>
              <a:t>Agent</a:t>
            </a:r>
            <a:endParaRPr b="1" sz="626" u="none" cap="none" strike="noStrike">
              <a:solidFill>
                <a:srgbClr val="000000"/>
              </a:solidFill>
              <a:latin typeface="Poppins"/>
              <a:ea typeface="Poppins"/>
              <a:cs typeface="Poppins"/>
              <a:sym typeface="Poppins"/>
            </a:endParaRPr>
          </a:p>
        </p:txBody>
      </p:sp>
      <p:sp>
        <p:nvSpPr>
          <p:cNvPr id="563" name="Google Shape;563;p52"/>
          <p:cNvSpPr/>
          <p:nvPr/>
        </p:nvSpPr>
        <p:spPr>
          <a:xfrm>
            <a:off x="6766839" y="4895379"/>
            <a:ext cx="1093200" cy="1761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1021">
                <a:latin typeface="Poppins"/>
                <a:ea typeface="Poppins"/>
                <a:cs typeface="Poppins"/>
                <a:sym typeface="Poppins"/>
              </a:rPr>
              <a:t>Enabled</a:t>
            </a:r>
            <a:br>
              <a:rPr lang="en" sz="1021">
                <a:latin typeface="Poppins"/>
                <a:ea typeface="Poppins"/>
                <a:cs typeface="Poppins"/>
                <a:sym typeface="Poppins"/>
              </a:rPr>
            </a:br>
            <a:r>
              <a:rPr lang="en" sz="1021">
                <a:latin typeface="Poppins"/>
                <a:ea typeface="Poppins"/>
                <a:cs typeface="Poppins"/>
                <a:sym typeface="Poppins"/>
              </a:rPr>
              <a:t>{{F_RA}}</a:t>
            </a:r>
            <a:br>
              <a:rPr lang="en" sz="1021">
                <a:latin typeface="Poppins"/>
                <a:ea typeface="Poppins"/>
                <a:cs typeface="Poppins"/>
                <a:sym typeface="Poppins"/>
              </a:rPr>
            </a:br>
            <a:endParaRPr sz="1021" u="none" cap="none" strike="noStrike">
              <a:solidFill>
                <a:srgbClr val="000000"/>
              </a:solidFill>
              <a:latin typeface="Poppins"/>
              <a:ea typeface="Poppins"/>
              <a:cs typeface="Poppins"/>
              <a:sym typeface="Poppins"/>
            </a:endParaRPr>
          </a:p>
        </p:txBody>
      </p:sp>
      <p:sp>
        <p:nvSpPr>
          <p:cNvPr id="564" name="Google Shape;564;p52"/>
          <p:cNvSpPr/>
          <p:nvPr/>
        </p:nvSpPr>
        <p:spPr>
          <a:xfrm>
            <a:off x="2714775" y="3315775"/>
            <a:ext cx="2859600" cy="563100"/>
          </a:xfrm>
          <a:prstGeom prst="roundRect">
            <a:avLst>
              <a:gd fmla="val 16667" name="adj"/>
            </a:avLst>
          </a:prstGeom>
          <a:noFill/>
          <a:ln cap="flat" cmpd="sng" w="9100">
            <a:solidFill>
              <a:srgbClr val="595959"/>
            </a:solidFill>
            <a:prstDash val="solid"/>
            <a:round/>
            <a:headEnd len="sm" w="sm" type="none"/>
            <a:tailEnd len="sm" w="sm" type="none"/>
          </a:ln>
        </p:spPr>
        <p:txBody>
          <a:bodyPr anchorCtr="0" anchor="ctr" bIns="87225" lIns="87225" spcFirstLastPara="1" rIns="87225" wrap="square" tIns="87225">
            <a:noAutofit/>
          </a:bodyPr>
          <a:lstStyle/>
          <a:p>
            <a:pPr indent="0" lvl="0" marL="0" rtl="0" algn="ctr">
              <a:spcBef>
                <a:spcPts val="0"/>
              </a:spcBef>
              <a:spcAft>
                <a:spcPts val="0"/>
              </a:spcAft>
              <a:buNone/>
            </a:pPr>
            <a:r>
              <a:t/>
            </a:r>
            <a:endParaRPr sz="1319">
              <a:latin typeface="DM Sans"/>
              <a:ea typeface="DM Sans"/>
              <a:cs typeface="DM Sans"/>
              <a:sym typeface="DM Sans"/>
            </a:endParaRPr>
          </a:p>
        </p:txBody>
      </p:sp>
      <p:sp>
        <p:nvSpPr>
          <p:cNvPr id="565" name="Google Shape;565;p52"/>
          <p:cNvSpPr txBox="1"/>
          <p:nvPr/>
        </p:nvSpPr>
        <p:spPr>
          <a:xfrm>
            <a:off x="2787193" y="3341450"/>
            <a:ext cx="26364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19">
                  <a:extLst>
                    <a:ext uri="{A12FA001-AC4F-418D-AE19-62706E023703}">
                      <ahyp:hlinkClr val="tx"/>
                    </a:ext>
                  </a:extLst>
                </a:hlinkClick>
              </a:rPr>
              <a:t>Automation Workflows</a:t>
            </a:r>
            <a:endParaRPr sz="900">
              <a:solidFill>
                <a:srgbClr val="333333"/>
              </a:solidFill>
              <a:latin typeface="DM Sans"/>
              <a:ea typeface="DM Sans"/>
              <a:cs typeface="DM Sans"/>
              <a:sym typeface="DM Sans"/>
            </a:endParaRPr>
          </a:p>
        </p:txBody>
      </p:sp>
      <p:sp>
        <p:nvSpPr>
          <p:cNvPr id="566" name="Google Shape;566;p52"/>
          <p:cNvSpPr txBox="1"/>
          <p:nvPr/>
        </p:nvSpPr>
        <p:spPr>
          <a:xfrm>
            <a:off x="3719963" y="3355859"/>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{{F_WF}}</a:t>
            </a:r>
            <a:endParaRPr b="1" sz="900">
              <a:solidFill>
                <a:srgbClr val="333333"/>
              </a:solidFill>
              <a:latin typeface="DM Sans"/>
              <a:ea typeface="DM Sans"/>
              <a:cs typeface="DM Sans"/>
              <a:sym typeface="DM Sans"/>
            </a:endParaRPr>
          </a:p>
        </p:txBody>
      </p:sp>
      <p:sp>
        <p:nvSpPr>
          <p:cNvPr id="567" name="Google Shape;567;p52"/>
          <p:cNvSpPr txBox="1"/>
          <p:nvPr/>
        </p:nvSpPr>
        <p:spPr>
          <a:xfrm>
            <a:off x="2787193" y="3540975"/>
            <a:ext cx="21714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DM Sans"/>
                <a:ea typeface="DM Sans"/>
                <a:cs typeface="DM Sans"/>
                <a:sym typeface="DM Sans"/>
                <a:hlinkClick r:id="rId20">
                  <a:extLst>
                    <a:ext uri="{A12FA001-AC4F-418D-AE19-62706E023703}">
                      <ahyp:hlinkClr val="tx"/>
                    </a:ext>
                  </a:extLst>
                </a:hlinkClick>
              </a:rPr>
              <a:t>Automation Rules (On / Off)</a:t>
            </a:r>
            <a:endParaRPr sz="900">
              <a:solidFill>
                <a:srgbClr val="333333"/>
              </a:solidFill>
              <a:latin typeface="DM Sans"/>
              <a:ea typeface="DM Sans"/>
              <a:cs typeface="DM Sans"/>
              <a:sym typeface="DM Sans"/>
            </a:endParaRPr>
          </a:p>
        </p:txBody>
      </p:sp>
      <p:sp>
        <p:nvSpPr>
          <p:cNvPr id="568" name="Google Shape;568;p52"/>
          <p:cNvSpPr txBox="1"/>
          <p:nvPr/>
        </p:nvSpPr>
        <p:spPr>
          <a:xfrm>
            <a:off x="3719963" y="3555388"/>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{{F_AR}}</a:t>
            </a:r>
            <a:endParaRPr b="1" sz="900">
              <a:solidFill>
                <a:srgbClr val="333333"/>
              </a:solidFill>
              <a:latin typeface="DM Sans"/>
              <a:ea typeface="DM Sans"/>
              <a:cs typeface="DM Sans"/>
              <a:sym typeface="DM Sans"/>
            </a:endParaRPr>
          </a:p>
        </p:txBody>
      </p:sp>
      <p:sp>
        <p:nvSpPr>
          <p:cNvPr id="569" name="Google Shape;569;p52"/>
          <p:cNvSpPr txBox="1"/>
          <p:nvPr/>
        </p:nvSpPr>
        <p:spPr>
          <a:xfrm>
            <a:off x="5741582" y="2894448"/>
            <a:ext cx="2223600" cy="1797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1A56DB"/>
                </a:solidFill>
                <a:latin typeface="DM Sans"/>
                <a:ea typeface="DM Sans"/>
                <a:cs typeface="DM Sans"/>
                <a:sym typeface="DM Sans"/>
                <a:hlinkClick r:id="rId21">
                  <a:extLst>
                    <a:ext uri="{A12FA001-AC4F-418D-AE19-62706E023703}">
                      <ahyp:hlinkClr val="tx"/>
                    </a:ext>
                  </a:extLst>
                </a:hlinkClick>
              </a:rPr>
              <a:t>Wiz MCP Users</a:t>
            </a:r>
            <a:endParaRPr sz="900">
              <a:solidFill>
                <a:srgbClr val="1A56DB"/>
              </a:solidFill>
              <a:latin typeface="DM Sans"/>
              <a:ea typeface="DM Sans"/>
              <a:cs typeface="DM Sans"/>
              <a:sym typeface="DM Sans"/>
            </a:endParaRPr>
          </a:p>
        </p:txBody>
      </p:sp>
      <p:sp>
        <p:nvSpPr>
          <p:cNvPr id="570" name="Google Shape;570;p52"/>
          <p:cNvSpPr txBox="1"/>
          <p:nvPr/>
        </p:nvSpPr>
        <p:spPr>
          <a:xfrm>
            <a:off x="7121566" y="2897461"/>
            <a:ext cx="1596300" cy="1797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{{F_WMCP}}</a:t>
            </a:r>
            <a:endParaRPr b="1" sz="900">
              <a:solidFill>
                <a:srgbClr val="333333"/>
              </a:solidFill>
              <a:latin typeface="DM Sans"/>
              <a:ea typeface="DM Sans"/>
              <a:cs typeface="DM Sans"/>
              <a:sym typeface="DM Sans"/>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pic>
        <p:nvPicPr>
          <p:cNvPr id="576" name="Google Shape;576;p53" title="Rectangle 7854.png"/>
          <p:cNvPicPr preferRelativeResize="0"/>
          <p:nvPr/>
        </p:nvPicPr>
        <p:blipFill>
          <a:blip r:embed="rId3">
            <a:alphaModFix/>
          </a:blip>
          <a:stretch>
            <a:fillRect/>
          </a:stretch>
        </p:blipFill>
        <p:spPr>
          <a:xfrm>
            <a:off x="3237297" y="1445495"/>
            <a:ext cx="2669405" cy="2471275"/>
          </a:xfrm>
          <a:prstGeom prst="rect">
            <a:avLst/>
          </a:prstGeom>
          <a:noFill/>
          <a:ln>
            <a:noFill/>
          </a:ln>
        </p:spPr>
      </p:pic>
      <p:pic>
        <p:nvPicPr>
          <p:cNvPr id="577" name="Google Shape;577;p53" title="Rectangle 7854.png"/>
          <p:cNvPicPr preferRelativeResize="0"/>
          <p:nvPr/>
        </p:nvPicPr>
        <p:blipFill>
          <a:blip r:embed="rId3">
            <a:alphaModFix/>
          </a:blip>
          <a:stretch>
            <a:fillRect/>
          </a:stretch>
        </p:blipFill>
        <p:spPr>
          <a:xfrm>
            <a:off x="357122" y="1445495"/>
            <a:ext cx="2669405" cy="2471275"/>
          </a:xfrm>
          <a:prstGeom prst="rect">
            <a:avLst/>
          </a:prstGeom>
          <a:noFill/>
          <a:ln>
            <a:noFill/>
          </a:ln>
        </p:spPr>
      </p:pic>
      <p:cxnSp>
        <p:nvCxnSpPr>
          <p:cNvPr id="578" name="Google Shape;578;p53"/>
          <p:cNvCxnSpPr/>
          <p:nvPr/>
        </p:nvCxnSpPr>
        <p:spPr>
          <a:xfrm>
            <a:off x="630575" y="2537417"/>
            <a:ext cx="2122500" cy="0"/>
          </a:xfrm>
          <a:prstGeom prst="straightConnector1">
            <a:avLst/>
          </a:prstGeom>
          <a:noFill/>
          <a:ln cap="flat" cmpd="sng" w="9525">
            <a:solidFill>
              <a:srgbClr val="0254EC"/>
            </a:solidFill>
            <a:prstDash val="solid"/>
            <a:round/>
            <a:headEnd len="med" w="med" type="none"/>
            <a:tailEnd len="med" w="med" type="none"/>
          </a:ln>
        </p:spPr>
      </p:cxnSp>
      <p:sp>
        <p:nvSpPr>
          <p:cNvPr id="579" name="Google Shape;579;p53"/>
          <p:cNvSpPr txBox="1"/>
          <p:nvPr/>
        </p:nvSpPr>
        <p:spPr>
          <a:xfrm>
            <a:off x="522275" y="2210368"/>
            <a:ext cx="2339100" cy="2733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None/>
            </a:pPr>
            <a:r>
              <a:rPr lang="en" sz="1000">
                <a:solidFill>
                  <a:schemeClr val="dk1"/>
                </a:solidFill>
                <a:latin typeface="Poppins SemiBold"/>
                <a:ea typeface="Poppins SemiBold"/>
                <a:cs typeface="Poppins SemiBold"/>
                <a:sym typeface="Poppins SemiBold"/>
              </a:rPr>
              <a:t>Assigning Ownership</a:t>
            </a:r>
            <a:endParaRPr sz="1000">
              <a:solidFill>
                <a:schemeClr val="dk1"/>
              </a:solidFill>
              <a:latin typeface="Poppins SemiBold"/>
              <a:ea typeface="Poppins SemiBold"/>
              <a:cs typeface="Poppins SemiBold"/>
              <a:sym typeface="Poppins SemiBold"/>
            </a:endParaRPr>
          </a:p>
        </p:txBody>
      </p:sp>
      <p:sp>
        <p:nvSpPr>
          <p:cNvPr id="580" name="Google Shape;580;p53"/>
          <p:cNvSpPr txBox="1"/>
          <p:nvPr/>
        </p:nvSpPr>
        <p:spPr>
          <a:xfrm>
            <a:off x="391576" y="2613904"/>
            <a:ext cx="2575800" cy="1222500"/>
          </a:xfrm>
          <a:prstGeom prst="rect">
            <a:avLst/>
          </a:prstGeom>
          <a:noFill/>
          <a:ln>
            <a:noFill/>
          </a:ln>
        </p:spPr>
        <p:txBody>
          <a:bodyPr anchorCtr="0" anchor="t" bIns="34275" lIns="68575" spcFirstLastPara="1" rIns="68575" wrap="square" tIns="34275">
            <a:normAutofit lnSpcReduction="10000"/>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Service Catalog democratizes ownership to developers. Auto-group resources by applications</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Resource Tag Rules convert Security Graph queries into auto-assigned tags, that can then be used as conditions to route tickets to the right owners</a:t>
            </a:r>
            <a:endParaRPr sz="900">
              <a:solidFill>
                <a:srgbClr val="01123F"/>
              </a:solidFill>
              <a:latin typeface="Poppins Light"/>
              <a:ea typeface="Poppins Light"/>
              <a:cs typeface="Poppins Light"/>
              <a:sym typeface="Poppins Light"/>
            </a:endParaRPr>
          </a:p>
        </p:txBody>
      </p:sp>
      <p:cxnSp>
        <p:nvCxnSpPr>
          <p:cNvPr id="581" name="Google Shape;581;p53"/>
          <p:cNvCxnSpPr/>
          <p:nvPr/>
        </p:nvCxnSpPr>
        <p:spPr>
          <a:xfrm>
            <a:off x="3510750" y="2537417"/>
            <a:ext cx="2122500" cy="0"/>
          </a:xfrm>
          <a:prstGeom prst="straightConnector1">
            <a:avLst/>
          </a:prstGeom>
          <a:noFill/>
          <a:ln cap="flat" cmpd="sng" w="9525">
            <a:solidFill>
              <a:srgbClr val="0254EC"/>
            </a:solidFill>
            <a:prstDash val="solid"/>
            <a:round/>
            <a:headEnd len="med" w="med" type="none"/>
            <a:tailEnd len="med" w="med" type="none"/>
          </a:ln>
        </p:spPr>
      </p:cxnSp>
      <p:sp>
        <p:nvSpPr>
          <p:cNvPr id="582" name="Google Shape;582;p53"/>
          <p:cNvSpPr txBox="1"/>
          <p:nvPr/>
        </p:nvSpPr>
        <p:spPr>
          <a:xfrm>
            <a:off x="3362850" y="2210368"/>
            <a:ext cx="2418300" cy="2733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100"/>
              <a:buFont typeface="Arial"/>
              <a:buNone/>
            </a:pPr>
            <a:r>
              <a:rPr lang="en" sz="1000">
                <a:solidFill>
                  <a:schemeClr val="dk1"/>
                </a:solidFill>
                <a:latin typeface="Poppins SemiBold"/>
                <a:ea typeface="Poppins SemiBold"/>
                <a:cs typeface="Poppins SemiBold"/>
                <a:sym typeface="Poppins SemiBold"/>
              </a:rPr>
              <a:t>Leverage Integrations</a:t>
            </a:r>
            <a:endParaRPr sz="1000">
              <a:solidFill>
                <a:schemeClr val="dk1"/>
              </a:solidFill>
              <a:latin typeface="Poppins SemiBold"/>
              <a:ea typeface="Poppins SemiBold"/>
              <a:cs typeface="Poppins SemiBold"/>
              <a:sym typeface="Poppins SemiBold"/>
            </a:endParaRPr>
          </a:p>
        </p:txBody>
      </p:sp>
      <p:pic>
        <p:nvPicPr>
          <p:cNvPr id="583" name="Google Shape;583;p53" title="Rectangle 7854.png"/>
          <p:cNvPicPr preferRelativeResize="0"/>
          <p:nvPr/>
        </p:nvPicPr>
        <p:blipFill>
          <a:blip r:embed="rId3">
            <a:alphaModFix/>
          </a:blip>
          <a:stretch>
            <a:fillRect/>
          </a:stretch>
        </p:blipFill>
        <p:spPr>
          <a:xfrm>
            <a:off x="6117472" y="1445495"/>
            <a:ext cx="2669405" cy="2471275"/>
          </a:xfrm>
          <a:prstGeom prst="rect">
            <a:avLst/>
          </a:prstGeom>
          <a:noFill/>
          <a:ln>
            <a:noFill/>
          </a:ln>
        </p:spPr>
      </p:pic>
      <p:cxnSp>
        <p:nvCxnSpPr>
          <p:cNvPr id="584" name="Google Shape;584;p53"/>
          <p:cNvCxnSpPr/>
          <p:nvPr/>
        </p:nvCxnSpPr>
        <p:spPr>
          <a:xfrm>
            <a:off x="6390925" y="2537417"/>
            <a:ext cx="2122500" cy="0"/>
          </a:xfrm>
          <a:prstGeom prst="straightConnector1">
            <a:avLst/>
          </a:prstGeom>
          <a:noFill/>
          <a:ln cap="flat" cmpd="sng" w="9525">
            <a:solidFill>
              <a:srgbClr val="0254EC"/>
            </a:solidFill>
            <a:prstDash val="solid"/>
            <a:round/>
            <a:headEnd len="med" w="med" type="none"/>
            <a:tailEnd len="med" w="med" type="none"/>
          </a:ln>
        </p:spPr>
      </p:cxnSp>
      <p:sp>
        <p:nvSpPr>
          <p:cNvPr id="585" name="Google Shape;585;p53"/>
          <p:cNvSpPr txBox="1"/>
          <p:nvPr/>
        </p:nvSpPr>
        <p:spPr>
          <a:xfrm>
            <a:off x="3251700" y="2613901"/>
            <a:ext cx="2655000" cy="972300"/>
          </a:xfrm>
          <a:prstGeom prst="rect">
            <a:avLst/>
          </a:prstGeom>
          <a:noFill/>
          <a:ln>
            <a:noFill/>
          </a:ln>
        </p:spPr>
        <p:txBody>
          <a:bodyPr anchorCtr="0" anchor="t" bIns="34275" lIns="68575" spcFirstLastPara="1" rIns="68575" wrap="square" tIns="34275">
            <a:no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Get Issues in front of the right people, using the tools they’re accustomed to. Jira, ServiceNow, Teams, etc.</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Send prescriptive data to SIEM / SOAR</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Route by team, severity or environment. Integration + per-team Action templates = Cutting the noise and operationalizing Wiz </a:t>
            </a:r>
            <a:endParaRPr sz="900">
              <a:solidFill>
                <a:srgbClr val="01123F"/>
              </a:solidFill>
              <a:latin typeface="Poppins Light"/>
              <a:ea typeface="Poppins Light"/>
              <a:cs typeface="Poppins Light"/>
              <a:sym typeface="Poppins Light"/>
            </a:endParaRPr>
          </a:p>
        </p:txBody>
      </p:sp>
      <p:sp>
        <p:nvSpPr>
          <p:cNvPr id="586" name="Google Shape;586;p53"/>
          <p:cNvSpPr txBox="1"/>
          <p:nvPr/>
        </p:nvSpPr>
        <p:spPr>
          <a:xfrm>
            <a:off x="6114876" y="2638600"/>
            <a:ext cx="2604000" cy="1278300"/>
          </a:xfrm>
          <a:prstGeom prst="rect">
            <a:avLst/>
          </a:prstGeom>
          <a:noFill/>
          <a:ln>
            <a:noFill/>
          </a:ln>
        </p:spPr>
        <p:txBody>
          <a:bodyPr anchorCtr="0" anchor="t" bIns="34275" lIns="68575" spcFirstLastPara="1" rIns="68575" wrap="square" tIns="34275">
            <a:normAutofit lnSpcReduction="10000"/>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Take the human out of the routing. Auto-assign Issues to the right owners and notify accordingly</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Enable self-service remediation with Worklows. Designed to offer more granular control around which context to include (i.e. Remediation steps, Investigation details, etc).</a:t>
            </a:r>
            <a:endParaRPr sz="900">
              <a:solidFill>
                <a:srgbClr val="01123F"/>
              </a:solidFill>
              <a:latin typeface="Poppins Light"/>
              <a:ea typeface="Poppins Light"/>
              <a:cs typeface="Poppins Light"/>
              <a:sym typeface="Poppins Light"/>
            </a:endParaRPr>
          </a:p>
        </p:txBody>
      </p:sp>
      <p:sp>
        <p:nvSpPr>
          <p:cNvPr id="587" name="Google Shape;587;p53"/>
          <p:cNvSpPr txBox="1"/>
          <p:nvPr/>
        </p:nvSpPr>
        <p:spPr>
          <a:xfrm>
            <a:off x="6243025" y="2210368"/>
            <a:ext cx="2418300" cy="2733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None/>
            </a:pPr>
            <a:r>
              <a:rPr lang="en" sz="1000">
                <a:solidFill>
                  <a:schemeClr val="dk1"/>
                </a:solidFill>
                <a:latin typeface="Poppins SemiBold"/>
                <a:ea typeface="Poppins SemiBold"/>
                <a:cs typeface="Poppins SemiBold"/>
                <a:sym typeface="Poppins SemiBold"/>
              </a:rPr>
              <a:t>Automation (Workflows)</a:t>
            </a:r>
            <a:endParaRPr sz="1000">
              <a:solidFill>
                <a:schemeClr val="dk1"/>
              </a:solidFill>
              <a:latin typeface="Poppins SemiBold"/>
              <a:ea typeface="Poppins SemiBold"/>
              <a:cs typeface="Poppins SemiBold"/>
              <a:sym typeface="Poppins SemiBold"/>
            </a:endParaRPr>
          </a:p>
        </p:txBody>
      </p:sp>
      <p:pic>
        <p:nvPicPr>
          <p:cNvPr id="588" name="Google Shape;588;p53"/>
          <p:cNvPicPr preferRelativeResize="0"/>
          <p:nvPr/>
        </p:nvPicPr>
        <p:blipFill>
          <a:blip r:embed="rId4">
            <a:alphaModFix/>
          </a:blip>
          <a:stretch>
            <a:fillRect/>
          </a:stretch>
        </p:blipFill>
        <p:spPr>
          <a:xfrm>
            <a:off x="1337712" y="1516460"/>
            <a:ext cx="708225" cy="708225"/>
          </a:xfrm>
          <a:prstGeom prst="rect">
            <a:avLst/>
          </a:prstGeom>
          <a:noFill/>
          <a:ln>
            <a:noFill/>
          </a:ln>
        </p:spPr>
      </p:pic>
      <p:sp>
        <p:nvSpPr>
          <p:cNvPr id="589" name="Google Shape;589;p53"/>
          <p:cNvSpPr txBox="1"/>
          <p:nvPr>
            <p:ph idx="4294967295" type="title"/>
          </p:nvPr>
        </p:nvSpPr>
        <p:spPr>
          <a:xfrm>
            <a:off x="-302400" y="535725"/>
            <a:ext cx="97488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Democratization Improvements</a:t>
            </a:r>
            <a:endParaRPr sz="2420">
              <a:latin typeface="Poppins Light"/>
              <a:ea typeface="Poppins Light"/>
              <a:cs typeface="Poppins Light"/>
              <a:sym typeface="Poppins Light"/>
            </a:endParaRPr>
          </a:p>
        </p:txBody>
      </p:sp>
      <p:pic>
        <p:nvPicPr>
          <p:cNvPr id="590" name="Google Shape;590;p53" title="Group 1000002969.png"/>
          <p:cNvPicPr preferRelativeResize="0"/>
          <p:nvPr/>
        </p:nvPicPr>
        <p:blipFill>
          <a:blip r:embed="rId5">
            <a:alphaModFix/>
          </a:blip>
          <a:stretch>
            <a:fillRect/>
          </a:stretch>
        </p:blipFill>
        <p:spPr>
          <a:xfrm>
            <a:off x="4195263" y="1618451"/>
            <a:ext cx="753475" cy="504238"/>
          </a:xfrm>
          <a:prstGeom prst="rect">
            <a:avLst/>
          </a:prstGeom>
          <a:noFill/>
          <a:ln>
            <a:noFill/>
          </a:ln>
        </p:spPr>
      </p:pic>
      <p:pic>
        <p:nvPicPr>
          <p:cNvPr id="591" name="Google Shape;591;p53" title="Group 1000003039.png"/>
          <p:cNvPicPr preferRelativeResize="0"/>
          <p:nvPr/>
        </p:nvPicPr>
        <p:blipFill>
          <a:blip r:embed="rId6">
            <a:alphaModFix/>
          </a:blip>
          <a:stretch>
            <a:fillRect/>
          </a:stretch>
        </p:blipFill>
        <p:spPr>
          <a:xfrm>
            <a:off x="7196474" y="1601139"/>
            <a:ext cx="511400" cy="538875"/>
          </a:xfrm>
          <a:prstGeom prst="rect">
            <a:avLst/>
          </a:prstGeom>
          <a:noFill/>
          <a:ln>
            <a:noFill/>
          </a:ln>
        </p:spPr>
      </p:pic>
      <p:grpSp>
        <p:nvGrpSpPr>
          <p:cNvPr id="592" name="Google Shape;592;p53"/>
          <p:cNvGrpSpPr/>
          <p:nvPr/>
        </p:nvGrpSpPr>
        <p:grpSpPr>
          <a:xfrm>
            <a:off x="4726377" y="4145669"/>
            <a:ext cx="4010949" cy="832434"/>
            <a:chOff x="4726377" y="3456975"/>
            <a:chExt cx="4010949" cy="832434"/>
          </a:xfrm>
        </p:grpSpPr>
        <p:pic>
          <p:nvPicPr>
            <p:cNvPr id="593" name="Google Shape;593;p53" title="Rectangle 16310.png"/>
            <p:cNvPicPr preferRelativeResize="0"/>
            <p:nvPr/>
          </p:nvPicPr>
          <p:blipFill>
            <a:blip r:embed="rId7">
              <a:alphaModFix/>
            </a:blip>
            <a:stretch>
              <a:fillRect/>
            </a:stretch>
          </p:blipFill>
          <p:spPr>
            <a:xfrm>
              <a:off x="5072702" y="3456975"/>
              <a:ext cx="3664624" cy="832327"/>
            </a:xfrm>
            <a:prstGeom prst="rect">
              <a:avLst/>
            </a:prstGeom>
            <a:noFill/>
            <a:ln>
              <a:noFill/>
            </a:ln>
          </p:spPr>
        </p:pic>
        <p:sp>
          <p:nvSpPr>
            <p:cNvPr id="594" name="Google Shape;594;p53"/>
            <p:cNvSpPr txBox="1"/>
            <p:nvPr/>
          </p:nvSpPr>
          <p:spPr>
            <a:xfrm>
              <a:off x="5566125" y="3585438"/>
              <a:ext cx="3048900" cy="575400"/>
            </a:xfrm>
            <a:prstGeom prst="rect">
              <a:avLst/>
            </a:prstGeom>
            <a:noFill/>
            <a:ln>
              <a:noFill/>
            </a:ln>
          </p:spPr>
          <p:txBody>
            <a:bodyPr anchorCtr="0" anchor="t" bIns="33450" lIns="66950" spcFirstLastPara="1" rIns="66950" wrap="square" tIns="33450">
              <a:spAutoFit/>
            </a:bodyPr>
            <a:lstStyle/>
            <a:p>
              <a:pPr indent="0" lvl="0" marL="0" rtl="0" algn="l">
                <a:spcBef>
                  <a:spcPts val="0"/>
                </a:spcBef>
                <a:spcAft>
                  <a:spcPts val="0"/>
                </a:spcAft>
                <a:buClr>
                  <a:schemeClr val="dk1"/>
                </a:buClr>
                <a:buSzPts val="1200"/>
                <a:buFont typeface="Arial"/>
                <a:buNone/>
              </a:pPr>
              <a:r>
                <a:rPr lang="en" sz="1100">
                  <a:solidFill>
                    <a:schemeClr val="dk1"/>
                  </a:solidFill>
                  <a:latin typeface="Poppins Light"/>
                  <a:ea typeface="Poppins Light"/>
                  <a:cs typeface="Poppins Light"/>
                  <a:sym typeface="Poppins Light"/>
                </a:rPr>
                <a:t>Is Wiz completely integrated into your workflow? What could help make it part of day to day?</a:t>
              </a:r>
              <a:endParaRPr sz="1100">
                <a:solidFill>
                  <a:schemeClr val="dk1"/>
                </a:solidFill>
                <a:latin typeface="Poppins Light"/>
                <a:ea typeface="Poppins Light"/>
                <a:cs typeface="Poppins Light"/>
                <a:sym typeface="Poppins Light"/>
              </a:endParaRPr>
            </a:p>
          </p:txBody>
        </p:sp>
        <p:pic>
          <p:nvPicPr>
            <p:cNvPr id="595" name="Google Shape;595;p53" title="Ellipse icon_color.png"/>
            <p:cNvPicPr preferRelativeResize="0"/>
            <p:nvPr/>
          </p:nvPicPr>
          <p:blipFill>
            <a:blip r:embed="rId8">
              <a:alphaModFix/>
            </a:blip>
            <a:stretch>
              <a:fillRect/>
            </a:stretch>
          </p:blipFill>
          <p:spPr>
            <a:xfrm>
              <a:off x="4726377" y="3457087"/>
              <a:ext cx="839753" cy="832322"/>
            </a:xfrm>
            <a:prstGeom prst="rect">
              <a:avLst/>
            </a:prstGeom>
            <a:noFill/>
            <a:ln>
              <a:noFill/>
            </a:ln>
          </p:spPr>
        </p:pic>
      </p:grpSp>
      <p:grpSp>
        <p:nvGrpSpPr>
          <p:cNvPr id="596" name="Google Shape;596;p53"/>
          <p:cNvGrpSpPr/>
          <p:nvPr/>
        </p:nvGrpSpPr>
        <p:grpSpPr>
          <a:xfrm>
            <a:off x="434302" y="4145669"/>
            <a:ext cx="4010949" cy="832434"/>
            <a:chOff x="434302" y="3456975"/>
            <a:chExt cx="4010949" cy="832434"/>
          </a:xfrm>
        </p:grpSpPr>
        <p:pic>
          <p:nvPicPr>
            <p:cNvPr id="597" name="Google Shape;597;p53" title="Rectangle 16310.png"/>
            <p:cNvPicPr preferRelativeResize="0"/>
            <p:nvPr/>
          </p:nvPicPr>
          <p:blipFill>
            <a:blip r:embed="rId7">
              <a:alphaModFix/>
            </a:blip>
            <a:stretch>
              <a:fillRect/>
            </a:stretch>
          </p:blipFill>
          <p:spPr>
            <a:xfrm>
              <a:off x="780627" y="3456975"/>
              <a:ext cx="3664624" cy="832327"/>
            </a:xfrm>
            <a:prstGeom prst="rect">
              <a:avLst/>
            </a:prstGeom>
            <a:noFill/>
            <a:ln>
              <a:noFill/>
            </a:ln>
          </p:spPr>
        </p:pic>
        <p:sp>
          <p:nvSpPr>
            <p:cNvPr id="598" name="Google Shape;598;p53"/>
            <p:cNvSpPr txBox="1"/>
            <p:nvPr/>
          </p:nvSpPr>
          <p:spPr>
            <a:xfrm>
              <a:off x="1274050" y="3585438"/>
              <a:ext cx="3165300" cy="575400"/>
            </a:xfrm>
            <a:prstGeom prst="rect">
              <a:avLst/>
            </a:prstGeom>
            <a:noFill/>
            <a:ln>
              <a:noFill/>
            </a:ln>
          </p:spPr>
          <p:txBody>
            <a:bodyPr anchorCtr="0" anchor="t" bIns="33450" lIns="66950" spcFirstLastPara="1" rIns="66950" wrap="square" tIns="33450">
              <a:spAutoFit/>
            </a:bodyPr>
            <a:lstStyle/>
            <a:p>
              <a:pPr indent="0" lvl="0" marL="0" rtl="0" algn="l">
                <a:spcBef>
                  <a:spcPts val="0"/>
                </a:spcBef>
                <a:spcAft>
                  <a:spcPts val="0"/>
                </a:spcAft>
                <a:buClr>
                  <a:schemeClr val="dk1"/>
                </a:buClr>
                <a:buSzPts val="1171"/>
                <a:buFont typeface="Arial"/>
                <a:buNone/>
              </a:pPr>
              <a:r>
                <a:rPr lang="en" sz="1100">
                  <a:solidFill>
                    <a:schemeClr val="dk1"/>
                  </a:solidFill>
                  <a:latin typeface="Poppins Light"/>
                  <a:ea typeface="Poppins Light"/>
                  <a:cs typeface="Poppins Light"/>
                  <a:sym typeface="Poppins Light"/>
                </a:rPr>
                <a:t>What is your current issues resolution flow? What is your ideal state? Is there anything blocking you from further democratization? </a:t>
              </a:r>
              <a:endParaRPr sz="1100">
                <a:solidFill>
                  <a:schemeClr val="dk1"/>
                </a:solidFill>
                <a:latin typeface="Poppins Light"/>
                <a:ea typeface="Poppins Light"/>
                <a:cs typeface="Poppins Light"/>
                <a:sym typeface="Poppins Light"/>
              </a:endParaRPr>
            </a:p>
          </p:txBody>
        </p:sp>
        <p:grpSp>
          <p:nvGrpSpPr>
            <p:cNvPr id="599" name="Google Shape;599;p53"/>
            <p:cNvGrpSpPr/>
            <p:nvPr/>
          </p:nvGrpSpPr>
          <p:grpSpPr>
            <a:xfrm>
              <a:off x="434302" y="3457087"/>
              <a:ext cx="839753" cy="832322"/>
              <a:chOff x="434302" y="3457087"/>
              <a:chExt cx="839753" cy="832322"/>
            </a:xfrm>
          </p:grpSpPr>
          <p:pic>
            <p:nvPicPr>
              <p:cNvPr id="600" name="Google Shape;600;p53" title="Ellipse icon_color.png"/>
              <p:cNvPicPr preferRelativeResize="0"/>
              <p:nvPr/>
            </p:nvPicPr>
            <p:blipFill>
              <a:blip r:embed="rId8">
                <a:alphaModFix/>
              </a:blip>
              <a:stretch>
                <a:fillRect/>
              </a:stretch>
            </p:blipFill>
            <p:spPr>
              <a:xfrm>
                <a:off x="434302" y="3457087"/>
                <a:ext cx="839753" cy="832322"/>
              </a:xfrm>
              <a:prstGeom prst="rect">
                <a:avLst/>
              </a:prstGeom>
              <a:noFill/>
              <a:ln>
                <a:noFill/>
              </a:ln>
            </p:spPr>
          </p:pic>
          <p:pic>
            <p:nvPicPr>
              <p:cNvPr id="601" name="Google Shape;601;p53"/>
              <p:cNvPicPr preferRelativeResize="0"/>
              <p:nvPr/>
            </p:nvPicPr>
            <p:blipFill>
              <a:blip r:embed="rId9">
                <a:alphaModFix/>
              </a:blip>
              <a:stretch>
                <a:fillRect/>
              </a:stretch>
            </p:blipFill>
            <p:spPr>
              <a:xfrm>
                <a:off x="577339" y="3703834"/>
                <a:ext cx="553675" cy="338602"/>
              </a:xfrm>
              <a:prstGeom prst="rect">
                <a:avLst/>
              </a:prstGeom>
              <a:noFill/>
              <a:ln>
                <a:noFill/>
              </a:ln>
            </p:spPr>
          </p:pic>
        </p:grpSp>
      </p:grpSp>
      <p:pic>
        <p:nvPicPr>
          <p:cNvPr id="602" name="Google Shape;602;p53" title="Group 1000003678 (1).png"/>
          <p:cNvPicPr preferRelativeResize="0"/>
          <p:nvPr/>
        </p:nvPicPr>
        <p:blipFill>
          <a:blip r:embed="rId10">
            <a:alphaModFix/>
          </a:blip>
          <a:stretch>
            <a:fillRect/>
          </a:stretch>
        </p:blipFill>
        <p:spPr>
          <a:xfrm>
            <a:off x="4930184" y="4346632"/>
            <a:ext cx="430800" cy="4246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54"/>
          <p:cNvSpPr txBox="1"/>
          <p:nvPr/>
        </p:nvSpPr>
        <p:spPr>
          <a:xfrm>
            <a:off x="468449" y="2215800"/>
            <a:ext cx="3273600" cy="900300"/>
          </a:xfrm>
          <a:prstGeom prst="rect">
            <a:avLst/>
          </a:prstGeom>
          <a:noFill/>
          <a:ln>
            <a:noFill/>
          </a:ln>
        </p:spPr>
        <p:txBody>
          <a:bodyPr anchorCtr="0" anchor="t" bIns="34275" lIns="68575" spcFirstLastPara="1" rIns="68575" wrap="square" tIns="34275">
            <a:spAutoFit/>
          </a:bodyPr>
          <a:lstStyle/>
          <a:p>
            <a:pPr indent="0" lvl="0" marL="0" rtl="0" algn="l">
              <a:spcBef>
                <a:spcPts val="0"/>
              </a:spcBef>
              <a:spcAft>
                <a:spcPts val="0"/>
              </a:spcAft>
              <a:buClr>
                <a:schemeClr val="dk1"/>
              </a:buClr>
              <a:buSzPts val="1100"/>
              <a:buFont typeface="Arial"/>
              <a:buNone/>
            </a:pPr>
            <a:r>
              <a:rPr lang="en" sz="2700">
                <a:solidFill>
                  <a:schemeClr val="lt1"/>
                </a:solidFill>
                <a:latin typeface="Poppins"/>
                <a:ea typeface="Poppins"/>
                <a:cs typeface="Poppins"/>
                <a:sym typeface="Poppins"/>
              </a:rPr>
              <a:t>Reducing Critical Risk and Beyond</a:t>
            </a:r>
            <a:endParaRPr sz="2700">
              <a:solidFill>
                <a:schemeClr val="lt1"/>
              </a:solidFill>
              <a:latin typeface="Poppins"/>
              <a:ea typeface="Poppins"/>
              <a:cs typeface="Poppins"/>
              <a:sym typeface="Poppins"/>
            </a:endParaRPr>
          </a:p>
        </p:txBody>
      </p:sp>
      <p:pic>
        <p:nvPicPr>
          <p:cNvPr id="609" name="Google Shape;609;p54" title="opening_photo.png"/>
          <p:cNvPicPr preferRelativeResize="0"/>
          <p:nvPr/>
        </p:nvPicPr>
        <p:blipFill>
          <a:blip r:embed="rId3">
            <a:alphaModFix/>
          </a:blip>
          <a:stretch>
            <a:fillRect/>
          </a:stretch>
        </p:blipFill>
        <p:spPr>
          <a:xfrm>
            <a:off x="4256533" y="1409675"/>
            <a:ext cx="4306800" cy="2143875"/>
          </a:xfrm>
          <a:prstGeom prst="rect">
            <a:avLst/>
          </a:prstGeom>
          <a:noFill/>
          <a:ln>
            <a:noFill/>
          </a:ln>
        </p:spPr>
      </p:pic>
      <p:pic>
        <p:nvPicPr>
          <p:cNvPr id="610" name="Google Shape;610;p54" title="cloud.png"/>
          <p:cNvPicPr preferRelativeResize="0"/>
          <p:nvPr/>
        </p:nvPicPr>
        <p:blipFill>
          <a:blip r:embed="rId4">
            <a:alphaModFix/>
          </a:blip>
          <a:stretch>
            <a:fillRect/>
          </a:stretch>
        </p:blipFill>
        <p:spPr>
          <a:xfrm>
            <a:off x="6699300" y="3318246"/>
            <a:ext cx="2444700" cy="1825254"/>
          </a:xfrm>
          <a:prstGeom prst="rect">
            <a:avLst/>
          </a:prstGeom>
          <a:noFill/>
          <a:ln>
            <a:noFill/>
          </a:ln>
        </p:spPr>
      </p:pic>
      <p:pic>
        <p:nvPicPr>
          <p:cNvPr id="611" name="Google Shape;611;p54" title="logo.png"/>
          <p:cNvPicPr preferRelativeResize="0"/>
          <p:nvPr/>
        </p:nvPicPr>
        <p:blipFill>
          <a:blip r:embed="rId5">
            <a:alphaModFix/>
          </a:blip>
          <a:stretch>
            <a:fillRect/>
          </a:stretch>
        </p:blipFill>
        <p:spPr>
          <a:xfrm>
            <a:off x="553277" y="1726800"/>
            <a:ext cx="637001" cy="3041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55"/>
          <p:cNvSpPr txBox="1"/>
          <p:nvPr/>
        </p:nvSpPr>
        <p:spPr>
          <a:xfrm>
            <a:off x="6799450" y="3138000"/>
            <a:ext cx="2010300" cy="20409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618" name="Google Shape;618;p55"/>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619" name="Google Shape;619;p55"/>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sp>
        <p:nvSpPr>
          <p:cNvPr id="620" name="Google Shape;620;p55"/>
          <p:cNvSpPr txBox="1"/>
          <p:nvPr/>
        </p:nvSpPr>
        <p:spPr>
          <a:xfrm>
            <a:off x="2815700" y="3916475"/>
            <a:ext cx="1987500" cy="1262400"/>
          </a:xfrm>
          <a:prstGeom prst="rect">
            <a:avLst/>
          </a:prstGeom>
          <a:gradFill>
            <a:gsLst>
              <a:gs pos="0">
                <a:srgbClr val="FFE0FF">
                  <a:alpha val="50196"/>
                </a:srgbClr>
              </a:gs>
              <a:gs pos="100000">
                <a:schemeClr val="lt1"/>
              </a:gs>
            </a:gsLst>
            <a:lin ang="5400012" scaled="0"/>
          </a:grad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000"/>
              <a:buFont typeface="Arial"/>
              <a:buNone/>
            </a:pPr>
            <a:r>
              <a:t/>
            </a:r>
            <a:endParaRPr i="0" sz="1000" u="none" cap="none" strike="noStrike">
              <a:solidFill>
                <a:schemeClr val="dk1"/>
              </a:solidFill>
              <a:latin typeface="DM Sans Medium"/>
              <a:ea typeface="DM Sans Medium"/>
              <a:cs typeface="DM Sans Medium"/>
              <a:sym typeface="DM Sans Medium"/>
            </a:endParaRPr>
          </a:p>
        </p:txBody>
      </p:sp>
      <p:cxnSp>
        <p:nvCxnSpPr>
          <p:cNvPr id="621" name="Google Shape;621;p55"/>
          <p:cNvCxnSpPr/>
          <p:nvPr/>
        </p:nvCxnSpPr>
        <p:spPr>
          <a:xfrm rot="10800000">
            <a:off x="2813100" y="2136400"/>
            <a:ext cx="0" cy="3118500"/>
          </a:xfrm>
          <a:prstGeom prst="straightConnector1">
            <a:avLst/>
          </a:prstGeom>
          <a:noFill/>
          <a:ln cap="flat" cmpd="sng" w="9525">
            <a:solidFill>
              <a:srgbClr val="0254EC"/>
            </a:solidFill>
            <a:prstDash val="solid"/>
            <a:round/>
            <a:headEnd len="sm" w="sm" type="none"/>
            <a:tailEnd len="sm" w="sm" type="none"/>
          </a:ln>
        </p:spPr>
      </p:cxnSp>
      <p:cxnSp>
        <p:nvCxnSpPr>
          <p:cNvPr id="622" name="Google Shape;622;p55"/>
          <p:cNvCxnSpPr/>
          <p:nvPr/>
        </p:nvCxnSpPr>
        <p:spPr>
          <a:xfrm rot="10800000">
            <a:off x="4804975" y="1525650"/>
            <a:ext cx="0" cy="3713100"/>
          </a:xfrm>
          <a:prstGeom prst="straightConnector1">
            <a:avLst/>
          </a:prstGeom>
          <a:noFill/>
          <a:ln cap="flat" cmpd="sng" w="9525">
            <a:solidFill>
              <a:srgbClr val="0254EC"/>
            </a:solidFill>
            <a:prstDash val="solid"/>
            <a:round/>
            <a:headEnd len="sm" w="sm" type="none"/>
            <a:tailEnd len="sm" w="sm" type="none"/>
          </a:ln>
        </p:spPr>
      </p:cxnSp>
      <p:cxnSp>
        <p:nvCxnSpPr>
          <p:cNvPr id="623" name="Google Shape;623;p55"/>
          <p:cNvCxnSpPr/>
          <p:nvPr/>
        </p:nvCxnSpPr>
        <p:spPr>
          <a:xfrm rot="10800000">
            <a:off x="6804675" y="910700"/>
            <a:ext cx="0" cy="4311900"/>
          </a:xfrm>
          <a:prstGeom prst="straightConnector1">
            <a:avLst/>
          </a:prstGeom>
          <a:noFill/>
          <a:ln cap="flat" cmpd="sng" w="9525">
            <a:solidFill>
              <a:srgbClr val="0254EC"/>
            </a:solidFill>
            <a:prstDash val="solid"/>
            <a:round/>
            <a:headEnd len="sm" w="sm" type="none"/>
            <a:tailEnd len="sm" w="sm" type="none"/>
          </a:ln>
        </p:spPr>
      </p:cxnSp>
      <p:cxnSp>
        <p:nvCxnSpPr>
          <p:cNvPr id="624" name="Google Shape;624;p55"/>
          <p:cNvCxnSpPr/>
          <p:nvPr/>
        </p:nvCxnSpPr>
        <p:spPr>
          <a:xfrm flipH="1" rot="10800000">
            <a:off x="983850" y="193650"/>
            <a:ext cx="8194200" cy="2507100"/>
          </a:xfrm>
          <a:prstGeom prst="straightConnector1">
            <a:avLst/>
          </a:prstGeom>
          <a:noFill/>
          <a:ln cap="flat" cmpd="sng" w="9525">
            <a:solidFill>
              <a:srgbClr val="0254EC"/>
            </a:solidFill>
            <a:prstDash val="lgDash"/>
            <a:round/>
            <a:headEnd len="sm" w="sm" type="none"/>
            <a:tailEnd len="sm" w="sm" type="none"/>
          </a:ln>
        </p:spPr>
      </p:cxnSp>
      <p:cxnSp>
        <p:nvCxnSpPr>
          <p:cNvPr id="625" name="Google Shape;625;p55"/>
          <p:cNvCxnSpPr/>
          <p:nvPr/>
        </p:nvCxnSpPr>
        <p:spPr>
          <a:xfrm rot="10800000">
            <a:off x="807946" y="2756762"/>
            <a:ext cx="0" cy="2399400"/>
          </a:xfrm>
          <a:prstGeom prst="straightConnector1">
            <a:avLst/>
          </a:prstGeom>
          <a:noFill/>
          <a:ln cap="flat" cmpd="sng" w="9525">
            <a:solidFill>
              <a:srgbClr val="0254EC"/>
            </a:solidFill>
            <a:prstDash val="solid"/>
            <a:round/>
            <a:headEnd len="sm" w="sm" type="none"/>
            <a:tailEnd len="sm" w="sm" type="none"/>
          </a:ln>
        </p:spPr>
      </p:cxnSp>
      <p:pic>
        <p:nvPicPr>
          <p:cNvPr id="626" name="Google Shape;626;p55" title="Hardening_infinity.png"/>
          <p:cNvPicPr preferRelativeResize="0"/>
          <p:nvPr/>
        </p:nvPicPr>
        <p:blipFill>
          <a:blip r:embed="rId3">
            <a:alphaModFix/>
          </a:blip>
          <a:stretch>
            <a:fillRect/>
          </a:stretch>
        </p:blipFill>
        <p:spPr>
          <a:xfrm rot="-964393">
            <a:off x="4764150" y="359985"/>
            <a:ext cx="2802000" cy="1505395"/>
          </a:xfrm>
          <a:prstGeom prst="rect">
            <a:avLst/>
          </a:prstGeom>
          <a:noFill/>
          <a:ln>
            <a:noFill/>
          </a:ln>
        </p:spPr>
      </p:pic>
      <p:sp>
        <p:nvSpPr>
          <p:cNvPr id="627" name="Google Shape;627;p55"/>
          <p:cNvSpPr txBox="1"/>
          <p:nvPr>
            <p:ph idx="4294967295" type="title"/>
          </p:nvPr>
        </p:nvSpPr>
        <p:spPr>
          <a:xfrm>
            <a:off x="304850" y="182250"/>
            <a:ext cx="7550100" cy="646500"/>
          </a:xfrm>
          <a:prstGeom prst="rect">
            <a:avLst/>
          </a:prstGeom>
          <a:noFill/>
          <a:ln>
            <a:noFill/>
          </a:ln>
        </p:spPr>
        <p:txBody>
          <a:bodyPr anchorCtr="0" anchor="ctr" bIns="34275" lIns="68575" spcFirstLastPara="1" rIns="68575" wrap="square" tIns="34275">
            <a:noAutofit/>
          </a:bodyPr>
          <a:lstStyle/>
          <a:p>
            <a:pPr indent="0" lvl="0" marL="0" rtl="0" algn="l">
              <a:lnSpc>
                <a:spcPct val="10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Wiz Security</a:t>
            </a:r>
            <a:endParaRPr sz="2420">
              <a:latin typeface="Poppins Light"/>
              <a:ea typeface="Poppins Light"/>
              <a:cs typeface="Poppins Light"/>
              <a:sym typeface="Poppins Light"/>
            </a:endParaRPr>
          </a:p>
          <a:p>
            <a:pPr indent="0" lvl="0" marL="0" rtl="0" algn="l">
              <a:lnSpc>
                <a:spcPct val="10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Maturity Model </a:t>
            </a:r>
            <a:endParaRPr sz="2420">
              <a:latin typeface="Poppins Light"/>
              <a:ea typeface="Poppins Light"/>
              <a:cs typeface="Poppins Light"/>
              <a:sym typeface="Poppins Light"/>
            </a:endParaRPr>
          </a:p>
        </p:txBody>
      </p:sp>
      <p:sp>
        <p:nvSpPr>
          <p:cNvPr id="628" name="Google Shape;628;p55"/>
          <p:cNvSpPr txBox="1"/>
          <p:nvPr/>
        </p:nvSpPr>
        <p:spPr>
          <a:xfrm>
            <a:off x="6914847" y="1709849"/>
            <a:ext cx="1575300" cy="3462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lang="en" sz="900">
                <a:solidFill>
                  <a:schemeClr val="dk1"/>
                </a:solidFill>
                <a:latin typeface="Poppins SemiBold"/>
                <a:ea typeface="Poppins SemiBold"/>
                <a:cs typeface="Poppins SemiBold"/>
                <a:sym typeface="Poppins SemiBold"/>
              </a:rPr>
              <a:t>BACKLOG PREVENTION - DEVELOP SECURELY</a:t>
            </a:r>
            <a:endParaRPr sz="900">
              <a:solidFill>
                <a:schemeClr val="dk1"/>
              </a:solidFill>
              <a:latin typeface="Poppins SemiBold"/>
              <a:ea typeface="Poppins SemiBold"/>
              <a:cs typeface="Poppins SemiBold"/>
              <a:sym typeface="Poppins SemiBold"/>
            </a:endParaRPr>
          </a:p>
        </p:txBody>
      </p:sp>
      <p:sp>
        <p:nvSpPr>
          <p:cNvPr id="629" name="Google Shape;629;p55"/>
          <p:cNvSpPr txBox="1"/>
          <p:nvPr/>
        </p:nvSpPr>
        <p:spPr>
          <a:xfrm>
            <a:off x="6810807" y="2070332"/>
            <a:ext cx="1811700" cy="9723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Enforce code-to-cloud guardrails to prevent issues from ever being deployed with Wiz Code</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Give devs cloud context directly in IDEs and code for secure by design</a:t>
            </a:r>
            <a:endParaRPr sz="800">
              <a:solidFill>
                <a:srgbClr val="01123F"/>
              </a:solidFill>
              <a:latin typeface="Poppins Light"/>
              <a:ea typeface="Poppins Light"/>
              <a:cs typeface="Poppins Light"/>
              <a:sym typeface="Poppins Light"/>
            </a:endParaRPr>
          </a:p>
        </p:txBody>
      </p:sp>
      <p:sp>
        <p:nvSpPr>
          <p:cNvPr id="630" name="Google Shape;630;p55"/>
          <p:cNvSpPr txBox="1"/>
          <p:nvPr/>
        </p:nvSpPr>
        <p:spPr>
          <a:xfrm>
            <a:off x="5006084" y="2154770"/>
            <a:ext cx="1575300" cy="207900"/>
          </a:xfrm>
          <a:prstGeom prst="rect">
            <a:avLst/>
          </a:prstGeom>
          <a:noFill/>
          <a:ln>
            <a:noFill/>
          </a:ln>
        </p:spPr>
        <p:txBody>
          <a:bodyPr anchorCtr="0" anchor="t" bIns="34275" lIns="0" spcFirstLastPara="1" rIns="68575" wrap="square" tIns="34275">
            <a:spAutoFit/>
          </a:bodyPr>
          <a:lstStyle/>
          <a:p>
            <a:pPr indent="0" lvl="0" marL="0" marR="0" rtl="0" algn="l">
              <a:lnSpc>
                <a:spcPct val="100000"/>
              </a:lnSpc>
              <a:spcBef>
                <a:spcPts val="0"/>
              </a:spcBef>
              <a:spcAft>
                <a:spcPts val="0"/>
              </a:spcAft>
              <a:buClr>
                <a:srgbClr val="001741"/>
              </a:buClr>
              <a:buSzPts val="900"/>
              <a:buFont typeface="DM Sans Medium"/>
              <a:buNone/>
            </a:pPr>
            <a:r>
              <a:rPr lang="en" sz="900">
                <a:solidFill>
                  <a:schemeClr val="dk1"/>
                </a:solidFill>
                <a:latin typeface="Poppins SemiBold"/>
                <a:ea typeface="Poppins SemiBold"/>
                <a:cs typeface="Poppins SemiBold"/>
                <a:sym typeface="Poppins SemiBold"/>
              </a:rPr>
              <a:t>POSTURE HARDENING</a:t>
            </a:r>
            <a:endParaRPr sz="900">
              <a:solidFill>
                <a:schemeClr val="dk1"/>
              </a:solidFill>
              <a:latin typeface="Poppins SemiBold"/>
              <a:ea typeface="Poppins SemiBold"/>
              <a:cs typeface="Poppins SemiBold"/>
              <a:sym typeface="Poppins SemiBold"/>
            </a:endParaRPr>
          </a:p>
        </p:txBody>
      </p:sp>
      <p:sp>
        <p:nvSpPr>
          <p:cNvPr id="631" name="Google Shape;631;p55"/>
          <p:cNvSpPr txBox="1"/>
          <p:nvPr/>
        </p:nvSpPr>
        <p:spPr>
          <a:xfrm>
            <a:off x="4902050" y="2387075"/>
            <a:ext cx="1811700" cy="1149900"/>
          </a:xfrm>
          <a:prstGeom prst="rect">
            <a:avLst/>
          </a:prstGeom>
          <a:noFill/>
          <a:ln>
            <a:noFill/>
          </a:ln>
        </p:spPr>
        <p:txBody>
          <a:bodyPr anchorCtr="0" anchor="t" bIns="34275" lIns="68575" spcFirstLastPara="1" rIns="68575" wrap="square" tIns="34275">
            <a:normAutofit lnSpcReduction="10000"/>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Address non-urgent findings impacting overall security posture, including Posture Issues</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Manage exposures in the environment with Wiz XM</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Consolidate remediation for greater impact in a shorter      time frame</a:t>
            </a:r>
            <a:endParaRPr sz="800">
              <a:solidFill>
                <a:srgbClr val="01123F"/>
              </a:solidFill>
              <a:latin typeface="Poppins Light"/>
              <a:ea typeface="Poppins Light"/>
              <a:cs typeface="Poppins Light"/>
              <a:sym typeface="Poppins Light"/>
            </a:endParaRPr>
          </a:p>
        </p:txBody>
      </p:sp>
      <p:sp>
        <p:nvSpPr>
          <p:cNvPr id="632" name="Google Shape;632;p55"/>
          <p:cNvSpPr txBox="1"/>
          <p:nvPr/>
        </p:nvSpPr>
        <p:spPr>
          <a:xfrm>
            <a:off x="3007222" y="2625304"/>
            <a:ext cx="1575300" cy="207900"/>
          </a:xfrm>
          <a:prstGeom prst="rect">
            <a:avLst/>
          </a:prstGeom>
          <a:noFill/>
          <a:ln>
            <a:noFill/>
          </a:ln>
        </p:spPr>
        <p:txBody>
          <a:bodyPr anchorCtr="0" anchor="t" bIns="34275" lIns="0" spcFirstLastPara="1" rIns="68575" wrap="square" tIns="34275">
            <a:spAutoFit/>
          </a:bodyPr>
          <a:lstStyle/>
          <a:p>
            <a:pPr indent="0" lvl="0" marL="0" rtl="0" algn="l">
              <a:spcBef>
                <a:spcPts val="0"/>
              </a:spcBef>
              <a:spcAft>
                <a:spcPts val="0"/>
              </a:spcAft>
              <a:buClr>
                <a:schemeClr val="dk1"/>
              </a:buClr>
              <a:buSzPts val="1100"/>
              <a:buFont typeface="Arial"/>
              <a:buNone/>
            </a:pPr>
            <a:r>
              <a:rPr lang="en" sz="900">
                <a:solidFill>
                  <a:schemeClr val="dk1"/>
                </a:solidFill>
                <a:latin typeface="Poppins SemiBold"/>
                <a:ea typeface="Poppins SemiBold"/>
                <a:cs typeface="Poppins SemiBold"/>
                <a:sym typeface="Poppins SemiBold"/>
              </a:rPr>
              <a:t>REDUCE CRITICAL RISK</a:t>
            </a:r>
            <a:endParaRPr sz="900">
              <a:solidFill>
                <a:schemeClr val="dk1"/>
              </a:solidFill>
              <a:latin typeface="Poppins SemiBold"/>
              <a:ea typeface="Poppins SemiBold"/>
              <a:cs typeface="Poppins SemiBold"/>
              <a:sym typeface="Poppins SemiBold"/>
            </a:endParaRPr>
          </a:p>
        </p:txBody>
      </p:sp>
      <p:sp>
        <p:nvSpPr>
          <p:cNvPr id="633" name="Google Shape;633;p55"/>
          <p:cNvSpPr txBox="1"/>
          <p:nvPr/>
        </p:nvSpPr>
        <p:spPr>
          <a:xfrm>
            <a:off x="2903188" y="2857610"/>
            <a:ext cx="1811700" cy="12624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Prioritize immediately  exploitable attack paths   (validate with Wiz ASM)</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Achieve Zero Critical Risk Issues</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Prioritize external findings (UVM) with Wiz context</a:t>
            </a:r>
            <a:endParaRPr sz="800">
              <a:solidFill>
                <a:srgbClr val="01123F"/>
              </a:solidFill>
              <a:latin typeface="Poppins Light"/>
              <a:ea typeface="Poppins Light"/>
              <a:cs typeface="Poppins Light"/>
              <a:sym typeface="Poppins Light"/>
            </a:endParaRPr>
          </a:p>
        </p:txBody>
      </p:sp>
      <p:sp>
        <p:nvSpPr>
          <p:cNvPr id="634" name="Google Shape;634;p55"/>
          <p:cNvSpPr txBox="1"/>
          <p:nvPr/>
        </p:nvSpPr>
        <p:spPr>
          <a:xfrm>
            <a:off x="1008697" y="3209104"/>
            <a:ext cx="1575300" cy="207900"/>
          </a:xfrm>
          <a:prstGeom prst="rect">
            <a:avLst/>
          </a:prstGeom>
          <a:noFill/>
          <a:ln>
            <a:noFill/>
          </a:ln>
        </p:spPr>
        <p:txBody>
          <a:bodyPr anchorCtr="0" anchor="t" bIns="34275" lIns="0" spcFirstLastPara="1" rIns="68575" wrap="square" tIns="34275">
            <a:spAutoFit/>
          </a:bodyPr>
          <a:lstStyle/>
          <a:p>
            <a:pPr indent="0" lvl="0" marL="0" rtl="0" algn="l">
              <a:spcBef>
                <a:spcPts val="0"/>
              </a:spcBef>
              <a:spcAft>
                <a:spcPts val="0"/>
              </a:spcAft>
              <a:buClr>
                <a:schemeClr val="dk1"/>
              </a:buClr>
              <a:buSzPts val="1100"/>
              <a:buFont typeface="Arial"/>
              <a:buNone/>
            </a:pPr>
            <a:r>
              <a:rPr lang="en" sz="900">
                <a:solidFill>
                  <a:schemeClr val="dk1"/>
                </a:solidFill>
                <a:latin typeface="Poppins SemiBold"/>
                <a:ea typeface="Poppins SemiBold"/>
                <a:cs typeface="Poppins SemiBold"/>
                <a:sym typeface="Poppins SemiBold"/>
              </a:rPr>
              <a:t>GAIN VISIBILITY</a:t>
            </a:r>
            <a:endParaRPr sz="900">
              <a:solidFill>
                <a:schemeClr val="dk1"/>
              </a:solidFill>
              <a:latin typeface="Poppins SemiBold"/>
              <a:ea typeface="Poppins SemiBold"/>
              <a:cs typeface="Poppins SemiBold"/>
              <a:sym typeface="Poppins SemiBold"/>
            </a:endParaRPr>
          </a:p>
        </p:txBody>
      </p:sp>
      <p:sp>
        <p:nvSpPr>
          <p:cNvPr id="635" name="Google Shape;635;p55"/>
          <p:cNvSpPr txBox="1"/>
          <p:nvPr/>
        </p:nvSpPr>
        <p:spPr>
          <a:xfrm>
            <a:off x="904663" y="3441410"/>
            <a:ext cx="1811700" cy="1262400"/>
          </a:xfrm>
          <a:prstGeom prst="rect">
            <a:avLst/>
          </a:prstGeom>
          <a:noFill/>
          <a:ln>
            <a:noFill/>
          </a:ln>
        </p:spPr>
        <p:txBody>
          <a:bodyPr anchorCtr="0" anchor="t" bIns="34275" lIns="68575" spcFirstLastPara="1" rIns="68575" wrap="square" tIns="34275">
            <a:normAutofit/>
          </a:bodyPr>
          <a:lstStyle/>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100% code-to-cloud visibility into any repo, pipeline, or cloud</a:t>
            </a:r>
            <a:endParaRPr sz="800">
              <a:solidFill>
                <a:srgbClr val="01123F"/>
              </a:solidFill>
              <a:latin typeface="Poppins Light"/>
              <a:ea typeface="Poppins Light"/>
              <a:cs typeface="Poppins Light"/>
              <a:sym typeface="Poppins Light"/>
            </a:endParaRPr>
          </a:p>
          <a:p>
            <a:pPr indent="0" lvl="0" marL="0" rtl="0" algn="l">
              <a:lnSpc>
                <a:spcPct val="92000"/>
              </a:lnSpc>
              <a:spcBef>
                <a:spcPts val="0"/>
              </a:spcBef>
              <a:spcAft>
                <a:spcPts val="0"/>
              </a:spcAft>
              <a:buNone/>
            </a:pPr>
            <a:r>
              <a:t/>
            </a:r>
            <a:endParaRPr sz="500">
              <a:solidFill>
                <a:srgbClr val="01123F"/>
              </a:solidFill>
              <a:latin typeface="Poppins Light"/>
              <a:ea typeface="Poppins Light"/>
              <a:cs typeface="Poppins Light"/>
              <a:sym typeface="Poppins Light"/>
            </a:endParaRPr>
          </a:p>
          <a:p>
            <a:pPr indent="-88900" lvl="0" marL="114300" rtl="0" algn="l">
              <a:lnSpc>
                <a:spcPct val="92000"/>
              </a:lnSpc>
              <a:spcBef>
                <a:spcPts val="0"/>
              </a:spcBef>
              <a:spcAft>
                <a:spcPts val="0"/>
              </a:spcAft>
              <a:buClr>
                <a:srgbClr val="01123F"/>
              </a:buClr>
              <a:buSzPts val="500"/>
              <a:buFont typeface="Poppins Light"/>
              <a:buChar char="●"/>
            </a:pPr>
            <a:r>
              <a:rPr lang="en" sz="800">
                <a:solidFill>
                  <a:srgbClr val="01123F"/>
                </a:solidFill>
                <a:latin typeface="Poppins Light"/>
                <a:ea typeface="Poppins Light"/>
                <a:cs typeface="Poppins Light"/>
                <a:sym typeface="Poppins Light"/>
              </a:rPr>
              <a:t>Centralize visibility across on-prem, hybrid, cloud, code with UVM</a:t>
            </a:r>
            <a:endParaRPr sz="800">
              <a:solidFill>
                <a:srgbClr val="01123F"/>
              </a:solidFill>
              <a:latin typeface="Poppins Light"/>
              <a:ea typeface="Poppins Light"/>
              <a:cs typeface="Poppins Light"/>
              <a:sym typeface="Poppins Light"/>
            </a:endParaRPr>
          </a:p>
        </p:txBody>
      </p:sp>
      <p:cxnSp>
        <p:nvCxnSpPr>
          <p:cNvPr id="636" name="Google Shape;636;p55"/>
          <p:cNvCxnSpPr/>
          <p:nvPr/>
        </p:nvCxnSpPr>
        <p:spPr>
          <a:xfrm rot="10800000">
            <a:off x="8809850" y="306800"/>
            <a:ext cx="0" cy="4915800"/>
          </a:xfrm>
          <a:prstGeom prst="straightConnector1">
            <a:avLst/>
          </a:prstGeom>
          <a:noFill/>
          <a:ln cap="flat" cmpd="sng" w="9525">
            <a:solidFill>
              <a:srgbClr val="0254EC"/>
            </a:solidFill>
            <a:prstDash val="solid"/>
            <a:round/>
            <a:headEnd len="sm" w="sm" type="none"/>
            <a:tailEnd len="sm" w="sm" type="none"/>
          </a:ln>
        </p:spPr>
      </p:cxnSp>
      <p:sp>
        <p:nvSpPr>
          <p:cNvPr id="637" name="Google Shape;637;p55"/>
          <p:cNvSpPr txBox="1"/>
          <p:nvPr/>
        </p:nvSpPr>
        <p:spPr>
          <a:xfrm>
            <a:off x="6929000" y="3214200"/>
            <a:ext cx="17328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Harden the SDLC while maintaining “Zero Criticals” and SLA compliance requirements</a:t>
            </a:r>
            <a:endParaRPr sz="1000">
              <a:solidFill>
                <a:schemeClr val="dk1"/>
              </a:solidFill>
              <a:latin typeface="Poppins Medium"/>
              <a:ea typeface="Poppins Medium"/>
              <a:cs typeface="Poppins Medium"/>
              <a:sym typeface="Poppins Medium"/>
            </a:endParaRPr>
          </a:p>
        </p:txBody>
      </p:sp>
      <p:cxnSp>
        <p:nvCxnSpPr>
          <p:cNvPr id="638" name="Google Shape;638;p55"/>
          <p:cNvCxnSpPr/>
          <p:nvPr/>
        </p:nvCxnSpPr>
        <p:spPr>
          <a:xfrm>
            <a:off x="6804671" y="3138012"/>
            <a:ext cx="2005500" cy="0"/>
          </a:xfrm>
          <a:prstGeom prst="straightConnector1">
            <a:avLst/>
          </a:prstGeom>
          <a:noFill/>
          <a:ln cap="flat" cmpd="sng" w="9525">
            <a:solidFill>
              <a:srgbClr val="0254EC"/>
            </a:solidFill>
            <a:prstDash val="solid"/>
            <a:round/>
            <a:headEnd len="sm" w="sm" type="none"/>
            <a:tailEnd len="sm" w="sm" type="none"/>
          </a:ln>
        </p:spPr>
      </p:cxnSp>
      <p:cxnSp>
        <p:nvCxnSpPr>
          <p:cNvPr id="639" name="Google Shape;639;p55"/>
          <p:cNvCxnSpPr/>
          <p:nvPr/>
        </p:nvCxnSpPr>
        <p:spPr>
          <a:xfrm>
            <a:off x="805008" y="4325009"/>
            <a:ext cx="2005500" cy="0"/>
          </a:xfrm>
          <a:prstGeom prst="straightConnector1">
            <a:avLst/>
          </a:prstGeom>
          <a:noFill/>
          <a:ln cap="flat" cmpd="sng" w="9525">
            <a:solidFill>
              <a:srgbClr val="0254EC"/>
            </a:solidFill>
            <a:prstDash val="solid"/>
            <a:round/>
            <a:headEnd len="sm" w="sm" type="none"/>
            <a:tailEnd len="sm" w="sm" type="none"/>
          </a:ln>
        </p:spPr>
      </p:cxnSp>
      <p:cxnSp>
        <p:nvCxnSpPr>
          <p:cNvPr id="640" name="Google Shape;640;p55"/>
          <p:cNvCxnSpPr/>
          <p:nvPr/>
        </p:nvCxnSpPr>
        <p:spPr>
          <a:xfrm>
            <a:off x="4808759" y="3675191"/>
            <a:ext cx="2000400" cy="0"/>
          </a:xfrm>
          <a:prstGeom prst="straightConnector1">
            <a:avLst/>
          </a:prstGeom>
          <a:noFill/>
          <a:ln cap="flat" cmpd="sng" w="9525">
            <a:solidFill>
              <a:srgbClr val="0254EC"/>
            </a:solidFill>
            <a:prstDash val="solid"/>
            <a:round/>
            <a:headEnd len="sm" w="sm" type="none"/>
            <a:tailEnd len="sm" w="sm" type="none"/>
          </a:ln>
        </p:spPr>
      </p:cxnSp>
      <p:cxnSp>
        <p:nvCxnSpPr>
          <p:cNvPr id="641" name="Google Shape;641;p55"/>
          <p:cNvCxnSpPr/>
          <p:nvPr/>
        </p:nvCxnSpPr>
        <p:spPr>
          <a:xfrm>
            <a:off x="2820861" y="3916487"/>
            <a:ext cx="1982700" cy="0"/>
          </a:xfrm>
          <a:prstGeom prst="straightConnector1">
            <a:avLst/>
          </a:prstGeom>
          <a:noFill/>
          <a:ln cap="flat" cmpd="sng" w="9525">
            <a:solidFill>
              <a:srgbClr val="0254EC"/>
            </a:solidFill>
            <a:prstDash val="solid"/>
            <a:round/>
            <a:headEnd len="sm" w="sm" type="none"/>
            <a:tailEnd len="sm" w="sm" type="none"/>
          </a:ln>
        </p:spPr>
      </p:cxnSp>
      <p:sp>
        <p:nvSpPr>
          <p:cNvPr id="642" name="Google Shape;642;p55"/>
          <p:cNvSpPr txBox="1"/>
          <p:nvPr/>
        </p:nvSpPr>
        <p:spPr>
          <a:xfrm>
            <a:off x="904675" y="4416650"/>
            <a:ext cx="1732800" cy="646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Full visibility into vulnerabilities across all environments</a:t>
            </a:r>
            <a:endParaRPr sz="1000">
              <a:solidFill>
                <a:schemeClr val="dk1"/>
              </a:solidFill>
              <a:latin typeface="Poppins Medium"/>
              <a:ea typeface="Poppins Medium"/>
              <a:cs typeface="Poppins Medium"/>
              <a:sym typeface="Poppins Medium"/>
            </a:endParaRPr>
          </a:p>
        </p:txBody>
      </p:sp>
      <p:sp>
        <p:nvSpPr>
          <p:cNvPr id="643" name="Google Shape;643;p55"/>
          <p:cNvSpPr txBox="1"/>
          <p:nvPr/>
        </p:nvSpPr>
        <p:spPr>
          <a:xfrm>
            <a:off x="2942638" y="3992675"/>
            <a:ext cx="17328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Achieve “Zero Critical” Risk Issues</a:t>
            </a:r>
            <a:endParaRPr sz="1000">
              <a:solidFill>
                <a:schemeClr val="dk1"/>
              </a:solidFill>
              <a:latin typeface="Poppins Medium"/>
              <a:ea typeface="Poppins Medium"/>
              <a:cs typeface="Poppins Medium"/>
              <a:sym typeface="Poppins Medium"/>
            </a:endParaRPr>
          </a:p>
        </p:txBody>
      </p:sp>
      <p:sp>
        <p:nvSpPr>
          <p:cNvPr id="644" name="Google Shape;644;p55"/>
          <p:cNvSpPr txBox="1"/>
          <p:nvPr/>
        </p:nvSpPr>
        <p:spPr>
          <a:xfrm>
            <a:off x="4934925" y="3751400"/>
            <a:ext cx="17328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latin typeface="Poppins Medium"/>
                <a:ea typeface="Poppins Medium"/>
                <a:cs typeface="Poppins Medium"/>
                <a:sym typeface="Poppins Medium"/>
              </a:rPr>
              <a:t>Goal: Meet all SLAs for Posture Issues</a:t>
            </a:r>
            <a:endParaRPr sz="1000">
              <a:solidFill>
                <a:schemeClr val="dk1"/>
              </a:solidFill>
              <a:latin typeface="Poppins Medium"/>
              <a:ea typeface="Poppins Medium"/>
              <a:cs typeface="Poppins Medium"/>
              <a:sym typeface="Poppins Medium"/>
            </a:endParaRPr>
          </a:p>
        </p:txBody>
      </p:sp>
      <p:pic>
        <p:nvPicPr>
          <p:cNvPr id="645" name="Google Shape;645;p55" title="Group 1000004546.png"/>
          <p:cNvPicPr preferRelativeResize="0"/>
          <p:nvPr/>
        </p:nvPicPr>
        <p:blipFill>
          <a:blip r:embed="rId4">
            <a:alphaModFix/>
          </a:blip>
          <a:stretch>
            <a:fillRect/>
          </a:stretch>
        </p:blipFill>
        <p:spPr>
          <a:xfrm>
            <a:off x="6717625" y="465775"/>
            <a:ext cx="883400" cy="883400"/>
          </a:xfrm>
          <a:prstGeom prst="rect">
            <a:avLst/>
          </a:prstGeom>
          <a:noFill/>
          <a:ln>
            <a:noFill/>
          </a:ln>
        </p:spPr>
      </p:pic>
      <p:pic>
        <p:nvPicPr>
          <p:cNvPr id="646" name="Google Shape;646;p55" title="Group 1000004545.png"/>
          <p:cNvPicPr preferRelativeResize="0"/>
          <p:nvPr/>
        </p:nvPicPr>
        <p:blipFill>
          <a:blip r:embed="rId5">
            <a:alphaModFix/>
          </a:blip>
          <a:stretch>
            <a:fillRect/>
          </a:stretch>
        </p:blipFill>
        <p:spPr>
          <a:xfrm>
            <a:off x="4685600" y="1077601"/>
            <a:ext cx="883400" cy="883400"/>
          </a:xfrm>
          <a:prstGeom prst="rect">
            <a:avLst/>
          </a:prstGeom>
          <a:noFill/>
          <a:ln>
            <a:noFill/>
          </a:ln>
        </p:spPr>
      </p:pic>
      <p:pic>
        <p:nvPicPr>
          <p:cNvPr id="647" name="Google Shape;647;p55" title="Group 1000004543_1.png"/>
          <p:cNvPicPr preferRelativeResize="0"/>
          <p:nvPr/>
        </p:nvPicPr>
        <p:blipFill>
          <a:blip r:embed="rId6">
            <a:alphaModFix/>
          </a:blip>
          <a:stretch>
            <a:fillRect/>
          </a:stretch>
        </p:blipFill>
        <p:spPr>
          <a:xfrm>
            <a:off x="685650" y="2277531"/>
            <a:ext cx="883400" cy="883400"/>
          </a:xfrm>
          <a:prstGeom prst="rect">
            <a:avLst/>
          </a:prstGeom>
          <a:noFill/>
          <a:ln>
            <a:noFill/>
          </a:ln>
        </p:spPr>
      </p:pic>
      <p:pic>
        <p:nvPicPr>
          <p:cNvPr id="648" name="Google Shape;648;p55" title="Group 1000004544.png"/>
          <p:cNvPicPr preferRelativeResize="0"/>
          <p:nvPr/>
        </p:nvPicPr>
        <p:blipFill>
          <a:blip r:embed="rId7">
            <a:alphaModFix/>
          </a:blip>
          <a:stretch>
            <a:fillRect/>
          </a:stretch>
        </p:blipFill>
        <p:spPr>
          <a:xfrm>
            <a:off x="2698497" y="1693375"/>
            <a:ext cx="883400" cy="883400"/>
          </a:xfrm>
          <a:prstGeom prst="rect">
            <a:avLst/>
          </a:prstGeom>
          <a:noFill/>
          <a:ln>
            <a:noFill/>
          </a:ln>
        </p:spPr>
      </p:pic>
      <p:sp>
        <p:nvSpPr>
          <p:cNvPr id="649" name="Google Shape;649;p55"/>
          <p:cNvSpPr/>
          <p:nvPr/>
        </p:nvSpPr>
        <p:spPr>
          <a:xfrm>
            <a:off x="3212396" y="629773"/>
            <a:ext cx="1453800" cy="252300"/>
          </a:xfrm>
          <a:prstGeom prst="roundRect">
            <a:avLst>
              <a:gd fmla="val 50000" name="adj"/>
            </a:avLst>
          </a:prstGeom>
          <a:solidFill>
            <a:srgbClr val="FFFFFF"/>
          </a:solidFill>
          <a:ln cap="flat" cmpd="sng" w="11350">
            <a:solidFill>
              <a:srgbClr val="CADAFF"/>
            </a:solidFill>
            <a:prstDash val="solid"/>
            <a:miter lim="8000"/>
            <a:headEnd len="sm" w="sm" type="none"/>
            <a:tailEnd len="sm" w="sm" type="none"/>
          </a:ln>
        </p:spPr>
        <p:txBody>
          <a:bodyPr anchorCtr="0" anchor="t" bIns="30650" lIns="61300" spcFirstLastPara="1" rIns="61300" wrap="square" tIns="30650">
            <a:noAutofit/>
          </a:bodyPr>
          <a:lstStyle/>
          <a:p>
            <a:pPr indent="0" lvl="0" marL="0" marR="0" rtl="0" algn="ctr">
              <a:lnSpc>
                <a:spcPct val="100000"/>
              </a:lnSpc>
              <a:spcBef>
                <a:spcPts val="0"/>
              </a:spcBef>
              <a:spcAft>
                <a:spcPts val="0"/>
              </a:spcAft>
              <a:buClr>
                <a:srgbClr val="0153EB"/>
              </a:buClr>
              <a:buSzPts val="596"/>
              <a:buFont typeface="Calibri"/>
              <a:buNone/>
            </a:pPr>
            <a:r>
              <a:t/>
            </a:r>
            <a:endParaRPr b="1" i="0" sz="596" u="none" cap="none" strike="noStrike">
              <a:solidFill>
                <a:srgbClr val="000000"/>
              </a:solidFill>
              <a:latin typeface="DM Sans"/>
              <a:ea typeface="DM Sans"/>
              <a:cs typeface="DM Sans"/>
              <a:sym typeface="DM Sans"/>
            </a:endParaRPr>
          </a:p>
        </p:txBody>
      </p:sp>
      <p:sp>
        <p:nvSpPr>
          <p:cNvPr id="650" name="Google Shape;650;p55"/>
          <p:cNvSpPr txBox="1"/>
          <p:nvPr/>
        </p:nvSpPr>
        <p:spPr>
          <a:xfrm>
            <a:off x="3497502" y="635426"/>
            <a:ext cx="1289400" cy="247800"/>
          </a:xfrm>
          <a:prstGeom prst="rect">
            <a:avLst/>
          </a:prstGeom>
          <a:noFill/>
          <a:ln>
            <a:noFill/>
          </a:ln>
        </p:spPr>
        <p:txBody>
          <a:bodyPr anchorCtr="0" anchor="t" bIns="40875" lIns="0" spcFirstLastPara="1" rIns="81750" wrap="square" tIns="40875">
            <a:spAutoFit/>
          </a:bodyPr>
          <a:lstStyle/>
          <a:p>
            <a:pPr indent="0" lvl="0" marL="0" marR="0" rtl="0" algn="l">
              <a:lnSpc>
                <a:spcPct val="100000"/>
              </a:lnSpc>
              <a:spcBef>
                <a:spcPts val="0"/>
              </a:spcBef>
              <a:spcAft>
                <a:spcPts val="0"/>
              </a:spcAft>
              <a:buClr>
                <a:srgbClr val="0153EB"/>
              </a:buClr>
              <a:buSzPts val="1073"/>
              <a:buFont typeface="DM Sans Medium"/>
              <a:buNone/>
            </a:pPr>
            <a:r>
              <a:rPr lang="en" sz="1073">
                <a:solidFill>
                  <a:srgbClr val="0153EB"/>
                </a:solidFill>
                <a:latin typeface="Poppins Medium"/>
                <a:ea typeface="Poppins Medium"/>
                <a:cs typeface="Poppins Medium"/>
                <a:sym typeface="Poppins Medium"/>
              </a:rPr>
              <a:t>Where are you?</a:t>
            </a:r>
            <a:endParaRPr i="0" sz="1311" u="none" cap="none" strike="noStrike">
              <a:solidFill>
                <a:srgbClr val="000000"/>
              </a:solidFill>
              <a:latin typeface="Poppins"/>
              <a:ea typeface="Poppins"/>
              <a:cs typeface="Poppins"/>
              <a:sym typeface="Poppins"/>
            </a:endParaRPr>
          </a:p>
        </p:txBody>
      </p:sp>
      <p:pic>
        <p:nvPicPr>
          <p:cNvPr id="651" name="Google Shape;651;p55" title="icon.png"/>
          <p:cNvPicPr preferRelativeResize="0"/>
          <p:nvPr/>
        </p:nvPicPr>
        <p:blipFill rotWithShape="1">
          <a:blip r:embed="rId8">
            <a:alphaModFix/>
          </a:blip>
          <a:srcRect b="0" l="0" r="0" t="0"/>
          <a:stretch/>
        </p:blipFill>
        <p:spPr>
          <a:xfrm>
            <a:off x="3149780" y="617823"/>
            <a:ext cx="272612" cy="27261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56"/>
          <p:cNvSpPr txBox="1"/>
          <p:nvPr>
            <p:ph idx="4294967295" type="title"/>
          </p:nvPr>
        </p:nvSpPr>
        <p:spPr>
          <a:xfrm>
            <a:off x="150" y="1666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Cloud Security Posture Snapshot</a:t>
            </a:r>
            <a:endParaRPr sz="2420">
              <a:latin typeface="Poppins Light"/>
              <a:ea typeface="Poppins Light"/>
              <a:cs typeface="Poppins Light"/>
              <a:sym typeface="Poppins Light"/>
            </a:endParaRPr>
          </a:p>
        </p:txBody>
      </p:sp>
      <p:pic>
        <p:nvPicPr>
          <p:cNvPr id="658" name="Google Shape;658;p56"/>
          <p:cNvPicPr preferRelativeResize="0"/>
          <p:nvPr/>
        </p:nvPicPr>
        <p:blipFill>
          <a:blip r:embed="rId3">
            <a:alphaModFix/>
          </a:blip>
          <a:stretch>
            <a:fillRect/>
          </a:stretch>
        </p:blipFill>
        <p:spPr>
          <a:xfrm>
            <a:off x="328386" y="891625"/>
            <a:ext cx="2104822" cy="1177356"/>
          </a:xfrm>
          <a:prstGeom prst="rect">
            <a:avLst/>
          </a:prstGeom>
          <a:noFill/>
          <a:ln>
            <a:noFill/>
          </a:ln>
        </p:spPr>
      </p:pic>
      <p:sp>
        <p:nvSpPr>
          <p:cNvPr id="659" name="Google Shape;659;p56"/>
          <p:cNvSpPr txBox="1"/>
          <p:nvPr/>
        </p:nvSpPr>
        <p:spPr>
          <a:xfrm>
            <a:off x="328224" y="961165"/>
            <a:ext cx="21051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a:solidFill>
                  <a:schemeClr val="dk1"/>
                </a:solidFill>
                <a:latin typeface="Poppins"/>
                <a:ea typeface="Poppins"/>
                <a:cs typeface="Poppins"/>
                <a:sym typeface="Poppins"/>
              </a:rPr>
              <a:t>Current Security Score</a:t>
            </a:r>
            <a:endParaRPr sz="1200">
              <a:solidFill>
                <a:schemeClr val="dk1"/>
              </a:solidFill>
              <a:latin typeface="Poppins"/>
              <a:ea typeface="Poppins"/>
              <a:cs typeface="Poppins"/>
              <a:sym typeface="Poppins"/>
            </a:endParaRPr>
          </a:p>
        </p:txBody>
      </p:sp>
      <p:sp>
        <p:nvSpPr>
          <p:cNvPr id="660" name="Google Shape;660;p56"/>
          <p:cNvSpPr txBox="1"/>
          <p:nvPr/>
        </p:nvSpPr>
        <p:spPr>
          <a:xfrm>
            <a:off x="328682" y="1709240"/>
            <a:ext cx="2104800" cy="401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00">
                <a:solidFill>
                  <a:schemeClr val="dk1"/>
                </a:solidFill>
                <a:latin typeface="Poppins"/>
                <a:ea typeface="Poppins"/>
                <a:cs typeface="Poppins"/>
                <a:sym typeface="Poppins"/>
              </a:rPr>
              <a:t>90 Day Trend {{s1d}}</a:t>
            </a:r>
            <a:endParaRPr sz="1000">
              <a:solidFill>
                <a:schemeClr val="dk1"/>
              </a:solidFill>
              <a:latin typeface="Poppins"/>
              <a:ea typeface="Poppins"/>
              <a:cs typeface="Poppins"/>
              <a:sym typeface="Poppins"/>
            </a:endParaRPr>
          </a:p>
        </p:txBody>
      </p:sp>
      <p:sp>
        <p:nvSpPr>
          <p:cNvPr id="661" name="Google Shape;661;p56"/>
          <p:cNvSpPr txBox="1"/>
          <p:nvPr/>
        </p:nvSpPr>
        <p:spPr>
          <a:xfrm>
            <a:off x="325825" y="1275254"/>
            <a:ext cx="2104800" cy="342300"/>
          </a:xfrm>
          <a:prstGeom prst="rect">
            <a:avLst/>
          </a:prstGeom>
          <a:noFill/>
          <a:ln>
            <a:noFill/>
          </a:ln>
          <a:effectLst>
            <a:outerShdw blurRad="57150" rotWithShape="0" algn="bl" dir="5400000" dist="19050">
              <a:srgbClr val="674EA7">
                <a:alpha val="56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{{SS}}%</a:t>
            </a:r>
            <a:endParaRPr sz="2100">
              <a:solidFill>
                <a:srgbClr val="1155CC"/>
              </a:solidFill>
              <a:latin typeface="Poppins SemiBold"/>
              <a:ea typeface="Poppins SemiBold"/>
              <a:cs typeface="Poppins SemiBold"/>
              <a:sym typeface="Poppins SemiBold"/>
            </a:endParaRPr>
          </a:p>
        </p:txBody>
      </p:sp>
      <p:pic>
        <p:nvPicPr>
          <p:cNvPr id="662" name="Google Shape;662;p56"/>
          <p:cNvPicPr preferRelativeResize="0"/>
          <p:nvPr/>
        </p:nvPicPr>
        <p:blipFill>
          <a:blip r:embed="rId3">
            <a:alphaModFix/>
          </a:blip>
          <a:stretch>
            <a:fillRect/>
          </a:stretch>
        </p:blipFill>
        <p:spPr>
          <a:xfrm>
            <a:off x="2581991" y="897686"/>
            <a:ext cx="2072709" cy="1177356"/>
          </a:xfrm>
          <a:prstGeom prst="rect">
            <a:avLst/>
          </a:prstGeom>
          <a:noFill/>
          <a:ln>
            <a:noFill/>
          </a:ln>
        </p:spPr>
      </p:pic>
      <p:sp>
        <p:nvSpPr>
          <p:cNvPr id="663" name="Google Shape;663;p56"/>
          <p:cNvSpPr txBox="1"/>
          <p:nvPr/>
        </p:nvSpPr>
        <p:spPr>
          <a:xfrm>
            <a:off x="2581870" y="966862"/>
            <a:ext cx="2067300" cy="2610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a:solidFill>
                  <a:schemeClr val="dk1"/>
                </a:solidFill>
                <a:latin typeface="Poppins"/>
                <a:ea typeface="Poppins"/>
                <a:cs typeface="Poppins"/>
                <a:sym typeface="Poppins"/>
              </a:rPr>
              <a:t>Industry Benchmark</a:t>
            </a:r>
            <a:endParaRPr sz="1200">
              <a:solidFill>
                <a:schemeClr val="dk1"/>
              </a:solidFill>
              <a:latin typeface="Poppins"/>
              <a:ea typeface="Poppins"/>
              <a:cs typeface="Poppins"/>
              <a:sym typeface="Poppins"/>
            </a:endParaRPr>
          </a:p>
        </p:txBody>
      </p:sp>
      <p:sp>
        <p:nvSpPr>
          <p:cNvPr id="664" name="Google Shape;664;p56"/>
          <p:cNvSpPr txBox="1"/>
          <p:nvPr/>
        </p:nvSpPr>
        <p:spPr>
          <a:xfrm>
            <a:off x="2582409" y="1756556"/>
            <a:ext cx="2065500" cy="389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900">
                <a:solidFill>
                  <a:schemeClr val="dk1"/>
                </a:solidFill>
                <a:latin typeface="Poppins"/>
                <a:ea typeface="Poppins"/>
                <a:cs typeface="Poppins"/>
                <a:sym typeface="Poppins"/>
              </a:rPr>
              <a:t>Security Score Gap {{SG}}%</a:t>
            </a:r>
            <a:endParaRPr sz="900">
              <a:solidFill>
                <a:schemeClr val="dk1"/>
              </a:solidFill>
              <a:latin typeface="Poppins"/>
              <a:ea typeface="Poppins"/>
              <a:cs typeface="Poppins"/>
              <a:sym typeface="Poppins"/>
            </a:endParaRPr>
          </a:p>
        </p:txBody>
      </p:sp>
      <p:sp>
        <p:nvSpPr>
          <p:cNvPr id="665" name="Google Shape;665;p56"/>
          <p:cNvSpPr txBox="1"/>
          <p:nvPr/>
        </p:nvSpPr>
        <p:spPr>
          <a:xfrm>
            <a:off x="2580848" y="1468922"/>
            <a:ext cx="2065500" cy="3318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1155CC"/>
                </a:solidFill>
                <a:latin typeface="Poppins SemiBold"/>
                <a:ea typeface="Poppins SemiBold"/>
                <a:cs typeface="Poppins SemiBold"/>
                <a:sym typeface="Poppins SemiBold"/>
              </a:rPr>
              <a:t>{{SP}}%</a:t>
            </a:r>
            <a:endParaRPr sz="1700">
              <a:solidFill>
                <a:srgbClr val="1155CC"/>
              </a:solidFill>
              <a:latin typeface="Poppins SemiBold"/>
              <a:ea typeface="Poppins SemiBold"/>
              <a:cs typeface="Poppins SemiBold"/>
              <a:sym typeface="Poppins SemiBold"/>
            </a:endParaRPr>
          </a:p>
        </p:txBody>
      </p:sp>
      <p:pic>
        <p:nvPicPr>
          <p:cNvPr id="666" name="Google Shape;666;p56"/>
          <p:cNvPicPr preferRelativeResize="0"/>
          <p:nvPr/>
        </p:nvPicPr>
        <p:blipFill>
          <a:blip r:embed="rId3">
            <a:alphaModFix/>
          </a:blip>
          <a:stretch>
            <a:fillRect/>
          </a:stretch>
        </p:blipFill>
        <p:spPr>
          <a:xfrm>
            <a:off x="4776020" y="897687"/>
            <a:ext cx="1951974" cy="1177356"/>
          </a:xfrm>
          <a:prstGeom prst="rect">
            <a:avLst/>
          </a:prstGeom>
          <a:noFill/>
          <a:ln>
            <a:noFill/>
          </a:ln>
        </p:spPr>
      </p:pic>
      <p:sp>
        <p:nvSpPr>
          <p:cNvPr id="667" name="Google Shape;667;p56"/>
          <p:cNvSpPr txBox="1"/>
          <p:nvPr/>
        </p:nvSpPr>
        <p:spPr>
          <a:xfrm>
            <a:off x="4775870" y="955658"/>
            <a:ext cx="19521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u="sng">
                <a:solidFill>
                  <a:srgbClr val="0254EC"/>
                </a:solidFill>
                <a:latin typeface="Poppins"/>
                <a:ea typeface="Poppins"/>
                <a:cs typeface="Poppins"/>
                <a:sym typeface="Poppins"/>
                <a:hlinkClick r:id="rId4">
                  <a:extLst>
                    <a:ext uri="{A12FA001-AC4F-418D-AE19-62706E023703}">
                      <ahyp:hlinkClr val="tx"/>
                    </a:ext>
                  </a:extLst>
                </a:hlinkClick>
              </a:rPr>
              <a:t>Open Critical Issues</a:t>
            </a:r>
            <a:r>
              <a:rPr lang="en" sz="1200">
                <a:solidFill>
                  <a:srgbClr val="0254EC"/>
                </a:solidFill>
                <a:latin typeface="Poppins"/>
                <a:ea typeface="Poppins"/>
                <a:cs typeface="Poppins"/>
                <a:sym typeface="Poppins"/>
              </a:rPr>
              <a:t> ↗</a:t>
            </a:r>
            <a:endParaRPr sz="1200">
              <a:solidFill>
                <a:srgbClr val="0254EC"/>
              </a:solidFill>
              <a:latin typeface="Poppins"/>
              <a:ea typeface="Poppins"/>
              <a:cs typeface="Poppins"/>
              <a:sym typeface="Poppins"/>
            </a:endParaRPr>
          </a:p>
        </p:txBody>
      </p:sp>
      <p:sp>
        <p:nvSpPr>
          <p:cNvPr id="668" name="Google Shape;668;p56"/>
          <p:cNvSpPr txBox="1"/>
          <p:nvPr/>
        </p:nvSpPr>
        <p:spPr>
          <a:xfrm>
            <a:off x="4775970" y="1697930"/>
            <a:ext cx="1952100" cy="401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None/>
            </a:pPr>
            <a:r>
              <a:rPr lang="en" sz="1000" u="sng">
                <a:solidFill>
                  <a:srgbClr val="0254EC"/>
                </a:solidFill>
                <a:latin typeface="Poppins"/>
                <a:ea typeface="Poppins"/>
                <a:cs typeface="Poppins"/>
                <a:sym typeface="Poppins"/>
                <a:hlinkClick r:id="rId5">
                  <a:extLst>
                    <a:ext uri="{A12FA001-AC4F-418D-AE19-62706E023703}">
                      <ahyp:hlinkClr val="tx"/>
                    </a:ext>
                  </a:extLst>
                </a:hlinkClick>
              </a:rPr>
              <a:t>Resolved Criticals </a:t>
            </a:r>
            <a:r>
              <a:rPr lang="en" sz="1100">
                <a:solidFill>
                  <a:srgbClr val="0254EC"/>
                </a:solidFill>
                <a:uFill>
                  <a:noFill/>
                </a:uFill>
                <a:latin typeface="Poppins"/>
                <a:ea typeface="Poppins"/>
                <a:cs typeface="Poppins"/>
                <a:sym typeface="Poppins"/>
                <a:hlinkClick r:id="rId6">
                  <a:extLst>
                    <a:ext uri="{A12FA001-AC4F-418D-AE19-62706E023703}">
                      <ahyp:hlinkClr val="tx"/>
                    </a:ext>
                  </a:extLst>
                </a:hlinkClick>
              </a:rPr>
              <a:t>↗</a:t>
            </a:r>
            <a:r>
              <a:rPr lang="en" sz="1000">
                <a:solidFill>
                  <a:srgbClr val="0254EC"/>
                </a:solidFill>
                <a:latin typeface="Poppins"/>
                <a:ea typeface="Poppins"/>
                <a:cs typeface="Poppins"/>
                <a:sym typeface="Poppins"/>
              </a:rPr>
              <a:t> </a:t>
            </a:r>
            <a:r>
              <a:rPr b="1" lang="en" sz="1000">
                <a:solidFill>
                  <a:srgbClr val="0254EC"/>
                </a:solidFill>
                <a:latin typeface="Poppins"/>
                <a:ea typeface="Poppins"/>
                <a:cs typeface="Poppins"/>
                <a:sym typeface="Poppins"/>
              </a:rPr>
              <a:t>{{RC}}</a:t>
            </a:r>
            <a:endParaRPr b="1" sz="1000">
              <a:solidFill>
                <a:srgbClr val="0254EC"/>
              </a:solidFill>
              <a:latin typeface="Poppins"/>
              <a:ea typeface="Poppins"/>
              <a:cs typeface="Poppins"/>
              <a:sym typeface="Poppins"/>
            </a:endParaRPr>
          </a:p>
        </p:txBody>
      </p:sp>
      <p:sp>
        <p:nvSpPr>
          <p:cNvPr id="669" name="Google Shape;669;p56"/>
          <p:cNvSpPr txBox="1"/>
          <p:nvPr/>
        </p:nvSpPr>
        <p:spPr>
          <a:xfrm>
            <a:off x="4773495" y="1274373"/>
            <a:ext cx="1951800" cy="342300"/>
          </a:xfrm>
          <a:prstGeom prst="rect">
            <a:avLst/>
          </a:prstGeom>
          <a:noFill/>
          <a:ln>
            <a:noFill/>
          </a:ln>
          <a:effectLst>
            <a:outerShdw blurRad="57150" rotWithShape="0" algn="bl" dir="5400000" dist="19050">
              <a:srgbClr val="674EA7">
                <a:alpha val="56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{{OC}}</a:t>
            </a:r>
            <a:endParaRPr sz="2100">
              <a:solidFill>
                <a:srgbClr val="1155CC"/>
              </a:solidFill>
              <a:latin typeface="Poppins SemiBold"/>
              <a:ea typeface="Poppins SemiBold"/>
              <a:cs typeface="Poppins SemiBold"/>
              <a:sym typeface="Poppins SemiBold"/>
            </a:endParaRPr>
          </a:p>
        </p:txBody>
      </p:sp>
      <p:pic>
        <p:nvPicPr>
          <p:cNvPr id="670" name="Google Shape;670;p56"/>
          <p:cNvPicPr preferRelativeResize="0"/>
          <p:nvPr/>
        </p:nvPicPr>
        <p:blipFill>
          <a:blip r:embed="rId3">
            <a:alphaModFix/>
          </a:blip>
          <a:stretch>
            <a:fillRect/>
          </a:stretch>
        </p:blipFill>
        <p:spPr>
          <a:xfrm>
            <a:off x="6866110" y="897687"/>
            <a:ext cx="1951974" cy="1177356"/>
          </a:xfrm>
          <a:prstGeom prst="rect">
            <a:avLst/>
          </a:prstGeom>
          <a:noFill/>
          <a:ln>
            <a:noFill/>
          </a:ln>
        </p:spPr>
      </p:pic>
      <p:sp>
        <p:nvSpPr>
          <p:cNvPr id="671" name="Google Shape;671;p56"/>
          <p:cNvSpPr txBox="1"/>
          <p:nvPr/>
        </p:nvSpPr>
        <p:spPr>
          <a:xfrm>
            <a:off x="6865973" y="948265"/>
            <a:ext cx="1952100" cy="2577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u="sng">
                <a:solidFill>
                  <a:srgbClr val="0254EC"/>
                </a:solidFill>
                <a:latin typeface="Poppins"/>
                <a:ea typeface="Poppins"/>
                <a:cs typeface="Poppins"/>
                <a:sym typeface="Poppins"/>
                <a:hlinkClick r:id="rId7">
                  <a:extLst>
                    <a:ext uri="{A12FA001-AC4F-418D-AE19-62706E023703}">
                      <ahyp:hlinkClr val="tx"/>
                    </a:ext>
                  </a:extLst>
                </a:hlinkClick>
              </a:rPr>
              <a:t>Open High Issues</a:t>
            </a:r>
            <a:r>
              <a:rPr lang="en" sz="1200">
                <a:solidFill>
                  <a:srgbClr val="0254EC"/>
                </a:solidFill>
                <a:latin typeface="Poppins"/>
                <a:ea typeface="Poppins"/>
                <a:cs typeface="Poppins"/>
                <a:sym typeface="Poppins"/>
              </a:rPr>
              <a:t> ↗</a:t>
            </a:r>
            <a:endParaRPr sz="1200">
              <a:solidFill>
                <a:srgbClr val="0254EC"/>
              </a:solidFill>
              <a:latin typeface="Poppins"/>
              <a:ea typeface="Poppins"/>
              <a:cs typeface="Poppins"/>
              <a:sym typeface="Poppins"/>
            </a:endParaRPr>
          </a:p>
        </p:txBody>
      </p:sp>
      <p:sp>
        <p:nvSpPr>
          <p:cNvPr id="672" name="Google Shape;672;p56"/>
          <p:cNvSpPr txBox="1"/>
          <p:nvPr/>
        </p:nvSpPr>
        <p:spPr>
          <a:xfrm>
            <a:off x="6866072" y="1682413"/>
            <a:ext cx="1952100" cy="384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u="sng">
                <a:solidFill>
                  <a:srgbClr val="0254EC"/>
                </a:solidFill>
                <a:latin typeface="Poppins"/>
                <a:ea typeface="Poppins"/>
                <a:cs typeface="Poppins"/>
                <a:sym typeface="Poppins"/>
                <a:hlinkClick r:id="rId8">
                  <a:extLst>
                    <a:ext uri="{A12FA001-AC4F-418D-AE19-62706E023703}">
                      <ahyp:hlinkClr val="tx"/>
                    </a:ext>
                  </a:extLst>
                </a:hlinkClick>
              </a:rPr>
              <a:t>Resolved Highs</a:t>
            </a:r>
            <a:r>
              <a:rPr lang="en" sz="1000">
                <a:solidFill>
                  <a:srgbClr val="0254EC"/>
                </a:solidFill>
                <a:latin typeface="Poppins"/>
                <a:ea typeface="Poppins"/>
                <a:cs typeface="Poppins"/>
                <a:sym typeface="Poppins"/>
              </a:rPr>
              <a:t> </a:t>
            </a:r>
            <a:r>
              <a:rPr lang="en" sz="1100">
                <a:solidFill>
                  <a:srgbClr val="0254EC"/>
                </a:solidFill>
                <a:uFill>
                  <a:noFill/>
                </a:uFill>
                <a:latin typeface="Poppins"/>
                <a:ea typeface="Poppins"/>
                <a:cs typeface="Poppins"/>
                <a:sym typeface="Poppins"/>
                <a:hlinkClick r:id="rId9">
                  <a:extLst>
                    <a:ext uri="{A12FA001-AC4F-418D-AE19-62706E023703}">
                      <ahyp:hlinkClr val="tx"/>
                    </a:ext>
                  </a:extLst>
                </a:hlinkClick>
              </a:rPr>
              <a:t>↗</a:t>
            </a:r>
            <a:r>
              <a:rPr lang="en" sz="1000">
                <a:solidFill>
                  <a:srgbClr val="0254EC"/>
                </a:solidFill>
                <a:latin typeface="Poppins"/>
                <a:ea typeface="Poppins"/>
                <a:cs typeface="Poppins"/>
                <a:sym typeface="Poppins"/>
              </a:rPr>
              <a:t> </a:t>
            </a:r>
            <a:r>
              <a:rPr b="1" lang="en" sz="1000">
                <a:solidFill>
                  <a:srgbClr val="0254EC"/>
                </a:solidFill>
                <a:latin typeface="Poppins"/>
                <a:ea typeface="Poppins"/>
                <a:cs typeface="Poppins"/>
                <a:sym typeface="Poppins"/>
              </a:rPr>
              <a:t>{{RH}}</a:t>
            </a:r>
            <a:endParaRPr b="1" sz="900">
              <a:solidFill>
                <a:srgbClr val="0254EC"/>
              </a:solidFill>
              <a:latin typeface="Poppins"/>
              <a:ea typeface="Poppins"/>
              <a:cs typeface="Poppins"/>
              <a:sym typeface="Poppins"/>
            </a:endParaRPr>
          </a:p>
        </p:txBody>
      </p:sp>
      <p:sp>
        <p:nvSpPr>
          <p:cNvPr id="673" name="Google Shape;673;p56"/>
          <p:cNvSpPr txBox="1"/>
          <p:nvPr/>
        </p:nvSpPr>
        <p:spPr>
          <a:xfrm>
            <a:off x="6863397" y="1267303"/>
            <a:ext cx="1952100" cy="327300"/>
          </a:xfrm>
          <a:prstGeom prst="rect">
            <a:avLst/>
          </a:prstGeom>
          <a:noFill/>
          <a:ln>
            <a:noFill/>
          </a:ln>
          <a:effectLst>
            <a:outerShdw blurRad="57150" rotWithShape="0" algn="bl" dir="5400000" dist="19050">
              <a:srgbClr val="674EA7">
                <a:alpha val="56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{{OH}}</a:t>
            </a:r>
            <a:endParaRPr sz="2100">
              <a:solidFill>
                <a:srgbClr val="1155CC"/>
              </a:solidFill>
              <a:latin typeface="Poppins SemiBold"/>
              <a:ea typeface="Poppins SemiBold"/>
              <a:cs typeface="Poppins SemiBold"/>
              <a:sym typeface="Poppins SemiBold"/>
            </a:endParaRPr>
          </a:p>
        </p:txBody>
      </p:sp>
      <p:pic>
        <p:nvPicPr>
          <p:cNvPr id="674" name="Google Shape;674;p56"/>
          <p:cNvPicPr preferRelativeResize="0"/>
          <p:nvPr/>
        </p:nvPicPr>
        <p:blipFill>
          <a:blip r:embed="rId3">
            <a:alphaModFix/>
          </a:blip>
          <a:stretch>
            <a:fillRect/>
          </a:stretch>
        </p:blipFill>
        <p:spPr>
          <a:xfrm>
            <a:off x="331250" y="2224649"/>
            <a:ext cx="2100500" cy="1268051"/>
          </a:xfrm>
          <a:prstGeom prst="rect">
            <a:avLst/>
          </a:prstGeom>
          <a:noFill/>
          <a:ln>
            <a:noFill/>
          </a:ln>
        </p:spPr>
      </p:pic>
      <p:sp>
        <p:nvSpPr>
          <p:cNvPr id="675" name="Google Shape;675;p56"/>
          <p:cNvSpPr txBox="1"/>
          <p:nvPr/>
        </p:nvSpPr>
        <p:spPr>
          <a:xfrm>
            <a:off x="331089" y="2303994"/>
            <a:ext cx="2100600" cy="2691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a:solidFill>
                  <a:schemeClr val="dk1"/>
                </a:solidFill>
                <a:latin typeface="Poppins"/>
                <a:ea typeface="Poppins"/>
                <a:cs typeface="Poppins"/>
                <a:sym typeface="Poppins"/>
              </a:rPr>
              <a:t>Ignored Issues</a:t>
            </a:r>
            <a:endParaRPr sz="1200">
              <a:solidFill>
                <a:schemeClr val="dk1"/>
              </a:solidFill>
              <a:latin typeface="Poppins"/>
              <a:ea typeface="Poppins"/>
              <a:cs typeface="Poppins"/>
              <a:sym typeface="Poppins"/>
            </a:endParaRPr>
          </a:p>
        </p:txBody>
      </p:sp>
      <p:sp>
        <p:nvSpPr>
          <p:cNvPr id="676" name="Google Shape;676;p56"/>
          <p:cNvSpPr txBox="1"/>
          <p:nvPr/>
        </p:nvSpPr>
        <p:spPr>
          <a:xfrm>
            <a:off x="331546" y="3000634"/>
            <a:ext cx="2100300" cy="40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u="sng">
                <a:solidFill>
                  <a:srgbClr val="0254EC"/>
                </a:solidFill>
                <a:latin typeface="Poppins"/>
                <a:ea typeface="Poppins"/>
                <a:cs typeface="Poppins"/>
                <a:sym typeface="Poppins"/>
                <a:hlinkClick r:id="rId10">
                  <a:extLst>
                    <a:ext uri="{A12FA001-AC4F-418D-AE19-62706E023703}">
                      <ahyp:hlinkClr val="tx"/>
                    </a:ext>
                  </a:extLst>
                </a:hlinkClick>
              </a:rPr>
              <a:t>Total Ignored Issues</a:t>
            </a:r>
            <a:endParaRPr sz="1000">
              <a:solidFill>
                <a:srgbClr val="0254EC"/>
              </a:solidFill>
              <a:latin typeface="Poppins"/>
              <a:ea typeface="Poppins"/>
              <a:cs typeface="Poppins"/>
              <a:sym typeface="Poppins"/>
            </a:endParaRPr>
          </a:p>
        </p:txBody>
      </p:sp>
      <p:sp>
        <p:nvSpPr>
          <p:cNvPr id="677" name="Google Shape;677;p56"/>
          <p:cNvSpPr txBox="1"/>
          <p:nvPr/>
        </p:nvSpPr>
        <p:spPr>
          <a:xfrm>
            <a:off x="328694" y="2629117"/>
            <a:ext cx="2100300" cy="342300"/>
          </a:xfrm>
          <a:prstGeom prst="rect">
            <a:avLst/>
          </a:prstGeom>
          <a:noFill/>
          <a:ln>
            <a:noFill/>
          </a:ln>
          <a:effectLst>
            <a:outerShdw blurRad="57150" rotWithShape="0" algn="bl" dir="5400000" dist="19050">
              <a:srgbClr val="674EA7">
                <a:alpha val="56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{{RJ}}</a:t>
            </a:r>
            <a:endParaRPr sz="2100">
              <a:solidFill>
                <a:srgbClr val="1155CC"/>
              </a:solidFill>
              <a:latin typeface="Poppins SemiBold"/>
              <a:ea typeface="Poppins SemiBold"/>
              <a:cs typeface="Poppins SemiBold"/>
              <a:sym typeface="Poppins SemiBold"/>
            </a:endParaRPr>
          </a:p>
        </p:txBody>
      </p:sp>
      <p:pic>
        <p:nvPicPr>
          <p:cNvPr id="678" name="Google Shape;678;p56"/>
          <p:cNvPicPr preferRelativeResize="0"/>
          <p:nvPr/>
        </p:nvPicPr>
        <p:blipFill>
          <a:blip r:embed="rId3">
            <a:alphaModFix/>
          </a:blip>
          <a:stretch>
            <a:fillRect/>
          </a:stretch>
        </p:blipFill>
        <p:spPr>
          <a:xfrm>
            <a:off x="2586575" y="2230725"/>
            <a:ext cx="2100372" cy="1268051"/>
          </a:xfrm>
          <a:prstGeom prst="rect">
            <a:avLst/>
          </a:prstGeom>
          <a:noFill/>
          <a:ln>
            <a:noFill/>
          </a:ln>
        </p:spPr>
      </p:pic>
      <p:sp>
        <p:nvSpPr>
          <p:cNvPr id="679" name="Google Shape;679;p56"/>
          <p:cNvSpPr txBox="1"/>
          <p:nvPr/>
        </p:nvSpPr>
        <p:spPr>
          <a:xfrm>
            <a:off x="2586459" y="2311150"/>
            <a:ext cx="2100300" cy="2772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u="sng">
                <a:solidFill>
                  <a:srgbClr val="0254EC"/>
                </a:solidFill>
                <a:latin typeface="Poppins"/>
                <a:ea typeface="Poppins"/>
                <a:cs typeface="Poppins"/>
                <a:sym typeface="Poppins"/>
                <a:hlinkClick r:id="rId11">
                  <a:extLst>
                    <a:ext uri="{A12FA001-AC4F-418D-AE19-62706E023703}">
                      <ahyp:hlinkClr val="tx"/>
                    </a:ext>
                  </a:extLst>
                </a:hlinkClick>
              </a:rPr>
              <a:t>AI Findings</a:t>
            </a:r>
            <a:r>
              <a:rPr lang="en" sz="1200">
                <a:solidFill>
                  <a:srgbClr val="0254EC"/>
                </a:solidFill>
                <a:latin typeface="Poppins"/>
                <a:ea typeface="Poppins"/>
                <a:cs typeface="Poppins"/>
                <a:sym typeface="Poppins"/>
              </a:rPr>
              <a:t> ↗</a:t>
            </a:r>
            <a:endParaRPr sz="1200">
              <a:solidFill>
                <a:srgbClr val="0254EC"/>
              </a:solidFill>
              <a:latin typeface="Poppins"/>
              <a:ea typeface="Poppins"/>
              <a:cs typeface="Poppins"/>
              <a:sym typeface="Poppins"/>
            </a:endParaRPr>
          </a:p>
        </p:txBody>
      </p:sp>
      <p:sp>
        <p:nvSpPr>
          <p:cNvPr id="680" name="Google Shape;680;p56"/>
          <p:cNvSpPr txBox="1"/>
          <p:nvPr/>
        </p:nvSpPr>
        <p:spPr>
          <a:xfrm>
            <a:off x="2583825" y="2603552"/>
            <a:ext cx="2100300" cy="1018800"/>
          </a:xfrm>
          <a:prstGeom prst="rect">
            <a:avLst/>
          </a:prstGeom>
          <a:no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000">
                <a:solidFill>
                  <a:srgbClr val="1155CC"/>
                </a:solidFill>
                <a:latin typeface="Poppins SemiBold"/>
                <a:ea typeface="Poppins SemiBold"/>
                <a:cs typeface="Poppins SemiBold"/>
                <a:sym typeface="Poppins SemiBold"/>
              </a:rPr>
              <a:t>Security Findings: {{AI_SF}}</a:t>
            </a:r>
            <a:br>
              <a:rPr lang="en" sz="1000">
                <a:solidFill>
                  <a:srgbClr val="1155CC"/>
                </a:solidFill>
                <a:latin typeface="Poppins SemiBold"/>
                <a:ea typeface="Poppins SemiBold"/>
                <a:cs typeface="Poppins SemiBold"/>
                <a:sym typeface="Poppins SemiBold"/>
              </a:rPr>
            </a:br>
            <a:r>
              <a:rPr lang="en" sz="1000">
                <a:solidFill>
                  <a:srgbClr val="1155CC"/>
                </a:solidFill>
                <a:latin typeface="Poppins SemiBold"/>
                <a:ea typeface="Poppins SemiBold"/>
                <a:cs typeface="Poppins SemiBold"/>
                <a:sym typeface="Poppins SemiBold"/>
              </a:rPr>
              <a:t>Configuration Findings: {{AI_MF}}</a:t>
            </a:r>
            <a:endParaRPr sz="1000">
              <a:solidFill>
                <a:srgbClr val="1155CC"/>
              </a:solidFill>
              <a:latin typeface="Poppins SemiBold"/>
              <a:ea typeface="Poppins SemiBold"/>
              <a:cs typeface="Poppins SemiBold"/>
              <a:sym typeface="Poppins SemiBold"/>
            </a:endParaRPr>
          </a:p>
          <a:p>
            <a:pPr indent="0" lvl="0" marL="0" rtl="0" algn="l">
              <a:lnSpc>
                <a:spcPct val="150000"/>
              </a:lnSpc>
              <a:spcBef>
                <a:spcPts val="0"/>
              </a:spcBef>
              <a:spcAft>
                <a:spcPts val="0"/>
              </a:spcAft>
              <a:buNone/>
            </a:pPr>
            <a:r>
              <a:rPr lang="en" sz="1000">
                <a:solidFill>
                  <a:srgbClr val="1155CC"/>
                </a:solidFill>
                <a:latin typeface="Poppins SemiBold"/>
                <a:ea typeface="Poppins SemiBold"/>
                <a:cs typeface="Poppins SemiBold"/>
                <a:sym typeface="Poppins SemiBold"/>
              </a:rPr>
              <a:t>AI Inventory Findings: </a:t>
            </a:r>
            <a:r>
              <a:rPr lang="en" sz="1000">
                <a:solidFill>
                  <a:srgbClr val="1155CC"/>
                </a:solidFill>
                <a:latin typeface="Poppins SemiBold"/>
                <a:ea typeface="Poppins SemiBold"/>
                <a:cs typeface="Poppins SemiBold"/>
                <a:sym typeface="Poppins SemiBold"/>
              </a:rPr>
              <a:t>{{AI_IF}}</a:t>
            </a:r>
            <a:endParaRPr sz="1000">
              <a:solidFill>
                <a:srgbClr val="1155CC"/>
              </a:solidFill>
              <a:latin typeface="Poppins SemiBold"/>
              <a:ea typeface="Poppins SemiBold"/>
              <a:cs typeface="Poppins SemiBold"/>
              <a:sym typeface="Poppins SemiBold"/>
            </a:endParaRPr>
          </a:p>
        </p:txBody>
      </p:sp>
      <p:pic>
        <p:nvPicPr>
          <p:cNvPr id="681" name="Google Shape;681;p56"/>
          <p:cNvPicPr preferRelativeResize="0"/>
          <p:nvPr/>
        </p:nvPicPr>
        <p:blipFill>
          <a:blip r:embed="rId12">
            <a:alphaModFix/>
          </a:blip>
          <a:stretch>
            <a:fillRect/>
          </a:stretch>
        </p:blipFill>
        <p:spPr>
          <a:xfrm>
            <a:off x="334850" y="3601610"/>
            <a:ext cx="2100726" cy="1404216"/>
          </a:xfrm>
          <a:prstGeom prst="rect">
            <a:avLst/>
          </a:prstGeom>
          <a:noFill/>
          <a:ln>
            <a:noFill/>
          </a:ln>
        </p:spPr>
      </p:pic>
      <p:sp>
        <p:nvSpPr>
          <p:cNvPr id="682" name="Google Shape;682;p56"/>
          <p:cNvSpPr txBox="1"/>
          <p:nvPr/>
        </p:nvSpPr>
        <p:spPr>
          <a:xfrm>
            <a:off x="334894" y="3721314"/>
            <a:ext cx="2100900" cy="3846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u="sng">
                <a:solidFill>
                  <a:srgbClr val="0254EC"/>
                </a:solidFill>
                <a:latin typeface="Poppins"/>
                <a:ea typeface="Poppins"/>
                <a:cs typeface="Poppins"/>
                <a:sym typeface="Poppins"/>
                <a:hlinkClick r:id="rId13">
                  <a:extLst>
                    <a:ext uri="{A12FA001-AC4F-418D-AE19-62706E023703}">
                      <ahyp:hlinkClr val="tx"/>
                    </a:ext>
                  </a:extLst>
                </a:hlinkClick>
              </a:rPr>
              <a:t>Current</a:t>
            </a:r>
            <a:r>
              <a:rPr lang="en" sz="1200" u="sng">
                <a:solidFill>
                  <a:srgbClr val="0254EC"/>
                </a:solidFill>
                <a:latin typeface="Poppins"/>
                <a:ea typeface="Poppins"/>
                <a:cs typeface="Poppins"/>
                <a:sym typeface="Poppins"/>
                <a:hlinkClick r:id="rId14">
                  <a:extLst>
                    <a:ext uri="{A12FA001-AC4F-418D-AE19-62706E023703}">
                      <ahyp:hlinkClr val="tx"/>
                    </a:ext>
                  </a:extLst>
                </a:hlinkClick>
              </a:rPr>
              <a:t> Threats MTTR </a:t>
            </a:r>
            <a:r>
              <a:rPr lang="en" sz="1200">
                <a:solidFill>
                  <a:srgbClr val="0254EC"/>
                </a:solidFill>
                <a:uFill>
                  <a:noFill/>
                </a:uFill>
                <a:latin typeface="Poppins"/>
                <a:ea typeface="Poppins"/>
                <a:cs typeface="Poppins"/>
                <a:sym typeface="Poppins"/>
                <a:hlinkClick r:id="rId15">
                  <a:extLst>
                    <a:ext uri="{A12FA001-AC4F-418D-AE19-62706E023703}">
                      <ahyp:hlinkClr val="tx"/>
                    </a:ext>
                  </a:extLst>
                </a:hlinkClick>
              </a:rPr>
              <a:t>↗</a:t>
            </a:r>
            <a:endParaRPr sz="1200">
              <a:solidFill>
                <a:srgbClr val="0254EC"/>
              </a:solidFill>
              <a:latin typeface="Poppins"/>
              <a:ea typeface="Poppins"/>
              <a:cs typeface="Poppins"/>
              <a:sym typeface="Poppins"/>
            </a:endParaRPr>
          </a:p>
        </p:txBody>
      </p:sp>
      <p:sp>
        <p:nvSpPr>
          <p:cNvPr id="683" name="Google Shape;683;p56"/>
          <p:cNvSpPr txBox="1"/>
          <p:nvPr/>
        </p:nvSpPr>
        <p:spPr>
          <a:xfrm>
            <a:off x="331544" y="4062355"/>
            <a:ext cx="2100900" cy="382200"/>
          </a:xfrm>
          <a:prstGeom prst="rect">
            <a:avLst/>
          </a:prstGeom>
          <a:noFill/>
          <a:ln>
            <a:noFill/>
          </a:ln>
          <a:effectLst>
            <a:outerShdw blurRad="57150" rotWithShape="0" algn="bl" dir="5400000" dist="19050">
              <a:srgbClr val="674EA7">
                <a:alpha val="56000"/>
              </a:srgbClr>
            </a:outerShdw>
          </a:effectLst>
        </p:spPr>
        <p:txBody>
          <a:bodyPr anchorCtr="0" anchor="t"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{{MTTR_O}}</a:t>
            </a:r>
            <a:endParaRPr sz="2100">
              <a:solidFill>
                <a:srgbClr val="1155CC"/>
              </a:solidFill>
              <a:latin typeface="Poppins SemiBold"/>
              <a:ea typeface="Poppins SemiBold"/>
              <a:cs typeface="Poppins SemiBold"/>
              <a:sym typeface="Poppins SemiBold"/>
            </a:endParaRPr>
          </a:p>
        </p:txBody>
      </p:sp>
      <p:sp>
        <p:nvSpPr>
          <p:cNvPr id="684" name="Google Shape;684;p56"/>
          <p:cNvSpPr txBox="1"/>
          <p:nvPr/>
        </p:nvSpPr>
        <p:spPr>
          <a:xfrm>
            <a:off x="331544" y="4505977"/>
            <a:ext cx="2100900" cy="204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1200">
                <a:solidFill>
                  <a:schemeClr val="dk1"/>
                </a:solidFill>
                <a:latin typeface="Poppins"/>
                <a:ea typeface="Poppins"/>
                <a:cs typeface="Poppins"/>
                <a:sym typeface="Poppins"/>
              </a:rPr>
              <a:t>Days</a:t>
            </a:r>
            <a:endParaRPr sz="1200">
              <a:solidFill>
                <a:schemeClr val="dk1"/>
              </a:solidFill>
              <a:latin typeface="Poppins"/>
              <a:ea typeface="Poppins"/>
              <a:cs typeface="Poppins"/>
              <a:sym typeface="Poppins"/>
            </a:endParaRPr>
          </a:p>
        </p:txBody>
      </p:sp>
      <p:pic>
        <p:nvPicPr>
          <p:cNvPr id="685" name="Google Shape;685;p56"/>
          <p:cNvPicPr preferRelativeResize="0"/>
          <p:nvPr/>
        </p:nvPicPr>
        <p:blipFill>
          <a:blip r:embed="rId12">
            <a:alphaModFix/>
          </a:blip>
          <a:stretch>
            <a:fillRect/>
          </a:stretch>
        </p:blipFill>
        <p:spPr>
          <a:xfrm>
            <a:off x="2585906" y="3601600"/>
            <a:ext cx="2100895" cy="1404216"/>
          </a:xfrm>
          <a:prstGeom prst="rect">
            <a:avLst/>
          </a:prstGeom>
          <a:noFill/>
          <a:ln>
            <a:noFill/>
          </a:ln>
        </p:spPr>
      </p:pic>
      <p:sp>
        <p:nvSpPr>
          <p:cNvPr id="686" name="Google Shape;686;p56"/>
          <p:cNvSpPr txBox="1"/>
          <p:nvPr/>
        </p:nvSpPr>
        <p:spPr>
          <a:xfrm>
            <a:off x="2585935" y="3721314"/>
            <a:ext cx="2100900" cy="384600"/>
          </a:xfrm>
          <a:prstGeom prst="rect">
            <a:avLst/>
          </a:prstGeom>
          <a:noFill/>
          <a:ln>
            <a:noFill/>
          </a:ln>
        </p:spPr>
        <p:txBody>
          <a:bodyPr anchorCtr="0" anchor="t" bIns="34275" lIns="68575" spcFirstLastPara="1" rIns="68575" wrap="square" tIns="34275">
            <a:normAutofit/>
          </a:bodyPr>
          <a:lstStyle/>
          <a:p>
            <a:pPr indent="0" lvl="0" marL="0" marR="0" rtl="0" algn="ctr">
              <a:lnSpc>
                <a:spcPct val="90000"/>
              </a:lnSpc>
              <a:spcBef>
                <a:spcPts val="0"/>
              </a:spcBef>
              <a:spcAft>
                <a:spcPts val="0"/>
              </a:spcAft>
              <a:buClr>
                <a:schemeClr val="dk2"/>
              </a:buClr>
              <a:buSzPts val="1500"/>
              <a:buFont typeface="Arial"/>
              <a:buNone/>
            </a:pPr>
            <a:r>
              <a:rPr lang="en" sz="1200" u="sng">
                <a:solidFill>
                  <a:srgbClr val="0254EC"/>
                </a:solidFill>
                <a:latin typeface="Poppins"/>
                <a:ea typeface="Poppins"/>
                <a:cs typeface="Poppins"/>
                <a:sym typeface="Poppins"/>
                <a:hlinkClick r:id="rId16">
                  <a:extLst>
                    <a:ext uri="{A12FA001-AC4F-418D-AE19-62706E023703}">
                      <ahyp:hlinkClr val="tx"/>
                    </a:ext>
                  </a:extLst>
                </a:hlinkClick>
              </a:rPr>
              <a:t>Open Threats</a:t>
            </a:r>
            <a:r>
              <a:rPr lang="en" sz="1200">
                <a:solidFill>
                  <a:srgbClr val="0254EC"/>
                </a:solidFill>
                <a:latin typeface="Poppins"/>
                <a:ea typeface="Poppins"/>
                <a:cs typeface="Poppins"/>
                <a:sym typeface="Poppins"/>
              </a:rPr>
              <a:t> ↗</a:t>
            </a:r>
            <a:endParaRPr sz="1200">
              <a:solidFill>
                <a:srgbClr val="0254EC"/>
              </a:solidFill>
              <a:latin typeface="Poppins"/>
              <a:ea typeface="Poppins"/>
              <a:cs typeface="Poppins"/>
              <a:sym typeface="Poppins"/>
            </a:endParaRPr>
          </a:p>
        </p:txBody>
      </p:sp>
      <p:sp>
        <p:nvSpPr>
          <p:cNvPr id="687" name="Google Shape;687;p56"/>
          <p:cNvSpPr txBox="1"/>
          <p:nvPr/>
        </p:nvSpPr>
        <p:spPr>
          <a:xfrm>
            <a:off x="2582607" y="4107445"/>
            <a:ext cx="2100900" cy="382200"/>
          </a:xfrm>
          <a:prstGeom prst="rect">
            <a:avLst/>
          </a:prstGeom>
          <a:noFill/>
          <a:ln>
            <a:noFill/>
          </a:ln>
          <a:effectLst>
            <a:outerShdw blurRad="57150" rotWithShape="0" algn="bl" dir="5400000" dist="19050">
              <a:srgbClr val="674EA7">
                <a:alpha val="56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 sz="2100">
                <a:solidFill>
                  <a:srgbClr val="1155CC"/>
                </a:solidFill>
                <a:latin typeface="Poppins SemiBold"/>
                <a:ea typeface="Poppins SemiBold"/>
                <a:cs typeface="Poppins SemiBold"/>
                <a:sym typeface="Poppins SemiBold"/>
              </a:rPr>
              <a:t>{{OT}}</a:t>
            </a:r>
            <a:endParaRPr sz="2100">
              <a:solidFill>
                <a:srgbClr val="1155CC"/>
              </a:solidFill>
              <a:latin typeface="Poppins SemiBold"/>
              <a:ea typeface="Poppins SemiBold"/>
              <a:cs typeface="Poppins SemiBold"/>
              <a:sym typeface="Poppins SemiBold"/>
            </a:endParaRPr>
          </a:p>
        </p:txBody>
      </p:sp>
      <p:sp>
        <p:nvSpPr>
          <p:cNvPr id="688" name="Google Shape;688;p56"/>
          <p:cNvSpPr txBox="1"/>
          <p:nvPr/>
        </p:nvSpPr>
        <p:spPr>
          <a:xfrm>
            <a:off x="2582600" y="4597077"/>
            <a:ext cx="2100900" cy="327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1200">
                <a:solidFill>
                  <a:schemeClr val="dk1"/>
                </a:solidFill>
                <a:latin typeface="Poppins"/>
                <a:ea typeface="Poppins"/>
                <a:cs typeface="Poppins"/>
                <a:sym typeface="Poppins"/>
              </a:rPr>
              <a:t>Resolved Threats: {{RT}}</a:t>
            </a:r>
            <a:br>
              <a:rPr lang="en" sz="1200">
                <a:solidFill>
                  <a:schemeClr val="dk1"/>
                </a:solidFill>
                <a:latin typeface="Poppins"/>
                <a:ea typeface="Poppins"/>
                <a:cs typeface="Poppins"/>
                <a:sym typeface="Poppins"/>
              </a:rPr>
            </a:br>
            <a:r>
              <a:rPr lang="en" sz="1200">
                <a:solidFill>
                  <a:schemeClr val="dk1"/>
                </a:solidFill>
                <a:latin typeface="Poppins"/>
                <a:ea typeface="Poppins"/>
                <a:cs typeface="Poppins"/>
                <a:sym typeface="Poppins"/>
              </a:rPr>
              <a:t>Past 90 Days</a:t>
            </a:r>
            <a:endParaRPr sz="1200">
              <a:solidFill>
                <a:schemeClr val="dk1"/>
              </a:solidFill>
              <a:latin typeface="Poppins"/>
              <a:ea typeface="Poppins"/>
              <a:cs typeface="Poppins"/>
              <a:sym typeface="Poppins"/>
            </a:endParaRPr>
          </a:p>
        </p:txBody>
      </p:sp>
      <p:sp>
        <p:nvSpPr>
          <p:cNvPr id="689" name="Google Shape;689;p56"/>
          <p:cNvSpPr txBox="1"/>
          <p:nvPr/>
        </p:nvSpPr>
        <p:spPr>
          <a:xfrm>
            <a:off x="2587908" y="1206673"/>
            <a:ext cx="2067000" cy="3318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800">
                <a:solidFill>
                  <a:schemeClr val="dk1"/>
                </a:solidFill>
                <a:latin typeface="Poppins"/>
                <a:ea typeface="Poppins"/>
                <a:cs typeface="Poppins"/>
                <a:sym typeface="Poppins"/>
              </a:rPr>
              <a:t>Industry: {{SS_I}}</a:t>
            </a:r>
            <a:endParaRPr sz="800">
              <a:solidFill>
                <a:schemeClr val="dk1"/>
              </a:solidFill>
              <a:latin typeface="Poppins"/>
              <a:ea typeface="Poppins"/>
              <a:cs typeface="Poppins"/>
              <a:sym typeface="Poppins"/>
            </a:endParaRPr>
          </a:p>
        </p:txBody>
      </p:sp>
      <p:pic>
        <p:nvPicPr>
          <p:cNvPr id="690" name="Google Shape;690;p56"/>
          <p:cNvPicPr preferRelativeResize="0"/>
          <p:nvPr/>
        </p:nvPicPr>
        <p:blipFill>
          <a:blip r:embed="rId17">
            <a:alphaModFix/>
          </a:blip>
          <a:stretch>
            <a:fillRect/>
          </a:stretch>
        </p:blipFill>
        <p:spPr>
          <a:xfrm>
            <a:off x="4848909" y="2345935"/>
            <a:ext cx="3994750" cy="1755250"/>
          </a:xfrm>
          <a:prstGeom prst="rect">
            <a:avLst/>
          </a:prstGeom>
          <a:noFill/>
          <a:ln>
            <a:noFill/>
          </a:ln>
        </p:spPr>
      </p:pic>
      <p:pic>
        <p:nvPicPr>
          <p:cNvPr id="691" name="Google Shape;691;p56"/>
          <p:cNvPicPr preferRelativeResize="0"/>
          <p:nvPr/>
        </p:nvPicPr>
        <p:blipFill>
          <a:blip r:embed="rId18">
            <a:alphaModFix/>
          </a:blip>
          <a:stretch>
            <a:fillRect/>
          </a:stretch>
        </p:blipFill>
        <p:spPr>
          <a:xfrm>
            <a:off x="5470184" y="3177785"/>
            <a:ext cx="687200" cy="382200"/>
          </a:xfrm>
          <a:prstGeom prst="rect">
            <a:avLst/>
          </a:prstGeom>
          <a:noFill/>
          <a:ln>
            <a:noFill/>
          </a:ln>
        </p:spPr>
      </p:pic>
      <p:sp>
        <p:nvSpPr>
          <p:cNvPr id="692" name="Google Shape;692;p56"/>
          <p:cNvSpPr txBox="1"/>
          <p:nvPr/>
        </p:nvSpPr>
        <p:spPr>
          <a:xfrm>
            <a:off x="5161247" y="2989098"/>
            <a:ext cx="1306500" cy="363900"/>
          </a:xfrm>
          <a:prstGeom prst="rect">
            <a:avLst/>
          </a:prstGeom>
          <a:noFill/>
          <a:ln>
            <a:noFill/>
          </a:ln>
        </p:spPr>
        <p:txBody>
          <a:bodyPr anchorCtr="0" anchor="t" bIns="101700" lIns="101700" spcFirstLastPara="1" rIns="101700" wrap="square" tIns="101700">
            <a:noAutofit/>
          </a:bodyPr>
          <a:lstStyle/>
          <a:p>
            <a:pPr indent="0" lvl="0" marL="0" rtl="0" algn="ctr">
              <a:spcBef>
                <a:spcPts val="0"/>
              </a:spcBef>
              <a:spcAft>
                <a:spcPts val="0"/>
              </a:spcAft>
              <a:buNone/>
            </a:pPr>
            <a:r>
              <a:rPr b="1" lang="en" sz="1600">
                <a:solidFill>
                  <a:schemeClr val="dk1"/>
                </a:solidFill>
                <a:latin typeface="Poppins"/>
                <a:ea typeface="Poppins"/>
                <a:cs typeface="Poppins"/>
                <a:sym typeface="Poppins"/>
              </a:rPr>
              <a:t>{{AVG_AGEC}}</a:t>
            </a:r>
            <a:r>
              <a:rPr b="1" lang="en" sz="1200">
                <a:solidFill>
                  <a:schemeClr val="dk1"/>
                </a:solidFill>
                <a:latin typeface="Poppins"/>
                <a:ea typeface="Poppins"/>
                <a:cs typeface="Poppins"/>
                <a:sym typeface="Poppins"/>
              </a:rPr>
              <a:t> </a:t>
            </a:r>
            <a:br>
              <a:rPr b="1" lang="en" sz="1200">
                <a:solidFill>
                  <a:schemeClr val="dk1"/>
                </a:solidFill>
                <a:latin typeface="Poppins"/>
                <a:ea typeface="Poppins"/>
                <a:cs typeface="Poppins"/>
                <a:sym typeface="Poppins"/>
              </a:rPr>
            </a:br>
            <a:r>
              <a:rPr b="1" lang="en" sz="1300">
                <a:solidFill>
                  <a:schemeClr val="dk1"/>
                </a:solidFill>
                <a:latin typeface="Poppins"/>
                <a:ea typeface="Poppins"/>
                <a:cs typeface="Poppins"/>
                <a:sym typeface="Poppins"/>
              </a:rPr>
              <a:t>Days</a:t>
            </a:r>
            <a:endParaRPr b="1" sz="1101">
              <a:solidFill>
                <a:srgbClr val="1155CC"/>
              </a:solidFill>
              <a:latin typeface="Poppins"/>
              <a:ea typeface="Poppins"/>
              <a:cs typeface="Poppins"/>
              <a:sym typeface="Poppins"/>
            </a:endParaRPr>
          </a:p>
        </p:txBody>
      </p:sp>
      <p:pic>
        <p:nvPicPr>
          <p:cNvPr id="693" name="Google Shape;693;p56"/>
          <p:cNvPicPr preferRelativeResize="0"/>
          <p:nvPr/>
        </p:nvPicPr>
        <p:blipFill>
          <a:blip r:embed="rId18">
            <a:alphaModFix/>
          </a:blip>
          <a:stretch>
            <a:fillRect/>
          </a:stretch>
        </p:blipFill>
        <p:spPr>
          <a:xfrm>
            <a:off x="7469300" y="3219400"/>
            <a:ext cx="773475" cy="382200"/>
          </a:xfrm>
          <a:prstGeom prst="rect">
            <a:avLst/>
          </a:prstGeom>
          <a:noFill/>
          <a:ln>
            <a:noFill/>
          </a:ln>
        </p:spPr>
      </p:pic>
      <p:sp>
        <p:nvSpPr>
          <p:cNvPr id="694" name="Google Shape;694;p56"/>
          <p:cNvSpPr txBox="1"/>
          <p:nvPr/>
        </p:nvSpPr>
        <p:spPr>
          <a:xfrm>
            <a:off x="7188866" y="2990873"/>
            <a:ext cx="1306500" cy="363900"/>
          </a:xfrm>
          <a:prstGeom prst="rect">
            <a:avLst/>
          </a:prstGeom>
          <a:noFill/>
          <a:ln>
            <a:noFill/>
          </a:ln>
        </p:spPr>
        <p:txBody>
          <a:bodyPr anchorCtr="0" anchor="t" bIns="101700" lIns="101700" spcFirstLastPara="1" rIns="101700" wrap="square" tIns="101700">
            <a:noAutofit/>
          </a:bodyPr>
          <a:lstStyle/>
          <a:p>
            <a:pPr indent="0" lvl="0" marL="0" rtl="0" algn="ctr">
              <a:spcBef>
                <a:spcPts val="0"/>
              </a:spcBef>
              <a:spcAft>
                <a:spcPts val="0"/>
              </a:spcAft>
              <a:buNone/>
            </a:pPr>
            <a:r>
              <a:rPr b="1" lang="en" sz="1600">
                <a:solidFill>
                  <a:schemeClr val="dk1"/>
                </a:solidFill>
                <a:latin typeface="Poppins"/>
                <a:ea typeface="Poppins"/>
                <a:cs typeface="Poppins"/>
                <a:sym typeface="Poppins"/>
              </a:rPr>
              <a:t>{{AVG_AGEH}} </a:t>
            </a:r>
            <a:br>
              <a:rPr b="1" lang="en" sz="1212">
                <a:solidFill>
                  <a:schemeClr val="dk1"/>
                </a:solidFill>
                <a:latin typeface="Poppins"/>
                <a:ea typeface="Poppins"/>
                <a:cs typeface="Poppins"/>
                <a:sym typeface="Poppins"/>
              </a:rPr>
            </a:br>
            <a:r>
              <a:rPr b="1" lang="en" sz="1324">
                <a:solidFill>
                  <a:schemeClr val="dk1"/>
                </a:solidFill>
                <a:latin typeface="Poppins"/>
                <a:ea typeface="Poppins"/>
                <a:cs typeface="Poppins"/>
                <a:sym typeface="Poppins"/>
              </a:rPr>
              <a:t>Days</a:t>
            </a:r>
            <a:endParaRPr b="1" sz="1101">
              <a:solidFill>
                <a:srgbClr val="1155CC"/>
              </a:solidFill>
              <a:latin typeface="Poppins"/>
              <a:ea typeface="Poppins"/>
              <a:cs typeface="Poppins"/>
              <a:sym typeface="Poppi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9" name="Shape 699"/>
        <p:cNvGrpSpPr/>
        <p:nvPr/>
      </p:nvGrpSpPr>
      <p:grpSpPr>
        <a:xfrm>
          <a:off x="0" y="0"/>
          <a:ext cx="0" cy="0"/>
          <a:chOff x="0" y="0"/>
          <a:chExt cx="0" cy="0"/>
        </a:xfrm>
      </p:grpSpPr>
      <p:sp>
        <p:nvSpPr>
          <p:cNvPr id="700" name="Google Shape;700;p57"/>
          <p:cNvSpPr txBox="1"/>
          <p:nvPr>
            <p:ph idx="4294967295" type="title"/>
          </p:nvPr>
        </p:nvSpPr>
        <p:spPr>
          <a:xfrm>
            <a:off x="150" y="166650"/>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Cloud Security Risk Snapshot</a:t>
            </a:r>
            <a:endParaRPr sz="2420">
              <a:latin typeface="Poppins Light"/>
              <a:ea typeface="Poppins Light"/>
              <a:cs typeface="Poppins Light"/>
              <a:sym typeface="Poppins Light"/>
            </a:endParaRPr>
          </a:p>
        </p:txBody>
      </p:sp>
      <p:pic>
        <p:nvPicPr>
          <p:cNvPr id="701" name="Google Shape;701;p57"/>
          <p:cNvPicPr preferRelativeResize="0"/>
          <p:nvPr/>
        </p:nvPicPr>
        <p:blipFill>
          <a:blip r:embed="rId3">
            <a:alphaModFix/>
          </a:blip>
          <a:stretch>
            <a:fillRect/>
          </a:stretch>
        </p:blipFill>
        <p:spPr>
          <a:xfrm>
            <a:off x="107950" y="673900"/>
            <a:ext cx="7440046" cy="1064875"/>
          </a:xfrm>
          <a:prstGeom prst="rect">
            <a:avLst/>
          </a:prstGeom>
          <a:noFill/>
          <a:ln>
            <a:noFill/>
          </a:ln>
        </p:spPr>
      </p:pic>
      <p:sp>
        <p:nvSpPr>
          <p:cNvPr id="702" name="Google Shape;702;p57"/>
          <p:cNvSpPr txBox="1"/>
          <p:nvPr/>
        </p:nvSpPr>
        <p:spPr>
          <a:xfrm>
            <a:off x="375179" y="700094"/>
            <a:ext cx="1928400" cy="361500"/>
          </a:xfrm>
          <a:prstGeom prst="rect">
            <a:avLst/>
          </a:prstGeom>
          <a:noFill/>
          <a:ln>
            <a:noFill/>
          </a:ln>
        </p:spPr>
        <p:txBody>
          <a:bodyPr anchorCtr="0" anchor="t" bIns="34275" lIns="68575" spcFirstLastPara="1" rIns="68575" wrap="square" tIns="34275">
            <a:normAutofit/>
          </a:bodyPr>
          <a:lstStyle/>
          <a:p>
            <a:pPr indent="0" lvl="0" marL="0" marR="0" rtl="0" algn="l">
              <a:lnSpc>
                <a:spcPct val="90000"/>
              </a:lnSpc>
              <a:spcBef>
                <a:spcPts val="0"/>
              </a:spcBef>
              <a:spcAft>
                <a:spcPts val="0"/>
              </a:spcAft>
              <a:buClr>
                <a:schemeClr val="dk2"/>
              </a:buClr>
              <a:buSzPts val="1500"/>
              <a:buFont typeface="Arial"/>
              <a:buNone/>
            </a:pPr>
            <a:r>
              <a:rPr lang="en">
                <a:solidFill>
                  <a:schemeClr val="dk1"/>
                </a:solidFill>
                <a:latin typeface="Poppins"/>
                <a:ea typeface="Poppins"/>
                <a:cs typeface="Poppins"/>
                <a:sym typeface="Poppins"/>
              </a:rPr>
              <a:t>External Exposure</a:t>
            </a:r>
            <a:endParaRPr>
              <a:solidFill>
                <a:schemeClr val="dk1"/>
              </a:solidFill>
              <a:latin typeface="Poppins"/>
              <a:ea typeface="Poppins"/>
              <a:cs typeface="Poppins"/>
              <a:sym typeface="Poppins"/>
            </a:endParaRPr>
          </a:p>
        </p:txBody>
      </p:sp>
      <p:sp>
        <p:nvSpPr>
          <p:cNvPr id="703" name="Google Shape;703;p57"/>
          <p:cNvSpPr txBox="1"/>
          <p:nvPr/>
        </p:nvSpPr>
        <p:spPr>
          <a:xfrm>
            <a:off x="269504" y="1081747"/>
            <a:ext cx="3964500" cy="35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155CC"/>
                </a:solidFill>
                <a:latin typeface="Poppins SemiBold"/>
                <a:ea typeface="Poppins SemiBold"/>
                <a:cs typeface="Poppins SemiBold"/>
                <a:sym typeface="Poppins SemiBold"/>
              </a:rPr>
              <a:t>HTTP Application Endpoints  {{AE_HTTP}}</a:t>
            </a:r>
            <a:endParaRPr sz="1000">
              <a:solidFill>
                <a:srgbClr val="1155CC"/>
              </a:solidFill>
              <a:latin typeface="Poppins SemiBold"/>
              <a:ea typeface="Poppins SemiBold"/>
              <a:cs typeface="Poppins SemiBold"/>
              <a:sym typeface="Poppins SemiBold"/>
            </a:endParaRPr>
          </a:p>
        </p:txBody>
      </p:sp>
      <p:sp>
        <p:nvSpPr>
          <p:cNvPr id="704" name="Google Shape;704;p57"/>
          <p:cNvSpPr txBox="1"/>
          <p:nvPr/>
        </p:nvSpPr>
        <p:spPr>
          <a:xfrm>
            <a:off x="273692" y="1374797"/>
            <a:ext cx="3964500" cy="35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rgbClr val="1155CC"/>
                </a:solidFill>
                <a:latin typeface="Poppins SemiBold"/>
                <a:ea typeface="Poppins SemiBold"/>
                <a:cs typeface="Poppins SemiBold"/>
                <a:sym typeface="Poppins SemiBold"/>
              </a:rPr>
              <a:t>Non-HTTP Application Endpoints  {{AE_NHTTP}}</a:t>
            </a:r>
            <a:endParaRPr sz="1000">
              <a:solidFill>
                <a:srgbClr val="1155CC"/>
              </a:solidFill>
              <a:latin typeface="Poppins SemiBold"/>
              <a:ea typeface="Poppins SemiBold"/>
              <a:cs typeface="Poppins SemiBold"/>
              <a:sym typeface="Poppins SemiBold"/>
            </a:endParaRPr>
          </a:p>
        </p:txBody>
      </p:sp>
      <p:sp>
        <p:nvSpPr>
          <p:cNvPr id="705" name="Google Shape;705;p57"/>
          <p:cNvSpPr txBox="1"/>
          <p:nvPr/>
        </p:nvSpPr>
        <p:spPr>
          <a:xfrm>
            <a:off x="3418767" y="1130944"/>
            <a:ext cx="1848000" cy="4623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lang="en" sz="1000">
                <a:solidFill>
                  <a:schemeClr val="dk1"/>
                </a:solidFill>
                <a:latin typeface="Poppins"/>
                <a:ea typeface="Poppins"/>
                <a:cs typeface="Poppins"/>
                <a:sym typeface="Poppins"/>
              </a:rPr>
              <a:t>Estimated # of Additional Workloads to Scan via Advanced ASM</a:t>
            </a:r>
            <a:endParaRPr sz="1000">
              <a:solidFill>
                <a:schemeClr val="dk1"/>
              </a:solidFill>
              <a:latin typeface="Poppins"/>
              <a:ea typeface="Poppins"/>
              <a:cs typeface="Poppins"/>
              <a:sym typeface="Poppins"/>
            </a:endParaRPr>
          </a:p>
        </p:txBody>
      </p:sp>
      <p:sp>
        <p:nvSpPr>
          <p:cNvPr id="706" name="Google Shape;706;p57"/>
          <p:cNvSpPr txBox="1"/>
          <p:nvPr/>
        </p:nvSpPr>
        <p:spPr>
          <a:xfrm>
            <a:off x="5162479" y="1199657"/>
            <a:ext cx="2395200" cy="407700"/>
          </a:xfrm>
          <a:prstGeom prst="rect">
            <a:avLst/>
          </a:prstGeom>
          <a:noFill/>
          <a:ln>
            <a:noFill/>
          </a:ln>
        </p:spPr>
        <p:txBody>
          <a:bodyPr anchorCtr="0" anchor="ctr" bIns="0" lIns="0" spcFirstLastPara="1" rIns="0" wrap="square" tIns="0">
            <a:noAutofit/>
          </a:bodyPr>
          <a:lstStyle/>
          <a:p>
            <a:pPr indent="0" lvl="0" marL="0" rtl="0" algn="l">
              <a:lnSpc>
                <a:spcPct val="150000"/>
              </a:lnSpc>
              <a:spcBef>
                <a:spcPts val="0"/>
              </a:spcBef>
              <a:spcAft>
                <a:spcPts val="0"/>
              </a:spcAft>
              <a:buClr>
                <a:schemeClr val="dk1"/>
              </a:buClr>
              <a:buSzPts val="1100"/>
              <a:buFont typeface="Arial"/>
              <a:buNone/>
            </a:pPr>
            <a:r>
              <a:rPr lang="en" sz="1300">
                <a:solidFill>
                  <a:schemeClr val="dk1"/>
                </a:solidFill>
                <a:latin typeface="Poppins"/>
                <a:ea typeface="Poppins"/>
                <a:cs typeface="Poppins"/>
                <a:sym typeface="Poppins"/>
              </a:rPr>
              <a:t>=  </a:t>
            </a:r>
            <a:r>
              <a:rPr lang="en" sz="1300">
                <a:solidFill>
                  <a:srgbClr val="333333"/>
                </a:solidFill>
                <a:latin typeface="Poppins Medium"/>
                <a:ea typeface="Poppins Medium"/>
                <a:cs typeface="Poppins Medium"/>
                <a:sym typeface="Poppins Medium"/>
              </a:rPr>
              <a:t>{{AE_TOT}}</a:t>
            </a:r>
            <a:r>
              <a:rPr lang="en" sz="1300">
                <a:solidFill>
                  <a:srgbClr val="333333"/>
                </a:solidFill>
                <a:latin typeface="Poppins Medium"/>
                <a:ea typeface="Poppins Medium"/>
                <a:cs typeface="Poppins Medium"/>
                <a:sym typeface="Poppins Medium"/>
              </a:rPr>
              <a:t> Workloads</a:t>
            </a:r>
            <a:endParaRPr>
              <a:solidFill>
                <a:schemeClr val="dk1"/>
              </a:solidFill>
              <a:latin typeface="Poppins Medium"/>
              <a:ea typeface="Poppins Medium"/>
              <a:cs typeface="Poppins Medium"/>
              <a:sym typeface="Poppins Medium"/>
            </a:endParaRPr>
          </a:p>
        </p:txBody>
      </p:sp>
      <p:pic>
        <p:nvPicPr>
          <p:cNvPr id="707" name="Google Shape;707;p57" title="Group 1000004640.png"/>
          <p:cNvPicPr preferRelativeResize="0"/>
          <p:nvPr/>
        </p:nvPicPr>
        <p:blipFill>
          <a:blip r:embed="rId4">
            <a:alphaModFix/>
          </a:blip>
          <a:stretch>
            <a:fillRect/>
          </a:stretch>
        </p:blipFill>
        <p:spPr>
          <a:xfrm>
            <a:off x="7919913" y="1035264"/>
            <a:ext cx="1042416" cy="905256"/>
          </a:xfrm>
          <a:prstGeom prst="rect">
            <a:avLst/>
          </a:prstGeom>
          <a:noFill/>
          <a:ln>
            <a:noFill/>
          </a:ln>
        </p:spPr>
      </p:pic>
      <p:pic>
        <p:nvPicPr>
          <p:cNvPr id="708" name="Google Shape;708;p57" title="Group 1000004641.png"/>
          <p:cNvPicPr preferRelativeResize="0"/>
          <p:nvPr/>
        </p:nvPicPr>
        <p:blipFill>
          <a:blip r:embed="rId5">
            <a:alphaModFix/>
          </a:blip>
          <a:stretch>
            <a:fillRect/>
          </a:stretch>
        </p:blipFill>
        <p:spPr>
          <a:xfrm>
            <a:off x="7919916" y="4118017"/>
            <a:ext cx="1042416" cy="905256"/>
          </a:xfrm>
          <a:prstGeom prst="rect">
            <a:avLst/>
          </a:prstGeom>
          <a:noFill/>
          <a:ln>
            <a:noFill/>
          </a:ln>
        </p:spPr>
      </p:pic>
      <p:pic>
        <p:nvPicPr>
          <p:cNvPr id="709" name="Google Shape;709;p57" title="Group 1000004639.png"/>
          <p:cNvPicPr preferRelativeResize="0"/>
          <p:nvPr/>
        </p:nvPicPr>
        <p:blipFill>
          <a:blip r:embed="rId6">
            <a:alphaModFix/>
          </a:blip>
          <a:stretch>
            <a:fillRect/>
          </a:stretch>
        </p:blipFill>
        <p:spPr>
          <a:xfrm>
            <a:off x="7911668" y="2520408"/>
            <a:ext cx="1038900" cy="904938"/>
          </a:xfrm>
          <a:prstGeom prst="rect">
            <a:avLst/>
          </a:prstGeom>
          <a:noFill/>
          <a:ln>
            <a:noFill/>
          </a:ln>
        </p:spPr>
      </p:pic>
      <p:sp>
        <p:nvSpPr>
          <p:cNvPr id="710" name="Google Shape;710;p57"/>
          <p:cNvSpPr/>
          <p:nvPr/>
        </p:nvSpPr>
        <p:spPr>
          <a:xfrm>
            <a:off x="7955120" y="3009372"/>
            <a:ext cx="963600" cy="939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574"/>
              <a:buFont typeface="DM Sans"/>
              <a:buNone/>
            </a:pPr>
            <a:r>
              <a:rPr b="1" lang="en" sz="570">
                <a:solidFill>
                  <a:srgbClr val="0254EC"/>
                </a:solidFill>
                <a:latin typeface="Poppins"/>
                <a:ea typeface="Poppins"/>
                <a:cs typeface="Poppins"/>
                <a:sym typeface="Poppins"/>
              </a:rPr>
              <a:t>Green Agent</a:t>
            </a:r>
            <a:endParaRPr b="1" sz="488" u="none" cap="none" strike="noStrike">
              <a:solidFill>
                <a:srgbClr val="000000"/>
              </a:solidFill>
              <a:latin typeface="Poppins"/>
              <a:ea typeface="Poppins"/>
              <a:cs typeface="Poppins"/>
              <a:sym typeface="Poppins"/>
            </a:endParaRPr>
          </a:p>
        </p:txBody>
      </p:sp>
      <p:sp>
        <p:nvSpPr>
          <p:cNvPr id="711" name="Google Shape;711;p57"/>
          <p:cNvSpPr/>
          <p:nvPr/>
        </p:nvSpPr>
        <p:spPr>
          <a:xfrm>
            <a:off x="7963494" y="3158849"/>
            <a:ext cx="944700" cy="1374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492"/>
              <a:buFont typeface="DM Sans"/>
              <a:buNone/>
            </a:pPr>
            <a:r>
              <a:rPr lang="en" sz="800">
                <a:latin typeface="Poppins"/>
                <a:ea typeface="Poppins"/>
                <a:cs typeface="Poppins"/>
                <a:sym typeface="Poppins"/>
              </a:rPr>
              <a:t>Enabled</a:t>
            </a:r>
            <a:br>
              <a:rPr lang="en" sz="800">
                <a:latin typeface="Poppins"/>
                <a:ea typeface="Poppins"/>
                <a:cs typeface="Poppins"/>
                <a:sym typeface="Poppins"/>
              </a:rPr>
            </a:br>
            <a:r>
              <a:rPr lang="en" sz="800">
                <a:latin typeface="Poppins"/>
                <a:ea typeface="Poppins"/>
                <a:cs typeface="Poppins"/>
                <a:sym typeface="Poppins"/>
              </a:rPr>
              <a:t>{{F_GA}}</a:t>
            </a:r>
            <a:endParaRPr sz="800" u="none" cap="none" strike="noStrike">
              <a:solidFill>
                <a:srgbClr val="000000"/>
              </a:solidFill>
              <a:latin typeface="Poppins"/>
              <a:ea typeface="Poppins"/>
              <a:cs typeface="Poppins"/>
              <a:sym typeface="Poppins"/>
            </a:endParaRPr>
          </a:p>
        </p:txBody>
      </p:sp>
      <p:sp>
        <p:nvSpPr>
          <p:cNvPr id="712" name="Google Shape;712;p57"/>
          <p:cNvSpPr/>
          <p:nvPr/>
        </p:nvSpPr>
        <p:spPr>
          <a:xfrm>
            <a:off x="7906406" y="2038924"/>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Preventive Security</a:t>
            </a:r>
            <a:endParaRPr b="1" sz="626" u="none" cap="none" strike="noStrike">
              <a:solidFill>
                <a:srgbClr val="000000"/>
              </a:solidFill>
              <a:latin typeface="Poppins"/>
              <a:ea typeface="Poppins"/>
              <a:cs typeface="Poppins"/>
              <a:sym typeface="Poppins"/>
            </a:endParaRPr>
          </a:p>
        </p:txBody>
      </p:sp>
      <p:sp>
        <p:nvSpPr>
          <p:cNvPr id="713" name="Google Shape;713;p57"/>
          <p:cNvSpPr/>
          <p:nvPr/>
        </p:nvSpPr>
        <p:spPr>
          <a:xfrm>
            <a:off x="7719100" y="2133912"/>
            <a:ext cx="14250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Build securely and </a:t>
            </a:r>
            <a:br>
              <a:rPr lang="en" sz="726">
                <a:solidFill>
                  <a:srgbClr val="001741"/>
                </a:solidFill>
                <a:latin typeface="Poppins"/>
                <a:ea typeface="Poppins"/>
                <a:cs typeface="Poppins"/>
                <a:sym typeface="Poppins"/>
              </a:rPr>
            </a:br>
            <a:r>
              <a:rPr lang="en" sz="726">
                <a:solidFill>
                  <a:srgbClr val="001741"/>
                </a:solidFill>
                <a:latin typeface="Poppins"/>
                <a:ea typeface="Poppins"/>
                <a:cs typeface="Poppins"/>
                <a:sym typeface="Poppins"/>
              </a:rPr>
              <a:t>remediate at the source</a:t>
            </a:r>
            <a:endParaRPr sz="621" u="none" cap="none" strike="noStrike">
              <a:solidFill>
                <a:srgbClr val="000000"/>
              </a:solidFill>
              <a:latin typeface="Poppins"/>
              <a:ea typeface="Poppins"/>
              <a:cs typeface="Poppins"/>
              <a:sym typeface="Poppins"/>
            </a:endParaRPr>
          </a:p>
        </p:txBody>
      </p:sp>
      <p:sp>
        <p:nvSpPr>
          <p:cNvPr id="714" name="Google Shape;714;p57"/>
          <p:cNvSpPr/>
          <p:nvPr/>
        </p:nvSpPr>
        <p:spPr>
          <a:xfrm>
            <a:off x="7936234" y="3618692"/>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Reactive Security</a:t>
            </a:r>
            <a:endParaRPr b="1" sz="626" u="none" cap="none" strike="noStrike">
              <a:solidFill>
                <a:srgbClr val="000000"/>
              </a:solidFill>
              <a:latin typeface="Poppins"/>
              <a:ea typeface="Poppins"/>
              <a:cs typeface="Poppins"/>
              <a:sym typeface="Poppins"/>
            </a:endParaRPr>
          </a:p>
        </p:txBody>
      </p:sp>
      <p:sp>
        <p:nvSpPr>
          <p:cNvPr id="715" name="Google Shape;715;p57"/>
          <p:cNvSpPr/>
          <p:nvPr/>
        </p:nvSpPr>
        <p:spPr>
          <a:xfrm>
            <a:off x="7718900" y="3785755"/>
            <a:ext cx="1425000" cy="3147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Investigate and triage high-fidelity threats</a:t>
            </a:r>
            <a:endParaRPr sz="621" u="none" cap="none" strike="noStrike">
              <a:solidFill>
                <a:srgbClr val="000000"/>
              </a:solidFill>
              <a:latin typeface="Poppins"/>
              <a:ea typeface="Poppins"/>
              <a:cs typeface="Poppins"/>
              <a:sym typeface="Poppins"/>
            </a:endParaRPr>
          </a:p>
        </p:txBody>
      </p:sp>
      <p:sp>
        <p:nvSpPr>
          <p:cNvPr id="716" name="Google Shape;716;p57"/>
          <p:cNvSpPr/>
          <p:nvPr/>
        </p:nvSpPr>
        <p:spPr>
          <a:xfrm>
            <a:off x="7916398" y="550119"/>
            <a:ext cx="1038900" cy="205800"/>
          </a:xfrm>
          <a:prstGeom prst="rect">
            <a:avLst/>
          </a:prstGeom>
          <a:noFill/>
          <a:ln>
            <a:noFill/>
          </a:ln>
        </p:spPr>
        <p:txBody>
          <a:bodyPr anchorCtr="0" anchor="ctr" bIns="0" lIns="0" spcFirstLastPara="1" rIns="0" wrap="square" tIns="0">
            <a:noAutofit/>
          </a:bodyPr>
          <a:lstStyle/>
          <a:p>
            <a:pPr indent="0" lvl="0" marL="0" marR="0" rtl="0" algn="ctr">
              <a:lnSpc>
                <a:spcPct val="112255"/>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Proactive Security</a:t>
            </a:r>
            <a:endParaRPr b="1" sz="626" u="none" cap="none" strike="noStrike">
              <a:solidFill>
                <a:srgbClr val="000000"/>
              </a:solidFill>
              <a:latin typeface="Poppins"/>
              <a:ea typeface="Poppins"/>
              <a:cs typeface="Poppins"/>
              <a:sym typeface="Poppins"/>
            </a:endParaRPr>
          </a:p>
        </p:txBody>
      </p:sp>
      <p:sp>
        <p:nvSpPr>
          <p:cNvPr id="717" name="Google Shape;717;p57"/>
          <p:cNvSpPr/>
          <p:nvPr/>
        </p:nvSpPr>
        <p:spPr>
          <a:xfrm>
            <a:off x="7634875" y="651660"/>
            <a:ext cx="1509000" cy="314700"/>
          </a:xfrm>
          <a:prstGeom prst="rect">
            <a:avLst/>
          </a:prstGeom>
          <a:noFill/>
          <a:ln>
            <a:noFill/>
          </a:ln>
        </p:spPr>
        <p:txBody>
          <a:bodyPr anchorCtr="0" anchor="b"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726">
                <a:solidFill>
                  <a:srgbClr val="001741"/>
                </a:solidFill>
                <a:latin typeface="Poppins"/>
                <a:ea typeface="Poppins"/>
                <a:cs typeface="Poppins"/>
                <a:sym typeface="Poppins"/>
              </a:rPr>
              <a:t>Identify high-risk issues before they can be exploited</a:t>
            </a:r>
            <a:endParaRPr sz="621" u="none" cap="none" strike="noStrike">
              <a:solidFill>
                <a:srgbClr val="000000"/>
              </a:solidFill>
              <a:latin typeface="Poppins"/>
              <a:ea typeface="Poppins"/>
              <a:cs typeface="Poppins"/>
              <a:sym typeface="Poppins"/>
            </a:endParaRPr>
          </a:p>
        </p:txBody>
      </p:sp>
      <p:sp>
        <p:nvSpPr>
          <p:cNvPr id="718" name="Google Shape;718;p57"/>
          <p:cNvSpPr/>
          <p:nvPr/>
        </p:nvSpPr>
        <p:spPr>
          <a:xfrm>
            <a:off x="7961878" y="4589586"/>
            <a:ext cx="966900" cy="945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736"/>
              <a:buFont typeface="DM Sans"/>
              <a:buNone/>
            </a:pPr>
            <a:r>
              <a:rPr b="1" lang="en" sz="731">
                <a:solidFill>
                  <a:srgbClr val="0254EC"/>
                </a:solidFill>
                <a:latin typeface="Poppins"/>
                <a:ea typeface="Poppins"/>
                <a:cs typeface="Poppins"/>
                <a:sym typeface="Poppins"/>
              </a:rPr>
              <a:t>Blue Agent</a:t>
            </a:r>
            <a:endParaRPr b="1" sz="626" u="none" cap="none" strike="noStrike">
              <a:solidFill>
                <a:srgbClr val="000000"/>
              </a:solidFill>
              <a:latin typeface="Poppins"/>
              <a:ea typeface="Poppins"/>
              <a:cs typeface="Poppins"/>
              <a:sym typeface="Poppins"/>
            </a:endParaRPr>
          </a:p>
        </p:txBody>
      </p:sp>
      <p:sp>
        <p:nvSpPr>
          <p:cNvPr id="719" name="Google Shape;719;p57"/>
          <p:cNvSpPr/>
          <p:nvPr/>
        </p:nvSpPr>
        <p:spPr>
          <a:xfrm>
            <a:off x="7975573" y="4837773"/>
            <a:ext cx="948000" cy="1380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631"/>
              <a:buFont typeface="DM Sans"/>
              <a:buNone/>
            </a:pPr>
            <a:r>
              <a:rPr lang="en" sz="800">
                <a:latin typeface="Poppins"/>
                <a:ea typeface="Poppins"/>
                <a:cs typeface="Poppins"/>
                <a:sym typeface="Poppins"/>
              </a:rPr>
              <a:t>Enabled</a:t>
            </a:r>
            <a:br>
              <a:rPr lang="en" sz="800">
                <a:latin typeface="Poppins"/>
                <a:ea typeface="Poppins"/>
                <a:cs typeface="Poppins"/>
                <a:sym typeface="Poppins"/>
              </a:rPr>
            </a:br>
            <a:r>
              <a:rPr lang="en" sz="800">
                <a:latin typeface="Poppins"/>
                <a:ea typeface="Poppins"/>
                <a:cs typeface="Poppins"/>
                <a:sym typeface="Poppins"/>
              </a:rPr>
              <a:t>{{F_BA}}</a:t>
            </a:r>
            <a:br>
              <a:rPr lang="en" sz="800">
                <a:latin typeface="Poppins"/>
                <a:ea typeface="Poppins"/>
                <a:cs typeface="Poppins"/>
                <a:sym typeface="Poppins"/>
              </a:rPr>
            </a:br>
            <a:endParaRPr sz="800" u="none" cap="none" strike="noStrike">
              <a:solidFill>
                <a:srgbClr val="000000"/>
              </a:solidFill>
              <a:latin typeface="Poppins"/>
              <a:ea typeface="Poppins"/>
              <a:cs typeface="Poppins"/>
              <a:sym typeface="Poppins"/>
            </a:endParaRPr>
          </a:p>
        </p:txBody>
      </p:sp>
      <p:sp>
        <p:nvSpPr>
          <p:cNvPr id="720" name="Google Shape;720;p57"/>
          <p:cNvSpPr/>
          <p:nvPr/>
        </p:nvSpPr>
        <p:spPr>
          <a:xfrm>
            <a:off x="7964150" y="1524550"/>
            <a:ext cx="948000" cy="96900"/>
          </a:xfrm>
          <a:prstGeom prst="rect">
            <a:avLst/>
          </a:prstGeom>
          <a:noFill/>
          <a:ln>
            <a:noFill/>
          </a:ln>
        </p:spPr>
        <p:txBody>
          <a:bodyPr anchorCtr="0" anchor="ctr" bIns="0" lIns="0" spcFirstLastPara="1" rIns="0" wrap="square" tIns="0">
            <a:noAutofit/>
          </a:bodyPr>
          <a:lstStyle/>
          <a:p>
            <a:pPr indent="0" lvl="0" marL="0" marR="0" rtl="0" algn="ctr">
              <a:lnSpc>
                <a:spcPct val="112258"/>
              </a:lnSpc>
              <a:spcBef>
                <a:spcPts val="0"/>
              </a:spcBef>
              <a:spcAft>
                <a:spcPts val="0"/>
              </a:spcAft>
              <a:buClr>
                <a:srgbClr val="0254EC"/>
              </a:buClr>
              <a:buSzPts val="592"/>
              <a:buFont typeface="DM Sans"/>
              <a:buNone/>
            </a:pPr>
            <a:r>
              <a:rPr b="1" lang="en" sz="588">
                <a:solidFill>
                  <a:srgbClr val="0254EC"/>
                </a:solidFill>
                <a:latin typeface="Poppins"/>
                <a:ea typeface="Poppins"/>
                <a:cs typeface="Poppins"/>
                <a:sym typeface="Poppins"/>
              </a:rPr>
              <a:t>Red Agent</a:t>
            </a:r>
            <a:endParaRPr b="1" sz="504" u="none" cap="none" strike="noStrike">
              <a:solidFill>
                <a:srgbClr val="000000"/>
              </a:solidFill>
              <a:latin typeface="Poppins"/>
              <a:ea typeface="Poppins"/>
              <a:cs typeface="Poppins"/>
              <a:sym typeface="Poppins"/>
            </a:endParaRPr>
          </a:p>
        </p:txBody>
      </p:sp>
      <p:sp>
        <p:nvSpPr>
          <p:cNvPr id="721" name="Google Shape;721;p57"/>
          <p:cNvSpPr/>
          <p:nvPr/>
        </p:nvSpPr>
        <p:spPr>
          <a:xfrm>
            <a:off x="7978225" y="1752675"/>
            <a:ext cx="944700" cy="141900"/>
          </a:xfrm>
          <a:prstGeom prst="rect">
            <a:avLst/>
          </a:prstGeom>
          <a:noFill/>
          <a:ln>
            <a:noFill/>
          </a:ln>
        </p:spPr>
        <p:txBody>
          <a:bodyPr anchorCtr="0" anchor="ctr" bIns="0" lIns="0" spcFirstLastPara="1" rIns="0" wrap="square" tIns="0">
            <a:noAutofit/>
          </a:bodyPr>
          <a:lstStyle/>
          <a:p>
            <a:pPr indent="0" lvl="0" marL="0" marR="0" rtl="0" algn="ctr">
              <a:lnSpc>
                <a:spcPct val="110576"/>
              </a:lnSpc>
              <a:spcBef>
                <a:spcPts val="0"/>
              </a:spcBef>
              <a:spcAft>
                <a:spcPts val="0"/>
              </a:spcAft>
              <a:buClr>
                <a:srgbClr val="001741"/>
              </a:buClr>
              <a:buSzPts val="508"/>
              <a:buFont typeface="DM Sans"/>
              <a:buNone/>
            </a:pPr>
            <a:r>
              <a:rPr lang="en" sz="821">
                <a:latin typeface="Poppins"/>
                <a:ea typeface="Poppins"/>
                <a:cs typeface="Poppins"/>
                <a:sym typeface="Poppins"/>
              </a:rPr>
              <a:t>Enabled</a:t>
            </a:r>
            <a:br>
              <a:rPr lang="en" sz="821">
                <a:latin typeface="Poppins"/>
                <a:ea typeface="Poppins"/>
                <a:cs typeface="Poppins"/>
                <a:sym typeface="Poppins"/>
              </a:rPr>
            </a:br>
            <a:r>
              <a:rPr lang="en" sz="821">
                <a:latin typeface="Poppins"/>
                <a:ea typeface="Poppins"/>
                <a:cs typeface="Poppins"/>
                <a:sym typeface="Poppins"/>
              </a:rPr>
              <a:t>{{F_RA}}</a:t>
            </a:r>
            <a:br>
              <a:rPr lang="en" sz="821">
                <a:latin typeface="Poppins"/>
                <a:ea typeface="Poppins"/>
                <a:cs typeface="Poppins"/>
                <a:sym typeface="Poppins"/>
              </a:rPr>
            </a:br>
            <a:endParaRPr sz="821" u="none" cap="none" strike="noStrike">
              <a:solidFill>
                <a:srgbClr val="000000"/>
              </a:solidFill>
              <a:latin typeface="Poppins"/>
              <a:ea typeface="Poppins"/>
              <a:cs typeface="Poppins"/>
              <a:sym typeface="Poppins"/>
            </a:endParaRPr>
          </a:p>
        </p:txBody>
      </p:sp>
      <p:pic>
        <p:nvPicPr>
          <p:cNvPr id="722" name="Google Shape;722;p57"/>
          <p:cNvPicPr preferRelativeResize="0"/>
          <p:nvPr/>
        </p:nvPicPr>
        <p:blipFill>
          <a:blip r:embed="rId3">
            <a:alphaModFix/>
          </a:blip>
          <a:stretch>
            <a:fillRect/>
          </a:stretch>
        </p:blipFill>
        <p:spPr>
          <a:xfrm>
            <a:off x="107954" y="1893191"/>
            <a:ext cx="7613696" cy="1578100"/>
          </a:xfrm>
          <a:prstGeom prst="rect">
            <a:avLst/>
          </a:prstGeom>
          <a:noFill/>
          <a:ln>
            <a:noFill/>
          </a:ln>
        </p:spPr>
      </p:pic>
      <p:sp>
        <p:nvSpPr>
          <p:cNvPr id="723" name="Google Shape;723;p57"/>
          <p:cNvSpPr txBox="1"/>
          <p:nvPr/>
        </p:nvSpPr>
        <p:spPr>
          <a:xfrm>
            <a:off x="326125" y="2004575"/>
            <a:ext cx="4782900" cy="361500"/>
          </a:xfrm>
          <a:prstGeom prst="rect">
            <a:avLst/>
          </a:prstGeom>
          <a:noFill/>
          <a:ln>
            <a:noFill/>
          </a:ln>
        </p:spPr>
        <p:txBody>
          <a:bodyPr anchorCtr="0" anchor="t" bIns="34275" lIns="68575" spcFirstLastPara="1" rIns="68575" wrap="square" tIns="34275">
            <a:noAutofit/>
          </a:bodyPr>
          <a:lstStyle/>
          <a:p>
            <a:pPr indent="0" lvl="0" marL="0" marR="0" rtl="0" algn="l">
              <a:lnSpc>
                <a:spcPct val="90000"/>
              </a:lnSpc>
              <a:spcBef>
                <a:spcPts val="0"/>
              </a:spcBef>
              <a:spcAft>
                <a:spcPts val="0"/>
              </a:spcAft>
              <a:buClr>
                <a:schemeClr val="dk2"/>
              </a:buClr>
              <a:buSzPts val="1500"/>
              <a:buFont typeface="Arial"/>
              <a:buNone/>
            </a:pPr>
            <a:r>
              <a:rPr lang="en" sz="1500" u="sng">
                <a:solidFill>
                  <a:srgbClr val="1A56DB"/>
                </a:solidFill>
                <a:latin typeface="Poppins"/>
                <a:ea typeface="Poppins"/>
                <a:cs typeface="Poppins"/>
                <a:sym typeface="Poppins"/>
                <a:hlinkClick r:id="rId7">
                  <a:extLst>
                    <a:ext uri="{A12FA001-AC4F-418D-AE19-62706E023703}">
                      <ahyp:hlinkClr val="tx"/>
                    </a:ext>
                  </a:extLst>
                </a:hlinkClick>
              </a:rPr>
              <a:t>Top 3 Wiz Critical Risk Issues by Count</a:t>
            </a:r>
            <a:r>
              <a:rPr lang="en" sz="1500">
                <a:solidFill>
                  <a:srgbClr val="1A56DB"/>
                </a:solidFill>
                <a:latin typeface="Poppins"/>
                <a:ea typeface="Poppins"/>
                <a:cs typeface="Poppins"/>
                <a:sym typeface="Poppins"/>
              </a:rPr>
              <a:t> </a:t>
            </a:r>
            <a:r>
              <a:rPr lang="en" sz="1500">
                <a:solidFill>
                  <a:srgbClr val="0055F5"/>
                </a:solidFill>
                <a:uFill>
                  <a:noFill/>
                </a:uFill>
                <a:latin typeface="Poppins"/>
                <a:ea typeface="Poppins"/>
                <a:cs typeface="Poppins"/>
                <a:sym typeface="Poppins"/>
                <a:hlinkClick r:id="rId8">
                  <a:extLst>
                    <a:ext uri="{A12FA001-AC4F-418D-AE19-62706E023703}">
                      <ahyp:hlinkClr val="tx"/>
                    </a:ext>
                  </a:extLst>
                </a:hlinkClick>
              </a:rPr>
              <a:t>↗</a:t>
            </a:r>
            <a:endParaRPr sz="1500">
              <a:solidFill>
                <a:srgbClr val="1A56DB"/>
              </a:solidFill>
              <a:latin typeface="Poppins"/>
              <a:ea typeface="Poppins"/>
              <a:cs typeface="Poppins"/>
              <a:sym typeface="Poppins"/>
            </a:endParaRPr>
          </a:p>
        </p:txBody>
      </p:sp>
      <p:sp>
        <p:nvSpPr>
          <p:cNvPr id="724" name="Google Shape;724;p57"/>
          <p:cNvSpPr txBox="1"/>
          <p:nvPr/>
        </p:nvSpPr>
        <p:spPr>
          <a:xfrm>
            <a:off x="112373" y="2363761"/>
            <a:ext cx="6979500" cy="1244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{{CI_CONTROL_1}}</a:t>
            </a:r>
            <a:endParaRPr sz="900" u="sng">
              <a:solidFill>
                <a:srgbClr val="0254EC"/>
              </a:solidFill>
              <a:highlight>
                <a:srgbClr val="F9FAFB"/>
              </a:highlight>
              <a:latin typeface="Poppins Medium"/>
              <a:ea typeface="Poppins Medium"/>
              <a:cs typeface="Poppins Medium"/>
              <a:sym typeface="Poppins Medium"/>
            </a:endParaRPr>
          </a:p>
          <a:p>
            <a:pPr indent="0" lvl="0" marL="0" rtl="0" algn="l">
              <a:lnSpc>
                <a:spcPct val="100000"/>
              </a:lnSpc>
              <a:spcBef>
                <a:spcPts val="0"/>
              </a:spcBef>
              <a:spcAft>
                <a:spcPts val="0"/>
              </a:spcAft>
              <a:buClr>
                <a:schemeClr val="dk1"/>
              </a:buClr>
              <a:buSzPts val="1100"/>
              <a:buFont typeface="Arial"/>
              <a:buNone/>
            </a:pPr>
            <a:r>
              <a:rPr lang="en" sz="800">
                <a:solidFill>
                  <a:srgbClr val="991B1B"/>
                </a:solidFill>
                <a:highlight>
                  <a:srgbClr val="FEE2E2"/>
                </a:highlight>
                <a:latin typeface="Poppins Medium"/>
                <a:ea typeface="Poppins Medium"/>
                <a:cs typeface="Poppins Medium"/>
                <a:sym typeface="Poppins Medium"/>
              </a:rPr>
              <a:t>CRITICAL</a:t>
            </a:r>
            <a:endParaRPr sz="800">
              <a:solidFill>
                <a:srgbClr val="991B1B"/>
              </a:solidFill>
              <a:highlight>
                <a:srgbClr val="FEE2E2"/>
              </a:highlight>
              <a:latin typeface="Poppins Medium"/>
              <a:ea typeface="Poppins Medium"/>
              <a:cs typeface="Poppins Medium"/>
              <a:sym typeface="Poppins Medium"/>
            </a:endParaRPr>
          </a:p>
          <a:p>
            <a:pPr indent="0" lvl="0" marL="0" rtl="0" algn="l">
              <a:lnSpc>
                <a:spcPct val="100000"/>
              </a:lnSpc>
              <a:spcBef>
                <a:spcPts val="70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{{CI_CONTROL_2}}</a:t>
            </a:r>
            <a:br>
              <a:rPr lang="en" sz="800" u="sng">
                <a:solidFill>
                  <a:schemeClr val="hlink"/>
                </a:solidFill>
                <a:highlight>
                  <a:srgbClr val="FFFFFF"/>
                </a:highlight>
                <a:latin typeface="Poppins Medium"/>
                <a:ea typeface="Poppins Medium"/>
                <a:cs typeface="Poppins Medium"/>
                <a:sym typeface="Poppins Medium"/>
              </a:rPr>
            </a:br>
            <a:r>
              <a:rPr lang="en" sz="800">
                <a:solidFill>
                  <a:srgbClr val="991B1B"/>
                </a:solidFill>
                <a:highlight>
                  <a:srgbClr val="FEE2E2"/>
                </a:highlight>
                <a:latin typeface="Poppins Medium"/>
                <a:ea typeface="Poppins Medium"/>
                <a:cs typeface="Poppins Medium"/>
                <a:sym typeface="Poppins Medium"/>
              </a:rPr>
              <a:t>CRITICAL</a:t>
            </a:r>
            <a:endParaRPr sz="800">
              <a:solidFill>
                <a:srgbClr val="991B1B"/>
              </a:solidFill>
              <a:highlight>
                <a:srgbClr val="FEE2E2"/>
              </a:highlight>
              <a:latin typeface="Poppins Medium"/>
              <a:ea typeface="Poppins Medium"/>
              <a:cs typeface="Poppins Medium"/>
              <a:sym typeface="Poppins Medium"/>
            </a:endParaRPr>
          </a:p>
          <a:p>
            <a:pPr indent="0" lvl="0" marL="0" rtl="0" algn="l">
              <a:lnSpc>
                <a:spcPct val="100000"/>
              </a:lnSpc>
              <a:spcBef>
                <a:spcPts val="70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{{CI_CONTROL_3}}</a:t>
            </a:r>
            <a:br>
              <a:rPr lang="en" sz="800" u="sng">
                <a:solidFill>
                  <a:schemeClr val="hlink"/>
                </a:solidFill>
                <a:highlight>
                  <a:srgbClr val="FFFFFF"/>
                </a:highlight>
                <a:latin typeface="Poppins Medium"/>
                <a:ea typeface="Poppins Medium"/>
                <a:cs typeface="Poppins Medium"/>
                <a:sym typeface="Poppins Medium"/>
              </a:rPr>
            </a:br>
            <a:r>
              <a:rPr lang="en" sz="800">
                <a:solidFill>
                  <a:srgbClr val="991B1B"/>
                </a:solidFill>
                <a:highlight>
                  <a:srgbClr val="FEE2E2"/>
                </a:highlight>
                <a:latin typeface="Poppins Medium"/>
                <a:ea typeface="Poppins Medium"/>
                <a:cs typeface="Poppins Medium"/>
                <a:sym typeface="Poppins Medium"/>
              </a:rPr>
              <a:t>CRITICAL</a:t>
            </a:r>
            <a:endParaRPr sz="800">
              <a:solidFill>
                <a:srgbClr val="991B1B"/>
              </a:solidFill>
              <a:highlight>
                <a:srgbClr val="FEE2E2"/>
              </a:highlight>
              <a:latin typeface="Poppins Medium"/>
              <a:ea typeface="Poppins Medium"/>
              <a:cs typeface="Poppins Medium"/>
              <a:sym typeface="Poppins Medium"/>
            </a:endParaRPr>
          </a:p>
          <a:p>
            <a:pPr indent="0" lvl="0" marL="0" rtl="0" algn="r">
              <a:lnSpc>
                <a:spcPct val="115000"/>
              </a:lnSpc>
              <a:spcBef>
                <a:spcPts val="700"/>
              </a:spcBef>
              <a:spcAft>
                <a:spcPts val="0"/>
              </a:spcAft>
              <a:buNone/>
            </a:pPr>
            <a:r>
              <a:t/>
            </a:r>
            <a:endParaRPr sz="200">
              <a:solidFill>
                <a:srgbClr val="1155CC"/>
              </a:solidFill>
              <a:latin typeface="Poppins Medium"/>
              <a:ea typeface="Poppins Medium"/>
              <a:cs typeface="Poppins Medium"/>
              <a:sym typeface="Poppins Medium"/>
            </a:endParaRPr>
          </a:p>
        </p:txBody>
      </p:sp>
      <p:pic>
        <p:nvPicPr>
          <p:cNvPr id="725" name="Google Shape;725;p57"/>
          <p:cNvPicPr preferRelativeResize="0"/>
          <p:nvPr/>
        </p:nvPicPr>
        <p:blipFill>
          <a:blip r:embed="rId3">
            <a:alphaModFix/>
          </a:blip>
          <a:stretch>
            <a:fillRect/>
          </a:stretch>
        </p:blipFill>
        <p:spPr>
          <a:xfrm>
            <a:off x="107950" y="3625724"/>
            <a:ext cx="7613696" cy="1474550"/>
          </a:xfrm>
          <a:prstGeom prst="rect">
            <a:avLst/>
          </a:prstGeom>
          <a:noFill/>
          <a:ln>
            <a:noFill/>
          </a:ln>
        </p:spPr>
      </p:pic>
      <p:sp>
        <p:nvSpPr>
          <p:cNvPr id="726" name="Google Shape;726;p57"/>
          <p:cNvSpPr txBox="1"/>
          <p:nvPr/>
        </p:nvSpPr>
        <p:spPr>
          <a:xfrm>
            <a:off x="326125" y="3691225"/>
            <a:ext cx="4735500" cy="314700"/>
          </a:xfrm>
          <a:prstGeom prst="rect">
            <a:avLst/>
          </a:prstGeom>
          <a:noFill/>
          <a:ln>
            <a:noFill/>
          </a:ln>
        </p:spPr>
        <p:txBody>
          <a:bodyPr anchorCtr="0" anchor="t" bIns="34275" lIns="68575" spcFirstLastPara="1" rIns="68575" wrap="square" tIns="34275">
            <a:noAutofit/>
          </a:bodyPr>
          <a:lstStyle/>
          <a:p>
            <a:pPr indent="0" lvl="0" marL="0" marR="0" rtl="0" algn="l">
              <a:lnSpc>
                <a:spcPct val="90000"/>
              </a:lnSpc>
              <a:spcBef>
                <a:spcPts val="0"/>
              </a:spcBef>
              <a:spcAft>
                <a:spcPts val="0"/>
              </a:spcAft>
              <a:buClr>
                <a:schemeClr val="dk2"/>
              </a:buClr>
              <a:buSzPts val="1500"/>
              <a:buFont typeface="Arial"/>
              <a:buNone/>
            </a:pPr>
            <a:r>
              <a:rPr lang="en" sz="1500" u="sng">
                <a:solidFill>
                  <a:srgbClr val="1A56DB"/>
                </a:solidFill>
                <a:latin typeface="Poppins"/>
                <a:ea typeface="Poppins"/>
                <a:cs typeface="Poppins"/>
                <a:sym typeface="Poppins"/>
                <a:hlinkClick r:id="rId9">
                  <a:extLst>
                    <a:ext uri="{A12FA001-AC4F-418D-AE19-62706E023703}">
                      <ahyp:hlinkClr val="tx"/>
                    </a:ext>
                  </a:extLst>
                </a:hlinkClick>
              </a:rPr>
              <a:t>Top 3 Wiz High Risk Issues by Count</a:t>
            </a:r>
            <a:r>
              <a:rPr lang="en" sz="1500">
                <a:solidFill>
                  <a:schemeClr val="dk1"/>
                </a:solidFill>
                <a:latin typeface="Poppins"/>
                <a:ea typeface="Poppins"/>
                <a:cs typeface="Poppins"/>
                <a:sym typeface="Poppins"/>
              </a:rPr>
              <a:t> </a:t>
            </a:r>
            <a:r>
              <a:rPr lang="en" sz="1500">
                <a:solidFill>
                  <a:srgbClr val="0055F5"/>
                </a:solidFill>
                <a:uFill>
                  <a:noFill/>
                </a:uFill>
                <a:latin typeface="Poppins"/>
                <a:ea typeface="Poppins"/>
                <a:cs typeface="Poppins"/>
                <a:sym typeface="Poppins"/>
                <a:hlinkClick r:id="rId10">
                  <a:extLst>
                    <a:ext uri="{A12FA001-AC4F-418D-AE19-62706E023703}">
                      <ahyp:hlinkClr val="tx"/>
                    </a:ext>
                  </a:extLst>
                </a:hlinkClick>
              </a:rPr>
              <a:t>↗</a:t>
            </a:r>
            <a:endParaRPr sz="1700">
              <a:solidFill>
                <a:schemeClr val="dk1"/>
              </a:solidFill>
              <a:latin typeface="Poppins"/>
              <a:ea typeface="Poppins"/>
              <a:cs typeface="Poppins"/>
              <a:sym typeface="Poppins"/>
            </a:endParaRPr>
          </a:p>
        </p:txBody>
      </p:sp>
      <p:sp>
        <p:nvSpPr>
          <p:cNvPr id="727" name="Google Shape;727;p57"/>
          <p:cNvSpPr txBox="1"/>
          <p:nvPr/>
        </p:nvSpPr>
        <p:spPr>
          <a:xfrm>
            <a:off x="6213626" y="3912215"/>
            <a:ext cx="1425000" cy="1368000"/>
          </a:xfrm>
          <a:prstGeom prst="rect">
            <a:avLst/>
          </a:prstGeom>
          <a:noFill/>
          <a:ln>
            <a:noFill/>
          </a:ln>
        </p:spPr>
        <p:txBody>
          <a:bodyPr anchorCtr="0" anchor="ctr" bIns="91425" lIns="0" spcFirstLastPara="1" rIns="0" wrap="square" tIns="91425">
            <a:noAutofit/>
          </a:bodyPr>
          <a:lstStyle/>
          <a:p>
            <a:pPr indent="0" lvl="0" marL="0" rtl="0" algn="r">
              <a:spcBef>
                <a:spcPts val="0"/>
              </a:spcBef>
              <a:spcAft>
                <a:spcPts val="0"/>
              </a:spcAft>
              <a:buClr>
                <a:schemeClr val="dk1"/>
              </a:buClr>
              <a:buSzPts val="1100"/>
              <a:buFont typeface="Arial"/>
              <a:buNone/>
            </a:pPr>
            <a:r>
              <a:rPr lang="en" sz="900">
                <a:solidFill>
                  <a:schemeClr val="dk1"/>
                </a:solidFill>
                <a:latin typeface="Poppins Medium"/>
                <a:ea typeface="Poppins Medium"/>
                <a:cs typeface="Poppins Medium"/>
                <a:sym typeface="Poppins Medium"/>
              </a:rPr>
              <a:t>{{HI_CBC_1}} Issues</a:t>
            </a:r>
            <a:endParaRPr sz="900">
              <a:solidFill>
                <a:schemeClr val="dk1"/>
              </a:solidFill>
              <a:latin typeface="Poppins Medium"/>
              <a:ea typeface="Poppins Medium"/>
              <a:cs typeface="Poppins Medium"/>
              <a:sym typeface="Poppins Medium"/>
            </a:endParaRPr>
          </a:p>
          <a:p>
            <a:pPr indent="0" lvl="0" marL="0" rtl="0" algn="r">
              <a:lnSpc>
                <a:spcPct val="100000"/>
              </a:lnSpc>
              <a:spcBef>
                <a:spcPts val="0"/>
              </a:spcBef>
              <a:spcAft>
                <a:spcPts val="0"/>
              </a:spcAft>
              <a:buNone/>
            </a:pPr>
            <a:r>
              <a:t/>
            </a:r>
            <a:endParaRPr sz="1500">
              <a:solidFill>
                <a:schemeClr val="dk1"/>
              </a:solidFill>
              <a:latin typeface="Poppins Medium"/>
              <a:ea typeface="Poppins Medium"/>
              <a:cs typeface="Poppins Medium"/>
              <a:sym typeface="Poppins Medium"/>
            </a:endParaRPr>
          </a:p>
          <a:p>
            <a:pPr indent="0" lvl="0" marL="0" rtl="0" algn="r">
              <a:spcBef>
                <a:spcPts val="0"/>
              </a:spcBef>
              <a:spcAft>
                <a:spcPts val="0"/>
              </a:spcAft>
              <a:buNone/>
            </a:pPr>
            <a:r>
              <a:rPr lang="en" sz="900">
                <a:solidFill>
                  <a:schemeClr val="dk1"/>
                </a:solidFill>
                <a:latin typeface="Poppins Medium"/>
                <a:ea typeface="Poppins Medium"/>
                <a:cs typeface="Poppins Medium"/>
                <a:sym typeface="Poppins Medium"/>
              </a:rPr>
              <a:t>{{HI_CBC_2}} Issues</a:t>
            </a:r>
            <a:endParaRPr sz="900">
              <a:solidFill>
                <a:schemeClr val="dk1"/>
              </a:solidFill>
              <a:latin typeface="Poppins Medium"/>
              <a:ea typeface="Poppins Medium"/>
              <a:cs typeface="Poppins Medium"/>
              <a:sym typeface="Poppins Medium"/>
            </a:endParaRPr>
          </a:p>
          <a:p>
            <a:pPr indent="0" lvl="0" marL="0" rtl="0" algn="r">
              <a:spcBef>
                <a:spcPts val="0"/>
              </a:spcBef>
              <a:spcAft>
                <a:spcPts val="0"/>
              </a:spcAft>
              <a:buNone/>
            </a:pPr>
            <a:r>
              <a:t/>
            </a:r>
            <a:endParaRPr sz="1500">
              <a:solidFill>
                <a:schemeClr val="dk1"/>
              </a:solidFill>
              <a:latin typeface="Poppins Medium"/>
              <a:ea typeface="Poppins Medium"/>
              <a:cs typeface="Poppins Medium"/>
              <a:sym typeface="Poppins Medium"/>
            </a:endParaRPr>
          </a:p>
          <a:p>
            <a:pPr indent="0" lvl="0" marL="0" rtl="0" algn="r">
              <a:lnSpc>
                <a:spcPct val="100000"/>
              </a:lnSpc>
              <a:spcBef>
                <a:spcPts val="0"/>
              </a:spcBef>
              <a:spcAft>
                <a:spcPts val="0"/>
              </a:spcAft>
              <a:buNone/>
            </a:pPr>
            <a:r>
              <a:rPr lang="en" sz="900">
                <a:solidFill>
                  <a:schemeClr val="dk1"/>
                </a:solidFill>
                <a:latin typeface="Poppins Medium"/>
                <a:ea typeface="Poppins Medium"/>
                <a:cs typeface="Poppins Medium"/>
                <a:sym typeface="Poppins Medium"/>
              </a:rPr>
              <a:t>{{HI_CBC_3}}</a:t>
            </a:r>
            <a:r>
              <a:rPr lang="en" sz="900">
                <a:solidFill>
                  <a:schemeClr val="dk1"/>
                </a:solidFill>
                <a:latin typeface="Poppins Medium"/>
                <a:ea typeface="Poppins Medium"/>
                <a:cs typeface="Poppins Medium"/>
                <a:sym typeface="Poppins Medium"/>
              </a:rPr>
              <a:t> Issues</a:t>
            </a:r>
            <a:endParaRPr sz="900">
              <a:solidFill>
                <a:schemeClr val="dk1"/>
              </a:solidFill>
              <a:latin typeface="Poppins"/>
              <a:ea typeface="Poppins"/>
              <a:cs typeface="Poppins"/>
              <a:sym typeface="Poppins"/>
            </a:endParaRPr>
          </a:p>
        </p:txBody>
      </p:sp>
      <p:sp>
        <p:nvSpPr>
          <p:cNvPr id="728" name="Google Shape;728;p57"/>
          <p:cNvSpPr txBox="1"/>
          <p:nvPr/>
        </p:nvSpPr>
        <p:spPr>
          <a:xfrm>
            <a:off x="6198064" y="2230298"/>
            <a:ext cx="1425000" cy="1368000"/>
          </a:xfrm>
          <a:prstGeom prst="rect">
            <a:avLst/>
          </a:prstGeom>
          <a:noFill/>
          <a:ln>
            <a:noFill/>
          </a:ln>
        </p:spPr>
        <p:txBody>
          <a:bodyPr anchorCtr="0" anchor="ctr" bIns="91425" lIns="0" spcFirstLastPara="1" rIns="0" wrap="square" tIns="91425">
            <a:noAutofit/>
          </a:bodyPr>
          <a:lstStyle/>
          <a:p>
            <a:pPr indent="0" lvl="0" marL="0" rtl="0" algn="r">
              <a:spcBef>
                <a:spcPts val="0"/>
              </a:spcBef>
              <a:spcAft>
                <a:spcPts val="0"/>
              </a:spcAft>
              <a:buNone/>
            </a:pPr>
            <a:r>
              <a:rPr lang="en" sz="900">
                <a:solidFill>
                  <a:schemeClr val="dk1"/>
                </a:solidFill>
                <a:latin typeface="Poppins Medium"/>
                <a:ea typeface="Poppins Medium"/>
                <a:cs typeface="Poppins Medium"/>
                <a:sym typeface="Poppins Medium"/>
              </a:rPr>
              <a:t>{{CI_CBC_1}} Issues</a:t>
            </a:r>
            <a:endParaRPr sz="900">
              <a:solidFill>
                <a:schemeClr val="dk1"/>
              </a:solidFill>
              <a:latin typeface="Poppins Medium"/>
              <a:ea typeface="Poppins Medium"/>
              <a:cs typeface="Poppins Medium"/>
              <a:sym typeface="Poppins Medium"/>
            </a:endParaRPr>
          </a:p>
          <a:p>
            <a:pPr indent="0" lvl="0" marL="0" rtl="0" algn="r">
              <a:lnSpc>
                <a:spcPct val="100000"/>
              </a:lnSpc>
              <a:spcBef>
                <a:spcPts val="0"/>
              </a:spcBef>
              <a:spcAft>
                <a:spcPts val="0"/>
              </a:spcAft>
              <a:buNone/>
            </a:pPr>
            <a:r>
              <a:t/>
            </a:r>
            <a:endParaRPr sz="1500">
              <a:solidFill>
                <a:schemeClr val="dk1"/>
              </a:solidFill>
              <a:latin typeface="Poppins Medium"/>
              <a:ea typeface="Poppins Medium"/>
              <a:cs typeface="Poppins Medium"/>
              <a:sym typeface="Poppins Medium"/>
            </a:endParaRPr>
          </a:p>
          <a:p>
            <a:pPr indent="0" lvl="0" marL="0" rtl="0" algn="r">
              <a:spcBef>
                <a:spcPts val="0"/>
              </a:spcBef>
              <a:spcAft>
                <a:spcPts val="0"/>
              </a:spcAft>
              <a:buNone/>
            </a:pPr>
            <a:r>
              <a:rPr lang="en" sz="900">
                <a:solidFill>
                  <a:schemeClr val="dk1"/>
                </a:solidFill>
                <a:latin typeface="Poppins Medium"/>
                <a:ea typeface="Poppins Medium"/>
                <a:cs typeface="Poppins Medium"/>
                <a:sym typeface="Poppins Medium"/>
              </a:rPr>
              <a:t>{{CI_CBC_2}} Issues</a:t>
            </a:r>
            <a:endParaRPr sz="900">
              <a:solidFill>
                <a:schemeClr val="dk1"/>
              </a:solidFill>
              <a:latin typeface="Poppins Medium"/>
              <a:ea typeface="Poppins Medium"/>
              <a:cs typeface="Poppins Medium"/>
              <a:sym typeface="Poppins Medium"/>
            </a:endParaRPr>
          </a:p>
          <a:p>
            <a:pPr indent="0" lvl="0" marL="0" rtl="0" algn="r">
              <a:spcBef>
                <a:spcPts val="0"/>
              </a:spcBef>
              <a:spcAft>
                <a:spcPts val="0"/>
              </a:spcAft>
              <a:buNone/>
            </a:pPr>
            <a:r>
              <a:t/>
            </a:r>
            <a:endParaRPr sz="1500">
              <a:solidFill>
                <a:schemeClr val="dk1"/>
              </a:solidFill>
              <a:latin typeface="Poppins Medium"/>
              <a:ea typeface="Poppins Medium"/>
              <a:cs typeface="Poppins Medium"/>
              <a:sym typeface="Poppins Medium"/>
            </a:endParaRPr>
          </a:p>
          <a:p>
            <a:pPr indent="0" lvl="0" marL="0" rtl="0" algn="r">
              <a:lnSpc>
                <a:spcPct val="100000"/>
              </a:lnSpc>
              <a:spcBef>
                <a:spcPts val="0"/>
              </a:spcBef>
              <a:spcAft>
                <a:spcPts val="0"/>
              </a:spcAft>
              <a:buNone/>
            </a:pPr>
            <a:r>
              <a:rPr lang="en" sz="900">
                <a:solidFill>
                  <a:schemeClr val="dk1"/>
                </a:solidFill>
                <a:latin typeface="Poppins Medium"/>
                <a:ea typeface="Poppins Medium"/>
                <a:cs typeface="Poppins Medium"/>
                <a:sym typeface="Poppins Medium"/>
              </a:rPr>
              <a:t>{{CI_CBC_3}} Issues</a:t>
            </a:r>
            <a:endParaRPr sz="900">
              <a:solidFill>
                <a:schemeClr val="dk1"/>
              </a:solidFill>
              <a:latin typeface="Poppins"/>
              <a:ea typeface="Poppins"/>
              <a:cs typeface="Poppins"/>
              <a:sym typeface="Poppins"/>
            </a:endParaRPr>
          </a:p>
        </p:txBody>
      </p:sp>
      <p:sp>
        <p:nvSpPr>
          <p:cNvPr id="729" name="Google Shape;729;p57"/>
          <p:cNvSpPr txBox="1"/>
          <p:nvPr/>
        </p:nvSpPr>
        <p:spPr>
          <a:xfrm>
            <a:off x="112748" y="4015785"/>
            <a:ext cx="6979500" cy="127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{{HI_CONTROL_1}}</a:t>
            </a:r>
            <a:endParaRPr sz="900" u="sng">
              <a:solidFill>
                <a:srgbClr val="0254EC"/>
              </a:solidFill>
              <a:highlight>
                <a:srgbClr val="F9FAFB"/>
              </a:highlight>
              <a:latin typeface="Poppins Medium"/>
              <a:ea typeface="Poppins Medium"/>
              <a:cs typeface="Poppins Medium"/>
              <a:sym typeface="Poppins Medium"/>
            </a:endParaRPr>
          </a:p>
          <a:p>
            <a:pPr indent="0" lvl="0" marL="0" rtl="0" algn="l">
              <a:lnSpc>
                <a:spcPct val="100000"/>
              </a:lnSpc>
              <a:spcBef>
                <a:spcPts val="0"/>
              </a:spcBef>
              <a:spcAft>
                <a:spcPts val="0"/>
              </a:spcAft>
              <a:buClr>
                <a:schemeClr val="dk1"/>
              </a:buClr>
              <a:buSzPts val="1100"/>
              <a:buFont typeface="Arial"/>
              <a:buNone/>
            </a:pPr>
            <a:r>
              <a:rPr lang="en" sz="800">
                <a:solidFill>
                  <a:srgbClr val="D97706"/>
                </a:solidFill>
                <a:highlight>
                  <a:srgbClr val="F9CB9C"/>
                </a:highlight>
                <a:latin typeface="Poppins Medium"/>
                <a:ea typeface="Poppins Medium"/>
                <a:cs typeface="Poppins Medium"/>
                <a:sym typeface="Poppins Medium"/>
              </a:rPr>
              <a:t>HIGH</a:t>
            </a:r>
            <a:endParaRPr sz="800">
              <a:solidFill>
                <a:srgbClr val="D97706"/>
              </a:solidFill>
              <a:highlight>
                <a:srgbClr val="F9CB9C"/>
              </a:highlight>
              <a:latin typeface="Poppins Medium"/>
              <a:ea typeface="Poppins Medium"/>
              <a:cs typeface="Poppins Medium"/>
              <a:sym typeface="Poppins Medium"/>
            </a:endParaRPr>
          </a:p>
          <a:p>
            <a:pPr indent="0" lvl="0" marL="0" rtl="0" algn="l">
              <a:lnSpc>
                <a:spcPct val="100000"/>
              </a:lnSpc>
              <a:spcBef>
                <a:spcPts val="70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{{HI_CONTROL_2}}</a:t>
            </a:r>
            <a:br>
              <a:rPr lang="en" sz="800" u="sng">
                <a:solidFill>
                  <a:schemeClr val="hlink"/>
                </a:solidFill>
                <a:highlight>
                  <a:srgbClr val="FFFFFF"/>
                </a:highlight>
                <a:latin typeface="Poppins Medium"/>
                <a:ea typeface="Poppins Medium"/>
                <a:cs typeface="Poppins Medium"/>
                <a:sym typeface="Poppins Medium"/>
              </a:rPr>
            </a:br>
            <a:r>
              <a:rPr lang="en" sz="800">
                <a:solidFill>
                  <a:srgbClr val="D97706"/>
                </a:solidFill>
                <a:highlight>
                  <a:srgbClr val="F9CB9C"/>
                </a:highlight>
                <a:latin typeface="Poppins Medium"/>
                <a:ea typeface="Poppins Medium"/>
                <a:cs typeface="Poppins Medium"/>
                <a:sym typeface="Poppins Medium"/>
              </a:rPr>
              <a:t>HIGH</a:t>
            </a:r>
            <a:endParaRPr sz="800">
              <a:solidFill>
                <a:srgbClr val="991B1B"/>
              </a:solidFill>
              <a:highlight>
                <a:srgbClr val="FEE2E2"/>
              </a:highlight>
              <a:latin typeface="Poppins Medium"/>
              <a:ea typeface="Poppins Medium"/>
              <a:cs typeface="Poppins Medium"/>
              <a:sym typeface="Poppins Medium"/>
            </a:endParaRPr>
          </a:p>
          <a:p>
            <a:pPr indent="0" lvl="0" marL="0" rtl="0" algn="l">
              <a:lnSpc>
                <a:spcPct val="100000"/>
              </a:lnSpc>
              <a:spcBef>
                <a:spcPts val="700"/>
              </a:spcBef>
              <a:spcAft>
                <a:spcPts val="0"/>
              </a:spcAft>
              <a:buClr>
                <a:schemeClr val="dk1"/>
              </a:buClr>
              <a:buSzPts val="1100"/>
              <a:buFont typeface="Arial"/>
              <a:buNone/>
            </a:pPr>
            <a:r>
              <a:rPr lang="en" sz="900" u="sng">
                <a:solidFill>
                  <a:srgbClr val="0254EC"/>
                </a:solidFill>
                <a:highlight>
                  <a:srgbClr val="F9FAFB"/>
                </a:highlight>
                <a:latin typeface="Poppins Medium"/>
                <a:ea typeface="Poppins Medium"/>
                <a:cs typeface="Poppins Medium"/>
                <a:sym typeface="Poppins Medium"/>
              </a:rPr>
              <a:t>{{HI_CONTROL_3}}</a:t>
            </a:r>
            <a:br>
              <a:rPr lang="en" sz="800" u="sng">
                <a:solidFill>
                  <a:schemeClr val="hlink"/>
                </a:solidFill>
                <a:highlight>
                  <a:srgbClr val="FFFFFF"/>
                </a:highlight>
                <a:latin typeface="Poppins Medium"/>
                <a:ea typeface="Poppins Medium"/>
                <a:cs typeface="Poppins Medium"/>
                <a:sym typeface="Poppins Medium"/>
              </a:rPr>
            </a:br>
            <a:r>
              <a:rPr lang="en" sz="800">
                <a:solidFill>
                  <a:srgbClr val="D97706"/>
                </a:solidFill>
                <a:highlight>
                  <a:srgbClr val="F9CB9C"/>
                </a:highlight>
                <a:latin typeface="Poppins Medium"/>
                <a:ea typeface="Poppins Medium"/>
                <a:cs typeface="Poppins Medium"/>
                <a:sym typeface="Poppins Medium"/>
              </a:rPr>
              <a:t>HIGH</a:t>
            </a:r>
            <a:endParaRPr sz="800">
              <a:solidFill>
                <a:srgbClr val="991B1B"/>
              </a:solidFill>
              <a:highlight>
                <a:srgbClr val="FEE2E2"/>
              </a:highlight>
              <a:latin typeface="Poppins Medium"/>
              <a:ea typeface="Poppins Medium"/>
              <a:cs typeface="Poppins Medium"/>
              <a:sym typeface="Poppins Medium"/>
            </a:endParaRPr>
          </a:p>
          <a:p>
            <a:pPr indent="0" lvl="0" marL="0" rtl="0" algn="r">
              <a:lnSpc>
                <a:spcPct val="115000"/>
              </a:lnSpc>
              <a:spcBef>
                <a:spcPts val="700"/>
              </a:spcBef>
              <a:spcAft>
                <a:spcPts val="0"/>
              </a:spcAft>
              <a:buNone/>
            </a:pPr>
            <a:r>
              <a:t/>
            </a:r>
            <a:endParaRPr sz="200">
              <a:solidFill>
                <a:srgbClr val="1155CC"/>
              </a:solidFill>
              <a:latin typeface="Poppins Medium"/>
              <a:ea typeface="Poppins Medium"/>
              <a:cs typeface="Poppins Medium"/>
              <a:sym typeface="Poppins Medium"/>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pic>
        <p:nvPicPr>
          <p:cNvPr id="735" name="Google Shape;735;p58" title="Rectangle 7854.png"/>
          <p:cNvPicPr preferRelativeResize="0"/>
          <p:nvPr/>
        </p:nvPicPr>
        <p:blipFill>
          <a:blip r:embed="rId3">
            <a:alphaModFix/>
          </a:blip>
          <a:stretch>
            <a:fillRect/>
          </a:stretch>
        </p:blipFill>
        <p:spPr>
          <a:xfrm>
            <a:off x="3237298" y="1837850"/>
            <a:ext cx="2669404" cy="3050125"/>
          </a:xfrm>
          <a:prstGeom prst="rect">
            <a:avLst/>
          </a:prstGeom>
          <a:noFill/>
          <a:ln>
            <a:noFill/>
          </a:ln>
        </p:spPr>
      </p:pic>
      <p:pic>
        <p:nvPicPr>
          <p:cNvPr id="736" name="Google Shape;736;p58" title="Rectangle 7854.png"/>
          <p:cNvPicPr preferRelativeResize="0"/>
          <p:nvPr/>
        </p:nvPicPr>
        <p:blipFill>
          <a:blip r:embed="rId3">
            <a:alphaModFix/>
          </a:blip>
          <a:stretch>
            <a:fillRect/>
          </a:stretch>
        </p:blipFill>
        <p:spPr>
          <a:xfrm>
            <a:off x="357125" y="1837850"/>
            <a:ext cx="2669404" cy="3050125"/>
          </a:xfrm>
          <a:prstGeom prst="rect">
            <a:avLst/>
          </a:prstGeom>
          <a:noFill/>
          <a:ln>
            <a:noFill/>
          </a:ln>
        </p:spPr>
      </p:pic>
      <p:cxnSp>
        <p:nvCxnSpPr>
          <p:cNvPr id="737" name="Google Shape;737;p58"/>
          <p:cNvCxnSpPr/>
          <p:nvPr/>
        </p:nvCxnSpPr>
        <p:spPr>
          <a:xfrm>
            <a:off x="630575" y="3063399"/>
            <a:ext cx="2122500" cy="0"/>
          </a:xfrm>
          <a:prstGeom prst="straightConnector1">
            <a:avLst/>
          </a:prstGeom>
          <a:noFill/>
          <a:ln cap="flat" cmpd="sng" w="9525">
            <a:solidFill>
              <a:srgbClr val="0254EC"/>
            </a:solidFill>
            <a:prstDash val="solid"/>
            <a:round/>
            <a:headEnd len="med" w="med" type="none"/>
            <a:tailEnd len="med" w="med" type="none"/>
          </a:ln>
        </p:spPr>
      </p:cxnSp>
      <p:sp>
        <p:nvSpPr>
          <p:cNvPr id="738" name="Google Shape;738;p58"/>
          <p:cNvSpPr txBox="1"/>
          <p:nvPr/>
        </p:nvSpPr>
        <p:spPr>
          <a:xfrm>
            <a:off x="357125" y="3203850"/>
            <a:ext cx="2641800" cy="12321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How do you determine what to work on first?</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Why are the custom TWDC Graph Controls marked as “Critical”? Is this still relevant?</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How are you alerted on Critical Issues, when they arise?</a:t>
            </a:r>
            <a:endParaRPr sz="900">
              <a:solidFill>
                <a:srgbClr val="01123F"/>
              </a:solidFill>
              <a:latin typeface="Poppins Light"/>
              <a:ea typeface="Poppins Light"/>
              <a:cs typeface="Poppins Light"/>
              <a:sym typeface="Poppins Light"/>
            </a:endParaRPr>
          </a:p>
        </p:txBody>
      </p:sp>
      <p:cxnSp>
        <p:nvCxnSpPr>
          <p:cNvPr id="739" name="Google Shape;739;p58"/>
          <p:cNvCxnSpPr/>
          <p:nvPr/>
        </p:nvCxnSpPr>
        <p:spPr>
          <a:xfrm>
            <a:off x="3510750" y="3063399"/>
            <a:ext cx="2122500" cy="0"/>
          </a:xfrm>
          <a:prstGeom prst="straightConnector1">
            <a:avLst/>
          </a:prstGeom>
          <a:noFill/>
          <a:ln cap="flat" cmpd="sng" w="9525">
            <a:solidFill>
              <a:srgbClr val="0254EC"/>
            </a:solidFill>
            <a:prstDash val="solid"/>
            <a:round/>
            <a:headEnd len="med" w="med" type="none"/>
            <a:tailEnd len="med" w="med" type="none"/>
          </a:ln>
        </p:spPr>
      </p:cxnSp>
      <p:pic>
        <p:nvPicPr>
          <p:cNvPr id="740" name="Google Shape;740;p58" title="Rectangle 7854.png"/>
          <p:cNvPicPr preferRelativeResize="0"/>
          <p:nvPr/>
        </p:nvPicPr>
        <p:blipFill>
          <a:blip r:embed="rId3">
            <a:alphaModFix/>
          </a:blip>
          <a:stretch>
            <a:fillRect/>
          </a:stretch>
        </p:blipFill>
        <p:spPr>
          <a:xfrm>
            <a:off x="6117471" y="1837850"/>
            <a:ext cx="2669404" cy="3050125"/>
          </a:xfrm>
          <a:prstGeom prst="rect">
            <a:avLst/>
          </a:prstGeom>
          <a:noFill/>
          <a:ln>
            <a:noFill/>
          </a:ln>
        </p:spPr>
      </p:pic>
      <p:cxnSp>
        <p:nvCxnSpPr>
          <p:cNvPr id="741" name="Google Shape;741;p58"/>
          <p:cNvCxnSpPr/>
          <p:nvPr/>
        </p:nvCxnSpPr>
        <p:spPr>
          <a:xfrm>
            <a:off x="6390925" y="3063399"/>
            <a:ext cx="2122500" cy="0"/>
          </a:xfrm>
          <a:prstGeom prst="straightConnector1">
            <a:avLst/>
          </a:prstGeom>
          <a:noFill/>
          <a:ln cap="flat" cmpd="sng" w="9525">
            <a:solidFill>
              <a:srgbClr val="0254EC"/>
            </a:solidFill>
            <a:prstDash val="solid"/>
            <a:round/>
            <a:headEnd len="med" w="med" type="none"/>
            <a:tailEnd len="med" w="med" type="none"/>
          </a:ln>
        </p:spPr>
      </p:cxnSp>
      <p:sp>
        <p:nvSpPr>
          <p:cNvPr id="742" name="Google Shape;742;p58"/>
          <p:cNvSpPr txBox="1"/>
          <p:nvPr/>
        </p:nvSpPr>
        <p:spPr>
          <a:xfrm>
            <a:off x="3269550" y="3203850"/>
            <a:ext cx="2599800" cy="14220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You only have “MBI” (Medium Business Impact) resources defined, why?</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Grouping filters or queries to identify the “low hanging fruit” Issues (i.e. resources exhibiting the same Issue)</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Are you using Posture Policies to identify and group high-impact vulnerabilities?</a:t>
            </a:r>
            <a:endParaRPr sz="900">
              <a:solidFill>
                <a:srgbClr val="01123F"/>
              </a:solidFill>
              <a:latin typeface="Poppins Light"/>
              <a:ea typeface="Poppins Light"/>
              <a:cs typeface="Poppins Light"/>
              <a:sym typeface="Poppins Light"/>
            </a:endParaRPr>
          </a:p>
        </p:txBody>
      </p:sp>
      <p:sp>
        <p:nvSpPr>
          <p:cNvPr id="743" name="Google Shape;743;p58"/>
          <p:cNvSpPr txBox="1"/>
          <p:nvPr/>
        </p:nvSpPr>
        <p:spPr>
          <a:xfrm>
            <a:off x="6081878" y="3203850"/>
            <a:ext cx="2641800" cy="16842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Utilize Green Agent for automated investigation and remediation context</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Utilize Advanced ASM to validate which external exposures are truly exploitable</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Utilize Red Agent to actively probe your web apps and APIS to proactively identify high-impact exposures</a:t>
            </a:r>
            <a:endParaRPr sz="900">
              <a:solidFill>
                <a:srgbClr val="01123F"/>
              </a:solidFill>
              <a:latin typeface="Poppins Light"/>
              <a:ea typeface="Poppins Light"/>
              <a:cs typeface="Poppins Light"/>
              <a:sym typeface="Poppins Light"/>
            </a:endParaRPr>
          </a:p>
        </p:txBody>
      </p:sp>
      <p:sp>
        <p:nvSpPr>
          <p:cNvPr id="744" name="Google Shape;744;p58"/>
          <p:cNvSpPr txBox="1"/>
          <p:nvPr/>
        </p:nvSpPr>
        <p:spPr>
          <a:xfrm>
            <a:off x="6243025" y="2624673"/>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Using Wiz Tools to Remediate</a:t>
            </a:r>
            <a:br>
              <a:rPr lang="en" sz="1000">
                <a:solidFill>
                  <a:schemeClr val="dk1"/>
                </a:solidFill>
                <a:latin typeface="Poppins SemiBold"/>
                <a:ea typeface="Poppins SemiBold"/>
                <a:cs typeface="Poppins SemiBold"/>
                <a:sym typeface="Poppins SemiBold"/>
              </a:rPr>
            </a:br>
            <a:r>
              <a:rPr lang="en" sz="1000">
                <a:solidFill>
                  <a:schemeClr val="dk1"/>
                </a:solidFill>
                <a:latin typeface="Poppins SemiBold"/>
                <a:ea typeface="Poppins SemiBold"/>
                <a:cs typeface="Poppins SemiBold"/>
                <a:sym typeface="Poppins SemiBold"/>
              </a:rPr>
              <a:t>More Efficiently</a:t>
            </a:r>
            <a:endParaRPr sz="1000">
              <a:solidFill>
                <a:schemeClr val="dk1"/>
              </a:solidFill>
              <a:latin typeface="Poppins SemiBold"/>
              <a:ea typeface="Poppins SemiBold"/>
              <a:cs typeface="Poppins SemiBold"/>
              <a:sym typeface="Poppins SemiBold"/>
            </a:endParaRPr>
          </a:p>
        </p:txBody>
      </p:sp>
      <p:sp>
        <p:nvSpPr>
          <p:cNvPr id="745" name="Google Shape;745;p58"/>
          <p:cNvSpPr txBox="1"/>
          <p:nvPr>
            <p:ph idx="4294967295" type="title"/>
          </p:nvPr>
        </p:nvSpPr>
        <p:spPr>
          <a:xfrm>
            <a:off x="-302400" y="535725"/>
            <a:ext cx="97488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Improve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Security Posture &amp; Risk Reduction</a:t>
            </a:r>
            <a:endParaRPr sz="2420">
              <a:latin typeface="Poppins Light"/>
              <a:ea typeface="Poppins Light"/>
              <a:cs typeface="Poppins Light"/>
              <a:sym typeface="Poppins Light"/>
            </a:endParaRPr>
          </a:p>
        </p:txBody>
      </p:sp>
      <p:pic>
        <p:nvPicPr>
          <p:cNvPr id="746" name="Google Shape;746;p58"/>
          <p:cNvPicPr preferRelativeResize="0"/>
          <p:nvPr/>
        </p:nvPicPr>
        <p:blipFill>
          <a:blip r:embed="rId4">
            <a:alphaModFix/>
          </a:blip>
          <a:stretch>
            <a:fillRect/>
          </a:stretch>
        </p:blipFill>
        <p:spPr>
          <a:xfrm>
            <a:off x="1326966" y="1926775"/>
            <a:ext cx="729718" cy="693550"/>
          </a:xfrm>
          <a:prstGeom prst="rect">
            <a:avLst/>
          </a:prstGeom>
          <a:noFill/>
          <a:ln>
            <a:noFill/>
          </a:ln>
        </p:spPr>
      </p:pic>
      <p:pic>
        <p:nvPicPr>
          <p:cNvPr id="747" name="Google Shape;747;p58"/>
          <p:cNvPicPr preferRelativeResize="0"/>
          <p:nvPr/>
        </p:nvPicPr>
        <p:blipFill>
          <a:blip r:embed="rId5">
            <a:alphaModFix/>
          </a:blip>
          <a:stretch>
            <a:fillRect/>
          </a:stretch>
        </p:blipFill>
        <p:spPr>
          <a:xfrm>
            <a:off x="4225225" y="1913375"/>
            <a:ext cx="693550" cy="693550"/>
          </a:xfrm>
          <a:prstGeom prst="rect">
            <a:avLst/>
          </a:prstGeom>
          <a:noFill/>
          <a:ln>
            <a:noFill/>
          </a:ln>
        </p:spPr>
      </p:pic>
      <p:pic>
        <p:nvPicPr>
          <p:cNvPr id="748" name="Google Shape;748;p58" title="Group 1000002779.png"/>
          <p:cNvPicPr preferRelativeResize="0"/>
          <p:nvPr/>
        </p:nvPicPr>
        <p:blipFill>
          <a:blip r:embed="rId6">
            <a:alphaModFix/>
          </a:blip>
          <a:stretch>
            <a:fillRect/>
          </a:stretch>
        </p:blipFill>
        <p:spPr>
          <a:xfrm>
            <a:off x="7043298" y="1991749"/>
            <a:ext cx="817750" cy="563600"/>
          </a:xfrm>
          <a:prstGeom prst="rect">
            <a:avLst/>
          </a:prstGeom>
          <a:noFill/>
          <a:ln>
            <a:noFill/>
          </a:ln>
        </p:spPr>
      </p:pic>
      <p:sp>
        <p:nvSpPr>
          <p:cNvPr id="749" name="Google Shape;749;p58"/>
          <p:cNvSpPr txBox="1"/>
          <p:nvPr/>
        </p:nvSpPr>
        <p:spPr>
          <a:xfrm>
            <a:off x="482675" y="2640997"/>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Prioritize Investigation by       Severity  &amp; Criticality</a:t>
            </a:r>
            <a:endParaRPr sz="1000">
              <a:solidFill>
                <a:schemeClr val="dk1"/>
              </a:solidFill>
              <a:latin typeface="Poppins SemiBold"/>
              <a:ea typeface="Poppins SemiBold"/>
              <a:cs typeface="Poppins SemiBold"/>
              <a:sym typeface="Poppins SemiBold"/>
            </a:endParaRPr>
          </a:p>
        </p:txBody>
      </p:sp>
      <p:sp>
        <p:nvSpPr>
          <p:cNvPr id="750" name="Google Shape;750;p58"/>
          <p:cNvSpPr txBox="1"/>
          <p:nvPr/>
        </p:nvSpPr>
        <p:spPr>
          <a:xfrm>
            <a:off x="3362850" y="2627164"/>
            <a:ext cx="2418300" cy="273300"/>
          </a:xfrm>
          <a:prstGeom prst="rect">
            <a:avLst/>
          </a:prstGeom>
          <a:noFill/>
          <a:ln>
            <a:noFill/>
          </a:ln>
        </p:spPr>
        <p:txBody>
          <a:bodyPr anchorCtr="0" anchor="t" bIns="34275" lIns="68575" spcFirstLastPara="1" rIns="68575" wrap="square" tIns="34275">
            <a:noAutofit/>
          </a:bodyPr>
          <a:lstStyle/>
          <a:p>
            <a:pPr indent="0" lvl="0" marL="0" rtl="0" algn="ctr">
              <a:lnSpc>
                <a:spcPct val="100000"/>
              </a:lnSpc>
              <a:spcBef>
                <a:spcPts val="0"/>
              </a:spcBef>
              <a:spcAft>
                <a:spcPts val="0"/>
              </a:spcAft>
              <a:buNone/>
            </a:pPr>
            <a:r>
              <a:rPr lang="en" sz="1000">
                <a:solidFill>
                  <a:schemeClr val="dk1"/>
                </a:solidFill>
                <a:latin typeface="Poppins SemiBold"/>
                <a:ea typeface="Poppins SemiBold"/>
                <a:cs typeface="Poppins SemiBold"/>
                <a:sym typeface="Poppins SemiBold"/>
              </a:rPr>
              <a:t>Prioritize Remediation by       Greatest Impact </a:t>
            </a:r>
            <a:endParaRPr sz="1000">
              <a:solidFill>
                <a:schemeClr val="dk1"/>
              </a:solidFill>
              <a:latin typeface="Poppins SemiBold"/>
              <a:ea typeface="Poppins SemiBold"/>
              <a:cs typeface="Poppins SemiBold"/>
              <a:sym typeface="Poppins SemiBo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5" name="Shape 755"/>
        <p:cNvGrpSpPr/>
        <p:nvPr/>
      </p:nvGrpSpPr>
      <p:grpSpPr>
        <a:xfrm>
          <a:off x="0" y="0"/>
          <a:ext cx="0" cy="0"/>
          <a:chOff x="0" y="0"/>
          <a:chExt cx="0" cy="0"/>
        </a:xfrm>
      </p:grpSpPr>
      <p:sp>
        <p:nvSpPr>
          <p:cNvPr id="756" name="Google Shape;756;p59"/>
          <p:cNvSpPr txBox="1"/>
          <p:nvPr/>
        </p:nvSpPr>
        <p:spPr>
          <a:xfrm>
            <a:off x="468449" y="2483713"/>
            <a:ext cx="3273600" cy="484800"/>
          </a:xfrm>
          <a:prstGeom prst="rect">
            <a:avLst/>
          </a:prstGeom>
          <a:noFill/>
          <a:ln>
            <a:noFill/>
          </a:ln>
        </p:spPr>
        <p:txBody>
          <a:bodyPr anchorCtr="0" anchor="t" bIns="34275" lIns="68575" spcFirstLastPara="1" rIns="68575" wrap="square" tIns="34275">
            <a:spAutoFit/>
          </a:bodyPr>
          <a:lstStyle/>
          <a:p>
            <a:pPr indent="0" lvl="0" marL="0" rtl="0" algn="l">
              <a:spcBef>
                <a:spcPts val="0"/>
              </a:spcBef>
              <a:spcAft>
                <a:spcPts val="0"/>
              </a:spcAft>
              <a:buClr>
                <a:schemeClr val="dk1"/>
              </a:buClr>
              <a:buSzPts val="1100"/>
              <a:buFont typeface="Arial"/>
              <a:buNone/>
            </a:pPr>
            <a:r>
              <a:rPr lang="en" sz="2700">
                <a:solidFill>
                  <a:schemeClr val="lt1"/>
                </a:solidFill>
                <a:latin typeface="Poppins"/>
                <a:ea typeface="Poppins"/>
                <a:cs typeface="Poppins"/>
                <a:sym typeface="Poppins"/>
              </a:rPr>
              <a:t>Develop Securely</a:t>
            </a:r>
            <a:endParaRPr sz="2700">
              <a:solidFill>
                <a:schemeClr val="lt1"/>
              </a:solidFill>
              <a:latin typeface="Poppins"/>
              <a:ea typeface="Poppins"/>
              <a:cs typeface="Poppins"/>
              <a:sym typeface="Poppins"/>
            </a:endParaRPr>
          </a:p>
        </p:txBody>
      </p:sp>
      <p:pic>
        <p:nvPicPr>
          <p:cNvPr id="757" name="Google Shape;757;p59" title="opening_photo.png"/>
          <p:cNvPicPr preferRelativeResize="0"/>
          <p:nvPr/>
        </p:nvPicPr>
        <p:blipFill>
          <a:blip r:embed="rId3">
            <a:alphaModFix/>
          </a:blip>
          <a:stretch>
            <a:fillRect/>
          </a:stretch>
        </p:blipFill>
        <p:spPr>
          <a:xfrm>
            <a:off x="4256533" y="1409675"/>
            <a:ext cx="4306800" cy="2143875"/>
          </a:xfrm>
          <a:prstGeom prst="rect">
            <a:avLst/>
          </a:prstGeom>
          <a:noFill/>
          <a:ln>
            <a:noFill/>
          </a:ln>
        </p:spPr>
      </p:pic>
      <p:pic>
        <p:nvPicPr>
          <p:cNvPr id="758" name="Google Shape;758;p59" title="cloud.png"/>
          <p:cNvPicPr preferRelativeResize="0"/>
          <p:nvPr/>
        </p:nvPicPr>
        <p:blipFill>
          <a:blip r:embed="rId4">
            <a:alphaModFix/>
          </a:blip>
          <a:stretch>
            <a:fillRect/>
          </a:stretch>
        </p:blipFill>
        <p:spPr>
          <a:xfrm>
            <a:off x="6699300" y="3318246"/>
            <a:ext cx="2444700" cy="1825254"/>
          </a:xfrm>
          <a:prstGeom prst="rect">
            <a:avLst/>
          </a:prstGeom>
          <a:noFill/>
          <a:ln>
            <a:noFill/>
          </a:ln>
        </p:spPr>
      </p:pic>
      <p:pic>
        <p:nvPicPr>
          <p:cNvPr id="759" name="Google Shape;759;p59" title="logo.png"/>
          <p:cNvPicPr preferRelativeResize="0"/>
          <p:nvPr/>
        </p:nvPicPr>
        <p:blipFill>
          <a:blip r:embed="rId5">
            <a:alphaModFix/>
          </a:blip>
          <a:stretch>
            <a:fillRect/>
          </a:stretch>
        </p:blipFill>
        <p:spPr>
          <a:xfrm>
            <a:off x="553277" y="1994713"/>
            <a:ext cx="637001" cy="304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60"/>
          <p:cNvSpPr txBox="1"/>
          <p:nvPr>
            <p:ph idx="4294967295" type="title"/>
          </p:nvPr>
        </p:nvSpPr>
        <p:spPr>
          <a:xfrm>
            <a:off x="150" y="122125"/>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Secure Development Snapshot</a:t>
            </a:r>
            <a:endParaRPr sz="2420">
              <a:latin typeface="Poppins Light"/>
              <a:ea typeface="Poppins Light"/>
              <a:cs typeface="Poppins Light"/>
              <a:sym typeface="Poppins Light"/>
            </a:endParaRPr>
          </a:p>
        </p:txBody>
      </p:sp>
      <p:sp>
        <p:nvSpPr>
          <p:cNvPr id="766" name="Google Shape;766;p60"/>
          <p:cNvSpPr/>
          <p:nvPr/>
        </p:nvSpPr>
        <p:spPr>
          <a:xfrm>
            <a:off x="219075" y="2736094"/>
            <a:ext cx="3229200" cy="2316300"/>
          </a:xfrm>
          <a:prstGeom prst="roundRect">
            <a:avLst>
              <a:gd fmla="val 16667" name="adj"/>
            </a:avLst>
          </a:prstGeom>
          <a:noFill/>
          <a:ln cap="flat" cmpd="sng" w="9575">
            <a:solidFill>
              <a:srgbClr val="595959"/>
            </a:solidFill>
            <a:prstDash val="solid"/>
            <a:round/>
            <a:headEnd len="sm" w="sm" type="none"/>
            <a:tailEnd len="sm" w="sm" type="none"/>
          </a:ln>
        </p:spPr>
        <p:txBody>
          <a:bodyPr anchorCtr="0" anchor="ctr" bIns="91775" lIns="91775" spcFirstLastPara="1" rIns="91775" wrap="square" tIns="9177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767" name="Google Shape;767;p60"/>
          <p:cNvSpPr/>
          <p:nvPr/>
        </p:nvSpPr>
        <p:spPr>
          <a:xfrm>
            <a:off x="6193748" y="909833"/>
            <a:ext cx="2688900" cy="1410900"/>
          </a:xfrm>
          <a:prstGeom prst="roundRect">
            <a:avLst>
              <a:gd fmla="val 16667" name="adj"/>
            </a:avLst>
          </a:prstGeom>
          <a:noFill/>
          <a:ln cap="flat" cmpd="sng" w="9575">
            <a:solidFill>
              <a:srgbClr val="595959"/>
            </a:solidFill>
            <a:prstDash val="solid"/>
            <a:round/>
            <a:headEnd len="sm" w="sm" type="none"/>
            <a:tailEnd len="sm" w="sm" type="none"/>
          </a:ln>
        </p:spPr>
        <p:txBody>
          <a:bodyPr anchorCtr="0" anchor="ctr" bIns="91775" lIns="91775" spcFirstLastPara="1" rIns="91775" wrap="square" tIns="9177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768" name="Google Shape;768;p60"/>
          <p:cNvSpPr/>
          <p:nvPr/>
        </p:nvSpPr>
        <p:spPr>
          <a:xfrm>
            <a:off x="3199649" y="894648"/>
            <a:ext cx="2688900" cy="1410900"/>
          </a:xfrm>
          <a:prstGeom prst="roundRect">
            <a:avLst>
              <a:gd fmla="val 16667" name="adj"/>
            </a:avLst>
          </a:prstGeom>
          <a:noFill/>
          <a:ln cap="flat" cmpd="sng" w="9575">
            <a:solidFill>
              <a:srgbClr val="595959"/>
            </a:solidFill>
            <a:prstDash val="solid"/>
            <a:round/>
            <a:headEnd len="sm" w="sm" type="none"/>
            <a:tailEnd len="sm" w="sm" type="none"/>
          </a:ln>
        </p:spPr>
        <p:txBody>
          <a:bodyPr anchorCtr="0" anchor="ctr" bIns="91775" lIns="91775" spcFirstLastPara="1" rIns="91775" wrap="square" tIns="9177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769" name="Google Shape;769;p60"/>
          <p:cNvSpPr/>
          <p:nvPr/>
        </p:nvSpPr>
        <p:spPr>
          <a:xfrm>
            <a:off x="205550" y="886120"/>
            <a:ext cx="2688900" cy="1410900"/>
          </a:xfrm>
          <a:prstGeom prst="roundRect">
            <a:avLst>
              <a:gd fmla="val 16667" name="adj"/>
            </a:avLst>
          </a:prstGeom>
          <a:noFill/>
          <a:ln cap="flat" cmpd="sng" w="9575">
            <a:solidFill>
              <a:srgbClr val="595959"/>
            </a:solidFill>
            <a:prstDash val="solid"/>
            <a:round/>
            <a:headEnd len="sm" w="sm" type="none"/>
            <a:tailEnd len="sm" w="sm" type="none"/>
          </a:ln>
        </p:spPr>
        <p:txBody>
          <a:bodyPr anchorCtr="0" anchor="ctr" bIns="91775" lIns="91775" spcFirstLastPara="1" rIns="91775" wrap="square" tIns="9177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770" name="Google Shape;770;p60"/>
          <p:cNvSpPr txBox="1"/>
          <p:nvPr/>
        </p:nvSpPr>
        <p:spPr>
          <a:xfrm>
            <a:off x="205550" y="635739"/>
            <a:ext cx="2688900" cy="279000"/>
          </a:xfrm>
          <a:prstGeom prst="rect">
            <a:avLst/>
          </a:prstGeom>
          <a:noFill/>
          <a:ln>
            <a:noFill/>
          </a:ln>
        </p:spPr>
        <p:txBody>
          <a:bodyPr anchorCtr="0" anchor="ctr" bIns="91775" lIns="91775" spcFirstLastPara="1" rIns="91775" wrap="square" tIns="91775">
            <a:noAutofit/>
          </a:bodyPr>
          <a:lstStyle/>
          <a:p>
            <a:pPr indent="0" lvl="0" marL="0" rtl="0" algn="ctr">
              <a:lnSpc>
                <a:spcPct val="100000"/>
              </a:lnSpc>
              <a:spcBef>
                <a:spcPts val="0"/>
              </a:spcBef>
              <a:spcAft>
                <a:spcPts val="0"/>
              </a:spcAft>
              <a:buNone/>
            </a:pPr>
            <a:r>
              <a:rPr lang="en" sz="1100" u="sng">
                <a:solidFill>
                  <a:srgbClr val="0055F5"/>
                </a:solidFill>
                <a:latin typeface="Poppins"/>
                <a:ea typeface="Poppins"/>
                <a:cs typeface="Poppins"/>
                <a:sym typeface="Poppins"/>
                <a:hlinkClick r:id="rId3">
                  <a:extLst>
                    <a:ext uri="{A12FA001-AC4F-418D-AE19-62706E023703}">
                      <ahyp:hlinkClr val="tx"/>
                    </a:ext>
                  </a:extLst>
                </a:hlinkClick>
              </a:rPr>
              <a:t>Kubernetes Clusters </a:t>
            </a:r>
            <a:r>
              <a:rPr lang="en" sz="1300">
                <a:solidFill>
                  <a:srgbClr val="0055F5"/>
                </a:solidFill>
                <a:uFill>
                  <a:noFill/>
                </a:uFill>
                <a:latin typeface="Poppins"/>
                <a:ea typeface="Poppins"/>
                <a:cs typeface="Poppins"/>
                <a:sym typeface="Poppins"/>
                <a:hlinkClick r:id="rId4">
                  <a:extLst>
                    <a:ext uri="{A12FA001-AC4F-418D-AE19-62706E023703}">
                      <ahyp:hlinkClr val="tx"/>
                    </a:ext>
                  </a:extLst>
                </a:hlinkClick>
              </a:rPr>
              <a:t>↗</a:t>
            </a:r>
            <a:r>
              <a:rPr lang="en" sz="1300" u="sng">
                <a:solidFill>
                  <a:srgbClr val="0055F5"/>
                </a:solidFill>
                <a:latin typeface="Poppins"/>
                <a:ea typeface="Poppins"/>
                <a:cs typeface="Poppins"/>
                <a:sym typeface="Poppins"/>
                <a:hlinkClick r:id="rId5">
                  <a:extLst>
                    <a:ext uri="{A12FA001-AC4F-418D-AE19-62706E023703}">
                      <ahyp:hlinkClr val="tx"/>
                    </a:ext>
                  </a:extLst>
                </a:hlinkClick>
              </a:rPr>
              <a:t> </a:t>
            </a:r>
            <a:endParaRPr sz="1100">
              <a:solidFill>
                <a:srgbClr val="333333"/>
              </a:solidFill>
              <a:latin typeface="Poppins"/>
              <a:ea typeface="Poppins"/>
              <a:cs typeface="Poppins"/>
              <a:sym typeface="Poppins"/>
            </a:endParaRPr>
          </a:p>
        </p:txBody>
      </p:sp>
      <p:sp>
        <p:nvSpPr>
          <p:cNvPr id="771" name="Google Shape;771;p60"/>
          <p:cNvSpPr txBox="1"/>
          <p:nvPr/>
        </p:nvSpPr>
        <p:spPr>
          <a:xfrm>
            <a:off x="385090" y="909480"/>
            <a:ext cx="16059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{{K8S_1}}</a:t>
            </a:r>
            <a:endParaRPr sz="900">
              <a:solidFill>
                <a:srgbClr val="333333"/>
              </a:solidFill>
              <a:latin typeface="Poppins"/>
              <a:ea typeface="Poppins"/>
              <a:cs typeface="Poppins"/>
              <a:sym typeface="Poppins"/>
            </a:endParaRPr>
          </a:p>
        </p:txBody>
      </p:sp>
      <p:sp>
        <p:nvSpPr>
          <p:cNvPr id="772" name="Google Shape;772;p60"/>
          <p:cNvSpPr txBox="1"/>
          <p:nvPr/>
        </p:nvSpPr>
        <p:spPr>
          <a:xfrm>
            <a:off x="1633470" y="909480"/>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{{K8C_1}}</a:t>
            </a:r>
            <a:endParaRPr b="1" sz="900">
              <a:solidFill>
                <a:srgbClr val="333333"/>
              </a:solidFill>
              <a:latin typeface="DM Sans"/>
              <a:ea typeface="DM Sans"/>
              <a:cs typeface="DM Sans"/>
              <a:sym typeface="DM Sans"/>
            </a:endParaRPr>
          </a:p>
        </p:txBody>
      </p:sp>
      <p:sp>
        <p:nvSpPr>
          <p:cNvPr id="773" name="Google Shape;773;p60"/>
          <p:cNvSpPr txBox="1"/>
          <p:nvPr/>
        </p:nvSpPr>
        <p:spPr>
          <a:xfrm>
            <a:off x="385090" y="1075974"/>
            <a:ext cx="16059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Poppins"/>
                <a:ea typeface="Poppins"/>
                <a:cs typeface="Poppins"/>
                <a:sym typeface="Poppins"/>
              </a:rPr>
              <a:t>{{K8S_2}}</a:t>
            </a:r>
            <a:endParaRPr sz="900">
              <a:solidFill>
                <a:srgbClr val="333333"/>
              </a:solidFill>
              <a:latin typeface="Poppins"/>
              <a:ea typeface="Poppins"/>
              <a:cs typeface="Poppins"/>
              <a:sym typeface="Poppins"/>
            </a:endParaRPr>
          </a:p>
          <a:p>
            <a:pPr indent="0" lvl="0" marL="0" rtl="0" algn="l">
              <a:lnSpc>
                <a:spcPct val="150000"/>
              </a:lnSpc>
              <a:spcBef>
                <a:spcPts val="0"/>
              </a:spcBef>
              <a:spcAft>
                <a:spcPts val="0"/>
              </a:spcAft>
              <a:buNone/>
            </a:pPr>
            <a:r>
              <a:t/>
            </a:r>
            <a:endParaRPr sz="900">
              <a:solidFill>
                <a:srgbClr val="333333"/>
              </a:solidFill>
              <a:latin typeface="Poppins"/>
              <a:ea typeface="Poppins"/>
              <a:cs typeface="Poppins"/>
              <a:sym typeface="Poppins"/>
            </a:endParaRPr>
          </a:p>
        </p:txBody>
      </p:sp>
      <p:sp>
        <p:nvSpPr>
          <p:cNvPr id="774" name="Google Shape;774;p60"/>
          <p:cNvSpPr txBox="1"/>
          <p:nvPr/>
        </p:nvSpPr>
        <p:spPr>
          <a:xfrm>
            <a:off x="1633470" y="1073429"/>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{{K8C_2}}</a:t>
            </a:r>
            <a:endParaRPr b="1" sz="900">
              <a:solidFill>
                <a:srgbClr val="333333"/>
              </a:solidFill>
              <a:latin typeface="DM Sans"/>
              <a:ea typeface="DM Sans"/>
              <a:cs typeface="DM Sans"/>
              <a:sym typeface="DM Sans"/>
            </a:endParaRPr>
          </a:p>
        </p:txBody>
      </p:sp>
      <p:sp>
        <p:nvSpPr>
          <p:cNvPr id="775" name="Google Shape;775;p60"/>
          <p:cNvSpPr txBox="1"/>
          <p:nvPr/>
        </p:nvSpPr>
        <p:spPr>
          <a:xfrm>
            <a:off x="385090" y="1242467"/>
            <a:ext cx="16059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Poppins"/>
                <a:ea typeface="Poppins"/>
                <a:cs typeface="Poppins"/>
                <a:sym typeface="Poppins"/>
              </a:rPr>
              <a:t>{{K8S_3}}</a:t>
            </a:r>
            <a:endParaRPr sz="900">
              <a:solidFill>
                <a:srgbClr val="333333"/>
              </a:solidFill>
              <a:latin typeface="Poppins"/>
              <a:ea typeface="Poppins"/>
              <a:cs typeface="Poppins"/>
              <a:sym typeface="Poppins"/>
            </a:endParaRPr>
          </a:p>
          <a:p>
            <a:pPr indent="0" lvl="0" marL="0" rtl="0" algn="l">
              <a:lnSpc>
                <a:spcPct val="150000"/>
              </a:lnSpc>
              <a:spcBef>
                <a:spcPts val="0"/>
              </a:spcBef>
              <a:spcAft>
                <a:spcPts val="0"/>
              </a:spcAft>
              <a:buNone/>
            </a:pPr>
            <a:r>
              <a:t/>
            </a:r>
            <a:endParaRPr sz="900">
              <a:solidFill>
                <a:srgbClr val="333333"/>
              </a:solidFill>
              <a:latin typeface="Poppins"/>
              <a:ea typeface="Poppins"/>
              <a:cs typeface="Poppins"/>
              <a:sym typeface="Poppins"/>
            </a:endParaRPr>
          </a:p>
        </p:txBody>
      </p:sp>
      <p:sp>
        <p:nvSpPr>
          <p:cNvPr id="776" name="Google Shape;776;p60"/>
          <p:cNvSpPr txBox="1"/>
          <p:nvPr/>
        </p:nvSpPr>
        <p:spPr>
          <a:xfrm>
            <a:off x="1633470" y="1237378"/>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{{K8C_3}}</a:t>
            </a:r>
            <a:endParaRPr b="1" sz="900">
              <a:solidFill>
                <a:srgbClr val="333333"/>
              </a:solidFill>
              <a:latin typeface="DM Sans"/>
              <a:ea typeface="DM Sans"/>
              <a:cs typeface="DM Sans"/>
              <a:sym typeface="DM Sans"/>
            </a:endParaRPr>
          </a:p>
        </p:txBody>
      </p:sp>
      <p:sp>
        <p:nvSpPr>
          <p:cNvPr id="777" name="Google Shape;777;p60"/>
          <p:cNvSpPr txBox="1"/>
          <p:nvPr/>
        </p:nvSpPr>
        <p:spPr>
          <a:xfrm>
            <a:off x="385090" y="1408961"/>
            <a:ext cx="16059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Poppins"/>
                <a:ea typeface="Poppins"/>
                <a:cs typeface="Poppins"/>
                <a:sym typeface="Poppins"/>
              </a:rPr>
              <a:t>{{K8S_4}}</a:t>
            </a:r>
            <a:endParaRPr sz="900">
              <a:solidFill>
                <a:srgbClr val="333333"/>
              </a:solidFill>
              <a:latin typeface="Poppins"/>
              <a:ea typeface="Poppins"/>
              <a:cs typeface="Poppins"/>
              <a:sym typeface="Poppins"/>
            </a:endParaRPr>
          </a:p>
          <a:p>
            <a:pPr indent="0" lvl="0" marL="0" rtl="0" algn="l">
              <a:lnSpc>
                <a:spcPct val="150000"/>
              </a:lnSpc>
              <a:spcBef>
                <a:spcPts val="0"/>
              </a:spcBef>
              <a:spcAft>
                <a:spcPts val="0"/>
              </a:spcAft>
              <a:buNone/>
            </a:pPr>
            <a:r>
              <a:t/>
            </a:r>
            <a:endParaRPr sz="900">
              <a:solidFill>
                <a:srgbClr val="333333"/>
              </a:solidFill>
              <a:latin typeface="Poppins"/>
              <a:ea typeface="Poppins"/>
              <a:cs typeface="Poppins"/>
              <a:sym typeface="Poppins"/>
            </a:endParaRPr>
          </a:p>
        </p:txBody>
      </p:sp>
      <p:sp>
        <p:nvSpPr>
          <p:cNvPr id="778" name="Google Shape;778;p60"/>
          <p:cNvSpPr txBox="1"/>
          <p:nvPr/>
        </p:nvSpPr>
        <p:spPr>
          <a:xfrm>
            <a:off x="1633470" y="1401326"/>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{{K8C_4}}</a:t>
            </a:r>
            <a:endParaRPr b="1" sz="900">
              <a:solidFill>
                <a:srgbClr val="333333"/>
              </a:solidFill>
              <a:latin typeface="DM Sans"/>
              <a:ea typeface="DM Sans"/>
              <a:cs typeface="DM Sans"/>
              <a:sym typeface="DM Sans"/>
            </a:endParaRPr>
          </a:p>
        </p:txBody>
      </p:sp>
      <p:sp>
        <p:nvSpPr>
          <p:cNvPr id="779" name="Google Shape;779;p60"/>
          <p:cNvSpPr txBox="1"/>
          <p:nvPr/>
        </p:nvSpPr>
        <p:spPr>
          <a:xfrm>
            <a:off x="385090" y="1575455"/>
            <a:ext cx="21138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Poppins"/>
                <a:ea typeface="Poppins"/>
                <a:cs typeface="Poppins"/>
                <a:sym typeface="Poppins"/>
              </a:rPr>
              <a:t>{{K8S_5}}</a:t>
            </a:r>
            <a:endParaRPr sz="900">
              <a:solidFill>
                <a:srgbClr val="333333"/>
              </a:solidFill>
              <a:latin typeface="Poppins"/>
              <a:ea typeface="Poppins"/>
              <a:cs typeface="Poppins"/>
              <a:sym typeface="Poppins"/>
            </a:endParaRPr>
          </a:p>
          <a:p>
            <a:pPr indent="0" lvl="0" marL="0" rtl="0" algn="l">
              <a:lnSpc>
                <a:spcPct val="100000"/>
              </a:lnSpc>
              <a:spcBef>
                <a:spcPts val="0"/>
              </a:spcBef>
              <a:spcAft>
                <a:spcPts val="0"/>
              </a:spcAft>
              <a:buNone/>
            </a:pPr>
            <a:r>
              <a:t/>
            </a:r>
            <a:endParaRPr sz="900">
              <a:solidFill>
                <a:srgbClr val="333333"/>
              </a:solidFill>
              <a:latin typeface="Poppins"/>
              <a:ea typeface="Poppins"/>
              <a:cs typeface="Poppins"/>
              <a:sym typeface="Poppins"/>
            </a:endParaRPr>
          </a:p>
        </p:txBody>
      </p:sp>
      <p:sp>
        <p:nvSpPr>
          <p:cNvPr id="780" name="Google Shape;780;p60"/>
          <p:cNvSpPr txBox="1"/>
          <p:nvPr/>
        </p:nvSpPr>
        <p:spPr>
          <a:xfrm>
            <a:off x="1633470" y="1565275"/>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{{K8C_5}}</a:t>
            </a:r>
            <a:endParaRPr b="1" sz="900">
              <a:solidFill>
                <a:srgbClr val="333333"/>
              </a:solidFill>
              <a:latin typeface="DM Sans"/>
              <a:ea typeface="DM Sans"/>
              <a:cs typeface="DM Sans"/>
              <a:sym typeface="DM Sans"/>
            </a:endParaRPr>
          </a:p>
        </p:txBody>
      </p:sp>
      <p:sp>
        <p:nvSpPr>
          <p:cNvPr id="781" name="Google Shape;781;p60"/>
          <p:cNvSpPr txBox="1"/>
          <p:nvPr/>
        </p:nvSpPr>
        <p:spPr>
          <a:xfrm>
            <a:off x="217670" y="1975057"/>
            <a:ext cx="2676900" cy="1581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lang="en" sz="1100">
                <a:solidFill>
                  <a:srgbClr val="333333"/>
                </a:solidFill>
                <a:latin typeface="Poppins"/>
                <a:ea typeface="Poppins"/>
                <a:cs typeface="Poppins"/>
                <a:sym typeface="Poppins"/>
              </a:rPr>
              <a:t>Total {{K8C_TOT}}</a:t>
            </a:r>
            <a:endParaRPr sz="1100">
              <a:solidFill>
                <a:srgbClr val="333333"/>
              </a:solidFill>
              <a:latin typeface="Poppins"/>
              <a:ea typeface="Poppins"/>
              <a:cs typeface="Poppins"/>
              <a:sym typeface="Poppins"/>
            </a:endParaRPr>
          </a:p>
        </p:txBody>
      </p:sp>
      <p:sp>
        <p:nvSpPr>
          <p:cNvPr id="782" name="Google Shape;782;p60"/>
          <p:cNvSpPr txBox="1"/>
          <p:nvPr/>
        </p:nvSpPr>
        <p:spPr>
          <a:xfrm>
            <a:off x="3238087" y="1038052"/>
            <a:ext cx="1680900" cy="1530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6">
                  <a:extLst>
                    <a:ext uri="{A12FA001-AC4F-418D-AE19-62706E023703}">
                      <ahyp:hlinkClr val="tx"/>
                    </a:ext>
                  </a:extLst>
                </a:hlinkClick>
              </a:rPr>
              <a:t>Wiz Connector Deployed</a:t>
            </a:r>
            <a:endParaRPr sz="900">
              <a:solidFill>
                <a:srgbClr val="333333"/>
              </a:solidFill>
              <a:latin typeface="Poppins"/>
              <a:ea typeface="Poppins"/>
              <a:cs typeface="Poppins"/>
              <a:sym typeface="Poppins"/>
            </a:endParaRPr>
          </a:p>
        </p:txBody>
      </p:sp>
      <p:sp>
        <p:nvSpPr>
          <p:cNvPr id="783" name="Google Shape;783;p60"/>
          <p:cNvSpPr txBox="1"/>
          <p:nvPr/>
        </p:nvSpPr>
        <p:spPr>
          <a:xfrm>
            <a:off x="4766331" y="1038062"/>
            <a:ext cx="1003500" cy="1530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{{KC_WC}}</a:t>
            </a:r>
            <a:endParaRPr b="1" sz="1000">
              <a:solidFill>
                <a:srgbClr val="333333"/>
              </a:solidFill>
              <a:latin typeface="DM Sans"/>
              <a:ea typeface="DM Sans"/>
              <a:cs typeface="DM Sans"/>
              <a:sym typeface="DM Sans"/>
            </a:endParaRPr>
          </a:p>
        </p:txBody>
      </p:sp>
      <p:sp>
        <p:nvSpPr>
          <p:cNvPr id="784" name="Google Shape;784;p60"/>
          <p:cNvSpPr txBox="1"/>
          <p:nvPr/>
        </p:nvSpPr>
        <p:spPr>
          <a:xfrm>
            <a:off x="3238089" y="1213479"/>
            <a:ext cx="1909200" cy="1548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7">
                  <a:extLst>
                    <a:ext uri="{A12FA001-AC4F-418D-AE19-62706E023703}">
                      <ahyp:hlinkClr val="tx"/>
                    </a:ext>
                  </a:extLst>
                </a:hlinkClick>
              </a:rPr>
              <a:t>Admission Controller</a:t>
            </a:r>
            <a:endParaRPr sz="900">
              <a:solidFill>
                <a:srgbClr val="333333"/>
              </a:solidFill>
              <a:latin typeface="Poppins"/>
              <a:ea typeface="Poppins"/>
              <a:cs typeface="Poppins"/>
              <a:sym typeface="Poppins"/>
            </a:endParaRPr>
          </a:p>
        </p:txBody>
      </p:sp>
      <p:sp>
        <p:nvSpPr>
          <p:cNvPr id="785" name="Google Shape;785;p60"/>
          <p:cNvSpPr txBox="1"/>
          <p:nvPr/>
        </p:nvSpPr>
        <p:spPr>
          <a:xfrm>
            <a:off x="4764913" y="1211115"/>
            <a:ext cx="1003500" cy="1530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{{KC_AC}}</a:t>
            </a:r>
            <a:endParaRPr b="1" sz="1000">
              <a:solidFill>
                <a:srgbClr val="333333"/>
              </a:solidFill>
              <a:latin typeface="DM Sans"/>
              <a:ea typeface="DM Sans"/>
              <a:cs typeface="DM Sans"/>
              <a:sym typeface="DM Sans"/>
            </a:endParaRPr>
          </a:p>
        </p:txBody>
      </p:sp>
      <p:cxnSp>
        <p:nvCxnSpPr>
          <p:cNvPr id="786" name="Google Shape;786;p60"/>
          <p:cNvCxnSpPr/>
          <p:nvPr/>
        </p:nvCxnSpPr>
        <p:spPr>
          <a:xfrm>
            <a:off x="150000" y="2399129"/>
            <a:ext cx="8776500" cy="0"/>
          </a:xfrm>
          <a:prstGeom prst="straightConnector1">
            <a:avLst/>
          </a:prstGeom>
          <a:noFill/>
          <a:ln cap="flat" cmpd="sng" w="14300">
            <a:solidFill>
              <a:srgbClr val="0054EC"/>
            </a:solidFill>
            <a:prstDash val="solid"/>
            <a:round/>
            <a:headEnd len="med" w="med" type="none"/>
            <a:tailEnd len="med" w="med" type="none"/>
          </a:ln>
        </p:spPr>
      </p:cxnSp>
      <p:sp>
        <p:nvSpPr>
          <p:cNvPr id="787" name="Google Shape;787;p60"/>
          <p:cNvSpPr txBox="1"/>
          <p:nvPr/>
        </p:nvSpPr>
        <p:spPr>
          <a:xfrm>
            <a:off x="300000" y="2950479"/>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Cloud (Workload/K8s)</a:t>
            </a:r>
            <a:endParaRPr sz="900">
              <a:solidFill>
                <a:srgbClr val="333333"/>
              </a:solidFill>
              <a:latin typeface="Poppins"/>
              <a:ea typeface="Poppins"/>
              <a:cs typeface="Poppins"/>
              <a:sym typeface="Poppins"/>
            </a:endParaRPr>
          </a:p>
        </p:txBody>
      </p:sp>
      <p:sp>
        <p:nvSpPr>
          <p:cNvPr id="788" name="Google Shape;788;p60"/>
          <p:cNvSpPr txBox="1"/>
          <p:nvPr/>
        </p:nvSpPr>
        <p:spPr>
          <a:xfrm>
            <a:off x="1751486" y="2964986"/>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{{CL_CLD}}</a:t>
            </a:r>
            <a:endParaRPr b="1" sz="900">
              <a:solidFill>
                <a:srgbClr val="333333"/>
              </a:solidFill>
              <a:latin typeface="DM Sans"/>
              <a:ea typeface="DM Sans"/>
              <a:cs typeface="DM Sans"/>
              <a:sym typeface="DM Sans"/>
            </a:endParaRPr>
          </a:p>
        </p:txBody>
      </p:sp>
      <p:sp>
        <p:nvSpPr>
          <p:cNvPr id="789" name="Google Shape;789;p60"/>
          <p:cNvSpPr txBox="1"/>
          <p:nvPr/>
        </p:nvSpPr>
        <p:spPr>
          <a:xfrm>
            <a:off x="300000" y="3152930"/>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Store (Registry Scans)</a:t>
            </a:r>
            <a:endParaRPr sz="900">
              <a:solidFill>
                <a:srgbClr val="333333"/>
              </a:solidFill>
              <a:latin typeface="Poppins"/>
              <a:ea typeface="Poppins"/>
              <a:cs typeface="Poppins"/>
              <a:sym typeface="Poppins"/>
            </a:endParaRPr>
          </a:p>
        </p:txBody>
      </p:sp>
      <p:sp>
        <p:nvSpPr>
          <p:cNvPr id="790" name="Google Shape;790;p60"/>
          <p:cNvSpPr txBox="1"/>
          <p:nvPr/>
        </p:nvSpPr>
        <p:spPr>
          <a:xfrm>
            <a:off x="1751486" y="3167437"/>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{{CL_STR}}</a:t>
            </a:r>
            <a:endParaRPr b="1" sz="900">
              <a:solidFill>
                <a:srgbClr val="333333"/>
              </a:solidFill>
              <a:latin typeface="DM Sans"/>
              <a:ea typeface="DM Sans"/>
              <a:cs typeface="DM Sans"/>
              <a:sym typeface="DM Sans"/>
            </a:endParaRPr>
          </a:p>
        </p:txBody>
      </p:sp>
      <p:sp>
        <p:nvSpPr>
          <p:cNvPr id="791" name="Google Shape;791;p60"/>
          <p:cNvSpPr txBox="1"/>
          <p:nvPr/>
        </p:nvSpPr>
        <p:spPr>
          <a:xfrm>
            <a:off x="300000" y="3355380"/>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Runtime (Sensor)</a:t>
            </a:r>
            <a:endParaRPr sz="900">
              <a:solidFill>
                <a:srgbClr val="333333"/>
              </a:solidFill>
              <a:latin typeface="Poppins"/>
              <a:ea typeface="Poppins"/>
              <a:cs typeface="Poppins"/>
              <a:sym typeface="Poppins"/>
            </a:endParaRPr>
          </a:p>
        </p:txBody>
      </p:sp>
      <p:sp>
        <p:nvSpPr>
          <p:cNvPr id="792" name="Google Shape;792;p60"/>
          <p:cNvSpPr txBox="1"/>
          <p:nvPr/>
        </p:nvSpPr>
        <p:spPr>
          <a:xfrm>
            <a:off x="1751486" y="3369887"/>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{{CL_RT}}</a:t>
            </a:r>
            <a:endParaRPr b="1" sz="900">
              <a:solidFill>
                <a:srgbClr val="333333"/>
              </a:solidFill>
              <a:latin typeface="DM Sans"/>
              <a:ea typeface="DM Sans"/>
              <a:cs typeface="DM Sans"/>
              <a:sym typeface="DM Sans"/>
            </a:endParaRPr>
          </a:p>
        </p:txBody>
      </p:sp>
      <p:sp>
        <p:nvSpPr>
          <p:cNvPr id="793" name="Google Shape;793;p60"/>
          <p:cNvSpPr txBox="1"/>
          <p:nvPr/>
        </p:nvSpPr>
        <p:spPr>
          <a:xfrm>
            <a:off x="300000" y="3557831"/>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Code (Wiz Code)</a:t>
            </a:r>
            <a:endParaRPr sz="900">
              <a:solidFill>
                <a:srgbClr val="333333"/>
              </a:solidFill>
              <a:latin typeface="Poppins"/>
              <a:ea typeface="Poppins"/>
              <a:cs typeface="Poppins"/>
              <a:sym typeface="Poppins"/>
            </a:endParaRPr>
          </a:p>
        </p:txBody>
      </p:sp>
      <p:sp>
        <p:nvSpPr>
          <p:cNvPr id="794" name="Google Shape;794;p60"/>
          <p:cNvSpPr txBox="1"/>
          <p:nvPr/>
        </p:nvSpPr>
        <p:spPr>
          <a:xfrm>
            <a:off x="1751486" y="3572338"/>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{{CL_CODE}}</a:t>
            </a:r>
            <a:endParaRPr b="1" sz="900">
              <a:solidFill>
                <a:srgbClr val="333333"/>
              </a:solidFill>
              <a:latin typeface="DM Sans"/>
              <a:ea typeface="DM Sans"/>
              <a:cs typeface="DM Sans"/>
              <a:sym typeface="DM Sans"/>
            </a:endParaRPr>
          </a:p>
        </p:txBody>
      </p:sp>
      <p:sp>
        <p:nvSpPr>
          <p:cNvPr id="795" name="Google Shape;795;p60"/>
          <p:cNvSpPr txBox="1"/>
          <p:nvPr/>
        </p:nvSpPr>
        <p:spPr>
          <a:xfrm>
            <a:off x="300000" y="3760282"/>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Build (Wiz CLI + Tagged Images)</a:t>
            </a:r>
            <a:endParaRPr sz="900">
              <a:solidFill>
                <a:srgbClr val="333333"/>
              </a:solidFill>
              <a:latin typeface="Poppins"/>
              <a:ea typeface="Poppins"/>
              <a:cs typeface="Poppins"/>
              <a:sym typeface="Poppins"/>
            </a:endParaRPr>
          </a:p>
        </p:txBody>
      </p:sp>
      <p:sp>
        <p:nvSpPr>
          <p:cNvPr id="796" name="Google Shape;796;p60"/>
          <p:cNvSpPr txBox="1"/>
          <p:nvPr/>
        </p:nvSpPr>
        <p:spPr>
          <a:xfrm>
            <a:off x="1751486" y="3774789"/>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{{CL_BLD}}</a:t>
            </a:r>
            <a:endParaRPr b="1" sz="900">
              <a:solidFill>
                <a:srgbClr val="333333"/>
              </a:solidFill>
              <a:latin typeface="DM Sans"/>
              <a:ea typeface="DM Sans"/>
              <a:cs typeface="DM Sans"/>
              <a:sym typeface="DM Sans"/>
            </a:endParaRPr>
          </a:p>
        </p:txBody>
      </p:sp>
      <p:sp>
        <p:nvSpPr>
          <p:cNvPr id="797" name="Google Shape;797;p60"/>
          <p:cNvSpPr txBox="1"/>
          <p:nvPr/>
        </p:nvSpPr>
        <p:spPr>
          <a:xfrm>
            <a:off x="300000" y="3962733"/>
            <a:ext cx="3287400" cy="1806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Deploy (Admission Controller)</a:t>
            </a:r>
            <a:endParaRPr sz="900">
              <a:solidFill>
                <a:srgbClr val="333333"/>
              </a:solidFill>
              <a:latin typeface="Poppins"/>
              <a:ea typeface="Poppins"/>
              <a:cs typeface="Poppins"/>
              <a:sym typeface="Poppins"/>
            </a:endParaRPr>
          </a:p>
        </p:txBody>
      </p:sp>
      <p:sp>
        <p:nvSpPr>
          <p:cNvPr id="798" name="Google Shape;798;p60"/>
          <p:cNvSpPr txBox="1"/>
          <p:nvPr/>
        </p:nvSpPr>
        <p:spPr>
          <a:xfrm>
            <a:off x="1751486" y="3977239"/>
            <a:ext cx="1605900" cy="1806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{{CL_DEP}}</a:t>
            </a:r>
            <a:endParaRPr b="1" sz="900">
              <a:solidFill>
                <a:srgbClr val="333333"/>
              </a:solidFill>
              <a:latin typeface="DM Sans"/>
              <a:ea typeface="DM Sans"/>
              <a:cs typeface="DM Sans"/>
              <a:sym typeface="DM Sans"/>
            </a:endParaRPr>
          </a:p>
        </p:txBody>
      </p:sp>
      <p:sp>
        <p:nvSpPr>
          <p:cNvPr id="799" name="Google Shape;799;p60"/>
          <p:cNvSpPr txBox="1"/>
          <p:nvPr/>
        </p:nvSpPr>
        <p:spPr>
          <a:xfrm>
            <a:off x="223925" y="4650100"/>
            <a:ext cx="32019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lang="en" sz="1100">
                <a:solidFill>
                  <a:srgbClr val="333333"/>
                </a:solidFill>
                <a:latin typeface="Poppins"/>
                <a:ea typeface="Poppins"/>
                <a:cs typeface="Poppins"/>
                <a:sym typeface="Poppins"/>
              </a:rPr>
              <a:t>Total Images {{TI}}</a:t>
            </a:r>
            <a:endParaRPr sz="1100">
              <a:solidFill>
                <a:srgbClr val="333333"/>
              </a:solidFill>
              <a:latin typeface="Poppins"/>
              <a:ea typeface="Poppins"/>
              <a:cs typeface="Poppins"/>
              <a:sym typeface="Poppins"/>
            </a:endParaRPr>
          </a:p>
        </p:txBody>
      </p:sp>
      <p:sp>
        <p:nvSpPr>
          <p:cNvPr id="800" name="Google Shape;800;p60"/>
          <p:cNvSpPr txBox="1"/>
          <p:nvPr/>
        </p:nvSpPr>
        <p:spPr>
          <a:xfrm>
            <a:off x="3199649" y="653779"/>
            <a:ext cx="2688900" cy="279000"/>
          </a:xfrm>
          <a:prstGeom prst="rect">
            <a:avLst/>
          </a:prstGeom>
          <a:noFill/>
          <a:ln>
            <a:noFill/>
          </a:ln>
        </p:spPr>
        <p:txBody>
          <a:bodyPr anchorCtr="0" anchor="ctr" bIns="91775" lIns="91775" spcFirstLastPara="1" rIns="91775" wrap="square" tIns="91775">
            <a:noAutofit/>
          </a:bodyPr>
          <a:lstStyle/>
          <a:p>
            <a:pPr indent="0" lvl="0" marL="0" rtl="0" algn="ctr">
              <a:lnSpc>
                <a:spcPct val="100000"/>
              </a:lnSpc>
              <a:spcBef>
                <a:spcPts val="0"/>
              </a:spcBef>
              <a:spcAft>
                <a:spcPts val="0"/>
              </a:spcAft>
              <a:buNone/>
            </a:pPr>
            <a:r>
              <a:rPr lang="en" sz="1100">
                <a:solidFill>
                  <a:srgbClr val="333333"/>
                </a:solidFill>
                <a:latin typeface="Poppins"/>
                <a:ea typeface="Poppins"/>
                <a:cs typeface="Poppins"/>
                <a:sym typeface="Poppins"/>
              </a:rPr>
              <a:t>Kubernetes Coverage</a:t>
            </a:r>
            <a:endParaRPr sz="1100">
              <a:solidFill>
                <a:srgbClr val="333333"/>
              </a:solidFill>
              <a:latin typeface="Poppins"/>
              <a:ea typeface="Poppins"/>
              <a:cs typeface="Poppins"/>
              <a:sym typeface="Poppins"/>
            </a:endParaRPr>
          </a:p>
        </p:txBody>
      </p:sp>
      <p:sp>
        <p:nvSpPr>
          <p:cNvPr id="801" name="Google Shape;801;p60"/>
          <p:cNvSpPr txBox="1"/>
          <p:nvPr/>
        </p:nvSpPr>
        <p:spPr>
          <a:xfrm>
            <a:off x="6193748" y="649827"/>
            <a:ext cx="2688900" cy="300900"/>
          </a:xfrm>
          <a:prstGeom prst="rect">
            <a:avLst/>
          </a:prstGeom>
          <a:noFill/>
          <a:ln>
            <a:noFill/>
          </a:ln>
        </p:spPr>
        <p:txBody>
          <a:bodyPr anchorCtr="0" anchor="ctr" bIns="91775" lIns="91775" spcFirstLastPara="1" rIns="91775" wrap="square" tIns="91775">
            <a:noAutofit/>
          </a:bodyPr>
          <a:lstStyle/>
          <a:p>
            <a:pPr indent="0" lvl="0" marL="0" rtl="0" algn="ctr">
              <a:lnSpc>
                <a:spcPct val="100000"/>
              </a:lnSpc>
              <a:spcBef>
                <a:spcPts val="0"/>
              </a:spcBef>
              <a:spcAft>
                <a:spcPts val="0"/>
              </a:spcAft>
              <a:buNone/>
            </a:pPr>
            <a:r>
              <a:rPr lang="en" sz="1100">
                <a:solidFill>
                  <a:srgbClr val="333333"/>
                </a:solidFill>
                <a:latin typeface="Poppins"/>
                <a:ea typeface="Poppins"/>
                <a:cs typeface="Poppins"/>
                <a:sym typeface="Poppins"/>
              </a:rPr>
              <a:t>Gaps &amp; Exposure</a:t>
            </a:r>
            <a:endParaRPr sz="1100">
              <a:solidFill>
                <a:srgbClr val="333333"/>
              </a:solidFill>
              <a:latin typeface="Poppins"/>
              <a:ea typeface="Poppins"/>
              <a:cs typeface="Poppins"/>
              <a:sym typeface="Poppins"/>
            </a:endParaRPr>
          </a:p>
        </p:txBody>
      </p:sp>
      <p:sp>
        <p:nvSpPr>
          <p:cNvPr id="802" name="Google Shape;802;p60"/>
          <p:cNvSpPr txBox="1"/>
          <p:nvPr/>
        </p:nvSpPr>
        <p:spPr>
          <a:xfrm>
            <a:off x="205545" y="2441805"/>
            <a:ext cx="3287400" cy="301200"/>
          </a:xfrm>
          <a:prstGeom prst="rect">
            <a:avLst/>
          </a:prstGeom>
          <a:noFill/>
          <a:ln>
            <a:noFill/>
          </a:ln>
        </p:spPr>
        <p:txBody>
          <a:bodyPr anchorCtr="0" anchor="ctr" bIns="91775" lIns="91775" spcFirstLastPara="1" rIns="91775" wrap="square" tIns="91775">
            <a:noAutofit/>
          </a:bodyPr>
          <a:lstStyle/>
          <a:p>
            <a:pPr indent="0" lvl="0" marL="0" rtl="0" algn="ctr">
              <a:lnSpc>
                <a:spcPct val="100000"/>
              </a:lnSpc>
              <a:spcBef>
                <a:spcPts val="0"/>
              </a:spcBef>
              <a:spcAft>
                <a:spcPts val="0"/>
              </a:spcAft>
              <a:buNone/>
            </a:pPr>
            <a:r>
              <a:rPr lang="en" sz="1100" u="sng">
                <a:solidFill>
                  <a:srgbClr val="0055F5"/>
                </a:solidFill>
                <a:latin typeface="Poppins"/>
                <a:ea typeface="Poppins"/>
                <a:cs typeface="Poppins"/>
                <a:sym typeface="Poppins"/>
                <a:hlinkClick r:id="rId8">
                  <a:extLst>
                    <a:ext uri="{A12FA001-AC4F-418D-AE19-62706E023703}">
                      <ahyp:hlinkClr val="tx"/>
                    </a:ext>
                  </a:extLst>
                </a:hlinkClick>
              </a:rPr>
              <a:t>Container Images Lifecycle </a:t>
            </a:r>
            <a:r>
              <a:rPr lang="en" sz="1300">
                <a:solidFill>
                  <a:srgbClr val="0055F5"/>
                </a:solidFill>
                <a:uFill>
                  <a:noFill/>
                </a:uFill>
                <a:latin typeface="Poppins"/>
                <a:ea typeface="Poppins"/>
                <a:cs typeface="Poppins"/>
                <a:sym typeface="Poppins"/>
                <a:hlinkClick r:id="rId9">
                  <a:extLst>
                    <a:ext uri="{A12FA001-AC4F-418D-AE19-62706E023703}">
                      <ahyp:hlinkClr val="tx"/>
                    </a:ext>
                  </a:extLst>
                </a:hlinkClick>
              </a:rPr>
              <a:t>↗</a:t>
            </a:r>
            <a:r>
              <a:rPr lang="en" sz="1100">
                <a:solidFill>
                  <a:srgbClr val="0055F5"/>
                </a:solidFill>
                <a:uFill>
                  <a:noFill/>
                </a:uFill>
                <a:latin typeface="Poppins"/>
                <a:ea typeface="Poppins"/>
                <a:cs typeface="Poppins"/>
                <a:sym typeface="Poppins"/>
                <a:hlinkClick r:id="rId10">
                  <a:extLst>
                    <a:ext uri="{A12FA001-AC4F-418D-AE19-62706E023703}">
                      <ahyp:hlinkClr val="tx"/>
                    </a:ext>
                  </a:extLst>
                </a:hlinkClick>
              </a:rPr>
              <a:t> </a:t>
            </a:r>
            <a:endParaRPr sz="1100">
              <a:solidFill>
                <a:srgbClr val="333333"/>
              </a:solidFill>
              <a:latin typeface="Poppins"/>
              <a:ea typeface="Poppins"/>
              <a:cs typeface="Poppins"/>
              <a:sym typeface="Poppins"/>
            </a:endParaRPr>
          </a:p>
        </p:txBody>
      </p:sp>
      <p:sp>
        <p:nvSpPr>
          <p:cNvPr id="803" name="Google Shape;803;p60"/>
          <p:cNvSpPr/>
          <p:nvPr/>
        </p:nvSpPr>
        <p:spPr>
          <a:xfrm>
            <a:off x="6419250" y="2723725"/>
            <a:ext cx="2579100" cy="2316300"/>
          </a:xfrm>
          <a:prstGeom prst="roundRect">
            <a:avLst>
              <a:gd fmla="val 16667" name="adj"/>
            </a:avLst>
          </a:prstGeom>
          <a:noFill/>
          <a:ln cap="flat" cmpd="sng" w="9575">
            <a:solidFill>
              <a:srgbClr val="595959"/>
            </a:solidFill>
            <a:prstDash val="solid"/>
            <a:round/>
            <a:headEnd len="sm" w="sm" type="none"/>
            <a:tailEnd len="sm" w="sm" type="none"/>
          </a:ln>
        </p:spPr>
        <p:txBody>
          <a:bodyPr anchorCtr="0" anchor="ctr" bIns="91775" lIns="91775" spcFirstLastPara="1" rIns="91775" wrap="square" tIns="91775">
            <a:noAutofit/>
          </a:bodyPr>
          <a:lstStyle/>
          <a:p>
            <a:pPr indent="0" lvl="0" marL="0" rtl="0" algn="ctr">
              <a:spcBef>
                <a:spcPts val="0"/>
              </a:spcBef>
              <a:spcAft>
                <a:spcPts val="0"/>
              </a:spcAft>
              <a:buNone/>
            </a:pPr>
            <a:r>
              <a:t/>
            </a:r>
            <a:endParaRPr sz="1400">
              <a:latin typeface="DM Sans"/>
              <a:ea typeface="DM Sans"/>
              <a:cs typeface="DM Sans"/>
              <a:sym typeface="DM Sans"/>
            </a:endParaRPr>
          </a:p>
        </p:txBody>
      </p:sp>
      <p:sp>
        <p:nvSpPr>
          <p:cNvPr id="804" name="Google Shape;804;p60"/>
          <p:cNvSpPr txBox="1"/>
          <p:nvPr/>
        </p:nvSpPr>
        <p:spPr>
          <a:xfrm>
            <a:off x="6421350" y="4112573"/>
            <a:ext cx="25710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lang="en" sz="1000">
                <a:solidFill>
                  <a:srgbClr val="333333"/>
                </a:solidFill>
                <a:latin typeface="Poppins"/>
                <a:ea typeface="Poppins"/>
                <a:cs typeface="Poppins"/>
                <a:sym typeface="Poppins"/>
              </a:rPr>
              <a:t>Total Registries  {{R_TOT}}</a:t>
            </a:r>
            <a:endParaRPr sz="1000">
              <a:solidFill>
                <a:srgbClr val="333333"/>
              </a:solidFill>
              <a:latin typeface="Poppins"/>
              <a:ea typeface="Poppins"/>
              <a:cs typeface="Poppins"/>
              <a:sym typeface="Poppins"/>
            </a:endParaRPr>
          </a:p>
        </p:txBody>
      </p:sp>
      <p:sp>
        <p:nvSpPr>
          <p:cNvPr id="805" name="Google Shape;805;p60"/>
          <p:cNvSpPr txBox="1"/>
          <p:nvPr/>
        </p:nvSpPr>
        <p:spPr>
          <a:xfrm>
            <a:off x="6482720" y="3090648"/>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DM Sans"/>
                <a:ea typeface="DM Sans"/>
                <a:cs typeface="DM Sans"/>
                <a:sym typeface="DM Sans"/>
              </a:rPr>
              <a:t>{{R_2}}</a:t>
            </a:r>
            <a:endParaRPr sz="900">
              <a:solidFill>
                <a:srgbClr val="333333"/>
              </a:solidFill>
              <a:latin typeface="DM Sans"/>
              <a:ea typeface="DM Sans"/>
              <a:cs typeface="DM Sans"/>
              <a:sym typeface="DM Sans"/>
            </a:endParaRPr>
          </a:p>
          <a:p>
            <a:pPr indent="0" lvl="0" marL="0" rtl="0" algn="l">
              <a:lnSpc>
                <a:spcPct val="150000"/>
              </a:lnSpc>
              <a:spcBef>
                <a:spcPts val="0"/>
              </a:spcBef>
              <a:spcAft>
                <a:spcPts val="0"/>
              </a:spcAft>
              <a:buNone/>
            </a:pPr>
            <a:r>
              <a:t/>
            </a:r>
            <a:endParaRPr sz="900">
              <a:solidFill>
                <a:srgbClr val="333333"/>
              </a:solidFill>
              <a:latin typeface="DM Sans"/>
              <a:ea typeface="DM Sans"/>
              <a:cs typeface="DM Sans"/>
              <a:sym typeface="DM Sans"/>
            </a:endParaRPr>
          </a:p>
        </p:txBody>
      </p:sp>
      <p:sp>
        <p:nvSpPr>
          <p:cNvPr id="806" name="Google Shape;806;p60"/>
          <p:cNvSpPr txBox="1"/>
          <p:nvPr/>
        </p:nvSpPr>
        <p:spPr>
          <a:xfrm>
            <a:off x="6595982" y="3077858"/>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{{RC_2}}</a:t>
            </a:r>
            <a:endParaRPr sz="900">
              <a:solidFill>
                <a:srgbClr val="333333"/>
              </a:solidFill>
              <a:latin typeface="Poppins"/>
              <a:ea typeface="Poppins"/>
              <a:cs typeface="Poppins"/>
              <a:sym typeface="Poppins"/>
            </a:endParaRPr>
          </a:p>
        </p:txBody>
      </p:sp>
      <p:sp>
        <p:nvSpPr>
          <p:cNvPr id="807" name="Google Shape;807;p60"/>
          <p:cNvSpPr txBox="1"/>
          <p:nvPr/>
        </p:nvSpPr>
        <p:spPr>
          <a:xfrm>
            <a:off x="6482720" y="3275456"/>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DM Sans"/>
                <a:ea typeface="DM Sans"/>
                <a:cs typeface="DM Sans"/>
                <a:sym typeface="DM Sans"/>
              </a:rPr>
              <a:t>{{R_3}}</a:t>
            </a:r>
            <a:endParaRPr sz="900">
              <a:solidFill>
                <a:srgbClr val="333333"/>
              </a:solidFill>
              <a:latin typeface="DM Sans"/>
              <a:ea typeface="DM Sans"/>
              <a:cs typeface="DM Sans"/>
              <a:sym typeface="DM Sans"/>
            </a:endParaRPr>
          </a:p>
          <a:p>
            <a:pPr indent="0" lvl="0" marL="0" rtl="0" algn="l">
              <a:lnSpc>
                <a:spcPct val="150000"/>
              </a:lnSpc>
              <a:spcBef>
                <a:spcPts val="0"/>
              </a:spcBef>
              <a:spcAft>
                <a:spcPts val="0"/>
              </a:spcAft>
              <a:buNone/>
            </a:pPr>
            <a:r>
              <a:t/>
            </a:r>
            <a:endParaRPr sz="900">
              <a:solidFill>
                <a:srgbClr val="333333"/>
              </a:solidFill>
              <a:latin typeface="DM Sans"/>
              <a:ea typeface="DM Sans"/>
              <a:cs typeface="DM Sans"/>
              <a:sym typeface="DM Sans"/>
            </a:endParaRPr>
          </a:p>
        </p:txBody>
      </p:sp>
      <p:sp>
        <p:nvSpPr>
          <p:cNvPr id="808" name="Google Shape;808;p60"/>
          <p:cNvSpPr txBox="1"/>
          <p:nvPr/>
        </p:nvSpPr>
        <p:spPr>
          <a:xfrm>
            <a:off x="6595982" y="3263116"/>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{{RC_3}}</a:t>
            </a:r>
            <a:endParaRPr sz="900">
              <a:solidFill>
                <a:srgbClr val="333333"/>
              </a:solidFill>
              <a:latin typeface="Poppins"/>
              <a:ea typeface="Poppins"/>
              <a:cs typeface="Poppins"/>
              <a:sym typeface="Poppins"/>
            </a:endParaRPr>
          </a:p>
        </p:txBody>
      </p:sp>
      <p:sp>
        <p:nvSpPr>
          <p:cNvPr id="809" name="Google Shape;809;p60"/>
          <p:cNvSpPr txBox="1"/>
          <p:nvPr/>
        </p:nvSpPr>
        <p:spPr>
          <a:xfrm>
            <a:off x="6482720" y="3460264"/>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Clr>
                <a:srgbClr val="000000"/>
              </a:buClr>
              <a:buSzPts val="1100"/>
              <a:buFont typeface="Arial"/>
              <a:buNone/>
            </a:pPr>
            <a:r>
              <a:rPr lang="en" sz="900">
                <a:solidFill>
                  <a:srgbClr val="333333"/>
                </a:solidFill>
                <a:latin typeface="DM Sans"/>
                <a:ea typeface="DM Sans"/>
                <a:cs typeface="DM Sans"/>
                <a:sym typeface="DM Sans"/>
              </a:rPr>
              <a:t>{{R_4}}</a:t>
            </a:r>
            <a:endParaRPr sz="900">
              <a:solidFill>
                <a:srgbClr val="333333"/>
              </a:solidFill>
              <a:latin typeface="DM Sans"/>
              <a:ea typeface="DM Sans"/>
              <a:cs typeface="DM Sans"/>
              <a:sym typeface="DM Sans"/>
            </a:endParaRPr>
          </a:p>
          <a:p>
            <a:pPr indent="0" lvl="0" marL="0" rtl="0" algn="l">
              <a:lnSpc>
                <a:spcPct val="150000"/>
              </a:lnSpc>
              <a:spcBef>
                <a:spcPts val="0"/>
              </a:spcBef>
              <a:spcAft>
                <a:spcPts val="0"/>
              </a:spcAft>
              <a:buNone/>
            </a:pPr>
            <a:r>
              <a:t/>
            </a:r>
            <a:endParaRPr sz="900">
              <a:solidFill>
                <a:srgbClr val="333333"/>
              </a:solidFill>
              <a:latin typeface="DM Sans"/>
              <a:ea typeface="DM Sans"/>
              <a:cs typeface="DM Sans"/>
              <a:sym typeface="DM Sans"/>
            </a:endParaRPr>
          </a:p>
        </p:txBody>
      </p:sp>
      <p:sp>
        <p:nvSpPr>
          <p:cNvPr id="810" name="Google Shape;810;p60"/>
          <p:cNvSpPr txBox="1"/>
          <p:nvPr/>
        </p:nvSpPr>
        <p:spPr>
          <a:xfrm>
            <a:off x="6595982" y="3448374"/>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{{RC_4}}</a:t>
            </a:r>
            <a:endParaRPr sz="900">
              <a:solidFill>
                <a:srgbClr val="333333"/>
              </a:solidFill>
              <a:latin typeface="Poppins"/>
              <a:ea typeface="Poppins"/>
              <a:cs typeface="Poppins"/>
              <a:sym typeface="Poppins"/>
            </a:endParaRPr>
          </a:p>
        </p:txBody>
      </p:sp>
      <p:sp>
        <p:nvSpPr>
          <p:cNvPr id="811" name="Google Shape;811;p60"/>
          <p:cNvSpPr txBox="1"/>
          <p:nvPr/>
        </p:nvSpPr>
        <p:spPr>
          <a:xfrm>
            <a:off x="6482720" y="3645072"/>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DM Sans"/>
                <a:ea typeface="DM Sans"/>
                <a:cs typeface="DM Sans"/>
                <a:sym typeface="DM Sans"/>
              </a:rPr>
              <a:t>{{R_5}}</a:t>
            </a:r>
            <a:endParaRPr sz="900">
              <a:solidFill>
                <a:srgbClr val="333333"/>
              </a:solidFill>
              <a:latin typeface="DM Sans"/>
              <a:ea typeface="DM Sans"/>
              <a:cs typeface="DM Sans"/>
              <a:sym typeface="DM Sans"/>
            </a:endParaRPr>
          </a:p>
        </p:txBody>
      </p:sp>
      <p:sp>
        <p:nvSpPr>
          <p:cNvPr id="812" name="Google Shape;812;p60"/>
          <p:cNvSpPr txBox="1"/>
          <p:nvPr/>
        </p:nvSpPr>
        <p:spPr>
          <a:xfrm>
            <a:off x="6595982" y="3633632"/>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{{RC_5}}</a:t>
            </a:r>
            <a:endParaRPr sz="900">
              <a:solidFill>
                <a:srgbClr val="333333"/>
              </a:solidFill>
              <a:latin typeface="Poppins"/>
              <a:ea typeface="Poppins"/>
              <a:cs typeface="Poppins"/>
              <a:sym typeface="Poppins"/>
            </a:endParaRPr>
          </a:p>
        </p:txBody>
      </p:sp>
      <p:sp>
        <p:nvSpPr>
          <p:cNvPr id="813" name="Google Shape;813;p60"/>
          <p:cNvSpPr txBox="1"/>
          <p:nvPr/>
        </p:nvSpPr>
        <p:spPr>
          <a:xfrm>
            <a:off x="6482720" y="3829881"/>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DM Sans"/>
                <a:ea typeface="DM Sans"/>
                <a:cs typeface="DM Sans"/>
                <a:sym typeface="DM Sans"/>
              </a:rPr>
              <a:t>{{R_6}}</a:t>
            </a:r>
            <a:endParaRPr sz="900">
              <a:solidFill>
                <a:srgbClr val="333333"/>
              </a:solidFill>
              <a:latin typeface="DM Sans"/>
              <a:ea typeface="DM Sans"/>
              <a:cs typeface="DM Sans"/>
              <a:sym typeface="DM Sans"/>
            </a:endParaRPr>
          </a:p>
        </p:txBody>
      </p:sp>
      <p:sp>
        <p:nvSpPr>
          <p:cNvPr id="814" name="Google Shape;814;p60"/>
          <p:cNvSpPr txBox="1"/>
          <p:nvPr/>
        </p:nvSpPr>
        <p:spPr>
          <a:xfrm>
            <a:off x="6595982" y="3818890"/>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{{RC_6}}</a:t>
            </a:r>
            <a:endParaRPr sz="900">
              <a:solidFill>
                <a:srgbClr val="333333"/>
              </a:solidFill>
              <a:latin typeface="Poppins"/>
              <a:ea typeface="Poppins"/>
              <a:cs typeface="Poppins"/>
              <a:sym typeface="Poppins"/>
            </a:endParaRPr>
          </a:p>
        </p:txBody>
      </p:sp>
      <p:sp>
        <p:nvSpPr>
          <p:cNvPr id="815" name="Google Shape;815;p60"/>
          <p:cNvSpPr txBox="1"/>
          <p:nvPr/>
        </p:nvSpPr>
        <p:spPr>
          <a:xfrm>
            <a:off x="6427050" y="2431400"/>
            <a:ext cx="2563500" cy="301200"/>
          </a:xfrm>
          <a:prstGeom prst="rect">
            <a:avLst/>
          </a:prstGeom>
          <a:noFill/>
          <a:ln>
            <a:noFill/>
          </a:ln>
        </p:spPr>
        <p:txBody>
          <a:bodyPr anchorCtr="0" anchor="ctr" bIns="91775" lIns="91775" spcFirstLastPara="1" rIns="91775" wrap="square" tIns="91775">
            <a:noAutofit/>
          </a:bodyPr>
          <a:lstStyle/>
          <a:p>
            <a:pPr indent="0" lvl="0" marL="0" rtl="0" algn="ctr">
              <a:lnSpc>
                <a:spcPct val="100000"/>
              </a:lnSpc>
              <a:spcBef>
                <a:spcPts val="0"/>
              </a:spcBef>
              <a:spcAft>
                <a:spcPts val="0"/>
              </a:spcAft>
              <a:buNone/>
            </a:pPr>
            <a:r>
              <a:rPr lang="en" sz="1100" u="sng">
                <a:solidFill>
                  <a:srgbClr val="0055F5"/>
                </a:solidFill>
                <a:latin typeface="Poppins"/>
                <a:ea typeface="Poppins"/>
                <a:cs typeface="Poppins"/>
                <a:sym typeface="Poppins"/>
                <a:hlinkClick r:id="rId11">
                  <a:extLst>
                    <a:ext uri="{A12FA001-AC4F-418D-AE19-62706E023703}">
                      <ahyp:hlinkClr val="tx"/>
                    </a:ext>
                  </a:extLst>
                </a:hlinkClick>
              </a:rPr>
              <a:t>Container Registries </a:t>
            </a:r>
            <a:r>
              <a:rPr lang="en" sz="1300">
                <a:solidFill>
                  <a:srgbClr val="0055F5"/>
                </a:solidFill>
                <a:uFill>
                  <a:noFill/>
                </a:uFill>
                <a:latin typeface="Poppins"/>
                <a:ea typeface="Poppins"/>
                <a:cs typeface="Poppins"/>
                <a:sym typeface="Poppins"/>
                <a:hlinkClick r:id="rId12">
                  <a:extLst>
                    <a:ext uri="{A12FA001-AC4F-418D-AE19-62706E023703}">
                      <ahyp:hlinkClr val="tx"/>
                    </a:ext>
                  </a:extLst>
                </a:hlinkClick>
              </a:rPr>
              <a:t>↗</a:t>
            </a:r>
            <a:endParaRPr sz="1100">
              <a:solidFill>
                <a:srgbClr val="333333"/>
              </a:solidFill>
              <a:latin typeface="Poppins"/>
              <a:ea typeface="Poppins"/>
              <a:cs typeface="Poppins"/>
              <a:sym typeface="Poppins"/>
            </a:endParaRPr>
          </a:p>
        </p:txBody>
      </p:sp>
      <p:sp>
        <p:nvSpPr>
          <p:cNvPr id="816" name="Google Shape;816;p60"/>
          <p:cNvSpPr txBox="1"/>
          <p:nvPr/>
        </p:nvSpPr>
        <p:spPr>
          <a:xfrm>
            <a:off x="6480125" y="2905839"/>
            <a:ext cx="1101300" cy="17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DM Sans"/>
                <a:ea typeface="DM Sans"/>
                <a:cs typeface="DM Sans"/>
                <a:sym typeface="DM Sans"/>
              </a:rPr>
              <a:t>{{R_1}}</a:t>
            </a:r>
            <a:endParaRPr sz="900">
              <a:solidFill>
                <a:srgbClr val="333333"/>
              </a:solidFill>
              <a:latin typeface="DM Sans"/>
              <a:ea typeface="DM Sans"/>
              <a:cs typeface="DM Sans"/>
              <a:sym typeface="DM Sans"/>
            </a:endParaRPr>
          </a:p>
        </p:txBody>
      </p:sp>
      <p:sp>
        <p:nvSpPr>
          <p:cNvPr id="817" name="Google Shape;817;p60"/>
          <p:cNvSpPr txBox="1"/>
          <p:nvPr/>
        </p:nvSpPr>
        <p:spPr>
          <a:xfrm>
            <a:off x="6597131" y="2892600"/>
            <a:ext cx="1104000" cy="1743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{{RC_1}}</a:t>
            </a:r>
            <a:endParaRPr sz="900">
              <a:solidFill>
                <a:srgbClr val="333333"/>
              </a:solidFill>
              <a:latin typeface="Poppins"/>
              <a:ea typeface="Poppins"/>
              <a:cs typeface="Poppins"/>
              <a:sym typeface="Poppins"/>
            </a:endParaRPr>
          </a:p>
        </p:txBody>
      </p:sp>
      <p:sp>
        <p:nvSpPr>
          <p:cNvPr id="818" name="Google Shape;818;p60"/>
          <p:cNvSpPr txBox="1"/>
          <p:nvPr/>
        </p:nvSpPr>
        <p:spPr>
          <a:xfrm>
            <a:off x="6419250" y="4423386"/>
            <a:ext cx="2579100" cy="220800"/>
          </a:xfrm>
          <a:prstGeom prst="rect">
            <a:avLst/>
          </a:prstGeom>
          <a:noFill/>
          <a:ln>
            <a:noFill/>
          </a:ln>
        </p:spPr>
        <p:txBody>
          <a:bodyPr anchorCtr="0" anchor="t" bIns="91775" lIns="91775" spcFirstLastPara="1" rIns="91775" wrap="square" tIns="91775">
            <a:noAutofit/>
          </a:bodyPr>
          <a:lstStyle/>
          <a:p>
            <a:pPr indent="0" lvl="0" marL="0" rtl="0" algn="ctr">
              <a:lnSpc>
                <a:spcPct val="100000"/>
              </a:lnSpc>
              <a:spcBef>
                <a:spcPts val="0"/>
              </a:spcBef>
              <a:spcAft>
                <a:spcPts val="0"/>
              </a:spcAft>
              <a:buNone/>
            </a:pPr>
            <a:r>
              <a:rPr lang="en" sz="900">
                <a:solidFill>
                  <a:srgbClr val="333333"/>
                </a:solidFill>
                <a:latin typeface="Poppins"/>
                <a:ea typeface="Poppins"/>
                <a:cs typeface="Poppins"/>
                <a:sym typeface="Poppins"/>
              </a:rPr>
              <a:t>Do you have visibility into </a:t>
            </a:r>
            <a:r>
              <a:rPr i="1" lang="en" sz="900">
                <a:solidFill>
                  <a:srgbClr val="333333"/>
                </a:solidFill>
                <a:latin typeface="Poppins"/>
                <a:ea typeface="Poppins"/>
                <a:cs typeface="Poppins"/>
                <a:sym typeface="Poppins"/>
              </a:rPr>
              <a:t>all </a:t>
            </a:r>
            <a:br>
              <a:rPr i="1" lang="en" sz="900">
                <a:solidFill>
                  <a:srgbClr val="333333"/>
                </a:solidFill>
                <a:latin typeface="Poppins"/>
                <a:ea typeface="Poppins"/>
                <a:cs typeface="Poppins"/>
                <a:sym typeface="Poppins"/>
              </a:rPr>
            </a:br>
            <a:r>
              <a:rPr lang="en" sz="900">
                <a:solidFill>
                  <a:srgbClr val="333333"/>
                </a:solidFill>
                <a:latin typeface="Poppins"/>
                <a:ea typeface="Poppins"/>
                <a:cs typeface="Poppins"/>
                <a:sym typeface="Poppins"/>
              </a:rPr>
              <a:t>of your Registries?</a:t>
            </a:r>
            <a:br>
              <a:rPr lang="en" sz="900">
                <a:solidFill>
                  <a:srgbClr val="333333"/>
                </a:solidFill>
                <a:latin typeface="Poppins"/>
                <a:ea typeface="Poppins"/>
                <a:cs typeface="Poppins"/>
                <a:sym typeface="Poppins"/>
              </a:rPr>
            </a:br>
            <a:r>
              <a:rPr lang="en" sz="900">
                <a:solidFill>
                  <a:srgbClr val="333333"/>
                </a:solidFill>
                <a:latin typeface="Poppins"/>
                <a:ea typeface="Poppins"/>
                <a:cs typeface="Poppins"/>
                <a:sym typeface="Poppins"/>
              </a:rPr>
              <a:t>jFrog, Sonatype Nexus, etc. </a:t>
            </a:r>
            <a:endParaRPr sz="900">
              <a:solidFill>
                <a:srgbClr val="333333"/>
              </a:solidFill>
              <a:latin typeface="Poppins"/>
              <a:ea typeface="Poppins"/>
              <a:cs typeface="Poppins"/>
              <a:sym typeface="Poppins"/>
            </a:endParaRPr>
          </a:p>
        </p:txBody>
      </p:sp>
      <p:sp>
        <p:nvSpPr>
          <p:cNvPr id="819" name="Google Shape;819;p60"/>
          <p:cNvSpPr txBox="1"/>
          <p:nvPr/>
        </p:nvSpPr>
        <p:spPr>
          <a:xfrm>
            <a:off x="388145" y="1741949"/>
            <a:ext cx="21138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a:solidFill>
                  <a:srgbClr val="333333"/>
                </a:solidFill>
                <a:latin typeface="Poppins"/>
                <a:ea typeface="Poppins"/>
                <a:cs typeface="Poppins"/>
                <a:sym typeface="Poppins"/>
              </a:rPr>
              <a:t>Other</a:t>
            </a:r>
            <a:endParaRPr sz="900">
              <a:solidFill>
                <a:srgbClr val="333333"/>
              </a:solidFill>
              <a:latin typeface="Poppins"/>
              <a:ea typeface="Poppins"/>
              <a:cs typeface="Poppins"/>
              <a:sym typeface="Poppins"/>
            </a:endParaRPr>
          </a:p>
          <a:p>
            <a:pPr indent="0" lvl="0" marL="0" rtl="0" algn="l">
              <a:lnSpc>
                <a:spcPct val="100000"/>
              </a:lnSpc>
              <a:spcBef>
                <a:spcPts val="0"/>
              </a:spcBef>
              <a:spcAft>
                <a:spcPts val="0"/>
              </a:spcAft>
              <a:buNone/>
            </a:pPr>
            <a:r>
              <a:t/>
            </a:r>
            <a:endParaRPr sz="900">
              <a:solidFill>
                <a:srgbClr val="333333"/>
              </a:solidFill>
              <a:latin typeface="Poppins"/>
              <a:ea typeface="Poppins"/>
              <a:cs typeface="Poppins"/>
              <a:sym typeface="Poppins"/>
            </a:endParaRPr>
          </a:p>
        </p:txBody>
      </p:sp>
      <p:sp>
        <p:nvSpPr>
          <p:cNvPr id="820" name="Google Shape;820;p60"/>
          <p:cNvSpPr txBox="1"/>
          <p:nvPr/>
        </p:nvSpPr>
        <p:spPr>
          <a:xfrm>
            <a:off x="1631697" y="1729224"/>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900">
                <a:solidFill>
                  <a:srgbClr val="333333"/>
                </a:solidFill>
                <a:latin typeface="DM Sans"/>
                <a:ea typeface="DM Sans"/>
                <a:cs typeface="DM Sans"/>
                <a:sym typeface="DM Sans"/>
              </a:rPr>
              <a:t>{{K8C_OTH}}</a:t>
            </a:r>
            <a:endParaRPr b="1" sz="900">
              <a:solidFill>
                <a:srgbClr val="333333"/>
              </a:solidFill>
              <a:latin typeface="DM Sans"/>
              <a:ea typeface="DM Sans"/>
              <a:cs typeface="DM Sans"/>
              <a:sym typeface="DM Sans"/>
            </a:endParaRPr>
          </a:p>
        </p:txBody>
      </p:sp>
      <p:sp>
        <p:nvSpPr>
          <p:cNvPr id="821" name="Google Shape;821;p60"/>
          <p:cNvSpPr txBox="1"/>
          <p:nvPr/>
        </p:nvSpPr>
        <p:spPr>
          <a:xfrm>
            <a:off x="3236233" y="1390756"/>
            <a:ext cx="1909200" cy="1548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3">
                  <a:extLst>
                    <a:ext uri="{A12FA001-AC4F-418D-AE19-62706E023703}">
                      <ahyp:hlinkClr val="tx"/>
                    </a:ext>
                  </a:extLst>
                </a:hlinkClick>
              </a:rPr>
              <a:t>K8S Audit Logs Onboarded</a:t>
            </a:r>
            <a:endParaRPr sz="900">
              <a:solidFill>
                <a:srgbClr val="333333"/>
              </a:solidFill>
              <a:latin typeface="Poppins"/>
              <a:ea typeface="Poppins"/>
              <a:cs typeface="Poppins"/>
              <a:sym typeface="Poppins"/>
            </a:endParaRPr>
          </a:p>
        </p:txBody>
      </p:sp>
      <p:sp>
        <p:nvSpPr>
          <p:cNvPr id="822" name="Google Shape;822;p60"/>
          <p:cNvSpPr txBox="1"/>
          <p:nvPr/>
        </p:nvSpPr>
        <p:spPr>
          <a:xfrm>
            <a:off x="3239438" y="1568033"/>
            <a:ext cx="1909200" cy="1548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4">
                  <a:extLst>
                    <a:ext uri="{A12FA001-AC4F-418D-AE19-62706E023703}">
                      <ahyp:hlinkClr val="tx"/>
                    </a:ext>
                  </a:extLst>
                </a:hlinkClick>
              </a:rPr>
              <a:t>Sensor Active (Runtime)</a:t>
            </a:r>
            <a:endParaRPr sz="900">
              <a:solidFill>
                <a:srgbClr val="333333"/>
              </a:solidFill>
              <a:latin typeface="Poppins"/>
              <a:ea typeface="Poppins"/>
              <a:cs typeface="Poppins"/>
              <a:sym typeface="Poppins"/>
            </a:endParaRPr>
          </a:p>
        </p:txBody>
      </p:sp>
      <p:sp>
        <p:nvSpPr>
          <p:cNvPr id="823" name="Google Shape;823;p60"/>
          <p:cNvSpPr txBox="1"/>
          <p:nvPr/>
        </p:nvSpPr>
        <p:spPr>
          <a:xfrm>
            <a:off x="4763494" y="1384168"/>
            <a:ext cx="1003500" cy="1530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{{KC_SE}}</a:t>
            </a:r>
            <a:endParaRPr b="1" sz="1000">
              <a:solidFill>
                <a:srgbClr val="333333"/>
              </a:solidFill>
              <a:latin typeface="DM Sans"/>
              <a:ea typeface="DM Sans"/>
              <a:cs typeface="DM Sans"/>
              <a:sym typeface="DM Sans"/>
            </a:endParaRPr>
          </a:p>
        </p:txBody>
      </p:sp>
      <p:sp>
        <p:nvSpPr>
          <p:cNvPr id="824" name="Google Shape;824;p60"/>
          <p:cNvSpPr txBox="1"/>
          <p:nvPr/>
        </p:nvSpPr>
        <p:spPr>
          <a:xfrm>
            <a:off x="4762076" y="1557221"/>
            <a:ext cx="1003500" cy="1530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{{KC_CLI}}</a:t>
            </a:r>
            <a:endParaRPr b="1" sz="1000">
              <a:solidFill>
                <a:srgbClr val="333333"/>
              </a:solidFill>
              <a:latin typeface="DM Sans"/>
              <a:ea typeface="DM Sans"/>
              <a:cs typeface="DM Sans"/>
              <a:sym typeface="DM Sans"/>
            </a:endParaRPr>
          </a:p>
        </p:txBody>
      </p:sp>
      <p:sp>
        <p:nvSpPr>
          <p:cNvPr id="825" name="Google Shape;825;p60"/>
          <p:cNvSpPr txBox="1"/>
          <p:nvPr/>
        </p:nvSpPr>
        <p:spPr>
          <a:xfrm>
            <a:off x="6233046" y="1113294"/>
            <a:ext cx="1720500" cy="1581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5">
                  <a:extLst>
                    <a:ext uri="{A12FA001-AC4F-418D-AE19-62706E023703}">
                      <ahyp:hlinkClr val="tx"/>
                    </a:ext>
                  </a:extLst>
                </a:hlinkClick>
              </a:rPr>
              <a:t>Internet-Accessible</a:t>
            </a:r>
            <a:endParaRPr sz="900">
              <a:solidFill>
                <a:srgbClr val="333333"/>
              </a:solidFill>
              <a:latin typeface="Poppins"/>
              <a:ea typeface="Poppins"/>
              <a:cs typeface="Poppins"/>
              <a:sym typeface="Poppins"/>
            </a:endParaRPr>
          </a:p>
        </p:txBody>
      </p:sp>
      <p:sp>
        <p:nvSpPr>
          <p:cNvPr id="826" name="Google Shape;826;p60"/>
          <p:cNvSpPr txBox="1"/>
          <p:nvPr/>
        </p:nvSpPr>
        <p:spPr>
          <a:xfrm>
            <a:off x="7853359" y="1113282"/>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{{KG_IA}}</a:t>
            </a:r>
            <a:endParaRPr b="1" sz="1000">
              <a:solidFill>
                <a:srgbClr val="333333"/>
              </a:solidFill>
              <a:latin typeface="DM Sans"/>
              <a:ea typeface="DM Sans"/>
              <a:cs typeface="DM Sans"/>
              <a:sym typeface="DM Sans"/>
            </a:endParaRPr>
          </a:p>
        </p:txBody>
      </p:sp>
      <p:sp>
        <p:nvSpPr>
          <p:cNvPr id="827" name="Google Shape;827;p60"/>
          <p:cNvSpPr txBox="1"/>
          <p:nvPr/>
        </p:nvSpPr>
        <p:spPr>
          <a:xfrm>
            <a:off x="6233048" y="1280583"/>
            <a:ext cx="1953900" cy="14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6">
                  <a:extLst>
                    <a:ext uri="{A12FA001-AC4F-418D-AE19-62706E023703}">
                      <ahyp:hlinkClr val="tx"/>
                    </a:ext>
                  </a:extLst>
                </a:hlinkClick>
              </a:rPr>
              <a:t>No Wiz Connector Deployed</a:t>
            </a:r>
            <a:endParaRPr sz="900">
              <a:solidFill>
                <a:srgbClr val="333333"/>
              </a:solidFill>
              <a:latin typeface="Poppins"/>
              <a:ea typeface="Poppins"/>
              <a:cs typeface="Poppins"/>
              <a:sym typeface="Poppins"/>
            </a:endParaRPr>
          </a:p>
        </p:txBody>
      </p:sp>
      <p:sp>
        <p:nvSpPr>
          <p:cNvPr id="828" name="Google Shape;828;p60"/>
          <p:cNvSpPr txBox="1"/>
          <p:nvPr/>
        </p:nvSpPr>
        <p:spPr>
          <a:xfrm>
            <a:off x="7853359" y="1281379"/>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{{KG_NC}}</a:t>
            </a:r>
            <a:endParaRPr b="1" sz="1000">
              <a:solidFill>
                <a:srgbClr val="333333"/>
              </a:solidFill>
              <a:latin typeface="DM Sans"/>
              <a:ea typeface="DM Sans"/>
              <a:cs typeface="DM Sans"/>
              <a:sym typeface="DM Sans"/>
            </a:endParaRPr>
          </a:p>
        </p:txBody>
      </p:sp>
      <p:sp>
        <p:nvSpPr>
          <p:cNvPr id="829" name="Google Shape;829;p60"/>
          <p:cNvSpPr txBox="1"/>
          <p:nvPr/>
        </p:nvSpPr>
        <p:spPr>
          <a:xfrm>
            <a:off x="6231149" y="1453558"/>
            <a:ext cx="1953900" cy="14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7">
                  <a:extLst>
                    <a:ext uri="{A12FA001-AC4F-418D-AE19-62706E023703}">
                      <ahyp:hlinkClr val="tx"/>
                    </a:ext>
                  </a:extLst>
                </a:hlinkClick>
              </a:rPr>
              <a:t>No K8S Audit Logs</a:t>
            </a:r>
            <a:endParaRPr sz="900">
              <a:solidFill>
                <a:srgbClr val="333333"/>
              </a:solidFill>
              <a:latin typeface="Poppins"/>
              <a:ea typeface="Poppins"/>
              <a:cs typeface="Poppins"/>
              <a:sym typeface="Poppins"/>
            </a:endParaRPr>
          </a:p>
        </p:txBody>
      </p:sp>
      <p:sp>
        <p:nvSpPr>
          <p:cNvPr id="830" name="Google Shape;830;p60"/>
          <p:cNvSpPr txBox="1"/>
          <p:nvPr/>
        </p:nvSpPr>
        <p:spPr>
          <a:xfrm>
            <a:off x="6234434" y="1622052"/>
            <a:ext cx="2297400" cy="144300"/>
          </a:xfrm>
          <a:prstGeom prst="rect">
            <a:avLst/>
          </a:prstGeom>
          <a:noFill/>
          <a:ln>
            <a:noFill/>
          </a:ln>
        </p:spPr>
        <p:txBody>
          <a:bodyPr anchorCtr="0" anchor="t" bIns="91775" lIns="91775" spcFirstLastPara="1" rIns="91775" wrap="square" tIns="9177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18">
                  <a:extLst>
                    <a:ext uri="{A12FA001-AC4F-418D-AE19-62706E023703}">
                      <ahyp:hlinkClr val="tx"/>
                    </a:ext>
                  </a:extLst>
                </a:hlinkClick>
              </a:rPr>
              <a:t>No Runtime Sensor</a:t>
            </a:r>
            <a:endParaRPr sz="900">
              <a:solidFill>
                <a:srgbClr val="333333"/>
              </a:solidFill>
              <a:latin typeface="Poppins"/>
              <a:ea typeface="Poppins"/>
              <a:cs typeface="Poppins"/>
              <a:sym typeface="Poppins"/>
            </a:endParaRPr>
          </a:p>
        </p:txBody>
      </p:sp>
      <p:sp>
        <p:nvSpPr>
          <p:cNvPr id="831" name="Google Shape;831;p60"/>
          <p:cNvSpPr txBox="1"/>
          <p:nvPr/>
        </p:nvSpPr>
        <p:spPr>
          <a:xfrm>
            <a:off x="7851586" y="1449476"/>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{{KG_NA}}</a:t>
            </a:r>
            <a:endParaRPr b="1" sz="1000">
              <a:solidFill>
                <a:srgbClr val="333333"/>
              </a:solidFill>
              <a:latin typeface="DM Sans"/>
              <a:ea typeface="DM Sans"/>
              <a:cs typeface="DM Sans"/>
              <a:sym typeface="DM Sans"/>
            </a:endParaRPr>
          </a:p>
        </p:txBody>
      </p:sp>
      <p:sp>
        <p:nvSpPr>
          <p:cNvPr id="832" name="Google Shape;832;p60"/>
          <p:cNvSpPr txBox="1"/>
          <p:nvPr/>
        </p:nvSpPr>
        <p:spPr>
          <a:xfrm>
            <a:off x="7849813" y="1617573"/>
            <a:ext cx="1003500" cy="158100"/>
          </a:xfrm>
          <a:prstGeom prst="rect">
            <a:avLst/>
          </a:prstGeom>
          <a:noFill/>
          <a:ln>
            <a:noFill/>
          </a:ln>
        </p:spPr>
        <p:txBody>
          <a:bodyPr anchorCtr="0" anchor="t" bIns="91775" lIns="91775" spcFirstLastPara="1" rIns="91775" wrap="square" tIns="91775">
            <a:noAutofit/>
          </a:bodyPr>
          <a:lstStyle/>
          <a:p>
            <a:pPr indent="0" lvl="0" marL="0" rtl="0" algn="r">
              <a:lnSpc>
                <a:spcPct val="150000"/>
              </a:lnSpc>
              <a:spcBef>
                <a:spcPts val="0"/>
              </a:spcBef>
              <a:spcAft>
                <a:spcPts val="0"/>
              </a:spcAft>
              <a:buNone/>
            </a:pPr>
            <a:r>
              <a:rPr b="1" lang="en" sz="1000">
                <a:solidFill>
                  <a:srgbClr val="333333"/>
                </a:solidFill>
                <a:latin typeface="DM Sans"/>
                <a:ea typeface="DM Sans"/>
                <a:cs typeface="DM Sans"/>
                <a:sym typeface="DM Sans"/>
              </a:rPr>
              <a:t>{{KG_NS}}</a:t>
            </a:r>
            <a:endParaRPr b="1" sz="1000">
              <a:solidFill>
                <a:srgbClr val="333333"/>
              </a:solidFill>
              <a:latin typeface="DM Sans"/>
              <a:ea typeface="DM Sans"/>
              <a:cs typeface="DM Sans"/>
              <a:sym typeface="DM Sans"/>
            </a:endParaRPr>
          </a:p>
        </p:txBody>
      </p:sp>
      <p:sp>
        <p:nvSpPr>
          <p:cNvPr id="833" name="Google Shape;833;p60"/>
          <p:cNvSpPr txBox="1"/>
          <p:nvPr/>
        </p:nvSpPr>
        <p:spPr>
          <a:xfrm>
            <a:off x="3205665" y="2055634"/>
            <a:ext cx="2676900" cy="204300"/>
          </a:xfrm>
          <a:prstGeom prst="rect">
            <a:avLst/>
          </a:prstGeom>
          <a:noFill/>
          <a:ln>
            <a:noFill/>
          </a:ln>
        </p:spPr>
        <p:txBody>
          <a:bodyPr anchorCtr="0" anchor="ctr" bIns="91775" lIns="91775" spcFirstLastPara="1" rIns="91775" wrap="square" tIns="91775">
            <a:noAutofit/>
          </a:bodyPr>
          <a:lstStyle/>
          <a:p>
            <a:pPr indent="0" lvl="0" marL="0" rtl="0" algn="ctr">
              <a:lnSpc>
                <a:spcPct val="150000"/>
              </a:lnSpc>
              <a:spcBef>
                <a:spcPts val="0"/>
              </a:spcBef>
              <a:spcAft>
                <a:spcPts val="0"/>
              </a:spcAft>
              <a:buNone/>
            </a:pPr>
            <a:r>
              <a:rPr lang="en" sz="1100">
                <a:solidFill>
                  <a:srgbClr val="333333"/>
                </a:solidFill>
                <a:latin typeface="Poppins"/>
                <a:ea typeface="Poppins"/>
                <a:cs typeface="Poppins"/>
                <a:sym typeface="Poppins"/>
              </a:rPr>
              <a:t>Do you have </a:t>
            </a:r>
            <a:r>
              <a:rPr i="1" lang="en" sz="1100">
                <a:solidFill>
                  <a:srgbClr val="333333"/>
                </a:solidFill>
                <a:latin typeface="Poppins"/>
                <a:ea typeface="Poppins"/>
                <a:cs typeface="Poppins"/>
                <a:sym typeface="Poppins"/>
              </a:rPr>
              <a:t>full</a:t>
            </a:r>
            <a:r>
              <a:rPr lang="en" sz="1100">
                <a:solidFill>
                  <a:srgbClr val="333333"/>
                </a:solidFill>
                <a:latin typeface="Poppins"/>
                <a:ea typeface="Poppins"/>
                <a:cs typeface="Poppins"/>
                <a:sym typeface="Poppins"/>
              </a:rPr>
              <a:t> visibility?</a:t>
            </a:r>
            <a:endParaRPr sz="1100">
              <a:solidFill>
                <a:srgbClr val="333333"/>
              </a:solidFill>
              <a:latin typeface="Poppins"/>
              <a:ea typeface="Poppins"/>
              <a:cs typeface="Poppins"/>
              <a:sym typeface="Poppins"/>
            </a:endParaRPr>
          </a:p>
        </p:txBody>
      </p:sp>
      <p:pic>
        <p:nvPicPr>
          <p:cNvPr id="834" name="Google Shape;834;p60"/>
          <p:cNvPicPr preferRelativeResize="0"/>
          <p:nvPr/>
        </p:nvPicPr>
        <p:blipFill>
          <a:blip r:embed="rId19">
            <a:alphaModFix/>
          </a:blip>
          <a:stretch>
            <a:fillRect/>
          </a:stretch>
        </p:blipFill>
        <p:spPr>
          <a:xfrm>
            <a:off x="3566592" y="2777812"/>
            <a:ext cx="2785632" cy="527016"/>
          </a:xfrm>
          <a:prstGeom prst="rect">
            <a:avLst/>
          </a:prstGeom>
          <a:noFill/>
          <a:ln>
            <a:noFill/>
          </a:ln>
        </p:spPr>
      </p:pic>
      <p:sp>
        <p:nvSpPr>
          <p:cNvPr id="835" name="Google Shape;835;p60"/>
          <p:cNvSpPr/>
          <p:nvPr/>
        </p:nvSpPr>
        <p:spPr>
          <a:xfrm>
            <a:off x="3595375" y="3607213"/>
            <a:ext cx="2676900" cy="1338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Clr>
                <a:srgbClr val="6B7280"/>
              </a:buClr>
              <a:buSzPts val="800"/>
              <a:buFont typeface="DM Sans"/>
              <a:buNone/>
            </a:pPr>
            <a:r>
              <a:rPr lang="en" sz="800">
                <a:solidFill>
                  <a:srgbClr val="222222"/>
                </a:solidFill>
                <a:latin typeface="Poppins"/>
                <a:ea typeface="Poppins"/>
                <a:cs typeface="Poppins"/>
                <a:sym typeface="Poppins"/>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a:solidFill>
                <a:srgbClr val="222222"/>
              </a:solidFill>
              <a:latin typeface="Poppins"/>
              <a:ea typeface="Poppins"/>
              <a:cs typeface="Poppins"/>
              <a:sym typeface="Poppins"/>
            </a:endParaRPr>
          </a:p>
          <a:p>
            <a:pPr indent="0" lvl="0" marL="0" rtl="0" algn="ctr">
              <a:lnSpc>
                <a:spcPct val="90000"/>
              </a:lnSpc>
              <a:spcBef>
                <a:spcPts val="0"/>
              </a:spcBef>
              <a:spcAft>
                <a:spcPts val="0"/>
              </a:spcAft>
              <a:buClr>
                <a:srgbClr val="6B7280"/>
              </a:buClr>
              <a:buSzPts val="800"/>
              <a:buFont typeface="DM Sans"/>
              <a:buNone/>
            </a:pPr>
            <a:r>
              <a:t/>
            </a:r>
            <a:endParaRPr sz="800">
              <a:solidFill>
                <a:srgbClr val="222222"/>
              </a:solidFill>
              <a:latin typeface="Poppins"/>
              <a:ea typeface="Poppins"/>
              <a:cs typeface="Poppins"/>
              <a:sym typeface="Poppins"/>
            </a:endParaRPr>
          </a:p>
          <a:p>
            <a:pPr indent="0" lvl="0" marL="0" rtl="0" algn="ctr">
              <a:spcBef>
                <a:spcPts val="0"/>
              </a:spcBef>
              <a:spcAft>
                <a:spcPts val="0"/>
              </a:spcAft>
              <a:buClr>
                <a:srgbClr val="1F2937"/>
              </a:buClr>
              <a:buSzPts val="800"/>
              <a:buFont typeface="JetBrains Mono"/>
              <a:buNone/>
            </a:pPr>
            <a:r>
              <a:rPr lang="en" sz="800">
                <a:solidFill>
                  <a:srgbClr val="222222"/>
                </a:solidFill>
                <a:latin typeface="Poppins"/>
                <a:ea typeface="Poppins"/>
                <a:cs typeface="Poppins"/>
                <a:sym typeface="Poppins"/>
              </a:rPr>
              <a:t>Are you tagging your Images? Correlate the Docker image to the CI phase, gain further insights, and potentially improve your CI/CD pipeline conduct</a:t>
            </a:r>
            <a:endParaRPr sz="800">
              <a:solidFill>
                <a:srgbClr val="222222"/>
              </a:solidFill>
              <a:latin typeface="Poppins"/>
              <a:ea typeface="Poppins"/>
              <a:cs typeface="Poppins"/>
              <a:sym typeface="Poppins"/>
            </a:endParaRPr>
          </a:p>
        </p:txBody>
      </p:sp>
      <p:sp>
        <p:nvSpPr>
          <p:cNvPr id="836" name="Google Shape;836;p60"/>
          <p:cNvSpPr txBox="1"/>
          <p:nvPr/>
        </p:nvSpPr>
        <p:spPr>
          <a:xfrm>
            <a:off x="5383579" y="3261513"/>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{{CL_CLD}}</a:t>
            </a:r>
            <a:endParaRPr b="1" sz="900">
              <a:solidFill>
                <a:srgbClr val="333333"/>
              </a:solidFill>
              <a:latin typeface="DM Sans"/>
              <a:ea typeface="DM Sans"/>
              <a:cs typeface="DM Sans"/>
              <a:sym typeface="DM Sans"/>
            </a:endParaRPr>
          </a:p>
        </p:txBody>
      </p:sp>
      <p:sp>
        <p:nvSpPr>
          <p:cNvPr id="837" name="Google Shape;837;p60"/>
          <p:cNvSpPr txBox="1"/>
          <p:nvPr/>
        </p:nvSpPr>
        <p:spPr>
          <a:xfrm>
            <a:off x="5855777" y="3267116"/>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{{CL_RT}}</a:t>
            </a:r>
            <a:endParaRPr b="1" sz="900">
              <a:solidFill>
                <a:srgbClr val="333333"/>
              </a:solidFill>
              <a:latin typeface="DM Sans"/>
              <a:ea typeface="DM Sans"/>
              <a:cs typeface="DM Sans"/>
              <a:sym typeface="DM Sans"/>
            </a:endParaRPr>
          </a:p>
        </p:txBody>
      </p:sp>
      <p:sp>
        <p:nvSpPr>
          <p:cNvPr id="838" name="Google Shape;838;p60"/>
          <p:cNvSpPr txBox="1"/>
          <p:nvPr/>
        </p:nvSpPr>
        <p:spPr>
          <a:xfrm>
            <a:off x="4911380" y="3268983"/>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{{CL_DEP}}</a:t>
            </a:r>
            <a:endParaRPr b="1" sz="900">
              <a:solidFill>
                <a:srgbClr val="333333"/>
              </a:solidFill>
              <a:latin typeface="DM Sans"/>
              <a:ea typeface="DM Sans"/>
              <a:cs typeface="DM Sans"/>
              <a:sym typeface="DM Sans"/>
            </a:endParaRPr>
          </a:p>
        </p:txBody>
      </p:sp>
      <p:sp>
        <p:nvSpPr>
          <p:cNvPr id="839" name="Google Shape;839;p60"/>
          <p:cNvSpPr txBox="1"/>
          <p:nvPr/>
        </p:nvSpPr>
        <p:spPr>
          <a:xfrm>
            <a:off x="3966984" y="3259646"/>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{{CL_BLD}}</a:t>
            </a:r>
            <a:endParaRPr b="1" sz="900">
              <a:solidFill>
                <a:srgbClr val="333333"/>
              </a:solidFill>
              <a:latin typeface="DM Sans"/>
              <a:ea typeface="DM Sans"/>
              <a:cs typeface="DM Sans"/>
              <a:sym typeface="DM Sans"/>
            </a:endParaRPr>
          </a:p>
        </p:txBody>
      </p:sp>
      <p:sp>
        <p:nvSpPr>
          <p:cNvPr id="840" name="Google Shape;840;p60"/>
          <p:cNvSpPr txBox="1"/>
          <p:nvPr/>
        </p:nvSpPr>
        <p:spPr>
          <a:xfrm>
            <a:off x="4439182" y="3263381"/>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{{CL_STR}}</a:t>
            </a:r>
            <a:endParaRPr b="1" sz="900">
              <a:solidFill>
                <a:srgbClr val="333333"/>
              </a:solidFill>
              <a:latin typeface="DM Sans"/>
              <a:ea typeface="DM Sans"/>
              <a:cs typeface="DM Sans"/>
              <a:sym typeface="DM Sans"/>
            </a:endParaRPr>
          </a:p>
        </p:txBody>
      </p:sp>
      <p:sp>
        <p:nvSpPr>
          <p:cNvPr id="841" name="Google Shape;841;p60"/>
          <p:cNvSpPr txBox="1"/>
          <p:nvPr/>
        </p:nvSpPr>
        <p:spPr>
          <a:xfrm>
            <a:off x="3494786" y="3265248"/>
            <a:ext cx="512100" cy="220800"/>
          </a:xfrm>
          <a:prstGeom prst="rect">
            <a:avLst/>
          </a:prstGeom>
          <a:noFill/>
          <a:ln>
            <a:noFill/>
          </a:ln>
        </p:spPr>
        <p:txBody>
          <a:bodyPr anchorCtr="0" anchor="t" bIns="91775" lIns="91775" spcFirstLastPara="1" rIns="91775" wrap="square" tIns="91775">
            <a:noAutofit/>
          </a:bodyPr>
          <a:lstStyle/>
          <a:p>
            <a:pPr indent="0" lvl="0" marL="0" rtl="0" algn="ctr">
              <a:lnSpc>
                <a:spcPct val="150000"/>
              </a:lnSpc>
              <a:spcBef>
                <a:spcPts val="0"/>
              </a:spcBef>
              <a:spcAft>
                <a:spcPts val="0"/>
              </a:spcAft>
              <a:buNone/>
            </a:pPr>
            <a:r>
              <a:rPr b="1" lang="en" sz="900">
                <a:solidFill>
                  <a:srgbClr val="333333"/>
                </a:solidFill>
                <a:latin typeface="DM Sans"/>
                <a:ea typeface="DM Sans"/>
                <a:cs typeface="DM Sans"/>
                <a:sym typeface="DM Sans"/>
              </a:rPr>
              <a:t>{{CL_CODE}}</a:t>
            </a:r>
            <a:endParaRPr b="1" sz="900">
              <a:solidFill>
                <a:srgbClr val="333333"/>
              </a:solidFill>
              <a:latin typeface="DM Sans"/>
              <a:ea typeface="DM Sans"/>
              <a:cs typeface="DM Sans"/>
              <a:sym typeface="DM Sans"/>
            </a:endParaRPr>
          </a:p>
        </p:txBody>
      </p:sp>
      <p:sp>
        <p:nvSpPr>
          <p:cNvPr id="842" name="Google Shape;842;p60"/>
          <p:cNvSpPr txBox="1"/>
          <p:nvPr/>
        </p:nvSpPr>
        <p:spPr>
          <a:xfrm>
            <a:off x="7851954" y="3368391"/>
            <a:ext cx="1139700" cy="1548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{{R_CON}}</a:t>
            </a:r>
            <a:endParaRPr sz="900">
              <a:solidFill>
                <a:srgbClr val="333333"/>
              </a:solidFill>
              <a:latin typeface="Poppins"/>
              <a:ea typeface="Poppins"/>
              <a:cs typeface="Poppins"/>
              <a:sym typeface="Poppins"/>
            </a:endParaRPr>
          </a:p>
        </p:txBody>
      </p:sp>
      <p:sp>
        <p:nvSpPr>
          <p:cNvPr id="843" name="Google Shape;843;p60"/>
          <p:cNvSpPr txBox="1"/>
          <p:nvPr/>
        </p:nvSpPr>
        <p:spPr>
          <a:xfrm>
            <a:off x="7847951" y="3544289"/>
            <a:ext cx="1143000" cy="1548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{{R_AUT}}</a:t>
            </a:r>
            <a:endParaRPr sz="900">
              <a:solidFill>
                <a:srgbClr val="333333"/>
              </a:solidFill>
              <a:latin typeface="Poppins"/>
              <a:ea typeface="Poppins"/>
              <a:cs typeface="Poppins"/>
              <a:sym typeface="Poppins"/>
            </a:endParaRPr>
          </a:p>
        </p:txBody>
      </p:sp>
      <p:sp>
        <p:nvSpPr>
          <p:cNvPr id="844" name="Google Shape;844;p60"/>
          <p:cNvSpPr txBox="1"/>
          <p:nvPr/>
        </p:nvSpPr>
        <p:spPr>
          <a:xfrm>
            <a:off x="7743278" y="3375563"/>
            <a:ext cx="914700" cy="1548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20">
                  <a:extLst>
                    <a:ext uri="{A12FA001-AC4F-418D-AE19-62706E023703}">
                      <ahyp:hlinkClr val="tx"/>
                    </a:ext>
                  </a:extLst>
                </a:hlinkClick>
              </a:rPr>
              <a:t>Connector</a:t>
            </a:r>
            <a:endParaRPr sz="900">
              <a:solidFill>
                <a:srgbClr val="333333"/>
              </a:solidFill>
              <a:latin typeface="Poppins"/>
              <a:ea typeface="Poppins"/>
              <a:cs typeface="Poppins"/>
              <a:sym typeface="Poppins"/>
            </a:endParaRPr>
          </a:p>
        </p:txBody>
      </p:sp>
      <p:sp>
        <p:nvSpPr>
          <p:cNvPr id="845" name="Google Shape;845;p60"/>
          <p:cNvSpPr txBox="1"/>
          <p:nvPr/>
        </p:nvSpPr>
        <p:spPr>
          <a:xfrm>
            <a:off x="7743278" y="3544276"/>
            <a:ext cx="914700" cy="1548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21">
                  <a:extLst>
                    <a:ext uri="{A12FA001-AC4F-418D-AE19-62706E023703}">
                      <ahyp:hlinkClr val="tx"/>
                    </a:ext>
                  </a:extLst>
                </a:hlinkClick>
              </a:rPr>
              <a:t>Global</a:t>
            </a:r>
            <a:endParaRPr sz="900">
              <a:solidFill>
                <a:srgbClr val="333333"/>
              </a:solidFill>
              <a:latin typeface="Poppins"/>
              <a:ea typeface="Poppins"/>
              <a:cs typeface="Poppins"/>
              <a:sym typeface="Poppins"/>
            </a:endParaRPr>
          </a:p>
        </p:txBody>
      </p:sp>
      <p:sp>
        <p:nvSpPr>
          <p:cNvPr id="846" name="Google Shape;846;p60"/>
          <p:cNvSpPr txBox="1"/>
          <p:nvPr/>
        </p:nvSpPr>
        <p:spPr>
          <a:xfrm>
            <a:off x="7743747" y="3712990"/>
            <a:ext cx="914700" cy="154800"/>
          </a:xfrm>
          <a:prstGeom prst="rect">
            <a:avLst/>
          </a:prstGeom>
          <a:noFill/>
          <a:ln>
            <a:noFill/>
          </a:ln>
        </p:spPr>
        <p:txBody>
          <a:bodyPr anchorCtr="0" anchor="t" bIns="91225" lIns="91225" spcFirstLastPara="1" rIns="91225" wrap="square" tIns="91225">
            <a:noAutofit/>
          </a:bodyPr>
          <a:lstStyle/>
          <a:p>
            <a:pPr indent="0" lvl="0" marL="0" rtl="0" algn="l">
              <a:lnSpc>
                <a:spcPct val="150000"/>
              </a:lnSpc>
              <a:spcBef>
                <a:spcPts val="0"/>
              </a:spcBef>
              <a:spcAft>
                <a:spcPts val="0"/>
              </a:spcAft>
              <a:buNone/>
            </a:pPr>
            <a:r>
              <a:rPr lang="en" sz="900" u="sng">
                <a:solidFill>
                  <a:srgbClr val="0055F5"/>
                </a:solidFill>
                <a:latin typeface="Poppins"/>
                <a:ea typeface="Poppins"/>
                <a:cs typeface="Poppins"/>
                <a:sym typeface="Poppins"/>
                <a:hlinkClick r:id="rId22">
                  <a:extLst>
                    <a:ext uri="{A12FA001-AC4F-418D-AE19-62706E023703}">
                      <ahyp:hlinkClr val="tx"/>
                    </a:ext>
                  </a:extLst>
                </a:hlinkClick>
              </a:rPr>
              <a:t>Custom</a:t>
            </a:r>
            <a:endParaRPr sz="900">
              <a:solidFill>
                <a:srgbClr val="333333"/>
              </a:solidFill>
              <a:latin typeface="Poppins"/>
              <a:ea typeface="Poppins"/>
              <a:cs typeface="Poppins"/>
              <a:sym typeface="Poppins"/>
            </a:endParaRPr>
          </a:p>
        </p:txBody>
      </p:sp>
      <p:sp>
        <p:nvSpPr>
          <p:cNvPr id="847" name="Google Shape;847;p60"/>
          <p:cNvSpPr txBox="1"/>
          <p:nvPr/>
        </p:nvSpPr>
        <p:spPr>
          <a:xfrm>
            <a:off x="7847336" y="3720187"/>
            <a:ext cx="1143000" cy="155400"/>
          </a:xfrm>
          <a:prstGeom prst="rect">
            <a:avLst/>
          </a:prstGeom>
          <a:noFill/>
          <a:ln>
            <a:noFill/>
          </a:ln>
        </p:spPr>
        <p:txBody>
          <a:bodyPr anchorCtr="0" anchor="t" bIns="91225" lIns="91225" spcFirstLastPara="1" rIns="91225" wrap="square" tIns="91225">
            <a:noAutofit/>
          </a:bodyPr>
          <a:lstStyle/>
          <a:p>
            <a:pPr indent="0" lvl="0" marL="0" rtl="0" algn="r">
              <a:lnSpc>
                <a:spcPct val="150000"/>
              </a:lnSpc>
              <a:spcBef>
                <a:spcPts val="0"/>
              </a:spcBef>
              <a:spcAft>
                <a:spcPts val="0"/>
              </a:spcAft>
              <a:buNone/>
            </a:pPr>
            <a:r>
              <a:rPr lang="en" sz="900">
                <a:solidFill>
                  <a:srgbClr val="333333"/>
                </a:solidFill>
                <a:latin typeface="Poppins"/>
                <a:ea typeface="Poppins"/>
                <a:cs typeface="Poppins"/>
                <a:sym typeface="Poppins"/>
              </a:rPr>
              <a:t>{{R_CUS}}</a:t>
            </a:r>
            <a:endParaRPr sz="900">
              <a:solidFill>
                <a:srgbClr val="333333"/>
              </a:solidFill>
              <a:latin typeface="Poppins"/>
              <a:ea typeface="Poppins"/>
              <a:cs typeface="Poppins"/>
              <a:sym typeface="Poppins"/>
            </a:endParaRPr>
          </a:p>
        </p:txBody>
      </p:sp>
      <p:sp>
        <p:nvSpPr>
          <p:cNvPr id="848" name="Google Shape;848;p60"/>
          <p:cNvSpPr txBox="1"/>
          <p:nvPr/>
        </p:nvSpPr>
        <p:spPr>
          <a:xfrm>
            <a:off x="7683303" y="2828294"/>
            <a:ext cx="1275600" cy="219300"/>
          </a:xfrm>
          <a:prstGeom prst="rect">
            <a:avLst/>
          </a:prstGeom>
          <a:noFill/>
          <a:ln>
            <a:noFill/>
          </a:ln>
        </p:spPr>
        <p:txBody>
          <a:bodyPr anchorCtr="0" anchor="t" bIns="91225" lIns="91225" spcFirstLastPara="1" rIns="91225" wrap="square" tIns="91225">
            <a:noAutofit/>
          </a:bodyPr>
          <a:lstStyle/>
          <a:p>
            <a:pPr indent="0" lvl="0" marL="0" rtl="0" algn="ctr">
              <a:lnSpc>
                <a:spcPct val="100000"/>
              </a:lnSpc>
              <a:spcBef>
                <a:spcPts val="0"/>
              </a:spcBef>
              <a:spcAft>
                <a:spcPts val="0"/>
              </a:spcAft>
              <a:buNone/>
            </a:pPr>
            <a:r>
              <a:rPr lang="en" sz="1200">
                <a:solidFill>
                  <a:srgbClr val="333333"/>
                </a:solidFill>
                <a:latin typeface="Poppins"/>
                <a:ea typeface="Poppins"/>
                <a:cs typeface="Poppins"/>
                <a:sym typeface="Poppins"/>
              </a:rPr>
              <a:t>Scanning Config Type</a:t>
            </a:r>
            <a:endParaRPr sz="1200">
              <a:solidFill>
                <a:srgbClr val="333333"/>
              </a:solidFill>
              <a:latin typeface="Poppins"/>
              <a:ea typeface="Poppins"/>
              <a:cs typeface="Poppins"/>
              <a:sym typeface="Poppins"/>
            </a:endParaRPr>
          </a:p>
        </p:txBody>
      </p:sp>
      <p:cxnSp>
        <p:nvCxnSpPr>
          <p:cNvPr id="849" name="Google Shape;849;p60"/>
          <p:cNvCxnSpPr/>
          <p:nvPr/>
        </p:nvCxnSpPr>
        <p:spPr>
          <a:xfrm flipH="1" rot="10800000">
            <a:off x="7699350" y="2976423"/>
            <a:ext cx="15900" cy="1091400"/>
          </a:xfrm>
          <a:prstGeom prst="straightConnector1">
            <a:avLst/>
          </a:prstGeom>
          <a:noFill/>
          <a:ln cap="flat" cmpd="sng" w="9525">
            <a:solidFill>
              <a:srgbClr val="595959"/>
            </a:solidFill>
            <a:prstDash val="solid"/>
            <a:round/>
            <a:headEnd len="med" w="med" type="none"/>
            <a:tailEnd len="med" w="med"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pic>
        <p:nvPicPr>
          <p:cNvPr id="855" name="Google Shape;855;p61" title="Rectangle 7854.png"/>
          <p:cNvPicPr preferRelativeResize="0"/>
          <p:nvPr/>
        </p:nvPicPr>
        <p:blipFill>
          <a:blip r:embed="rId3">
            <a:alphaModFix/>
          </a:blip>
          <a:stretch>
            <a:fillRect/>
          </a:stretch>
        </p:blipFill>
        <p:spPr>
          <a:xfrm>
            <a:off x="3237298" y="1837849"/>
            <a:ext cx="2669404" cy="2703664"/>
          </a:xfrm>
          <a:prstGeom prst="rect">
            <a:avLst/>
          </a:prstGeom>
          <a:noFill/>
          <a:ln>
            <a:noFill/>
          </a:ln>
        </p:spPr>
      </p:pic>
      <p:pic>
        <p:nvPicPr>
          <p:cNvPr id="856" name="Google Shape;856;p61" title="Rectangle 7854.png"/>
          <p:cNvPicPr preferRelativeResize="0"/>
          <p:nvPr/>
        </p:nvPicPr>
        <p:blipFill>
          <a:blip r:embed="rId3">
            <a:alphaModFix/>
          </a:blip>
          <a:stretch>
            <a:fillRect/>
          </a:stretch>
        </p:blipFill>
        <p:spPr>
          <a:xfrm>
            <a:off x="357125" y="1837849"/>
            <a:ext cx="2669404" cy="2703664"/>
          </a:xfrm>
          <a:prstGeom prst="rect">
            <a:avLst/>
          </a:prstGeom>
          <a:noFill/>
          <a:ln>
            <a:noFill/>
          </a:ln>
        </p:spPr>
      </p:pic>
      <p:cxnSp>
        <p:nvCxnSpPr>
          <p:cNvPr id="857" name="Google Shape;857;p61"/>
          <p:cNvCxnSpPr/>
          <p:nvPr/>
        </p:nvCxnSpPr>
        <p:spPr>
          <a:xfrm>
            <a:off x="630575" y="2954477"/>
            <a:ext cx="2122500" cy="0"/>
          </a:xfrm>
          <a:prstGeom prst="straightConnector1">
            <a:avLst/>
          </a:prstGeom>
          <a:noFill/>
          <a:ln cap="flat" cmpd="sng" w="9525">
            <a:solidFill>
              <a:srgbClr val="0254EC"/>
            </a:solidFill>
            <a:prstDash val="solid"/>
            <a:round/>
            <a:headEnd len="med" w="med" type="none"/>
            <a:tailEnd len="med" w="med" type="none"/>
          </a:ln>
        </p:spPr>
      </p:cxnSp>
      <p:sp>
        <p:nvSpPr>
          <p:cNvPr id="858" name="Google Shape;858;p61"/>
          <p:cNvSpPr txBox="1"/>
          <p:nvPr/>
        </p:nvSpPr>
        <p:spPr>
          <a:xfrm>
            <a:off x="522275" y="2664476"/>
            <a:ext cx="2339100" cy="273300"/>
          </a:xfrm>
          <a:prstGeom prst="rect">
            <a:avLst/>
          </a:prstGeom>
          <a:noFill/>
          <a:ln>
            <a:noFill/>
          </a:ln>
        </p:spPr>
        <p:txBody>
          <a:bodyPr anchorCtr="0" anchor="ctr" bIns="34275" lIns="68575" spcFirstLastPara="1" rIns="68575" wrap="square" tIns="34275">
            <a:noAutofit/>
          </a:bodyPr>
          <a:lstStyle/>
          <a:p>
            <a:pPr indent="0" lvl="0" marL="0" rtl="0" algn="ctr">
              <a:lnSpc>
                <a:spcPct val="70000"/>
              </a:lnSpc>
              <a:spcBef>
                <a:spcPts val="0"/>
              </a:spcBef>
              <a:spcAft>
                <a:spcPts val="0"/>
              </a:spcAft>
              <a:buNone/>
            </a:pPr>
            <a:r>
              <a:rPr lang="en" sz="1000">
                <a:solidFill>
                  <a:schemeClr val="dk1"/>
                </a:solidFill>
                <a:latin typeface="Poppins SemiBold"/>
                <a:ea typeface="Poppins SemiBold"/>
                <a:cs typeface="Poppins SemiBold"/>
                <a:sym typeface="Poppins SemiBold"/>
              </a:rPr>
              <a:t>K8S Connectors</a:t>
            </a:r>
            <a:endParaRPr sz="1000">
              <a:solidFill>
                <a:schemeClr val="dk1"/>
              </a:solidFill>
              <a:latin typeface="Poppins SemiBold"/>
              <a:ea typeface="Poppins SemiBold"/>
              <a:cs typeface="Poppins SemiBold"/>
              <a:sym typeface="Poppins SemiBold"/>
            </a:endParaRPr>
          </a:p>
        </p:txBody>
      </p:sp>
      <p:sp>
        <p:nvSpPr>
          <p:cNvPr id="859" name="Google Shape;859;p61"/>
          <p:cNvSpPr txBox="1"/>
          <p:nvPr/>
        </p:nvSpPr>
        <p:spPr>
          <a:xfrm>
            <a:off x="403925" y="3092700"/>
            <a:ext cx="2575800" cy="13674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Map Cluster architectures more effectively in Wiz.</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Allows Wiz to assess K8S clusters directly via the Kubernetes API, to identify risks associated with K8S specific identities, secretes, configs, etc.</a:t>
            </a:r>
            <a:endParaRPr sz="900">
              <a:solidFill>
                <a:srgbClr val="01123F"/>
              </a:solidFill>
              <a:latin typeface="Poppins Light"/>
              <a:ea typeface="Poppins Light"/>
              <a:cs typeface="Poppins Light"/>
              <a:sym typeface="Poppins Light"/>
            </a:endParaRPr>
          </a:p>
        </p:txBody>
      </p:sp>
      <p:cxnSp>
        <p:nvCxnSpPr>
          <p:cNvPr id="860" name="Google Shape;860;p61"/>
          <p:cNvCxnSpPr/>
          <p:nvPr/>
        </p:nvCxnSpPr>
        <p:spPr>
          <a:xfrm>
            <a:off x="3510750" y="2954477"/>
            <a:ext cx="2122500" cy="0"/>
          </a:xfrm>
          <a:prstGeom prst="straightConnector1">
            <a:avLst/>
          </a:prstGeom>
          <a:noFill/>
          <a:ln cap="flat" cmpd="sng" w="9525">
            <a:solidFill>
              <a:srgbClr val="0254EC"/>
            </a:solidFill>
            <a:prstDash val="solid"/>
            <a:round/>
            <a:headEnd len="med" w="med" type="none"/>
            <a:tailEnd len="med" w="med" type="none"/>
          </a:ln>
        </p:spPr>
      </p:cxnSp>
      <p:sp>
        <p:nvSpPr>
          <p:cNvPr id="861" name="Google Shape;861;p61"/>
          <p:cNvSpPr txBox="1"/>
          <p:nvPr/>
        </p:nvSpPr>
        <p:spPr>
          <a:xfrm>
            <a:off x="3362850" y="2664476"/>
            <a:ext cx="2418300" cy="2733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None/>
            </a:pPr>
            <a:r>
              <a:rPr lang="en" sz="1000">
                <a:solidFill>
                  <a:schemeClr val="dk1"/>
                </a:solidFill>
                <a:latin typeface="Poppins SemiBold"/>
                <a:ea typeface="Poppins SemiBold"/>
                <a:cs typeface="Poppins SemiBold"/>
                <a:sym typeface="Poppins SemiBold"/>
              </a:rPr>
              <a:t>WizOS &amp; Image Tagging</a:t>
            </a:r>
            <a:endParaRPr sz="1000">
              <a:solidFill>
                <a:schemeClr val="dk1"/>
              </a:solidFill>
              <a:latin typeface="Poppins SemiBold"/>
              <a:ea typeface="Poppins SemiBold"/>
              <a:cs typeface="Poppins SemiBold"/>
              <a:sym typeface="Poppins SemiBold"/>
            </a:endParaRPr>
          </a:p>
        </p:txBody>
      </p:sp>
      <p:pic>
        <p:nvPicPr>
          <p:cNvPr id="862" name="Google Shape;862;p61" title="Rectangle 7854.png"/>
          <p:cNvPicPr preferRelativeResize="0"/>
          <p:nvPr/>
        </p:nvPicPr>
        <p:blipFill>
          <a:blip r:embed="rId3">
            <a:alphaModFix/>
          </a:blip>
          <a:stretch>
            <a:fillRect/>
          </a:stretch>
        </p:blipFill>
        <p:spPr>
          <a:xfrm>
            <a:off x="6117471" y="1837849"/>
            <a:ext cx="2669404" cy="2703664"/>
          </a:xfrm>
          <a:prstGeom prst="rect">
            <a:avLst/>
          </a:prstGeom>
          <a:noFill/>
          <a:ln>
            <a:noFill/>
          </a:ln>
        </p:spPr>
      </p:pic>
      <p:cxnSp>
        <p:nvCxnSpPr>
          <p:cNvPr id="863" name="Google Shape;863;p61"/>
          <p:cNvCxnSpPr/>
          <p:nvPr/>
        </p:nvCxnSpPr>
        <p:spPr>
          <a:xfrm>
            <a:off x="6390925" y="2954477"/>
            <a:ext cx="2122500" cy="0"/>
          </a:xfrm>
          <a:prstGeom prst="straightConnector1">
            <a:avLst/>
          </a:prstGeom>
          <a:noFill/>
          <a:ln cap="flat" cmpd="sng" w="9525">
            <a:solidFill>
              <a:srgbClr val="0254EC"/>
            </a:solidFill>
            <a:prstDash val="solid"/>
            <a:round/>
            <a:headEnd len="med" w="med" type="none"/>
            <a:tailEnd len="med" w="med" type="none"/>
          </a:ln>
        </p:spPr>
      </p:cxnSp>
      <p:sp>
        <p:nvSpPr>
          <p:cNvPr id="864" name="Google Shape;864;p61"/>
          <p:cNvSpPr txBox="1"/>
          <p:nvPr/>
        </p:nvSpPr>
        <p:spPr>
          <a:xfrm>
            <a:off x="6164274" y="3093376"/>
            <a:ext cx="2575800" cy="1500600"/>
          </a:xfrm>
          <a:prstGeom prst="rect">
            <a:avLst/>
          </a:prstGeom>
          <a:noFill/>
          <a:ln>
            <a:noFill/>
          </a:ln>
        </p:spPr>
        <p:txBody>
          <a:bodyPr anchorCtr="0" anchor="t" bIns="34275" lIns="68575" spcFirstLastPara="1" rIns="68575" wrap="square" tIns="34275">
            <a:normAutofit lnSpcReduction="20000"/>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Scan your repos for vulnerabilities, SAST flaws, IaC misconfigurations, secrets and Malware</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Allow Developers to scan their code at the IDE</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Scan PRs and (optionally) block merges that introduce risk </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Trace every risk back to its origin. Catch risks at the source, before they ship.</a:t>
            </a:r>
            <a:endParaRPr sz="900">
              <a:solidFill>
                <a:srgbClr val="01123F"/>
              </a:solidFill>
              <a:latin typeface="Poppins Light"/>
              <a:ea typeface="Poppins Light"/>
              <a:cs typeface="Poppins Light"/>
              <a:sym typeface="Poppins Light"/>
            </a:endParaRPr>
          </a:p>
          <a:p>
            <a:pPr indent="0" lvl="0" marL="0" rtl="0" algn="l">
              <a:lnSpc>
                <a:spcPct val="112000"/>
              </a:lnSpc>
              <a:spcBef>
                <a:spcPts val="0"/>
              </a:spcBef>
              <a:spcAft>
                <a:spcPts val="0"/>
              </a:spcAft>
              <a:buNone/>
            </a:pPr>
            <a:r>
              <a:t/>
            </a:r>
            <a:endParaRPr sz="900">
              <a:solidFill>
                <a:srgbClr val="01123F"/>
              </a:solidFill>
              <a:latin typeface="Poppins Light"/>
              <a:ea typeface="Poppins Light"/>
              <a:cs typeface="Poppins Light"/>
              <a:sym typeface="Poppins Light"/>
            </a:endParaRPr>
          </a:p>
        </p:txBody>
      </p:sp>
      <p:sp>
        <p:nvSpPr>
          <p:cNvPr id="865" name="Google Shape;865;p61"/>
          <p:cNvSpPr txBox="1"/>
          <p:nvPr/>
        </p:nvSpPr>
        <p:spPr>
          <a:xfrm>
            <a:off x="6243025" y="2644820"/>
            <a:ext cx="2418300" cy="2733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None/>
            </a:pPr>
            <a:r>
              <a:rPr lang="en" sz="1000">
                <a:solidFill>
                  <a:schemeClr val="dk1"/>
                </a:solidFill>
                <a:latin typeface="Poppins SemiBold"/>
                <a:ea typeface="Poppins SemiBold"/>
                <a:cs typeface="Poppins SemiBold"/>
                <a:sym typeface="Poppins SemiBold"/>
              </a:rPr>
              <a:t>Full Code-to-Cloud Context </a:t>
            </a:r>
            <a:br>
              <a:rPr lang="en" sz="1000">
                <a:solidFill>
                  <a:schemeClr val="dk1"/>
                </a:solidFill>
                <a:latin typeface="Poppins SemiBold"/>
                <a:ea typeface="Poppins SemiBold"/>
                <a:cs typeface="Poppins SemiBold"/>
                <a:sym typeface="Poppins SemiBold"/>
              </a:rPr>
            </a:br>
            <a:r>
              <a:rPr lang="en" sz="1000">
                <a:solidFill>
                  <a:schemeClr val="dk1"/>
                </a:solidFill>
                <a:latin typeface="Poppins SemiBold"/>
                <a:ea typeface="Poppins SemiBold"/>
                <a:cs typeface="Poppins SemiBold"/>
                <a:sym typeface="Poppins SemiBold"/>
              </a:rPr>
              <a:t>Wiz Code POV</a:t>
            </a:r>
            <a:endParaRPr sz="1000">
              <a:solidFill>
                <a:schemeClr val="dk1"/>
              </a:solidFill>
              <a:latin typeface="Poppins SemiBold"/>
              <a:ea typeface="Poppins SemiBold"/>
              <a:cs typeface="Poppins SemiBold"/>
              <a:sym typeface="Poppins SemiBold"/>
            </a:endParaRPr>
          </a:p>
        </p:txBody>
      </p:sp>
      <p:pic>
        <p:nvPicPr>
          <p:cNvPr id="866" name="Google Shape;866;p61"/>
          <p:cNvPicPr preferRelativeResize="0"/>
          <p:nvPr/>
        </p:nvPicPr>
        <p:blipFill>
          <a:blip r:embed="rId4">
            <a:alphaModFix/>
          </a:blip>
          <a:stretch>
            <a:fillRect/>
          </a:stretch>
        </p:blipFill>
        <p:spPr>
          <a:xfrm>
            <a:off x="1337712" y="1908821"/>
            <a:ext cx="708225" cy="708225"/>
          </a:xfrm>
          <a:prstGeom prst="rect">
            <a:avLst/>
          </a:prstGeom>
          <a:noFill/>
          <a:ln>
            <a:noFill/>
          </a:ln>
        </p:spPr>
      </p:pic>
      <p:sp>
        <p:nvSpPr>
          <p:cNvPr id="867" name="Google Shape;867;p61"/>
          <p:cNvSpPr txBox="1"/>
          <p:nvPr>
            <p:ph idx="4294967295" type="title"/>
          </p:nvPr>
        </p:nvSpPr>
        <p:spPr>
          <a:xfrm>
            <a:off x="0" y="535725"/>
            <a:ext cx="9144000" cy="684000"/>
          </a:xfrm>
          <a:prstGeom prst="rect">
            <a:avLst/>
          </a:prstGeom>
          <a:noFill/>
          <a:ln>
            <a:noFill/>
          </a:ln>
        </p:spPr>
        <p:txBody>
          <a:bodyPr anchorCtr="0" anchor="ctr" bIns="34275" lIns="68575" spcFirstLastPara="1" rIns="68575" wrap="square" tIns="34275">
            <a:noAutofit/>
          </a:bodyPr>
          <a:lstStyle/>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Top Three Focus Areas to Mature</a:t>
            </a:r>
            <a:endParaRPr sz="2420">
              <a:latin typeface="Poppins Light"/>
              <a:ea typeface="Poppins Light"/>
              <a:cs typeface="Poppins Light"/>
              <a:sym typeface="Poppins Light"/>
            </a:endParaRPr>
          </a:p>
          <a:p>
            <a:pPr indent="0" lvl="0" marL="0" rtl="0" algn="ctr">
              <a:lnSpc>
                <a:spcPct val="100000"/>
              </a:lnSpc>
              <a:spcBef>
                <a:spcPts val="0"/>
              </a:spcBef>
              <a:spcAft>
                <a:spcPts val="0"/>
              </a:spcAft>
              <a:buClr>
                <a:schemeClr val="dk1"/>
              </a:buClr>
              <a:buSzPts val="1100"/>
              <a:buFont typeface="Arial"/>
              <a:buNone/>
            </a:pPr>
            <a:r>
              <a:rPr lang="en" sz="2420">
                <a:latin typeface="Poppins Light"/>
                <a:ea typeface="Poppins Light"/>
                <a:cs typeface="Poppins Light"/>
                <a:sym typeface="Poppins Light"/>
              </a:rPr>
              <a:t>for Developing Securely Improvements</a:t>
            </a:r>
            <a:endParaRPr sz="2420">
              <a:latin typeface="Poppins Light"/>
              <a:ea typeface="Poppins Light"/>
              <a:cs typeface="Poppins Light"/>
              <a:sym typeface="Poppins Light"/>
            </a:endParaRPr>
          </a:p>
        </p:txBody>
      </p:sp>
      <p:pic>
        <p:nvPicPr>
          <p:cNvPr id="868" name="Google Shape;868;p61" title="Group 1000002969.png"/>
          <p:cNvPicPr preferRelativeResize="0"/>
          <p:nvPr/>
        </p:nvPicPr>
        <p:blipFill>
          <a:blip r:embed="rId5">
            <a:alphaModFix/>
          </a:blip>
          <a:stretch>
            <a:fillRect/>
          </a:stretch>
        </p:blipFill>
        <p:spPr>
          <a:xfrm>
            <a:off x="4195263" y="2010813"/>
            <a:ext cx="753475" cy="504238"/>
          </a:xfrm>
          <a:prstGeom prst="rect">
            <a:avLst/>
          </a:prstGeom>
          <a:noFill/>
          <a:ln>
            <a:noFill/>
          </a:ln>
        </p:spPr>
      </p:pic>
      <p:pic>
        <p:nvPicPr>
          <p:cNvPr id="869" name="Google Shape;869;p61" title="Group 1000003039.png"/>
          <p:cNvPicPr preferRelativeResize="0"/>
          <p:nvPr/>
        </p:nvPicPr>
        <p:blipFill>
          <a:blip r:embed="rId6">
            <a:alphaModFix/>
          </a:blip>
          <a:stretch>
            <a:fillRect/>
          </a:stretch>
        </p:blipFill>
        <p:spPr>
          <a:xfrm>
            <a:off x="7196474" y="1993500"/>
            <a:ext cx="511400" cy="538875"/>
          </a:xfrm>
          <a:prstGeom prst="rect">
            <a:avLst/>
          </a:prstGeom>
          <a:noFill/>
          <a:ln>
            <a:noFill/>
          </a:ln>
        </p:spPr>
      </p:pic>
      <p:sp>
        <p:nvSpPr>
          <p:cNvPr id="870" name="Google Shape;870;p61"/>
          <p:cNvSpPr txBox="1"/>
          <p:nvPr/>
        </p:nvSpPr>
        <p:spPr>
          <a:xfrm>
            <a:off x="3284100" y="3084550"/>
            <a:ext cx="2575800" cy="1367400"/>
          </a:xfrm>
          <a:prstGeom prst="rect">
            <a:avLst/>
          </a:prstGeom>
          <a:noFill/>
          <a:ln>
            <a:noFill/>
          </a:ln>
        </p:spPr>
        <p:txBody>
          <a:bodyPr anchorCtr="0" anchor="t" bIns="34275" lIns="68575" spcFirstLastPara="1" rIns="68575" wrap="square" tIns="34275">
            <a:normAutofit/>
          </a:bodyPr>
          <a:lstStyle/>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Build on a clean image base with WizOS. Hardened, minimal, near-zero-CVE base images.</a:t>
            </a:r>
            <a:endParaRPr sz="900">
              <a:solidFill>
                <a:srgbClr val="01123F"/>
              </a:solidFill>
              <a:latin typeface="Poppins Light"/>
              <a:ea typeface="Poppins Light"/>
              <a:cs typeface="Poppins Light"/>
              <a:sym typeface="Poppins Light"/>
            </a:endParaRPr>
          </a:p>
          <a:p>
            <a:pPr indent="-95250" lvl="0" marL="285750" rtl="0" algn="l">
              <a:lnSpc>
                <a:spcPct val="112000"/>
              </a:lnSpc>
              <a:spcBef>
                <a:spcPts val="0"/>
              </a:spcBef>
              <a:spcAft>
                <a:spcPts val="0"/>
              </a:spcAft>
              <a:buClr>
                <a:srgbClr val="01123F"/>
              </a:buClr>
              <a:buSzPts val="600"/>
              <a:buFont typeface="Poppins Light"/>
              <a:buChar char="●"/>
            </a:pPr>
            <a:r>
              <a:rPr lang="en" sz="900">
                <a:solidFill>
                  <a:srgbClr val="01123F"/>
                </a:solidFill>
                <a:latin typeface="Poppins Light"/>
                <a:ea typeface="Poppins Light"/>
                <a:cs typeface="Poppins Light"/>
                <a:sym typeface="Poppins Light"/>
              </a:rPr>
              <a:t>Allows Enforce quality with proper image tagging via Wiz CLI. Stamps each image by digest, giving full code-to-cloud traceability.</a:t>
            </a:r>
            <a:endParaRPr sz="900">
              <a:solidFill>
                <a:srgbClr val="01123F"/>
              </a:solidFill>
              <a:latin typeface="Poppins Light"/>
              <a:ea typeface="Poppins Light"/>
              <a:cs typeface="Poppins Light"/>
              <a:sym typeface="Poppins Ligh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p62"/>
          <p:cNvPicPr preferRelativeResize="0"/>
          <p:nvPr/>
        </p:nvPicPr>
        <p:blipFill>
          <a:blip r:embed="rId3">
            <a:alphaModFix/>
          </a:blip>
          <a:stretch>
            <a:fillRect/>
          </a:stretch>
        </p:blipFill>
        <p:spPr>
          <a:xfrm>
            <a:off x="110700" y="514955"/>
            <a:ext cx="4359173" cy="4230574"/>
          </a:xfrm>
          <a:prstGeom prst="rect">
            <a:avLst/>
          </a:prstGeom>
          <a:noFill/>
          <a:ln>
            <a:noFill/>
          </a:ln>
        </p:spPr>
      </p:pic>
      <p:sp>
        <p:nvSpPr>
          <p:cNvPr id="877" name="Google Shape;877;p62"/>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Preview Hub Availability vs Usage</a:t>
            </a:r>
            <a:endParaRPr sz="2420">
              <a:latin typeface="Poppins Light"/>
              <a:ea typeface="Poppins Light"/>
              <a:cs typeface="Poppins Light"/>
              <a:sym typeface="Poppins Light"/>
            </a:endParaRPr>
          </a:p>
        </p:txBody>
      </p:sp>
      <p:sp>
        <p:nvSpPr>
          <p:cNvPr id="878" name="Google Shape;878;p62"/>
          <p:cNvSpPr txBox="1"/>
          <p:nvPr/>
        </p:nvSpPr>
        <p:spPr>
          <a:xfrm>
            <a:off x="110700" y="583584"/>
            <a:ext cx="4359000" cy="3462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600" u="sng">
                <a:solidFill>
                  <a:srgbClr val="0153EB"/>
                </a:solidFill>
                <a:latin typeface="Poppins"/>
                <a:ea typeface="Poppins"/>
                <a:cs typeface="Poppins"/>
                <a:sym typeface="Poppins"/>
                <a:hlinkClick r:id="rId4">
                  <a:extLst>
                    <a:ext uri="{A12FA001-AC4F-418D-AE19-62706E023703}">
                      <ahyp:hlinkClr val="tx"/>
                    </a:ext>
                  </a:extLst>
                </a:hlinkClick>
              </a:rPr>
              <a:t>Public Future-</a:t>
            </a:r>
            <a:r>
              <a:rPr lang="en" sz="1600" u="sng">
                <a:solidFill>
                  <a:srgbClr val="0153EB"/>
                </a:solidFill>
                <a:latin typeface="Poppins"/>
                <a:ea typeface="Poppins"/>
                <a:cs typeface="Poppins"/>
                <a:sym typeface="Poppins"/>
                <a:hlinkClick r:id="rId5">
                  <a:extLst>
                    <a:ext uri="{A12FA001-AC4F-418D-AE19-62706E023703}">
                      <ahyp:hlinkClr val="tx"/>
                    </a:ext>
                  </a:extLst>
                </a:hlinkClick>
              </a:rPr>
              <a:t>Billable Previews</a:t>
            </a:r>
            <a:r>
              <a:rPr lang="en" sz="1600">
                <a:solidFill>
                  <a:srgbClr val="0153EB"/>
                </a:solidFill>
                <a:uFill>
                  <a:noFill/>
                </a:uFill>
                <a:latin typeface="Poppins"/>
                <a:ea typeface="Poppins"/>
                <a:cs typeface="Poppins"/>
                <a:sym typeface="Poppins"/>
                <a:hlinkClick r:id="rId6">
                  <a:extLst>
                    <a:ext uri="{A12FA001-AC4F-418D-AE19-62706E023703}">
                      <ahyp:hlinkClr val="tx"/>
                    </a:ext>
                  </a:extLst>
                </a:hlinkClick>
              </a:rPr>
              <a:t> </a:t>
            </a:r>
            <a:r>
              <a:rPr lang="en" sz="1600">
                <a:solidFill>
                  <a:srgbClr val="0153EB"/>
                </a:solidFill>
                <a:uFill>
                  <a:noFill/>
                </a:uFill>
                <a:latin typeface="Poppins"/>
                <a:ea typeface="Poppins"/>
                <a:cs typeface="Poppins"/>
                <a:sym typeface="Poppins"/>
                <a:hlinkClick r:id="rId7">
                  <a:extLst>
                    <a:ext uri="{A12FA001-AC4F-418D-AE19-62706E023703}">
                      <ahyp:hlinkClr val="tx"/>
                    </a:ext>
                  </a:extLst>
                </a:hlinkClick>
              </a:rPr>
              <a:t>↗</a:t>
            </a:r>
            <a:endParaRPr sz="1600">
              <a:solidFill>
                <a:srgbClr val="0153EB"/>
              </a:solidFill>
              <a:latin typeface="Poppins"/>
              <a:ea typeface="Poppins"/>
              <a:cs typeface="Poppins"/>
              <a:sym typeface="Poppins"/>
            </a:endParaRPr>
          </a:p>
        </p:txBody>
      </p:sp>
      <p:sp>
        <p:nvSpPr>
          <p:cNvPr id="879" name="Google Shape;879;p62"/>
          <p:cNvSpPr/>
          <p:nvPr/>
        </p:nvSpPr>
        <p:spPr>
          <a:xfrm>
            <a:off x="165200" y="983157"/>
            <a:ext cx="4313400" cy="2096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A4A4A"/>
              </a:buClr>
              <a:buSzPts val="1100"/>
              <a:buFont typeface="Arial"/>
              <a:buNone/>
            </a:pPr>
            <a:r>
              <a:rPr lang="en" sz="1100">
                <a:solidFill>
                  <a:srgbClr val="4A4A4A"/>
                </a:solidFill>
                <a:latin typeface="Poppins SemiBold"/>
                <a:ea typeface="Poppins SemiBold"/>
                <a:cs typeface="Poppins SemiBold"/>
                <a:sym typeface="Poppins SemiBold"/>
              </a:rPr>
              <a:t>Advanced License:</a:t>
            </a:r>
            <a:br>
              <a:rPr lang="en" sz="1100">
                <a:solidFill>
                  <a:srgbClr val="4A4A4A"/>
                </a:solidFill>
                <a:latin typeface="Poppins"/>
                <a:ea typeface="Poppins"/>
                <a:cs typeface="Poppins"/>
                <a:sym typeface="Poppins"/>
              </a:rPr>
            </a:br>
            <a:r>
              <a:rPr lang="en" sz="900">
                <a:solidFill>
                  <a:srgbClr val="4A4A4A"/>
                </a:solidFill>
                <a:latin typeface="Poppins"/>
                <a:ea typeface="Poppins"/>
                <a:cs typeface="Poppins"/>
                <a:sym typeface="Poppins"/>
              </a:rPr>
              <a:t>{{BILLABLE_ADVANCED}}</a:t>
            </a:r>
            <a:br>
              <a:rPr lang="en" sz="1100">
                <a:solidFill>
                  <a:srgbClr val="4A4A4A"/>
                </a:solidFill>
                <a:latin typeface="Poppins"/>
                <a:ea typeface="Poppins"/>
                <a:cs typeface="Poppins"/>
                <a:sym typeface="Poppins"/>
              </a:rPr>
            </a:br>
            <a:br>
              <a:rPr lang="en" sz="1100">
                <a:solidFill>
                  <a:srgbClr val="4A4A4A"/>
                </a:solidFill>
                <a:latin typeface="Poppins"/>
                <a:ea typeface="Poppins"/>
                <a:cs typeface="Poppins"/>
                <a:sym typeface="Poppins"/>
              </a:rPr>
            </a:br>
            <a:r>
              <a:rPr lang="en" sz="1100">
                <a:solidFill>
                  <a:srgbClr val="4A4A4A"/>
                </a:solidFill>
                <a:latin typeface="Poppins SemiBold"/>
                <a:ea typeface="Poppins SemiBold"/>
                <a:cs typeface="Poppins SemiBold"/>
                <a:sym typeface="Poppins SemiBold"/>
              </a:rPr>
              <a:t>Sensor / Defend License:</a:t>
            </a:r>
            <a:br>
              <a:rPr lang="en" sz="1100">
                <a:solidFill>
                  <a:srgbClr val="4A4A4A"/>
                </a:solidFill>
                <a:latin typeface="Poppins"/>
                <a:ea typeface="Poppins"/>
                <a:cs typeface="Poppins"/>
                <a:sym typeface="Poppins"/>
              </a:rPr>
            </a:br>
            <a:r>
              <a:rPr lang="en" sz="900">
                <a:solidFill>
                  <a:srgbClr val="4A4A4A"/>
                </a:solidFill>
                <a:latin typeface="Poppins"/>
                <a:ea typeface="Poppins"/>
                <a:cs typeface="Poppins"/>
                <a:sym typeface="Poppins"/>
              </a:rPr>
              <a:t>{{BILLABLE_SENSOR}}</a:t>
            </a:r>
            <a:br>
              <a:rPr lang="en" sz="900">
                <a:solidFill>
                  <a:srgbClr val="4A4A4A"/>
                </a:solidFill>
                <a:latin typeface="Poppins"/>
                <a:ea typeface="Poppins"/>
                <a:cs typeface="Poppins"/>
                <a:sym typeface="Poppins"/>
              </a:rPr>
            </a:br>
            <a:r>
              <a:rPr lang="en" sz="900">
                <a:solidFill>
                  <a:srgbClr val="4A4A4A"/>
                </a:solidFill>
                <a:latin typeface="Poppins"/>
                <a:ea typeface="Poppins"/>
                <a:cs typeface="Poppins"/>
                <a:sym typeface="Poppins"/>
              </a:rPr>
              <a:t>{{BILLABLE_DEFEND}}</a:t>
            </a:r>
            <a:endParaRPr sz="900">
              <a:solidFill>
                <a:srgbClr val="4A4A4A"/>
              </a:solidFill>
              <a:latin typeface="Poppins"/>
              <a:ea typeface="Poppins"/>
              <a:cs typeface="Poppins"/>
              <a:sym typeface="Poppins"/>
            </a:endParaRPr>
          </a:p>
          <a:p>
            <a:pPr indent="0" lvl="0" marL="0" rtl="0" algn="l">
              <a:spcBef>
                <a:spcPts val="0"/>
              </a:spcBef>
              <a:spcAft>
                <a:spcPts val="0"/>
              </a:spcAft>
              <a:buClr>
                <a:srgbClr val="4A4A4A"/>
              </a:buClr>
              <a:buSzPts val="1100"/>
              <a:buFont typeface="Arial"/>
              <a:buNone/>
            </a:pPr>
            <a:r>
              <a:t/>
            </a:r>
            <a:endParaRPr sz="1100">
              <a:solidFill>
                <a:srgbClr val="4A4A4A"/>
              </a:solidFill>
              <a:latin typeface="Poppins"/>
              <a:ea typeface="Poppins"/>
              <a:cs typeface="Poppins"/>
              <a:sym typeface="Poppins"/>
            </a:endParaRPr>
          </a:p>
          <a:p>
            <a:pPr indent="0" lvl="0" marL="0" rtl="0" algn="l">
              <a:spcBef>
                <a:spcPts val="0"/>
              </a:spcBef>
              <a:spcAft>
                <a:spcPts val="0"/>
              </a:spcAft>
              <a:buClr>
                <a:srgbClr val="4A4A4A"/>
              </a:buClr>
              <a:buSzPts val="1100"/>
              <a:buFont typeface="Arial"/>
              <a:buNone/>
            </a:pPr>
            <a:r>
              <a:rPr lang="en" sz="1100">
                <a:solidFill>
                  <a:srgbClr val="4A4A4A"/>
                </a:solidFill>
                <a:latin typeface="Poppins SemiBold"/>
                <a:ea typeface="Poppins SemiBold"/>
                <a:cs typeface="Poppins SemiBold"/>
                <a:sym typeface="Poppins SemiBold"/>
              </a:rPr>
              <a:t>Wiz Code License:</a:t>
            </a:r>
            <a:br>
              <a:rPr lang="en" sz="1100">
                <a:solidFill>
                  <a:srgbClr val="4A4A4A"/>
                </a:solidFill>
                <a:latin typeface="Poppins"/>
                <a:ea typeface="Poppins"/>
                <a:cs typeface="Poppins"/>
                <a:sym typeface="Poppins"/>
              </a:rPr>
            </a:br>
            <a:r>
              <a:rPr lang="en" sz="900">
                <a:solidFill>
                  <a:srgbClr val="4A4A4A"/>
                </a:solidFill>
                <a:latin typeface="Poppins"/>
                <a:ea typeface="Poppins"/>
                <a:cs typeface="Poppins"/>
                <a:sym typeface="Poppins"/>
              </a:rPr>
              <a:t>{{BILLABLE_CODE}}</a:t>
            </a:r>
            <a:endParaRPr sz="900">
              <a:solidFill>
                <a:srgbClr val="4A4A4A"/>
              </a:solidFill>
              <a:latin typeface="Poppins"/>
              <a:ea typeface="Poppins"/>
              <a:cs typeface="Poppins"/>
              <a:sym typeface="Poppins"/>
            </a:endParaRPr>
          </a:p>
        </p:txBody>
      </p:sp>
      <p:pic>
        <p:nvPicPr>
          <p:cNvPr id="880" name="Google Shape;880;p62"/>
          <p:cNvPicPr preferRelativeResize="0"/>
          <p:nvPr/>
        </p:nvPicPr>
        <p:blipFill>
          <a:blip r:embed="rId3">
            <a:alphaModFix/>
          </a:blip>
          <a:stretch>
            <a:fillRect/>
          </a:stretch>
        </p:blipFill>
        <p:spPr>
          <a:xfrm>
            <a:off x="4636225" y="519525"/>
            <a:ext cx="4359173" cy="4230574"/>
          </a:xfrm>
          <a:prstGeom prst="rect">
            <a:avLst/>
          </a:prstGeom>
          <a:noFill/>
          <a:ln>
            <a:noFill/>
          </a:ln>
        </p:spPr>
      </p:pic>
      <p:sp>
        <p:nvSpPr>
          <p:cNvPr id="881" name="Google Shape;881;p62"/>
          <p:cNvSpPr txBox="1"/>
          <p:nvPr/>
        </p:nvSpPr>
        <p:spPr>
          <a:xfrm>
            <a:off x="4636222" y="584617"/>
            <a:ext cx="4359000" cy="3579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0"/>
              </a:spcBef>
              <a:spcAft>
                <a:spcPts val="0"/>
              </a:spcAft>
              <a:buClr>
                <a:schemeClr val="dk2"/>
              </a:buClr>
              <a:buSzPts val="1500"/>
              <a:buFont typeface="Arial"/>
              <a:buNone/>
            </a:pPr>
            <a:r>
              <a:rPr lang="en" sz="1600" u="sng">
                <a:solidFill>
                  <a:srgbClr val="0153EB"/>
                </a:solidFill>
                <a:latin typeface="Poppins"/>
                <a:ea typeface="Poppins"/>
                <a:cs typeface="Poppins"/>
                <a:sym typeface="Poppins"/>
                <a:hlinkClick r:id="rId8">
                  <a:extLst>
                    <a:ext uri="{A12FA001-AC4F-418D-AE19-62706E023703}">
                      <ahyp:hlinkClr val="tx"/>
                    </a:ext>
                  </a:extLst>
                </a:hlinkClick>
              </a:rPr>
              <a:t>Public Non-Billable Previews</a:t>
            </a:r>
            <a:r>
              <a:rPr lang="en" sz="1600">
                <a:solidFill>
                  <a:srgbClr val="0153EB"/>
                </a:solidFill>
                <a:uFill>
                  <a:noFill/>
                </a:uFill>
                <a:latin typeface="Poppins"/>
                <a:ea typeface="Poppins"/>
                <a:cs typeface="Poppins"/>
                <a:sym typeface="Poppins"/>
                <a:hlinkClick r:id="rId9">
                  <a:extLst>
                    <a:ext uri="{A12FA001-AC4F-418D-AE19-62706E023703}">
                      <ahyp:hlinkClr val="tx"/>
                    </a:ext>
                  </a:extLst>
                </a:hlinkClick>
              </a:rPr>
              <a:t> ↗</a:t>
            </a:r>
            <a:endParaRPr sz="1600">
              <a:solidFill>
                <a:schemeClr val="dk1"/>
              </a:solidFill>
              <a:latin typeface="Poppins"/>
              <a:ea typeface="Poppins"/>
              <a:cs typeface="Poppins"/>
              <a:sym typeface="Poppins"/>
            </a:endParaRPr>
          </a:p>
        </p:txBody>
      </p:sp>
      <p:sp>
        <p:nvSpPr>
          <p:cNvPr id="882" name="Google Shape;882;p62"/>
          <p:cNvSpPr/>
          <p:nvPr/>
        </p:nvSpPr>
        <p:spPr>
          <a:xfrm>
            <a:off x="4690701" y="997376"/>
            <a:ext cx="4313400" cy="2213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A4A4A"/>
              </a:buClr>
              <a:buSzPts val="1100"/>
              <a:buFont typeface="Arial"/>
              <a:buNone/>
            </a:pPr>
            <a:r>
              <a:rPr lang="en" sz="900">
                <a:solidFill>
                  <a:srgbClr val="4A4A4A"/>
                </a:solidFill>
                <a:latin typeface="Poppins"/>
                <a:ea typeface="Poppins"/>
                <a:cs typeface="Poppins"/>
                <a:sym typeface="Poppins"/>
              </a:rPr>
              <a:t>{{ALL_NON_BILLABLE_PREVIEW}}</a:t>
            </a:r>
            <a:br>
              <a:rPr lang="en" sz="1000">
                <a:solidFill>
                  <a:srgbClr val="4A4A4A"/>
                </a:solidFill>
                <a:latin typeface="Poppins"/>
                <a:ea typeface="Poppins"/>
                <a:cs typeface="Poppins"/>
                <a:sym typeface="Poppins"/>
              </a:rPr>
            </a:br>
            <a:endParaRPr sz="1000">
              <a:solidFill>
                <a:srgbClr val="4A4A4A"/>
              </a:solidFill>
              <a:latin typeface="Poppins"/>
              <a:ea typeface="Poppins"/>
              <a:cs typeface="Poppins"/>
              <a:sym typeface="Poppins"/>
            </a:endParaRPr>
          </a:p>
        </p:txBody>
      </p:sp>
      <p:sp>
        <p:nvSpPr>
          <p:cNvPr id="883" name="Google Shape;883;p62"/>
          <p:cNvSpPr txBox="1"/>
          <p:nvPr/>
        </p:nvSpPr>
        <p:spPr>
          <a:xfrm>
            <a:off x="0" y="0"/>
            <a:ext cx="1916100" cy="189900"/>
          </a:xfrm>
          <a:prstGeom prst="rect">
            <a:avLst/>
          </a:prstGeom>
          <a:noFill/>
          <a:ln>
            <a:noFill/>
          </a:ln>
        </p:spPr>
        <p:txBody>
          <a:bodyPr anchorCtr="0" anchor="t" bIns="34275" lIns="68575" spcFirstLastPara="1" rIns="68575" wrap="square" tIns="34275">
            <a:noAutofit/>
          </a:bodyPr>
          <a:lstStyle/>
          <a:p>
            <a:pPr indent="0" lvl="0" marL="0" marR="0" rtl="0" algn="l">
              <a:lnSpc>
                <a:spcPct val="90000"/>
              </a:lnSpc>
              <a:spcBef>
                <a:spcPts val="0"/>
              </a:spcBef>
              <a:spcAft>
                <a:spcPts val="0"/>
              </a:spcAft>
              <a:buClr>
                <a:schemeClr val="dk2"/>
              </a:buClr>
              <a:buSzPts val="1500"/>
              <a:buFont typeface="Arial"/>
              <a:buNone/>
            </a:pPr>
            <a:r>
              <a:rPr lang="en" sz="800">
                <a:solidFill>
                  <a:schemeClr val="dk1"/>
                </a:solidFill>
                <a:latin typeface="Poppins"/>
                <a:ea typeface="Poppins"/>
                <a:cs typeface="Poppins"/>
                <a:sym typeface="Poppins"/>
              </a:rPr>
              <a:t>**Private Features are typically only available upon request and approval</a:t>
            </a:r>
            <a:endParaRPr sz="800">
              <a:solidFill>
                <a:schemeClr val="dk1"/>
              </a:solidFill>
              <a:latin typeface="Poppins"/>
              <a:ea typeface="Poppins"/>
              <a:cs typeface="Poppins"/>
              <a:sym typeface="Poppi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8" name="Shape 888"/>
        <p:cNvGrpSpPr/>
        <p:nvPr/>
      </p:nvGrpSpPr>
      <p:grpSpPr>
        <a:xfrm>
          <a:off x="0" y="0"/>
          <a:ext cx="0" cy="0"/>
          <a:chOff x="0" y="0"/>
          <a:chExt cx="0" cy="0"/>
        </a:xfrm>
      </p:grpSpPr>
      <p:pic>
        <p:nvPicPr>
          <p:cNvPr id="889" name="Google Shape;889;p63"/>
          <p:cNvPicPr preferRelativeResize="0"/>
          <p:nvPr/>
        </p:nvPicPr>
        <p:blipFill>
          <a:blip r:embed="rId3">
            <a:alphaModFix/>
          </a:blip>
          <a:stretch>
            <a:fillRect/>
          </a:stretch>
        </p:blipFill>
        <p:spPr>
          <a:xfrm>
            <a:off x="110700" y="514953"/>
            <a:ext cx="4359173" cy="3657923"/>
          </a:xfrm>
          <a:prstGeom prst="rect">
            <a:avLst/>
          </a:prstGeom>
          <a:noFill/>
          <a:ln>
            <a:noFill/>
          </a:ln>
        </p:spPr>
      </p:pic>
      <p:sp>
        <p:nvSpPr>
          <p:cNvPr id="890" name="Google Shape;890;p63"/>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Preview Hub Availability vs Usage</a:t>
            </a:r>
            <a:endParaRPr sz="2420">
              <a:latin typeface="Poppins Light"/>
              <a:ea typeface="Poppins Light"/>
              <a:cs typeface="Poppins Light"/>
              <a:sym typeface="Poppins Light"/>
            </a:endParaRPr>
          </a:p>
        </p:txBody>
      </p:sp>
      <p:sp>
        <p:nvSpPr>
          <p:cNvPr id="891" name="Google Shape;891;p63"/>
          <p:cNvSpPr txBox="1"/>
          <p:nvPr/>
        </p:nvSpPr>
        <p:spPr>
          <a:xfrm>
            <a:off x="110700" y="573172"/>
            <a:ext cx="4359000" cy="3462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600" u="sng">
                <a:solidFill>
                  <a:srgbClr val="0153EB"/>
                </a:solidFill>
                <a:latin typeface="Poppins"/>
                <a:ea typeface="Poppins"/>
                <a:cs typeface="Poppins"/>
                <a:sym typeface="Poppins"/>
                <a:hlinkClick r:id="rId4">
                  <a:extLst>
                    <a:ext uri="{A12FA001-AC4F-418D-AE19-62706E023703}">
                      <ahyp:hlinkClr val="tx"/>
                    </a:ext>
                  </a:extLst>
                </a:hlinkClick>
              </a:rPr>
              <a:t>Private Future-Billable Previews</a:t>
            </a:r>
            <a:r>
              <a:rPr lang="en" sz="1600">
                <a:solidFill>
                  <a:srgbClr val="0153EB"/>
                </a:solidFill>
                <a:uFill>
                  <a:noFill/>
                </a:uFill>
                <a:latin typeface="Poppins"/>
                <a:ea typeface="Poppins"/>
                <a:cs typeface="Poppins"/>
                <a:sym typeface="Poppins"/>
                <a:hlinkClick r:id="rId5">
                  <a:extLst>
                    <a:ext uri="{A12FA001-AC4F-418D-AE19-62706E023703}">
                      <ahyp:hlinkClr val="tx"/>
                    </a:ext>
                  </a:extLst>
                </a:hlinkClick>
              </a:rPr>
              <a:t> ↗</a:t>
            </a:r>
            <a:endParaRPr sz="1600">
              <a:solidFill>
                <a:srgbClr val="0153EB"/>
              </a:solidFill>
              <a:latin typeface="Poppins"/>
              <a:ea typeface="Poppins"/>
              <a:cs typeface="Poppins"/>
              <a:sym typeface="Poppins"/>
            </a:endParaRPr>
          </a:p>
        </p:txBody>
      </p:sp>
      <p:sp>
        <p:nvSpPr>
          <p:cNvPr id="892" name="Google Shape;892;p63"/>
          <p:cNvSpPr/>
          <p:nvPr/>
        </p:nvSpPr>
        <p:spPr>
          <a:xfrm>
            <a:off x="165200" y="979468"/>
            <a:ext cx="4313400" cy="21276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A4A4A"/>
              </a:buClr>
              <a:buSzPts val="1100"/>
              <a:buFont typeface="Arial"/>
              <a:buNone/>
            </a:pPr>
            <a:r>
              <a:rPr lang="en" sz="1000">
                <a:solidFill>
                  <a:srgbClr val="4A4A4A"/>
                </a:solidFill>
                <a:latin typeface="Poppins"/>
                <a:ea typeface="Poppins"/>
                <a:cs typeface="Poppins"/>
                <a:sym typeface="Poppins"/>
              </a:rPr>
              <a:t>{{PRIVATE_BILLABLE}}</a:t>
            </a:r>
            <a:endParaRPr sz="1000">
              <a:solidFill>
                <a:srgbClr val="4A4A4A"/>
              </a:solidFill>
              <a:latin typeface="Poppins"/>
              <a:ea typeface="Poppins"/>
              <a:cs typeface="Poppins"/>
              <a:sym typeface="Poppins"/>
            </a:endParaRPr>
          </a:p>
          <a:p>
            <a:pPr indent="0" lvl="0" marL="0" rtl="0" algn="l">
              <a:spcBef>
                <a:spcPts val="0"/>
              </a:spcBef>
              <a:spcAft>
                <a:spcPts val="0"/>
              </a:spcAft>
              <a:buClr>
                <a:srgbClr val="4A4A4A"/>
              </a:buClr>
              <a:buSzPts val="1100"/>
              <a:buFont typeface="Arial"/>
              <a:buNone/>
            </a:pPr>
            <a:r>
              <a:t/>
            </a:r>
            <a:endParaRPr sz="1200">
              <a:solidFill>
                <a:srgbClr val="4A4A4A"/>
              </a:solidFill>
              <a:latin typeface="Poppins SemiBold"/>
              <a:ea typeface="Poppins SemiBold"/>
              <a:cs typeface="Poppins SemiBold"/>
              <a:sym typeface="Poppins SemiBold"/>
            </a:endParaRPr>
          </a:p>
        </p:txBody>
      </p:sp>
      <p:pic>
        <p:nvPicPr>
          <p:cNvPr id="893" name="Google Shape;893;p63"/>
          <p:cNvPicPr preferRelativeResize="0"/>
          <p:nvPr/>
        </p:nvPicPr>
        <p:blipFill>
          <a:blip r:embed="rId3">
            <a:alphaModFix/>
          </a:blip>
          <a:stretch>
            <a:fillRect/>
          </a:stretch>
        </p:blipFill>
        <p:spPr>
          <a:xfrm>
            <a:off x="4636225" y="519525"/>
            <a:ext cx="4359173" cy="3657923"/>
          </a:xfrm>
          <a:prstGeom prst="rect">
            <a:avLst/>
          </a:prstGeom>
          <a:noFill/>
          <a:ln>
            <a:noFill/>
          </a:ln>
        </p:spPr>
      </p:pic>
      <p:sp>
        <p:nvSpPr>
          <p:cNvPr id="894" name="Google Shape;894;p63"/>
          <p:cNvSpPr txBox="1"/>
          <p:nvPr/>
        </p:nvSpPr>
        <p:spPr>
          <a:xfrm>
            <a:off x="4636222" y="574205"/>
            <a:ext cx="4359000" cy="3579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0"/>
              </a:spcBef>
              <a:spcAft>
                <a:spcPts val="0"/>
              </a:spcAft>
              <a:buClr>
                <a:schemeClr val="dk2"/>
              </a:buClr>
              <a:buSzPts val="1500"/>
              <a:buFont typeface="Arial"/>
              <a:buNone/>
            </a:pPr>
            <a:r>
              <a:rPr lang="en" sz="1600" u="sng">
                <a:solidFill>
                  <a:srgbClr val="0153EB"/>
                </a:solidFill>
                <a:latin typeface="Poppins"/>
                <a:ea typeface="Poppins"/>
                <a:cs typeface="Poppins"/>
                <a:sym typeface="Poppins"/>
                <a:hlinkClick r:id="rId6">
                  <a:extLst>
                    <a:ext uri="{A12FA001-AC4F-418D-AE19-62706E023703}">
                      <ahyp:hlinkClr val="tx"/>
                    </a:ext>
                  </a:extLst>
                </a:hlinkClick>
              </a:rPr>
              <a:t>Private Non-Billable Previews</a:t>
            </a:r>
            <a:r>
              <a:rPr lang="en" sz="1600">
                <a:solidFill>
                  <a:srgbClr val="0153EB"/>
                </a:solidFill>
                <a:uFill>
                  <a:noFill/>
                </a:uFill>
                <a:latin typeface="Poppins"/>
                <a:ea typeface="Poppins"/>
                <a:cs typeface="Poppins"/>
                <a:sym typeface="Poppins"/>
                <a:hlinkClick r:id="rId7">
                  <a:extLst>
                    <a:ext uri="{A12FA001-AC4F-418D-AE19-62706E023703}">
                      <ahyp:hlinkClr val="tx"/>
                    </a:ext>
                  </a:extLst>
                </a:hlinkClick>
              </a:rPr>
              <a:t> ↗</a:t>
            </a:r>
            <a:endParaRPr sz="1600">
              <a:solidFill>
                <a:schemeClr val="dk1"/>
              </a:solidFill>
              <a:latin typeface="Poppins"/>
              <a:ea typeface="Poppins"/>
              <a:cs typeface="Poppins"/>
              <a:sym typeface="Poppins"/>
            </a:endParaRPr>
          </a:p>
        </p:txBody>
      </p:sp>
      <p:sp>
        <p:nvSpPr>
          <p:cNvPr id="895" name="Google Shape;895;p63"/>
          <p:cNvSpPr/>
          <p:nvPr/>
        </p:nvSpPr>
        <p:spPr>
          <a:xfrm>
            <a:off x="4690701" y="972864"/>
            <a:ext cx="4313400" cy="2213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A4A4A"/>
              </a:buClr>
              <a:buSzPts val="1100"/>
              <a:buFont typeface="Arial"/>
              <a:buNone/>
            </a:pPr>
            <a:r>
              <a:rPr lang="en" sz="1000">
                <a:solidFill>
                  <a:srgbClr val="4A4A4A"/>
                </a:solidFill>
                <a:latin typeface="Poppins"/>
                <a:ea typeface="Poppins"/>
                <a:cs typeface="Poppins"/>
                <a:sym typeface="Poppins"/>
              </a:rPr>
              <a:t>{{PRIVATE_NON_BILLABLE}}</a:t>
            </a:r>
            <a:endParaRPr sz="1000">
              <a:solidFill>
                <a:srgbClr val="4A4A4A"/>
              </a:solidFill>
              <a:latin typeface="Poppins"/>
              <a:ea typeface="Poppins"/>
              <a:cs typeface="Poppins"/>
              <a:sym typeface="Poppins"/>
            </a:endParaRPr>
          </a:p>
          <a:p>
            <a:pPr indent="0" lvl="0" marL="0" rtl="0" algn="l">
              <a:spcBef>
                <a:spcPts val="0"/>
              </a:spcBef>
              <a:spcAft>
                <a:spcPts val="0"/>
              </a:spcAft>
              <a:buClr>
                <a:srgbClr val="4A4A4A"/>
              </a:buClr>
              <a:buSzPts val="1100"/>
              <a:buFont typeface="Arial"/>
              <a:buNone/>
            </a:pPr>
            <a:r>
              <a:t/>
            </a:r>
            <a:endParaRPr sz="1000">
              <a:solidFill>
                <a:srgbClr val="4A4A4A"/>
              </a:solidFill>
              <a:latin typeface="Poppins"/>
              <a:ea typeface="Poppins"/>
              <a:cs typeface="Poppins"/>
              <a:sym typeface="Poppins"/>
            </a:endParaRPr>
          </a:p>
        </p:txBody>
      </p:sp>
      <p:sp>
        <p:nvSpPr>
          <p:cNvPr id="896" name="Google Shape;896;p63"/>
          <p:cNvSpPr txBox="1"/>
          <p:nvPr/>
        </p:nvSpPr>
        <p:spPr>
          <a:xfrm>
            <a:off x="-100" y="4435475"/>
            <a:ext cx="9144000" cy="1899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b="1" lang="en" sz="1100">
                <a:solidFill>
                  <a:schemeClr val="dk1"/>
                </a:solidFill>
                <a:latin typeface="Poppins"/>
                <a:ea typeface="Poppins"/>
                <a:cs typeface="Poppins"/>
                <a:sym typeface="Poppins"/>
              </a:rPr>
              <a:t>**Private Features are typically only available upon request and approval</a:t>
            </a:r>
            <a:endParaRPr b="1" sz="1100">
              <a:solidFill>
                <a:schemeClr val="dk1"/>
              </a:solidFill>
              <a:latin typeface="Poppins"/>
              <a:ea typeface="Poppins"/>
              <a:cs typeface="Poppins"/>
              <a:sym typeface="Poppins"/>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pic>
        <p:nvPicPr>
          <p:cNvPr id="902" name="Google Shape;902;p64"/>
          <p:cNvPicPr preferRelativeResize="0"/>
          <p:nvPr/>
        </p:nvPicPr>
        <p:blipFill>
          <a:blip r:embed="rId3">
            <a:alphaModFix/>
          </a:blip>
          <a:stretch>
            <a:fillRect/>
          </a:stretch>
        </p:blipFill>
        <p:spPr>
          <a:xfrm>
            <a:off x="329350" y="1194925"/>
            <a:ext cx="8466125" cy="3904599"/>
          </a:xfrm>
          <a:prstGeom prst="rect">
            <a:avLst/>
          </a:prstGeom>
          <a:noFill/>
          <a:ln>
            <a:noFill/>
          </a:ln>
        </p:spPr>
      </p:pic>
      <p:sp>
        <p:nvSpPr>
          <p:cNvPr id="903" name="Google Shape;903;p64"/>
          <p:cNvSpPr txBox="1"/>
          <p:nvPr>
            <p:ph idx="4294967295" type="title"/>
          </p:nvPr>
        </p:nvSpPr>
        <p:spPr>
          <a:xfrm>
            <a:off x="150" y="112783"/>
            <a:ext cx="9144000" cy="367200"/>
          </a:xfrm>
          <a:prstGeom prst="rect">
            <a:avLst/>
          </a:prstGeom>
          <a:noFill/>
          <a:ln>
            <a:noFill/>
          </a:ln>
        </p:spPr>
        <p:txBody>
          <a:bodyPr anchorCtr="0" anchor="ctr" bIns="34275" lIns="68575" spcFirstLastPara="1" rIns="68575" wrap="square" tIns="34275">
            <a:noAutofit/>
          </a:bodyPr>
          <a:lstStyle/>
          <a:p>
            <a:pPr indent="0" lvl="0" marL="0" rtl="0" algn="ctr">
              <a:lnSpc>
                <a:spcPct val="90000"/>
              </a:lnSpc>
              <a:spcBef>
                <a:spcPts val="0"/>
              </a:spcBef>
              <a:spcAft>
                <a:spcPts val="0"/>
              </a:spcAft>
              <a:buClr>
                <a:schemeClr val="dk1"/>
              </a:buClr>
              <a:buSzPts val="1800"/>
              <a:buFont typeface="DM Sans"/>
              <a:buNone/>
            </a:pPr>
            <a:r>
              <a:rPr lang="en" sz="2420">
                <a:latin typeface="Poppins Light"/>
                <a:ea typeface="Poppins Light"/>
                <a:cs typeface="Poppins Light"/>
                <a:sym typeface="Poppins Light"/>
              </a:rPr>
              <a:t>Roadmap Tracker Usage</a:t>
            </a:r>
            <a:endParaRPr sz="2420">
              <a:latin typeface="Poppins Light"/>
              <a:ea typeface="Poppins Light"/>
              <a:cs typeface="Poppins Light"/>
              <a:sym typeface="Poppins Light"/>
            </a:endParaRPr>
          </a:p>
        </p:txBody>
      </p:sp>
      <p:sp>
        <p:nvSpPr>
          <p:cNvPr id="904" name="Google Shape;904;p64"/>
          <p:cNvSpPr txBox="1"/>
          <p:nvPr/>
        </p:nvSpPr>
        <p:spPr>
          <a:xfrm>
            <a:off x="318475" y="1210557"/>
            <a:ext cx="8465700" cy="375600"/>
          </a:xfrm>
          <a:prstGeom prst="rect">
            <a:avLst/>
          </a:prstGeom>
          <a:noFill/>
          <a:ln>
            <a:noFill/>
          </a:ln>
        </p:spPr>
        <p:txBody>
          <a:bodyPr anchorCtr="0" anchor="t" bIns="34275" lIns="68575" spcFirstLastPara="1" rIns="68575" wrap="square" tIns="34275">
            <a:noAutofit/>
          </a:bodyPr>
          <a:lstStyle/>
          <a:p>
            <a:pPr indent="0" lvl="0" marL="0" marR="0" rtl="0" algn="ctr">
              <a:lnSpc>
                <a:spcPct val="90000"/>
              </a:lnSpc>
              <a:spcBef>
                <a:spcPts val="0"/>
              </a:spcBef>
              <a:spcAft>
                <a:spcPts val="0"/>
              </a:spcAft>
              <a:buClr>
                <a:schemeClr val="dk2"/>
              </a:buClr>
              <a:buSzPts val="1500"/>
              <a:buFont typeface="Arial"/>
              <a:buNone/>
            </a:pPr>
            <a:r>
              <a:rPr lang="en" sz="1800" u="sng">
                <a:solidFill>
                  <a:srgbClr val="1A56DB"/>
                </a:solidFill>
                <a:latin typeface="Poppins"/>
                <a:ea typeface="Poppins"/>
                <a:cs typeface="Poppins"/>
                <a:sym typeface="Poppins"/>
                <a:hlinkClick r:id="rId4">
                  <a:extLst>
                    <a:ext uri="{A12FA001-AC4F-418D-AE19-62706E023703}">
                      <ahyp:hlinkClr val="tx"/>
                    </a:ext>
                  </a:extLst>
                </a:hlinkClick>
              </a:rPr>
              <a:t>Tracked Roadmap Items</a:t>
            </a:r>
            <a:r>
              <a:rPr lang="en" sz="1800">
                <a:solidFill>
                  <a:srgbClr val="1A56DB"/>
                </a:solidFill>
                <a:uFill>
                  <a:noFill/>
                </a:uFill>
                <a:latin typeface="Poppins"/>
                <a:ea typeface="Poppins"/>
                <a:cs typeface="Poppins"/>
                <a:sym typeface="Poppins"/>
                <a:hlinkClick r:id="rId5">
                  <a:extLst>
                    <a:ext uri="{A12FA001-AC4F-418D-AE19-62706E023703}">
                      <ahyp:hlinkClr val="tx"/>
                    </a:ext>
                  </a:extLst>
                </a:hlinkClick>
              </a:rPr>
              <a:t> ↗</a:t>
            </a:r>
            <a:endParaRPr sz="1800">
              <a:solidFill>
                <a:srgbClr val="1A56DB"/>
              </a:solidFill>
              <a:latin typeface="Poppins"/>
              <a:ea typeface="Poppins"/>
              <a:cs typeface="Poppins"/>
              <a:sym typeface="Poppins"/>
            </a:endParaRPr>
          </a:p>
        </p:txBody>
      </p:sp>
      <p:sp>
        <p:nvSpPr>
          <p:cNvPr id="905" name="Google Shape;905;p64"/>
          <p:cNvSpPr/>
          <p:nvPr/>
        </p:nvSpPr>
        <p:spPr>
          <a:xfrm>
            <a:off x="435197" y="1658861"/>
            <a:ext cx="8377200" cy="2010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A4A4A"/>
              </a:buClr>
              <a:buSzPts val="1100"/>
              <a:buFont typeface="Arial"/>
              <a:buNone/>
            </a:pPr>
            <a:r>
              <a:rPr lang="en" sz="1100">
                <a:solidFill>
                  <a:srgbClr val="4A4A4A"/>
                </a:solidFill>
                <a:latin typeface="Poppins Light"/>
                <a:ea typeface="Poppins Light"/>
                <a:cs typeface="Poppins Light"/>
                <a:sym typeface="Poppins Light"/>
              </a:rPr>
              <a:t>{{ROADMAP_TRACKER}}</a:t>
            </a:r>
            <a:endParaRPr sz="1100">
              <a:solidFill>
                <a:srgbClr val="4A4A4A"/>
              </a:solidFill>
              <a:latin typeface="Poppins Light"/>
              <a:ea typeface="Poppins Light"/>
              <a:cs typeface="Poppins Light"/>
              <a:sym typeface="Poppins Light"/>
            </a:endParaRPr>
          </a:p>
          <a:p>
            <a:pPr indent="0" lvl="0" marL="0" rtl="0" algn="l">
              <a:spcBef>
                <a:spcPts val="0"/>
              </a:spcBef>
              <a:spcAft>
                <a:spcPts val="0"/>
              </a:spcAft>
              <a:buClr>
                <a:srgbClr val="4A4A4A"/>
              </a:buClr>
              <a:buSzPts val="1100"/>
              <a:buFont typeface="Arial"/>
              <a:buNone/>
            </a:pPr>
            <a:r>
              <a:t/>
            </a:r>
            <a:endParaRPr sz="1300">
              <a:solidFill>
                <a:srgbClr val="4A4A4A"/>
              </a:solidFill>
              <a:latin typeface="Poppins Light"/>
              <a:ea typeface="Poppins Light"/>
              <a:cs typeface="Poppins Light"/>
              <a:sym typeface="Poppins Light"/>
            </a:endParaRPr>
          </a:p>
        </p:txBody>
      </p:sp>
      <p:sp>
        <p:nvSpPr>
          <p:cNvPr id="906" name="Google Shape;906;p64"/>
          <p:cNvSpPr txBox="1"/>
          <p:nvPr/>
        </p:nvSpPr>
        <p:spPr>
          <a:xfrm>
            <a:off x="150" y="498025"/>
            <a:ext cx="9144000" cy="696900"/>
          </a:xfrm>
          <a:prstGeom prst="rect">
            <a:avLst/>
          </a:prstGeom>
          <a:noFill/>
          <a:ln>
            <a:noFill/>
          </a:ln>
        </p:spPr>
        <p:txBody>
          <a:bodyPr anchorCtr="0" anchor="t" bIns="34275" lIns="68575" spcFirstLastPara="1" rIns="68575" wrap="square" tIns="34275">
            <a:noAutofit/>
          </a:bodyPr>
          <a:lstStyle/>
          <a:p>
            <a:pPr indent="0" lvl="0" marL="0" rtl="0" algn="ctr">
              <a:lnSpc>
                <a:spcPct val="115000"/>
              </a:lnSpc>
              <a:spcBef>
                <a:spcPts val="0"/>
              </a:spcBef>
              <a:spcAft>
                <a:spcPts val="0"/>
              </a:spcAft>
              <a:buClr>
                <a:schemeClr val="dk1"/>
              </a:buClr>
              <a:buSzPts val="1100"/>
              <a:buFont typeface="Arial"/>
              <a:buNone/>
            </a:pPr>
            <a:r>
              <a:rPr lang="en" sz="800">
                <a:solidFill>
                  <a:srgbClr val="60646C"/>
                </a:solidFill>
                <a:latin typeface="Poppins"/>
                <a:ea typeface="Poppins"/>
                <a:cs typeface="Poppins"/>
                <a:sym typeface="Poppins"/>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a:solidFill>
                <a:srgbClr val="60646C"/>
              </a:solidFill>
              <a:latin typeface="Poppins"/>
              <a:ea typeface="Poppins"/>
              <a:cs typeface="Poppins"/>
              <a:sym typeface="Poppins"/>
            </a:endParaRPr>
          </a:p>
          <a:p>
            <a:pPr indent="0" lvl="0" marL="0" marR="0" rtl="0" algn="ctr">
              <a:lnSpc>
                <a:spcPct val="90000"/>
              </a:lnSpc>
              <a:spcBef>
                <a:spcPts val="600"/>
              </a:spcBef>
              <a:spcAft>
                <a:spcPts val="0"/>
              </a:spcAft>
              <a:buClr>
                <a:schemeClr val="dk2"/>
              </a:buClr>
              <a:buSzPts val="1500"/>
              <a:buFont typeface="Arial"/>
              <a:buNone/>
            </a:pPr>
            <a:r>
              <a:t/>
            </a:r>
            <a:endParaRPr sz="800">
              <a:solidFill>
                <a:schemeClr val="dk1"/>
              </a:solidFill>
              <a:latin typeface="Poppins"/>
              <a:ea typeface="Poppins"/>
              <a:cs typeface="Poppins"/>
              <a:sym typeface="Poppi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65"/>
          <p:cNvSpPr txBox="1"/>
          <p:nvPr/>
        </p:nvSpPr>
        <p:spPr>
          <a:xfrm>
            <a:off x="468449" y="2483713"/>
            <a:ext cx="3273600" cy="900300"/>
          </a:xfrm>
          <a:prstGeom prst="rect">
            <a:avLst/>
          </a:prstGeom>
          <a:noFill/>
          <a:ln>
            <a:noFill/>
          </a:ln>
        </p:spPr>
        <p:txBody>
          <a:bodyPr anchorCtr="0" anchor="t" bIns="34275" lIns="68575" spcFirstLastPara="1" rIns="68575" wrap="square" tIns="34275">
            <a:spAutoFit/>
          </a:bodyPr>
          <a:lstStyle/>
          <a:p>
            <a:pPr indent="0" lvl="0" marL="0" rtl="0" algn="l">
              <a:spcBef>
                <a:spcPts val="0"/>
              </a:spcBef>
              <a:spcAft>
                <a:spcPts val="0"/>
              </a:spcAft>
              <a:buClr>
                <a:schemeClr val="dk1"/>
              </a:buClr>
              <a:buSzPts val="1100"/>
              <a:buFont typeface="Arial"/>
              <a:buNone/>
            </a:pPr>
            <a:r>
              <a:rPr lang="en" sz="2700">
                <a:solidFill>
                  <a:schemeClr val="lt1"/>
                </a:solidFill>
                <a:latin typeface="Poppins"/>
                <a:ea typeface="Poppins"/>
                <a:cs typeface="Poppins"/>
                <a:sym typeface="Poppins"/>
              </a:rPr>
              <a:t>Best Practice Review</a:t>
            </a:r>
            <a:endParaRPr sz="2700">
              <a:solidFill>
                <a:schemeClr val="lt1"/>
              </a:solidFill>
              <a:latin typeface="Poppins"/>
              <a:ea typeface="Poppins"/>
              <a:cs typeface="Poppins"/>
              <a:sym typeface="Poppins"/>
            </a:endParaRPr>
          </a:p>
        </p:txBody>
      </p:sp>
      <p:pic>
        <p:nvPicPr>
          <p:cNvPr id="913" name="Google Shape;913;p65" title="opening_photo.png"/>
          <p:cNvPicPr preferRelativeResize="0"/>
          <p:nvPr/>
        </p:nvPicPr>
        <p:blipFill>
          <a:blip r:embed="rId3">
            <a:alphaModFix/>
          </a:blip>
          <a:stretch>
            <a:fillRect/>
          </a:stretch>
        </p:blipFill>
        <p:spPr>
          <a:xfrm>
            <a:off x="4256533" y="1409675"/>
            <a:ext cx="4306800" cy="2143875"/>
          </a:xfrm>
          <a:prstGeom prst="rect">
            <a:avLst/>
          </a:prstGeom>
          <a:noFill/>
          <a:ln>
            <a:noFill/>
          </a:ln>
        </p:spPr>
      </p:pic>
      <p:pic>
        <p:nvPicPr>
          <p:cNvPr id="914" name="Google Shape;914;p65" title="cloud.png"/>
          <p:cNvPicPr preferRelativeResize="0"/>
          <p:nvPr/>
        </p:nvPicPr>
        <p:blipFill>
          <a:blip r:embed="rId4">
            <a:alphaModFix/>
          </a:blip>
          <a:stretch>
            <a:fillRect/>
          </a:stretch>
        </p:blipFill>
        <p:spPr>
          <a:xfrm>
            <a:off x="6699300" y="3318246"/>
            <a:ext cx="2444700" cy="1825254"/>
          </a:xfrm>
          <a:prstGeom prst="rect">
            <a:avLst/>
          </a:prstGeom>
          <a:noFill/>
          <a:ln>
            <a:noFill/>
          </a:ln>
        </p:spPr>
      </p:pic>
      <p:pic>
        <p:nvPicPr>
          <p:cNvPr id="915" name="Google Shape;915;p65" title="logo.png"/>
          <p:cNvPicPr preferRelativeResize="0"/>
          <p:nvPr/>
        </p:nvPicPr>
        <p:blipFill>
          <a:blip r:embed="rId5">
            <a:alphaModFix/>
          </a:blip>
          <a:stretch>
            <a:fillRect/>
          </a:stretch>
        </p:blipFill>
        <p:spPr>
          <a:xfrm>
            <a:off x="553277" y="1994713"/>
            <a:ext cx="637001" cy="3041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noFill/>
      </p:bgPr>
    </p:bg>
    <p:spTree>
      <p:nvGrpSpPr>
        <p:cNvPr id="920" name="Shape 920"/>
        <p:cNvGrpSpPr/>
        <p:nvPr/>
      </p:nvGrpSpPr>
      <p:grpSpPr>
        <a:xfrm>
          <a:off x="0" y="0"/>
          <a:ext cx="0" cy="0"/>
          <a:chOff x="0" y="0"/>
          <a:chExt cx="0" cy="0"/>
        </a:xfrm>
      </p:grpSpPr>
      <p:sp>
        <p:nvSpPr>
          <p:cNvPr id="921" name="Google Shape;921;p66"/>
          <p:cNvSpPr/>
          <p:nvPr/>
        </p:nvSpPr>
        <p:spPr>
          <a:xfrm>
            <a:off x="457190" y="1413775"/>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Scanning Non-OS Disks</a:t>
            </a:r>
            <a:endParaRPr b="0" i="0" sz="800" u="none" cap="none" strike="noStrike">
              <a:solidFill>
                <a:schemeClr val="dk1"/>
              </a:solidFill>
              <a:latin typeface="Calibri"/>
              <a:ea typeface="Calibri"/>
              <a:cs typeface="Calibri"/>
              <a:sym typeface="Calibri"/>
            </a:endParaRPr>
          </a:p>
        </p:txBody>
      </p:sp>
      <p:sp>
        <p:nvSpPr>
          <p:cNvPr id="922" name="Google Shape;922;p66"/>
          <p:cNvSpPr/>
          <p:nvPr/>
        </p:nvSpPr>
        <p:spPr>
          <a:xfrm>
            <a:off x="457190" y="1644569"/>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Virtual Machine Scanning</a:t>
            </a:r>
            <a:endParaRPr b="0" i="0" sz="800" u="none" cap="none" strike="noStrike">
              <a:solidFill>
                <a:schemeClr val="dk1"/>
              </a:solidFill>
              <a:latin typeface="Calibri"/>
              <a:ea typeface="Calibri"/>
              <a:cs typeface="Calibri"/>
              <a:sym typeface="Calibri"/>
            </a:endParaRPr>
          </a:p>
        </p:txBody>
      </p:sp>
      <p:sp>
        <p:nvSpPr>
          <p:cNvPr id="923" name="Google Shape;923;p66"/>
          <p:cNvSpPr/>
          <p:nvPr/>
        </p:nvSpPr>
        <p:spPr>
          <a:xfrm>
            <a:off x="457190" y="1875363"/>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Shared AWS CMKs</a:t>
            </a:r>
            <a:endParaRPr b="0" i="0" sz="800" u="none" cap="none" strike="noStrike">
              <a:solidFill>
                <a:schemeClr val="dk1"/>
              </a:solidFill>
              <a:latin typeface="Calibri"/>
              <a:ea typeface="Calibri"/>
              <a:cs typeface="Calibri"/>
              <a:sym typeface="Calibri"/>
            </a:endParaRPr>
          </a:p>
        </p:txBody>
      </p:sp>
      <p:sp>
        <p:nvSpPr>
          <p:cNvPr id="924" name="Google Shape;924;p66"/>
          <p:cNvSpPr/>
          <p:nvPr/>
        </p:nvSpPr>
        <p:spPr>
          <a:xfrm>
            <a:off x="457190" y="2106157"/>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AWS Scanning via Temp Volumes</a:t>
            </a:r>
            <a:endParaRPr b="0" i="0" sz="800" u="none" cap="none" strike="noStrike">
              <a:solidFill>
                <a:schemeClr val="dk1"/>
              </a:solidFill>
              <a:latin typeface="Calibri"/>
              <a:ea typeface="Calibri"/>
              <a:cs typeface="Calibri"/>
              <a:sym typeface="Calibri"/>
            </a:endParaRPr>
          </a:p>
        </p:txBody>
      </p:sp>
      <p:sp>
        <p:nvSpPr>
          <p:cNvPr id="925" name="Google Shape;925;p66"/>
          <p:cNvSpPr/>
          <p:nvPr/>
        </p:nvSpPr>
        <p:spPr>
          <a:xfrm>
            <a:off x="457190" y="2336951"/>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AWS LightSail Scanning</a:t>
            </a:r>
            <a:endParaRPr b="0" i="0" sz="800" u="none" cap="none" strike="noStrike">
              <a:solidFill>
                <a:schemeClr val="dk1"/>
              </a:solidFill>
              <a:latin typeface="Calibri"/>
              <a:ea typeface="Calibri"/>
              <a:cs typeface="Calibri"/>
              <a:sym typeface="Calibri"/>
            </a:endParaRPr>
          </a:p>
        </p:txBody>
      </p:sp>
      <p:sp>
        <p:nvSpPr>
          <p:cNvPr id="926" name="Google Shape;926;p66"/>
          <p:cNvSpPr/>
          <p:nvPr/>
        </p:nvSpPr>
        <p:spPr>
          <a:xfrm>
            <a:off x="457190" y="2567745"/>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AWS Lambda Version Scanning</a:t>
            </a:r>
            <a:endParaRPr b="0" i="0" sz="800" u="none" cap="none" strike="noStrike">
              <a:solidFill>
                <a:schemeClr val="dk1"/>
              </a:solidFill>
              <a:latin typeface="Calibri"/>
              <a:ea typeface="Calibri"/>
              <a:cs typeface="Calibri"/>
              <a:sym typeface="Calibri"/>
            </a:endParaRPr>
          </a:p>
        </p:txBody>
      </p:sp>
      <p:sp>
        <p:nvSpPr>
          <p:cNvPr id="927" name="Google Shape;927;p66"/>
          <p:cNvSpPr/>
          <p:nvPr/>
        </p:nvSpPr>
        <p:spPr>
          <a:xfrm>
            <a:off x="457190" y="2798539"/>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Custom Scanner Tags</a:t>
            </a:r>
            <a:endParaRPr b="0" i="0" sz="800" u="none" cap="none" strike="noStrike">
              <a:solidFill>
                <a:schemeClr val="dk1"/>
              </a:solidFill>
              <a:latin typeface="Calibri"/>
              <a:ea typeface="Calibri"/>
              <a:cs typeface="Calibri"/>
              <a:sym typeface="Calibri"/>
            </a:endParaRPr>
          </a:p>
        </p:txBody>
      </p:sp>
      <p:sp>
        <p:nvSpPr>
          <p:cNvPr id="928" name="Google Shape;928;p66"/>
          <p:cNvSpPr/>
          <p:nvPr/>
        </p:nvSpPr>
        <p:spPr>
          <a:xfrm>
            <a:off x="457190" y="3029333"/>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Workload Scanning Exclusions</a:t>
            </a:r>
            <a:endParaRPr b="0" i="0" sz="800" u="none" cap="none" strike="noStrike">
              <a:solidFill>
                <a:schemeClr val="dk1"/>
              </a:solidFill>
              <a:latin typeface="Calibri"/>
              <a:ea typeface="Calibri"/>
              <a:cs typeface="Calibri"/>
              <a:sym typeface="Calibri"/>
            </a:endParaRPr>
          </a:p>
        </p:txBody>
      </p:sp>
      <p:sp>
        <p:nvSpPr>
          <p:cNvPr id="929" name="Google Shape;929;p66"/>
          <p:cNvSpPr/>
          <p:nvPr/>
        </p:nvSpPr>
        <p:spPr>
          <a:xfrm>
            <a:off x="457190" y="3260127"/>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Compute Instance Group Sampling</a:t>
            </a:r>
            <a:endParaRPr b="0" i="0" sz="800" u="none" cap="none" strike="noStrike">
              <a:solidFill>
                <a:schemeClr val="dk1"/>
              </a:solidFill>
              <a:latin typeface="Calibri"/>
              <a:ea typeface="Calibri"/>
              <a:cs typeface="Calibri"/>
              <a:sym typeface="Calibri"/>
            </a:endParaRPr>
          </a:p>
        </p:txBody>
      </p:sp>
      <p:sp>
        <p:nvSpPr>
          <p:cNvPr id="930" name="Google Shape;930;p66"/>
          <p:cNvSpPr/>
          <p:nvPr/>
        </p:nvSpPr>
        <p:spPr>
          <a:xfrm>
            <a:off x="457190" y="3490921"/>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ADE Private Endpoints (Disabled Public)</a:t>
            </a:r>
            <a:endParaRPr b="0" i="0" sz="800" u="none" cap="none" strike="noStrike">
              <a:solidFill>
                <a:schemeClr val="dk1"/>
              </a:solidFill>
              <a:latin typeface="Calibri"/>
              <a:ea typeface="Calibri"/>
              <a:cs typeface="Calibri"/>
              <a:sym typeface="Calibri"/>
            </a:endParaRPr>
          </a:p>
        </p:txBody>
      </p:sp>
      <p:sp>
        <p:nvSpPr>
          <p:cNvPr id="931" name="Google Shape;931;p66"/>
          <p:cNvSpPr/>
          <p:nvPr/>
        </p:nvSpPr>
        <p:spPr>
          <a:xfrm>
            <a:off x="457190" y="3721715"/>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ADE Private Endpoints (Selected VNets)</a:t>
            </a:r>
            <a:endParaRPr b="0" i="0" sz="800" u="none" cap="none" strike="noStrike">
              <a:solidFill>
                <a:schemeClr val="dk1"/>
              </a:solidFill>
              <a:latin typeface="Calibri"/>
              <a:ea typeface="Calibri"/>
              <a:cs typeface="Calibri"/>
              <a:sym typeface="Calibri"/>
            </a:endParaRPr>
          </a:p>
        </p:txBody>
      </p:sp>
      <p:sp>
        <p:nvSpPr>
          <p:cNvPr id="932" name="Google Shape;932;p66"/>
          <p:cNvSpPr/>
          <p:nvPr/>
        </p:nvSpPr>
        <p:spPr>
          <a:xfrm>
            <a:off x="457190" y="3952509"/>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sng" cap="none" strike="noStrike">
                <a:solidFill>
                  <a:schemeClr val="hlink"/>
                </a:solidFill>
                <a:latin typeface="DM Sans"/>
                <a:ea typeface="DM Sans"/>
                <a:cs typeface="DM Sans"/>
                <a:sym typeface="DM Sans"/>
                <a:hlinkClick r:id="rId3"/>
              </a:rPr>
              <a:t>Near Real-Time Scanning</a:t>
            </a:r>
            <a:endParaRPr b="0" i="0" sz="800" u="none" cap="none" strike="noStrike">
              <a:solidFill>
                <a:schemeClr val="dk1"/>
              </a:solidFill>
              <a:latin typeface="Calibri"/>
              <a:ea typeface="Calibri"/>
              <a:cs typeface="Calibri"/>
              <a:sym typeface="Calibri"/>
            </a:endParaRPr>
          </a:p>
        </p:txBody>
      </p:sp>
      <p:sp>
        <p:nvSpPr>
          <p:cNvPr id="933" name="Google Shape;933;p66"/>
          <p:cNvSpPr/>
          <p:nvPr/>
        </p:nvSpPr>
        <p:spPr>
          <a:xfrm>
            <a:off x="458865" y="4183303"/>
            <a:ext cx="19704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u="sng">
                <a:solidFill>
                  <a:schemeClr val="hlink"/>
                </a:solidFill>
                <a:latin typeface="DM Sans"/>
                <a:ea typeface="DM Sans"/>
                <a:cs typeface="DM Sans"/>
                <a:sym typeface="DM Sans"/>
                <a:hlinkClick r:id="rId4"/>
              </a:rPr>
              <a:t>Include NRT Workload Scanning</a:t>
            </a:r>
            <a:endParaRPr b="0" i="0" sz="800" u="none" cap="none" strike="noStrike">
              <a:solidFill>
                <a:schemeClr val="dk1"/>
              </a:solidFill>
              <a:latin typeface="Calibri"/>
              <a:ea typeface="Calibri"/>
              <a:cs typeface="Calibri"/>
              <a:sym typeface="Calibri"/>
            </a:endParaRPr>
          </a:p>
        </p:txBody>
      </p:sp>
      <p:sp>
        <p:nvSpPr>
          <p:cNvPr id="934" name="Google Shape;934;p66"/>
          <p:cNvSpPr/>
          <p:nvPr/>
        </p:nvSpPr>
        <p:spPr>
          <a:xfrm>
            <a:off x="454207" y="4414097"/>
            <a:ext cx="1978500" cy="22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686"/>
              <a:buFont typeface="DM Sans"/>
              <a:buNone/>
            </a:pPr>
            <a:r>
              <a:rPr lang="en" sz="783" u="sng">
                <a:solidFill>
                  <a:schemeClr val="hlink"/>
                </a:solidFill>
                <a:latin typeface="DM Sans"/>
                <a:ea typeface="DM Sans"/>
                <a:cs typeface="DM Sans"/>
                <a:sym typeface="DM Sans"/>
                <a:hlinkClick r:id="rId5"/>
              </a:rPr>
              <a:t>Agentless File Integrity Monitoring</a:t>
            </a:r>
            <a:endParaRPr b="0" i="0" sz="783" u="none" cap="none" strike="noStrike">
              <a:solidFill>
                <a:srgbClr val="01123F"/>
              </a:solidFill>
              <a:latin typeface="Calibri"/>
              <a:ea typeface="Calibri"/>
              <a:cs typeface="Calibri"/>
              <a:sym typeface="Calibri"/>
            </a:endParaRPr>
          </a:p>
        </p:txBody>
      </p:sp>
      <p:sp>
        <p:nvSpPr>
          <p:cNvPr id="935" name="Google Shape;935;p66"/>
          <p:cNvSpPr/>
          <p:nvPr/>
        </p:nvSpPr>
        <p:spPr>
          <a:xfrm>
            <a:off x="4880822" y="1401575"/>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Scanner Mode (Basic/Advanced)</a:t>
            </a:r>
            <a:endParaRPr sz="737">
              <a:solidFill>
                <a:srgbClr val="1F2937"/>
              </a:solidFill>
              <a:latin typeface="DM Sans"/>
              <a:ea typeface="DM Sans"/>
              <a:cs typeface="DM Sans"/>
              <a:sym typeface="DM Sans"/>
            </a:endParaRPr>
          </a:p>
        </p:txBody>
      </p:sp>
      <p:sp>
        <p:nvSpPr>
          <p:cNvPr id="936" name="Google Shape;936;p66"/>
          <p:cNvSpPr/>
          <p:nvPr/>
        </p:nvSpPr>
        <p:spPr>
          <a:xfrm>
            <a:off x="4880822" y="1604536"/>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Custom Targets</a:t>
            </a:r>
            <a:endParaRPr sz="737">
              <a:solidFill>
                <a:srgbClr val="1F2937"/>
              </a:solidFill>
              <a:latin typeface="DM Sans"/>
              <a:ea typeface="DM Sans"/>
              <a:cs typeface="DM Sans"/>
              <a:sym typeface="DM Sans"/>
            </a:endParaRPr>
          </a:p>
        </p:txBody>
      </p:sp>
      <p:sp>
        <p:nvSpPr>
          <p:cNvPr id="937" name="Google Shape;937;p66"/>
          <p:cNvSpPr/>
          <p:nvPr/>
        </p:nvSpPr>
        <p:spPr>
          <a:xfrm>
            <a:off x="4880822" y="1807497"/>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Reconnaissance</a:t>
            </a:r>
            <a:endParaRPr sz="737">
              <a:solidFill>
                <a:srgbClr val="1F2937"/>
              </a:solidFill>
              <a:latin typeface="DM Sans"/>
              <a:ea typeface="DM Sans"/>
              <a:cs typeface="DM Sans"/>
              <a:sym typeface="DM Sans"/>
            </a:endParaRPr>
          </a:p>
        </p:txBody>
      </p:sp>
      <p:sp>
        <p:nvSpPr>
          <p:cNvPr id="938" name="Google Shape;938;p66"/>
          <p:cNvSpPr/>
          <p:nvPr/>
        </p:nvSpPr>
        <p:spPr>
          <a:xfrm>
            <a:off x="4880822" y="2010458"/>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Code</a:t>
            </a:r>
            <a:endParaRPr sz="737">
              <a:solidFill>
                <a:srgbClr val="1F2937"/>
              </a:solidFill>
              <a:latin typeface="DM Sans"/>
              <a:ea typeface="DM Sans"/>
              <a:cs typeface="DM Sans"/>
              <a:sym typeface="DM Sans"/>
            </a:endParaRPr>
          </a:p>
        </p:txBody>
      </p:sp>
      <p:sp>
        <p:nvSpPr>
          <p:cNvPr id="939" name="Google Shape;939;p66"/>
          <p:cNvSpPr/>
          <p:nvPr/>
        </p:nvSpPr>
        <p:spPr>
          <a:xfrm>
            <a:off x="4880822" y="2213419"/>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API Security</a:t>
            </a:r>
            <a:endParaRPr sz="737">
              <a:solidFill>
                <a:srgbClr val="1F2937"/>
              </a:solidFill>
              <a:latin typeface="DM Sans"/>
              <a:ea typeface="DM Sans"/>
              <a:cs typeface="DM Sans"/>
              <a:sym typeface="DM Sans"/>
            </a:endParaRPr>
          </a:p>
        </p:txBody>
      </p:sp>
      <p:sp>
        <p:nvSpPr>
          <p:cNvPr id="940" name="Google Shape;940;p66"/>
          <p:cNvSpPr/>
          <p:nvPr/>
        </p:nvSpPr>
        <p:spPr>
          <a:xfrm>
            <a:off x="4880822" y="2416380"/>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Runtime Sensor</a:t>
            </a:r>
            <a:endParaRPr sz="737">
              <a:solidFill>
                <a:srgbClr val="1F2937"/>
              </a:solidFill>
              <a:latin typeface="DM Sans"/>
              <a:ea typeface="DM Sans"/>
              <a:cs typeface="DM Sans"/>
              <a:sym typeface="DM Sans"/>
            </a:endParaRPr>
          </a:p>
        </p:txBody>
      </p:sp>
      <p:sp>
        <p:nvSpPr>
          <p:cNvPr id="941" name="Google Shape;941;p66"/>
          <p:cNvSpPr/>
          <p:nvPr/>
        </p:nvSpPr>
        <p:spPr>
          <a:xfrm>
            <a:off x="4880822" y="2619341"/>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Advanced Scan Source: SaaS</a:t>
            </a:r>
            <a:endParaRPr sz="737">
              <a:solidFill>
                <a:srgbClr val="1F2937"/>
              </a:solidFill>
              <a:latin typeface="DM Sans"/>
              <a:ea typeface="DM Sans"/>
              <a:cs typeface="DM Sans"/>
              <a:sym typeface="DM Sans"/>
            </a:endParaRPr>
          </a:p>
        </p:txBody>
      </p:sp>
      <p:sp>
        <p:nvSpPr>
          <p:cNvPr id="942" name="Google Shape;942;p66"/>
          <p:cNvSpPr/>
          <p:nvPr/>
        </p:nvSpPr>
        <p:spPr>
          <a:xfrm>
            <a:off x="4880822" y="2822303"/>
            <a:ext cx="1987200" cy="195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Misconfiguration Detection</a:t>
            </a:r>
            <a:endParaRPr b="0" i="0" sz="737" u="none" cap="none" strike="noStrike">
              <a:solidFill>
                <a:schemeClr val="dk1"/>
              </a:solidFill>
              <a:latin typeface="Calibri"/>
              <a:ea typeface="Calibri"/>
              <a:cs typeface="Calibri"/>
              <a:sym typeface="Calibri"/>
            </a:endParaRPr>
          </a:p>
        </p:txBody>
      </p:sp>
      <p:sp>
        <p:nvSpPr>
          <p:cNvPr id="943" name="Google Shape;943;p66"/>
          <p:cNvSpPr/>
          <p:nvPr/>
        </p:nvSpPr>
        <p:spPr>
          <a:xfrm>
            <a:off x="4881077" y="3025264"/>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Default Credentials Detection</a:t>
            </a:r>
            <a:endParaRPr sz="737">
              <a:solidFill>
                <a:srgbClr val="1F2937"/>
              </a:solidFill>
              <a:latin typeface="DM Sans"/>
              <a:ea typeface="DM Sans"/>
              <a:cs typeface="DM Sans"/>
              <a:sym typeface="DM Sans"/>
            </a:endParaRPr>
          </a:p>
        </p:txBody>
      </p:sp>
      <p:sp>
        <p:nvSpPr>
          <p:cNvPr id="944" name="Google Shape;944;p66"/>
          <p:cNvSpPr/>
          <p:nvPr/>
        </p:nvSpPr>
        <p:spPr>
          <a:xfrm>
            <a:off x="4881333" y="3228225"/>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High-Profile Threat Detection</a:t>
            </a:r>
            <a:endParaRPr sz="737">
              <a:solidFill>
                <a:srgbClr val="1F2937"/>
              </a:solidFill>
              <a:latin typeface="DM Sans"/>
              <a:ea typeface="DM Sans"/>
              <a:cs typeface="DM Sans"/>
              <a:sym typeface="DM Sans"/>
            </a:endParaRPr>
          </a:p>
        </p:txBody>
      </p:sp>
      <p:sp>
        <p:nvSpPr>
          <p:cNvPr id="945" name="Google Shape;945;p66"/>
          <p:cNvSpPr/>
          <p:nvPr/>
        </p:nvSpPr>
        <p:spPr>
          <a:xfrm>
            <a:off x="4875837" y="3431186"/>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DAST</a:t>
            </a:r>
            <a:endParaRPr sz="737">
              <a:solidFill>
                <a:srgbClr val="1F2937"/>
              </a:solidFill>
              <a:latin typeface="DM Sans"/>
              <a:ea typeface="DM Sans"/>
              <a:cs typeface="DM Sans"/>
              <a:sym typeface="DM Sans"/>
            </a:endParaRPr>
          </a:p>
        </p:txBody>
      </p:sp>
      <p:sp>
        <p:nvSpPr>
          <p:cNvPr id="946" name="Google Shape;946;p66"/>
          <p:cNvSpPr/>
          <p:nvPr/>
        </p:nvSpPr>
        <p:spPr>
          <a:xfrm>
            <a:off x="4870341" y="3634147"/>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Vulnerability Exploitability</a:t>
            </a:r>
            <a:endParaRPr sz="737">
              <a:solidFill>
                <a:srgbClr val="1F2937"/>
              </a:solidFill>
              <a:latin typeface="DM Sans"/>
              <a:ea typeface="DM Sans"/>
              <a:cs typeface="DM Sans"/>
              <a:sym typeface="DM Sans"/>
            </a:endParaRPr>
          </a:p>
        </p:txBody>
      </p:sp>
      <p:sp>
        <p:nvSpPr>
          <p:cNvPr id="947" name="Google Shape;947;p66"/>
          <p:cNvSpPr/>
          <p:nvPr/>
        </p:nvSpPr>
        <p:spPr>
          <a:xfrm>
            <a:off x="4864845" y="3837108"/>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Rules: Early Access Rules</a:t>
            </a:r>
            <a:endParaRPr sz="737">
              <a:solidFill>
                <a:srgbClr val="1F2937"/>
              </a:solidFill>
              <a:latin typeface="DM Sans"/>
              <a:ea typeface="DM Sans"/>
              <a:cs typeface="DM Sans"/>
              <a:sym typeface="DM Sans"/>
            </a:endParaRPr>
          </a:p>
        </p:txBody>
      </p:sp>
      <p:sp>
        <p:nvSpPr>
          <p:cNvPr id="948" name="Google Shape;948;p66"/>
          <p:cNvSpPr/>
          <p:nvPr/>
        </p:nvSpPr>
        <p:spPr>
          <a:xfrm>
            <a:off x="4857389" y="4040069"/>
            <a:ext cx="1987200" cy="195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Risk: Vulnerability Assessment</a:t>
            </a:r>
            <a:endParaRPr b="0" i="0" sz="737" u="none" cap="none" strike="noStrike">
              <a:solidFill>
                <a:schemeClr val="dk1"/>
              </a:solidFill>
              <a:latin typeface="Calibri"/>
              <a:ea typeface="Calibri"/>
              <a:cs typeface="Calibri"/>
              <a:sym typeface="Calibri"/>
            </a:endParaRPr>
          </a:p>
        </p:txBody>
      </p:sp>
      <p:sp>
        <p:nvSpPr>
          <p:cNvPr id="949" name="Google Shape;949;p66"/>
          <p:cNvSpPr/>
          <p:nvPr/>
        </p:nvSpPr>
        <p:spPr>
          <a:xfrm>
            <a:off x="4855344" y="4243030"/>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Risk: Sensitive Data Findings Detection</a:t>
            </a:r>
            <a:endParaRPr sz="737">
              <a:solidFill>
                <a:srgbClr val="1F2937"/>
              </a:solidFill>
              <a:latin typeface="DM Sans"/>
              <a:ea typeface="DM Sans"/>
              <a:cs typeface="DM Sans"/>
              <a:sym typeface="DM Sans"/>
            </a:endParaRPr>
          </a:p>
        </p:txBody>
      </p:sp>
      <p:sp>
        <p:nvSpPr>
          <p:cNvPr id="950" name="Google Shape;950;p66"/>
          <p:cNvSpPr/>
          <p:nvPr/>
        </p:nvSpPr>
        <p:spPr>
          <a:xfrm>
            <a:off x="7769390" y="1840063"/>
            <a:ext cx="1031700" cy="140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461"/>
              <a:buFont typeface="JetBrains Mono"/>
              <a:buNone/>
            </a:pPr>
            <a:r>
              <a:rPr lang="en" sz="737">
                <a:solidFill>
                  <a:srgbClr val="595959"/>
                </a:solidFill>
                <a:latin typeface="DM Sans"/>
                <a:ea typeface="DM Sans"/>
                <a:cs typeface="DM Sans"/>
                <a:sym typeface="DM Sans"/>
              </a:rPr>
              <a:t>{{ASM_RECON_R}}</a:t>
            </a:r>
            <a:endParaRPr i="0" sz="737" u="none" cap="none" strike="noStrike">
              <a:solidFill>
                <a:srgbClr val="595959"/>
              </a:solidFill>
              <a:latin typeface="DM Sans"/>
              <a:ea typeface="DM Sans"/>
              <a:cs typeface="DM Sans"/>
              <a:sym typeface="DM Sans"/>
            </a:endParaRPr>
          </a:p>
        </p:txBody>
      </p:sp>
      <p:sp>
        <p:nvSpPr>
          <p:cNvPr id="951" name="Google Shape;951;p66"/>
          <p:cNvSpPr/>
          <p:nvPr/>
        </p:nvSpPr>
        <p:spPr>
          <a:xfrm>
            <a:off x="7769390" y="2856085"/>
            <a:ext cx="1031700" cy="140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461"/>
              <a:buFont typeface="JetBrains Mono"/>
              <a:buNone/>
            </a:pPr>
            <a:r>
              <a:rPr lang="en" sz="737">
                <a:solidFill>
                  <a:srgbClr val="595959"/>
                </a:solidFill>
                <a:latin typeface="DM Sans"/>
                <a:ea typeface="DM Sans"/>
                <a:cs typeface="DM Sans"/>
                <a:sym typeface="DM Sans"/>
              </a:rPr>
              <a:t>{{ASM_MISC_R}}</a:t>
            </a:r>
            <a:endParaRPr i="0" sz="737" u="none" cap="none" strike="noStrike">
              <a:solidFill>
                <a:srgbClr val="595959"/>
              </a:solidFill>
              <a:latin typeface="DM Sans"/>
              <a:ea typeface="DM Sans"/>
              <a:cs typeface="DM Sans"/>
              <a:sym typeface="DM Sans"/>
            </a:endParaRPr>
          </a:p>
        </p:txBody>
      </p:sp>
      <p:sp>
        <p:nvSpPr>
          <p:cNvPr id="952" name="Google Shape;952;p66"/>
          <p:cNvSpPr txBox="1"/>
          <p:nvPr/>
        </p:nvSpPr>
        <p:spPr>
          <a:xfrm>
            <a:off x="7769386" y="1433654"/>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{{ASM_MODE_R}}</a:t>
            </a:r>
            <a:endParaRPr sz="737">
              <a:solidFill>
                <a:srgbClr val="595959"/>
              </a:solidFill>
              <a:latin typeface="DM Sans"/>
              <a:ea typeface="DM Sans"/>
              <a:cs typeface="DM Sans"/>
              <a:sym typeface="DM Sans"/>
            </a:endParaRPr>
          </a:p>
        </p:txBody>
      </p:sp>
      <p:sp>
        <p:nvSpPr>
          <p:cNvPr id="953" name="Google Shape;953;p66"/>
          <p:cNvSpPr txBox="1"/>
          <p:nvPr/>
        </p:nvSpPr>
        <p:spPr>
          <a:xfrm>
            <a:off x="7769386" y="1636859"/>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{{ASM_CUST_R}}</a:t>
            </a:r>
            <a:endParaRPr sz="737">
              <a:solidFill>
                <a:srgbClr val="595959"/>
              </a:solidFill>
              <a:latin typeface="DM Sans"/>
              <a:ea typeface="DM Sans"/>
              <a:cs typeface="DM Sans"/>
              <a:sym typeface="DM Sans"/>
            </a:endParaRPr>
          </a:p>
        </p:txBody>
      </p:sp>
      <p:sp>
        <p:nvSpPr>
          <p:cNvPr id="954" name="Google Shape;954;p66"/>
          <p:cNvSpPr txBox="1"/>
          <p:nvPr/>
        </p:nvSpPr>
        <p:spPr>
          <a:xfrm>
            <a:off x="7769381" y="2043268"/>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{{ASM_CODE_R}}</a:t>
            </a:r>
            <a:endParaRPr sz="737">
              <a:solidFill>
                <a:srgbClr val="595959"/>
              </a:solidFill>
              <a:latin typeface="DM Sans"/>
              <a:ea typeface="DM Sans"/>
              <a:cs typeface="DM Sans"/>
              <a:sym typeface="DM Sans"/>
            </a:endParaRPr>
          </a:p>
        </p:txBody>
      </p:sp>
      <p:sp>
        <p:nvSpPr>
          <p:cNvPr id="955" name="Google Shape;955;p66"/>
          <p:cNvSpPr txBox="1"/>
          <p:nvPr/>
        </p:nvSpPr>
        <p:spPr>
          <a:xfrm>
            <a:off x="7769386" y="2246472"/>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{{ASM_API_R}}</a:t>
            </a:r>
            <a:endParaRPr sz="737">
              <a:solidFill>
                <a:srgbClr val="595959"/>
              </a:solidFill>
              <a:latin typeface="DM Sans"/>
              <a:ea typeface="DM Sans"/>
              <a:cs typeface="DM Sans"/>
              <a:sym typeface="DM Sans"/>
            </a:endParaRPr>
          </a:p>
        </p:txBody>
      </p:sp>
      <p:sp>
        <p:nvSpPr>
          <p:cNvPr id="956" name="Google Shape;956;p66"/>
          <p:cNvSpPr txBox="1"/>
          <p:nvPr/>
        </p:nvSpPr>
        <p:spPr>
          <a:xfrm>
            <a:off x="7769381" y="2449676"/>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{{ASM_RS_R}}</a:t>
            </a:r>
            <a:endParaRPr sz="737">
              <a:solidFill>
                <a:srgbClr val="595959"/>
              </a:solidFill>
              <a:latin typeface="DM Sans"/>
              <a:ea typeface="DM Sans"/>
              <a:cs typeface="DM Sans"/>
              <a:sym typeface="DM Sans"/>
            </a:endParaRPr>
          </a:p>
        </p:txBody>
      </p:sp>
      <p:sp>
        <p:nvSpPr>
          <p:cNvPr id="957" name="Google Shape;957;p66"/>
          <p:cNvSpPr txBox="1"/>
          <p:nvPr/>
        </p:nvSpPr>
        <p:spPr>
          <a:xfrm>
            <a:off x="7769386" y="2652881"/>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{{ASM_SASS_R}}</a:t>
            </a:r>
            <a:endParaRPr sz="737">
              <a:solidFill>
                <a:srgbClr val="595959"/>
              </a:solidFill>
              <a:latin typeface="DM Sans"/>
              <a:ea typeface="DM Sans"/>
              <a:cs typeface="DM Sans"/>
              <a:sym typeface="DM Sans"/>
            </a:endParaRPr>
          </a:p>
        </p:txBody>
      </p:sp>
      <p:sp>
        <p:nvSpPr>
          <p:cNvPr id="958" name="Google Shape;958;p66"/>
          <p:cNvSpPr txBox="1"/>
          <p:nvPr/>
        </p:nvSpPr>
        <p:spPr>
          <a:xfrm>
            <a:off x="7775393" y="3059290"/>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{{ASM_CRED_R}}</a:t>
            </a:r>
            <a:endParaRPr sz="737">
              <a:solidFill>
                <a:srgbClr val="595959"/>
              </a:solidFill>
              <a:latin typeface="DM Sans"/>
              <a:ea typeface="DM Sans"/>
              <a:cs typeface="DM Sans"/>
              <a:sym typeface="DM Sans"/>
            </a:endParaRPr>
          </a:p>
        </p:txBody>
      </p:sp>
      <p:sp>
        <p:nvSpPr>
          <p:cNvPr id="959" name="Google Shape;959;p66"/>
          <p:cNvSpPr txBox="1"/>
          <p:nvPr/>
        </p:nvSpPr>
        <p:spPr>
          <a:xfrm>
            <a:off x="7781400" y="3262494"/>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{{ASM_HPT_R}}</a:t>
            </a:r>
            <a:endParaRPr sz="737">
              <a:solidFill>
                <a:srgbClr val="595959"/>
              </a:solidFill>
              <a:latin typeface="DM Sans"/>
              <a:ea typeface="DM Sans"/>
              <a:cs typeface="DM Sans"/>
              <a:sym typeface="DM Sans"/>
            </a:endParaRPr>
          </a:p>
        </p:txBody>
      </p:sp>
      <p:sp>
        <p:nvSpPr>
          <p:cNvPr id="960" name="Google Shape;960;p66"/>
          <p:cNvSpPr txBox="1"/>
          <p:nvPr/>
        </p:nvSpPr>
        <p:spPr>
          <a:xfrm>
            <a:off x="7775904" y="3465698"/>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{{ASM_DAST_R}}</a:t>
            </a:r>
            <a:endParaRPr sz="737">
              <a:solidFill>
                <a:srgbClr val="595959"/>
              </a:solidFill>
              <a:latin typeface="DM Sans"/>
              <a:ea typeface="DM Sans"/>
              <a:cs typeface="DM Sans"/>
              <a:sym typeface="DM Sans"/>
            </a:endParaRPr>
          </a:p>
        </p:txBody>
      </p:sp>
      <p:sp>
        <p:nvSpPr>
          <p:cNvPr id="961" name="Google Shape;961;p66"/>
          <p:cNvSpPr txBox="1"/>
          <p:nvPr/>
        </p:nvSpPr>
        <p:spPr>
          <a:xfrm>
            <a:off x="7770409" y="3668903"/>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{{ASM_VEXP_R}}</a:t>
            </a:r>
            <a:endParaRPr sz="737">
              <a:solidFill>
                <a:srgbClr val="595959"/>
              </a:solidFill>
              <a:latin typeface="DM Sans"/>
              <a:ea typeface="DM Sans"/>
              <a:cs typeface="DM Sans"/>
              <a:sym typeface="DM Sans"/>
            </a:endParaRPr>
          </a:p>
        </p:txBody>
      </p:sp>
      <p:sp>
        <p:nvSpPr>
          <p:cNvPr id="962" name="Google Shape;962;p66"/>
          <p:cNvSpPr txBox="1"/>
          <p:nvPr/>
        </p:nvSpPr>
        <p:spPr>
          <a:xfrm>
            <a:off x="7764913" y="3872107"/>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{{ASM_EAR_R}}</a:t>
            </a:r>
            <a:endParaRPr sz="737">
              <a:solidFill>
                <a:srgbClr val="595959"/>
              </a:solidFill>
              <a:latin typeface="DM Sans"/>
              <a:ea typeface="DM Sans"/>
              <a:cs typeface="DM Sans"/>
              <a:sym typeface="DM Sans"/>
            </a:endParaRPr>
          </a:p>
        </p:txBody>
      </p:sp>
      <p:sp>
        <p:nvSpPr>
          <p:cNvPr id="963" name="Google Shape;963;p66"/>
          <p:cNvSpPr txBox="1"/>
          <p:nvPr/>
        </p:nvSpPr>
        <p:spPr>
          <a:xfrm>
            <a:off x="7757456" y="4075312"/>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{{ASM_VULN_R}}</a:t>
            </a:r>
            <a:endParaRPr sz="737">
              <a:solidFill>
                <a:srgbClr val="595959"/>
              </a:solidFill>
              <a:latin typeface="DM Sans"/>
              <a:ea typeface="DM Sans"/>
              <a:cs typeface="DM Sans"/>
              <a:sym typeface="DM Sans"/>
            </a:endParaRPr>
          </a:p>
        </p:txBody>
      </p:sp>
      <p:sp>
        <p:nvSpPr>
          <p:cNvPr id="964" name="Google Shape;964;p66"/>
          <p:cNvSpPr txBox="1"/>
          <p:nvPr/>
        </p:nvSpPr>
        <p:spPr>
          <a:xfrm>
            <a:off x="7755412" y="4278516"/>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{{ASM_DATA_R}}</a:t>
            </a:r>
            <a:endParaRPr sz="737">
              <a:solidFill>
                <a:srgbClr val="595959"/>
              </a:solidFill>
              <a:latin typeface="DM Sans"/>
              <a:ea typeface="DM Sans"/>
              <a:cs typeface="DM Sans"/>
              <a:sym typeface="DM Sans"/>
            </a:endParaRPr>
          </a:p>
        </p:txBody>
      </p:sp>
      <p:sp>
        <p:nvSpPr>
          <p:cNvPr id="965" name="Google Shape;965;p66"/>
          <p:cNvSpPr/>
          <p:nvPr/>
        </p:nvSpPr>
        <p:spPr>
          <a:xfrm>
            <a:off x="6921549" y="1401575"/>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MODE</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66" name="Google Shape;966;p66"/>
          <p:cNvSpPr/>
          <p:nvPr/>
        </p:nvSpPr>
        <p:spPr>
          <a:xfrm>
            <a:off x="6921549" y="1604521"/>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CUST</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67" name="Google Shape;967;p66"/>
          <p:cNvSpPr/>
          <p:nvPr/>
        </p:nvSpPr>
        <p:spPr>
          <a:xfrm>
            <a:off x="6921549" y="1807466"/>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RECON</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68" name="Google Shape;968;p66"/>
          <p:cNvSpPr/>
          <p:nvPr/>
        </p:nvSpPr>
        <p:spPr>
          <a:xfrm>
            <a:off x="6921549" y="2010412"/>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CODE</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69" name="Google Shape;969;p66"/>
          <p:cNvSpPr/>
          <p:nvPr/>
        </p:nvSpPr>
        <p:spPr>
          <a:xfrm>
            <a:off x="6921549" y="2213357"/>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API</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0" name="Google Shape;970;p66"/>
          <p:cNvSpPr/>
          <p:nvPr/>
        </p:nvSpPr>
        <p:spPr>
          <a:xfrm>
            <a:off x="6921549" y="2416303"/>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RS</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1" name="Google Shape;971;p66"/>
          <p:cNvSpPr/>
          <p:nvPr/>
        </p:nvSpPr>
        <p:spPr>
          <a:xfrm>
            <a:off x="6921549" y="2619248"/>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SAAS</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2" name="Google Shape;972;p66"/>
          <p:cNvSpPr/>
          <p:nvPr/>
        </p:nvSpPr>
        <p:spPr>
          <a:xfrm>
            <a:off x="6921549" y="2822194"/>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MISC</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3" name="Google Shape;973;p66"/>
          <p:cNvSpPr/>
          <p:nvPr/>
        </p:nvSpPr>
        <p:spPr>
          <a:xfrm>
            <a:off x="6921216" y="3025139"/>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CRED</a:t>
            </a:r>
            <a:r>
              <a:rPr lang="en" sz="645">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4" name="Google Shape;974;p66"/>
          <p:cNvSpPr/>
          <p:nvPr/>
        </p:nvSpPr>
        <p:spPr>
          <a:xfrm>
            <a:off x="6927625" y="3228085"/>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HPT</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5" name="Google Shape;975;p66"/>
          <p:cNvSpPr/>
          <p:nvPr/>
        </p:nvSpPr>
        <p:spPr>
          <a:xfrm>
            <a:off x="6922129" y="3431030"/>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DAST</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6" name="Google Shape;976;p66"/>
          <p:cNvSpPr/>
          <p:nvPr/>
        </p:nvSpPr>
        <p:spPr>
          <a:xfrm>
            <a:off x="6916633" y="3633976"/>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VEXP</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7" name="Google Shape;977;p66"/>
          <p:cNvSpPr/>
          <p:nvPr/>
        </p:nvSpPr>
        <p:spPr>
          <a:xfrm>
            <a:off x="6911137" y="3836921"/>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EAR</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8" name="Google Shape;978;p66"/>
          <p:cNvSpPr/>
          <p:nvPr/>
        </p:nvSpPr>
        <p:spPr>
          <a:xfrm>
            <a:off x="6903681" y="4039867"/>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VULN</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79" name="Google Shape;979;p66"/>
          <p:cNvSpPr/>
          <p:nvPr/>
        </p:nvSpPr>
        <p:spPr>
          <a:xfrm>
            <a:off x="6901636" y="4242812"/>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DATA</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980" name="Google Shape;980;p66"/>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66"/>
          <p:cNvSpPr/>
          <p:nvPr/>
        </p:nvSpPr>
        <p:spPr>
          <a:xfrm>
            <a:off x="457200" y="164592"/>
            <a:ext cx="6400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1600"/>
              <a:buFont typeface="DM Sans"/>
              <a:buNone/>
            </a:pPr>
            <a:r>
              <a:rPr lang="en" sz="2000">
                <a:solidFill>
                  <a:schemeClr val="dk2"/>
                </a:solidFill>
                <a:latin typeface="DM Sans"/>
                <a:ea typeface="DM Sans"/>
                <a:cs typeface="DM Sans"/>
                <a:sym typeface="DM Sans"/>
              </a:rPr>
              <a:t>Scanner</a:t>
            </a:r>
            <a:r>
              <a:rPr i="0" lang="en" sz="2000" u="none" cap="none" strike="noStrike">
                <a:solidFill>
                  <a:schemeClr val="dk2"/>
                </a:solidFill>
                <a:latin typeface="DM Sans"/>
                <a:ea typeface="DM Sans"/>
                <a:cs typeface="DM Sans"/>
                <a:sym typeface="DM Sans"/>
              </a:rPr>
              <a:t> Configuration — </a:t>
            </a:r>
            <a:r>
              <a:rPr lang="en" sz="2000">
                <a:solidFill>
                  <a:schemeClr val="dk2"/>
                </a:solidFill>
                <a:latin typeface="DM Sans"/>
                <a:ea typeface="DM Sans"/>
                <a:cs typeface="DM Sans"/>
                <a:sym typeface="DM Sans"/>
              </a:rPr>
              <a:t>Workload</a:t>
            </a:r>
            <a:r>
              <a:rPr i="0" lang="en" sz="2000" u="none" cap="none" strike="noStrike">
                <a:solidFill>
                  <a:schemeClr val="dk2"/>
                </a:solidFill>
                <a:latin typeface="DM Sans"/>
                <a:ea typeface="DM Sans"/>
                <a:cs typeface="DM Sans"/>
                <a:sym typeface="DM Sans"/>
              </a:rPr>
              <a:t> &amp; Attack Surface</a:t>
            </a:r>
            <a:endParaRPr i="0" sz="2000" u="none" cap="none" strike="noStrike">
              <a:solidFill>
                <a:schemeClr val="dk2"/>
              </a:solidFill>
              <a:latin typeface="DM Sans"/>
              <a:ea typeface="DM Sans"/>
              <a:cs typeface="DM Sans"/>
              <a:sym typeface="DM Sans"/>
            </a:endParaRPr>
          </a:p>
        </p:txBody>
      </p:sp>
      <p:sp>
        <p:nvSpPr>
          <p:cNvPr id="982" name="Google Shape;982;p66"/>
          <p:cNvSpPr/>
          <p:nvPr/>
        </p:nvSpPr>
        <p:spPr>
          <a:xfrm>
            <a:off x="457200" y="548640"/>
            <a:ext cx="7315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DM Sans"/>
              <a:buNone/>
            </a:pPr>
            <a:r>
              <a:rPr i="0" lang="en" sz="1100" u="none" cap="none" strike="noStrike">
                <a:solidFill>
                  <a:srgbClr val="595959"/>
                </a:solidFill>
                <a:latin typeface="DM Sans"/>
                <a:ea typeface="DM Sans"/>
                <a:cs typeface="DM Sans"/>
                <a:sym typeface="DM Sans"/>
              </a:rPr>
              <a:t>Current workload scanner and attack surface management configuration settings.</a:t>
            </a:r>
            <a:endParaRPr i="0" sz="1100" u="none" cap="none" strike="noStrike">
              <a:solidFill>
                <a:srgbClr val="595959"/>
              </a:solidFill>
              <a:latin typeface="DM Sans"/>
              <a:ea typeface="DM Sans"/>
              <a:cs typeface="DM Sans"/>
              <a:sym typeface="DM Sans"/>
            </a:endParaRPr>
          </a:p>
        </p:txBody>
      </p:sp>
      <p:sp>
        <p:nvSpPr>
          <p:cNvPr id="983" name="Google Shape;983;p66"/>
          <p:cNvSpPr/>
          <p:nvPr/>
        </p:nvSpPr>
        <p:spPr>
          <a:xfrm>
            <a:off x="365760" y="868680"/>
            <a:ext cx="3977700" cy="274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66"/>
          <p:cNvSpPr/>
          <p:nvPr/>
        </p:nvSpPr>
        <p:spPr>
          <a:xfrm>
            <a:off x="365760" y="868680"/>
            <a:ext cx="36600" cy="274200"/>
          </a:xfrm>
          <a:prstGeom prst="rect">
            <a:avLst/>
          </a:prstGeom>
          <a:solidFill>
            <a:srgbClr val="1A5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66"/>
          <p:cNvSpPr/>
          <p:nvPr/>
        </p:nvSpPr>
        <p:spPr>
          <a:xfrm>
            <a:off x="502920" y="858268"/>
            <a:ext cx="3794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1000"/>
              <a:buFont typeface="DM Sans"/>
              <a:buNone/>
            </a:pPr>
            <a:r>
              <a:rPr b="1" i="0" lang="en" sz="1100" u="sng" cap="none" strike="noStrike">
                <a:solidFill>
                  <a:schemeClr val="hlink"/>
                </a:solidFill>
                <a:latin typeface="DM Sans"/>
                <a:ea typeface="DM Sans"/>
                <a:cs typeface="DM Sans"/>
                <a:sym typeface="DM Sans"/>
                <a:hlinkClick r:id="rId6"/>
              </a:rPr>
              <a:t>WORKLOAD SCANNER</a:t>
            </a:r>
            <a:r>
              <a:rPr lang="en" sz="1100">
                <a:solidFill>
                  <a:schemeClr val="dk1"/>
                </a:solidFill>
                <a:latin typeface="Calibri"/>
                <a:ea typeface="Calibri"/>
                <a:cs typeface="Calibri"/>
                <a:sym typeface="Calibri"/>
              </a:rPr>
              <a:t> </a:t>
            </a:r>
            <a:r>
              <a:rPr lang="en" sz="1300">
                <a:solidFill>
                  <a:srgbClr val="0254EC"/>
                </a:solidFill>
                <a:uFill>
                  <a:noFill/>
                </a:uFill>
                <a:latin typeface="Poppins"/>
                <a:ea typeface="Poppins"/>
                <a:cs typeface="Poppins"/>
                <a:sym typeface="Poppins"/>
                <a:hlinkClick r:id="rId7">
                  <a:extLst>
                    <a:ext uri="{A12FA001-AC4F-418D-AE19-62706E023703}">
                      <ahyp:hlinkClr val="tx"/>
                    </a:ext>
                  </a:extLst>
                </a:hlinkClick>
              </a:rPr>
              <a:t>↗</a:t>
            </a:r>
            <a:endParaRPr b="0" i="0" sz="900" u="none" cap="none" strike="noStrike">
              <a:solidFill>
                <a:srgbClr val="0254EC"/>
              </a:solidFill>
              <a:latin typeface="Calibri"/>
              <a:ea typeface="Calibri"/>
              <a:cs typeface="Calibri"/>
              <a:sym typeface="Calibri"/>
            </a:endParaRPr>
          </a:p>
        </p:txBody>
      </p:sp>
      <p:sp>
        <p:nvSpPr>
          <p:cNvPr id="986" name="Google Shape;986;p66"/>
          <p:cNvSpPr/>
          <p:nvPr/>
        </p:nvSpPr>
        <p:spPr>
          <a:xfrm>
            <a:off x="365760" y="1212609"/>
            <a:ext cx="3977700" cy="20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66"/>
          <p:cNvSpPr/>
          <p:nvPr/>
        </p:nvSpPr>
        <p:spPr>
          <a:xfrm>
            <a:off x="457200" y="1212609"/>
            <a:ext cx="19887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Setting</a:t>
            </a:r>
            <a:endParaRPr b="0" i="0" sz="1000" u="none" cap="none" strike="noStrike">
              <a:solidFill>
                <a:schemeClr val="dk1"/>
              </a:solidFill>
              <a:latin typeface="Calibri"/>
              <a:ea typeface="Calibri"/>
              <a:cs typeface="Calibri"/>
              <a:sym typeface="Calibri"/>
            </a:endParaRPr>
          </a:p>
        </p:txBody>
      </p:sp>
      <p:sp>
        <p:nvSpPr>
          <p:cNvPr id="988" name="Google Shape;988;p66"/>
          <p:cNvSpPr/>
          <p:nvPr/>
        </p:nvSpPr>
        <p:spPr>
          <a:xfrm>
            <a:off x="2514439" y="1212602"/>
            <a:ext cx="1034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Status</a:t>
            </a:r>
            <a:endParaRPr b="0" i="0" sz="1000" u="none" cap="none" strike="noStrike">
              <a:solidFill>
                <a:schemeClr val="dk1"/>
              </a:solidFill>
              <a:latin typeface="Calibri"/>
              <a:ea typeface="Calibri"/>
              <a:cs typeface="Calibri"/>
              <a:sym typeface="Calibri"/>
            </a:endParaRPr>
          </a:p>
        </p:txBody>
      </p:sp>
      <p:sp>
        <p:nvSpPr>
          <p:cNvPr id="989" name="Google Shape;989;p66"/>
          <p:cNvSpPr/>
          <p:nvPr/>
        </p:nvSpPr>
        <p:spPr>
          <a:xfrm>
            <a:off x="3398583" y="1212602"/>
            <a:ext cx="9909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Recommended</a:t>
            </a:r>
            <a:endParaRPr b="0" i="0" sz="1000" u="none" cap="none" strike="noStrike">
              <a:solidFill>
                <a:schemeClr val="dk1"/>
              </a:solidFill>
              <a:latin typeface="Calibri"/>
              <a:ea typeface="Calibri"/>
              <a:cs typeface="Calibri"/>
              <a:sym typeface="Calibri"/>
            </a:endParaRPr>
          </a:p>
        </p:txBody>
      </p:sp>
      <p:cxnSp>
        <p:nvCxnSpPr>
          <p:cNvPr id="990" name="Google Shape;990;p66"/>
          <p:cNvCxnSpPr/>
          <p:nvPr/>
        </p:nvCxnSpPr>
        <p:spPr>
          <a:xfrm>
            <a:off x="365750" y="1644243"/>
            <a:ext cx="3977700" cy="0"/>
          </a:xfrm>
          <a:prstGeom prst="straightConnector1">
            <a:avLst/>
          </a:prstGeom>
          <a:noFill/>
          <a:ln cap="flat" cmpd="sng" w="7150">
            <a:solidFill>
              <a:srgbClr val="888888"/>
            </a:solidFill>
            <a:prstDash val="solid"/>
            <a:round/>
            <a:headEnd len="sm" w="sm" type="none"/>
            <a:tailEnd len="sm" w="sm" type="none"/>
          </a:ln>
        </p:spPr>
      </p:cxnSp>
      <p:sp>
        <p:nvSpPr>
          <p:cNvPr id="991" name="Google Shape;991;p66"/>
          <p:cNvSpPr/>
          <p:nvPr/>
        </p:nvSpPr>
        <p:spPr>
          <a:xfrm>
            <a:off x="2514443" y="1413775"/>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{{WS_NONOS}}</a:t>
            </a:r>
            <a:endParaRPr b="0" i="0" sz="700" u="none" cap="none" strike="noStrike">
              <a:solidFill>
                <a:schemeClr val="dk1"/>
              </a:solidFill>
              <a:latin typeface="Calibri"/>
              <a:ea typeface="Calibri"/>
              <a:cs typeface="Calibri"/>
              <a:sym typeface="Calibri"/>
            </a:endParaRPr>
          </a:p>
        </p:txBody>
      </p:sp>
      <p:sp>
        <p:nvSpPr>
          <p:cNvPr id="992" name="Google Shape;992;p66"/>
          <p:cNvSpPr/>
          <p:nvPr/>
        </p:nvSpPr>
        <p:spPr>
          <a:xfrm>
            <a:off x="3412672" y="1453521"/>
            <a:ext cx="939600" cy="175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DM Sans"/>
                <a:ea typeface="DM Sans"/>
                <a:cs typeface="DM Sans"/>
                <a:sym typeface="DM Sans"/>
              </a:rPr>
              <a:t>{{WS_NONOS_R}}</a:t>
            </a:r>
            <a:endParaRPr i="0" sz="800" u="none" cap="none" strike="noStrike">
              <a:solidFill>
                <a:srgbClr val="595959"/>
              </a:solidFill>
              <a:latin typeface="DM Sans"/>
              <a:ea typeface="DM Sans"/>
              <a:cs typeface="DM Sans"/>
              <a:sym typeface="DM Sans"/>
            </a:endParaRPr>
          </a:p>
        </p:txBody>
      </p:sp>
      <p:cxnSp>
        <p:nvCxnSpPr>
          <p:cNvPr id="993" name="Google Shape;993;p66"/>
          <p:cNvCxnSpPr/>
          <p:nvPr/>
        </p:nvCxnSpPr>
        <p:spPr>
          <a:xfrm>
            <a:off x="365750" y="1874226"/>
            <a:ext cx="3977700" cy="0"/>
          </a:xfrm>
          <a:prstGeom prst="straightConnector1">
            <a:avLst/>
          </a:prstGeom>
          <a:noFill/>
          <a:ln cap="flat" cmpd="sng" w="7150">
            <a:solidFill>
              <a:srgbClr val="888888"/>
            </a:solidFill>
            <a:prstDash val="solid"/>
            <a:round/>
            <a:headEnd len="sm" w="sm" type="none"/>
            <a:tailEnd len="sm" w="sm" type="none"/>
          </a:ln>
        </p:spPr>
      </p:cxnSp>
      <p:sp>
        <p:nvSpPr>
          <p:cNvPr id="994" name="Google Shape;994;p66"/>
          <p:cNvSpPr/>
          <p:nvPr/>
        </p:nvSpPr>
        <p:spPr>
          <a:xfrm>
            <a:off x="2514443" y="1644569"/>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{{WS_VM}}</a:t>
            </a:r>
            <a:endParaRPr b="0" i="0" sz="700" u="none" cap="none" strike="noStrike">
              <a:solidFill>
                <a:schemeClr val="dk1"/>
              </a:solidFill>
              <a:latin typeface="Calibri"/>
              <a:ea typeface="Calibri"/>
              <a:cs typeface="Calibri"/>
              <a:sym typeface="Calibri"/>
            </a:endParaRPr>
          </a:p>
        </p:txBody>
      </p:sp>
      <p:sp>
        <p:nvSpPr>
          <p:cNvPr id="995" name="Google Shape;995;p66"/>
          <p:cNvSpPr/>
          <p:nvPr/>
        </p:nvSpPr>
        <p:spPr>
          <a:xfrm>
            <a:off x="3412669" y="1683431"/>
            <a:ext cx="939600" cy="175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DM Sans"/>
                <a:ea typeface="DM Sans"/>
                <a:cs typeface="DM Sans"/>
                <a:sym typeface="DM Sans"/>
              </a:rPr>
              <a:t>{{WS_VM_R}}</a:t>
            </a:r>
            <a:endParaRPr i="0" sz="800" u="none" cap="none" strike="noStrike">
              <a:solidFill>
                <a:srgbClr val="595959"/>
              </a:solidFill>
              <a:latin typeface="DM Sans"/>
              <a:ea typeface="DM Sans"/>
              <a:cs typeface="DM Sans"/>
              <a:sym typeface="DM Sans"/>
            </a:endParaRPr>
          </a:p>
        </p:txBody>
      </p:sp>
      <p:sp>
        <p:nvSpPr>
          <p:cNvPr id="996" name="Google Shape;996;p66"/>
          <p:cNvSpPr/>
          <p:nvPr/>
        </p:nvSpPr>
        <p:spPr>
          <a:xfrm>
            <a:off x="2514443" y="1875363"/>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{{WS_CMK}}</a:t>
            </a:r>
            <a:endParaRPr b="0" i="0" sz="700" u="none" cap="none" strike="noStrike">
              <a:solidFill>
                <a:schemeClr val="dk1"/>
              </a:solidFill>
              <a:latin typeface="Calibri"/>
              <a:ea typeface="Calibri"/>
              <a:cs typeface="Calibri"/>
              <a:sym typeface="Calibri"/>
            </a:endParaRPr>
          </a:p>
        </p:txBody>
      </p:sp>
      <p:cxnSp>
        <p:nvCxnSpPr>
          <p:cNvPr id="997" name="Google Shape;997;p66"/>
          <p:cNvCxnSpPr/>
          <p:nvPr/>
        </p:nvCxnSpPr>
        <p:spPr>
          <a:xfrm>
            <a:off x="365750" y="2104209"/>
            <a:ext cx="3977700" cy="0"/>
          </a:xfrm>
          <a:prstGeom prst="straightConnector1">
            <a:avLst/>
          </a:prstGeom>
          <a:noFill/>
          <a:ln cap="flat" cmpd="sng" w="7150">
            <a:solidFill>
              <a:srgbClr val="888888"/>
            </a:solidFill>
            <a:prstDash val="solid"/>
            <a:round/>
            <a:headEnd len="sm" w="sm" type="none"/>
            <a:tailEnd len="sm" w="sm" type="none"/>
          </a:ln>
        </p:spPr>
      </p:cxnSp>
      <p:cxnSp>
        <p:nvCxnSpPr>
          <p:cNvPr id="998" name="Google Shape;998;p66"/>
          <p:cNvCxnSpPr/>
          <p:nvPr/>
        </p:nvCxnSpPr>
        <p:spPr>
          <a:xfrm>
            <a:off x="365750" y="2334193"/>
            <a:ext cx="3977700" cy="0"/>
          </a:xfrm>
          <a:prstGeom prst="straightConnector1">
            <a:avLst/>
          </a:prstGeom>
          <a:noFill/>
          <a:ln cap="flat" cmpd="sng" w="7150">
            <a:solidFill>
              <a:srgbClr val="888888"/>
            </a:solidFill>
            <a:prstDash val="solid"/>
            <a:round/>
            <a:headEnd len="sm" w="sm" type="none"/>
            <a:tailEnd len="sm" w="sm" type="none"/>
          </a:ln>
        </p:spPr>
      </p:cxnSp>
      <p:sp>
        <p:nvSpPr>
          <p:cNvPr id="999" name="Google Shape;999;p66"/>
          <p:cNvSpPr/>
          <p:nvPr/>
        </p:nvSpPr>
        <p:spPr>
          <a:xfrm>
            <a:off x="2514443" y="2106157"/>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{{WS_TVOL}}</a:t>
            </a:r>
            <a:endParaRPr b="0" i="0" sz="700" u="none" cap="none" strike="noStrike">
              <a:solidFill>
                <a:schemeClr val="dk1"/>
              </a:solidFill>
              <a:latin typeface="Calibri"/>
              <a:ea typeface="Calibri"/>
              <a:cs typeface="Calibri"/>
              <a:sym typeface="Calibri"/>
            </a:endParaRPr>
          </a:p>
        </p:txBody>
      </p:sp>
      <p:cxnSp>
        <p:nvCxnSpPr>
          <p:cNvPr id="1000" name="Google Shape;1000;p66"/>
          <p:cNvCxnSpPr/>
          <p:nvPr/>
        </p:nvCxnSpPr>
        <p:spPr>
          <a:xfrm>
            <a:off x="365750" y="2564176"/>
            <a:ext cx="3977700" cy="0"/>
          </a:xfrm>
          <a:prstGeom prst="straightConnector1">
            <a:avLst/>
          </a:prstGeom>
          <a:noFill/>
          <a:ln cap="flat" cmpd="sng" w="7150">
            <a:solidFill>
              <a:srgbClr val="888888"/>
            </a:solidFill>
            <a:prstDash val="solid"/>
            <a:round/>
            <a:headEnd len="sm" w="sm" type="none"/>
            <a:tailEnd len="sm" w="sm" type="none"/>
          </a:ln>
        </p:spPr>
      </p:cxnSp>
      <p:sp>
        <p:nvSpPr>
          <p:cNvPr id="1001" name="Google Shape;1001;p66"/>
          <p:cNvSpPr/>
          <p:nvPr/>
        </p:nvSpPr>
        <p:spPr>
          <a:xfrm>
            <a:off x="2514443" y="2336951"/>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{{WS_LSAIL}}</a:t>
            </a:r>
            <a:endParaRPr b="0" i="0" sz="700" u="none" cap="none" strike="noStrike">
              <a:solidFill>
                <a:schemeClr val="dk1"/>
              </a:solidFill>
              <a:latin typeface="Calibri"/>
              <a:ea typeface="Calibri"/>
              <a:cs typeface="Calibri"/>
              <a:sym typeface="Calibri"/>
            </a:endParaRPr>
          </a:p>
        </p:txBody>
      </p:sp>
      <p:cxnSp>
        <p:nvCxnSpPr>
          <p:cNvPr id="1002" name="Google Shape;1002;p66"/>
          <p:cNvCxnSpPr/>
          <p:nvPr/>
        </p:nvCxnSpPr>
        <p:spPr>
          <a:xfrm>
            <a:off x="365750" y="2794159"/>
            <a:ext cx="3977700" cy="0"/>
          </a:xfrm>
          <a:prstGeom prst="straightConnector1">
            <a:avLst/>
          </a:prstGeom>
          <a:noFill/>
          <a:ln cap="flat" cmpd="sng" w="7150">
            <a:solidFill>
              <a:srgbClr val="888888"/>
            </a:solidFill>
            <a:prstDash val="solid"/>
            <a:round/>
            <a:headEnd len="sm" w="sm" type="none"/>
            <a:tailEnd len="sm" w="sm" type="none"/>
          </a:ln>
        </p:spPr>
      </p:cxnSp>
      <p:sp>
        <p:nvSpPr>
          <p:cNvPr id="1003" name="Google Shape;1003;p66"/>
          <p:cNvSpPr/>
          <p:nvPr/>
        </p:nvSpPr>
        <p:spPr>
          <a:xfrm>
            <a:off x="2514443" y="2567745"/>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{{WS_LAMB}}</a:t>
            </a:r>
            <a:endParaRPr b="0" i="0" sz="700" u="none" cap="none" strike="noStrike">
              <a:solidFill>
                <a:schemeClr val="dk1"/>
              </a:solidFill>
              <a:latin typeface="Calibri"/>
              <a:ea typeface="Calibri"/>
              <a:cs typeface="Calibri"/>
              <a:sym typeface="Calibri"/>
            </a:endParaRPr>
          </a:p>
        </p:txBody>
      </p:sp>
      <p:cxnSp>
        <p:nvCxnSpPr>
          <p:cNvPr id="1004" name="Google Shape;1004;p66"/>
          <p:cNvCxnSpPr/>
          <p:nvPr/>
        </p:nvCxnSpPr>
        <p:spPr>
          <a:xfrm>
            <a:off x="365750" y="3024142"/>
            <a:ext cx="3977700" cy="0"/>
          </a:xfrm>
          <a:prstGeom prst="straightConnector1">
            <a:avLst/>
          </a:prstGeom>
          <a:noFill/>
          <a:ln cap="flat" cmpd="sng" w="7150">
            <a:solidFill>
              <a:srgbClr val="888888"/>
            </a:solidFill>
            <a:prstDash val="solid"/>
            <a:round/>
            <a:headEnd len="sm" w="sm" type="none"/>
            <a:tailEnd len="sm" w="sm" type="none"/>
          </a:ln>
        </p:spPr>
      </p:cxnSp>
      <p:sp>
        <p:nvSpPr>
          <p:cNvPr id="1005" name="Google Shape;1005;p66"/>
          <p:cNvSpPr/>
          <p:nvPr/>
        </p:nvSpPr>
        <p:spPr>
          <a:xfrm>
            <a:off x="2514443" y="2798539"/>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{{WS_TAGS}}</a:t>
            </a:r>
            <a:endParaRPr b="0" i="0" sz="700" u="none" cap="none" strike="noStrike">
              <a:solidFill>
                <a:schemeClr val="dk1"/>
              </a:solidFill>
              <a:latin typeface="Calibri"/>
              <a:ea typeface="Calibri"/>
              <a:cs typeface="Calibri"/>
              <a:sym typeface="Calibri"/>
            </a:endParaRPr>
          </a:p>
        </p:txBody>
      </p:sp>
      <p:cxnSp>
        <p:nvCxnSpPr>
          <p:cNvPr id="1006" name="Google Shape;1006;p66"/>
          <p:cNvCxnSpPr/>
          <p:nvPr/>
        </p:nvCxnSpPr>
        <p:spPr>
          <a:xfrm>
            <a:off x="365750" y="3254126"/>
            <a:ext cx="3977700" cy="0"/>
          </a:xfrm>
          <a:prstGeom prst="straightConnector1">
            <a:avLst/>
          </a:prstGeom>
          <a:noFill/>
          <a:ln cap="flat" cmpd="sng" w="7150">
            <a:solidFill>
              <a:srgbClr val="888888"/>
            </a:solidFill>
            <a:prstDash val="solid"/>
            <a:round/>
            <a:headEnd len="sm" w="sm" type="none"/>
            <a:tailEnd len="sm" w="sm" type="none"/>
          </a:ln>
        </p:spPr>
      </p:cxnSp>
      <p:sp>
        <p:nvSpPr>
          <p:cNvPr id="1007" name="Google Shape;1007;p66"/>
          <p:cNvSpPr/>
          <p:nvPr/>
        </p:nvSpPr>
        <p:spPr>
          <a:xfrm>
            <a:off x="2514443" y="3029333"/>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{{WS_EXCL}}</a:t>
            </a:r>
            <a:endParaRPr b="0" i="0" sz="700" u="none" cap="none" strike="noStrike">
              <a:solidFill>
                <a:schemeClr val="dk1"/>
              </a:solidFill>
              <a:latin typeface="Calibri"/>
              <a:ea typeface="Calibri"/>
              <a:cs typeface="Calibri"/>
              <a:sym typeface="Calibri"/>
            </a:endParaRPr>
          </a:p>
        </p:txBody>
      </p:sp>
      <p:sp>
        <p:nvSpPr>
          <p:cNvPr id="1008" name="Google Shape;1008;p66"/>
          <p:cNvSpPr/>
          <p:nvPr/>
        </p:nvSpPr>
        <p:spPr>
          <a:xfrm>
            <a:off x="3412669" y="3052388"/>
            <a:ext cx="939600" cy="175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DM Sans"/>
                <a:ea typeface="DM Sans"/>
                <a:cs typeface="DM Sans"/>
                <a:sym typeface="DM Sans"/>
              </a:rPr>
              <a:t>{{WS_EXCL_R}}</a:t>
            </a:r>
            <a:endParaRPr i="0" sz="800" u="none" cap="none" strike="noStrike">
              <a:solidFill>
                <a:srgbClr val="595959"/>
              </a:solidFill>
              <a:latin typeface="DM Sans"/>
              <a:ea typeface="DM Sans"/>
              <a:cs typeface="DM Sans"/>
              <a:sym typeface="DM Sans"/>
            </a:endParaRPr>
          </a:p>
        </p:txBody>
      </p:sp>
      <p:cxnSp>
        <p:nvCxnSpPr>
          <p:cNvPr id="1009" name="Google Shape;1009;p66"/>
          <p:cNvCxnSpPr/>
          <p:nvPr/>
        </p:nvCxnSpPr>
        <p:spPr>
          <a:xfrm>
            <a:off x="365750" y="3484109"/>
            <a:ext cx="3977700" cy="0"/>
          </a:xfrm>
          <a:prstGeom prst="straightConnector1">
            <a:avLst/>
          </a:prstGeom>
          <a:noFill/>
          <a:ln cap="flat" cmpd="sng" w="7150">
            <a:solidFill>
              <a:srgbClr val="888888"/>
            </a:solidFill>
            <a:prstDash val="solid"/>
            <a:round/>
            <a:headEnd len="sm" w="sm" type="none"/>
            <a:tailEnd len="sm" w="sm" type="none"/>
          </a:ln>
        </p:spPr>
      </p:cxnSp>
      <p:sp>
        <p:nvSpPr>
          <p:cNvPr id="1010" name="Google Shape;1010;p66"/>
          <p:cNvSpPr/>
          <p:nvPr/>
        </p:nvSpPr>
        <p:spPr>
          <a:xfrm>
            <a:off x="2514443" y="3260127"/>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{{WS_CIGS}}</a:t>
            </a:r>
            <a:endParaRPr b="0" i="0" sz="700" u="none" cap="none" strike="noStrike">
              <a:solidFill>
                <a:schemeClr val="dk1"/>
              </a:solidFill>
              <a:latin typeface="Calibri"/>
              <a:ea typeface="Calibri"/>
              <a:cs typeface="Calibri"/>
              <a:sym typeface="Calibri"/>
            </a:endParaRPr>
          </a:p>
        </p:txBody>
      </p:sp>
      <p:sp>
        <p:nvSpPr>
          <p:cNvPr id="1011" name="Google Shape;1011;p66"/>
          <p:cNvSpPr/>
          <p:nvPr/>
        </p:nvSpPr>
        <p:spPr>
          <a:xfrm>
            <a:off x="3412669" y="3282298"/>
            <a:ext cx="939600" cy="175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DM Sans"/>
                <a:ea typeface="DM Sans"/>
                <a:cs typeface="DM Sans"/>
                <a:sym typeface="DM Sans"/>
              </a:rPr>
              <a:t>{{WS_CIGS_R}}</a:t>
            </a:r>
            <a:endParaRPr i="0" sz="800" u="none" cap="none" strike="noStrike">
              <a:solidFill>
                <a:srgbClr val="595959"/>
              </a:solidFill>
              <a:latin typeface="DM Sans"/>
              <a:ea typeface="DM Sans"/>
              <a:cs typeface="DM Sans"/>
              <a:sym typeface="DM Sans"/>
            </a:endParaRPr>
          </a:p>
        </p:txBody>
      </p:sp>
      <p:cxnSp>
        <p:nvCxnSpPr>
          <p:cNvPr id="1012" name="Google Shape;1012;p66"/>
          <p:cNvCxnSpPr/>
          <p:nvPr/>
        </p:nvCxnSpPr>
        <p:spPr>
          <a:xfrm>
            <a:off x="365750" y="3714092"/>
            <a:ext cx="3977700" cy="0"/>
          </a:xfrm>
          <a:prstGeom prst="straightConnector1">
            <a:avLst/>
          </a:prstGeom>
          <a:noFill/>
          <a:ln cap="flat" cmpd="sng" w="7150">
            <a:solidFill>
              <a:srgbClr val="888888"/>
            </a:solidFill>
            <a:prstDash val="solid"/>
            <a:round/>
            <a:headEnd len="sm" w="sm" type="none"/>
            <a:tailEnd len="sm" w="sm" type="none"/>
          </a:ln>
        </p:spPr>
      </p:cxnSp>
      <p:sp>
        <p:nvSpPr>
          <p:cNvPr id="1013" name="Google Shape;1013;p66"/>
          <p:cNvSpPr/>
          <p:nvPr/>
        </p:nvSpPr>
        <p:spPr>
          <a:xfrm>
            <a:off x="2514443" y="3490921"/>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{{WS_ADE1}}</a:t>
            </a:r>
            <a:endParaRPr b="0" i="0" sz="700" u="none" cap="none" strike="noStrike">
              <a:solidFill>
                <a:schemeClr val="dk1"/>
              </a:solidFill>
              <a:latin typeface="Calibri"/>
              <a:ea typeface="Calibri"/>
              <a:cs typeface="Calibri"/>
              <a:sym typeface="Calibri"/>
            </a:endParaRPr>
          </a:p>
        </p:txBody>
      </p:sp>
      <p:cxnSp>
        <p:nvCxnSpPr>
          <p:cNvPr id="1014" name="Google Shape;1014;p66"/>
          <p:cNvCxnSpPr/>
          <p:nvPr/>
        </p:nvCxnSpPr>
        <p:spPr>
          <a:xfrm>
            <a:off x="365750" y="3944076"/>
            <a:ext cx="3977700" cy="0"/>
          </a:xfrm>
          <a:prstGeom prst="straightConnector1">
            <a:avLst/>
          </a:prstGeom>
          <a:noFill/>
          <a:ln cap="flat" cmpd="sng" w="7150">
            <a:solidFill>
              <a:srgbClr val="888888"/>
            </a:solidFill>
            <a:prstDash val="solid"/>
            <a:round/>
            <a:headEnd len="sm" w="sm" type="none"/>
            <a:tailEnd len="sm" w="sm" type="none"/>
          </a:ln>
        </p:spPr>
      </p:cxnSp>
      <p:sp>
        <p:nvSpPr>
          <p:cNvPr id="1015" name="Google Shape;1015;p66"/>
          <p:cNvSpPr/>
          <p:nvPr/>
        </p:nvSpPr>
        <p:spPr>
          <a:xfrm>
            <a:off x="2514443" y="3721715"/>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{{WS_ADE2}}</a:t>
            </a:r>
            <a:endParaRPr b="0" i="0" sz="700" u="none" cap="none" strike="noStrike">
              <a:solidFill>
                <a:schemeClr val="dk1"/>
              </a:solidFill>
              <a:latin typeface="Calibri"/>
              <a:ea typeface="Calibri"/>
              <a:cs typeface="Calibri"/>
              <a:sym typeface="Calibri"/>
            </a:endParaRPr>
          </a:p>
        </p:txBody>
      </p:sp>
      <p:cxnSp>
        <p:nvCxnSpPr>
          <p:cNvPr id="1016" name="Google Shape;1016;p66"/>
          <p:cNvCxnSpPr/>
          <p:nvPr/>
        </p:nvCxnSpPr>
        <p:spPr>
          <a:xfrm>
            <a:off x="365750" y="4174059"/>
            <a:ext cx="3977700" cy="0"/>
          </a:xfrm>
          <a:prstGeom prst="straightConnector1">
            <a:avLst/>
          </a:prstGeom>
          <a:noFill/>
          <a:ln cap="flat" cmpd="sng" w="7150">
            <a:solidFill>
              <a:srgbClr val="888888"/>
            </a:solidFill>
            <a:prstDash val="solid"/>
            <a:round/>
            <a:headEnd len="sm" w="sm" type="none"/>
            <a:tailEnd len="sm" w="sm" type="none"/>
          </a:ln>
        </p:spPr>
      </p:cxnSp>
      <p:sp>
        <p:nvSpPr>
          <p:cNvPr id="1017" name="Google Shape;1017;p66"/>
          <p:cNvSpPr/>
          <p:nvPr/>
        </p:nvSpPr>
        <p:spPr>
          <a:xfrm>
            <a:off x="2514443" y="3952509"/>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{{WS_NRT}}</a:t>
            </a:r>
            <a:endParaRPr b="0" i="0" sz="700" u="none" cap="none" strike="noStrike">
              <a:solidFill>
                <a:schemeClr val="dk1"/>
              </a:solidFill>
              <a:latin typeface="Calibri"/>
              <a:ea typeface="Calibri"/>
              <a:cs typeface="Calibri"/>
              <a:sym typeface="Calibri"/>
            </a:endParaRPr>
          </a:p>
        </p:txBody>
      </p:sp>
      <p:sp>
        <p:nvSpPr>
          <p:cNvPr id="1018" name="Google Shape;1018;p66"/>
          <p:cNvSpPr/>
          <p:nvPr/>
        </p:nvSpPr>
        <p:spPr>
          <a:xfrm>
            <a:off x="4800600" y="868680"/>
            <a:ext cx="3977700" cy="274200"/>
          </a:xfrm>
          <a:prstGeom prst="rect">
            <a:avLst/>
          </a:prstGeom>
          <a:solidFill>
            <a:srgbClr val="DCC0C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66"/>
          <p:cNvSpPr/>
          <p:nvPr/>
        </p:nvSpPr>
        <p:spPr>
          <a:xfrm>
            <a:off x="4800600" y="868680"/>
            <a:ext cx="36600" cy="274200"/>
          </a:xfrm>
          <a:prstGeom prst="rect">
            <a:avLst/>
          </a:prstGeom>
          <a:solidFill>
            <a:srgbClr val="DC262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66"/>
          <p:cNvSpPr/>
          <p:nvPr/>
        </p:nvSpPr>
        <p:spPr>
          <a:xfrm>
            <a:off x="4937760" y="858268"/>
            <a:ext cx="3794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C2626"/>
              </a:buClr>
              <a:buSzPts val="1000"/>
              <a:buFont typeface="DM Sans"/>
              <a:buNone/>
            </a:pPr>
            <a:r>
              <a:rPr b="1" i="0" lang="en" sz="1100" u="sng" cap="none" strike="noStrike">
                <a:solidFill>
                  <a:srgbClr val="CC0000"/>
                </a:solidFill>
                <a:latin typeface="DM Sans"/>
                <a:ea typeface="DM Sans"/>
                <a:cs typeface="DM Sans"/>
                <a:sym typeface="DM Sans"/>
                <a:hlinkClick r:id="rId8">
                  <a:extLst>
                    <a:ext uri="{A12FA001-AC4F-418D-AE19-62706E023703}">
                      <ahyp:hlinkClr val="tx"/>
                    </a:ext>
                  </a:extLst>
                </a:hlinkClick>
              </a:rPr>
              <a:t>ATTACK SURFACE MANAGEMENT</a:t>
            </a:r>
            <a:r>
              <a:rPr lang="en" sz="1100">
                <a:solidFill>
                  <a:srgbClr val="CC0000"/>
                </a:solidFill>
                <a:latin typeface="Calibri"/>
                <a:ea typeface="Calibri"/>
                <a:cs typeface="Calibri"/>
                <a:sym typeface="Calibri"/>
              </a:rPr>
              <a:t> </a:t>
            </a:r>
            <a:r>
              <a:rPr lang="en" sz="1300">
                <a:solidFill>
                  <a:srgbClr val="CC0000"/>
                </a:solidFill>
                <a:uFill>
                  <a:noFill/>
                </a:uFill>
                <a:latin typeface="Poppins"/>
                <a:ea typeface="Poppins"/>
                <a:cs typeface="Poppins"/>
                <a:sym typeface="Poppins"/>
                <a:hlinkClick r:id="rId9">
                  <a:extLst>
                    <a:ext uri="{A12FA001-AC4F-418D-AE19-62706E023703}">
                      <ahyp:hlinkClr val="tx"/>
                    </a:ext>
                  </a:extLst>
                </a:hlinkClick>
              </a:rPr>
              <a:t>↗</a:t>
            </a:r>
            <a:endParaRPr b="0" i="0" sz="1100" u="none" cap="none" strike="noStrike">
              <a:solidFill>
                <a:srgbClr val="CC0000"/>
              </a:solidFill>
              <a:latin typeface="Calibri"/>
              <a:ea typeface="Calibri"/>
              <a:cs typeface="Calibri"/>
              <a:sym typeface="Calibri"/>
            </a:endParaRPr>
          </a:p>
        </p:txBody>
      </p:sp>
      <p:sp>
        <p:nvSpPr>
          <p:cNvPr id="1021" name="Google Shape;1021;p66"/>
          <p:cNvSpPr/>
          <p:nvPr/>
        </p:nvSpPr>
        <p:spPr>
          <a:xfrm>
            <a:off x="4788323" y="1204132"/>
            <a:ext cx="3947400" cy="197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66"/>
          <p:cNvSpPr/>
          <p:nvPr/>
        </p:nvSpPr>
        <p:spPr>
          <a:xfrm>
            <a:off x="4879063" y="1204132"/>
            <a:ext cx="1973400" cy="197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Setting</a:t>
            </a:r>
            <a:endParaRPr b="0" i="0" sz="1000" u="none" cap="none" strike="noStrike">
              <a:solidFill>
                <a:schemeClr val="dk1"/>
              </a:solidFill>
              <a:latin typeface="Calibri"/>
              <a:ea typeface="Calibri"/>
              <a:cs typeface="Calibri"/>
              <a:sym typeface="Calibri"/>
            </a:endParaRPr>
          </a:p>
        </p:txBody>
      </p:sp>
      <p:sp>
        <p:nvSpPr>
          <p:cNvPr id="1023" name="Google Shape;1023;p66"/>
          <p:cNvSpPr/>
          <p:nvPr/>
        </p:nvSpPr>
        <p:spPr>
          <a:xfrm>
            <a:off x="6929140" y="1204132"/>
            <a:ext cx="868200" cy="197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Status</a:t>
            </a:r>
            <a:endParaRPr b="0" i="0" sz="1000" u="none" cap="none" strike="noStrike">
              <a:solidFill>
                <a:schemeClr val="dk1"/>
              </a:solidFill>
              <a:latin typeface="Calibri"/>
              <a:ea typeface="Calibri"/>
              <a:cs typeface="Calibri"/>
              <a:sym typeface="Calibri"/>
            </a:endParaRPr>
          </a:p>
        </p:txBody>
      </p:sp>
      <p:sp>
        <p:nvSpPr>
          <p:cNvPr id="1024" name="Google Shape;1024;p66"/>
          <p:cNvSpPr/>
          <p:nvPr/>
        </p:nvSpPr>
        <p:spPr>
          <a:xfrm>
            <a:off x="7777620" y="1204132"/>
            <a:ext cx="1026300" cy="197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Recommended</a:t>
            </a:r>
            <a:endParaRPr b="0" i="0" sz="1000" u="none" cap="none" strike="noStrike">
              <a:solidFill>
                <a:schemeClr val="dk1"/>
              </a:solidFill>
              <a:latin typeface="Calibri"/>
              <a:ea typeface="Calibri"/>
              <a:cs typeface="Calibri"/>
              <a:sym typeface="Calibri"/>
            </a:endParaRPr>
          </a:p>
        </p:txBody>
      </p:sp>
      <p:cxnSp>
        <p:nvCxnSpPr>
          <p:cNvPr id="1025" name="Google Shape;1025;p66"/>
          <p:cNvCxnSpPr/>
          <p:nvPr/>
        </p:nvCxnSpPr>
        <p:spPr>
          <a:xfrm>
            <a:off x="4788600" y="1598105"/>
            <a:ext cx="4012500" cy="0"/>
          </a:xfrm>
          <a:prstGeom prst="straightConnector1">
            <a:avLst/>
          </a:prstGeom>
          <a:noFill/>
          <a:ln cap="flat" cmpd="sng" w="6575">
            <a:solidFill>
              <a:srgbClr val="888888"/>
            </a:solidFill>
            <a:prstDash val="solid"/>
            <a:round/>
            <a:headEnd len="sm" w="sm" type="none"/>
            <a:tailEnd len="sm" w="sm" type="none"/>
          </a:ln>
        </p:spPr>
      </p:cxnSp>
      <p:cxnSp>
        <p:nvCxnSpPr>
          <p:cNvPr id="1026" name="Google Shape;1026;p66"/>
          <p:cNvCxnSpPr/>
          <p:nvPr/>
        </p:nvCxnSpPr>
        <p:spPr>
          <a:xfrm>
            <a:off x="4788600" y="1800944"/>
            <a:ext cx="4012500" cy="0"/>
          </a:xfrm>
          <a:prstGeom prst="straightConnector1">
            <a:avLst/>
          </a:prstGeom>
          <a:noFill/>
          <a:ln cap="flat" cmpd="sng" w="6575">
            <a:solidFill>
              <a:srgbClr val="888888"/>
            </a:solidFill>
            <a:prstDash val="solid"/>
            <a:round/>
            <a:headEnd len="sm" w="sm" type="none"/>
            <a:tailEnd len="sm" w="sm" type="none"/>
          </a:ln>
        </p:spPr>
      </p:cxnSp>
      <p:cxnSp>
        <p:nvCxnSpPr>
          <p:cNvPr id="1027" name="Google Shape;1027;p66"/>
          <p:cNvCxnSpPr/>
          <p:nvPr/>
        </p:nvCxnSpPr>
        <p:spPr>
          <a:xfrm>
            <a:off x="4788600" y="2003784"/>
            <a:ext cx="4012500" cy="0"/>
          </a:xfrm>
          <a:prstGeom prst="straightConnector1">
            <a:avLst/>
          </a:prstGeom>
          <a:noFill/>
          <a:ln cap="flat" cmpd="sng" w="6575">
            <a:solidFill>
              <a:srgbClr val="888888"/>
            </a:solidFill>
            <a:prstDash val="solid"/>
            <a:round/>
            <a:headEnd len="sm" w="sm" type="none"/>
            <a:tailEnd len="sm" w="sm" type="none"/>
          </a:ln>
        </p:spPr>
      </p:cxnSp>
      <p:cxnSp>
        <p:nvCxnSpPr>
          <p:cNvPr id="1028" name="Google Shape;1028;p66"/>
          <p:cNvCxnSpPr/>
          <p:nvPr/>
        </p:nvCxnSpPr>
        <p:spPr>
          <a:xfrm>
            <a:off x="4788600" y="2206623"/>
            <a:ext cx="4012500" cy="0"/>
          </a:xfrm>
          <a:prstGeom prst="straightConnector1">
            <a:avLst/>
          </a:prstGeom>
          <a:noFill/>
          <a:ln cap="flat" cmpd="sng" w="6575">
            <a:solidFill>
              <a:srgbClr val="888888"/>
            </a:solidFill>
            <a:prstDash val="solid"/>
            <a:round/>
            <a:headEnd len="sm" w="sm" type="none"/>
            <a:tailEnd len="sm" w="sm" type="none"/>
          </a:ln>
        </p:spPr>
      </p:cxnSp>
      <p:cxnSp>
        <p:nvCxnSpPr>
          <p:cNvPr id="1029" name="Google Shape;1029;p66"/>
          <p:cNvCxnSpPr/>
          <p:nvPr/>
        </p:nvCxnSpPr>
        <p:spPr>
          <a:xfrm>
            <a:off x="4788600" y="2409463"/>
            <a:ext cx="4012500" cy="0"/>
          </a:xfrm>
          <a:prstGeom prst="straightConnector1">
            <a:avLst/>
          </a:prstGeom>
          <a:noFill/>
          <a:ln cap="flat" cmpd="sng" w="8775">
            <a:solidFill>
              <a:srgbClr val="888888"/>
            </a:solidFill>
            <a:prstDash val="solid"/>
            <a:round/>
            <a:headEnd len="sm" w="sm" type="none"/>
            <a:tailEnd len="sm" w="sm" type="none"/>
          </a:ln>
        </p:spPr>
      </p:cxnSp>
      <p:cxnSp>
        <p:nvCxnSpPr>
          <p:cNvPr id="1030" name="Google Shape;1030;p66"/>
          <p:cNvCxnSpPr/>
          <p:nvPr/>
        </p:nvCxnSpPr>
        <p:spPr>
          <a:xfrm>
            <a:off x="4788600" y="2612303"/>
            <a:ext cx="4012500" cy="0"/>
          </a:xfrm>
          <a:prstGeom prst="straightConnector1">
            <a:avLst/>
          </a:prstGeom>
          <a:noFill/>
          <a:ln cap="flat" cmpd="sng" w="6575">
            <a:solidFill>
              <a:srgbClr val="888888"/>
            </a:solidFill>
            <a:prstDash val="solid"/>
            <a:round/>
            <a:headEnd len="sm" w="sm" type="none"/>
            <a:tailEnd len="sm" w="sm" type="none"/>
          </a:ln>
        </p:spPr>
      </p:cxnSp>
      <p:cxnSp>
        <p:nvCxnSpPr>
          <p:cNvPr id="1031" name="Google Shape;1031;p66"/>
          <p:cNvCxnSpPr/>
          <p:nvPr/>
        </p:nvCxnSpPr>
        <p:spPr>
          <a:xfrm>
            <a:off x="4788600" y="2815142"/>
            <a:ext cx="4012500" cy="0"/>
          </a:xfrm>
          <a:prstGeom prst="straightConnector1">
            <a:avLst/>
          </a:prstGeom>
          <a:noFill/>
          <a:ln cap="flat" cmpd="sng" w="6575">
            <a:solidFill>
              <a:srgbClr val="888888"/>
            </a:solidFill>
            <a:prstDash val="solid"/>
            <a:round/>
            <a:headEnd len="sm" w="sm" type="none"/>
            <a:tailEnd len="sm" w="sm" type="none"/>
          </a:ln>
        </p:spPr>
      </p:cxnSp>
      <p:cxnSp>
        <p:nvCxnSpPr>
          <p:cNvPr id="1032" name="Google Shape;1032;p66"/>
          <p:cNvCxnSpPr/>
          <p:nvPr/>
        </p:nvCxnSpPr>
        <p:spPr>
          <a:xfrm>
            <a:off x="4794352" y="3626501"/>
            <a:ext cx="4012500" cy="0"/>
          </a:xfrm>
          <a:prstGeom prst="straightConnector1">
            <a:avLst/>
          </a:prstGeom>
          <a:noFill/>
          <a:ln cap="flat" cmpd="sng" w="6575">
            <a:solidFill>
              <a:srgbClr val="888888"/>
            </a:solidFill>
            <a:prstDash val="solid"/>
            <a:round/>
            <a:headEnd len="sm" w="sm" type="none"/>
            <a:tailEnd len="sm" w="sm" type="none"/>
          </a:ln>
        </p:spPr>
      </p:cxnSp>
      <p:sp>
        <p:nvSpPr>
          <p:cNvPr id="1033" name="Google Shape;1033;p66"/>
          <p:cNvSpPr txBox="1"/>
          <p:nvPr/>
        </p:nvSpPr>
        <p:spPr>
          <a:xfrm>
            <a:off x="3412674" y="1913341"/>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{{WS_CMK_R}}</a:t>
            </a:r>
            <a:endParaRPr sz="800">
              <a:solidFill>
                <a:srgbClr val="595959"/>
              </a:solidFill>
              <a:latin typeface="DM Sans"/>
              <a:ea typeface="DM Sans"/>
              <a:cs typeface="DM Sans"/>
              <a:sym typeface="DM Sans"/>
            </a:endParaRPr>
          </a:p>
        </p:txBody>
      </p:sp>
      <p:sp>
        <p:nvSpPr>
          <p:cNvPr id="1034" name="Google Shape;1034;p66"/>
          <p:cNvSpPr txBox="1"/>
          <p:nvPr/>
        </p:nvSpPr>
        <p:spPr>
          <a:xfrm>
            <a:off x="3412674" y="2141150"/>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{{WS_TVOL_R}}</a:t>
            </a:r>
            <a:endParaRPr sz="800">
              <a:solidFill>
                <a:srgbClr val="595959"/>
              </a:solidFill>
              <a:latin typeface="DM Sans"/>
              <a:ea typeface="DM Sans"/>
              <a:cs typeface="DM Sans"/>
              <a:sym typeface="DM Sans"/>
            </a:endParaRPr>
          </a:p>
        </p:txBody>
      </p:sp>
      <p:sp>
        <p:nvSpPr>
          <p:cNvPr id="1035" name="Google Shape;1035;p66"/>
          <p:cNvSpPr txBox="1"/>
          <p:nvPr/>
        </p:nvSpPr>
        <p:spPr>
          <a:xfrm>
            <a:off x="3412674" y="2368960"/>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{{WS_LSAIL_R}}</a:t>
            </a:r>
            <a:endParaRPr sz="800">
              <a:solidFill>
                <a:srgbClr val="595959"/>
              </a:solidFill>
              <a:latin typeface="DM Sans"/>
              <a:ea typeface="DM Sans"/>
              <a:cs typeface="DM Sans"/>
              <a:sym typeface="DM Sans"/>
            </a:endParaRPr>
          </a:p>
        </p:txBody>
      </p:sp>
      <p:sp>
        <p:nvSpPr>
          <p:cNvPr id="1036" name="Google Shape;1036;p66"/>
          <p:cNvSpPr txBox="1"/>
          <p:nvPr/>
        </p:nvSpPr>
        <p:spPr>
          <a:xfrm>
            <a:off x="3412674" y="2596769"/>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{{WS_LAMB_R}}</a:t>
            </a:r>
            <a:endParaRPr sz="800">
              <a:solidFill>
                <a:srgbClr val="595959"/>
              </a:solidFill>
              <a:latin typeface="DM Sans"/>
              <a:ea typeface="DM Sans"/>
              <a:cs typeface="DM Sans"/>
              <a:sym typeface="DM Sans"/>
            </a:endParaRPr>
          </a:p>
        </p:txBody>
      </p:sp>
      <p:sp>
        <p:nvSpPr>
          <p:cNvPr id="1037" name="Google Shape;1037;p66"/>
          <p:cNvSpPr txBox="1"/>
          <p:nvPr/>
        </p:nvSpPr>
        <p:spPr>
          <a:xfrm>
            <a:off x="3412675" y="2824579"/>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{{WS_TAGS_R}}</a:t>
            </a:r>
            <a:endParaRPr sz="800">
              <a:solidFill>
                <a:srgbClr val="595959"/>
              </a:solidFill>
              <a:latin typeface="DM Sans"/>
              <a:ea typeface="DM Sans"/>
              <a:cs typeface="DM Sans"/>
              <a:sym typeface="DM Sans"/>
            </a:endParaRPr>
          </a:p>
        </p:txBody>
      </p:sp>
      <p:sp>
        <p:nvSpPr>
          <p:cNvPr id="1038" name="Google Shape;1038;p66"/>
          <p:cNvSpPr txBox="1"/>
          <p:nvPr/>
        </p:nvSpPr>
        <p:spPr>
          <a:xfrm>
            <a:off x="3412674" y="3512208"/>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{{WS_ADE1_R}}</a:t>
            </a:r>
            <a:endParaRPr sz="800">
              <a:solidFill>
                <a:srgbClr val="595959"/>
              </a:solidFill>
              <a:latin typeface="DM Sans"/>
              <a:ea typeface="DM Sans"/>
              <a:cs typeface="DM Sans"/>
              <a:sym typeface="DM Sans"/>
            </a:endParaRPr>
          </a:p>
        </p:txBody>
      </p:sp>
      <p:sp>
        <p:nvSpPr>
          <p:cNvPr id="1039" name="Google Shape;1039;p66"/>
          <p:cNvSpPr txBox="1"/>
          <p:nvPr/>
        </p:nvSpPr>
        <p:spPr>
          <a:xfrm>
            <a:off x="3412674" y="3740017"/>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{{WS_ADE2_R}}</a:t>
            </a:r>
            <a:endParaRPr sz="800">
              <a:solidFill>
                <a:srgbClr val="595959"/>
              </a:solidFill>
              <a:latin typeface="DM Sans"/>
              <a:ea typeface="DM Sans"/>
              <a:cs typeface="DM Sans"/>
              <a:sym typeface="DM Sans"/>
            </a:endParaRPr>
          </a:p>
        </p:txBody>
      </p:sp>
      <p:sp>
        <p:nvSpPr>
          <p:cNvPr id="1040" name="Google Shape;1040;p66"/>
          <p:cNvSpPr txBox="1"/>
          <p:nvPr/>
        </p:nvSpPr>
        <p:spPr>
          <a:xfrm>
            <a:off x="3412674" y="3967827"/>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{{WS_NRT_R}}</a:t>
            </a:r>
            <a:endParaRPr sz="800">
              <a:solidFill>
                <a:srgbClr val="595959"/>
              </a:solidFill>
              <a:latin typeface="DM Sans"/>
              <a:ea typeface="DM Sans"/>
              <a:cs typeface="DM Sans"/>
              <a:sym typeface="DM Sans"/>
            </a:endParaRPr>
          </a:p>
        </p:txBody>
      </p:sp>
      <p:cxnSp>
        <p:nvCxnSpPr>
          <p:cNvPr id="1041" name="Google Shape;1041;p66"/>
          <p:cNvCxnSpPr/>
          <p:nvPr/>
        </p:nvCxnSpPr>
        <p:spPr>
          <a:xfrm>
            <a:off x="4805551" y="1390969"/>
            <a:ext cx="3947400" cy="0"/>
          </a:xfrm>
          <a:prstGeom prst="straightConnector1">
            <a:avLst/>
          </a:prstGeom>
          <a:noFill/>
          <a:ln cap="flat" cmpd="sng" w="14300">
            <a:solidFill>
              <a:srgbClr val="888888"/>
            </a:solidFill>
            <a:prstDash val="solid"/>
            <a:round/>
            <a:headEnd len="sm" w="sm" type="none"/>
            <a:tailEnd len="sm" w="sm" type="none"/>
          </a:ln>
        </p:spPr>
      </p:cxnSp>
      <p:cxnSp>
        <p:nvCxnSpPr>
          <p:cNvPr id="1042" name="Google Shape;1042;p66"/>
          <p:cNvCxnSpPr/>
          <p:nvPr/>
        </p:nvCxnSpPr>
        <p:spPr>
          <a:xfrm>
            <a:off x="377157" y="1403236"/>
            <a:ext cx="3977700" cy="0"/>
          </a:xfrm>
          <a:prstGeom prst="straightConnector1">
            <a:avLst/>
          </a:prstGeom>
          <a:noFill/>
          <a:ln cap="flat" cmpd="sng" w="14300">
            <a:solidFill>
              <a:srgbClr val="888888"/>
            </a:solidFill>
            <a:prstDash val="solid"/>
            <a:round/>
            <a:headEnd len="sm" w="sm" type="none"/>
            <a:tailEnd len="sm" w="sm" type="none"/>
          </a:ln>
        </p:spPr>
      </p:cxnSp>
      <p:sp>
        <p:nvSpPr>
          <p:cNvPr id="1043" name="Google Shape;1043;p66"/>
          <p:cNvSpPr/>
          <p:nvPr/>
        </p:nvSpPr>
        <p:spPr>
          <a:xfrm>
            <a:off x="7010768" y="134170"/>
            <a:ext cx="2491200" cy="434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9CA3AF"/>
              </a:buClr>
              <a:buSzPts val="500"/>
              <a:buFont typeface="JetBrains Mono"/>
              <a:buNone/>
            </a:pPr>
            <a:r>
              <a:rPr b="1" lang="en" sz="800">
                <a:solidFill>
                  <a:srgbClr val="218C21"/>
                </a:solidFill>
                <a:latin typeface="JetBrains Mono"/>
                <a:ea typeface="JetBrains Mono"/>
                <a:cs typeface="JetBrains Mono"/>
                <a:sym typeface="JetBrains Mono"/>
              </a:rPr>
              <a:t>✓</a:t>
            </a:r>
            <a:r>
              <a:rPr b="1" lang="en" sz="800">
                <a:solidFill>
                  <a:srgbClr val="218C21"/>
                </a:solidFill>
                <a:latin typeface="DM Sans"/>
                <a:ea typeface="DM Sans"/>
                <a:cs typeface="DM Sans"/>
                <a:sym typeface="DM Sans"/>
              </a:rPr>
              <a:t> = Aligned with Wiz Recommendation</a:t>
            </a:r>
            <a:br>
              <a:rPr b="1" lang="en" sz="800">
                <a:solidFill>
                  <a:srgbClr val="218C21"/>
                </a:solidFill>
                <a:latin typeface="DM Sans"/>
                <a:ea typeface="DM Sans"/>
                <a:cs typeface="DM Sans"/>
                <a:sym typeface="DM Sans"/>
              </a:rPr>
            </a:br>
            <a:r>
              <a:rPr b="1" lang="en" sz="800">
                <a:solidFill>
                  <a:srgbClr val="CC1212"/>
                </a:solidFill>
                <a:latin typeface="DM Sans"/>
                <a:ea typeface="DM Sans"/>
                <a:cs typeface="DM Sans"/>
                <a:sym typeface="DM Sans"/>
              </a:rPr>
              <a:t>✗ = May want to revisit configuration </a:t>
            </a:r>
            <a:endParaRPr b="1" sz="800">
              <a:solidFill>
                <a:srgbClr val="CC1212"/>
              </a:solidFill>
              <a:latin typeface="DM Sans"/>
              <a:ea typeface="DM Sans"/>
              <a:cs typeface="DM Sans"/>
              <a:sym typeface="DM Sans"/>
            </a:endParaRPr>
          </a:p>
          <a:p>
            <a:pPr indent="0" lvl="0" marL="0" rtl="0" algn="l">
              <a:spcBef>
                <a:spcPts val="0"/>
              </a:spcBef>
              <a:spcAft>
                <a:spcPts val="0"/>
              </a:spcAft>
              <a:buClr>
                <a:srgbClr val="9CA3AF"/>
              </a:buClr>
              <a:buSzPts val="500"/>
              <a:buFont typeface="JetBrains Mono"/>
              <a:buNone/>
            </a:pPr>
            <a:r>
              <a:rPr b="1" lang="en" sz="800">
                <a:solidFill>
                  <a:srgbClr val="595959"/>
                </a:solidFill>
                <a:latin typeface="DM Sans"/>
                <a:ea typeface="DM Sans"/>
                <a:cs typeface="DM Sans"/>
                <a:sym typeface="DM Sans"/>
              </a:rPr>
              <a:t>N/A = Informational, customer preference</a:t>
            </a:r>
            <a:endParaRPr sz="1000">
              <a:solidFill>
                <a:srgbClr val="595959"/>
              </a:solidFill>
              <a:latin typeface="DM Sans"/>
              <a:ea typeface="DM Sans"/>
              <a:cs typeface="DM Sans"/>
              <a:sym typeface="DM Sans"/>
            </a:endParaRPr>
          </a:p>
        </p:txBody>
      </p:sp>
      <p:cxnSp>
        <p:nvCxnSpPr>
          <p:cNvPr id="1044" name="Google Shape;1044;p66"/>
          <p:cNvCxnSpPr/>
          <p:nvPr/>
        </p:nvCxnSpPr>
        <p:spPr>
          <a:xfrm>
            <a:off x="4794607" y="3017982"/>
            <a:ext cx="4012500" cy="0"/>
          </a:xfrm>
          <a:prstGeom prst="straightConnector1">
            <a:avLst/>
          </a:prstGeom>
          <a:noFill/>
          <a:ln cap="flat" cmpd="sng" w="6575">
            <a:solidFill>
              <a:srgbClr val="888888"/>
            </a:solidFill>
            <a:prstDash val="solid"/>
            <a:round/>
            <a:headEnd len="sm" w="sm" type="none"/>
            <a:tailEnd len="sm" w="sm" type="none"/>
          </a:ln>
        </p:spPr>
      </p:cxnSp>
      <p:cxnSp>
        <p:nvCxnSpPr>
          <p:cNvPr id="1045" name="Google Shape;1045;p66"/>
          <p:cNvCxnSpPr/>
          <p:nvPr/>
        </p:nvCxnSpPr>
        <p:spPr>
          <a:xfrm>
            <a:off x="4794607" y="3220821"/>
            <a:ext cx="4012500" cy="0"/>
          </a:xfrm>
          <a:prstGeom prst="straightConnector1">
            <a:avLst/>
          </a:prstGeom>
          <a:noFill/>
          <a:ln cap="flat" cmpd="sng" w="6575">
            <a:solidFill>
              <a:srgbClr val="888888"/>
            </a:solidFill>
            <a:prstDash val="solid"/>
            <a:round/>
            <a:headEnd len="sm" w="sm" type="none"/>
            <a:tailEnd len="sm" w="sm" type="none"/>
          </a:ln>
        </p:spPr>
      </p:cxnSp>
      <p:cxnSp>
        <p:nvCxnSpPr>
          <p:cNvPr id="1046" name="Google Shape;1046;p66"/>
          <p:cNvCxnSpPr/>
          <p:nvPr/>
        </p:nvCxnSpPr>
        <p:spPr>
          <a:xfrm>
            <a:off x="4800614" y="3423661"/>
            <a:ext cx="4012500" cy="0"/>
          </a:xfrm>
          <a:prstGeom prst="straightConnector1">
            <a:avLst/>
          </a:prstGeom>
          <a:noFill/>
          <a:ln cap="flat" cmpd="sng" w="6575">
            <a:solidFill>
              <a:srgbClr val="888888"/>
            </a:solidFill>
            <a:prstDash val="solid"/>
            <a:round/>
            <a:headEnd len="sm" w="sm" type="none"/>
            <a:tailEnd len="sm" w="sm" type="none"/>
          </a:ln>
        </p:spPr>
      </p:cxnSp>
      <p:cxnSp>
        <p:nvCxnSpPr>
          <p:cNvPr id="1047" name="Google Shape;1047;p66"/>
          <p:cNvCxnSpPr/>
          <p:nvPr/>
        </p:nvCxnSpPr>
        <p:spPr>
          <a:xfrm>
            <a:off x="4783871" y="3829340"/>
            <a:ext cx="4012500" cy="0"/>
          </a:xfrm>
          <a:prstGeom prst="straightConnector1">
            <a:avLst/>
          </a:prstGeom>
          <a:noFill/>
          <a:ln cap="flat" cmpd="sng" w="6575">
            <a:solidFill>
              <a:srgbClr val="888888"/>
            </a:solidFill>
            <a:prstDash val="solid"/>
            <a:round/>
            <a:headEnd len="sm" w="sm" type="none"/>
            <a:tailEnd len="sm" w="sm" type="none"/>
          </a:ln>
        </p:spPr>
      </p:cxnSp>
      <p:cxnSp>
        <p:nvCxnSpPr>
          <p:cNvPr id="1048" name="Google Shape;1048;p66"/>
          <p:cNvCxnSpPr/>
          <p:nvPr/>
        </p:nvCxnSpPr>
        <p:spPr>
          <a:xfrm>
            <a:off x="4778376" y="4032180"/>
            <a:ext cx="4012500" cy="0"/>
          </a:xfrm>
          <a:prstGeom prst="straightConnector1">
            <a:avLst/>
          </a:prstGeom>
          <a:noFill/>
          <a:ln cap="flat" cmpd="sng" w="6575">
            <a:solidFill>
              <a:srgbClr val="888888"/>
            </a:solidFill>
            <a:prstDash val="solid"/>
            <a:round/>
            <a:headEnd len="sm" w="sm" type="none"/>
            <a:tailEnd len="sm" w="sm" type="none"/>
          </a:ln>
        </p:spPr>
      </p:cxnSp>
      <p:cxnSp>
        <p:nvCxnSpPr>
          <p:cNvPr id="1049" name="Google Shape;1049;p66"/>
          <p:cNvCxnSpPr/>
          <p:nvPr/>
        </p:nvCxnSpPr>
        <p:spPr>
          <a:xfrm>
            <a:off x="4776331" y="4235019"/>
            <a:ext cx="4012500" cy="0"/>
          </a:xfrm>
          <a:prstGeom prst="straightConnector1">
            <a:avLst/>
          </a:prstGeom>
          <a:noFill/>
          <a:ln cap="flat" cmpd="sng" w="6575">
            <a:solidFill>
              <a:srgbClr val="888888"/>
            </a:solidFill>
            <a:prstDash val="solid"/>
            <a:round/>
            <a:headEnd len="sm" w="sm" type="none"/>
            <a:tailEnd len="sm" w="sm" type="none"/>
          </a:ln>
        </p:spPr>
      </p:cxnSp>
      <p:cxnSp>
        <p:nvCxnSpPr>
          <p:cNvPr id="1050" name="Google Shape;1050;p66"/>
          <p:cNvCxnSpPr/>
          <p:nvPr/>
        </p:nvCxnSpPr>
        <p:spPr>
          <a:xfrm>
            <a:off x="4774287" y="4437859"/>
            <a:ext cx="4012500" cy="0"/>
          </a:xfrm>
          <a:prstGeom prst="straightConnector1">
            <a:avLst/>
          </a:prstGeom>
          <a:noFill/>
          <a:ln cap="flat" cmpd="sng" w="6575">
            <a:solidFill>
              <a:srgbClr val="888888"/>
            </a:solidFill>
            <a:prstDash val="solid"/>
            <a:round/>
            <a:headEnd len="sm" w="sm" type="none"/>
            <a:tailEnd len="sm" w="sm" type="none"/>
          </a:ln>
        </p:spPr>
      </p:cxnSp>
      <p:sp>
        <p:nvSpPr>
          <p:cNvPr id="1051" name="Google Shape;1051;p66"/>
          <p:cNvSpPr/>
          <p:nvPr/>
        </p:nvSpPr>
        <p:spPr>
          <a:xfrm>
            <a:off x="2516118" y="4183303"/>
            <a:ext cx="875100" cy="230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{{WS_NRTW}}</a:t>
            </a:r>
            <a:endParaRPr b="0" i="0" sz="700" u="none" cap="none" strike="noStrike">
              <a:solidFill>
                <a:schemeClr val="dk1"/>
              </a:solidFill>
              <a:latin typeface="Calibri"/>
              <a:ea typeface="Calibri"/>
              <a:cs typeface="Calibri"/>
              <a:sym typeface="Calibri"/>
            </a:endParaRPr>
          </a:p>
        </p:txBody>
      </p:sp>
      <p:sp>
        <p:nvSpPr>
          <p:cNvPr id="1052" name="Google Shape;1052;p66"/>
          <p:cNvSpPr txBox="1"/>
          <p:nvPr/>
        </p:nvSpPr>
        <p:spPr>
          <a:xfrm>
            <a:off x="3408069" y="4195636"/>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{{WS_NRTW_R}}</a:t>
            </a:r>
            <a:endParaRPr sz="800">
              <a:solidFill>
                <a:srgbClr val="595959"/>
              </a:solidFill>
              <a:latin typeface="DM Sans"/>
              <a:ea typeface="DM Sans"/>
              <a:cs typeface="DM Sans"/>
              <a:sym typeface="DM Sans"/>
            </a:endParaRPr>
          </a:p>
        </p:txBody>
      </p:sp>
      <p:sp>
        <p:nvSpPr>
          <p:cNvPr id="1053" name="Google Shape;1053;p66"/>
          <p:cNvSpPr/>
          <p:nvPr/>
        </p:nvSpPr>
        <p:spPr>
          <a:xfrm>
            <a:off x="2519847" y="4414097"/>
            <a:ext cx="878700" cy="22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A56DB"/>
              </a:buClr>
              <a:buSzPts val="700"/>
              <a:buFont typeface="JetBrains Mono"/>
              <a:buNone/>
            </a:pPr>
            <a:r>
              <a:rPr lang="en" sz="700">
                <a:solidFill>
                  <a:srgbClr val="1A56DB"/>
                </a:solidFill>
                <a:latin typeface="JetBrains Mono"/>
                <a:ea typeface="JetBrains Mono"/>
                <a:cs typeface="JetBrains Mono"/>
                <a:sym typeface="JetBrains Mono"/>
              </a:rPr>
              <a:t>{{WS_AFIM}}</a:t>
            </a:r>
            <a:endParaRPr sz="686">
              <a:solidFill>
                <a:srgbClr val="1A56DB"/>
              </a:solidFill>
              <a:latin typeface="JetBrains Mono"/>
              <a:ea typeface="JetBrains Mono"/>
              <a:cs typeface="JetBrains Mono"/>
              <a:sym typeface="JetBrains Mono"/>
            </a:endParaRPr>
          </a:p>
        </p:txBody>
      </p:sp>
      <p:cxnSp>
        <p:nvCxnSpPr>
          <p:cNvPr id="1054" name="Google Shape;1054;p66"/>
          <p:cNvCxnSpPr/>
          <p:nvPr/>
        </p:nvCxnSpPr>
        <p:spPr>
          <a:xfrm>
            <a:off x="362488" y="4634025"/>
            <a:ext cx="3993600" cy="0"/>
          </a:xfrm>
          <a:prstGeom prst="straightConnector1">
            <a:avLst/>
          </a:prstGeom>
          <a:noFill/>
          <a:ln cap="flat" cmpd="sng" w="7000">
            <a:solidFill>
              <a:srgbClr val="888888"/>
            </a:solidFill>
            <a:prstDash val="solid"/>
            <a:round/>
            <a:headEnd len="sm" w="sm" type="none"/>
            <a:tailEnd len="sm" w="sm" type="none"/>
          </a:ln>
        </p:spPr>
      </p:cxnSp>
      <p:cxnSp>
        <p:nvCxnSpPr>
          <p:cNvPr id="1055" name="Google Shape;1055;p66"/>
          <p:cNvCxnSpPr/>
          <p:nvPr/>
        </p:nvCxnSpPr>
        <p:spPr>
          <a:xfrm>
            <a:off x="364163" y="4404042"/>
            <a:ext cx="3993600" cy="0"/>
          </a:xfrm>
          <a:prstGeom prst="straightConnector1">
            <a:avLst/>
          </a:prstGeom>
          <a:noFill/>
          <a:ln cap="flat" cmpd="sng" w="7000">
            <a:solidFill>
              <a:srgbClr val="888888"/>
            </a:solidFill>
            <a:prstDash val="solid"/>
            <a:round/>
            <a:headEnd len="sm" w="sm" type="none"/>
            <a:tailEnd len="sm" w="sm" type="none"/>
          </a:ln>
        </p:spPr>
      </p:cxnSp>
      <p:sp>
        <p:nvSpPr>
          <p:cNvPr id="1056" name="Google Shape;1056;p66"/>
          <p:cNvSpPr txBox="1"/>
          <p:nvPr/>
        </p:nvSpPr>
        <p:spPr>
          <a:xfrm>
            <a:off x="3403463" y="4423446"/>
            <a:ext cx="939600" cy="173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{{WS_AFIM_R}}</a:t>
            </a:r>
            <a:endParaRPr sz="800">
              <a:solidFill>
                <a:srgbClr val="595959"/>
              </a:solidFill>
              <a:latin typeface="DM Sans"/>
              <a:ea typeface="DM Sans"/>
              <a:cs typeface="DM Sans"/>
              <a:sym typeface="DM Sans"/>
            </a:endParaRPr>
          </a:p>
        </p:txBody>
      </p:sp>
      <p:pic>
        <p:nvPicPr>
          <p:cNvPr id="1057" name="Google Shape;1057;p66"/>
          <p:cNvPicPr preferRelativeResize="0"/>
          <p:nvPr/>
        </p:nvPicPr>
        <p:blipFill>
          <a:blip r:embed="rId10">
            <a:alphaModFix/>
          </a:blip>
          <a:stretch>
            <a:fillRect/>
          </a:stretch>
        </p:blipFill>
        <p:spPr>
          <a:xfrm>
            <a:off x="8285539" y="4822005"/>
            <a:ext cx="733511" cy="212512"/>
          </a:xfrm>
          <a:prstGeom prst="rect">
            <a:avLst/>
          </a:prstGeom>
          <a:noFill/>
          <a:ln>
            <a:noFill/>
          </a:ln>
        </p:spPr>
      </p:pic>
      <p:cxnSp>
        <p:nvCxnSpPr>
          <p:cNvPr id="1058" name="Google Shape;1058;p66"/>
          <p:cNvCxnSpPr/>
          <p:nvPr/>
        </p:nvCxnSpPr>
        <p:spPr>
          <a:xfrm>
            <a:off x="4771650" y="4641518"/>
            <a:ext cx="4012500" cy="0"/>
          </a:xfrm>
          <a:prstGeom prst="straightConnector1">
            <a:avLst/>
          </a:prstGeom>
          <a:noFill/>
          <a:ln cap="flat" cmpd="sng" w="6575">
            <a:solidFill>
              <a:srgbClr val="888888"/>
            </a:solidFill>
            <a:prstDash val="solid"/>
            <a:round/>
            <a:headEnd len="sm" w="sm" type="none"/>
            <a:tailEnd len="sm" w="sm" type="none"/>
          </a:ln>
        </p:spPr>
      </p:cxnSp>
      <p:sp>
        <p:nvSpPr>
          <p:cNvPr id="1059" name="Google Shape;1059;p66"/>
          <p:cNvSpPr/>
          <p:nvPr/>
        </p:nvSpPr>
        <p:spPr>
          <a:xfrm>
            <a:off x="4852708" y="4446568"/>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Risk: Secret Findings Detection</a:t>
            </a:r>
            <a:endParaRPr sz="737">
              <a:solidFill>
                <a:srgbClr val="1F2937"/>
              </a:solidFill>
              <a:latin typeface="DM Sans"/>
              <a:ea typeface="DM Sans"/>
              <a:cs typeface="DM Sans"/>
              <a:sym typeface="DM Sans"/>
            </a:endParaRPr>
          </a:p>
        </p:txBody>
      </p:sp>
      <p:sp>
        <p:nvSpPr>
          <p:cNvPr id="1060" name="Google Shape;1060;p66"/>
          <p:cNvSpPr/>
          <p:nvPr/>
        </p:nvSpPr>
        <p:spPr>
          <a:xfrm>
            <a:off x="4850663" y="4649529"/>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Risk: Secret Validation</a:t>
            </a:r>
            <a:endParaRPr sz="737">
              <a:solidFill>
                <a:srgbClr val="1F2937"/>
              </a:solidFill>
              <a:latin typeface="DM Sans"/>
              <a:ea typeface="DM Sans"/>
              <a:cs typeface="DM Sans"/>
              <a:sym typeface="DM Sans"/>
            </a:endParaRPr>
          </a:p>
        </p:txBody>
      </p:sp>
      <p:sp>
        <p:nvSpPr>
          <p:cNvPr id="1061" name="Google Shape;1061;p66"/>
          <p:cNvSpPr txBox="1"/>
          <p:nvPr/>
        </p:nvSpPr>
        <p:spPr>
          <a:xfrm>
            <a:off x="7752775" y="4481811"/>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{{ASM_SEC_R}}</a:t>
            </a:r>
            <a:endParaRPr sz="737">
              <a:solidFill>
                <a:srgbClr val="595959"/>
              </a:solidFill>
              <a:latin typeface="DM Sans"/>
              <a:ea typeface="DM Sans"/>
              <a:cs typeface="DM Sans"/>
              <a:sym typeface="DM Sans"/>
            </a:endParaRPr>
          </a:p>
        </p:txBody>
      </p:sp>
      <p:sp>
        <p:nvSpPr>
          <p:cNvPr id="1062" name="Google Shape;1062;p66"/>
          <p:cNvSpPr txBox="1"/>
          <p:nvPr/>
        </p:nvSpPr>
        <p:spPr>
          <a:xfrm>
            <a:off x="7750731" y="4685015"/>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{{ASM_SV_R}}</a:t>
            </a:r>
            <a:endParaRPr sz="737">
              <a:solidFill>
                <a:srgbClr val="595959"/>
              </a:solidFill>
              <a:latin typeface="DM Sans"/>
              <a:ea typeface="DM Sans"/>
              <a:cs typeface="DM Sans"/>
              <a:sym typeface="DM Sans"/>
            </a:endParaRPr>
          </a:p>
        </p:txBody>
      </p:sp>
      <p:sp>
        <p:nvSpPr>
          <p:cNvPr id="1063" name="Google Shape;1063;p66"/>
          <p:cNvSpPr/>
          <p:nvPr/>
        </p:nvSpPr>
        <p:spPr>
          <a:xfrm>
            <a:off x="6899000" y="4446366"/>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SEC</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sp>
        <p:nvSpPr>
          <p:cNvPr id="1064" name="Google Shape;1064;p66"/>
          <p:cNvSpPr/>
          <p:nvPr/>
        </p:nvSpPr>
        <p:spPr>
          <a:xfrm>
            <a:off x="6896955" y="4649311"/>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SV</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cxnSp>
        <p:nvCxnSpPr>
          <p:cNvPr id="1065" name="Google Shape;1065;p66"/>
          <p:cNvCxnSpPr/>
          <p:nvPr/>
        </p:nvCxnSpPr>
        <p:spPr>
          <a:xfrm flipH="1" rot="10800000">
            <a:off x="4779864" y="4844405"/>
            <a:ext cx="4011300" cy="13800"/>
          </a:xfrm>
          <a:prstGeom prst="straightConnector1">
            <a:avLst/>
          </a:prstGeom>
          <a:noFill/>
          <a:ln cap="flat" cmpd="sng" w="7325">
            <a:solidFill>
              <a:srgbClr val="888888"/>
            </a:solidFill>
            <a:prstDash val="solid"/>
            <a:round/>
            <a:headEnd len="sm" w="sm" type="none"/>
            <a:tailEnd len="sm" w="sm" type="none"/>
          </a:ln>
        </p:spPr>
      </p:cxnSp>
      <p:sp>
        <p:nvSpPr>
          <p:cNvPr id="1066" name="Google Shape;1066;p66"/>
          <p:cNvSpPr/>
          <p:nvPr/>
        </p:nvSpPr>
        <p:spPr>
          <a:xfrm>
            <a:off x="4849232" y="4864397"/>
            <a:ext cx="1987200" cy="195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645"/>
              <a:buFont typeface="DM Sans"/>
              <a:buNone/>
            </a:pPr>
            <a:r>
              <a:rPr lang="en" sz="737">
                <a:solidFill>
                  <a:srgbClr val="1F2937"/>
                </a:solidFill>
                <a:latin typeface="DM Sans"/>
                <a:ea typeface="DM Sans"/>
                <a:cs typeface="DM Sans"/>
                <a:sym typeface="DM Sans"/>
              </a:rPr>
              <a:t>Application Endpoint Exposure Level</a:t>
            </a:r>
            <a:endParaRPr sz="737">
              <a:solidFill>
                <a:srgbClr val="1F2937"/>
              </a:solidFill>
              <a:latin typeface="DM Sans"/>
              <a:ea typeface="DM Sans"/>
              <a:cs typeface="DM Sans"/>
              <a:sym typeface="DM Sans"/>
            </a:endParaRPr>
          </a:p>
        </p:txBody>
      </p:sp>
      <p:sp>
        <p:nvSpPr>
          <p:cNvPr id="1067" name="Google Shape;1067;p66"/>
          <p:cNvSpPr txBox="1"/>
          <p:nvPr/>
        </p:nvSpPr>
        <p:spPr>
          <a:xfrm>
            <a:off x="7761860" y="4899639"/>
            <a:ext cx="1031700" cy="140400"/>
          </a:xfrm>
          <a:prstGeom prst="rect">
            <a:avLst/>
          </a:prstGeom>
          <a:noFill/>
          <a:ln>
            <a:noFill/>
          </a:ln>
        </p:spPr>
        <p:txBody>
          <a:bodyPr anchorCtr="0" anchor="ctr" bIns="63150" lIns="63150" spcFirstLastPara="1" rIns="63150" wrap="square" tIns="63150">
            <a:noAutofit/>
          </a:bodyPr>
          <a:lstStyle/>
          <a:p>
            <a:pPr indent="0" lvl="0" marL="0" rtl="0" algn="ctr">
              <a:spcBef>
                <a:spcPts val="0"/>
              </a:spcBef>
              <a:spcAft>
                <a:spcPts val="0"/>
              </a:spcAft>
              <a:buNone/>
            </a:pPr>
            <a:r>
              <a:rPr lang="en" sz="737">
                <a:solidFill>
                  <a:srgbClr val="595959"/>
                </a:solidFill>
                <a:latin typeface="DM Sans"/>
                <a:ea typeface="DM Sans"/>
                <a:cs typeface="DM Sans"/>
                <a:sym typeface="DM Sans"/>
              </a:rPr>
              <a:t>{{ASM_EXPL_R}}</a:t>
            </a:r>
            <a:endParaRPr sz="737">
              <a:solidFill>
                <a:srgbClr val="595959"/>
              </a:solidFill>
              <a:latin typeface="DM Sans"/>
              <a:ea typeface="DM Sans"/>
              <a:cs typeface="DM Sans"/>
              <a:sym typeface="DM Sans"/>
            </a:endParaRPr>
          </a:p>
        </p:txBody>
      </p:sp>
      <p:sp>
        <p:nvSpPr>
          <p:cNvPr id="1068" name="Google Shape;1068;p66"/>
          <p:cNvSpPr/>
          <p:nvPr/>
        </p:nvSpPr>
        <p:spPr>
          <a:xfrm>
            <a:off x="6895524" y="4864194"/>
            <a:ext cx="882000" cy="195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645"/>
              <a:buFont typeface="JetBrains Mono"/>
              <a:buNone/>
            </a:pPr>
            <a:r>
              <a:rPr b="0" i="0" lang="en" sz="645" u="none" cap="none" strike="noStrike">
                <a:solidFill>
                  <a:srgbClr val="1A56DB"/>
                </a:solidFill>
                <a:latin typeface="JetBrains Mono"/>
                <a:ea typeface="JetBrains Mono"/>
                <a:cs typeface="JetBrains Mono"/>
                <a:sym typeface="JetBrains Mono"/>
              </a:rPr>
              <a:t>{{ASM_</a:t>
            </a:r>
            <a:r>
              <a:rPr lang="en" sz="645">
                <a:solidFill>
                  <a:srgbClr val="1A56DB"/>
                </a:solidFill>
                <a:latin typeface="JetBrains Mono"/>
                <a:ea typeface="JetBrains Mono"/>
                <a:cs typeface="JetBrains Mono"/>
                <a:sym typeface="JetBrains Mono"/>
              </a:rPr>
              <a:t>EXPL</a:t>
            </a:r>
            <a:r>
              <a:rPr b="0" i="0" lang="en" sz="645" u="none" cap="none" strike="noStrike">
                <a:solidFill>
                  <a:srgbClr val="1A56DB"/>
                </a:solidFill>
                <a:latin typeface="JetBrains Mono"/>
                <a:ea typeface="JetBrains Mono"/>
                <a:cs typeface="JetBrains Mono"/>
                <a:sym typeface="JetBrains Mono"/>
              </a:rPr>
              <a:t>}}</a:t>
            </a:r>
            <a:endParaRPr b="0" i="0" sz="645" u="none" cap="none" strike="noStrike">
              <a:solidFill>
                <a:schemeClr val="dk1"/>
              </a:solidFill>
              <a:latin typeface="Calibri"/>
              <a:ea typeface="Calibri"/>
              <a:cs typeface="Calibri"/>
              <a:sym typeface="Calibri"/>
            </a:endParaRPr>
          </a:p>
        </p:txBody>
      </p:sp>
      <p:cxnSp>
        <p:nvCxnSpPr>
          <p:cNvPr id="1069" name="Google Shape;1069;p66"/>
          <p:cNvCxnSpPr/>
          <p:nvPr/>
        </p:nvCxnSpPr>
        <p:spPr>
          <a:xfrm flipH="1" rot="10800000">
            <a:off x="4787783" y="5064960"/>
            <a:ext cx="4011300" cy="13800"/>
          </a:xfrm>
          <a:prstGeom prst="straightConnector1">
            <a:avLst/>
          </a:prstGeom>
          <a:noFill/>
          <a:ln cap="flat" cmpd="sng" w="7325">
            <a:solidFill>
              <a:srgbClr val="888888"/>
            </a:solidFill>
            <a:prstDash val="solid"/>
            <a:round/>
            <a:headEnd len="sm" w="sm" type="none"/>
            <a:tailEnd len="sm" w="sm"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4" name="Shape 1074"/>
        <p:cNvGrpSpPr/>
        <p:nvPr/>
      </p:nvGrpSpPr>
      <p:grpSpPr>
        <a:xfrm>
          <a:off x="0" y="0"/>
          <a:ext cx="0" cy="0"/>
          <a:chOff x="0" y="0"/>
          <a:chExt cx="0" cy="0"/>
        </a:xfrm>
      </p:grpSpPr>
      <p:pic>
        <p:nvPicPr>
          <p:cNvPr id="1075" name="Google Shape;1075;p67"/>
          <p:cNvPicPr preferRelativeResize="0"/>
          <p:nvPr/>
        </p:nvPicPr>
        <p:blipFill>
          <a:blip r:embed="rId3">
            <a:alphaModFix/>
          </a:blip>
          <a:stretch>
            <a:fillRect/>
          </a:stretch>
        </p:blipFill>
        <p:spPr>
          <a:xfrm>
            <a:off x="8048746" y="4692300"/>
            <a:ext cx="943800" cy="381270"/>
          </a:xfrm>
          <a:prstGeom prst="rect">
            <a:avLst/>
          </a:prstGeom>
          <a:noFill/>
          <a:ln>
            <a:noFill/>
          </a:ln>
        </p:spPr>
      </p:pic>
      <p:sp>
        <p:nvSpPr>
          <p:cNvPr id="1076" name="Google Shape;1076;p67"/>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67"/>
          <p:cNvSpPr/>
          <p:nvPr/>
        </p:nvSpPr>
        <p:spPr>
          <a:xfrm>
            <a:off x="457200" y="164588"/>
            <a:ext cx="6944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1600"/>
              <a:buFont typeface="DM Sans"/>
              <a:buNone/>
            </a:pPr>
            <a:r>
              <a:rPr lang="en" sz="2000">
                <a:solidFill>
                  <a:schemeClr val="dk2"/>
                </a:solidFill>
                <a:latin typeface="DM Sans"/>
                <a:ea typeface="DM Sans"/>
                <a:cs typeface="DM Sans"/>
                <a:sym typeface="DM Sans"/>
              </a:rPr>
              <a:t>Scanner</a:t>
            </a:r>
            <a:r>
              <a:rPr i="0" lang="en" sz="2000" u="none" cap="none" strike="noStrike">
                <a:solidFill>
                  <a:schemeClr val="dk2"/>
                </a:solidFill>
                <a:latin typeface="DM Sans"/>
                <a:ea typeface="DM Sans"/>
                <a:cs typeface="DM Sans"/>
                <a:sym typeface="DM Sans"/>
              </a:rPr>
              <a:t> Configuration — Vulnerability &amp; Data Security</a:t>
            </a:r>
            <a:endParaRPr i="0" sz="2000" u="none" cap="none" strike="noStrike">
              <a:solidFill>
                <a:schemeClr val="dk2"/>
              </a:solidFill>
              <a:latin typeface="DM Sans"/>
              <a:ea typeface="DM Sans"/>
              <a:cs typeface="DM Sans"/>
              <a:sym typeface="DM Sans"/>
            </a:endParaRPr>
          </a:p>
        </p:txBody>
      </p:sp>
      <p:sp>
        <p:nvSpPr>
          <p:cNvPr id="1078" name="Google Shape;1078;p67"/>
          <p:cNvSpPr/>
          <p:nvPr/>
        </p:nvSpPr>
        <p:spPr>
          <a:xfrm>
            <a:off x="457200" y="548640"/>
            <a:ext cx="73152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900"/>
              <a:buFont typeface="DM Sans"/>
              <a:buNone/>
            </a:pPr>
            <a:r>
              <a:rPr i="0" lang="en" sz="1100" u="none" cap="none" strike="noStrike">
                <a:solidFill>
                  <a:srgbClr val="595959"/>
                </a:solidFill>
                <a:latin typeface="DM Sans"/>
                <a:ea typeface="DM Sans"/>
                <a:cs typeface="DM Sans"/>
                <a:sym typeface="DM Sans"/>
              </a:rPr>
              <a:t>Current vulnerability scanner tuning and data security scanning coverage.</a:t>
            </a:r>
            <a:endParaRPr i="0" sz="1100" u="none" cap="none" strike="noStrike">
              <a:solidFill>
                <a:srgbClr val="595959"/>
              </a:solidFill>
              <a:latin typeface="DM Sans"/>
              <a:ea typeface="DM Sans"/>
              <a:cs typeface="DM Sans"/>
              <a:sym typeface="DM Sans"/>
            </a:endParaRPr>
          </a:p>
        </p:txBody>
      </p:sp>
      <p:sp>
        <p:nvSpPr>
          <p:cNvPr id="1079" name="Google Shape;1079;p67"/>
          <p:cNvSpPr/>
          <p:nvPr/>
        </p:nvSpPr>
        <p:spPr>
          <a:xfrm>
            <a:off x="365760" y="868680"/>
            <a:ext cx="3977700" cy="274200"/>
          </a:xfrm>
          <a:prstGeom prst="rect">
            <a:avLst/>
          </a:prstGeom>
          <a:solidFill>
            <a:srgbClr val="EFE6C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67"/>
          <p:cNvSpPr/>
          <p:nvPr/>
        </p:nvSpPr>
        <p:spPr>
          <a:xfrm>
            <a:off x="365760" y="868680"/>
            <a:ext cx="36600" cy="274200"/>
          </a:xfrm>
          <a:prstGeom prst="rect">
            <a:avLst/>
          </a:prstGeom>
          <a:solidFill>
            <a:srgbClr val="D9770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67"/>
          <p:cNvSpPr/>
          <p:nvPr/>
        </p:nvSpPr>
        <p:spPr>
          <a:xfrm>
            <a:off x="502920" y="847856"/>
            <a:ext cx="3794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000"/>
              <a:buFont typeface="DM Sans"/>
              <a:buNone/>
            </a:pPr>
            <a:r>
              <a:rPr b="1" i="0" lang="en" sz="1100" u="sng" cap="none" strike="noStrike">
                <a:solidFill>
                  <a:srgbClr val="D97706"/>
                </a:solidFill>
                <a:latin typeface="DM Sans"/>
                <a:ea typeface="DM Sans"/>
                <a:cs typeface="DM Sans"/>
                <a:sym typeface="DM Sans"/>
                <a:hlinkClick r:id="rId4">
                  <a:extLst>
                    <a:ext uri="{A12FA001-AC4F-418D-AE19-62706E023703}">
                      <ahyp:hlinkClr val="tx"/>
                    </a:ext>
                  </a:extLst>
                </a:hlinkClick>
              </a:rPr>
              <a:t>VULNERABILITY SCANNER</a:t>
            </a:r>
            <a:r>
              <a:rPr lang="en" sz="1100">
                <a:solidFill>
                  <a:srgbClr val="D97706"/>
                </a:solidFill>
                <a:latin typeface="Calibri"/>
                <a:ea typeface="Calibri"/>
                <a:cs typeface="Calibri"/>
                <a:sym typeface="Calibri"/>
              </a:rPr>
              <a:t> </a:t>
            </a:r>
            <a:r>
              <a:rPr lang="en" sz="1300">
                <a:solidFill>
                  <a:srgbClr val="D97706"/>
                </a:solidFill>
                <a:uFill>
                  <a:noFill/>
                </a:uFill>
                <a:latin typeface="Poppins"/>
                <a:ea typeface="Poppins"/>
                <a:cs typeface="Poppins"/>
                <a:sym typeface="Poppins"/>
                <a:hlinkClick r:id="rId5">
                  <a:extLst>
                    <a:ext uri="{A12FA001-AC4F-418D-AE19-62706E023703}">
                      <ahyp:hlinkClr val="tx"/>
                    </a:ext>
                  </a:extLst>
                </a:hlinkClick>
              </a:rPr>
              <a:t>↗</a:t>
            </a:r>
            <a:endParaRPr b="0" i="0" sz="900" u="none" cap="none" strike="noStrike">
              <a:solidFill>
                <a:srgbClr val="D97706"/>
              </a:solidFill>
              <a:latin typeface="Calibri"/>
              <a:ea typeface="Calibri"/>
              <a:cs typeface="Calibri"/>
              <a:sym typeface="Calibri"/>
            </a:endParaRPr>
          </a:p>
        </p:txBody>
      </p:sp>
      <p:sp>
        <p:nvSpPr>
          <p:cNvPr id="1082" name="Google Shape;1082;p67"/>
          <p:cNvSpPr/>
          <p:nvPr/>
        </p:nvSpPr>
        <p:spPr>
          <a:xfrm>
            <a:off x="371458" y="1191602"/>
            <a:ext cx="3977700" cy="240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67"/>
          <p:cNvSpPr/>
          <p:nvPr/>
        </p:nvSpPr>
        <p:spPr>
          <a:xfrm>
            <a:off x="371454" y="1180568"/>
            <a:ext cx="19887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Setting</a:t>
            </a:r>
            <a:endParaRPr b="0" i="0" sz="1000" u="none" cap="none" strike="noStrike">
              <a:solidFill>
                <a:schemeClr val="dk1"/>
              </a:solidFill>
              <a:latin typeface="Calibri"/>
              <a:ea typeface="Calibri"/>
              <a:cs typeface="Calibri"/>
              <a:sym typeface="Calibri"/>
            </a:endParaRPr>
          </a:p>
        </p:txBody>
      </p:sp>
      <p:sp>
        <p:nvSpPr>
          <p:cNvPr id="1084" name="Google Shape;1084;p67"/>
          <p:cNvSpPr/>
          <p:nvPr/>
        </p:nvSpPr>
        <p:spPr>
          <a:xfrm>
            <a:off x="2537260" y="1191602"/>
            <a:ext cx="8751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Status</a:t>
            </a:r>
            <a:endParaRPr b="0" i="0" sz="1000" u="none" cap="none" strike="noStrike">
              <a:solidFill>
                <a:schemeClr val="dk1"/>
              </a:solidFill>
              <a:latin typeface="Calibri"/>
              <a:ea typeface="Calibri"/>
              <a:cs typeface="Calibri"/>
              <a:sym typeface="Calibri"/>
            </a:endParaRPr>
          </a:p>
        </p:txBody>
      </p:sp>
      <p:sp>
        <p:nvSpPr>
          <p:cNvPr id="1085" name="Google Shape;1085;p67"/>
          <p:cNvSpPr/>
          <p:nvPr/>
        </p:nvSpPr>
        <p:spPr>
          <a:xfrm>
            <a:off x="3429612" y="1186270"/>
            <a:ext cx="10341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Recommended</a:t>
            </a:r>
            <a:endParaRPr b="0" i="0" sz="1000" u="none" cap="none" strike="noStrike">
              <a:solidFill>
                <a:schemeClr val="dk1"/>
              </a:solidFill>
              <a:latin typeface="Calibri"/>
              <a:ea typeface="Calibri"/>
              <a:cs typeface="Calibri"/>
              <a:sym typeface="Calibri"/>
            </a:endParaRPr>
          </a:p>
        </p:txBody>
      </p:sp>
      <p:sp>
        <p:nvSpPr>
          <p:cNvPr id="1086" name="Google Shape;1086;p67"/>
          <p:cNvSpPr/>
          <p:nvPr/>
        </p:nvSpPr>
        <p:spPr>
          <a:xfrm>
            <a:off x="371449" y="1431983"/>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87" name="Google Shape;1087;p67"/>
          <p:cNvCxnSpPr/>
          <p:nvPr/>
        </p:nvCxnSpPr>
        <p:spPr>
          <a:xfrm>
            <a:off x="371449" y="1678076"/>
            <a:ext cx="3977700" cy="0"/>
          </a:xfrm>
          <a:prstGeom prst="straightConnector1">
            <a:avLst/>
          </a:prstGeom>
          <a:noFill/>
          <a:ln cap="flat" cmpd="sng" w="7150">
            <a:solidFill>
              <a:srgbClr val="E5E7EB"/>
            </a:solidFill>
            <a:prstDash val="solid"/>
            <a:round/>
            <a:headEnd len="sm" w="sm" type="none"/>
            <a:tailEnd len="sm" w="sm" type="none"/>
          </a:ln>
        </p:spPr>
      </p:cxnSp>
      <p:sp>
        <p:nvSpPr>
          <p:cNvPr id="1088" name="Google Shape;1088;p67"/>
          <p:cNvSpPr/>
          <p:nvPr/>
        </p:nvSpPr>
        <p:spPr>
          <a:xfrm>
            <a:off x="371445" y="1431975"/>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OS-Package Managed Code Libraries</a:t>
            </a:r>
            <a:endParaRPr b="0" i="0" sz="800" u="none" cap="none" strike="noStrike">
              <a:solidFill>
                <a:schemeClr val="dk1"/>
              </a:solidFill>
              <a:latin typeface="Calibri"/>
              <a:ea typeface="Calibri"/>
              <a:cs typeface="Calibri"/>
              <a:sym typeface="Calibri"/>
            </a:endParaRPr>
          </a:p>
        </p:txBody>
      </p:sp>
      <p:sp>
        <p:nvSpPr>
          <p:cNvPr id="1089" name="Google Shape;1089;p67"/>
          <p:cNvSpPr/>
          <p:nvPr/>
        </p:nvSpPr>
        <p:spPr>
          <a:xfrm>
            <a:off x="2569586" y="1431983"/>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{{VS_OSPKG}}</a:t>
            </a:r>
            <a:endParaRPr b="0" i="0" sz="700" u="none" cap="none" strike="noStrike">
              <a:solidFill>
                <a:schemeClr val="dk1"/>
              </a:solidFill>
              <a:latin typeface="Calibri"/>
              <a:ea typeface="Calibri"/>
              <a:cs typeface="Calibri"/>
              <a:sym typeface="Calibri"/>
            </a:endParaRPr>
          </a:p>
        </p:txBody>
      </p:sp>
      <p:sp>
        <p:nvSpPr>
          <p:cNvPr id="1090" name="Google Shape;1090;p67"/>
          <p:cNvSpPr/>
          <p:nvPr/>
        </p:nvSpPr>
        <p:spPr>
          <a:xfrm>
            <a:off x="371449" y="1678076"/>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91" name="Google Shape;1091;p67"/>
          <p:cNvCxnSpPr/>
          <p:nvPr/>
        </p:nvCxnSpPr>
        <p:spPr>
          <a:xfrm>
            <a:off x="355736" y="1916264"/>
            <a:ext cx="3977700" cy="0"/>
          </a:xfrm>
          <a:prstGeom prst="straightConnector1">
            <a:avLst/>
          </a:prstGeom>
          <a:noFill/>
          <a:ln cap="flat" cmpd="sng" w="7150">
            <a:solidFill>
              <a:srgbClr val="888888"/>
            </a:solidFill>
            <a:prstDash val="solid"/>
            <a:round/>
            <a:headEnd len="sm" w="sm" type="none"/>
            <a:tailEnd len="sm" w="sm" type="none"/>
          </a:ln>
        </p:spPr>
      </p:cxnSp>
      <p:sp>
        <p:nvSpPr>
          <p:cNvPr id="1092" name="Google Shape;1092;p67"/>
          <p:cNvSpPr/>
          <p:nvPr/>
        </p:nvSpPr>
        <p:spPr>
          <a:xfrm>
            <a:off x="371445" y="1678069"/>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Windows App Bundled Libraries</a:t>
            </a:r>
            <a:endParaRPr b="0" i="0" sz="800" u="none" cap="none" strike="noStrike">
              <a:solidFill>
                <a:schemeClr val="dk1"/>
              </a:solidFill>
              <a:latin typeface="Calibri"/>
              <a:ea typeface="Calibri"/>
              <a:cs typeface="Calibri"/>
              <a:sym typeface="Calibri"/>
            </a:endParaRPr>
          </a:p>
        </p:txBody>
      </p:sp>
      <p:sp>
        <p:nvSpPr>
          <p:cNvPr id="1093" name="Google Shape;1093;p67"/>
          <p:cNvSpPr/>
          <p:nvPr/>
        </p:nvSpPr>
        <p:spPr>
          <a:xfrm>
            <a:off x="2569586" y="1678076"/>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{{VS_WINB}}</a:t>
            </a:r>
            <a:endParaRPr b="0" i="0" sz="700" u="none" cap="none" strike="noStrike">
              <a:solidFill>
                <a:schemeClr val="dk1"/>
              </a:solidFill>
              <a:latin typeface="Calibri"/>
              <a:ea typeface="Calibri"/>
              <a:cs typeface="Calibri"/>
              <a:sym typeface="Calibri"/>
            </a:endParaRPr>
          </a:p>
        </p:txBody>
      </p:sp>
      <p:sp>
        <p:nvSpPr>
          <p:cNvPr id="1094" name="Google Shape;1094;p67"/>
          <p:cNvSpPr/>
          <p:nvPr/>
        </p:nvSpPr>
        <p:spPr>
          <a:xfrm>
            <a:off x="371449" y="1924169"/>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95" name="Google Shape;1095;p67"/>
          <p:cNvCxnSpPr/>
          <p:nvPr/>
        </p:nvCxnSpPr>
        <p:spPr>
          <a:xfrm>
            <a:off x="371449" y="2170262"/>
            <a:ext cx="3977700" cy="0"/>
          </a:xfrm>
          <a:prstGeom prst="straightConnector1">
            <a:avLst/>
          </a:prstGeom>
          <a:noFill/>
          <a:ln cap="flat" cmpd="sng" w="7150">
            <a:solidFill>
              <a:srgbClr val="E5E7EB"/>
            </a:solidFill>
            <a:prstDash val="solid"/>
            <a:round/>
            <a:headEnd len="sm" w="sm" type="none"/>
            <a:tailEnd len="sm" w="sm" type="none"/>
          </a:ln>
        </p:spPr>
      </p:cxnSp>
      <p:sp>
        <p:nvSpPr>
          <p:cNvPr id="1096" name="Google Shape;1096;p67"/>
          <p:cNvSpPr/>
          <p:nvPr/>
        </p:nvSpPr>
        <p:spPr>
          <a:xfrm>
            <a:off x="371445" y="1924162"/>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Go Standard Library</a:t>
            </a:r>
            <a:endParaRPr b="0" i="0" sz="800" u="none" cap="none" strike="noStrike">
              <a:solidFill>
                <a:schemeClr val="dk1"/>
              </a:solidFill>
              <a:latin typeface="Calibri"/>
              <a:ea typeface="Calibri"/>
              <a:cs typeface="Calibri"/>
              <a:sym typeface="Calibri"/>
            </a:endParaRPr>
          </a:p>
        </p:txBody>
      </p:sp>
      <p:sp>
        <p:nvSpPr>
          <p:cNvPr id="1097" name="Google Shape;1097;p67"/>
          <p:cNvSpPr/>
          <p:nvPr/>
        </p:nvSpPr>
        <p:spPr>
          <a:xfrm>
            <a:off x="2569586" y="1924169"/>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{{VS_GOSTD}}</a:t>
            </a:r>
            <a:endParaRPr b="0" i="0" sz="700" u="none" cap="none" strike="noStrike">
              <a:solidFill>
                <a:schemeClr val="dk1"/>
              </a:solidFill>
              <a:latin typeface="Calibri"/>
              <a:ea typeface="Calibri"/>
              <a:cs typeface="Calibri"/>
              <a:sym typeface="Calibri"/>
            </a:endParaRPr>
          </a:p>
        </p:txBody>
      </p:sp>
      <p:sp>
        <p:nvSpPr>
          <p:cNvPr id="1098" name="Google Shape;1098;p67"/>
          <p:cNvSpPr/>
          <p:nvPr/>
        </p:nvSpPr>
        <p:spPr>
          <a:xfrm>
            <a:off x="371449" y="2170262"/>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99" name="Google Shape;1099;p67"/>
          <p:cNvCxnSpPr/>
          <p:nvPr/>
        </p:nvCxnSpPr>
        <p:spPr>
          <a:xfrm>
            <a:off x="358777" y="2406445"/>
            <a:ext cx="3977700" cy="0"/>
          </a:xfrm>
          <a:prstGeom prst="straightConnector1">
            <a:avLst/>
          </a:prstGeom>
          <a:noFill/>
          <a:ln cap="flat" cmpd="sng" w="7150">
            <a:solidFill>
              <a:srgbClr val="888888"/>
            </a:solidFill>
            <a:prstDash val="solid"/>
            <a:round/>
            <a:headEnd len="sm" w="sm" type="none"/>
            <a:tailEnd len="sm" w="sm" type="none"/>
          </a:ln>
        </p:spPr>
      </p:cxnSp>
      <p:sp>
        <p:nvSpPr>
          <p:cNvPr id="1100" name="Google Shape;1100;p67"/>
          <p:cNvSpPr/>
          <p:nvPr/>
        </p:nvSpPr>
        <p:spPr>
          <a:xfrm>
            <a:off x="371445" y="2170256"/>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Code Library Exclusion Paths (Legacy)</a:t>
            </a:r>
            <a:endParaRPr b="0" i="0" sz="800" u="none" cap="none" strike="noStrike">
              <a:solidFill>
                <a:schemeClr val="dk1"/>
              </a:solidFill>
              <a:latin typeface="Calibri"/>
              <a:ea typeface="Calibri"/>
              <a:cs typeface="Calibri"/>
              <a:sym typeface="Calibri"/>
            </a:endParaRPr>
          </a:p>
        </p:txBody>
      </p:sp>
      <p:sp>
        <p:nvSpPr>
          <p:cNvPr id="1101" name="Google Shape;1101;p67"/>
          <p:cNvSpPr/>
          <p:nvPr/>
        </p:nvSpPr>
        <p:spPr>
          <a:xfrm>
            <a:off x="2569586" y="2170262"/>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{{VS_EXCL}}</a:t>
            </a:r>
            <a:endParaRPr b="0" i="0" sz="700" u="none" cap="none" strike="noStrike">
              <a:solidFill>
                <a:schemeClr val="dk1"/>
              </a:solidFill>
              <a:latin typeface="Calibri"/>
              <a:ea typeface="Calibri"/>
              <a:cs typeface="Calibri"/>
              <a:sym typeface="Calibri"/>
            </a:endParaRPr>
          </a:p>
        </p:txBody>
      </p:sp>
      <p:sp>
        <p:nvSpPr>
          <p:cNvPr id="1102" name="Google Shape;1102;p67"/>
          <p:cNvSpPr/>
          <p:nvPr/>
        </p:nvSpPr>
        <p:spPr>
          <a:xfrm>
            <a:off x="371449" y="2416355"/>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03" name="Google Shape;1103;p67"/>
          <p:cNvCxnSpPr/>
          <p:nvPr/>
        </p:nvCxnSpPr>
        <p:spPr>
          <a:xfrm>
            <a:off x="361818" y="2665905"/>
            <a:ext cx="3977700" cy="0"/>
          </a:xfrm>
          <a:prstGeom prst="straightConnector1">
            <a:avLst/>
          </a:prstGeom>
          <a:noFill/>
          <a:ln cap="flat" cmpd="sng" w="7150">
            <a:solidFill>
              <a:srgbClr val="E5E7EB"/>
            </a:solidFill>
            <a:prstDash val="solid"/>
            <a:round/>
            <a:headEnd len="sm" w="sm" type="none"/>
            <a:tailEnd len="sm" w="sm" type="none"/>
          </a:ln>
        </p:spPr>
      </p:cxnSp>
      <p:sp>
        <p:nvSpPr>
          <p:cNvPr id="1104" name="Google Shape;1104;p67"/>
          <p:cNvSpPr/>
          <p:nvPr/>
        </p:nvSpPr>
        <p:spPr>
          <a:xfrm>
            <a:off x="371445" y="2416350"/>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Ignore Red Hat OpenShift Vulns</a:t>
            </a:r>
            <a:endParaRPr b="0" i="0" sz="800" u="none" cap="none" strike="noStrike">
              <a:solidFill>
                <a:schemeClr val="dk1"/>
              </a:solidFill>
              <a:latin typeface="Calibri"/>
              <a:ea typeface="Calibri"/>
              <a:cs typeface="Calibri"/>
              <a:sym typeface="Calibri"/>
            </a:endParaRPr>
          </a:p>
        </p:txBody>
      </p:sp>
      <p:sp>
        <p:nvSpPr>
          <p:cNvPr id="1105" name="Google Shape;1105;p67"/>
          <p:cNvSpPr/>
          <p:nvPr/>
        </p:nvSpPr>
        <p:spPr>
          <a:xfrm>
            <a:off x="2569586" y="2416355"/>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{{VS_RHOS}}</a:t>
            </a:r>
            <a:endParaRPr b="0" i="0" sz="700" u="none" cap="none" strike="noStrike">
              <a:solidFill>
                <a:schemeClr val="dk1"/>
              </a:solidFill>
              <a:latin typeface="Calibri"/>
              <a:ea typeface="Calibri"/>
              <a:cs typeface="Calibri"/>
              <a:sym typeface="Calibri"/>
            </a:endParaRPr>
          </a:p>
        </p:txBody>
      </p:sp>
      <p:sp>
        <p:nvSpPr>
          <p:cNvPr id="1106" name="Google Shape;1106;p67"/>
          <p:cNvSpPr/>
          <p:nvPr/>
        </p:nvSpPr>
        <p:spPr>
          <a:xfrm>
            <a:off x="371449" y="2662448"/>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07" name="Google Shape;1107;p67"/>
          <p:cNvCxnSpPr/>
          <p:nvPr/>
        </p:nvCxnSpPr>
        <p:spPr>
          <a:xfrm>
            <a:off x="364860" y="2898661"/>
            <a:ext cx="3977700" cy="0"/>
          </a:xfrm>
          <a:prstGeom prst="straightConnector1">
            <a:avLst/>
          </a:prstGeom>
          <a:noFill/>
          <a:ln cap="flat" cmpd="sng" w="7150">
            <a:solidFill>
              <a:srgbClr val="888888"/>
            </a:solidFill>
            <a:prstDash val="solid"/>
            <a:round/>
            <a:headEnd len="sm" w="sm" type="none"/>
            <a:tailEnd len="sm" w="sm" type="none"/>
          </a:ln>
        </p:spPr>
      </p:cxnSp>
      <p:sp>
        <p:nvSpPr>
          <p:cNvPr id="1108" name="Google Shape;1108;p67"/>
          <p:cNvSpPr/>
          <p:nvPr/>
        </p:nvSpPr>
        <p:spPr>
          <a:xfrm>
            <a:off x="371445" y="2662444"/>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Manifest Files</a:t>
            </a:r>
            <a:endParaRPr b="0" i="0" sz="800" u="none" cap="none" strike="noStrike">
              <a:solidFill>
                <a:schemeClr val="dk1"/>
              </a:solidFill>
              <a:latin typeface="Calibri"/>
              <a:ea typeface="Calibri"/>
              <a:cs typeface="Calibri"/>
              <a:sym typeface="Calibri"/>
            </a:endParaRPr>
          </a:p>
        </p:txBody>
      </p:sp>
      <p:sp>
        <p:nvSpPr>
          <p:cNvPr id="1109" name="Google Shape;1109;p67"/>
          <p:cNvSpPr/>
          <p:nvPr/>
        </p:nvSpPr>
        <p:spPr>
          <a:xfrm>
            <a:off x="2569586" y="2662448"/>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{{VS_MANIF}}</a:t>
            </a:r>
            <a:endParaRPr b="0" i="0" sz="700" u="none" cap="none" strike="noStrike">
              <a:solidFill>
                <a:schemeClr val="dk1"/>
              </a:solidFill>
              <a:latin typeface="Calibri"/>
              <a:ea typeface="Calibri"/>
              <a:cs typeface="Calibri"/>
              <a:sym typeface="Calibri"/>
            </a:endParaRPr>
          </a:p>
        </p:txBody>
      </p:sp>
      <p:sp>
        <p:nvSpPr>
          <p:cNvPr id="1110" name="Google Shape;1110;p67"/>
          <p:cNvSpPr/>
          <p:nvPr/>
        </p:nvSpPr>
        <p:spPr>
          <a:xfrm>
            <a:off x="3395224" y="2698429"/>
            <a:ext cx="956400" cy="18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JetBrains Mono"/>
                <a:ea typeface="JetBrains Mono"/>
                <a:cs typeface="JetBrains Mono"/>
                <a:sym typeface="JetBrains Mono"/>
              </a:rPr>
              <a:t>{{VS_MANIF_R}}</a:t>
            </a:r>
            <a:endParaRPr b="0" i="0" sz="800" u="none" cap="none" strike="noStrike">
              <a:solidFill>
                <a:srgbClr val="595959"/>
              </a:solidFill>
              <a:latin typeface="Calibri"/>
              <a:ea typeface="Calibri"/>
              <a:cs typeface="Calibri"/>
              <a:sym typeface="Calibri"/>
            </a:endParaRPr>
          </a:p>
        </p:txBody>
      </p:sp>
      <p:sp>
        <p:nvSpPr>
          <p:cNvPr id="1111" name="Google Shape;1111;p67"/>
          <p:cNvSpPr/>
          <p:nvPr/>
        </p:nvSpPr>
        <p:spPr>
          <a:xfrm>
            <a:off x="371449" y="2908541"/>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12" name="Google Shape;1112;p67"/>
          <p:cNvCxnSpPr/>
          <p:nvPr/>
        </p:nvCxnSpPr>
        <p:spPr>
          <a:xfrm>
            <a:off x="367901" y="3157103"/>
            <a:ext cx="3977700" cy="0"/>
          </a:xfrm>
          <a:prstGeom prst="straightConnector1">
            <a:avLst/>
          </a:prstGeom>
          <a:noFill/>
          <a:ln cap="flat" cmpd="sng" w="7150">
            <a:solidFill>
              <a:srgbClr val="E5E7EB"/>
            </a:solidFill>
            <a:prstDash val="solid"/>
            <a:round/>
            <a:headEnd len="sm" w="sm" type="none"/>
            <a:tailEnd len="sm" w="sm" type="none"/>
          </a:ln>
        </p:spPr>
      </p:cxnSp>
      <p:sp>
        <p:nvSpPr>
          <p:cNvPr id="1113" name="Google Shape;1113;p67"/>
          <p:cNvSpPr/>
          <p:nvPr/>
        </p:nvSpPr>
        <p:spPr>
          <a:xfrm>
            <a:off x="371445" y="2908538"/>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Lock Files</a:t>
            </a:r>
            <a:endParaRPr b="0" i="0" sz="800" u="none" cap="none" strike="noStrike">
              <a:solidFill>
                <a:schemeClr val="dk1"/>
              </a:solidFill>
              <a:latin typeface="Calibri"/>
              <a:ea typeface="Calibri"/>
              <a:cs typeface="Calibri"/>
              <a:sym typeface="Calibri"/>
            </a:endParaRPr>
          </a:p>
        </p:txBody>
      </p:sp>
      <p:sp>
        <p:nvSpPr>
          <p:cNvPr id="1114" name="Google Shape;1114;p67"/>
          <p:cNvSpPr/>
          <p:nvPr/>
        </p:nvSpPr>
        <p:spPr>
          <a:xfrm>
            <a:off x="2569586" y="2908541"/>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{{VS_LOCK}}</a:t>
            </a:r>
            <a:endParaRPr b="0" i="0" sz="700" u="none" cap="none" strike="noStrike">
              <a:solidFill>
                <a:schemeClr val="dk1"/>
              </a:solidFill>
              <a:latin typeface="Calibri"/>
              <a:ea typeface="Calibri"/>
              <a:cs typeface="Calibri"/>
              <a:sym typeface="Calibri"/>
            </a:endParaRPr>
          </a:p>
        </p:txBody>
      </p:sp>
      <p:sp>
        <p:nvSpPr>
          <p:cNvPr id="1115" name="Google Shape;1115;p67"/>
          <p:cNvSpPr/>
          <p:nvPr/>
        </p:nvSpPr>
        <p:spPr>
          <a:xfrm>
            <a:off x="3395224" y="2947594"/>
            <a:ext cx="956400" cy="18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JetBrains Mono"/>
                <a:ea typeface="JetBrains Mono"/>
                <a:cs typeface="JetBrains Mono"/>
                <a:sym typeface="JetBrains Mono"/>
              </a:rPr>
              <a:t>{{VS_LOCK_R}}</a:t>
            </a:r>
            <a:endParaRPr b="0" i="0" sz="800" u="none" cap="none" strike="noStrike">
              <a:solidFill>
                <a:srgbClr val="595959"/>
              </a:solidFill>
              <a:latin typeface="Calibri"/>
              <a:ea typeface="Calibri"/>
              <a:cs typeface="Calibri"/>
              <a:sym typeface="Calibri"/>
            </a:endParaRPr>
          </a:p>
        </p:txBody>
      </p:sp>
      <p:sp>
        <p:nvSpPr>
          <p:cNvPr id="1116" name="Google Shape;1116;p67"/>
          <p:cNvSpPr/>
          <p:nvPr/>
        </p:nvSpPr>
        <p:spPr>
          <a:xfrm>
            <a:off x="371449" y="3154634"/>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17" name="Google Shape;1117;p67"/>
          <p:cNvCxnSpPr/>
          <p:nvPr/>
        </p:nvCxnSpPr>
        <p:spPr>
          <a:xfrm>
            <a:off x="370942" y="3389859"/>
            <a:ext cx="3977700" cy="0"/>
          </a:xfrm>
          <a:prstGeom prst="straightConnector1">
            <a:avLst/>
          </a:prstGeom>
          <a:noFill/>
          <a:ln cap="flat" cmpd="sng" w="7150">
            <a:solidFill>
              <a:srgbClr val="888888"/>
            </a:solidFill>
            <a:prstDash val="solid"/>
            <a:round/>
            <a:headEnd len="sm" w="sm" type="none"/>
            <a:tailEnd len="sm" w="sm" type="none"/>
          </a:ln>
        </p:spPr>
      </p:cxnSp>
      <p:sp>
        <p:nvSpPr>
          <p:cNvPr id="1118" name="Google Shape;1118;p67"/>
          <p:cNvSpPr/>
          <p:nvPr/>
        </p:nvSpPr>
        <p:spPr>
          <a:xfrm>
            <a:off x="371445" y="3154632"/>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Artifacts</a:t>
            </a:r>
            <a:endParaRPr b="0" i="0" sz="800" u="none" cap="none" strike="noStrike">
              <a:solidFill>
                <a:schemeClr val="dk1"/>
              </a:solidFill>
              <a:latin typeface="Calibri"/>
              <a:ea typeface="Calibri"/>
              <a:cs typeface="Calibri"/>
              <a:sym typeface="Calibri"/>
            </a:endParaRPr>
          </a:p>
        </p:txBody>
      </p:sp>
      <p:sp>
        <p:nvSpPr>
          <p:cNvPr id="1119" name="Google Shape;1119;p67"/>
          <p:cNvSpPr/>
          <p:nvPr/>
        </p:nvSpPr>
        <p:spPr>
          <a:xfrm>
            <a:off x="2569586" y="3154634"/>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{{VS_ARTIF}}</a:t>
            </a:r>
            <a:endParaRPr b="0" i="0" sz="700" u="none" cap="none" strike="noStrike">
              <a:solidFill>
                <a:schemeClr val="dk1"/>
              </a:solidFill>
              <a:latin typeface="Calibri"/>
              <a:ea typeface="Calibri"/>
              <a:cs typeface="Calibri"/>
              <a:sym typeface="Calibri"/>
            </a:endParaRPr>
          </a:p>
        </p:txBody>
      </p:sp>
      <p:sp>
        <p:nvSpPr>
          <p:cNvPr id="1120" name="Google Shape;1120;p67"/>
          <p:cNvSpPr/>
          <p:nvPr/>
        </p:nvSpPr>
        <p:spPr>
          <a:xfrm>
            <a:off x="3395224" y="3196759"/>
            <a:ext cx="956400" cy="18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JetBrains Mono"/>
                <a:ea typeface="JetBrains Mono"/>
                <a:cs typeface="JetBrains Mono"/>
                <a:sym typeface="JetBrains Mono"/>
              </a:rPr>
              <a:t>{{VS_ARTIF_R}}</a:t>
            </a:r>
            <a:endParaRPr b="0" i="0" sz="800" u="none" cap="none" strike="noStrike">
              <a:solidFill>
                <a:srgbClr val="595959"/>
              </a:solidFill>
              <a:latin typeface="Calibri"/>
              <a:ea typeface="Calibri"/>
              <a:cs typeface="Calibri"/>
              <a:sym typeface="Calibri"/>
            </a:endParaRPr>
          </a:p>
        </p:txBody>
      </p:sp>
      <p:sp>
        <p:nvSpPr>
          <p:cNvPr id="1121" name="Google Shape;1121;p67"/>
          <p:cNvSpPr/>
          <p:nvPr/>
        </p:nvSpPr>
        <p:spPr>
          <a:xfrm>
            <a:off x="371449" y="3400727"/>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22" name="Google Shape;1122;p67"/>
          <p:cNvCxnSpPr/>
          <p:nvPr/>
        </p:nvCxnSpPr>
        <p:spPr>
          <a:xfrm>
            <a:off x="371449" y="3646820"/>
            <a:ext cx="3977700" cy="0"/>
          </a:xfrm>
          <a:prstGeom prst="straightConnector1">
            <a:avLst/>
          </a:prstGeom>
          <a:noFill/>
          <a:ln cap="flat" cmpd="sng" w="7150">
            <a:solidFill>
              <a:srgbClr val="E5E7EB"/>
            </a:solidFill>
            <a:prstDash val="solid"/>
            <a:round/>
            <a:headEnd len="sm" w="sm" type="none"/>
            <a:tailEnd len="sm" w="sm" type="none"/>
          </a:ln>
        </p:spPr>
      </p:cxnSp>
      <p:sp>
        <p:nvSpPr>
          <p:cNvPr id="1123" name="Google Shape;1123;p67"/>
          <p:cNvSpPr/>
          <p:nvPr/>
        </p:nvSpPr>
        <p:spPr>
          <a:xfrm>
            <a:off x="371445" y="3400726"/>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Dependency Scopes: Maven</a:t>
            </a:r>
            <a:endParaRPr b="0" i="0" sz="800" u="none" cap="none" strike="noStrike">
              <a:solidFill>
                <a:schemeClr val="dk1"/>
              </a:solidFill>
              <a:latin typeface="Calibri"/>
              <a:ea typeface="Calibri"/>
              <a:cs typeface="Calibri"/>
              <a:sym typeface="Calibri"/>
            </a:endParaRPr>
          </a:p>
        </p:txBody>
      </p:sp>
      <p:sp>
        <p:nvSpPr>
          <p:cNvPr id="1124" name="Google Shape;1124;p67"/>
          <p:cNvSpPr/>
          <p:nvPr/>
        </p:nvSpPr>
        <p:spPr>
          <a:xfrm>
            <a:off x="2569586" y="3400727"/>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{{VS_MAVEN}}</a:t>
            </a:r>
            <a:endParaRPr b="0" i="0" sz="700" u="none" cap="none" strike="noStrike">
              <a:solidFill>
                <a:schemeClr val="dk1"/>
              </a:solidFill>
              <a:latin typeface="Calibri"/>
              <a:ea typeface="Calibri"/>
              <a:cs typeface="Calibri"/>
              <a:sym typeface="Calibri"/>
            </a:endParaRPr>
          </a:p>
        </p:txBody>
      </p:sp>
      <p:sp>
        <p:nvSpPr>
          <p:cNvPr id="1125" name="Google Shape;1125;p67"/>
          <p:cNvSpPr/>
          <p:nvPr/>
        </p:nvSpPr>
        <p:spPr>
          <a:xfrm>
            <a:off x="371449" y="3646820"/>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26" name="Google Shape;1126;p67"/>
          <p:cNvCxnSpPr/>
          <p:nvPr/>
        </p:nvCxnSpPr>
        <p:spPr>
          <a:xfrm>
            <a:off x="373984" y="3874636"/>
            <a:ext cx="3977700" cy="0"/>
          </a:xfrm>
          <a:prstGeom prst="straightConnector1">
            <a:avLst/>
          </a:prstGeom>
          <a:noFill/>
          <a:ln cap="flat" cmpd="sng" w="7150">
            <a:solidFill>
              <a:srgbClr val="888888"/>
            </a:solidFill>
            <a:prstDash val="solid"/>
            <a:round/>
            <a:headEnd len="sm" w="sm" type="none"/>
            <a:tailEnd len="sm" w="sm" type="none"/>
          </a:ln>
        </p:spPr>
      </p:cxnSp>
      <p:sp>
        <p:nvSpPr>
          <p:cNvPr id="1127" name="Google Shape;1127;p67"/>
          <p:cNvSpPr/>
          <p:nvPr/>
        </p:nvSpPr>
        <p:spPr>
          <a:xfrm>
            <a:off x="371450" y="3646825"/>
            <a:ext cx="21657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Dependency Scopes: JS (npm/pnpm/Yarn)</a:t>
            </a:r>
            <a:endParaRPr b="0" i="0" sz="800" u="none" cap="none" strike="noStrike">
              <a:solidFill>
                <a:schemeClr val="dk1"/>
              </a:solidFill>
              <a:latin typeface="Calibri"/>
              <a:ea typeface="Calibri"/>
              <a:cs typeface="Calibri"/>
              <a:sym typeface="Calibri"/>
            </a:endParaRPr>
          </a:p>
        </p:txBody>
      </p:sp>
      <p:sp>
        <p:nvSpPr>
          <p:cNvPr id="1128" name="Google Shape;1128;p67"/>
          <p:cNvSpPr/>
          <p:nvPr/>
        </p:nvSpPr>
        <p:spPr>
          <a:xfrm>
            <a:off x="2569586" y="3646820"/>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{{VS_JSDEP}}</a:t>
            </a:r>
            <a:endParaRPr b="0" i="0" sz="700" u="none" cap="none" strike="noStrike">
              <a:solidFill>
                <a:schemeClr val="dk1"/>
              </a:solidFill>
              <a:latin typeface="Calibri"/>
              <a:ea typeface="Calibri"/>
              <a:cs typeface="Calibri"/>
              <a:sym typeface="Calibri"/>
            </a:endParaRPr>
          </a:p>
        </p:txBody>
      </p:sp>
      <p:sp>
        <p:nvSpPr>
          <p:cNvPr id="1129" name="Google Shape;1129;p67"/>
          <p:cNvSpPr/>
          <p:nvPr/>
        </p:nvSpPr>
        <p:spPr>
          <a:xfrm>
            <a:off x="371449" y="3892913"/>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30" name="Google Shape;1130;p67"/>
          <p:cNvCxnSpPr/>
          <p:nvPr/>
        </p:nvCxnSpPr>
        <p:spPr>
          <a:xfrm>
            <a:off x="371449" y="4139007"/>
            <a:ext cx="3977700" cy="0"/>
          </a:xfrm>
          <a:prstGeom prst="straightConnector1">
            <a:avLst/>
          </a:prstGeom>
          <a:noFill/>
          <a:ln cap="flat" cmpd="sng" w="7150">
            <a:solidFill>
              <a:srgbClr val="E5E7EB"/>
            </a:solidFill>
            <a:prstDash val="solid"/>
            <a:round/>
            <a:headEnd len="sm" w="sm" type="none"/>
            <a:tailEnd len="sm" w="sm" type="none"/>
          </a:ln>
        </p:spPr>
      </p:cxnSp>
      <p:sp>
        <p:nvSpPr>
          <p:cNvPr id="1131" name="Google Shape;1131;p67"/>
          <p:cNvSpPr/>
          <p:nvPr/>
        </p:nvSpPr>
        <p:spPr>
          <a:xfrm>
            <a:off x="371445" y="3892914"/>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Dependency Scopes: Gradle</a:t>
            </a:r>
            <a:endParaRPr b="0" i="0" sz="800" u="none" cap="none" strike="noStrike">
              <a:solidFill>
                <a:schemeClr val="dk1"/>
              </a:solidFill>
              <a:latin typeface="Calibri"/>
              <a:ea typeface="Calibri"/>
              <a:cs typeface="Calibri"/>
              <a:sym typeface="Calibri"/>
            </a:endParaRPr>
          </a:p>
        </p:txBody>
      </p:sp>
      <p:sp>
        <p:nvSpPr>
          <p:cNvPr id="1132" name="Google Shape;1132;p67"/>
          <p:cNvSpPr/>
          <p:nvPr/>
        </p:nvSpPr>
        <p:spPr>
          <a:xfrm>
            <a:off x="2569586" y="3892913"/>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{{VS_GRADL}}</a:t>
            </a:r>
            <a:endParaRPr b="0" i="0" sz="700" u="none" cap="none" strike="noStrike">
              <a:solidFill>
                <a:schemeClr val="dk1"/>
              </a:solidFill>
              <a:latin typeface="Calibri"/>
              <a:ea typeface="Calibri"/>
              <a:cs typeface="Calibri"/>
              <a:sym typeface="Calibri"/>
            </a:endParaRPr>
          </a:p>
        </p:txBody>
      </p:sp>
      <p:sp>
        <p:nvSpPr>
          <p:cNvPr id="1133" name="Google Shape;1133;p67"/>
          <p:cNvSpPr/>
          <p:nvPr/>
        </p:nvSpPr>
        <p:spPr>
          <a:xfrm>
            <a:off x="371449" y="4139007"/>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34" name="Google Shape;1134;p67"/>
          <p:cNvCxnSpPr/>
          <p:nvPr/>
        </p:nvCxnSpPr>
        <p:spPr>
          <a:xfrm>
            <a:off x="377025" y="4385100"/>
            <a:ext cx="3977700" cy="0"/>
          </a:xfrm>
          <a:prstGeom prst="straightConnector1">
            <a:avLst/>
          </a:prstGeom>
          <a:noFill/>
          <a:ln cap="flat" cmpd="sng" w="7150">
            <a:solidFill>
              <a:srgbClr val="888888"/>
            </a:solidFill>
            <a:prstDash val="solid"/>
            <a:round/>
            <a:headEnd len="sm" w="sm" type="none"/>
            <a:tailEnd len="sm" w="sm" type="none"/>
          </a:ln>
        </p:spPr>
      </p:cxnSp>
      <p:sp>
        <p:nvSpPr>
          <p:cNvPr id="1135" name="Google Shape;1135;p67"/>
          <p:cNvSpPr/>
          <p:nvPr/>
        </p:nvSpPr>
        <p:spPr>
          <a:xfrm>
            <a:off x="371445" y="4139008"/>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End of Life Detection</a:t>
            </a:r>
            <a:endParaRPr b="0" i="0" sz="800" u="none" cap="none" strike="noStrike">
              <a:solidFill>
                <a:schemeClr val="dk1"/>
              </a:solidFill>
              <a:latin typeface="Calibri"/>
              <a:ea typeface="Calibri"/>
              <a:cs typeface="Calibri"/>
              <a:sym typeface="Calibri"/>
            </a:endParaRPr>
          </a:p>
        </p:txBody>
      </p:sp>
      <p:sp>
        <p:nvSpPr>
          <p:cNvPr id="1136" name="Google Shape;1136;p67"/>
          <p:cNvSpPr/>
          <p:nvPr/>
        </p:nvSpPr>
        <p:spPr>
          <a:xfrm>
            <a:off x="2569586" y="4139007"/>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{{VS_EOL}}</a:t>
            </a:r>
            <a:endParaRPr b="0" i="0" sz="700" u="none" cap="none" strike="noStrike">
              <a:solidFill>
                <a:schemeClr val="dk1"/>
              </a:solidFill>
              <a:latin typeface="Calibri"/>
              <a:ea typeface="Calibri"/>
              <a:cs typeface="Calibri"/>
              <a:sym typeface="Calibri"/>
            </a:endParaRPr>
          </a:p>
        </p:txBody>
      </p:sp>
      <p:sp>
        <p:nvSpPr>
          <p:cNvPr id="1137" name="Google Shape;1137;p67"/>
          <p:cNvSpPr/>
          <p:nvPr/>
        </p:nvSpPr>
        <p:spPr>
          <a:xfrm>
            <a:off x="4800600" y="868680"/>
            <a:ext cx="3977700" cy="274200"/>
          </a:xfrm>
          <a:prstGeom prst="rect">
            <a:avLst/>
          </a:prstGeom>
          <a:solidFill>
            <a:srgbClr val="E6DDF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8" name="Google Shape;1138;p67"/>
          <p:cNvSpPr/>
          <p:nvPr/>
        </p:nvSpPr>
        <p:spPr>
          <a:xfrm>
            <a:off x="4800600" y="868680"/>
            <a:ext cx="36600" cy="2742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9" name="Google Shape;1139;p67"/>
          <p:cNvSpPr/>
          <p:nvPr/>
        </p:nvSpPr>
        <p:spPr>
          <a:xfrm>
            <a:off x="4937760" y="847856"/>
            <a:ext cx="3794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C3AED"/>
              </a:buClr>
              <a:buSzPts val="1000"/>
              <a:buFont typeface="DM Sans"/>
              <a:buNone/>
            </a:pPr>
            <a:r>
              <a:rPr b="1" i="0" lang="en" sz="1100" u="sng" cap="none" strike="noStrike">
                <a:solidFill>
                  <a:srgbClr val="9900FF"/>
                </a:solidFill>
                <a:latin typeface="DM Sans"/>
                <a:ea typeface="DM Sans"/>
                <a:cs typeface="DM Sans"/>
                <a:sym typeface="DM Sans"/>
                <a:hlinkClick r:id="rId6">
                  <a:extLst>
                    <a:ext uri="{A12FA001-AC4F-418D-AE19-62706E023703}">
                      <ahyp:hlinkClr val="tx"/>
                    </a:ext>
                  </a:extLst>
                </a:hlinkClick>
              </a:rPr>
              <a:t>DATA SECURITY SCANNER</a:t>
            </a:r>
            <a:r>
              <a:rPr lang="en" sz="1100">
                <a:solidFill>
                  <a:srgbClr val="9900FF"/>
                </a:solidFill>
                <a:latin typeface="Calibri"/>
                <a:ea typeface="Calibri"/>
                <a:cs typeface="Calibri"/>
                <a:sym typeface="Calibri"/>
              </a:rPr>
              <a:t> </a:t>
            </a:r>
            <a:r>
              <a:rPr lang="en" sz="1300">
                <a:solidFill>
                  <a:srgbClr val="7C3AED"/>
                </a:solidFill>
                <a:uFill>
                  <a:noFill/>
                </a:uFill>
                <a:latin typeface="Poppins"/>
                <a:ea typeface="Poppins"/>
                <a:cs typeface="Poppins"/>
                <a:sym typeface="Poppins"/>
                <a:hlinkClick r:id="rId7">
                  <a:extLst>
                    <a:ext uri="{A12FA001-AC4F-418D-AE19-62706E023703}">
                      <ahyp:hlinkClr val="tx"/>
                    </a:ext>
                  </a:extLst>
                </a:hlinkClick>
              </a:rPr>
              <a:t>↗</a:t>
            </a:r>
            <a:r>
              <a:rPr lang="en" sz="1200"/>
              <a:t> </a:t>
            </a:r>
            <a:endParaRPr b="0" i="0" sz="1100" u="none" cap="none" strike="noStrike">
              <a:solidFill>
                <a:srgbClr val="9900FF"/>
              </a:solidFill>
              <a:latin typeface="Calibri"/>
              <a:ea typeface="Calibri"/>
              <a:cs typeface="Calibri"/>
              <a:sym typeface="Calibri"/>
            </a:endParaRPr>
          </a:p>
        </p:txBody>
      </p:sp>
      <p:sp>
        <p:nvSpPr>
          <p:cNvPr id="1140" name="Google Shape;1140;p67"/>
          <p:cNvSpPr/>
          <p:nvPr/>
        </p:nvSpPr>
        <p:spPr>
          <a:xfrm>
            <a:off x="4800600" y="1201204"/>
            <a:ext cx="3977700" cy="2013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1" name="Google Shape;1141;p67"/>
          <p:cNvSpPr/>
          <p:nvPr/>
        </p:nvSpPr>
        <p:spPr>
          <a:xfrm>
            <a:off x="4892040" y="1201204"/>
            <a:ext cx="19887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Setting</a:t>
            </a:r>
            <a:endParaRPr b="0" i="0" sz="1000" u="none" cap="none" strike="noStrike">
              <a:solidFill>
                <a:schemeClr val="dk1"/>
              </a:solidFill>
              <a:latin typeface="Calibri"/>
              <a:ea typeface="Calibri"/>
              <a:cs typeface="Calibri"/>
              <a:sym typeface="Calibri"/>
            </a:endParaRPr>
          </a:p>
        </p:txBody>
      </p:sp>
      <p:sp>
        <p:nvSpPr>
          <p:cNvPr id="1142" name="Google Shape;1142;p67"/>
          <p:cNvSpPr/>
          <p:nvPr/>
        </p:nvSpPr>
        <p:spPr>
          <a:xfrm>
            <a:off x="6916585" y="1201204"/>
            <a:ext cx="875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i="0" lang="en" sz="1000" u="none" cap="none" strike="noStrike">
                <a:solidFill>
                  <a:srgbClr val="6B7280"/>
                </a:solidFill>
                <a:latin typeface="DM Sans"/>
                <a:ea typeface="DM Sans"/>
                <a:cs typeface="DM Sans"/>
                <a:sym typeface="DM Sans"/>
              </a:rPr>
              <a:t>Status</a:t>
            </a:r>
            <a:endParaRPr b="0" i="0" sz="1000" u="none" cap="none" strike="noStrike">
              <a:solidFill>
                <a:schemeClr val="dk1"/>
              </a:solidFill>
              <a:latin typeface="Calibri"/>
              <a:ea typeface="Calibri"/>
              <a:cs typeface="Calibri"/>
              <a:sym typeface="Calibri"/>
            </a:endParaRPr>
          </a:p>
        </p:txBody>
      </p:sp>
      <p:sp>
        <p:nvSpPr>
          <p:cNvPr id="1143" name="Google Shape;1143;p67"/>
          <p:cNvSpPr/>
          <p:nvPr/>
        </p:nvSpPr>
        <p:spPr>
          <a:xfrm>
            <a:off x="7869988" y="1201204"/>
            <a:ext cx="1034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Recommended</a:t>
            </a:r>
            <a:endParaRPr b="0" i="0" sz="1000" u="none" cap="none" strike="noStrike">
              <a:solidFill>
                <a:schemeClr val="dk1"/>
              </a:solidFill>
              <a:latin typeface="Calibri"/>
              <a:ea typeface="Calibri"/>
              <a:cs typeface="Calibri"/>
              <a:sym typeface="Calibri"/>
            </a:endParaRPr>
          </a:p>
        </p:txBody>
      </p:sp>
      <p:sp>
        <p:nvSpPr>
          <p:cNvPr id="1144" name="Google Shape;1144;p67"/>
          <p:cNvSpPr/>
          <p:nvPr/>
        </p:nvSpPr>
        <p:spPr>
          <a:xfrm>
            <a:off x="4800600" y="1402372"/>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45" name="Google Shape;1145;p67"/>
          <p:cNvCxnSpPr/>
          <p:nvPr/>
        </p:nvCxnSpPr>
        <p:spPr>
          <a:xfrm>
            <a:off x="4800600" y="1590526"/>
            <a:ext cx="3977700" cy="0"/>
          </a:xfrm>
          <a:prstGeom prst="straightConnector1">
            <a:avLst/>
          </a:prstGeom>
          <a:noFill/>
          <a:ln cap="flat" cmpd="sng" w="7150">
            <a:solidFill>
              <a:srgbClr val="888888"/>
            </a:solidFill>
            <a:prstDash val="solid"/>
            <a:round/>
            <a:headEnd len="sm" w="sm" type="none"/>
            <a:tailEnd len="sm" w="sm" type="none"/>
          </a:ln>
        </p:spPr>
      </p:cxnSp>
      <p:sp>
        <p:nvSpPr>
          <p:cNvPr id="1146" name="Google Shape;1146;p67"/>
          <p:cNvSpPr/>
          <p:nvPr/>
        </p:nvSpPr>
        <p:spPr>
          <a:xfrm>
            <a:off x="4892040" y="1402372"/>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Data Security Scanner</a:t>
            </a:r>
            <a:endParaRPr b="0" i="0" sz="800" u="none" cap="none" strike="noStrike">
              <a:solidFill>
                <a:schemeClr val="dk1"/>
              </a:solidFill>
              <a:latin typeface="Calibri"/>
              <a:ea typeface="Calibri"/>
              <a:cs typeface="Calibri"/>
              <a:sym typeface="Calibri"/>
            </a:endParaRPr>
          </a:p>
        </p:txBody>
      </p:sp>
      <p:sp>
        <p:nvSpPr>
          <p:cNvPr id="1147" name="Google Shape;1147;p67"/>
          <p:cNvSpPr/>
          <p:nvPr/>
        </p:nvSpPr>
        <p:spPr>
          <a:xfrm>
            <a:off x="6941699" y="1402372"/>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{{DSS_ON}}</a:t>
            </a:r>
            <a:endParaRPr b="0" i="0" sz="700" u="none" cap="none" strike="noStrike">
              <a:solidFill>
                <a:schemeClr val="dk1"/>
              </a:solidFill>
              <a:latin typeface="Calibri"/>
              <a:ea typeface="Calibri"/>
              <a:cs typeface="Calibri"/>
              <a:sym typeface="Calibri"/>
            </a:endParaRPr>
          </a:p>
        </p:txBody>
      </p:sp>
      <p:sp>
        <p:nvSpPr>
          <p:cNvPr id="1148" name="Google Shape;1148;p67"/>
          <p:cNvSpPr/>
          <p:nvPr/>
        </p:nvSpPr>
        <p:spPr>
          <a:xfrm>
            <a:off x="4800600" y="1590526"/>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49" name="Google Shape;1149;p67"/>
          <p:cNvCxnSpPr/>
          <p:nvPr/>
        </p:nvCxnSpPr>
        <p:spPr>
          <a:xfrm>
            <a:off x="4800600" y="1864215"/>
            <a:ext cx="3977700" cy="0"/>
          </a:xfrm>
          <a:prstGeom prst="straightConnector1">
            <a:avLst/>
          </a:prstGeom>
          <a:noFill/>
          <a:ln cap="flat" cmpd="sng" w="7150">
            <a:solidFill>
              <a:srgbClr val="888888"/>
            </a:solidFill>
            <a:prstDash val="solid"/>
            <a:round/>
            <a:headEnd len="sm" w="sm" type="none"/>
            <a:tailEnd len="sm" w="sm" type="none"/>
          </a:ln>
        </p:spPr>
      </p:cxnSp>
      <p:sp>
        <p:nvSpPr>
          <p:cNvPr id="1150" name="Google Shape;1150;p67"/>
          <p:cNvSpPr/>
          <p:nvPr/>
        </p:nvSpPr>
        <p:spPr>
          <a:xfrm>
            <a:off x="4892044" y="1592964"/>
            <a:ext cx="1970400" cy="26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Buckets</a:t>
            </a:r>
            <a:r>
              <a:rPr lang="en" sz="800">
                <a:solidFill>
                  <a:srgbClr val="1F2937"/>
                </a:solidFill>
                <a:latin typeface="DM Sans"/>
                <a:ea typeface="DM Sans"/>
                <a:cs typeface="DM Sans"/>
                <a:sym typeface="DM Sans"/>
              </a:rPr>
              <a:t> (Public &amp; Private)</a:t>
            </a:r>
            <a:endParaRPr b="0" i="0" sz="800" u="none" cap="none" strike="noStrike">
              <a:solidFill>
                <a:schemeClr val="dk1"/>
              </a:solidFill>
              <a:latin typeface="Calibri"/>
              <a:ea typeface="Calibri"/>
              <a:cs typeface="Calibri"/>
              <a:sym typeface="Calibri"/>
            </a:endParaRPr>
          </a:p>
        </p:txBody>
      </p:sp>
      <p:sp>
        <p:nvSpPr>
          <p:cNvPr id="1151" name="Google Shape;1151;p67"/>
          <p:cNvSpPr/>
          <p:nvPr/>
        </p:nvSpPr>
        <p:spPr>
          <a:xfrm>
            <a:off x="6941698" y="1592525"/>
            <a:ext cx="1034100" cy="26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{{DSS_BUCK}}</a:t>
            </a:r>
            <a:endParaRPr b="0" i="0" sz="700" u="none" cap="none" strike="noStrike">
              <a:solidFill>
                <a:schemeClr val="dk1"/>
              </a:solidFill>
              <a:latin typeface="Calibri"/>
              <a:ea typeface="Calibri"/>
              <a:cs typeface="Calibri"/>
              <a:sym typeface="Calibri"/>
            </a:endParaRPr>
          </a:p>
        </p:txBody>
      </p:sp>
      <p:sp>
        <p:nvSpPr>
          <p:cNvPr id="1152" name="Google Shape;1152;p67"/>
          <p:cNvSpPr/>
          <p:nvPr/>
        </p:nvSpPr>
        <p:spPr>
          <a:xfrm>
            <a:off x="7864530" y="1596535"/>
            <a:ext cx="943800" cy="260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JetBrains Mono"/>
                <a:ea typeface="JetBrains Mono"/>
                <a:cs typeface="JetBrains Mono"/>
                <a:sym typeface="JetBrains Mono"/>
              </a:rPr>
              <a:t>{{DSS_BUCK_R}}</a:t>
            </a:r>
            <a:endParaRPr b="0" i="0" sz="800" u="none" cap="none" strike="noStrike">
              <a:solidFill>
                <a:srgbClr val="595959"/>
              </a:solidFill>
              <a:latin typeface="Calibri"/>
              <a:ea typeface="Calibri"/>
              <a:cs typeface="Calibri"/>
              <a:sym typeface="Calibri"/>
            </a:endParaRPr>
          </a:p>
        </p:txBody>
      </p:sp>
      <p:sp>
        <p:nvSpPr>
          <p:cNvPr id="1153" name="Google Shape;1153;p67"/>
          <p:cNvSpPr/>
          <p:nvPr/>
        </p:nvSpPr>
        <p:spPr>
          <a:xfrm>
            <a:off x="4800600" y="1864215"/>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54" name="Google Shape;1154;p67"/>
          <p:cNvCxnSpPr/>
          <p:nvPr/>
        </p:nvCxnSpPr>
        <p:spPr>
          <a:xfrm>
            <a:off x="4800600" y="2052368"/>
            <a:ext cx="3977700" cy="0"/>
          </a:xfrm>
          <a:prstGeom prst="straightConnector1">
            <a:avLst/>
          </a:prstGeom>
          <a:noFill/>
          <a:ln cap="flat" cmpd="sng" w="7150">
            <a:solidFill>
              <a:srgbClr val="888888"/>
            </a:solidFill>
            <a:prstDash val="solid"/>
            <a:round/>
            <a:headEnd len="sm" w="sm" type="none"/>
            <a:tailEnd len="sm" w="sm" type="none"/>
          </a:ln>
        </p:spPr>
      </p:cxnSp>
      <p:sp>
        <p:nvSpPr>
          <p:cNvPr id="1155" name="Google Shape;1155;p67"/>
          <p:cNvSpPr/>
          <p:nvPr/>
        </p:nvSpPr>
        <p:spPr>
          <a:xfrm>
            <a:off x="4892040" y="1863056"/>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Storage: </a:t>
            </a:r>
            <a:r>
              <a:rPr b="0" i="0" lang="en" sz="800" u="none" cap="none" strike="noStrike">
                <a:solidFill>
                  <a:srgbClr val="1F2937"/>
                </a:solidFill>
                <a:latin typeface="DM Sans"/>
                <a:ea typeface="DM Sans"/>
                <a:cs typeface="DM Sans"/>
                <a:sym typeface="DM Sans"/>
              </a:rPr>
              <a:t>Azure PE (Disabled Public)</a:t>
            </a:r>
            <a:endParaRPr b="0" i="0" sz="800" u="none" cap="none" strike="noStrike">
              <a:solidFill>
                <a:schemeClr val="dk1"/>
              </a:solidFill>
              <a:latin typeface="Calibri"/>
              <a:ea typeface="Calibri"/>
              <a:cs typeface="Calibri"/>
              <a:sym typeface="Calibri"/>
            </a:endParaRPr>
          </a:p>
        </p:txBody>
      </p:sp>
      <p:sp>
        <p:nvSpPr>
          <p:cNvPr id="1156" name="Google Shape;1156;p67"/>
          <p:cNvSpPr/>
          <p:nvPr/>
        </p:nvSpPr>
        <p:spPr>
          <a:xfrm>
            <a:off x="6941699" y="1864215"/>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{{DSS_AZ1}}</a:t>
            </a:r>
            <a:endParaRPr b="0" i="0" sz="700" u="none" cap="none" strike="noStrike">
              <a:solidFill>
                <a:schemeClr val="dk1"/>
              </a:solidFill>
              <a:latin typeface="Calibri"/>
              <a:ea typeface="Calibri"/>
              <a:cs typeface="Calibri"/>
              <a:sym typeface="Calibri"/>
            </a:endParaRPr>
          </a:p>
        </p:txBody>
      </p:sp>
      <p:sp>
        <p:nvSpPr>
          <p:cNvPr id="1157" name="Google Shape;1157;p67"/>
          <p:cNvSpPr/>
          <p:nvPr/>
        </p:nvSpPr>
        <p:spPr>
          <a:xfrm>
            <a:off x="4800600" y="2052368"/>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58" name="Google Shape;1158;p67"/>
          <p:cNvCxnSpPr/>
          <p:nvPr/>
        </p:nvCxnSpPr>
        <p:spPr>
          <a:xfrm>
            <a:off x="4800600" y="2240522"/>
            <a:ext cx="3977700" cy="0"/>
          </a:xfrm>
          <a:prstGeom prst="straightConnector1">
            <a:avLst/>
          </a:prstGeom>
          <a:noFill/>
          <a:ln cap="flat" cmpd="sng" w="7150">
            <a:solidFill>
              <a:srgbClr val="888888"/>
            </a:solidFill>
            <a:prstDash val="solid"/>
            <a:round/>
            <a:headEnd len="sm" w="sm" type="none"/>
            <a:tailEnd len="sm" w="sm" type="none"/>
          </a:ln>
        </p:spPr>
      </p:cxnSp>
      <p:sp>
        <p:nvSpPr>
          <p:cNvPr id="1159" name="Google Shape;1159;p67"/>
          <p:cNvSpPr/>
          <p:nvPr/>
        </p:nvSpPr>
        <p:spPr>
          <a:xfrm>
            <a:off x="4892040" y="2053648"/>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Storage: </a:t>
            </a:r>
            <a:r>
              <a:rPr b="0" i="0" lang="en" sz="800" u="none" cap="none" strike="noStrike">
                <a:solidFill>
                  <a:srgbClr val="1F2937"/>
                </a:solidFill>
                <a:latin typeface="DM Sans"/>
                <a:ea typeface="DM Sans"/>
                <a:cs typeface="DM Sans"/>
                <a:sym typeface="DM Sans"/>
              </a:rPr>
              <a:t>Azure PE (Selected VNets)</a:t>
            </a:r>
            <a:endParaRPr b="0" i="0" sz="800" u="none" cap="none" strike="noStrike">
              <a:solidFill>
                <a:schemeClr val="dk1"/>
              </a:solidFill>
              <a:latin typeface="Calibri"/>
              <a:ea typeface="Calibri"/>
              <a:cs typeface="Calibri"/>
              <a:sym typeface="Calibri"/>
            </a:endParaRPr>
          </a:p>
        </p:txBody>
      </p:sp>
      <p:sp>
        <p:nvSpPr>
          <p:cNvPr id="1160" name="Google Shape;1160;p67"/>
          <p:cNvSpPr/>
          <p:nvPr/>
        </p:nvSpPr>
        <p:spPr>
          <a:xfrm>
            <a:off x="6941699" y="2052368"/>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{{DSS_AZ2}}</a:t>
            </a:r>
            <a:endParaRPr b="0" i="0" sz="700" u="none" cap="none" strike="noStrike">
              <a:solidFill>
                <a:schemeClr val="dk1"/>
              </a:solidFill>
              <a:latin typeface="Calibri"/>
              <a:ea typeface="Calibri"/>
              <a:cs typeface="Calibri"/>
              <a:sym typeface="Calibri"/>
            </a:endParaRPr>
          </a:p>
        </p:txBody>
      </p:sp>
      <p:sp>
        <p:nvSpPr>
          <p:cNvPr id="1161" name="Google Shape;1161;p67"/>
          <p:cNvSpPr/>
          <p:nvPr/>
        </p:nvSpPr>
        <p:spPr>
          <a:xfrm>
            <a:off x="4800600" y="2622578"/>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62" name="Google Shape;1162;p67"/>
          <p:cNvCxnSpPr/>
          <p:nvPr/>
        </p:nvCxnSpPr>
        <p:spPr>
          <a:xfrm>
            <a:off x="4800600" y="2810732"/>
            <a:ext cx="3977700" cy="0"/>
          </a:xfrm>
          <a:prstGeom prst="straightConnector1">
            <a:avLst/>
          </a:prstGeom>
          <a:noFill/>
          <a:ln cap="flat" cmpd="sng" w="7150">
            <a:solidFill>
              <a:srgbClr val="888888"/>
            </a:solidFill>
            <a:prstDash val="solid"/>
            <a:round/>
            <a:headEnd len="sm" w="sm" type="none"/>
            <a:tailEnd len="sm" w="sm" type="none"/>
          </a:ln>
        </p:spPr>
      </p:cxnSp>
      <p:sp>
        <p:nvSpPr>
          <p:cNvPr id="1163" name="Google Shape;1163;p67"/>
          <p:cNvSpPr/>
          <p:nvPr/>
        </p:nvSpPr>
        <p:spPr>
          <a:xfrm>
            <a:off x="4892040" y="2625424"/>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Virtual Drives</a:t>
            </a:r>
            <a:endParaRPr b="0" i="0" sz="800" u="none" cap="none" strike="noStrike">
              <a:solidFill>
                <a:schemeClr val="dk1"/>
              </a:solidFill>
              <a:latin typeface="Calibri"/>
              <a:ea typeface="Calibri"/>
              <a:cs typeface="Calibri"/>
              <a:sym typeface="Calibri"/>
            </a:endParaRPr>
          </a:p>
        </p:txBody>
      </p:sp>
      <p:sp>
        <p:nvSpPr>
          <p:cNvPr id="1164" name="Google Shape;1164;p67"/>
          <p:cNvSpPr/>
          <p:nvPr/>
        </p:nvSpPr>
        <p:spPr>
          <a:xfrm>
            <a:off x="6941699" y="2622578"/>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{{DSS_VDRV}}</a:t>
            </a:r>
            <a:endParaRPr b="0" i="0" sz="700" u="none" cap="none" strike="noStrike">
              <a:solidFill>
                <a:schemeClr val="dk1"/>
              </a:solidFill>
              <a:latin typeface="Calibri"/>
              <a:ea typeface="Calibri"/>
              <a:cs typeface="Calibri"/>
              <a:sym typeface="Calibri"/>
            </a:endParaRPr>
          </a:p>
        </p:txBody>
      </p:sp>
      <p:sp>
        <p:nvSpPr>
          <p:cNvPr id="1165" name="Google Shape;1165;p67"/>
          <p:cNvSpPr/>
          <p:nvPr/>
        </p:nvSpPr>
        <p:spPr>
          <a:xfrm>
            <a:off x="7864530" y="2648090"/>
            <a:ext cx="943800" cy="157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CA3AF"/>
              </a:buClr>
              <a:buSzPts val="500"/>
              <a:buFont typeface="JetBrains Mono"/>
              <a:buNone/>
            </a:pPr>
            <a:r>
              <a:rPr lang="en" sz="800">
                <a:solidFill>
                  <a:srgbClr val="595959"/>
                </a:solidFill>
                <a:latin typeface="DM Sans"/>
                <a:ea typeface="DM Sans"/>
                <a:cs typeface="DM Sans"/>
                <a:sym typeface="DM Sans"/>
              </a:rPr>
              <a:t>{{DSS_VDRV_R}}</a:t>
            </a:r>
            <a:endParaRPr i="0" sz="800" u="none" cap="none" strike="noStrike">
              <a:solidFill>
                <a:srgbClr val="595959"/>
              </a:solidFill>
              <a:latin typeface="DM Sans"/>
              <a:ea typeface="DM Sans"/>
              <a:cs typeface="DM Sans"/>
              <a:sym typeface="DM Sans"/>
            </a:endParaRPr>
          </a:p>
        </p:txBody>
      </p:sp>
      <p:sp>
        <p:nvSpPr>
          <p:cNvPr id="1166" name="Google Shape;1166;p67"/>
          <p:cNvSpPr/>
          <p:nvPr/>
        </p:nvSpPr>
        <p:spPr>
          <a:xfrm>
            <a:off x="4800600" y="2810732"/>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67" name="Google Shape;1167;p67"/>
          <p:cNvCxnSpPr/>
          <p:nvPr/>
        </p:nvCxnSpPr>
        <p:spPr>
          <a:xfrm>
            <a:off x="4800600" y="2998885"/>
            <a:ext cx="3977700" cy="0"/>
          </a:xfrm>
          <a:prstGeom prst="straightConnector1">
            <a:avLst/>
          </a:prstGeom>
          <a:noFill/>
          <a:ln cap="flat" cmpd="sng" w="7150">
            <a:solidFill>
              <a:srgbClr val="888888"/>
            </a:solidFill>
            <a:prstDash val="solid"/>
            <a:round/>
            <a:headEnd len="sm" w="sm" type="none"/>
            <a:tailEnd len="sm" w="sm" type="none"/>
          </a:ln>
        </p:spPr>
      </p:cxnSp>
      <p:sp>
        <p:nvSpPr>
          <p:cNvPr id="1168" name="Google Shape;1168;p67"/>
          <p:cNvSpPr/>
          <p:nvPr/>
        </p:nvSpPr>
        <p:spPr>
          <a:xfrm>
            <a:off x="4892040" y="2816016"/>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Cloud Managed Databases (PaaS)</a:t>
            </a:r>
            <a:endParaRPr b="0" i="0" sz="800" u="none" cap="none" strike="noStrike">
              <a:solidFill>
                <a:schemeClr val="dk1"/>
              </a:solidFill>
              <a:latin typeface="Calibri"/>
              <a:ea typeface="Calibri"/>
              <a:cs typeface="Calibri"/>
              <a:sym typeface="Calibri"/>
            </a:endParaRPr>
          </a:p>
        </p:txBody>
      </p:sp>
      <p:sp>
        <p:nvSpPr>
          <p:cNvPr id="1169" name="Google Shape;1169;p67"/>
          <p:cNvSpPr/>
          <p:nvPr/>
        </p:nvSpPr>
        <p:spPr>
          <a:xfrm>
            <a:off x="6941699" y="2810732"/>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{{DSS_PAAS}}</a:t>
            </a:r>
            <a:endParaRPr b="0" i="0" sz="700" u="none" cap="none" strike="noStrike">
              <a:solidFill>
                <a:schemeClr val="dk1"/>
              </a:solidFill>
              <a:latin typeface="Calibri"/>
              <a:ea typeface="Calibri"/>
              <a:cs typeface="Calibri"/>
              <a:sym typeface="Calibri"/>
            </a:endParaRPr>
          </a:p>
        </p:txBody>
      </p:sp>
      <p:sp>
        <p:nvSpPr>
          <p:cNvPr id="1170" name="Google Shape;1170;p67"/>
          <p:cNvSpPr/>
          <p:nvPr/>
        </p:nvSpPr>
        <p:spPr>
          <a:xfrm>
            <a:off x="4800600" y="2998885"/>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71" name="Google Shape;1171;p67"/>
          <p:cNvCxnSpPr/>
          <p:nvPr/>
        </p:nvCxnSpPr>
        <p:spPr>
          <a:xfrm>
            <a:off x="4800600" y="3187039"/>
            <a:ext cx="3977700" cy="0"/>
          </a:xfrm>
          <a:prstGeom prst="straightConnector1">
            <a:avLst/>
          </a:prstGeom>
          <a:noFill/>
          <a:ln cap="flat" cmpd="sng" w="7150">
            <a:solidFill>
              <a:srgbClr val="888888"/>
            </a:solidFill>
            <a:prstDash val="solid"/>
            <a:round/>
            <a:headEnd len="sm" w="sm" type="none"/>
            <a:tailEnd len="sm" w="sm" type="none"/>
          </a:ln>
        </p:spPr>
      </p:cxnSp>
      <p:sp>
        <p:nvSpPr>
          <p:cNvPr id="1172" name="Google Shape;1172;p67"/>
          <p:cNvSpPr/>
          <p:nvPr/>
        </p:nvSpPr>
        <p:spPr>
          <a:xfrm>
            <a:off x="4892040" y="3006608"/>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Data Warehouses</a:t>
            </a:r>
            <a:endParaRPr b="0" i="0" sz="800" u="none" cap="none" strike="noStrike">
              <a:solidFill>
                <a:schemeClr val="dk1"/>
              </a:solidFill>
              <a:latin typeface="Calibri"/>
              <a:ea typeface="Calibri"/>
              <a:cs typeface="Calibri"/>
              <a:sym typeface="Calibri"/>
            </a:endParaRPr>
          </a:p>
        </p:txBody>
      </p:sp>
      <p:sp>
        <p:nvSpPr>
          <p:cNvPr id="1173" name="Google Shape;1173;p67"/>
          <p:cNvSpPr/>
          <p:nvPr/>
        </p:nvSpPr>
        <p:spPr>
          <a:xfrm>
            <a:off x="6941699" y="2998885"/>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{{DSS_DW}}</a:t>
            </a:r>
            <a:endParaRPr b="0" i="0" sz="700" u="none" cap="none" strike="noStrike">
              <a:solidFill>
                <a:schemeClr val="dk1"/>
              </a:solidFill>
              <a:latin typeface="Calibri"/>
              <a:ea typeface="Calibri"/>
              <a:cs typeface="Calibri"/>
              <a:sym typeface="Calibri"/>
            </a:endParaRPr>
          </a:p>
        </p:txBody>
      </p:sp>
      <p:sp>
        <p:nvSpPr>
          <p:cNvPr id="1174" name="Google Shape;1174;p67"/>
          <p:cNvSpPr/>
          <p:nvPr/>
        </p:nvSpPr>
        <p:spPr>
          <a:xfrm>
            <a:off x="4800600" y="3187039"/>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75" name="Google Shape;1175;p67"/>
          <p:cNvCxnSpPr/>
          <p:nvPr/>
        </p:nvCxnSpPr>
        <p:spPr>
          <a:xfrm>
            <a:off x="4800600" y="3375192"/>
            <a:ext cx="3977700" cy="0"/>
          </a:xfrm>
          <a:prstGeom prst="straightConnector1">
            <a:avLst/>
          </a:prstGeom>
          <a:noFill/>
          <a:ln cap="flat" cmpd="sng" w="7150">
            <a:solidFill>
              <a:srgbClr val="888888"/>
            </a:solidFill>
            <a:prstDash val="solid"/>
            <a:round/>
            <a:headEnd len="sm" w="sm" type="none"/>
            <a:tailEnd len="sm" w="sm" type="none"/>
          </a:ln>
        </p:spPr>
      </p:cxnSp>
      <p:sp>
        <p:nvSpPr>
          <p:cNvPr id="1176" name="Google Shape;1176;p67"/>
          <p:cNvSpPr/>
          <p:nvPr/>
        </p:nvSpPr>
        <p:spPr>
          <a:xfrm>
            <a:off x="4892040" y="3197200"/>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Google BigQuery</a:t>
            </a:r>
            <a:endParaRPr b="0" i="0" sz="800" u="none" cap="none" strike="noStrike">
              <a:solidFill>
                <a:schemeClr val="dk1"/>
              </a:solidFill>
              <a:latin typeface="Calibri"/>
              <a:ea typeface="Calibri"/>
              <a:cs typeface="Calibri"/>
              <a:sym typeface="Calibri"/>
            </a:endParaRPr>
          </a:p>
        </p:txBody>
      </p:sp>
      <p:sp>
        <p:nvSpPr>
          <p:cNvPr id="1177" name="Google Shape;1177;p67"/>
          <p:cNvSpPr/>
          <p:nvPr/>
        </p:nvSpPr>
        <p:spPr>
          <a:xfrm>
            <a:off x="6941699" y="3187039"/>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{{DSS_BQ}}</a:t>
            </a:r>
            <a:endParaRPr b="0" i="0" sz="700" u="none" cap="none" strike="noStrike">
              <a:solidFill>
                <a:schemeClr val="dk1"/>
              </a:solidFill>
              <a:latin typeface="Calibri"/>
              <a:ea typeface="Calibri"/>
              <a:cs typeface="Calibri"/>
              <a:sym typeface="Calibri"/>
            </a:endParaRPr>
          </a:p>
        </p:txBody>
      </p:sp>
      <p:sp>
        <p:nvSpPr>
          <p:cNvPr id="1178" name="Google Shape;1178;p67"/>
          <p:cNvSpPr/>
          <p:nvPr/>
        </p:nvSpPr>
        <p:spPr>
          <a:xfrm>
            <a:off x="4800600" y="3375192"/>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79" name="Google Shape;1179;p67"/>
          <p:cNvCxnSpPr/>
          <p:nvPr/>
        </p:nvCxnSpPr>
        <p:spPr>
          <a:xfrm>
            <a:off x="4800600" y="3563346"/>
            <a:ext cx="3977700" cy="0"/>
          </a:xfrm>
          <a:prstGeom prst="straightConnector1">
            <a:avLst/>
          </a:prstGeom>
          <a:noFill/>
          <a:ln cap="flat" cmpd="sng" w="7150">
            <a:solidFill>
              <a:srgbClr val="888888"/>
            </a:solidFill>
            <a:prstDash val="solid"/>
            <a:round/>
            <a:headEnd len="sm" w="sm" type="none"/>
            <a:tailEnd len="sm" w="sm" type="none"/>
          </a:ln>
        </p:spPr>
      </p:cxnSp>
      <p:sp>
        <p:nvSpPr>
          <p:cNvPr id="1180" name="Google Shape;1180;p67"/>
          <p:cNvSpPr/>
          <p:nvPr/>
        </p:nvSpPr>
        <p:spPr>
          <a:xfrm>
            <a:off x="4892040" y="3387792"/>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Amazon DynamoDB</a:t>
            </a:r>
            <a:endParaRPr b="0" i="0" sz="800" u="none" cap="none" strike="noStrike">
              <a:solidFill>
                <a:schemeClr val="dk1"/>
              </a:solidFill>
              <a:latin typeface="Calibri"/>
              <a:ea typeface="Calibri"/>
              <a:cs typeface="Calibri"/>
              <a:sym typeface="Calibri"/>
            </a:endParaRPr>
          </a:p>
        </p:txBody>
      </p:sp>
      <p:sp>
        <p:nvSpPr>
          <p:cNvPr id="1181" name="Google Shape;1181;p67"/>
          <p:cNvSpPr/>
          <p:nvPr/>
        </p:nvSpPr>
        <p:spPr>
          <a:xfrm>
            <a:off x="6941699" y="3375192"/>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{{DSS_DDB}}</a:t>
            </a:r>
            <a:endParaRPr b="0" i="0" sz="700" u="none" cap="none" strike="noStrike">
              <a:solidFill>
                <a:schemeClr val="dk1"/>
              </a:solidFill>
              <a:latin typeface="Calibri"/>
              <a:ea typeface="Calibri"/>
              <a:cs typeface="Calibri"/>
              <a:sym typeface="Calibri"/>
            </a:endParaRPr>
          </a:p>
        </p:txBody>
      </p:sp>
      <p:sp>
        <p:nvSpPr>
          <p:cNvPr id="1182" name="Google Shape;1182;p67"/>
          <p:cNvSpPr/>
          <p:nvPr/>
        </p:nvSpPr>
        <p:spPr>
          <a:xfrm>
            <a:off x="4800600" y="3563346"/>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83" name="Google Shape;1183;p67"/>
          <p:cNvCxnSpPr/>
          <p:nvPr/>
        </p:nvCxnSpPr>
        <p:spPr>
          <a:xfrm>
            <a:off x="4800600" y="3751500"/>
            <a:ext cx="3977700" cy="0"/>
          </a:xfrm>
          <a:prstGeom prst="straightConnector1">
            <a:avLst/>
          </a:prstGeom>
          <a:noFill/>
          <a:ln cap="flat" cmpd="sng" w="7150">
            <a:solidFill>
              <a:srgbClr val="888888"/>
            </a:solidFill>
            <a:prstDash val="solid"/>
            <a:round/>
            <a:headEnd len="sm" w="sm" type="none"/>
            <a:tailEnd len="sm" w="sm" type="none"/>
          </a:ln>
        </p:spPr>
      </p:cxnSp>
      <p:sp>
        <p:nvSpPr>
          <p:cNvPr id="1184" name="Google Shape;1184;p67"/>
          <p:cNvSpPr/>
          <p:nvPr/>
        </p:nvSpPr>
        <p:spPr>
          <a:xfrm>
            <a:off x="4892040" y="3578384"/>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Snowflake</a:t>
            </a:r>
            <a:endParaRPr b="0" i="0" sz="800" u="none" cap="none" strike="noStrike">
              <a:solidFill>
                <a:schemeClr val="dk1"/>
              </a:solidFill>
              <a:latin typeface="Calibri"/>
              <a:ea typeface="Calibri"/>
              <a:cs typeface="Calibri"/>
              <a:sym typeface="Calibri"/>
            </a:endParaRPr>
          </a:p>
        </p:txBody>
      </p:sp>
      <p:sp>
        <p:nvSpPr>
          <p:cNvPr id="1185" name="Google Shape;1185;p67"/>
          <p:cNvSpPr/>
          <p:nvPr/>
        </p:nvSpPr>
        <p:spPr>
          <a:xfrm>
            <a:off x="6941699" y="3563346"/>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{{DSS_SNOW}}</a:t>
            </a:r>
            <a:endParaRPr b="0" i="0" sz="700" u="none" cap="none" strike="noStrike">
              <a:solidFill>
                <a:schemeClr val="dk1"/>
              </a:solidFill>
              <a:latin typeface="Calibri"/>
              <a:ea typeface="Calibri"/>
              <a:cs typeface="Calibri"/>
              <a:sym typeface="Calibri"/>
            </a:endParaRPr>
          </a:p>
        </p:txBody>
      </p:sp>
      <p:sp>
        <p:nvSpPr>
          <p:cNvPr id="1186" name="Google Shape;1186;p67"/>
          <p:cNvSpPr/>
          <p:nvPr/>
        </p:nvSpPr>
        <p:spPr>
          <a:xfrm>
            <a:off x="4800600" y="3751500"/>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87" name="Google Shape;1187;p67"/>
          <p:cNvCxnSpPr/>
          <p:nvPr/>
        </p:nvCxnSpPr>
        <p:spPr>
          <a:xfrm>
            <a:off x="4800600" y="3939653"/>
            <a:ext cx="3977700" cy="0"/>
          </a:xfrm>
          <a:prstGeom prst="straightConnector1">
            <a:avLst/>
          </a:prstGeom>
          <a:noFill/>
          <a:ln cap="flat" cmpd="sng" w="7150">
            <a:solidFill>
              <a:srgbClr val="888888"/>
            </a:solidFill>
            <a:prstDash val="solid"/>
            <a:round/>
            <a:headEnd len="sm" w="sm" type="none"/>
            <a:tailEnd len="sm" w="sm" type="none"/>
          </a:ln>
        </p:spPr>
      </p:cxnSp>
      <p:sp>
        <p:nvSpPr>
          <p:cNvPr id="1188" name="Google Shape;1188;p67"/>
          <p:cNvSpPr/>
          <p:nvPr/>
        </p:nvSpPr>
        <p:spPr>
          <a:xfrm>
            <a:off x="4892040" y="3768976"/>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Hosted Databases (IaaS)</a:t>
            </a:r>
            <a:endParaRPr b="0" i="0" sz="800" u="none" cap="none" strike="noStrike">
              <a:solidFill>
                <a:schemeClr val="dk1"/>
              </a:solidFill>
              <a:latin typeface="Calibri"/>
              <a:ea typeface="Calibri"/>
              <a:cs typeface="Calibri"/>
              <a:sym typeface="Calibri"/>
            </a:endParaRPr>
          </a:p>
        </p:txBody>
      </p:sp>
      <p:sp>
        <p:nvSpPr>
          <p:cNvPr id="1189" name="Google Shape;1189;p67"/>
          <p:cNvSpPr/>
          <p:nvPr/>
        </p:nvSpPr>
        <p:spPr>
          <a:xfrm>
            <a:off x="6941699" y="3751500"/>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{{DSS_IAAS}}</a:t>
            </a:r>
            <a:endParaRPr b="0" i="0" sz="700" u="none" cap="none" strike="noStrike">
              <a:solidFill>
                <a:schemeClr val="dk1"/>
              </a:solidFill>
              <a:latin typeface="Calibri"/>
              <a:ea typeface="Calibri"/>
              <a:cs typeface="Calibri"/>
              <a:sym typeface="Calibri"/>
            </a:endParaRPr>
          </a:p>
        </p:txBody>
      </p:sp>
      <p:sp>
        <p:nvSpPr>
          <p:cNvPr id="1190" name="Google Shape;1190;p67"/>
          <p:cNvSpPr/>
          <p:nvPr/>
        </p:nvSpPr>
        <p:spPr>
          <a:xfrm>
            <a:off x="4800600" y="3939653"/>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91" name="Google Shape;1191;p67"/>
          <p:cNvCxnSpPr/>
          <p:nvPr/>
        </p:nvCxnSpPr>
        <p:spPr>
          <a:xfrm>
            <a:off x="4800600" y="4127807"/>
            <a:ext cx="3977700" cy="0"/>
          </a:xfrm>
          <a:prstGeom prst="straightConnector1">
            <a:avLst/>
          </a:prstGeom>
          <a:noFill/>
          <a:ln cap="flat" cmpd="sng" w="7150">
            <a:solidFill>
              <a:srgbClr val="888888"/>
            </a:solidFill>
            <a:prstDash val="solid"/>
            <a:round/>
            <a:headEnd len="sm" w="sm" type="none"/>
            <a:tailEnd len="sm" w="sm" type="none"/>
          </a:ln>
        </p:spPr>
      </p:cxnSp>
      <p:sp>
        <p:nvSpPr>
          <p:cNvPr id="1192" name="Google Shape;1192;p67"/>
          <p:cNvSpPr/>
          <p:nvPr/>
        </p:nvSpPr>
        <p:spPr>
          <a:xfrm>
            <a:off x="4892040" y="3959568"/>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VM Disks (OS and non-OS)</a:t>
            </a:r>
            <a:endParaRPr b="0" i="0" sz="800" u="none" cap="none" strike="noStrike">
              <a:solidFill>
                <a:schemeClr val="dk1"/>
              </a:solidFill>
              <a:latin typeface="Calibri"/>
              <a:ea typeface="Calibri"/>
              <a:cs typeface="Calibri"/>
              <a:sym typeface="Calibri"/>
            </a:endParaRPr>
          </a:p>
        </p:txBody>
      </p:sp>
      <p:sp>
        <p:nvSpPr>
          <p:cNvPr id="1193" name="Google Shape;1193;p67"/>
          <p:cNvSpPr/>
          <p:nvPr/>
        </p:nvSpPr>
        <p:spPr>
          <a:xfrm>
            <a:off x="6941699" y="3939653"/>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{{DSS_VMD}}</a:t>
            </a:r>
            <a:endParaRPr b="0" i="0" sz="700" u="none" cap="none" strike="noStrike">
              <a:solidFill>
                <a:schemeClr val="dk1"/>
              </a:solidFill>
              <a:latin typeface="Calibri"/>
              <a:ea typeface="Calibri"/>
              <a:cs typeface="Calibri"/>
              <a:sym typeface="Calibri"/>
            </a:endParaRPr>
          </a:p>
        </p:txBody>
      </p:sp>
      <p:sp>
        <p:nvSpPr>
          <p:cNvPr id="1194" name="Google Shape;1194;p67"/>
          <p:cNvSpPr/>
          <p:nvPr/>
        </p:nvSpPr>
        <p:spPr>
          <a:xfrm>
            <a:off x="4800600" y="4127807"/>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95" name="Google Shape;1195;p67"/>
          <p:cNvCxnSpPr/>
          <p:nvPr/>
        </p:nvCxnSpPr>
        <p:spPr>
          <a:xfrm>
            <a:off x="4800600" y="4315960"/>
            <a:ext cx="3977700" cy="0"/>
          </a:xfrm>
          <a:prstGeom prst="straightConnector1">
            <a:avLst/>
          </a:prstGeom>
          <a:noFill/>
          <a:ln cap="flat" cmpd="sng" w="7150">
            <a:solidFill>
              <a:srgbClr val="888888"/>
            </a:solidFill>
            <a:prstDash val="solid"/>
            <a:round/>
            <a:headEnd len="sm" w="sm" type="none"/>
            <a:tailEnd len="sm" w="sm" type="none"/>
          </a:ln>
        </p:spPr>
      </p:cxnSp>
      <p:sp>
        <p:nvSpPr>
          <p:cNvPr id="1196" name="Google Shape;1196;p67"/>
          <p:cNvSpPr/>
          <p:nvPr/>
        </p:nvSpPr>
        <p:spPr>
          <a:xfrm>
            <a:off x="4892040" y="4150159"/>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Serverless Functions</a:t>
            </a:r>
            <a:endParaRPr b="0" i="0" sz="800" u="none" cap="none" strike="noStrike">
              <a:solidFill>
                <a:schemeClr val="dk1"/>
              </a:solidFill>
              <a:latin typeface="Calibri"/>
              <a:ea typeface="Calibri"/>
              <a:cs typeface="Calibri"/>
              <a:sym typeface="Calibri"/>
            </a:endParaRPr>
          </a:p>
        </p:txBody>
      </p:sp>
      <p:sp>
        <p:nvSpPr>
          <p:cNvPr id="1197" name="Google Shape;1197;p67"/>
          <p:cNvSpPr/>
          <p:nvPr/>
        </p:nvSpPr>
        <p:spPr>
          <a:xfrm>
            <a:off x="6941699" y="4127807"/>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{{DSS_SLS}}</a:t>
            </a:r>
            <a:endParaRPr b="0" i="0" sz="700" u="none" cap="none" strike="noStrike">
              <a:solidFill>
                <a:schemeClr val="dk1"/>
              </a:solidFill>
              <a:latin typeface="Calibri"/>
              <a:ea typeface="Calibri"/>
              <a:cs typeface="Calibri"/>
              <a:sym typeface="Calibri"/>
            </a:endParaRPr>
          </a:p>
        </p:txBody>
      </p:sp>
      <p:sp>
        <p:nvSpPr>
          <p:cNvPr id="1198" name="Google Shape;1198;p67"/>
          <p:cNvSpPr/>
          <p:nvPr/>
        </p:nvSpPr>
        <p:spPr>
          <a:xfrm>
            <a:off x="4800600" y="4315960"/>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99" name="Google Shape;1199;p67"/>
          <p:cNvCxnSpPr/>
          <p:nvPr/>
        </p:nvCxnSpPr>
        <p:spPr>
          <a:xfrm>
            <a:off x="4800600" y="4504114"/>
            <a:ext cx="3977700" cy="0"/>
          </a:xfrm>
          <a:prstGeom prst="straightConnector1">
            <a:avLst/>
          </a:prstGeom>
          <a:noFill/>
          <a:ln cap="flat" cmpd="sng" w="7150">
            <a:solidFill>
              <a:srgbClr val="888888"/>
            </a:solidFill>
            <a:prstDash val="solid"/>
            <a:round/>
            <a:headEnd len="sm" w="sm" type="none"/>
            <a:tailEnd len="sm" w="sm" type="none"/>
          </a:ln>
        </p:spPr>
      </p:cxnSp>
      <p:sp>
        <p:nvSpPr>
          <p:cNvPr id="1200" name="Google Shape;1200;p67"/>
          <p:cNvSpPr/>
          <p:nvPr/>
        </p:nvSpPr>
        <p:spPr>
          <a:xfrm>
            <a:off x="4892040" y="4340751"/>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b="0" i="0" lang="en" sz="800" u="none" cap="none" strike="noStrike">
                <a:solidFill>
                  <a:srgbClr val="1F2937"/>
                </a:solidFill>
                <a:latin typeface="DM Sans"/>
                <a:ea typeface="DM Sans"/>
                <a:cs typeface="DM Sans"/>
                <a:sym typeface="DM Sans"/>
              </a:rPr>
              <a:t>Vertex AI</a:t>
            </a:r>
            <a:endParaRPr b="0" i="0" sz="800" u="none" cap="none" strike="noStrike">
              <a:solidFill>
                <a:schemeClr val="dk1"/>
              </a:solidFill>
              <a:latin typeface="Calibri"/>
              <a:ea typeface="Calibri"/>
              <a:cs typeface="Calibri"/>
              <a:sym typeface="Calibri"/>
            </a:endParaRPr>
          </a:p>
        </p:txBody>
      </p:sp>
      <p:sp>
        <p:nvSpPr>
          <p:cNvPr id="1201" name="Google Shape;1201;p67"/>
          <p:cNvSpPr/>
          <p:nvPr/>
        </p:nvSpPr>
        <p:spPr>
          <a:xfrm>
            <a:off x="6941699" y="4315960"/>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{{DSS_AIV}}</a:t>
            </a:r>
            <a:endParaRPr b="0" i="0" sz="700" u="none" cap="none" strike="noStrike">
              <a:solidFill>
                <a:schemeClr val="dk1"/>
              </a:solidFill>
              <a:latin typeface="Calibri"/>
              <a:ea typeface="Calibri"/>
              <a:cs typeface="Calibri"/>
              <a:sym typeface="Calibri"/>
            </a:endParaRPr>
          </a:p>
        </p:txBody>
      </p:sp>
      <p:sp>
        <p:nvSpPr>
          <p:cNvPr id="1202" name="Google Shape;1202;p67"/>
          <p:cNvSpPr/>
          <p:nvPr/>
        </p:nvSpPr>
        <p:spPr>
          <a:xfrm>
            <a:off x="4816611" y="4518359"/>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03" name="Google Shape;1203;p67"/>
          <p:cNvCxnSpPr/>
          <p:nvPr/>
        </p:nvCxnSpPr>
        <p:spPr>
          <a:xfrm>
            <a:off x="4816611" y="4706513"/>
            <a:ext cx="3977700" cy="0"/>
          </a:xfrm>
          <a:prstGeom prst="straightConnector1">
            <a:avLst/>
          </a:prstGeom>
          <a:noFill/>
          <a:ln cap="flat" cmpd="sng" w="7150">
            <a:solidFill>
              <a:srgbClr val="888888"/>
            </a:solidFill>
            <a:prstDash val="solid"/>
            <a:round/>
            <a:headEnd len="sm" w="sm" type="none"/>
            <a:tailEnd len="sm" w="sm" type="none"/>
          </a:ln>
        </p:spPr>
      </p:cxnSp>
      <p:sp>
        <p:nvSpPr>
          <p:cNvPr id="1204" name="Google Shape;1204;p67"/>
          <p:cNvSpPr/>
          <p:nvPr/>
        </p:nvSpPr>
        <p:spPr>
          <a:xfrm>
            <a:off x="4908051" y="4531343"/>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Azure OpenAI</a:t>
            </a:r>
            <a:endParaRPr b="0" i="0" sz="800" u="none" cap="none" strike="noStrike">
              <a:solidFill>
                <a:schemeClr val="dk1"/>
              </a:solidFill>
              <a:latin typeface="Calibri"/>
              <a:ea typeface="Calibri"/>
              <a:cs typeface="Calibri"/>
              <a:sym typeface="Calibri"/>
            </a:endParaRPr>
          </a:p>
        </p:txBody>
      </p:sp>
      <p:sp>
        <p:nvSpPr>
          <p:cNvPr id="1205" name="Google Shape;1205;p67"/>
          <p:cNvSpPr/>
          <p:nvPr/>
        </p:nvSpPr>
        <p:spPr>
          <a:xfrm>
            <a:off x="6957710" y="4518359"/>
            <a:ext cx="875100" cy="188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A56DB"/>
              </a:buClr>
              <a:buSzPts val="700"/>
              <a:buFont typeface="JetBrains Mono"/>
              <a:buNone/>
            </a:pPr>
            <a:r>
              <a:rPr lang="en" sz="700">
                <a:solidFill>
                  <a:srgbClr val="1A56DB"/>
                </a:solidFill>
                <a:latin typeface="JetBrains Mono"/>
                <a:ea typeface="JetBrains Mono"/>
                <a:cs typeface="JetBrains Mono"/>
                <a:sym typeface="JetBrains Mono"/>
              </a:rPr>
              <a:t>{{DSS_AIAO}}</a:t>
            </a:r>
            <a:endParaRPr sz="700">
              <a:solidFill>
                <a:srgbClr val="1A56DB"/>
              </a:solidFill>
              <a:latin typeface="JetBrains Mono"/>
              <a:ea typeface="JetBrains Mono"/>
              <a:cs typeface="JetBrains Mono"/>
              <a:sym typeface="JetBrains Mono"/>
            </a:endParaRPr>
          </a:p>
        </p:txBody>
      </p:sp>
      <p:sp>
        <p:nvSpPr>
          <p:cNvPr id="1206" name="Google Shape;1206;p67"/>
          <p:cNvSpPr/>
          <p:nvPr/>
        </p:nvSpPr>
        <p:spPr>
          <a:xfrm>
            <a:off x="4816611" y="4706513"/>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7" name="Google Shape;1207;p67"/>
          <p:cNvSpPr/>
          <p:nvPr/>
        </p:nvSpPr>
        <p:spPr>
          <a:xfrm>
            <a:off x="4908051" y="4721935"/>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OpenAI</a:t>
            </a:r>
            <a:endParaRPr b="0" i="0" sz="800" u="none" cap="none" strike="noStrike">
              <a:solidFill>
                <a:schemeClr val="dk1"/>
              </a:solidFill>
              <a:latin typeface="Calibri"/>
              <a:ea typeface="Calibri"/>
              <a:cs typeface="Calibri"/>
              <a:sym typeface="Calibri"/>
            </a:endParaRPr>
          </a:p>
        </p:txBody>
      </p:sp>
      <p:sp>
        <p:nvSpPr>
          <p:cNvPr id="1208" name="Google Shape;1208;p67"/>
          <p:cNvSpPr/>
          <p:nvPr/>
        </p:nvSpPr>
        <p:spPr>
          <a:xfrm>
            <a:off x="6957710" y="4706513"/>
            <a:ext cx="875100" cy="188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A56DB"/>
              </a:buClr>
              <a:buSzPts val="700"/>
              <a:buFont typeface="JetBrains Mono"/>
              <a:buNone/>
            </a:pPr>
            <a:r>
              <a:rPr lang="en" sz="700">
                <a:solidFill>
                  <a:srgbClr val="1A56DB"/>
                </a:solidFill>
                <a:latin typeface="JetBrains Mono"/>
                <a:ea typeface="JetBrains Mono"/>
                <a:cs typeface="JetBrains Mono"/>
                <a:sym typeface="JetBrains Mono"/>
              </a:rPr>
              <a:t>{{DSS_AIOA}}</a:t>
            </a:r>
            <a:endParaRPr sz="700">
              <a:solidFill>
                <a:srgbClr val="1A56DB"/>
              </a:solidFill>
              <a:latin typeface="JetBrains Mono"/>
              <a:ea typeface="JetBrains Mono"/>
              <a:cs typeface="JetBrains Mono"/>
              <a:sym typeface="JetBrains Mono"/>
            </a:endParaRPr>
          </a:p>
        </p:txBody>
      </p:sp>
      <p:sp>
        <p:nvSpPr>
          <p:cNvPr id="1209" name="Google Shape;1209;p67"/>
          <p:cNvSpPr/>
          <p:nvPr/>
        </p:nvSpPr>
        <p:spPr>
          <a:xfrm>
            <a:off x="4816865" y="4912527"/>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0" name="Google Shape;1210;p67"/>
          <p:cNvSpPr/>
          <p:nvPr/>
        </p:nvSpPr>
        <p:spPr>
          <a:xfrm>
            <a:off x="4908305" y="4912527"/>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Shadow Data</a:t>
            </a:r>
            <a:endParaRPr b="0" i="0" sz="800" u="none" cap="none" strike="noStrike">
              <a:solidFill>
                <a:schemeClr val="dk1"/>
              </a:solidFill>
              <a:latin typeface="Calibri"/>
              <a:ea typeface="Calibri"/>
              <a:cs typeface="Calibri"/>
              <a:sym typeface="Calibri"/>
            </a:endParaRPr>
          </a:p>
        </p:txBody>
      </p:sp>
      <p:sp>
        <p:nvSpPr>
          <p:cNvPr id="1211" name="Google Shape;1211;p67"/>
          <p:cNvSpPr/>
          <p:nvPr/>
        </p:nvSpPr>
        <p:spPr>
          <a:xfrm>
            <a:off x="6957964" y="4912527"/>
            <a:ext cx="875100" cy="188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A56DB"/>
              </a:buClr>
              <a:buSzPts val="700"/>
              <a:buFont typeface="JetBrains Mono"/>
              <a:buNone/>
            </a:pPr>
            <a:r>
              <a:rPr lang="en" sz="700">
                <a:solidFill>
                  <a:srgbClr val="1A56DB"/>
                </a:solidFill>
                <a:latin typeface="JetBrains Mono"/>
                <a:ea typeface="JetBrains Mono"/>
                <a:cs typeface="JetBrains Mono"/>
                <a:sym typeface="JetBrains Mono"/>
              </a:rPr>
              <a:t>{{DSS_SHAD}}</a:t>
            </a:r>
            <a:endParaRPr b="0" i="0" sz="700" u="none" cap="none" strike="noStrike">
              <a:solidFill>
                <a:schemeClr val="dk1"/>
              </a:solidFill>
              <a:latin typeface="Calibri"/>
              <a:ea typeface="Calibri"/>
              <a:cs typeface="Calibri"/>
              <a:sym typeface="Calibri"/>
            </a:endParaRPr>
          </a:p>
        </p:txBody>
      </p:sp>
      <p:cxnSp>
        <p:nvCxnSpPr>
          <p:cNvPr id="1212" name="Google Shape;1212;p67"/>
          <p:cNvCxnSpPr/>
          <p:nvPr/>
        </p:nvCxnSpPr>
        <p:spPr>
          <a:xfrm>
            <a:off x="4817440" y="5113722"/>
            <a:ext cx="3977700" cy="0"/>
          </a:xfrm>
          <a:prstGeom prst="straightConnector1">
            <a:avLst/>
          </a:prstGeom>
          <a:noFill/>
          <a:ln cap="flat" cmpd="sng" w="7150">
            <a:solidFill>
              <a:srgbClr val="888888"/>
            </a:solidFill>
            <a:prstDash val="solid"/>
            <a:round/>
            <a:headEnd len="sm" w="sm" type="none"/>
            <a:tailEnd len="sm" w="sm" type="none"/>
          </a:ln>
        </p:spPr>
      </p:cxnSp>
      <p:sp>
        <p:nvSpPr>
          <p:cNvPr id="1213" name="Google Shape;1213;p67"/>
          <p:cNvSpPr txBox="1"/>
          <p:nvPr/>
        </p:nvSpPr>
        <p:spPr>
          <a:xfrm>
            <a:off x="3395224" y="1457671"/>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{{VS_OSPKG_R}}</a:t>
            </a:r>
            <a:endParaRPr sz="800">
              <a:solidFill>
                <a:srgbClr val="595959"/>
              </a:solidFill>
              <a:latin typeface="DM Sans"/>
              <a:ea typeface="DM Sans"/>
              <a:cs typeface="DM Sans"/>
              <a:sym typeface="DM Sans"/>
            </a:endParaRPr>
          </a:p>
        </p:txBody>
      </p:sp>
      <p:sp>
        <p:nvSpPr>
          <p:cNvPr id="1214" name="Google Shape;1214;p67"/>
          <p:cNvSpPr txBox="1"/>
          <p:nvPr/>
        </p:nvSpPr>
        <p:spPr>
          <a:xfrm>
            <a:off x="3395224" y="1705822"/>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{{VS_WINB_R}}</a:t>
            </a:r>
            <a:endParaRPr sz="800">
              <a:solidFill>
                <a:srgbClr val="595959"/>
              </a:solidFill>
              <a:latin typeface="DM Sans"/>
              <a:ea typeface="DM Sans"/>
              <a:cs typeface="DM Sans"/>
              <a:sym typeface="DM Sans"/>
            </a:endParaRPr>
          </a:p>
        </p:txBody>
      </p:sp>
      <p:sp>
        <p:nvSpPr>
          <p:cNvPr id="1215" name="Google Shape;1215;p67"/>
          <p:cNvSpPr txBox="1"/>
          <p:nvPr/>
        </p:nvSpPr>
        <p:spPr>
          <a:xfrm>
            <a:off x="3395224" y="1953974"/>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{{VS_GOSTD_R}}</a:t>
            </a:r>
            <a:endParaRPr sz="800">
              <a:solidFill>
                <a:srgbClr val="595959"/>
              </a:solidFill>
              <a:latin typeface="DM Sans"/>
              <a:ea typeface="DM Sans"/>
              <a:cs typeface="DM Sans"/>
              <a:sym typeface="DM Sans"/>
            </a:endParaRPr>
          </a:p>
        </p:txBody>
      </p:sp>
      <p:sp>
        <p:nvSpPr>
          <p:cNvPr id="1216" name="Google Shape;1216;p67"/>
          <p:cNvSpPr txBox="1"/>
          <p:nvPr/>
        </p:nvSpPr>
        <p:spPr>
          <a:xfrm>
            <a:off x="3395224" y="2202126"/>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{{VS_EXCL_R}}</a:t>
            </a:r>
            <a:endParaRPr sz="800">
              <a:solidFill>
                <a:srgbClr val="595959"/>
              </a:solidFill>
              <a:latin typeface="DM Sans"/>
              <a:ea typeface="DM Sans"/>
              <a:cs typeface="DM Sans"/>
              <a:sym typeface="DM Sans"/>
            </a:endParaRPr>
          </a:p>
        </p:txBody>
      </p:sp>
      <p:sp>
        <p:nvSpPr>
          <p:cNvPr id="1217" name="Google Shape;1217;p67"/>
          <p:cNvSpPr txBox="1"/>
          <p:nvPr/>
        </p:nvSpPr>
        <p:spPr>
          <a:xfrm>
            <a:off x="3395224" y="2450277"/>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{{VS_RHOS_R}}</a:t>
            </a:r>
            <a:endParaRPr sz="800">
              <a:solidFill>
                <a:srgbClr val="595959"/>
              </a:solidFill>
              <a:latin typeface="DM Sans"/>
              <a:ea typeface="DM Sans"/>
              <a:cs typeface="DM Sans"/>
              <a:sym typeface="DM Sans"/>
            </a:endParaRPr>
          </a:p>
        </p:txBody>
      </p:sp>
      <p:sp>
        <p:nvSpPr>
          <p:cNvPr id="1218" name="Google Shape;1218;p67"/>
          <p:cNvSpPr txBox="1"/>
          <p:nvPr/>
        </p:nvSpPr>
        <p:spPr>
          <a:xfrm>
            <a:off x="3395224" y="3445924"/>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{{VS_MAVEN_R}}</a:t>
            </a:r>
            <a:endParaRPr sz="800">
              <a:solidFill>
                <a:srgbClr val="595959"/>
              </a:solidFill>
              <a:latin typeface="DM Sans"/>
              <a:ea typeface="DM Sans"/>
              <a:cs typeface="DM Sans"/>
              <a:sym typeface="DM Sans"/>
            </a:endParaRPr>
          </a:p>
        </p:txBody>
      </p:sp>
      <p:sp>
        <p:nvSpPr>
          <p:cNvPr id="1219" name="Google Shape;1219;p67"/>
          <p:cNvSpPr txBox="1"/>
          <p:nvPr/>
        </p:nvSpPr>
        <p:spPr>
          <a:xfrm>
            <a:off x="3395224" y="3694076"/>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{{VS_JSDEP_R}}</a:t>
            </a:r>
            <a:endParaRPr sz="800">
              <a:solidFill>
                <a:srgbClr val="595959"/>
              </a:solidFill>
              <a:latin typeface="DM Sans"/>
              <a:ea typeface="DM Sans"/>
              <a:cs typeface="DM Sans"/>
              <a:sym typeface="DM Sans"/>
            </a:endParaRPr>
          </a:p>
        </p:txBody>
      </p:sp>
      <p:sp>
        <p:nvSpPr>
          <p:cNvPr id="1220" name="Google Shape;1220;p67"/>
          <p:cNvSpPr txBox="1"/>
          <p:nvPr/>
        </p:nvSpPr>
        <p:spPr>
          <a:xfrm>
            <a:off x="3395224" y="3942227"/>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{{VS_GRADL_R}}</a:t>
            </a:r>
            <a:endParaRPr sz="800">
              <a:solidFill>
                <a:srgbClr val="595959"/>
              </a:solidFill>
              <a:latin typeface="DM Sans"/>
              <a:ea typeface="DM Sans"/>
              <a:cs typeface="DM Sans"/>
              <a:sym typeface="DM Sans"/>
            </a:endParaRPr>
          </a:p>
        </p:txBody>
      </p:sp>
      <p:sp>
        <p:nvSpPr>
          <p:cNvPr id="1221" name="Google Shape;1221;p67"/>
          <p:cNvSpPr txBox="1"/>
          <p:nvPr/>
        </p:nvSpPr>
        <p:spPr>
          <a:xfrm>
            <a:off x="3395224" y="4190379"/>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{{VS_EOL_R}}</a:t>
            </a:r>
            <a:endParaRPr sz="800">
              <a:solidFill>
                <a:srgbClr val="595959"/>
              </a:solidFill>
              <a:latin typeface="DM Sans"/>
              <a:ea typeface="DM Sans"/>
              <a:cs typeface="DM Sans"/>
              <a:sym typeface="DM Sans"/>
            </a:endParaRPr>
          </a:p>
        </p:txBody>
      </p:sp>
      <p:sp>
        <p:nvSpPr>
          <p:cNvPr id="1222" name="Google Shape;1222;p67"/>
          <p:cNvSpPr txBox="1"/>
          <p:nvPr/>
        </p:nvSpPr>
        <p:spPr>
          <a:xfrm>
            <a:off x="7864530" y="1408069"/>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{{DSS_ON_R}}</a:t>
            </a:r>
            <a:endParaRPr sz="800">
              <a:solidFill>
                <a:srgbClr val="595959"/>
              </a:solidFill>
              <a:latin typeface="DM Sans"/>
              <a:ea typeface="DM Sans"/>
              <a:cs typeface="DM Sans"/>
              <a:sym typeface="DM Sans"/>
            </a:endParaRPr>
          </a:p>
        </p:txBody>
      </p:sp>
      <p:sp>
        <p:nvSpPr>
          <p:cNvPr id="1223" name="Google Shape;1223;p67"/>
          <p:cNvSpPr txBox="1"/>
          <p:nvPr/>
        </p:nvSpPr>
        <p:spPr>
          <a:xfrm>
            <a:off x="7864530" y="1889100"/>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{{DSS_AZ1_R}}</a:t>
            </a:r>
            <a:endParaRPr sz="800">
              <a:solidFill>
                <a:srgbClr val="595959"/>
              </a:solidFill>
              <a:latin typeface="DM Sans"/>
              <a:ea typeface="DM Sans"/>
              <a:cs typeface="DM Sans"/>
              <a:sym typeface="DM Sans"/>
            </a:endParaRPr>
          </a:p>
        </p:txBody>
      </p:sp>
      <p:sp>
        <p:nvSpPr>
          <p:cNvPr id="1224" name="Google Shape;1224;p67"/>
          <p:cNvSpPr txBox="1"/>
          <p:nvPr/>
        </p:nvSpPr>
        <p:spPr>
          <a:xfrm>
            <a:off x="7864530" y="2077567"/>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{{DSS_AZ2_R}}</a:t>
            </a:r>
            <a:endParaRPr sz="800">
              <a:solidFill>
                <a:srgbClr val="595959"/>
              </a:solidFill>
              <a:latin typeface="DM Sans"/>
              <a:ea typeface="DM Sans"/>
              <a:cs typeface="DM Sans"/>
              <a:sym typeface="DM Sans"/>
            </a:endParaRPr>
          </a:p>
        </p:txBody>
      </p:sp>
      <p:sp>
        <p:nvSpPr>
          <p:cNvPr id="1225" name="Google Shape;1225;p67"/>
          <p:cNvSpPr txBox="1"/>
          <p:nvPr/>
        </p:nvSpPr>
        <p:spPr>
          <a:xfrm>
            <a:off x="7864530" y="2836556"/>
            <a:ext cx="946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{{DSS_PAAS_R}}</a:t>
            </a:r>
            <a:endParaRPr sz="800">
              <a:solidFill>
                <a:srgbClr val="595959"/>
              </a:solidFill>
              <a:latin typeface="DM Sans"/>
              <a:ea typeface="DM Sans"/>
              <a:cs typeface="DM Sans"/>
              <a:sym typeface="DM Sans"/>
            </a:endParaRPr>
          </a:p>
        </p:txBody>
      </p:sp>
      <p:sp>
        <p:nvSpPr>
          <p:cNvPr id="1226" name="Google Shape;1226;p67"/>
          <p:cNvSpPr txBox="1"/>
          <p:nvPr/>
        </p:nvSpPr>
        <p:spPr>
          <a:xfrm>
            <a:off x="7854823" y="3025023"/>
            <a:ext cx="946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{{DSS_DW_R}}</a:t>
            </a:r>
            <a:endParaRPr sz="800">
              <a:solidFill>
                <a:srgbClr val="595959"/>
              </a:solidFill>
              <a:latin typeface="DM Sans"/>
              <a:ea typeface="DM Sans"/>
              <a:cs typeface="DM Sans"/>
              <a:sym typeface="DM Sans"/>
            </a:endParaRPr>
          </a:p>
        </p:txBody>
      </p:sp>
      <p:sp>
        <p:nvSpPr>
          <p:cNvPr id="1227" name="Google Shape;1227;p67"/>
          <p:cNvSpPr txBox="1"/>
          <p:nvPr/>
        </p:nvSpPr>
        <p:spPr>
          <a:xfrm>
            <a:off x="7854823" y="3213490"/>
            <a:ext cx="946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{{DSS_BQ_R}}</a:t>
            </a:r>
            <a:endParaRPr sz="800">
              <a:solidFill>
                <a:srgbClr val="595959"/>
              </a:solidFill>
              <a:latin typeface="DM Sans"/>
              <a:ea typeface="DM Sans"/>
              <a:cs typeface="DM Sans"/>
              <a:sym typeface="DM Sans"/>
            </a:endParaRPr>
          </a:p>
        </p:txBody>
      </p:sp>
      <p:sp>
        <p:nvSpPr>
          <p:cNvPr id="1228" name="Google Shape;1228;p67"/>
          <p:cNvSpPr txBox="1"/>
          <p:nvPr/>
        </p:nvSpPr>
        <p:spPr>
          <a:xfrm>
            <a:off x="7864530" y="3401957"/>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{{DSS_DDB_R}}</a:t>
            </a:r>
            <a:endParaRPr sz="800">
              <a:solidFill>
                <a:srgbClr val="595959"/>
              </a:solidFill>
              <a:latin typeface="DM Sans"/>
              <a:ea typeface="DM Sans"/>
              <a:cs typeface="DM Sans"/>
              <a:sym typeface="DM Sans"/>
            </a:endParaRPr>
          </a:p>
        </p:txBody>
      </p:sp>
      <p:sp>
        <p:nvSpPr>
          <p:cNvPr id="1229" name="Google Shape;1229;p67"/>
          <p:cNvSpPr txBox="1"/>
          <p:nvPr/>
        </p:nvSpPr>
        <p:spPr>
          <a:xfrm>
            <a:off x="7864530" y="3590423"/>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{{DSS_SNOW_R}}</a:t>
            </a:r>
            <a:endParaRPr sz="800">
              <a:solidFill>
                <a:srgbClr val="595959"/>
              </a:solidFill>
              <a:latin typeface="DM Sans"/>
              <a:ea typeface="DM Sans"/>
              <a:cs typeface="DM Sans"/>
              <a:sym typeface="DM Sans"/>
            </a:endParaRPr>
          </a:p>
        </p:txBody>
      </p:sp>
      <p:sp>
        <p:nvSpPr>
          <p:cNvPr id="1230" name="Google Shape;1230;p67"/>
          <p:cNvSpPr txBox="1"/>
          <p:nvPr/>
        </p:nvSpPr>
        <p:spPr>
          <a:xfrm>
            <a:off x="7864530" y="3778890"/>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{{DSS_IAAS_R}}</a:t>
            </a:r>
            <a:endParaRPr sz="800">
              <a:solidFill>
                <a:srgbClr val="595959"/>
              </a:solidFill>
              <a:latin typeface="DM Sans"/>
              <a:ea typeface="DM Sans"/>
              <a:cs typeface="DM Sans"/>
              <a:sym typeface="DM Sans"/>
            </a:endParaRPr>
          </a:p>
        </p:txBody>
      </p:sp>
      <p:sp>
        <p:nvSpPr>
          <p:cNvPr id="1231" name="Google Shape;1231;p67"/>
          <p:cNvSpPr txBox="1"/>
          <p:nvPr/>
        </p:nvSpPr>
        <p:spPr>
          <a:xfrm>
            <a:off x="7864530" y="3967357"/>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{{DSS_VMD_R}}</a:t>
            </a:r>
            <a:endParaRPr sz="800">
              <a:solidFill>
                <a:srgbClr val="595959"/>
              </a:solidFill>
              <a:latin typeface="DM Sans"/>
              <a:ea typeface="DM Sans"/>
              <a:cs typeface="DM Sans"/>
              <a:sym typeface="DM Sans"/>
            </a:endParaRPr>
          </a:p>
        </p:txBody>
      </p:sp>
      <p:sp>
        <p:nvSpPr>
          <p:cNvPr id="1232" name="Google Shape;1232;p67"/>
          <p:cNvSpPr txBox="1"/>
          <p:nvPr/>
        </p:nvSpPr>
        <p:spPr>
          <a:xfrm>
            <a:off x="7864530" y="4155824"/>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{{DSS_SLS_R}}</a:t>
            </a:r>
            <a:endParaRPr sz="800">
              <a:solidFill>
                <a:srgbClr val="595959"/>
              </a:solidFill>
              <a:latin typeface="DM Sans"/>
              <a:ea typeface="DM Sans"/>
              <a:cs typeface="DM Sans"/>
              <a:sym typeface="DM Sans"/>
            </a:endParaRPr>
          </a:p>
        </p:txBody>
      </p:sp>
      <p:sp>
        <p:nvSpPr>
          <p:cNvPr id="1233" name="Google Shape;1233;p67"/>
          <p:cNvSpPr txBox="1"/>
          <p:nvPr/>
        </p:nvSpPr>
        <p:spPr>
          <a:xfrm>
            <a:off x="7864530" y="4344291"/>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{{DSS_AIV_R}}</a:t>
            </a:r>
            <a:endParaRPr sz="800">
              <a:solidFill>
                <a:srgbClr val="595959"/>
              </a:solidFill>
              <a:latin typeface="DM Sans"/>
              <a:ea typeface="DM Sans"/>
              <a:cs typeface="DM Sans"/>
              <a:sym typeface="DM Sans"/>
            </a:endParaRPr>
          </a:p>
        </p:txBody>
      </p:sp>
      <p:sp>
        <p:nvSpPr>
          <p:cNvPr id="1234" name="Google Shape;1234;p67"/>
          <p:cNvSpPr txBox="1"/>
          <p:nvPr/>
        </p:nvSpPr>
        <p:spPr>
          <a:xfrm>
            <a:off x="7880542" y="4547002"/>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{{DSS_AIAO_R}}</a:t>
            </a:r>
            <a:endParaRPr sz="800">
              <a:solidFill>
                <a:srgbClr val="595959"/>
              </a:solidFill>
              <a:latin typeface="DM Sans"/>
              <a:ea typeface="DM Sans"/>
              <a:cs typeface="DM Sans"/>
              <a:sym typeface="DM Sans"/>
            </a:endParaRPr>
          </a:p>
        </p:txBody>
      </p:sp>
      <p:sp>
        <p:nvSpPr>
          <p:cNvPr id="1235" name="Google Shape;1235;p67"/>
          <p:cNvSpPr txBox="1"/>
          <p:nvPr/>
        </p:nvSpPr>
        <p:spPr>
          <a:xfrm>
            <a:off x="7880542" y="4735469"/>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{{DSS_AIOA_R}}</a:t>
            </a:r>
            <a:endParaRPr sz="800">
              <a:solidFill>
                <a:srgbClr val="595959"/>
              </a:solidFill>
              <a:latin typeface="DM Sans"/>
              <a:ea typeface="DM Sans"/>
              <a:cs typeface="DM Sans"/>
              <a:sym typeface="DM Sans"/>
            </a:endParaRPr>
          </a:p>
        </p:txBody>
      </p:sp>
      <p:sp>
        <p:nvSpPr>
          <p:cNvPr id="1236" name="Google Shape;1236;p67"/>
          <p:cNvSpPr txBox="1"/>
          <p:nvPr/>
        </p:nvSpPr>
        <p:spPr>
          <a:xfrm>
            <a:off x="7880549" y="4899258"/>
            <a:ext cx="943800" cy="1881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{{DSS_SHAD_R}}</a:t>
            </a:r>
            <a:endParaRPr sz="800">
              <a:solidFill>
                <a:srgbClr val="595959"/>
              </a:solidFill>
              <a:latin typeface="DM Sans"/>
              <a:ea typeface="DM Sans"/>
              <a:cs typeface="DM Sans"/>
              <a:sym typeface="DM Sans"/>
            </a:endParaRPr>
          </a:p>
        </p:txBody>
      </p:sp>
      <p:cxnSp>
        <p:nvCxnSpPr>
          <p:cNvPr id="1237" name="Google Shape;1237;p67"/>
          <p:cNvCxnSpPr/>
          <p:nvPr/>
        </p:nvCxnSpPr>
        <p:spPr>
          <a:xfrm>
            <a:off x="383107" y="4139500"/>
            <a:ext cx="3977700" cy="0"/>
          </a:xfrm>
          <a:prstGeom prst="straightConnector1">
            <a:avLst/>
          </a:prstGeom>
          <a:noFill/>
          <a:ln cap="flat" cmpd="sng" w="7150">
            <a:solidFill>
              <a:srgbClr val="888888"/>
            </a:solidFill>
            <a:prstDash val="solid"/>
            <a:round/>
            <a:headEnd len="sm" w="sm" type="none"/>
            <a:tailEnd len="sm" w="sm" type="none"/>
          </a:ln>
        </p:spPr>
      </p:cxnSp>
      <p:cxnSp>
        <p:nvCxnSpPr>
          <p:cNvPr id="1238" name="Google Shape;1238;p67"/>
          <p:cNvCxnSpPr/>
          <p:nvPr/>
        </p:nvCxnSpPr>
        <p:spPr>
          <a:xfrm>
            <a:off x="380066" y="3648302"/>
            <a:ext cx="3977700" cy="0"/>
          </a:xfrm>
          <a:prstGeom prst="straightConnector1">
            <a:avLst/>
          </a:prstGeom>
          <a:noFill/>
          <a:ln cap="flat" cmpd="sng" w="7150">
            <a:solidFill>
              <a:srgbClr val="888888"/>
            </a:solidFill>
            <a:prstDash val="solid"/>
            <a:round/>
            <a:headEnd len="sm" w="sm" type="none"/>
            <a:tailEnd len="sm" w="sm" type="none"/>
          </a:ln>
        </p:spPr>
      </p:cxnSp>
      <p:cxnSp>
        <p:nvCxnSpPr>
          <p:cNvPr id="1239" name="Google Shape;1239;p67"/>
          <p:cNvCxnSpPr/>
          <p:nvPr/>
        </p:nvCxnSpPr>
        <p:spPr>
          <a:xfrm>
            <a:off x="360551" y="3158776"/>
            <a:ext cx="3977700" cy="0"/>
          </a:xfrm>
          <a:prstGeom prst="straightConnector1">
            <a:avLst/>
          </a:prstGeom>
          <a:noFill/>
          <a:ln cap="flat" cmpd="sng" w="7150">
            <a:solidFill>
              <a:srgbClr val="888888"/>
            </a:solidFill>
            <a:prstDash val="solid"/>
            <a:round/>
            <a:headEnd len="sm" w="sm" type="none"/>
            <a:tailEnd len="sm" w="sm" type="none"/>
          </a:ln>
        </p:spPr>
      </p:cxnSp>
      <p:cxnSp>
        <p:nvCxnSpPr>
          <p:cNvPr id="1240" name="Google Shape;1240;p67"/>
          <p:cNvCxnSpPr/>
          <p:nvPr/>
        </p:nvCxnSpPr>
        <p:spPr>
          <a:xfrm>
            <a:off x="349400" y="2660090"/>
            <a:ext cx="3977700" cy="0"/>
          </a:xfrm>
          <a:prstGeom prst="straightConnector1">
            <a:avLst/>
          </a:prstGeom>
          <a:noFill/>
          <a:ln cap="flat" cmpd="sng" w="7150">
            <a:solidFill>
              <a:srgbClr val="888888"/>
            </a:solidFill>
            <a:prstDash val="solid"/>
            <a:round/>
            <a:headEnd len="sm" w="sm" type="none"/>
            <a:tailEnd len="sm" w="sm" type="none"/>
          </a:ln>
        </p:spPr>
      </p:cxnSp>
      <p:cxnSp>
        <p:nvCxnSpPr>
          <p:cNvPr id="1241" name="Google Shape;1241;p67"/>
          <p:cNvCxnSpPr/>
          <p:nvPr/>
        </p:nvCxnSpPr>
        <p:spPr>
          <a:xfrm>
            <a:off x="349653" y="2174706"/>
            <a:ext cx="3977700" cy="0"/>
          </a:xfrm>
          <a:prstGeom prst="straightConnector1">
            <a:avLst/>
          </a:prstGeom>
          <a:noFill/>
          <a:ln cap="flat" cmpd="sng" w="7150">
            <a:solidFill>
              <a:srgbClr val="888888"/>
            </a:solidFill>
            <a:prstDash val="solid"/>
            <a:round/>
            <a:headEnd len="sm" w="sm" type="none"/>
            <a:tailEnd len="sm" w="sm" type="none"/>
          </a:ln>
        </p:spPr>
      </p:cxnSp>
      <p:cxnSp>
        <p:nvCxnSpPr>
          <p:cNvPr id="1242" name="Google Shape;1242;p67"/>
          <p:cNvCxnSpPr/>
          <p:nvPr/>
        </p:nvCxnSpPr>
        <p:spPr>
          <a:xfrm>
            <a:off x="352695" y="1683508"/>
            <a:ext cx="3977700" cy="0"/>
          </a:xfrm>
          <a:prstGeom prst="straightConnector1">
            <a:avLst/>
          </a:prstGeom>
          <a:noFill/>
          <a:ln cap="flat" cmpd="sng" w="7150">
            <a:solidFill>
              <a:srgbClr val="888888"/>
            </a:solidFill>
            <a:prstDash val="solid"/>
            <a:round/>
            <a:headEnd len="sm" w="sm" type="none"/>
            <a:tailEnd len="sm" w="sm" type="none"/>
          </a:ln>
        </p:spPr>
      </p:cxnSp>
      <p:cxnSp>
        <p:nvCxnSpPr>
          <p:cNvPr id="1243" name="Google Shape;1243;p67"/>
          <p:cNvCxnSpPr/>
          <p:nvPr/>
        </p:nvCxnSpPr>
        <p:spPr>
          <a:xfrm>
            <a:off x="4817960" y="1391566"/>
            <a:ext cx="3977700" cy="0"/>
          </a:xfrm>
          <a:prstGeom prst="straightConnector1">
            <a:avLst/>
          </a:prstGeom>
          <a:noFill/>
          <a:ln cap="flat" cmpd="sng" w="14300">
            <a:solidFill>
              <a:srgbClr val="888888"/>
            </a:solidFill>
            <a:prstDash val="solid"/>
            <a:round/>
            <a:headEnd len="sm" w="sm" type="none"/>
            <a:tailEnd len="sm" w="sm" type="none"/>
          </a:ln>
        </p:spPr>
      </p:cxnSp>
      <p:cxnSp>
        <p:nvCxnSpPr>
          <p:cNvPr id="1244" name="Google Shape;1244;p67"/>
          <p:cNvCxnSpPr/>
          <p:nvPr/>
        </p:nvCxnSpPr>
        <p:spPr>
          <a:xfrm>
            <a:off x="370950" y="1408929"/>
            <a:ext cx="3977700" cy="0"/>
          </a:xfrm>
          <a:prstGeom prst="straightConnector1">
            <a:avLst/>
          </a:prstGeom>
          <a:noFill/>
          <a:ln cap="flat" cmpd="sng" w="14300">
            <a:solidFill>
              <a:srgbClr val="888888"/>
            </a:solidFill>
            <a:prstDash val="solid"/>
            <a:round/>
            <a:headEnd len="sm" w="sm" type="none"/>
            <a:tailEnd len="sm" w="sm" type="none"/>
          </a:ln>
        </p:spPr>
      </p:cxnSp>
      <p:sp>
        <p:nvSpPr>
          <p:cNvPr id="1245" name="Google Shape;1245;p67"/>
          <p:cNvSpPr/>
          <p:nvPr/>
        </p:nvSpPr>
        <p:spPr>
          <a:xfrm>
            <a:off x="4805920" y="2250417"/>
            <a:ext cx="3977700" cy="1881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46" name="Google Shape;1246;p67"/>
          <p:cNvCxnSpPr/>
          <p:nvPr/>
        </p:nvCxnSpPr>
        <p:spPr>
          <a:xfrm>
            <a:off x="4805920" y="2438571"/>
            <a:ext cx="3977700" cy="0"/>
          </a:xfrm>
          <a:prstGeom prst="straightConnector1">
            <a:avLst/>
          </a:prstGeom>
          <a:noFill/>
          <a:ln cap="flat" cmpd="sng" w="7150">
            <a:solidFill>
              <a:srgbClr val="888888"/>
            </a:solidFill>
            <a:prstDash val="solid"/>
            <a:round/>
            <a:headEnd len="sm" w="sm" type="none"/>
            <a:tailEnd len="sm" w="sm" type="none"/>
          </a:ln>
        </p:spPr>
      </p:cxnSp>
      <p:sp>
        <p:nvSpPr>
          <p:cNvPr id="1247" name="Google Shape;1247;p67"/>
          <p:cNvSpPr/>
          <p:nvPr/>
        </p:nvSpPr>
        <p:spPr>
          <a:xfrm>
            <a:off x="4897361" y="2244240"/>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CosmosDB: </a:t>
            </a:r>
            <a:r>
              <a:rPr b="0" i="0" lang="en" sz="800" u="none" cap="none" strike="noStrike">
                <a:solidFill>
                  <a:srgbClr val="1F2937"/>
                </a:solidFill>
                <a:latin typeface="DM Sans"/>
                <a:ea typeface="DM Sans"/>
                <a:cs typeface="DM Sans"/>
                <a:sym typeface="DM Sans"/>
              </a:rPr>
              <a:t>Azure PE (Disabled Public)</a:t>
            </a:r>
            <a:endParaRPr b="0" i="0" sz="800" u="none" cap="none" strike="noStrike">
              <a:solidFill>
                <a:schemeClr val="dk1"/>
              </a:solidFill>
              <a:latin typeface="Calibri"/>
              <a:ea typeface="Calibri"/>
              <a:cs typeface="Calibri"/>
              <a:sym typeface="Calibri"/>
            </a:endParaRPr>
          </a:p>
        </p:txBody>
      </p:sp>
      <p:sp>
        <p:nvSpPr>
          <p:cNvPr id="1248" name="Google Shape;1248;p67"/>
          <p:cNvSpPr/>
          <p:nvPr/>
        </p:nvSpPr>
        <p:spPr>
          <a:xfrm>
            <a:off x="6947019" y="2250417"/>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{{DSS_CDBAZ1}}</a:t>
            </a:r>
            <a:endParaRPr b="0" i="0" sz="700" u="none" cap="none" strike="noStrike">
              <a:solidFill>
                <a:schemeClr val="dk1"/>
              </a:solidFill>
              <a:latin typeface="Calibri"/>
              <a:ea typeface="Calibri"/>
              <a:cs typeface="Calibri"/>
              <a:sym typeface="Calibri"/>
            </a:endParaRPr>
          </a:p>
        </p:txBody>
      </p:sp>
      <p:sp>
        <p:nvSpPr>
          <p:cNvPr id="1249" name="Google Shape;1249;p67"/>
          <p:cNvSpPr/>
          <p:nvPr/>
        </p:nvSpPr>
        <p:spPr>
          <a:xfrm>
            <a:off x="4805920" y="2438571"/>
            <a:ext cx="3977700" cy="188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50" name="Google Shape;1250;p67"/>
          <p:cNvCxnSpPr/>
          <p:nvPr/>
        </p:nvCxnSpPr>
        <p:spPr>
          <a:xfrm>
            <a:off x="4805920" y="2632427"/>
            <a:ext cx="3977700" cy="0"/>
          </a:xfrm>
          <a:prstGeom prst="straightConnector1">
            <a:avLst/>
          </a:prstGeom>
          <a:noFill/>
          <a:ln cap="flat" cmpd="sng" w="7150">
            <a:solidFill>
              <a:srgbClr val="888888"/>
            </a:solidFill>
            <a:prstDash val="solid"/>
            <a:round/>
            <a:headEnd len="sm" w="sm" type="none"/>
            <a:tailEnd len="sm" w="sm" type="none"/>
          </a:ln>
        </p:spPr>
      </p:cxnSp>
      <p:sp>
        <p:nvSpPr>
          <p:cNvPr id="1251" name="Google Shape;1251;p67"/>
          <p:cNvSpPr/>
          <p:nvPr/>
        </p:nvSpPr>
        <p:spPr>
          <a:xfrm>
            <a:off x="4897361" y="2434832"/>
            <a:ext cx="19704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CosmosDB: </a:t>
            </a:r>
            <a:r>
              <a:rPr b="0" i="0" lang="en" sz="800" u="none" cap="none" strike="noStrike">
                <a:solidFill>
                  <a:srgbClr val="1F2937"/>
                </a:solidFill>
                <a:latin typeface="DM Sans"/>
                <a:ea typeface="DM Sans"/>
                <a:cs typeface="DM Sans"/>
                <a:sym typeface="DM Sans"/>
              </a:rPr>
              <a:t>Azure PE (Selected VNets)</a:t>
            </a:r>
            <a:endParaRPr b="0" i="0" sz="800" u="none" cap="none" strike="noStrike">
              <a:solidFill>
                <a:schemeClr val="dk1"/>
              </a:solidFill>
              <a:latin typeface="Calibri"/>
              <a:ea typeface="Calibri"/>
              <a:cs typeface="Calibri"/>
              <a:sym typeface="Calibri"/>
            </a:endParaRPr>
          </a:p>
        </p:txBody>
      </p:sp>
      <p:sp>
        <p:nvSpPr>
          <p:cNvPr id="1252" name="Google Shape;1252;p67"/>
          <p:cNvSpPr/>
          <p:nvPr/>
        </p:nvSpPr>
        <p:spPr>
          <a:xfrm>
            <a:off x="6947019" y="2438571"/>
            <a:ext cx="875100" cy="18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{{DSS_CDBAZ2}}</a:t>
            </a:r>
            <a:endParaRPr b="0" i="0" sz="700" u="none" cap="none" strike="noStrike">
              <a:solidFill>
                <a:schemeClr val="dk1"/>
              </a:solidFill>
              <a:latin typeface="Calibri"/>
              <a:ea typeface="Calibri"/>
              <a:cs typeface="Calibri"/>
              <a:sym typeface="Calibri"/>
            </a:endParaRPr>
          </a:p>
        </p:txBody>
      </p:sp>
      <p:sp>
        <p:nvSpPr>
          <p:cNvPr id="1253" name="Google Shape;1253;p67"/>
          <p:cNvSpPr txBox="1"/>
          <p:nvPr/>
        </p:nvSpPr>
        <p:spPr>
          <a:xfrm>
            <a:off x="7869851" y="2275302"/>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{{DSS_CDBAZ1_R}}</a:t>
            </a:r>
            <a:endParaRPr sz="800">
              <a:solidFill>
                <a:srgbClr val="595959"/>
              </a:solidFill>
              <a:latin typeface="DM Sans"/>
              <a:ea typeface="DM Sans"/>
              <a:cs typeface="DM Sans"/>
              <a:sym typeface="DM Sans"/>
            </a:endParaRPr>
          </a:p>
        </p:txBody>
      </p:sp>
      <p:sp>
        <p:nvSpPr>
          <p:cNvPr id="1254" name="Google Shape;1254;p67"/>
          <p:cNvSpPr txBox="1"/>
          <p:nvPr/>
        </p:nvSpPr>
        <p:spPr>
          <a:xfrm>
            <a:off x="7869851" y="2463769"/>
            <a:ext cx="943800" cy="1578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{{DSS_CDBAZ2_R}}</a:t>
            </a:r>
            <a:endParaRPr sz="800">
              <a:solidFill>
                <a:srgbClr val="595959"/>
              </a:solidFill>
              <a:latin typeface="DM Sans"/>
              <a:ea typeface="DM Sans"/>
              <a:cs typeface="DM Sans"/>
              <a:sym typeface="DM Sans"/>
            </a:endParaRPr>
          </a:p>
        </p:txBody>
      </p:sp>
      <p:cxnSp>
        <p:nvCxnSpPr>
          <p:cNvPr id="1255" name="Google Shape;1255;p67"/>
          <p:cNvCxnSpPr/>
          <p:nvPr/>
        </p:nvCxnSpPr>
        <p:spPr>
          <a:xfrm>
            <a:off x="4816611" y="4900369"/>
            <a:ext cx="3977700" cy="0"/>
          </a:xfrm>
          <a:prstGeom prst="straightConnector1">
            <a:avLst/>
          </a:prstGeom>
          <a:noFill/>
          <a:ln cap="flat" cmpd="sng" w="7150">
            <a:solidFill>
              <a:srgbClr val="888888"/>
            </a:solidFill>
            <a:prstDash val="solid"/>
            <a:round/>
            <a:headEnd len="sm" w="sm" type="none"/>
            <a:tailEnd len="sm" w="sm" type="none"/>
          </a:ln>
        </p:spPr>
      </p:cxnSp>
      <p:sp>
        <p:nvSpPr>
          <p:cNvPr id="1256" name="Google Shape;1256;p67"/>
          <p:cNvSpPr/>
          <p:nvPr/>
        </p:nvSpPr>
        <p:spPr>
          <a:xfrm>
            <a:off x="7042170" y="146730"/>
            <a:ext cx="2491200" cy="434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9CA3AF"/>
              </a:buClr>
              <a:buSzPts val="500"/>
              <a:buFont typeface="JetBrains Mono"/>
              <a:buNone/>
            </a:pPr>
            <a:r>
              <a:rPr b="1" lang="en" sz="800">
                <a:solidFill>
                  <a:srgbClr val="218C21"/>
                </a:solidFill>
                <a:latin typeface="JetBrains Mono"/>
                <a:ea typeface="JetBrains Mono"/>
                <a:cs typeface="JetBrains Mono"/>
                <a:sym typeface="JetBrains Mono"/>
              </a:rPr>
              <a:t>✓</a:t>
            </a:r>
            <a:r>
              <a:rPr b="1" lang="en" sz="800">
                <a:solidFill>
                  <a:srgbClr val="218C21"/>
                </a:solidFill>
                <a:latin typeface="DM Sans"/>
                <a:ea typeface="DM Sans"/>
                <a:cs typeface="DM Sans"/>
                <a:sym typeface="DM Sans"/>
              </a:rPr>
              <a:t> = Aligned with Wiz Recommendation</a:t>
            </a:r>
            <a:br>
              <a:rPr b="1" lang="en" sz="800">
                <a:solidFill>
                  <a:srgbClr val="218C21"/>
                </a:solidFill>
                <a:latin typeface="DM Sans"/>
                <a:ea typeface="DM Sans"/>
                <a:cs typeface="DM Sans"/>
                <a:sym typeface="DM Sans"/>
              </a:rPr>
            </a:br>
            <a:r>
              <a:rPr b="1" lang="en" sz="800">
                <a:solidFill>
                  <a:srgbClr val="CC1212"/>
                </a:solidFill>
                <a:latin typeface="DM Sans"/>
                <a:ea typeface="DM Sans"/>
                <a:cs typeface="DM Sans"/>
                <a:sym typeface="DM Sans"/>
              </a:rPr>
              <a:t>✗ = May want to revisit configuration </a:t>
            </a:r>
            <a:endParaRPr b="1" sz="800">
              <a:solidFill>
                <a:srgbClr val="CC1212"/>
              </a:solidFill>
              <a:latin typeface="DM Sans"/>
              <a:ea typeface="DM Sans"/>
              <a:cs typeface="DM Sans"/>
              <a:sym typeface="DM Sans"/>
            </a:endParaRPr>
          </a:p>
          <a:p>
            <a:pPr indent="0" lvl="0" marL="0" rtl="0" algn="l">
              <a:spcBef>
                <a:spcPts val="0"/>
              </a:spcBef>
              <a:spcAft>
                <a:spcPts val="0"/>
              </a:spcAft>
              <a:buClr>
                <a:srgbClr val="9CA3AF"/>
              </a:buClr>
              <a:buSzPts val="500"/>
              <a:buFont typeface="JetBrains Mono"/>
              <a:buNone/>
            </a:pPr>
            <a:r>
              <a:rPr b="1" lang="en" sz="800">
                <a:solidFill>
                  <a:srgbClr val="595959"/>
                </a:solidFill>
                <a:latin typeface="DM Sans"/>
                <a:ea typeface="DM Sans"/>
                <a:cs typeface="DM Sans"/>
                <a:sym typeface="DM Sans"/>
              </a:rPr>
              <a:t>N/A = Informational, customer preference</a:t>
            </a:r>
            <a:endParaRPr sz="1000">
              <a:solidFill>
                <a:srgbClr val="595959"/>
              </a:solidFill>
              <a:latin typeface="DM Sans"/>
              <a:ea typeface="DM Sans"/>
              <a:cs typeface="DM Sans"/>
              <a:sym typeface="DM Sans"/>
            </a:endParaRPr>
          </a:p>
        </p:txBody>
      </p:sp>
      <p:sp>
        <p:nvSpPr>
          <p:cNvPr id="1257" name="Google Shape;1257;p67"/>
          <p:cNvSpPr/>
          <p:nvPr/>
        </p:nvSpPr>
        <p:spPr>
          <a:xfrm>
            <a:off x="366844" y="4379330"/>
            <a:ext cx="3977700" cy="246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58" name="Google Shape;1258;p67"/>
          <p:cNvCxnSpPr/>
          <p:nvPr/>
        </p:nvCxnSpPr>
        <p:spPr>
          <a:xfrm>
            <a:off x="372419" y="4625423"/>
            <a:ext cx="3977700" cy="0"/>
          </a:xfrm>
          <a:prstGeom prst="straightConnector1">
            <a:avLst/>
          </a:prstGeom>
          <a:noFill/>
          <a:ln cap="flat" cmpd="sng" w="7150">
            <a:solidFill>
              <a:srgbClr val="888888"/>
            </a:solidFill>
            <a:prstDash val="solid"/>
            <a:round/>
            <a:headEnd len="sm" w="sm" type="none"/>
            <a:tailEnd len="sm" w="sm" type="none"/>
          </a:ln>
        </p:spPr>
      </p:cxnSp>
      <p:sp>
        <p:nvSpPr>
          <p:cNvPr id="1259" name="Google Shape;1259;p67"/>
          <p:cNvSpPr/>
          <p:nvPr/>
        </p:nvSpPr>
        <p:spPr>
          <a:xfrm>
            <a:off x="373120" y="4379331"/>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Linux Vulnerabilities</a:t>
            </a:r>
            <a:endParaRPr b="0" i="0" sz="800" u="none" cap="none" strike="noStrike">
              <a:solidFill>
                <a:schemeClr val="dk1"/>
              </a:solidFill>
              <a:latin typeface="Calibri"/>
              <a:ea typeface="Calibri"/>
              <a:cs typeface="Calibri"/>
              <a:sym typeface="Calibri"/>
            </a:endParaRPr>
          </a:p>
        </p:txBody>
      </p:sp>
      <p:sp>
        <p:nvSpPr>
          <p:cNvPr id="1260" name="Google Shape;1260;p67"/>
          <p:cNvSpPr/>
          <p:nvPr/>
        </p:nvSpPr>
        <p:spPr>
          <a:xfrm>
            <a:off x="2571260" y="4379330"/>
            <a:ext cx="8751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700"/>
              <a:buFont typeface="JetBrains Mono"/>
              <a:buNone/>
            </a:pPr>
            <a:r>
              <a:rPr b="0" i="0" lang="en" sz="700" u="none" cap="none" strike="noStrike">
                <a:solidFill>
                  <a:srgbClr val="1A56DB"/>
                </a:solidFill>
                <a:latin typeface="JetBrains Mono"/>
                <a:ea typeface="JetBrains Mono"/>
                <a:cs typeface="JetBrains Mono"/>
                <a:sym typeface="JetBrains Mono"/>
              </a:rPr>
              <a:t>{{VS_</a:t>
            </a:r>
            <a:r>
              <a:rPr lang="en" sz="700">
                <a:solidFill>
                  <a:srgbClr val="1A56DB"/>
                </a:solidFill>
                <a:latin typeface="JetBrains Mono"/>
                <a:ea typeface="JetBrains Mono"/>
                <a:cs typeface="JetBrains Mono"/>
                <a:sym typeface="JetBrains Mono"/>
              </a:rPr>
              <a:t>LVULN</a:t>
            </a:r>
            <a:r>
              <a:rPr b="0" i="0" lang="en" sz="700" u="none" cap="none" strike="noStrike">
                <a:solidFill>
                  <a:srgbClr val="1A56DB"/>
                </a:solidFill>
                <a:latin typeface="JetBrains Mono"/>
                <a:ea typeface="JetBrains Mono"/>
                <a:cs typeface="JetBrains Mono"/>
                <a:sym typeface="JetBrains Mono"/>
              </a:rPr>
              <a:t>}}</a:t>
            </a:r>
            <a:endParaRPr b="0" i="0" sz="700" u="none" cap="none" strike="noStrike">
              <a:solidFill>
                <a:schemeClr val="dk1"/>
              </a:solidFill>
              <a:latin typeface="Calibri"/>
              <a:ea typeface="Calibri"/>
              <a:cs typeface="Calibri"/>
              <a:sym typeface="Calibri"/>
            </a:endParaRPr>
          </a:p>
        </p:txBody>
      </p:sp>
      <p:sp>
        <p:nvSpPr>
          <p:cNvPr id="1261" name="Google Shape;1261;p67"/>
          <p:cNvSpPr txBox="1"/>
          <p:nvPr/>
        </p:nvSpPr>
        <p:spPr>
          <a:xfrm>
            <a:off x="3396898" y="4430702"/>
            <a:ext cx="956400" cy="1845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800">
                <a:solidFill>
                  <a:srgbClr val="595959"/>
                </a:solidFill>
                <a:latin typeface="DM Sans"/>
                <a:ea typeface="DM Sans"/>
                <a:cs typeface="DM Sans"/>
                <a:sym typeface="DM Sans"/>
              </a:rPr>
              <a:t>{{VS_LVULN_R}}</a:t>
            </a:r>
            <a:endParaRPr sz="800">
              <a:solidFill>
                <a:srgbClr val="595959"/>
              </a:solidFill>
              <a:latin typeface="DM Sans"/>
              <a:ea typeface="DM Sans"/>
              <a:cs typeface="DM Sans"/>
              <a:sym typeface="DM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6" name="Shape 1266"/>
        <p:cNvGrpSpPr/>
        <p:nvPr/>
      </p:nvGrpSpPr>
      <p:grpSpPr>
        <a:xfrm>
          <a:off x="0" y="0"/>
          <a:ext cx="0" cy="0"/>
          <a:chOff x="0" y="0"/>
          <a:chExt cx="0" cy="0"/>
        </a:xfrm>
      </p:grpSpPr>
      <p:sp>
        <p:nvSpPr>
          <p:cNvPr id="1267" name="Google Shape;1267;p68"/>
          <p:cNvSpPr/>
          <p:nvPr/>
        </p:nvSpPr>
        <p:spPr>
          <a:xfrm>
            <a:off x="0" y="0"/>
            <a:ext cx="9144000" cy="54900"/>
          </a:xfrm>
          <a:prstGeom prst="rect">
            <a:avLst/>
          </a:prstGeom>
          <a:solidFill>
            <a:srgbClr val="1A56D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8" name="Google Shape;1268;p68"/>
          <p:cNvSpPr/>
          <p:nvPr/>
        </p:nvSpPr>
        <p:spPr>
          <a:xfrm>
            <a:off x="457200" y="164588"/>
            <a:ext cx="69444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56DB"/>
              </a:buClr>
              <a:buSzPts val="1600"/>
              <a:buFont typeface="DM Sans"/>
              <a:buNone/>
            </a:pPr>
            <a:r>
              <a:rPr lang="en" sz="2000">
                <a:solidFill>
                  <a:schemeClr val="dk2"/>
                </a:solidFill>
                <a:latin typeface="DM Sans"/>
                <a:ea typeface="DM Sans"/>
                <a:cs typeface="DM Sans"/>
                <a:sym typeface="DM Sans"/>
              </a:rPr>
              <a:t>Potential Technology Overlap</a:t>
            </a:r>
            <a:endParaRPr i="0" sz="2000" u="none" cap="none" strike="noStrike">
              <a:solidFill>
                <a:schemeClr val="dk2"/>
              </a:solidFill>
              <a:latin typeface="DM Sans"/>
              <a:ea typeface="DM Sans"/>
              <a:cs typeface="DM Sans"/>
              <a:sym typeface="DM Sans"/>
            </a:endParaRPr>
          </a:p>
        </p:txBody>
      </p:sp>
      <p:sp>
        <p:nvSpPr>
          <p:cNvPr id="1269" name="Google Shape;1269;p68"/>
          <p:cNvSpPr/>
          <p:nvPr/>
        </p:nvSpPr>
        <p:spPr>
          <a:xfrm>
            <a:off x="457200" y="548650"/>
            <a:ext cx="8344500" cy="2286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1100">
                <a:solidFill>
                  <a:srgbClr val="595959"/>
                </a:solidFill>
                <a:latin typeface="DM Sans"/>
                <a:ea typeface="DM Sans"/>
                <a:cs typeface="DM Sans"/>
                <a:sym typeface="DM Sans"/>
              </a:rPr>
              <a:t>Third-party principals detected in your cloud environments, grouped by functional overlap with Wiz platform capabilities.</a:t>
            </a:r>
            <a:endParaRPr sz="1100">
              <a:solidFill>
                <a:srgbClr val="595959"/>
              </a:solidFill>
              <a:latin typeface="DM Sans"/>
              <a:ea typeface="DM Sans"/>
              <a:cs typeface="DM Sans"/>
              <a:sym typeface="DM Sans"/>
            </a:endParaRPr>
          </a:p>
          <a:p>
            <a:pPr indent="0" lvl="0" marL="0" marR="0" rtl="0" algn="l">
              <a:spcBef>
                <a:spcPts val="0"/>
              </a:spcBef>
              <a:spcAft>
                <a:spcPts val="0"/>
              </a:spcAft>
              <a:buClr>
                <a:srgbClr val="6B7280"/>
              </a:buClr>
              <a:buSzPts val="900"/>
              <a:buFont typeface="DM Sans"/>
              <a:buNone/>
            </a:pPr>
            <a:r>
              <a:t/>
            </a:r>
            <a:endParaRPr sz="1100">
              <a:solidFill>
                <a:srgbClr val="595959"/>
              </a:solidFill>
              <a:latin typeface="DM Sans"/>
              <a:ea typeface="DM Sans"/>
              <a:cs typeface="DM Sans"/>
              <a:sym typeface="DM Sans"/>
            </a:endParaRPr>
          </a:p>
        </p:txBody>
      </p:sp>
      <p:sp>
        <p:nvSpPr>
          <p:cNvPr id="1270" name="Google Shape;1270;p68"/>
          <p:cNvSpPr/>
          <p:nvPr/>
        </p:nvSpPr>
        <p:spPr>
          <a:xfrm>
            <a:off x="365750" y="868675"/>
            <a:ext cx="4019400" cy="431400"/>
          </a:xfrm>
          <a:prstGeom prst="rect">
            <a:avLst/>
          </a:prstGeom>
          <a:solidFill>
            <a:srgbClr val="F4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68"/>
          <p:cNvSpPr/>
          <p:nvPr/>
        </p:nvSpPr>
        <p:spPr>
          <a:xfrm>
            <a:off x="365750" y="868672"/>
            <a:ext cx="36600" cy="431400"/>
          </a:xfrm>
          <a:prstGeom prst="rect">
            <a:avLst/>
          </a:prstGeom>
          <a:solidFill>
            <a:srgbClr val="85200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68"/>
          <p:cNvSpPr/>
          <p:nvPr/>
        </p:nvSpPr>
        <p:spPr>
          <a:xfrm>
            <a:off x="502911" y="948505"/>
            <a:ext cx="3794700" cy="4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000"/>
              <a:buFont typeface="DM Sans"/>
              <a:buNone/>
            </a:pPr>
            <a:r>
              <a:rPr b="1" lang="en" sz="1100" u="sng">
                <a:solidFill>
                  <a:srgbClr val="990000"/>
                </a:solidFill>
                <a:latin typeface="DM Sans"/>
                <a:ea typeface="DM Sans"/>
                <a:cs typeface="DM Sans"/>
                <a:sym typeface="DM Sans"/>
                <a:hlinkClick r:id="rId3">
                  <a:extLst>
                    <a:ext uri="{A12FA001-AC4F-418D-AE19-62706E023703}">
                      <ahyp:hlinkClr val="tx"/>
                    </a:ext>
                  </a:extLst>
                </a:hlinkClick>
              </a:rPr>
              <a:t>CLOUD SECURITY PLATFORM </a:t>
            </a:r>
            <a:r>
              <a:rPr b="1" lang="en">
                <a:solidFill>
                  <a:srgbClr val="990000"/>
                </a:solidFill>
                <a:uFill>
                  <a:noFill/>
                </a:uFill>
                <a:latin typeface="Calibri"/>
                <a:ea typeface="Calibri"/>
                <a:cs typeface="Calibri"/>
                <a:sym typeface="Calibri"/>
                <a:hlinkClick r:id="rId4">
                  <a:extLst>
                    <a:ext uri="{A12FA001-AC4F-418D-AE19-62706E023703}">
                      <ahyp:hlinkClr val="tx"/>
                    </a:ext>
                  </a:extLst>
                </a:hlinkClick>
              </a:rPr>
              <a:t>↗</a:t>
            </a:r>
            <a:br>
              <a:rPr b="1" lang="en" sz="1100">
                <a:solidFill>
                  <a:srgbClr val="D97706"/>
                </a:solidFill>
                <a:latin typeface="DM Sans"/>
                <a:ea typeface="DM Sans"/>
                <a:cs typeface="DM Sans"/>
                <a:sym typeface="DM Sans"/>
              </a:rPr>
            </a:br>
            <a:r>
              <a:rPr lang="en" sz="1100">
                <a:solidFill>
                  <a:srgbClr val="CC4125"/>
                </a:solidFill>
                <a:latin typeface="DM Sans"/>
                <a:ea typeface="DM Sans"/>
                <a:cs typeface="DM Sans"/>
                <a:sym typeface="DM Sans"/>
              </a:rPr>
              <a:t>Potential Overlap with Wiz CNAPP, CSPM, CIEM, DSPM</a:t>
            </a:r>
            <a:br>
              <a:rPr b="1" lang="en" sz="1100">
                <a:solidFill>
                  <a:srgbClr val="D97706"/>
                </a:solidFill>
                <a:latin typeface="DM Sans"/>
                <a:ea typeface="DM Sans"/>
                <a:cs typeface="DM Sans"/>
                <a:sym typeface="DM Sans"/>
              </a:rPr>
            </a:br>
            <a:endParaRPr b="0" i="0" sz="1100" u="none" cap="none" strike="noStrike">
              <a:solidFill>
                <a:schemeClr val="dk1"/>
              </a:solidFill>
              <a:latin typeface="Calibri"/>
              <a:ea typeface="Calibri"/>
              <a:cs typeface="Calibri"/>
              <a:sym typeface="Calibri"/>
            </a:endParaRPr>
          </a:p>
        </p:txBody>
      </p:sp>
      <p:sp>
        <p:nvSpPr>
          <p:cNvPr id="1273" name="Google Shape;1273;p68"/>
          <p:cNvSpPr/>
          <p:nvPr/>
        </p:nvSpPr>
        <p:spPr>
          <a:xfrm>
            <a:off x="371458" y="1391184"/>
            <a:ext cx="3977700" cy="240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68"/>
          <p:cNvSpPr/>
          <p:nvPr/>
        </p:nvSpPr>
        <p:spPr>
          <a:xfrm>
            <a:off x="371454" y="1380149"/>
            <a:ext cx="19887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Technology</a:t>
            </a:r>
            <a:endParaRPr b="0" i="0" sz="1000" u="none" cap="none" strike="noStrike">
              <a:solidFill>
                <a:schemeClr val="dk1"/>
              </a:solidFill>
              <a:latin typeface="Calibri"/>
              <a:ea typeface="Calibri"/>
              <a:cs typeface="Calibri"/>
              <a:sym typeface="Calibri"/>
            </a:endParaRPr>
          </a:p>
        </p:txBody>
      </p:sp>
      <p:sp>
        <p:nvSpPr>
          <p:cNvPr id="1275" name="Google Shape;1275;p68"/>
          <p:cNvSpPr/>
          <p:nvPr/>
        </p:nvSpPr>
        <p:spPr>
          <a:xfrm>
            <a:off x="2308825" y="1392425"/>
            <a:ext cx="7368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 of SAs</a:t>
            </a:r>
            <a:endParaRPr b="0" i="0" sz="1000" u="none" cap="none" strike="noStrike">
              <a:solidFill>
                <a:schemeClr val="dk1"/>
              </a:solidFill>
              <a:latin typeface="Calibri"/>
              <a:ea typeface="Calibri"/>
              <a:cs typeface="Calibri"/>
              <a:sym typeface="Calibri"/>
            </a:endParaRPr>
          </a:p>
        </p:txBody>
      </p:sp>
      <p:sp>
        <p:nvSpPr>
          <p:cNvPr id="1276" name="Google Shape;1276;p68"/>
          <p:cNvSpPr/>
          <p:nvPr/>
        </p:nvSpPr>
        <p:spPr>
          <a:xfrm>
            <a:off x="2926225" y="1385850"/>
            <a:ext cx="15945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First / Last Created</a:t>
            </a:r>
            <a:endParaRPr b="0" i="0" sz="1000" u="none" cap="none" strike="noStrike">
              <a:solidFill>
                <a:schemeClr val="dk1"/>
              </a:solidFill>
              <a:latin typeface="Calibri"/>
              <a:ea typeface="Calibri"/>
              <a:cs typeface="Calibri"/>
              <a:sym typeface="Calibri"/>
            </a:endParaRPr>
          </a:p>
        </p:txBody>
      </p:sp>
      <p:sp>
        <p:nvSpPr>
          <p:cNvPr id="1277" name="Google Shape;1277;p68"/>
          <p:cNvSpPr/>
          <p:nvPr/>
        </p:nvSpPr>
        <p:spPr>
          <a:xfrm>
            <a:off x="371449" y="1631564"/>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78" name="Google Shape;1278;p68"/>
          <p:cNvCxnSpPr/>
          <p:nvPr/>
        </p:nvCxnSpPr>
        <p:spPr>
          <a:xfrm>
            <a:off x="371449" y="1877657"/>
            <a:ext cx="3977700" cy="0"/>
          </a:xfrm>
          <a:prstGeom prst="straightConnector1">
            <a:avLst/>
          </a:prstGeom>
          <a:noFill/>
          <a:ln cap="flat" cmpd="sng" w="7150">
            <a:solidFill>
              <a:srgbClr val="E5E7EB"/>
            </a:solidFill>
            <a:prstDash val="solid"/>
            <a:round/>
            <a:headEnd len="sm" w="sm" type="none"/>
            <a:tailEnd len="sm" w="sm" type="none"/>
          </a:ln>
        </p:spPr>
      </p:cxnSp>
      <p:sp>
        <p:nvSpPr>
          <p:cNvPr id="1279" name="Google Shape;1279;p68"/>
          <p:cNvSpPr/>
          <p:nvPr/>
        </p:nvSpPr>
        <p:spPr>
          <a:xfrm>
            <a:off x="371445" y="1631556"/>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{{PI_T1_1}}</a:t>
            </a:r>
            <a:endParaRPr b="0" i="0" sz="800" u="none" cap="none" strike="noStrike">
              <a:solidFill>
                <a:schemeClr val="dk1"/>
              </a:solidFill>
              <a:latin typeface="Calibri"/>
              <a:ea typeface="Calibri"/>
              <a:cs typeface="Calibri"/>
              <a:sym typeface="Calibri"/>
            </a:endParaRPr>
          </a:p>
        </p:txBody>
      </p:sp>
      <p:sp>
        <p:nvSpPr>
          <p:cNvPr id="1280" name="Google Shape;1280;p68"/>
          <p:cNvSpPr/>
          <p:nvPr/>
        </p:nvSpPr>
        <p:spPr>
          <a:xfrm>
            <a:off x="2311680" y="1631575"/>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{{PI_T1_1_SA}}</a:t>
            </a:r>
            <a:endParaRPr b="0" i="0" sz="700" u="none" cap="none" strike="noStrike">
              <a:solidFill>
                <a:schemeClr val="dk1"/>
              </a:solidFill>
              <a:latin typeface="Calibri"/>
              <a:ea typeface="Calibri"/>
              <a:cs typeface="Calibri"/>
              <a:sym typeface="Calibri"/>
            </a:endParaRPr>
          </a:p>
        </p:txBody>
      </p:sp>
      <p:sp>
        <p:nvSpPr>
          <p:cNvPr id="1281" name="Google Shape;1281;p68"/>
          <p:cNvSpPr/>
          <p:nvPr/>
        </p:nvSpPr>
        <p:spPr>
          <a:xfrm>
            <a:off x="371449" y="1877657"/>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82" name="Google Shape;1282;p68"/>
          <p:cNvCxnSpPr/>
          <p:nvPr/>
        </p:nvCxnSpPr>
        <p:spPr>
          <a:xfrm>
            <a:off x="355736" y="2115845"/>
            <a:ext cx="3977700" cy="0"/>
          </a:xfrm>
          <a:prstGeom prst="straightConnector1">
            <a:avLst/>
          </a:prstGeom>
          <a:noFill/>
          <a:ln cap="flat" cmpd="sng" w="7150">
            <a:solidFill>
              <a:srgbClr val="888888"/>
            </a:solidFill>
            <a:prstDash val="solid"/>
            <a:round/>
            <a:headEnd len="sm" w="sm" type="none"/>
            <a:tailEnd len="sm" w="sm" type="none"/>
          </a:ln>
        </p:spPr>
      </p:cxnSp>
      <p:sp>
        <p:nvSpPr>
          <p:cNvPr id="1283" name="Google Shape;1283;p68"/>
          <p:cNvSpPr/>
          <p:nvPr/>
        </p:nvSpPr>
        <p:spPr>
          <a:xfrm>
            <a:off x="371445" y="1877650"/>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{{PI_T1_2}}</a:t>
            </a:r>
            <a:endParaRPr b="0" i="0" sz="800" u="none" cap="none" strike="noStrike">
              <a:solidFill>
                <a:schemeClr val="dk1"/>
              </a:solidFill>
              <a:latin typeface="Calibri"/>
              <a:ea typeface="Calibri"/>
              <a:cs typeface="Calibri"/>
              <a:sym typeface="Calibri"/>
            </a:endParaRPr>
          </a:p>
        </p:txBody>
      </p:sp>
      <p:sp>
        <p:nvSpPr>
          <p:cNvPr id="1284" name="Google Shape;1284;p68"/>
          <p:cNvSpPr/>
          <p:nvPr/>
        </p:nvSpPr>
        <p:spPr>
          <a:xfrm>
            <a:off x="371449" y="2123750"/>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85" name="Google Shape;1285;p68"/>
          <p:cNvCxnSpPr/>
          <p:nvPr/>
        </p:nvCxnSpPr>
        <p:spPr>
          <a:xfrm>
            <a:off x="371449" y="2369843"/>
            <a:ext cx="3977700" cy="0"/>
          </a:xfrm>
          <a:prstGeom prst="straightConnector1">
            <a:avLst/>
          </a:prstGeom>
          <a:noFill/>
          <a:ln cap="flat" cmpd="sng" w="7150">
            <a:solidFill>
              <a:srgbClr val="E5E7EB"/>
            </a:solidFill>
            <a:prstDash val="solid"/>
            <a:round/>
            <a:headEnd len="sm" w="sm" type="none"/>
            <a:tailEnd len="sm" w="sm" type="none"/>
          </a:ln>
        </p:spPr>
      </p:cxnSp>
      <p:sp>
        <p:nvSpPr>
          <p:cNvPr id="1286" name="Google Shape;1286;p68"/>
          <p:cNvSpPr/>
          <p:nvPr/>
        </p:nvSpPr>
        <p:spPr>
          <a:xfrm>
            <a:off x="371445" y="2123744"/>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{{PI_T1_3}}</a:t>
            </a:r>
            <a:endParaRPr b="0" i="0" sz="800" u="none" cap="none" strike="noStrike">
              <a:solidFill>
                <a:schemeClr val="dk1"/>
              </a:solidFill>
              <a:latin typeface="Calibri"/>
              <a:ea typeface="Calibri"/>
              <a:cs typeface="Calibri"/>
              <a:sym typeface="Calibri"/>
            </a:endParaRPr>
          </a:p>
        </p:txBody>
      </p:sp>
      <p:sp>
        <p:nvSpPr>
          <p:cNvPr id="1287" name="Google Shape;1287;p68"/>
          <p:cNvSpPr/>
          <p:nvPr/>
        </p:nvSpPr>
        <p:spPr>
          <a:xfrm>
            <a:off x="371449" y="2369843"/>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88" name="Google Shape;1288;p68"/>
          <p:cNvCxnSpPr/>
          <p:nvPr/>
        </p:nvCxnSpPr>
        <p:spPr>
          <a:xfrm>
            <a:off x="358777" y="2606026"/>
            <a:ext cx="3977700" cy="0"/>
          </a:xfrm>
          <a:prstGeom prst="straightConnector1">
            <a:avLst/>
          </a:prstGeom>
          <a:noFill/>
          <a:ln cap="flat" cmpd="sng" w="7150">
            <a:solidFill>
              <a:srgbClr val="888888"/>
            </a:solidFill>
            <a:prstDash val="solid"/>
            <a:round/>
            <a:headEnd len="sm" w="sm" type="none"/>
            <a:tailEnd len="sm" w="sm" type="none"/>
          </a:ln>
        </p:spPr>
      </p:cxnSp>
      <p:sp>
        <p:nvSpPr>
          <p:cNvPr id="1289" name="Google Shape;1289;p68"/>
          <p:cNvSpPr/>
          <p:nvPr/>
        </p:nvSpPr>
        <p:spPr>
          <a:xfrm>
            <a:off x="371445" y="2369838"/>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{{PI_T1_4}}</a:t>
            </a:r>
            <a:endParaRPr b="0" i="0" sz="800" u="none" cap="none" strike="noStrike">
              <a:solidFill>
                <a:schemeClr val="dk1"/>
              </a:solidFill>
              <a:latin typeface="Calibri"/>
              <a:ea typeface="Calibri"/>
              <a:cs typeface="Calibri"/>
              <a:sym typeface="Calibri"/>
            </a:endParaRPr>
          </a:p>
        </p:txBody>
      </p:sp>
      <p:sp>
        <p:nvSpPr>
          <p:cNvPr id="1290" name="Google Shape;1290;p68"/>
          <p:cNvSpPr/>
          <p:nvPr/>
        </p:nvSpPr>
        <p:spPr>
          <a:xfrm>
            <a:off x="371449" y="261593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91" name="Google Shape;1291;p68"/>
          <p:cNvCxnSpPr/>
          <p:nvPr/>
        </p:nvCxnSpPr>
        <p:spPr>
          <a:xfrm>
            <a:off x="361818" y="2865486"/>
            <a:ext cx="3977700" cy="0"/>
          </a:xfrm>
          <a:prstGeom prst="straightConnector1">
            <a:avLst/>
          </a:prstGeom>
          <a:noFill/>
          <a:ln cap="flat" cmpd="sng" w="7150">
            <a:solidFill>
              <a:srgbClr val="E5E7EB"/>
            </a:solidFill>
            <a:prstDash val="solid"/>
            <a:round/>
            <a:headEnd len="sm" w="sm" type="none"/>
            <a:tailEnd len="sm" w="sm" type="none"/>
          </a:ln>
        </p:spPr>
      </p:cxnSp>
      <p:sp>
        <p:nvSpPr>
          <p:cNvPr id="1292" name="Google Shape;1292;p68"/>
          <p:cNvSpPr/>
          <p:nvPr/>
        </p:nvSpPr>
        <p:spPr>
          <a:xfrm>
            <a:off x="371445" y="2615932"/>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{{PI_T1_5}}</a:t>
            </a:r>
            <a:endParaRPr b="0" i="0" sz="800" u="none" cap="none" strike="noStrike">
              <a:solidFill>
                <a:schemeClr val="dk1"/>
              </a:solidFill>
              <a:latin typeface="Calibri"/>
              <a:ea typeface="Calibri"/>
              <a:cs typeface="Calibri"/>
              <a:sym typeface="Calibri"/>
            </a:endParaRPr>
          </a:p>
        </p:txBody>
      </p:sp>
      <p:cxnSp>
        <p:nvCxnSpPr>
          <p:cNvPr id="1293" name="Google Shape;1293;p68"/>
          <p:cNvCxnSpPr/>
          <p:nvPr/>
        </p:nvCxnSpPr>
        <p:spPr>
          <a:xfrm>
            <a:off x="349400" y="2859671"/>
            <a:ext cx="3977700" cy="0"/>
          </a:xfrm>
          <a:prstGeom prst="straightConnector1">
            <a:avLst/>
          </a:prstGeom>
          <a:noFill/>
          <a:ln cap="flat" cmpd="sng" w="7150">
            <a:solidFill>
              <a:srgbClr val="888888"/>
            </a:solidFill>
            <a:prstDash val="solid"/>
            <a:round/>
            <a:headEnd len="sm" w="sm" type="none"/>
            <a:tailEnd len="sm" w="sm" type="none"/>
          </a:ln>
        </p:spPr>
      </p:cxnSp>
      <p:cxnSp>
        <p:nvCxnSpPr>
          <p:cNvPr id="1294" name="Google Shape;1294;p68"/>
          <p:cNvCxnSpPr/>
          <p:nvPr/>
        </p:nvCxnSpPr>
        <p:spPr>
          <a:xfrm>
            <a:off x="349653" y="2374288"/>
            <a:ext cx="3977700" cy="0"/>
          </a:xfrm>
          <a:prstGeom prst="straightConnector1">
            <a:avLst/>
          </a:prstGeom>
          <a:noFill/>
          <a:ln cap="flat" cmpd="sng" w="7150">
            <a:solidFill>
              <a:srgbClr val="888888"/>
            </a:solidFill>
            <a:prstDash val="solid"/>
            <a:round/>
            <a:headEnd len="sm" w="sm" type="none"/>
            <a:tailEnd len="sm" w="sm" type="none"/>
          </a:ln>
        </p:spPr>
      </p:cxnSp>
      <p:cxnSp>
        <p:nvCxnSpPr>
          <p:cNvPr id="1295" name="Google Shape;1295;p68"/>
          <p:cNvCxnSpPr/>
          <p:nvPr/>
        </p:nvCxnSpPr>
        <p:spPr>
          <a:xfrm>
            <a:off x="352695" y="1883089"/>
            <a:ext cx="3977700" cy="0"/>
          </a:xfrm>
          <a:prstGeom prst="straightConnector1">
            <a:avLst/>
          </a:prstGeom>
          <a:noFill/>
          <a:ln cap="flat" cmpd="sng" w="7150">
            <a:solidFill>
              <a:srgbClr val="888888"/>
            </a:solidFill>
            <a:prstDash val="solid"/>
            <a:round/>
            <a:headEnd len="sm" w="sm" type="none"/>
            <a:tailEnd len="sm" w="sm" type="none"/>
          </a:ln>
        </p:spPr>
      </p:cxnSp>
      <p:cxnSp>
        <p:nvCxnSpPr>
          <p:cNvPr id="1296" name="Google Shape;1296;p68"/>
          <p:cNvCxnSpPr/>
          <p:nvPr/>
        </p:nvCxnSpPr>
        <p:spPr>
          <a:xfrm>
            <a:off x="370950" y="1608510"/>
            <a:ext cx="3977700" cy="0"/>
          </a:xfrm>
          <a:prstGeom prst="straightConnector1">
            <a:avLst/>
          </a:prstGeom>
          <a:noFill/>
          <a:ln cap="flat" cmpd="sng" w="14300">
            <a:solidFill>
              <a:srgbClr val="888888"/>
            </a:solidFill>
            <a:prstDash val="solid"/>
            <a:round/>
            <a:headEnd len="sm" w="sm" type="none"/>
            <a:tailEnd len="sm" w="sm" type="none"/>
          </a:ln>
        </p:spPr>
      </p:cxnSp>
      <p:sp>
        <p:nvSpPr>
          <p:cNvPr id="1297" name="Google Shape;1297;p68"/>
          <p:cNvSpPr/>
          <p:nvPr/>
        </p:nvSpPr>
        <p:spPr>
          <a:xfrm>
            <a:off x="4711846" y="3088397"/>
            <a:ext cx="4023300" cy="431400"/>
          </a:xfrm>
          <a:prstGeom prst="rect">
            <a:avLst/>
          </a:prstGeom>
          <a:solidFill>
            <a:srgbClr val="D9D9D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AD1DC"/>
              </a:solidFill>
            </a:endParaRPr>
          </a:p>
        </p:txBody>
      </p:sp>
      <p:sp>
        <p:nvSpPr>
          <p:cNvPr id="1298" name="Google Shape;1298;p68"/>
          <p:cNvSpPr/>
          <p:nvPr/>
        </p:nvSpPr>
        <p:spPr>
          <a:xfrm>
            <a:off x="4711846" y="3088397"/>
            <a:ext cx="36600" cy="431400"/>
          </a:xfrm>
          <a:prstGeom prst="rect">
            <a:avLst/>
          </a:prstGeom>
          <a:solidFill>
            <a:srgbClr val="59595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68"/>
          <p:cNvSpPr/>
          <p:nvPr/>
        </p:nvSpPr>
        <p:spPr>
          <a:xfrm>
            <a:off x="4849007" y="3168230"/>
            <a:ext cx="3794700" cy="4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000"/>
              <a:buFont typeface="DM Sans"/>
              <a:buNone/>
            </a:pPr>
            <a:r>
              <a:rPr b="1" lang="en" sz="1100" u="sng">
                <a:solidFill>
                  <a:srgbClr val="595959"/>
                </a:solidFill>
                <a:latin typeface="DM Sans"/>
                <a:ea typeface="DM Sans"/>
                <a:cs typeface="DM Sans"/>
                <a:sym typeface="DM Sans"/>
                <a:hlinkClick r:id="rId5">
                  <a:extLst>
                    <a:ext uri="{A12FA001-AC4F-418D-AE19-62706E023703}">
                      <ahyp:hlinkClr val="tx"/>
                    </a:ext>
                  </a:extLst>
                </a:hlinkClick>
              </a:rPr>
              <a:t>RUNTIME / WORKLOAD PROTECTION </a:t>
            </a:r>
            <a:r>
              <a:rPr b="1" lang="en">
                <a:solidFill>
                  <a:srgbClr val="595959"/>
                </a:solidFill>
                <a:uFill>
                  <a:noFill/>
                </a:uFill>
                <a:latin typeface="Calibri"/>
                <a:ea typeface="Calibri"/>
                <a:cs typeface="Calibri"/>
                <a:sym typeface="Calibri"/>
                <a:hlinkClick r:id="rId6">
                  <a:extLst>
                    <a:ext uri="{A12FA001-AC4F-418D-AE19-62706E023703}">
                      <ahyp:hlinkClr val="tx"/>
                    </a:ext>
                  </a:extLst>
                </a:hlinkClick>
              </a:rPr>
              <a:t>↗</a:t>
            </a:r>
            <a:br>
              <a:rPr b="1" lang="en" sz="1100">
                <a:solidFill>
                  <a:srgbClr val="595959"/>
                </a:solidFill>
                <a:latin typeface="DM Sans"/>
                <a:ea typeface="DM Sans"/>
                <a:cs typeface="DM Sans"/>
                <a:sym typeface="DM Sans"/>
              </a:rPr>
            </a:br>
            <a:r>
              <a:rPr lang="en" sz="1100">
                <a:solidFill>
                  <a:srgbClr val="595959"/>
                </a:solidFill>
                <a:latin typeface="DM Sans"/>
                <a:ea typeface="DM Sans"/>
                <a:cs typeface="DM Sans"/>
                <a:sym typeface="DM Sans"/>
              </a:rPr>
              <a:t>Potential Overlap with Wiz Sensor, Defend, CWPP,, TDR</a:t>
            </a:r>
            <a:br>
              <a:rPr b="1" lang="en" sz="1100">
                <a:solidFill>
                  <a:srgbClr val="D97706"/>
                </a:solidFill>
                <a:latin typeface="DM Sans"/>
                <a:ea typeface="DM Sans"/>
                <a:cs typeface="DM Sans"/>
                <a:sym typeface="DM Sans"/>
              </a:rPr>
            </a:br>
            <a:endParaRPr b="0" i="0" sz="1100" u="none" cap="none" strike="noStrike">
              <a:solidFill>
                <a:schemeClr val="dk1"/>
              </a:solidFill>
              <a:latin typeface="Calibri"/>
              <a:ea typeface="Calibri"/>
              <a:cs typeface="Calibri"/>
              <a:sym typeface="Calibri"/>
            </a:endParaRPr>
          </a:p>
        </p:txBody>
      </p:sp>
      <p:sp>
        <p:nvSpPr>
          <p:cNvPr id="1300" name="Google Shape;1300;p68"/>
          <p:cNvSpPr/>
          <p:nvPr/>
        </p:nvSpPr>
        <p:spPr>
          <a:xfrm>
            <a:off x="4717478" y="884700"/>
            <a:ext cx="4023300" cy="431400"/>
          </a:xfrm>
          <a:prstGeom prst="rect">
            <a:avLst/>
          </a:prstGeom>
          <a:solidFill>
            <a:srgbClr val="CBDA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68"/>
          <p:cNvSpPr/>
          <p:nvPr/>
        </p:nvSpPr>
        <p:spPr>
          <a:xfrm>
            <a:off x="4688967" y="884697"/>
            <a:ext cx="36600" cy="431400"/>
          </a:xfrm>
          <a:prstGeom prst="rect">
            <a:avLst/>
          </a:prstGeom>
          <a:solidFill>
            <a:srgbClr val="0B539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68"/>
          <p:cNvSpPr/>
          <p:nvPr/>
        </p:nvSpPr>
        <p:spPr>
          <a:xfrm>
            <a:off x="4854639" y="964530"/>
            <a:ext cx="3794700" cy="4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D97706"/>
              </a:buClr>
              <a:buSzPts val="1000"/>
              <a:buFont typeface="DM Sans"/>
              <a:buNone/>
            </a:pPr>
            <a:r>
              <a:rPr b="1" lang="en" sz="1100" u="sng">
                <a:solidFill>
                  <a:schemeClr val="hlink"/>
                </a:solidFill>
                <a:latin typeface="DM Sans"/>
                <a:ea typeface="DM Sans"/>
                <a:cs typeface="DM Sans"/>
                <a:sym typeface="DM Sans"/>
                <a:hlinkClick r:id="rId7"/>
              </a:rPr>
              <a:t>CODE SECURITY </a:t>
            </a:r>
            <a:r>
              <a:rPr b="1" lang="en">
                <a:solidFill>
                  <a:schemeClr val="hlink"/>
                </a:solidFill>
                <a:uFill>
                  <a:noFill/>
                </a:uFill>
                <a:latin typeface="Calibri"/>
                <a:ea typeface="Calibri"/>
                <a:cs typeface="Calibri"/>
                <a:sym typeface="Calibri"/>
                <a:hlinkClick r:id="rId8"/>
              </a:rPr>
              <a:t>↗</a:t>
            </a:r>
            <a:br>
              <a:rPr b="1" lang="en" sz="1100">
                <a:solidFill>
                  <a:srgbClr val="0B5394"/>
                </a:solidFill>
                <a:latin typeface="DM Sans"/>
                <a:ea typeface="DM Sans"/>
                <a:cs typeface="DM Sans"/>
                <a:sym typeface="DM Sans"/>
              </a:rPr>
            </a:br>
            <a:r>
              <a:rPr lang="en" sz="1100">
                <a:solidFill>
                  <a:srgbClr val="0B5394"/>
                </a:solidFill>
                <a:latin typeface="DM Sans"/>
                <a:ea typeface="DM Sans"/>
                <a:cs typeface="DM Sans"/>
                <a:sym typeface="DM Sans"/>
              </a:rPr>
              <a:t>Potential Overlap with Wiz Code, SAST, SCA, Wiz CLI</a:t>
            </a:r>
            <a:br>
              <a:rPr b="1" lang="en" sz="1100">
                <a:solidFill>
                  <a:srgbClr val="D97706"/>
                </a:solidFill>
                <a:latin typeface="DM Sans"/>
                <a:ea typeface="DM Sans"/>
                <a:cs typeface="DM Sans"/>
                <a:sym typeface="DM Sans"/>
              </a:rPr>
            </a:br>
            <a:endParaRPr b="0" i="0" sz="1100" u="none" cap="none" strike="noStrike">
              <a:solidFill>
                <a:schemeClr val="dk1"/>
              </a:solidFill>
              <a:latin typeface="Calibri"/>
              <a:ea typeface="Calibri"/>
              <a:cs typeface="Calibri"/>
              <a:sym typeface="Calibri"/>
            </a:endParaRPr>
          </a:p>
        </p:txBody>
      </p:sp>
      <p:sp>
        <p:nvSpPr>
          <p:cNvPr id="1303" name="Google Shape;1303;p68"/>
          <p:cNvSpPr/>
          <p:nvPr/>
        </p:nvSpPr>
        <p:spPr>
          <a:xfrm>
            <a:off x="2308828" y="1875197"/>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{{PI_T1_2_SA}}</a:t>
            </a:r>
            <a:endParaRPr b="0" i="0" sz="700" u="none" cap="none" strike="noStrike">
              <a:solidFill>
                <a:schemeClr val="dk1"/>
              </a:solidFill>
              <a:latin typeface="Calibri"/>
              <a:ea typeface="Calibri"/>
              <a:cs typeface="Calibri"/>
              <a:sym typeface="Calibri"/>
            </a:endParaRPr>
          </a:p>
        </p:txBody>
      </p:sp>
      <p:sp>
        <p:nvSpPr>
          <p:cNvPr id="1304" name="Google Shape;1304;p68"/>
          <p:cNvSpPr/>
          <p:nvPr/>
        </p:nvSpPr>
        <p:spPr>
          <a:xfrm>
            <a:off x="2317385" y="2118819"/>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{{PI_T1_3_SA}}</a:t>
            </a:r>
            <a:endParaRPr b="0" i="0" sz="700" u="none" cap="none" strike="noStrike">
              <a:solidFill>
                <a:schemeClr val="dk1"/>
              </a:solidFill>
              <a:latin typeface="Calibri"/>
              <a:ea typeface="Calibri"/>
              <a:cs typeface="Calibri"/>
              <a:sym typeface="Calibri"/>
            </a:endParaRPr>
          </a:p>
        </p:txBody>
      </p:sp>
      <p:sp>
        <p:nvSpPr>
          <p:cNvPr id="1305" name="Google Shape;1305;p68"/>
          <p:cNvSpPr/>
          <p:nvPr/>
        </p:nvSpPr>
        <p:spPr>
          <a:xfrm>
            <a:off x="2320237" y="2362441"/>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{{PI_T1_4_SA}}</a:t>
            </a:r>
            <a:endParaRPr b="0" i="0" sz="700" u="none" cap="none" strike="noStrike">
              <a:solidFill>
                <a:schemeClr val="dk1"/>
              </a:solidFill>
              <a:latin typeface="Calibri"/>
              <a:ea typeface="Calibri"/>
              <a:cs typeface="Calibri"/>
              <a:sym typeface="Calibri"/>
            </a:endParaRPr>
          </a:p>
        </p:txBody>
      </p:sp>
      <p:sp>
        <p:nvSpPr>
          <p:cNvPr id="1306" name="Google Shape;1306;p68"/>
          <p:cNvSpPr/>
          <p:nvPr/>
        </p:nvSpPr>
        <p:spPr>
          <a:xfrm>
            <a:off x="2314532" y="2606063"/>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{{PI_T1_5_SA}}</a:t>
            </a:r>
            <a:endParaRPr b="0" i="0" sz="700" u="none" cap="none" strike="noStrike">
              <a:solidFill>
                <a:schemeClr val="dk1"/>
              </a:solidFill>
              <a:latin typeface="Calibri"/>
              <a:ea typeface="Calibri"/>
              <a:cs typeface="Calibri"/>
              <a:sym typeface="Calibri"/>
            </a:endParaRPr>
          </a:p>
        </p:txBody>
      </p:sp>
      <p:sp>
        <p:nvSpPr>
          <p:cNvPr id="1307" name="Google Shape;1307;p68"/>
          <p:cNvSpPr/>
          <p:nvPr/>
        </p:nvSpPr>
        <p:spPr>
          <a:xfrm>
            <a:off x="2926250" y="1629200"/>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{{PI_T1_1_FA}} / {{PI_T1_1_LA}}</a:t>
            </a:r>
            <a:endParaRPr b="0" i="0" sz="800" u="none" cap="none" strike="noStrike">
              <a:solidFill>
                <a:schemeClr val="dk1"/>
              </a:solidFill>
              <a:latin typeface="Calibri"/>
              <a:ea typeface="Calibri"/>
              <a:cs typeface="Calibri"/>
              <a:sym typeface="Calibri"/>
            </a:endParaRPr>
          </a:p>
        </p:txBody>
      </p:sp>
      <p:sp>
        <p:nvSpPr>
          <p:cNvPr id="1308" name="Google Shape;1308;p68"/>
          <p:cNvSpPr/>
          <p:nvPr/>
        </p:nvSpPr>
        <p:spPr>
          <a:xfrm>
            <a:off x="2930509" y="1872803"/>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{{PI_T1_2_FA}} / {{PI_T1_2_LA}}</a:t>
            </a:r>
            <a:endParaRPr b="0" i="0" sz="800" u="none" cap="none" strike="noStrike">
              <a:solidFill>
                <a:schemeClr val="dk1"/>
              </a:solidFill>
              <a:latin typeface="Calibri"/>
              <a:ea typeface="Calibri"/>
              <a:cs typeface="Calibri"/>
              <a:sym typeface="Calibri"/>
            </a:endParaRPr>
          </a:p>
        </p:txBody>
      </p:sp>
      <p:sp>
        <p:nvSpPr>
          <p:cNvPr id="1309" name="Google Shape;1309;p68"/>
          <p:cNvSpPr/>
          <p:nvPr/>
        </p:nvSpPr>
        <p:spPr>
          <a:xfrm>
            <a:off x="2934768" y="2116406"/>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{{PI_T1_3_FA}} / {{PI_T1_3_LA}}</a:t>
            </a:r>
            <a:endParaRPr b="0" i="0" sz="800" u="none" cap="none" strike="noStrike">
              <a:solidFill>
                <a:schemeClr val="dk1"/>
              </a:solidFill>
              <a:latin typeface="Calibri"/>
              <a:ea typeface="Calibri"/>
              <a:cs typeface="Calibri"/>
              <a:sym typeface="Calibri"/>
            </a:endParaRPr>
          </a:p>
        </p:txBody>
      </p:sp>
      <p:sp>
        <p:nvSpPr>
          <p:cNvPr id="1310" name="Google Shape;1310;p68"/>
          <p:cNvSpPr/>
          <p:nvPr/>
        </p:nvSpPr>
        <p:spPr>
          <a:xfrm>
            <a:off x="2943286" y="2360009"/>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{{PI_T1_4_FA}} / {{PI_T1_4_LA}}</a:t>
            </a:r>
            <a:endParaRPr b="0" i="0" sz="800" u="none" cap="none" strike="noStrike">
              <a:solidFill>
                <a:schemeClr val="dk1"/>
              </a:solidFill>
              <a:latin typeface="Calibri"/>
              <a:ea typeface="Calibri"/>
              <a:cs typeface="Calibri"/>
              <a:sym typeface="Calibri"/>
            </a:endParaRPr>
          </a:p>
        </p:txBody>
      </p:sp>
      <p:sp>
        <p:nvSpPr>
          <p:cNvPr id="1311" name="Google Shape;1311;p68"/>
          <p:cNvSpPr/>
          <p:nvPr/>
        </p:nvSpPr>
        <p:spPr>
          <a:xfrm>
            <a:off x="2939027" y="2603613"/>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{{PI_T1_5_FA}} / {{PI_T1_5_LA}}</a:t>
            </a:r>
            <a:endParaRPr b="0" i="0" sz="800" u="none" cap="none" strike="noStrike">
              <a:solidFill>
                <a:schemeClr val="dk1"/>
              </a:solidFill>
              <a:latin typeface="Calibri"/>
              <a:ea typeface="Calibri"/>
              <a:cs typeface="Calibri"/>
              <a:sym typeface="Calibri"/>
            </a:endParaRPr>
          </a:p>
        </p:txBody>
      </p:sp>
      <p:sp>
        <p:nvSpPr>
          <p:cNvPr id="1312" name="Google Shape;1312;p68"/>
          <p:cNvSpPr/>
          <p:nvPr/>
        </p:nvSpPr>
        <p:spPr>
          <a:xfrm>
            <a:off x="4723186" y="1386854"/>
            <a:ext cx="3977700" cy="240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68"/>
          <p:cNvSpPr/>
          <p:nvPr/>
        </p:nvSpPr>
        <p:spPr>
          <a:xfrm>
            <a:off x="4706075" y="1375819"/>
            <a:ext cx="19887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Technology</a:t>
            </a:r>
            <a:endParaRPr b="0" i="0" sz="1000" u="none" cap="none" strike="noStrike">
              <a:solidFill>
                <a:schemeClr val="dk1"/>
              </a:solidFill>
              <a:latin typeface="Calibri"/>
              <a:ea typeface="Calibri"/>
              <a:cs typeface="Calibri"/>
              <a:sym typeface="Calibri"/>
            </a:endParaRPr>
          </a:p>
        </p:txBody>
      </p:sp>
      <p:sp>
        <p:nvSpPr>
          <p:cNvPr id="1314" name="Google Shape;1314;p68"/>
          <p:cNvSpPr/>
          <p:nvPr/>
        </p:nvSpPr>
        <p:spPr>
          <a:xfrm>
            <a:off x="6607455" y="1388100"/>
            <a:ext cx="7728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 of SAs</a:t>
            </a:r>
            <a:endParaRPr b="0" i="0" sz="1000" u="none" cap="none" strike="noStrike">
              <a:solidFill>
                <a:schemeClr val="dk1"/>
              </a:solidFill>
              <a:latin typeface="Calibri"/>
              <a:ea typeface="Calibri"/>
              <a:cs typeface="Calibri"/>
              <a:sym typeface="Calibri"/>
            </a:endParaRPr>
          </a:p>
        </p:txBody>
      </p:sp>
      <p:sp>
        <p:nvSpPr>
          <p:cNvPr id="1315" name="Google Shape;1315;p68"/>
          <p:cNvSpPr/>
          <p:nvPr/>
        </p:nvSpPr>
        <p:spPr>
          <a:xfrm>
            <a:off x="7277955" y="1381525"/>
            <a:ext cx="16212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First / Last Created</a:t>
            </a:r>
            <a:endParaRPr b="0" i="0" sz="1000" u="none" cap="none" strike="noStrike">
              <a:solidFill>
                <a:schemeClr val="dk1"/>
              </a:solidFill>
              <a:latin typeface="Calibri"/>
              <a:ea typeface="Calibri"/>
              <a:cs typeface="Calibri"/>
              <a:sym typeface="Calibri"/>
            </a:endParaRPr>
          </a:p>
        </p:txBody>
      </p:sp>
      <p:sp>
        <p:nvSpPr>
          <p:cNvPr id="1316" name="Google Shape;1316;p68"/>
          <p:cNvSpPr/>
          <p:nvPr/>
        </p:nvSpPr>
        <p:spPr>
          <a:xfrm>
            <a:off x="4723178" y="1627234"/>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17" name="Google Shape;1317;p68"/>
          <p:cNvCxnSpPr/>
          <p:nvPr/>
        </p:nvCxnSpPr>
        <p:spPr>
          <a:xfrm>
            <a:off x="4723178" y="1873327"/>
            <a:ext cx="3977700" cy="0"/>
          </a:xfrm>
          <a:prstGeom prst="straightConnector1">
            <a:avLst/>
          </a:prstGeom>
          <a:noFill/>
          <a:ln cap="flat" cmpd="sng" w="7150">
            <a:solidFill>
              <a:srgbClr val="E5E7EB"/>
            </a:solidFill>
            <a:prstDash val="solid"/>
            <a:round/>
            <a:headEnd len="sm" w="sm" type="none"/>
            <a:tailEnd len="sm" w="sm" type="none"/>
          </a:ln>
        </p:spPr>
      </p:cxnSp>
      <p:sp>
        <p:nvSpPr>
          <p:cNvPr id="1318" name="Google Shape;1318;p68"/>
          <p:cNvSpPr/>
          <p:nvPr/>
        </p:nvSpPr>
        <p:spPr>
          <a:xfrm>
            <a:off x="4706067" y="1627226"/>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{{PI_T2_1}}</a:t>
            </a:r>
            <a:endParaRPr b="0" i="0" sz="800" u="none" cap="none" strike="noStrike">
              <a:solidFill>
                <a:schemeClr val="dk1"/>
              </a:solidFill>
              <a:latin typeface="Calibri"/>
              <a:ea typeface="Calibri"/>
              <a:cs typeface="Calibri"/>
              <a:sym typeface="Calibri"/>
            </a:endParaRPr>
          </a:p>
        </p:txBody>
      </p:sp>
      <p:sp>
        <p:nvSpPr>
          <p:cNvPr id="1319" name="Google Shape;1319;p68"/>
          <p:cNvSpPr/>
          <p:nvPr/>
        </p:nvSpPr>
        <p:spPr>
          <a:xfrm>
            <a:off x="6609971" y="1627250"/>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{{PI_T2_1_SA}}</a:t>
            </a:r>
            <a:endParaRPr b="0" i="0" sz="700" u="none" cap="none" strike="noStrike">
              <a:solidFill>
                <a:schemeClr val="dk1"/>
              </a:solidFill>
              <a:latin typeface="Calibri"/>
              <a:ea typeface="Calibri"/>
              <a:cs typeface="Calibri"/>
              <a:sym typeface="Calibri"/>
            </a:endParaRPr>
          </a:p>
        </p:txBody>
      </p:sp>
      <p:sp>
        <p:nvSpPr>
          <p:cNvPr id="1320" name="Google Shape;1320;p68"/>
          <p:cNvSpPr/>
          <p:nvPr/>
        </p:nvSpPr>
        <p:spPr>
          <a:xfrm>
            <a:off x="4723178" y="1873327"/>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21" name="Google Shape;1321;p68"/>
          <p:cNvCxnSpPr/>
          <p:nvPr/>
        </p:nvCxnSpPr>
        <p:spPr>
          <a:xfrm>
            <a:off x="4707464" y="2111515"/>
            <a:ext cx="3977700" cy="0"/>
          </a:xfrm>
          <a:prstGeom prst="straightConnector1">
            <a:avLst/>
          </a:prstGeom>
          <a:noFill/>
          <a:ln cap="flat" cmpd="sng" w="7150">
            <a:solidFill>
              <a:srgbClr val="888888"/>
            </a:solidFill>
            <a:prstDash val="solid"/>
            <a:round/>
            <a:headEnd len="sm" w="sm" type="none"/>
            <a:tailEnd len="sm" w="sm" type="none"/>
          </a:ln>
        </p:spPr>
      </p:cxnSp>
      <p:sp>
        <p:nvSpPr>
          <p:cNvPr id="1322" name="Google Shape;1322;p68"/>
          <p:cNvSpPr/>
          <p:nvPr/>
        </p:nvSpPr>
        <p:spPr>
          <a:xfrm>
            <a:off x="4706067" y="1873320"/>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{{PI_T2_2}}</a:t>
            </a:r>
            <a:endParaRPr b="0" i="0" sz="800" u="none" cap="none" strike="noStrike">
              <a:solidFill>
                <a:schemeClr val="dk1"/>
              </a:solidFill>
              <a:latin typeface="Calibri"/>
              <a:ea typeface="Calibri"/>
              <a:cs typeface="Calibri"/>
              <a:sym typeface="Calibri"/>
            </a:endParaRPr>
          </a:p>
        </p:txBody>
      </p:sp>
      <p:sp>
        <p:nvSpPr>
          <p:cNvPr id="1323" name="Google Shape;1323;p68"/>
          <p:cNvSpPr/>
          <p:nvPr/>
        </p:nvSpPr>
        <p:spPr>
          <a:xfrm>
            <a:off x="4723178" y="2119420"/>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24" name="Google Shape;1324;p68"/>
          <p:cNvCxnSpPr/>
          <p:nvPr/>
        </p:nvCxnSpPr>
        <p:spPr>
          <a:xfrm>
            <a:off x="4723178" y="2365513"/>
            <a:ext cx="3977700" cy="0"/>
          </a:xfrm>
          <a:prstGeom prst="straightConnector1">
            <a:avLst/>
          </a:prstGeom>
          <a:noFill/>
          <a:ln cap="flat" cmpd="sng" w="7150">
            <a:solidFill>
              <a:srgbClr val="E5E7EB"/>
            </a:solidFill>
            <a:prstDash val="solid"/>
            <a:round/>
            <a:headEnd len="sm" w="sm" type="none"/>
            <a:tailEnd len="sm" w="sm" type="none"/>
          </a:ln>
        </p:spPr>
      </p:cxnSp>
      <p:sp>
        <p:nvSpPr>
          <p:cNvPr id="1325" name="Google Shape;1325;p68"/>
          <p:cNvSpPr/>
          <p:nvPr/>
        </p:nvSpPr>
        <p:spPr>
          <a:xfrm>
            <a:off x="4706067" y="2119414"/>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{{PI_T2_3}}</a:t>
            </a:r>
            <a:endParaRPr b="0" i="0" sz="800" u="none" cap="none" strike="noStrike">
              <a:solidFill>
                <a:schemeClr val="dk1"/>
              </a:solidFill>
              <a:latin typeface="Calibri"/>
              <a:ea typeface="Calibri"/>
              <a:cs typeface="Calibri"/>
              <a:sym typeface="Calibri"/>
            </a:endParaRPr>
          </a:p>
        </p:txBody>
      </p:sp>
      <p:sp>
        <p:nvSpPr>
          <p:cNvPr id="1326" name="Google Shape;1326;p68"/>
          <p:cNvSpPr/>
          <p:nvPr/>
        </p:nvSpPr>
        <p:spPr>
          <a:xfrm>
            <a:off x="4723178" y="2365513"/>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27" name="Google Shape;1327;p68"/>
          <p:cNvCxnSpPr/>
          <p:nvPr/>
        </p:nvCxnSpPr>
        <p:spPr>
          <a:xfrm>
            <a:off x="4710506" y="2601696"/>
            <a:ext cx="3977700" cy="0"/>
          </a:xfrm>
          <a:prstGeom prst="straightConnector1">
            <a:avLst/>
          </a:prstGeom>
          <a:noFill/>
          <a:ln cap="flat" cmpd="sng" w="7150">
            <a:solidFill>
              <a:srgbClr val="888888"/>
            </a:solidFill>
            <a:prstDash val="solid"/>
            <a:round/>
            <a:headEnd len="sm" w="sm" type="none"/>
            <a:tailEnd len="sm" w="sm" type="none"/>
          </a:ln>
        </p:spPr>
      </p:cxnSp>
      <p:sp>
        <p:nvSpPr>
          <p:cNvPr id="1328" name="Google Shape;1328;p68"/>
          <p:cNvSpPr/>
          <p:nvPr/>
        </p:nvSpPr>
        <p:spPr>
          <a:xfrm>
            <a:off x="4706067" y="2365508"/>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{{PI_T2_4}}</a:t>
            </a:r>
            <a:endParaRPr b="0" i="0" sz="800" u="none" cap="none" strike="noStrike">
              <a:solidFill>
                <a:schemeClr val="dk1"/>
              </a:solidFill>
              <a:latin typeface="Calibri"/>
              <a:ea typeface="Calibri"/>
              <a:cs typeface="Calibri"/>
              <a:sym typeface="Calibri"/>
            </a:endParaRPr>
          </a:p>
        </p:txBody>
      </p:sp>
      <p:sp>
        <p:nvSpPr>
          <p:cNvPr id="1329" name="Google Shape;1329;p68"/>
          <p:cNvSpPr/>
          <p:nvPr/>
        </p:nvSpPr>
        <p:spPr>
          <a:xfrm>
            <a:off x="4723178" y="261160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0" name="Google Shape;1330;p68"/>
          <p:cNvSpPr/>
          <p:nvPr/>
        </p:nvSpPr>
        <p:spPr>
          <a:xfrm>
            <a:off x="4706067" y="2611602"/>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{{PI_T2_5}}</a:t>
            </a:r>
            <a:endParaRPr b="0" i="0" sz="800" u="none" cap="none" strike="noStrike">
              <a:solidFill>
                <a:schemeClr val="dk1"/>
              </a:solidFill>
              <a:latin typeface="Calibri"/>
              <a:ea typeface="Calibri"/>
              <a:cs typeface="Calibri"/>
              <a:sym typeface="Calibri"/>
            </a:endParaRPr>
          </a:p>
        </p:txBody>
      </p:sp>
      <p:cxnSp>
        <p:nvCxnSpPr>
          <p:cNvPr id="1331" name="Google Shape;1331;p68"/>
          <p:cNvCxnSpPr/>
          <p:nvPr/>
        </p:nvCxnSpPr>
        <p:spPr>
          <a:xfrm>
            <a:off x="4716068" y="2855341"/>
            <a:ext cx="3977700" cy="0"/>
          </a:xfrm>
          <a:prstGeom prst="straightConnector1">
            <a:avLst/>
          </a:prstGeom>
          <a:noFill/>
          <a:ln cap="flat" cmpd="sng" w="7150">
            <a:solidFill>
              <a:srgbClr val="888888"/>
            </a:solidFill>
            <a:prstDash val="solid"/>
            <a:round/>
            <a:headEnd len="sm" w="sm" type="none"/>
            <a:tailEnd len="sm" w="sm" type="none"/>
          </a:ln>
        </p:spPr>
      </p:cxnSp>
      <p:cxnSp>
        <p:nvCxnSpPr>
          <p:cNvPr id="1332" name="Google Shape;1332;p68"/>
          <p:cNvCxnSpPr/>
          <p:nvPr/>
        </p:nvCxnSpPr>
        <p:spPr>
          <a:xfrm>
            <a:off x="4701382" y="2369958"/>
            <a:ext cx="3977700" cy="0"/>
          </a:xfrm>
          <a:prstGeom prst="straightConnector1">
            <a:avLst/>
          </a:prstGeom>
          <a:noFill/>
          <a:ln cap="flat" cmpd="sng" w="7150">
            <a:solidFill>
              <a:srgbClr val="888888"/>
            </a:solidFill>
            <a:prstDash val="solid"/>
            <a:round/>
            <a:headEnd len="sm" w="sm" type="none"/>
            <a:tailEnd len="sm" w="sm" type="none"/>
          </a:ln>
        </p:spPr>
      </p:cxnSp>
      <p:cxnSp>
        <p:nvCxnSpPr>
          <p:cNvPr id="1333" name="Google Shape;1333;p68"/>
          <p:cNvCxnSpPr/>
          <p:nvPr/>
        </p:nvCxnSpPr>
        <p:spPr>
          <a:xfrm>
            <a:off x="4704423" y="1878759"/>
            <a:ext cx="3977700" cy="0"/>
          </a:xfrm>
          <a:prstGeom prst="straightConnector1">
            <a:avLst/>
          </a:prstGeom>
          <a:noFill/>
          <a:ln cap="flat" cmpd="sng" w="7150">
            <a:solidFill>
              <a:srgbClr val="888888"/>
            </a:solidFill>
            <a:prstDash val="solid"/>
            <a:round/>
            <a:headEnd len="sm" w="sm" type="none"/>
            <a:tailEnd len="sm" w="sm" type="none"/>
          </a:ln>
        </p:spPr>
      </p:cxnSp>
      <p:cxnSp>
        <p:nvCxnSpPr>
          <p:cNvPr id="1334" name="Google Shape;1334;p68"/>
          <p:cNvCxnSpPr/>
          <p:nvPr/>
        </p:nvCxnSpPr>
        <p:spPr>
          <a:xfrm>
            <a:off x="4722679" y="1604180"/>
            <a:ext cx="3977700" cy="0"/>
          </a:xfrm>
          <a:prstGeom prst="straightConnector1">
            <a:avLst/>
          </a:prstGeom>
          <a:noFill/>
          <a:ln cap="flat" cmpd="sng" w="14300">
            <a:solidFill>
              <a:srgbClr val="888888"/>
            </a:solidFill>
            <a:prstDash val="solid"/>
            <a:round/>
            <a:headEnd len="sm" w="sm" type="none"/>
            <a:tailEnd len="sm" w="sm" type="none"/>
          </a:ln>
        </p:spPr>
      </p:cxnSp>
      <p:sp>
        <p:nvSpPr>
          <p:cNvPr id="1335" name="Google Shape;1335;p68"/>
          <p:cNvSpPr/>
          <p:nvPr/>
        </p:nvSpPr>
        <p:spPr>
          <a:xfrm>
            <a:off x="6606980" y="1870869"/>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{{PI_T2_2_SA}}</a:t>
            </a:r>
            <a:endParaRPr b="0" i="0" sz="700" u="none" cap="none" strike="noStrike">
              <a:solidFill>
                <a:schemeClr val="dk1"/>
              </a:solidFill>
              <a:latin typeface="Calibri"/>
              <a:ea typeface="Calibri"/>
              <a:cs typeface="Calibri"/>
              <a:sym typeface="Calibri"/>
            </a:endParaRPr>
          </a:p>
        </p:txBody>
      </p:sp>
      <p:sp>
        <p:nvSpPr>
          <p:cNvPr id="1336" name="Google Shape;1336;p68"/>
          <p:cNvSpPr/>
          <p:nvPr/>
        </p:nvSpPr>
        <p:spPr>
          <a:xfrm>
            <a:off x="6615954" y="2114489"/>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{{PI_T2_3_SA}}</a:t>
            </a:r>
            <a:endParaRPr b="0" i="0" sz="700" u="none" cap="none" strike="noStrike">
              <a:solidFill>
                <a:schemeClr val="dk1"/>
              </a:solidFill>
              <a:latin typeface="Calibri"/>
              <a:ea typeface="Calibri"/>
              <a:cs typeface="Calibri"/>
              <a:sym typeface="Calibri"/>
            </a:endParaRPr>
          </a:p>
        </p:txBody>
      </p:sp>
      <p:sp>
        <p:nvSpPr>
          <p:cNvPr id="1337" name="Google Shape;1337;p68"/>
          <p:cNvSpPr/>
          <p:nvPr/>
        </p:nvSpPr>
        <p:spPr>
          <a:xfrm>
            <a:off x="6618945" y="2358108"/>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{{PI_T2_4_SA}}</a:t>
            </a:r>
            <a:endParaRPr b="0" i="0" sz="700" u="none" cap="none" strike="noStrike">
              <a:solidFill>
                <a:schemeClr val="dk1"/>
              </a:solidFill>
              <a:latin typeface="Calibri"/>
              <a:ea typeface="Calibri"/>
              <a:cs typeface="Calibri"/>
              <a:sym typeface="Calibri"/>
            </a:endParaRPr>
          </a:p>
        </p:txBody>
      </p:sp>
      <p:sp>
        <p:nvSpPr>
          <p:cNvPr id="1338" name="Google Shape;1338;p68"/>
          <p:cNvSpPr/>
          <p:nvPr/>
        </p:nvSpPr>
        <p:spPr>
          <a:xfrm>
            <a:off x="6612962" y="2601728"/>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{{PI_T2_5_SA}}</a:t>
            </a:r>
            <a:endParaRPr b="0" i="0" sz="700" u="none" cap="none" strike="noStrike">
              <a:solidFill>
                <a:schemeClr val="dk1"/>
              </a:solidFill>
              <a:latin typeface="Calibri"/>
              <a:ea typeface="Calibri"/>
              <a:cs typeface="Calibri"/>
              <a:sym typeface="Calibri"/>
            </a:endParaRPr>
          </a:p>
        </p:txBody>
      </p:sp>
      <p:sp>
        <p:nvSpPr>
          <p:cNvPr id="1339" name="Google Shape;1339;p68"/>
          <p:cNvSpPr/>
          <p:nvPr/>
        </p:nvSpPr>
        <p:spPr>
          <a:xfrm>
            <a:off x="7277980" y="1624875"/>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{{PI_T2_1_FA}} / {{PI_T2_1_LA}}</a:t>
            </a:r>
            <a:endParaRPr b="0" i="0" sz="800" u="none" cap="none" strike="noStrike">
              <a:solidFill>
                <a:schemeClr val="dk1"/>
              </a:solidFill>
              <a:latin typeface="Calibri"/>
              <a:ea typeface="Calibri"/>
              <a:cs typeface="Calibri"/>
              <a:sym typeface="Calibri"/>
            </a:endParaRPr>
          </a:p>
        </p:txBody>
      </p:sp>
      <p:sp>
        <p:nvSpPr>
          <p:cNvPr id="1340" name="Google Shape;1340;p68"/>
          <p:cNvSpPr/>
          <p:nvPr/>
        </p:nvSpPr>
        <p:spPr>
          <a:xfrm>
            <a:off x="7282310" y="1868476"/>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{{PI_T2_2_FA}} / {{PI_T2_2_LA}}</a:t>
            </a:r>
            <a:endParaRPr b="0" i="0" sz="800" u="none" cap="none" strike="noStrike">
              <a:solidFill>
                <a:schemeClr val="dk1"/>
              </a:solidFill>
              <a:latin typeface="Calibri"/>
              <a:ea typeface="Calibri"/>
              <a:cs typeface="Calibri"/>
              <a:sym typeface="Calibri"/>
            </a:endParaRPr>
          </a:p>
        </p:txBody>
      </p:sp>
      <p:sp>
        <p:nvSpPr>
          <p:cNvPr id="1341" name="Google Shape;1341;p68"/>
          <p:cNvSpPr/>
          <p:nvPr/>
        </p:nvSpPr>
        <p:spPr>
          <a:xfrm>
            <a:off x="7286640" y="2112076"/>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{{PI_T2_3_FA}} / {{PI_T2_3_LA}}</a:t>
            </a:r>
            <a:endParaRPr b="0" i="0" sz="800" u="none" cap="none" strike="noStrike">
              <a:solidFill>
                <a:schemeClr val="dk1"/>
              </a:solidFill>
              <a:latin typeface="Calibri"/>
              <a:ea typeface="Calibri"/>
              <a:cs typeface="Calibri"/>
              <a:sym typeface="Calibri"/>
            </a:endParaRPr>
          </a:p>
        </p:txBody>
      </p:sp>
      <p:sp>
        <p:nvSpPr>
          <p:cNvPr id="1342" name="Google Shape;1342;p68"/>
          <p:cNvSpPr/>
          <p:nvPr/>
        </p:nvSpPr>
        <p:spPr>
          <a:xfrm>
            <a:off x="7295300" y="2355677"/>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{{PI_T2_4_FA}} / {{PI_T2_4_LA}}</a:t>
            </a:r>
            <a:endParaRPr b="0" i="0" sz="800" u="none" cap="none" strike="noStrike">
              <a:solidFill>
                <a:schemeClr val="dk1"/>
              </a:solidFill>
              <a:latin typeface="Calibri"/>
              <a:ea typeface="Calibri"/>
              <a:cs typeface="Calibri"/>
              <a:sym typeface="Calibri"/>
            </a:endParaRPr>
          </a:p>
        </p:txBody>
      </p:sp>
      <p:sp>
        <p:nvSpPr>
          <p:cNvPr id="1343" name="Google Shape;1343;p68"/>
          <p:cNvSpPr/>
          <p:nvPr/>
        </p:nvSpPr>
        <p:spPr>
          <a:xfrm>
            <a:off x="7290970" y="2599278"/>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{{PI_T2_5_FA}} / {{PI_T2_5_LA}}</a:t>
            </a:r>
            <a:endParaRPr b="0" i="0" sz="800" u="none" cap="none" strike="noStrike">
              <a:solidFill>
                <a:schemeClr val="dk1"/>
              </a:solidFill>
              <a:latin typeface="Calibri"/>
              <a:ea typeface="Calibri"/>
              <a:cs typeface="Calibri"/>
              <a:sym typeface="Calibri"/>
            </a:endParaRPr>
          </a:p>
        </p:txBody>
      </p:sp>
      <p:sp>
        <p:nvSpPr>
          <p:cNvPr id="1344" name="Google Shape;1344;p68"/>
          <p:cNvSpPr/>
          <p:nvPr/>
        </p:nvSpPr>
        <p:spPr>
          <a:xfrm>
            <a:off x="4733920" y="3618329"/>
            <a:ext cx="3977700" cy="240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68"/>
          <p:cNvSpPr/>
          <p:nvPr/>
        </p:nvSpPr>
        <p:spPr>
          <a:xfrm>
            <a:off x="4716809" y="3607294"/>
            <a:ext cx="1988700" cy="24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Technology</a:t>
            </a:r>
            <a:endParaRPr b="0" i="0" sz="1000" u="none" cap="none" strike="noStrike">
              <a:solidFill>
                <a:schemeClr val="dk1"/>
              </a:solidFill>
              <a:latin typeface="Calibri"/>
              <a:ea typeface="Calibri"/>
              <a:cs typeface="Calibri"/>
              <a:sym typeface="Calibri"/>
            </a:endParaRPr>
          </a:p>
        </p:txBody>
      </p:sp>
      <p:sp>
        <p:nvSpPr>
          <p:cNvPr id="1346" name="Google Shape;1346;p68"/>
          <p:cNvSpPr/>
          <p:nvPr/>
        </p:nvSpPr>
        <p:spPr>
          <a:xfrm>
            <a:off x="6618189" y="3619575"/>
            <a:ext cx="7728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 of SAs</a:t>
            </a:r>
            <a:endParaRPr b="0" i="0" sz="1000" u="none" cap="none" strike="noStrike">
              <a:solidFill>
                <a:schemeClr val="dk1"/>
              </a:solidFill>
              <a:latin typeface="Calibri"/>
              <a:ea typeface="Calibri"/>
              <a:cs typeface="Calibri"/>
              <a:sym typeface="Calibri"/>
            </a:endParaRPr>
          </a:p>
        </p:txBody>
      </p:sp>
      <p:sp>
        <p:nvSpPr>
          <p:cNvPr id="1347" name="Google Shape;1347;p68"/>
          <p:cNvSpPr/>
          <p:nvPr/>
        </p:nvSpPr>
        <p:spPr>
          <a:xfrm>
            <a:off x="7288689" y="3613000"/>
            <a:ext cx="1621200" cy="240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B7280"/>
              </a:buClr>
              <a:buSzPts val="700"/>
              <a:buFont typeface="DM Sans"/>
              <a:buNone/>
            </a:pPr>
            <a:r>
              <a:rPr b="1" lang="en" sz="1000">
                <a:solidFill>
                  <a:srgbClr val="6B7280"/>
                </a:solidFill>
                <a:latin typeface="DM Sans"/>
                <a:ea typeface="DM Sans"/>
                <a:cs typeface="DM Sans"/>
                <a:sym typeface="DM Sans"/>
              </a:rPr>
              <a:t>First / Last Created</a:t>
            </a:r>
            <a:endParaRPr b="0" i="0" sz="1000" u="none" cap="none" strike="noStrike">
              <a:solidFill>
                <a:schemeClr val="dk1"/>
              </a:solidFill>
              <a:latin typeface="Calibri"/>
              <a:ea typeface="Calibri"/>
              <a:cs typeface="Calibri"/>
              <a:sym typeface="Calibri"/>
            </a:endParaRPr>
          </a:p>
        </p:txBody>
      </p:sp>
      <p:sp>
        <p:nvSpPr>
          <p:cNvPr id="1348" name="Google Shape;1348;p68"/>
          <p:cNvSpPr/>
          <p:nvPr/>
        </p:nvSpPr>
        <p:spPr>
          <a:xfrm>
            <a:off x="4733912" y="3858709"/>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49" name="Google Shape;1349;p68"/>
          <p:cNvCxnSpPr/>
          <p:nvPr/>
        </p:nvCxnSpPr>
        <p:spPr>
          <a:xfrm>
            <a:off x="4733912" y="4104802"/>
            <a:ext cx="3977700" cy="0"/>
          </a:xfrm>
          <a:prstGeom prst="straightConnector1">
            <a:avLst/>
          </a:prstGeom>
          <a:noFill/>
          <a:ln cap="flat" cmpd="sng" w="7150">
            <a:solidFill>
              <a:srgbClr val="E5E7EB"/>
            </a:solidFill>
            <a:prstDash val="solid"/>
            <a:round/>
            <a:headEnd len="sm" w="sm" type="none"/>
            <a:tailEnd len="sm" w="sm" type="none"/>
          </a:ln>
        </p:spPr>
      </p:cxnSp>
      <p:sp>
        <p:nvSpPr>
          <p:cNvPr id="1350" name="Google Shape;1350;p68"/>
          <p:cNvSpPr/>
          <p:nvPr/>
        </p:nvSpPr>
        <p:spPr>
          <a:xfrm>
            <a:off x="4716801" y="3858701"/>
            <a:ext cx="20616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{{PI_T3_1}}</a:t>
            </a:r>
            <a:endParaRPr b="0" i="0" sz="800" u="none" cap="none" strike="noStrike">
              <a:solidFill>
                <a:schemeClr val="dk1"/>
              </a:solidFill>
              <a:latin typeface="Calibri"/>
              <a:ea typeface="Calibri"/>
              <a:cs typeface="Calibri"/>
              <a:sym typeface="Calibri"/>
            </a:endParaRPr>
          </a:p>
        </p:txBody>
      </p:sp>
      <p:sp>
        <p:nvSpPr>
          <p:cNvPr id="1351" name="Google Shape;1351;p68"/>
          <p:cNvSpPr/>
          <p:nvPr/>
        </p:nvSpPr>
        <p:spPr>
          <a:xfrm>
            <a:off x="6620705" y="3858725"/>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{{PI_T3_1_SA}}</a:t>
            </a:r>
            <a:endParaRPr b="0" i="0" sz="700" u="none" cap="none" strike="noStrike">
              <a:solidFill>
                <a:schemeClr val="dk1"/>
              </a:solidFill>
              <a:latin typeface="Calibri"/>
              <a:ea typeface="Calibri"/>
              <a:cs typeface="Calibri"/>
              <a:sym typeface="Calibri"/>
            </a:endParaRPr>
          </a:p>
        </p:txBody>
      </p:sp>
      <p:sp>
        <p:nvSpPr>
          <p:cNvPr id="1352" name="Google Shape;1352;p68"/>
          <p:cNvSpPr/>
          <p:nvPr/>
        </p:nvSpPr>
        <p:spPr>
          <a:xfrm>
            <a:off x="4733912" y="4104802"/>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53" name="Google Shape;1353;p68"/>
          <p:cNvCxnSpPr/>
          <p:nvPr/>
        </p:nvCxnSpPr>
        <p:spPr>
          <a:xfrm>
            <a:off x="4718198" y="4342990"/>
            <a:ext cx="3977700" cy="0"/>
          </a:xfrm>
          <a:prstGeom prst="straightConnector1">
            <a:avLst/>
          </a:prstGeom>
          <a:noFill/>
          <a:ln cap="flat" cmpd="sng" w="7150">
            <a:solidFill>
              <a:srgbClr val="888888"/>
            </a:solidFill>
            <a:prstDash val="solid"/>
            <a:round/>
            <a:headEnd len="sm" w="sm" type="none"/>
            <a:tailEnd len="sm" w="sm" type="none"/>
          </a:ln>
        </p:spPr>
      </p:cxnSp>
      <p:sp>
        <p:nvSpPr>
          <p:cNvPr id="1354" name="Google Shape;1354;p68"/>
          <p:cNvSpPr/>
          <p:nvPr/>
        </p:nvSpPr>
        <p:spPr>
          <a:xfrm>
            <a:off x="4716801" y="4104795"/>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{{PI_T3_2}}</a:t>
            </a:r>
            <a:endParaRPr b="0" i="0" sz="800" u="none" cap="none" strike="noStrike">
              <a:solidFill>
                <a:schemeClr val="dk1"/>
              </a:solidFill>
              <a:latin typeface="Calibri"/>
              <a:ea typeface="Calibri"/>
              <a:cs typeface="Calibri"/>
              <a:sym typeface="Calibri"/>
            </a:endParaRPr>
          </a:p>
        </p:txBody>
      </p:sp>
      <p:sp>
        <p:nvSpPr>
          <p:cNvPr id="1355" name="Google Shape;1355;p68"/>
          <p:cNvSpPr/>
          <p:nvPr/>
        </p:nvSpPr>
        <p:spPr>
          <a:xfrm>
            <a:off x="4733912" y="4350895"/>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56" name="Google Shape;1356;p68"/>
          <p:cNvCxnSpPr/>
          <p:nvPr/>
        </p:nvCxnSpPr>
        <p:spPr>
          <a:xfrm>
            <a:off x="4733912" y="4596988"/>
            <a:ext cx="3977700" cy="0"/>
          </a:xfrm>
          <a:prstGeom prst="straightConnector1">
            <a:avLst/>
          </a:prstGeom>
          <a:noFill/>
          <a:ln cap="flat" cmpd="sng" w="7150">
            <a:solidFill>
              <a:srgbClr val="E5E7EB"/>
            </a:solidFill>
            <a:prstDash val="solid"/>
            <a:round/>
            <a:headEnd len="sm" w="sm" type="none"/>
            <a:tailEnd len="sm" w="sm" type="none"/>
          </a:ln>
        </p:spPr>
      </p:cxnSp>
      <p:sp>
        <p:nvSpPr>
          <p:cNvPr id="1357" name="Google Shape;1357;p68"/>
          <p:cNvSpPr/>
          <p:nvPr/>
        </p:nvSpPr>
        <p:spPr>
          <a:xfrm>
            <a:off x="4716801" y="4350889"/>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{{PI_T3_3}}</a:t>
            </a:r>
            <a:endParaRPr b="0" i="0" sz="800" u="none" cap="none" strike="noStrike">
              <a:solidFill>
                <a:schemeClr val="dk1"/>
              </a:solidFill>
              <a:latin typeface="Calibri"/>
              <a:ea typeface="Calibri"/>
              <a:cs typeface="Calibri"/>
              <a:sym typeface="Calibri"/>
            </a:endParaRPr>
          </a:p>
        </p:txBody>
      </p:sp>
      <p:sp>
        <p:nvSpPr>
          <p:cNvPr id="1358" name="Google Shape;1358;p68"/>
          <p:cNvSpPr/>
          <p:nvPr/>
        </p:nvSpPr>
        <p:spPr>
          <a:xfrm>
            <a:off x="4733912" y="4596988"/>
            <a:ext cx="3977700" cy="246000"/>
          </a:xfrm>
          <a:prstGeom prst="rect">
            <a:avLst/>
          </a:prstGeom>
          <a:solidFill>
            <a:srgbClr val="F9FA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59" name="Google Shape;1359;p68"/>
          <p:cNvCxnSpPr/>
          <p:nvPr/>
        </p:nvCxnSpPr>
        <p:spPr>
          <a:xfrm>
            <a:off x="4721240" y="4833171"/>
            <a:ext cx="3977700" cy="0"/>
          </a:xfrm>
          <a:prstGeom prst="straightConnector1">
            <a:avLst/>
          </a:prstGeom>
          <a:noFill/>
          <a:ln cap="flat" cmpd="sng" w="7150">
            <a:solidFill>
              <a:srgbClr val="888888"/>
            </a:solidFill>
            <a:prstDash val="solid"/>
            <a:round/>
            <a:headEnd len="sm" w="sm" type="none"/>
            <a:tailEnd len="sm" w="sm" type="none"/>
          </a:ln>
        </p:spPr>
      </p:cxnSp>
      <p:sp>
        <p:nvSpPr>
          <p:cNvPr id="1360" name="Google Shape;1360;p68"/>
          <p:cNvSpPr/>
          <p:nvPr/>
        </p:nvSpPr>
        <p:spPr>
          <a:xfrm>
            <a:off x="4716801" y="4596983"/>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{{PI_T3_4}}</a:t>
            </a:r>
            <a:endParaRPr b="0" i="0" sz="800" u="none" cap="none" strike="noStrike">
              <a:solidFill>
                <a:schemeClr val="dk1"/>
              </a:solidFill>
              <a:latin typeface="Calibri"/>
              <a:ea typeface="Calibri"/>
              <a:cs typeface="Calibri"/>
              <a:sym typeface="Calibri"/>
            </a:endParaRPr>
          </a:p>
        </p:txBody>
      </p:sp>
      <p:sp>
        <p:nvSpPr>
          <p:cNvPr id="1361" name="Google Shape;1361;p68"/>
          <p:cNvSpPr/>
          <p:nvPr/>
        </p:nvSpPr>
        <p:spPr>
          <a:xfrm>
            <a:off x="4733912" y="4843081"/>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68"/>
          <p:cNvSpPr/>
          <p:nvPr/>
        </p:nvSpPr>
        <p:spPr>
          <a:xfrm>
            <a:off x="4716801" y="4843077"/>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{{PI_T3_5}}</a:t>
            </a:r>
            <a:endParaRPr b="0" i="0" sz="800" u="none" cap="none" strike="noStrike">
              <a:solidFill>
                <a:schemeClr val="dk1"/>
              </a:solidFill>
              <a:latin typeface="Calibri"/>
              <a:ea typeface="Calibri"/>
              <a:cs typeface="Calibri"/>
              <a:sym typeface="Calibri"/>
            </a:endParaRPr>
          </a:p>
        </p:txBody>
      </p:sp>
      <p:cxnSp>
        <p:nvCxnSpPr>
          <p:cNvPr id="1363" name="Google Shape;1363;p68"/>
          <p:cNvCxnSpPr/>
          <p:nvPr/>
        </p:nvCxnSpPr>
        <p:spPr>
          <a:xfrm>
            <a:off x="4694756" y="5086816"/>
            <a:ext cx="3977700" cy="0"/>
          </a:xfrm>
          <a:prstGeom prst="straightConnector1">
            <a:avLst/>
          </a:prstGeom>
          <a:noFill/>
          <a:ln cap="flat" cmpd="sng" w="7150">
            <a:solidFill>
              <a:srgbClr val="888888"/>
            </a:solidFill>
            <a:prstDash val="solid"/>
            <a:round/>
            <a:headEnd len="sm" w="sm" type="none"/>
            <a:tailEnd len="sm" w="sm" type="none"/>
          </a:ln>
        </p:spPr>
      </p:cxnSp>
      <p:cxnSp>
        <p:nvCxnSpPr>
          <p:cNvPr id="1364" name="Google Shape;1364;p68"/>
          <p:cNvCxnSpPr/>
          <p:nvPr/>
        </p:nvCxnSpPr>
        <p:spPr>
          <a:xfrm>
            <a:off x="4712116" y="4601433"/>
            <a:ext cx="3977700" cy="0"/>
          </a:xfrm>
          <a:prstGeom prst="straightConnector1">
            <a:avLst/>
          </a:prstGeom>
          <a:noFill/>
          <a:ln cap="flat" cmpd="sng" w="7150">
            <a:solidFill>
              <a:srgbClr val="888888"/>
            </a:solidFill>
            <a:prstDash val="solid"/>
            <a:round/>
            <a:headEnd len="sm" w="sm" type="none"/>
            <a:tailEnd len="sm" w="sm" type="none"/>
          </a:ln>
        </p:spPr>
      </p:cxnSp>
      <p:cxnSp>
        <p:nvCxnSpPr>
          <p:cNvPr id="1365" name="Google Shape;1365;p68"/>
          <p:cNvCxnSpPr/>
          <p:nvPr/>
        </p:nvCxnSpPr>
        <p:spPr>
          <a:xfrm>
            <a:off x="4715157" y="4110234"/>
            <a:ext cx="3977700" cy="0"/>
          </a:xfrm>
          <a:prstGeom prst="straightConnector1">
            <a:avLst/>
          </a:prstGeom>
          <a:noFill/>
          <a:ln cap="flat" cmpd="sng" w="7150">
            <a:solidFill>
              <a:srgbClr val="888888"/>
            </a:solidFill>
            <a:prstDash val="solid"/>
            <a:round/>
            <a:headEnd len="sm" w="sm" type="none"/>
            <a:tailEnd len="sm" w="sm" type="none"/>
          </a:ln>
        </p:spPr>
      </p:cxnSp>
      <p:cxnSp>
        <p:nvCxnSpPr>
          <p:cNvPr id="1366" name="Google Shape;1366;p68"/>
          <p:cNvCxnSpPr/>
          <p:nvPr/>
        </p:nvCxnSpPr>
        <p:spPr>
          <a:xfrm>
            <a:off x="4733413" y="3835655"/>
            <a:ext cx="3977700" cy="0"/>
          </a:xfrm>
          <a:prstGeom prst="straightConnector1">
            <a:avLst/>
          </a:prstGeom>
          <a:noFill/>
          <a:ln cap="flat" cmpd="sng" w="14300">
            <a:solidFill>
              <a:srgbClr val="888888"/>
            </a:solidFill>
            <a:prstDash val="solid"/>
            <a:round/>
            <a:headEnd len="sm" w="sm" type="none"/>
            <a:tailEnd len="sm" w="sm" type="none"/>
          </a:ln>
        </p:spPr>
      </p:cxnSp>
      <p:sp>
        <p:nvSpPr>
          <p:cNvPr id="1367" name="Google Shape;1367;p68"/>
          <p:cNvSpPr/>
          <p:nvPr/>
        </p:nvSpPr>
        <p:spPr>
          <a:xfrm>
            <a:off x="6617714" y="4102344"/>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{{PI_T3_2_SA}}</a:t>
            </a:r>
            <a:endParaRPr b="0" i="0" sz="700" u="none" cap="none" strike="noStrike">
              <a:solidFill>
                <a:schemeClr val="dk1"/>
              </a:solidFill>
              <a:latin typeface="Calibri"/>
              <a:ea typeface="Calibri"/>
              <a:cs typeface="Calibri"/>
              <a:sym typeface="Calibri"/>
            </a:endParaRPr>
          </a:p>
        </p:txBody>
      </p:sp>
      <p:sp>
        <p:nvSpPr>
          <p:cNvPr id="1368" name="Google Shape;1368;p68"/>
          <p:cNvSpPr/>
          <p:nvPr/>
        </p:nvSpPr>
        <p:spPr>
          <a:xfrm>
            <a:off x="6626688" y="4345964"/>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{{PI_T3_3_SA}}</a:t>
            </a:r>
            <a:endParaRPr b="0" i="0" sz="700" u="none" cap="none" strike="noStrike">
              <a:solidFill>
                <a:schemeClr val="dk1"/>
              </a:solidFill>
              <a:latin typeface="Calibri"/>
              <a:ea typeface="Calibri"/>
              <a:cs typeface="Calibri"/>
              <a:sym typeface="Calibri"/>
            </a:endParaRPr>
          </a:p>
        </p:txBody>
      </p:sp>
      <p:sp>
        <p:nvSpPr>
          <p:cNvPr id="1369" name="Google Shape;1369;p68"/>
          <p:cNvSpPr/>
          <p:nvPr/>
        </p:nvSpPr>
        <p:spPr>
          <a:xfrm>
            <a:off x="6629679" y="4589583"/>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{{PI_T3_4_SA}}</a:t>
            </a:r>
            <a:endParaRPr b="0" i="0" sz="700" u="none" cap="none" strike="noStrike">
              <a:solidFill>
                <a:schemeClr val="dk1"/>
              </a:solidFill>
              <a:latin typeface="Calibri"/>
              <a:ea typeface="Calibri"/>
              <a:cs typeface="Calibri"/>
              <a:sym typeface="Calibri"/>
            </a:endParaRPr>
          </a:p>
        </p:txBody>
      </p:sp>
      <p:sp>
        <p:nvSpPr>
          <p:cNvPr id="1370" name="Google Shape;1370;p68"/>
          <p:cNvSpPr/>
          <p:nvPr/>
        </p:nvSpPr>
        <p:spPr>
          <a:xfrm>
            <a:off x="6623696" y="4833203"/>
            <a:ext cx="772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{{PI_T3_5_SA}}</a:t>
            </a:r>
            <a:endParaRPr b="0" i="0" sz="700" u="none" cap="none" strike="noStrike">
              <a:solidFill>
                <a:schemeClr val="dk1"/>
              </a:solidFill>
              <a:latin typeface="Calibri"/>
              <a:ea typeface="Calibri"/>
              <a:cs typeface="Calibri"/>
              <a:sym typeface="Calibri"/>
            </a:endParaRPr>
          </a:p>
        </p:txBody>
      </p:sp>
      <p:sp>
        <p:nvSpPr>
          <p:cNvPr id="1371" name="Google Shape;1371;p68"/>
          <p:cNvSpPr/>
          <p:nvPr/>
        </p:nvSpPr>
        <p:spPr>
          <a:xfrm>
            <a:off x="7288714" y="3856350"/>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{{PI_T3_1_FA}} / {{PI_T3_1_LA}}</a:t>
            </a:r>
            <a:endParaRPr b="0" i="0" sz="800" u="none" cap="none" strike="noStrike">
              <a:solidFill>
                <a:schemeClr val="dk1"/>
              </a:solidFill>
              <a:latin typeface="Calibri"/>
              <a:ea typeface="Calibri"/>
              <a:cs typeface="Calibri"/>
              <a:sym typeface="Calibri"/>
            </a:endParaRPr>
          </a:p>
        </p:txBody>
      </p:sp>
      <p:sp>
        <p:nvSpPr>
          <p:cNvPr id="1372" name="Google Shape;1372;p68"/>
          <p:cNvSpPr/>
          <p:nvPr/>
        </p:nvSpPr>
        <p:spPr>
          <a:xfrm>
            <a:off x="7293044" y="4099951"/>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{{PI_T3_2_FA}} / {{PI_T3_2_LA}}</a:t>
            </a:r>
            <a:endParaRPr b="0" i="0" sz="800" u="none" cap="none" strike="noStrike">
              <a:solidFill>
                <a:schemeClr val="dk1"/>
              </a:solidFill>
              <a:latin typeface="Calibri"/>
              <a:ea typeface="Calibri"/>
              <a:cs typeface="Calibri"/>
              <a:sym typeface="Calibri"/>
            </a:endParaRPr>
          </a:p>
        </p:txBody>
      </p:sp>
      <p:sp>
        <p:nvSpPr>
          <p:cNvPr id="1373" name="Google Shape;1373;p68"/>
          <p:cNvSpPr/>
          <p:nvPr/>
        </p:nvSpPr>
        <p:spPr>
          <a:xfrm>
            <a:off x="7297374" y="4343551"/>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{{PI_T3_3_FA}} / {{PI_T3_3_LA}}</a:t>
            </a:r>
            <a:endParaRPr b="0" i="0" sz="800" u="none" cap="none" strike="noStrike">
              <a:solidFill>
                <a:schemeClr val="dk1"/>
              </a:solidFill>
              <a:latin typeface="Calibri"/>
              <a:ea typeface="Calibri"/>
              <a:cs typeface="Calibri"/>
              <a:sym typeface="Calibri"/>
            </a:endParaRPr>
          </a:p>
        </p:txBody>
      </p:sp>
      <p:sp>
        <p:nvSpPr>
          <p:cNvPr id="1374" name="Google Shape;1374;p68"/>
          <p:cNvSpPr/>
          <p:nvPr/>
        </p:nvSpPr>
        <p:spPr>
          <a:xfrm>
            <a:off x="7306035" y="4587152"/>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{{PI_T3_4_FA}} / {{PI_T3_4_LA}}</a:t>
            </a:r>
            <a:endParaRPr b="0" i="0" sz="800" u="none" cap="none" strike="noStrike">
              <a:solidFill>
                <a:schemeClr val="dk1"/>
              </a:solidFill>
              <a:latin typeface="Calibri"/>
              <a:ea typeface="Calibri"/>
              <a:cs typeface="Calibri"/>
              <a:sym typeface="Calibri"/>
            </a:endParaRPr>
          </a:p>
        </p:txBody>
      </p:sp>
      <p:sp>
        <p:nvSpPr>
          <p:cNvPr id="1375" name="Google Shape;1375;p68"/>
          <p:cNvSpPr/>
          <p:nvPr/>
        </p:nvSpPr>
        <p:spPr>
          <a:xfrm>
            <a:off x="7301704" y="4830753"/>
            <a:ext cx="16212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{{PI_T3_5_FA}} / {{PI_T3_5_LA}}</a:t>
            </a:r>
            <a:endParaRPr b="0" i="0" sz="800" u="none" cap="none" strike="noStrike">
              <a:solidFill>
                <a:schemeClr val="dk1"/>
              </a:solidFill>
              <a:latin typeface="Calibri"/>
              <a:ea typeface="Calibri"/>
              <a:cs typeface="Calibri"/>
              <a:sym typeface="Calibri"/>
            </a:endParaRPr>
          </a:p>
        </p:txBody>
      </p:sp>
      <p:sp>
        <p:nvSpPr>
          <p:cNvPr id="1376" name="Google Shape;1376;p68"/>
          <p:cNvSpPr/>
          <p:nvPr/>
        </p:nvSpPr>
        <p:spPr>
          <a:xfrm>
            <a:off x="369464" y="28911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77" name="Google Shape;1377;p68"/>
          <p:cNvCxnSpPr/>
          <p:nvPr/>
        </p:nvCxnSpPr>
        <p:spPr>
          <a:xfrm>
            <a:off x="359833" y="3140736"/>
            <a:ext cx="3977700" cy="0"/>
          </a:xfrm>
          <a:prstGeom prst="straightConnector1">
            <a:avLst/>
          </a:prstGeom>
          <a:noFill/>
          <a:ln cap="flat" cmpd="sng" w="7150">
            <a:solidFill>
              <a:srgbClr val="E5E7EB"/>
            </a:solidFill>
            <a:prstDash val="solid"/>
            <a:round/>
            <a:headEnd len="sm" w="sm" type="none"/>
            <a:tailEnd len="sm" w="sm" type="none"/>
          </a:ln>
        </p:spPr>
      </p:cxnSp>
      <p:sp>
        <p:nvSpPr>
          <p:cNvPr id="1378" name="Google Shape;1378;p68"/>
          <p:cNvSpPr/>
          <p:nvPr/>
        </p:nvSpPr>
        <p:spPr>
          <a:xfrm>
            <a:off x="369460" y="2891182"/>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{{PI_T1_6}}</a:t>
            </a:r>
            <a:endParaRPr b="0" i="0" sz="800" u="none" cap="none" strike="noStrike">
              <a:solidFill>
                <a:schemeClr val="dk1"/>
              </a:solidFill>
              <a:latin typeface="Calibri"/>
              <a:ea typeface="Calibri"/>
              <a:cs typeface="Calibri"/>
              <a:sym typeface="Calibri"/>
            </a:endParaRPr>
          </a:p>
        </p:txBody>
      </p:sp>
      <p:cxnSp>
        <p:nvCxnSpPr>
          <p:cNvPr id="1379" name="Google Shape;1379;p68"/>
          <p:cNvCxnSpPr/>
          <p:nvPr/>
        </p:nvCxnSpPr>
        <p:spPr>
          <a:xfrm>
            <a:off x="347415" y="3134921"/>
            <a:ext cx="3977700" cy="0"/>
          </a:xfrm>
          <a:prstGeom prst="straightConnector1">
            <a:avLst/>
          </a:prstGeom>
          <a:noFill/>
          <a:ln cap="flat" cmpd="sng" w="7150">
            <a:solidFill>
              <a:srgbClr val="888888"/>
            </a:solidFill>
            <a:prstDash val="solid"/>
            <a:round/>
            <a:headEnd len="sm" w="sm" type="none"/>
            <a:tailEnd len="sm" w="sm" type="none"/>
          </a:ln>
        </p:spPr>
      </p:cxnSp>
      <p:sp>
        <p:nvSpPr>
          <p:cNvPr id="1380" name="Google Shape;1380;p68"/>
          <p:cNvSpPr/>
          <p:nvPr/>
        </p:nvSpPr>
        <p:spPr>
          <a:xfrm>
            <a:off x="2312547" y="2881313"/>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{{PI_T1_6_SA}}</a:t>
            </a:r>
            <a:endParaRPr b="0" i="0" sz="700" u="none" cap="none" strike="noStrike">
              <a:solidFill>
                <a:schemeClr val="dk1"/>
              </a:solidFill>
              <a:latin typeface="Calibri"/>
              <a:ea typeface="Calibri"/>
              <a:cs typeface="Calibri"/>
              <a:sym typeface="Calibri"/>
            </a:endParaRPr>
          </a:p>
        </p:txBody>
      </p:sp>
      <p:sp>
        <p:nvSpPr>
          <p:cNvPr id="1381" name="Google Shape;1381;p68"/>
          <p:cNvSpPr/>
          <p:nvPr/>
        </p:nvSpPr>
        <p:spPr>
          <a:xfrm>
            <a:off x="2937042" y="2878863"/>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{{PI_T1_6_FA}} / {{PI_T1_6_LA}}</a:t>
            </a:r>
            <a:endParaRPr b="0" i="0" sz="800" u="none" cap="none" strike="noStrike">
              <a:solidFill>
                <a:schemeClr val="dk1"/>
              </a:solidFill>
              <a:latin typeface="Calibri"/>
              <a:ea typeface="Calibri"/>
              <a:cs typeface="Calibri"/>
              <a:sym typeface="Calibri"/>
            </a:endParaRPr>
          </a:p>
        </p:txBody>
      </p:sp>
      <p:sp>
        <p:nvSpPr>
          <p:cNvPr id="1382" name="Google Shape;1382;p68"/>
          <p:cNvSpPr/>
          <p:nvPr/>
        </p:nvSpPr>
        <p:spPr>
          <a:xfrm>
            <a:off x="380824" y="31565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83" name="Google Shape;1383;p68"/>
          <p:cNvCxnSpPr/>
          <p:nvPr/>
        </p:nvCxnSpPr>
        <p:spPr>
          <a:xfrm>
            <a:off x="371193" y="3406136"/>
            <a:ext cx="3977700" cy="0"/>
          </a:xfrm>
          <a:prstGeom prst="straightConnector1">
            <a:avLst/>
          </a:prstGeom>
          <a:noFill/>
          <a:ln cap="flat" cmpd="sng" w="7150">
            <a:solidFill>
              <a:srgbClr val="E5E7EB"/>
            </a:solidFill>
            <a:prstDash val="solid"/>
            <a:round/>
            <a:headEnd len="sm" w="sm" type="none"/>
            <a:tailEnd len="sm" w="sm" type="none"/>
          </a:ln>
        </p:spPr>
      </p:cxnSp>
      <p:sp>
        <p:nvSpPr>
          <p:cNvPr id="1384" name="Google Shape;1384;p68"/>
          <p:cNvSpPr/>
          <p:nvPr/>
        </p:nvSpPr>
        <p:spPr>
          <a:xfrm>
            <a:off x="380820" y="3156582"/>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{{PI_T1_7}}</a:t>
            </a:r>
            <a:endParaRPr b="0" i="0" sz="800" u="none" cap="none" strike="noStrike">
              <a:solidFill>
                <a:schemeClr val="dk1"/>
              </a:solidFill>
              <a:latin typeface="Calibri"/>
              <a:ea typeface="Calibri"/>
              <a:cs typeface="Calibri"/>
              <a:sym typeface="Calibri"/>
            </a:endParaRPr>
          </a:p>
        </p:txBody>
      </p:sp>
      <p:cxnSp>
        <p:nvCxnSpPr>
          <p:cNvPr id="1385" name="Google Shape;1385;p68"/>
          <p:cNvCxnSpPr/>
          <p:nvPr/>
        </p:nvCxnSpPr>
        <p:spPr>
          <a:xfrm>
            <a:off x="358775" y="3400321"/>
            <a:ext cx="3977700" cy="0"/>
          </a:xfrm>
          <a:prstGeom prst="straightConnector1">
            <a:avLst/>
          </a:prstGeom>
          <a:noFill/>
          <a:ln cap="flat" cmpd="sng" w="7150">
            <a:solidFill>
              <a:srgbClr val="888888"/>
            </a:solidFill>
            <a:prstDash val="solid"/>
            <a:round/>
            <a:headEnd len="sm" w="sm" type="none"/>
            <a:tailEnd len="sm" w="sm" type="none"/>
          </a:ln>
        </p:spPr>
      </p:cxnSp>
      <p:sp>
        <p:nvSpPr>
          <p:cNvPr id="1386" name="Google Shape;1386;p68"/>
          <p:cNvSpPr/>
          <p:nvPr/>
        </p:nvSpPr>
        <p:spPr>
          <a:xfrm>
            <a:off x="2323907" y="3146713"/>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{{PI_T1_7_SA}}</a:t>
            </a:r>
            <a:endParaRPr b="0" i="0" sz="700" u="none" cap="none" strike="noStrike">
              <a:solidFill>
                <a:schemeClr val="dk1"/>
              </a:solidFill>
              <a:latin typeface="Calibri"/>
              <a:ea typeface="Calibri"/>
              <a:cs typeface="Calibri"/>
              <a:sym typeface="Calibri"/>
            </a:endParaRPr>
          </a:p>
        </p:txBody>
      </p:sp>
      <p:sp>
        <p:nvSpPr>
          <p:cNvPr id="1387" name="Google Shape;1387;p68"/>
          <p:cNvSpPr/>
          <p:nvPr/>
        </p:nvSpPr>
        <p:spPr>
          <a:xfrm>
            <a:off x="2948402" y="3144263"/>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{{PI_T1_7_FA}} / {{PI_T1_7_LA}}</a:t>
            </a:r>
            <a:endParaRPr b="0" i="0" sz="800" u="none" cap="none" strike="noStrike">
              <a:solidFill>
                <a:schemeClr val="dk1"/>
              </a:solidFill>
              <a:latin typeface="Calibri"/>
              <a:ea typeface="Calibri"/>
              <a:cs typeface="Calibri"/>
              <a:sym typeface="Calibri"/>
            </a:endParaRPr>
          </a:p>
        </p:txBody>
      </p:sp>
      <p:sp>
        <p:nvSpPr>
          <p:cNvPr id="1388" name="Google Shape;1388;p68"/>
          <p:cNvSpPr/>
          <p:nvPr/>
        </p:nvSpPr>
        <p:spPr>
          <a:xfrm>
            <a:off x="377476" y="3421986"/>
            <a:ext cx="3977700" cy="2460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89" name="Google Shape;1389;p68"/>
          <p:cNvCxnSpPr/>
          <p:nvPr/>
        </p:nvCxnSpPr>
        <p:spPr>
          <a:xfrm>
            <a:off x="367845" y="3671536"/>
            <a:ext cx="3977700" cy="0"/>
          </a:xfrm>
          <a:prstGeom prst="straightConnector1">
            <a:avLst/>
          </a:prstGeom>
          <a:noFill/>
          <a:ln cap="flat" cmpd="sng" w="7150">
            <a:solidFill>
              <a:srgbClr val="E5E7EB"/>
            </a:solidFill>
            <a:prstDash val="solid"/>
            <a:round/>
            <a:headEnd len="sm" w="sm" type="none"/>
            <a:tailEnd len="sm" w="sm" type="none"/>
          </a:ln>
        </p:spPr>
      </p:cxnSp>
      <p:sp>
        <p:nvSpPr>
          <p:cNvPr id="1390" name="Google Shape;1390;p68"/>
          <p:cNvSpPr/>
          <p:nvPr/>
        </p:nvSpPr>
        <p:spPr>
          <a:xfrm>
            <a:off x="377472" y="3421982"/>
            <a:ext cx="2061600" cy="24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{{PI_T1_8}}</a:t>
            </a:r>
            <a:endParaRPr b="0" i="0" sz="800" u="none" cap="none" strike="noStrike">
              <a:solidFill>
                <a:schemeClr val="dk1"/>
              </a:solidFill>
              <a:latin typeface="Calibri"/>
              <a:ea typeface="Calibri"/>
              <a:cs typeface="Calibri"/>
              <a:sym typeface="Calibri"/>
            </a:endParaRPr>
          </a:p>
        </p:txBody>
      </p:sp>
      <p:cxnSp>
        <p:nvCxnSpPr>
          <p:cNvPr id="1391" name="Google Shape;1391;p68"/>
          <p:cNvCxnSpPr/>
          <p:nvPr/>
        </p:nvCxnSpPr>
        <p:spPr>
          <a:xfrm>
            <a:off x="355427" y="3665721"/>
            <a:ext cx="3977700" cy="0"/>
          </a:xfrm>
          <a:prstGeom prst="straightConnector1">
            <a:avLst/>
          </a:prstGeom>
          <a:noFill/>
          <a:ln cap="flat" cmpd="sng" w="7150">
            <a:solidFill>
              <a:srgbClr val="888888"/>
            </a:solidFill>
            <a:prstDash val="solid"/>
            <a:round/>
            <a:headEnd len="sm" w="sm" type="none"/>
            <a:tailEnd len="sm" w="sm" type="none"/>
          </a:ln>
        </p:spPr>
      </p:cxnSp>
      <p:sp>
        <p:nvSpPr>
          <p:cNvPr id="1392" name="Google Shape;1392;p68"/>
          <p:cNvSpPr/>
          <p:nvPr/>
        </p:nvSpPr>
        <p:spPr>
          <a:xfrm>
            <a:off x="2320559" y="3412113"/>
            <a:ext cx="7368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{{PI_T1_8_SA}}</a:t>
            </a:r>
            <a:endParaRPr b="0" i="0" sz="700" u="none" cap="none" strike="noStrike">
              <a:solidFill>
                <a:schemeClr val="dk1"/>
              </a:solidFill>
              <a:latin typeface="Calibri"/>
              <a:ea typeface="Calibri"/>
              <a:cs typeface="Calibri"/>
              <a:sym typeface="Calibri"/>
            </a:endParaRPr>
          </a:p>
        </p:txBody>
      </p:sp>
      <p:sp>
        <p:nvSpPr>
          <p:cNvPr id="1393" name="Google Shape;1393;p68"/>
          <p:cNvSpPr/>
          <p:nvPr/>
        </p:nvSpPr>
        <p:spPr>
          <a:xfrm>
            <a:off x="2945054" y="3409663"/>
            <a:ext cx="1594500" cy="246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F2937"/>
              </a:buClr>
              <a:buSzPts val="700"/>
              <a:buFont typeface="DM Sans"/>
              <a:buNone/>
            </a:pPr>
            <a:r>
              <a:rPr lang="en" sz="800">
                <a:solidFill>
                  <a:srgbClr val="1F2937"/>
                </a:solidFill>
                <a:latin typeface="DM Sans"/>
                <a:ea typeface="DM Sans"/>
                <a:cs typeface="DM Sans"/>
                <a:sym typeface="DM Sans"/>
              </a:rPr>
              <a:t>{{PI_T1_8_FA}} / {{PI_T1_8_LA}}</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