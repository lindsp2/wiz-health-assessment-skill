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2" r:id="rId1"/>
    <p:sldMasterId id="2147483693" r:id="rId2"/>
  </p:sldMasterIdLst>
  <p:notesMasterIdLst>
    <p:notesMasterId r:id="rId2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9144000" cy="5143500" type="screen16x9"/>
  <p:notesSz cx="6858000" cy="9144000"/>
  <p:embeddedFontLst>
    <p:embeddedFont>
      <p:font typeface="DM Sans" pitchFamily="2" charset="0"/>
      <p:regular r:id="rId27"/>
      <p:bold r:id="rId28"/>
      <p:italic r:id="rId29"/>
      <p:boldItalic r:id="rId30"/>
    </p:embeddedFont>
    <p:embeddedFont>
      <p:font typeface="DM Sans Medium" pitchFamily="2" charset="0"/>
      <p:regular r:id="rId31"/>
      <p:bold r:id="rId32"/>
      <p:italic r:id="rId33"/>
      <p:boldItalic r:id="rId34"/>
    </p:embeddedFont>
    <p:embeddedFont>
      <p:font typeface="JetBrains Mono" panose="020B0604020202020204" charset="0"/>
      <p:regular r:id="rId35"/>
      <p:bold r:id="rId36"/>
      <p:italic r:id="rId37"/>
      <p:boldItalic r:id="rId38"/>
    </p:embeddedFont>
    <p:embeddedFont>
      <p:font typeface="Poppins" panose="00000500000000000000" pitchFamily="2" charset="0"/>
      <p:regular r:id="rId39"/>
      <p:bold r:id="rId40"/>
      <p:italic r:id="rId41"/>
      <p:boldItalic r:id="rId42"/>
    </p:embeddedFont>
    <p:embeddedFont>
      <p:font typeface="Poppins Light" panose="00000400000000000000" pitchFamily="2" charset="0"/>
      <p:regular r:id="rId43"/>
      <p:bold r:id="rId44"/>
      <p:italic r:id="rId45"/>
      <p:boldItalic r:id="rId46"/>
    </p:embeddedFont>
    <p:embeddedFont>
      <p:font typeface="Poppins SemiBold" panose="00000700000000000000" pitchFamily="2" charset="0"/>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54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20" d="100"/>
          <a:sy n="120" d="100"/>
        </p:scale>
        <p:origin x="56" y="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9" Type="http://schemas.openxmlformats.org/officeDocument/2006/relationships/font" Target="fonts/font13.fntdata"/><Relationship Id="rId21" Type="http://schemas.openxmlformats.org/officeDocument/2006/relationships/slide" Target="slides/slide19.xml"/><Relationship Id="rId34" Type="http://schemas.openxmlformats.org/officeDocument/2006/relationships/font" Target="fonts/font8.fntdata"/><Relationship Id="rId42" Type="http://schemas.openxmlformats.org/officeDocument/2006/relationships/font" Target="fonts/font16.fntdata"/><Relationship Id="rId47" Type="http://schemas.openxmlformats.org/officeDocument/2006/relationships/font" Target="fonts/font21.fntdata"/><Relationship Id="rId50" Type="http://schemas.openxmlformats.org/officeDocument/2006/relationships/font" Target="fonts/font24.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font" Target="fonts/font3.fntdata"/><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font" Target="fonts/font14.fntdata"/><Relationship Id="rId45" Type="http://schemas.openxmlformats.org/officeDocument/2006/relationships/font" Target="fonts/font19.fntdata"/><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5.fntdata"/><Relationship Id="rId44" Type="http://schemas.openxmlformats.org/officeDocument/2006/relationships/font" Target="fonts/font18.fntdata"/><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43" Type="http://schemas.openxmlformats.org/officeDocument/2006/relationships/font" Target="fonts/font17.fntdata"/><Relationship Id="rId48" Type="http://schemas.openxmlformats.org/officeDocument/2006/relationships/font" Target="fonts/font22.fntdata"/><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7.fntdata"/><Relationship Id="rId38" Type="http://schemas.openxmlformats.org/officeDocument/2006/relationships/font" Target="fonts/font12.fntdata"/><Relationship Id="rId46" Type="http://schemas.openxmlformats.org/officeDocument/2006/relationships/font" Target="fonts/font20.fntdata"/><Relationship Id="rId20" Type="http://schemas.openxmlformats.org/officeDocument/2006/relationships/slide" Target="slides/slide18.xml"/><Relationship Id="rId41" Type="http://schemas.openxmlformats.org/officeDocument/2006/relationships/font" Target="fonts/font15.fntdata"/><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2.fntdata"/><Relationship Id="rId36" Type="http://schemas.openxmlformats.org/officeDocument/2006/relationships/font" Target="fonts/font10.fntdata"/><Relationship Id="rId49" Type="http://schemas.openxmlformats.org/officeDocument/2006/relationships/font" Target="fonts/font2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4" name="Google Shape;234;p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235" name="Google Shape;235;p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4" name="Google Shape;244;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381000" lvl="0" indent="-298450" algn="l" rtl="0">
              <a:lnSpc>
                <a:spcPct val="115000"/>
              </a:lnSpc>
              <a:spcBef>
                <a:spcPts val="1200"/>
              </a:spcBef>
              <a:spcAft>
                <a:spcPts val="0"/>
              </a:spcAft>
              <a:buClr>
                <a:schemeClr val="dk1"/>
              </a:buClr>
              <a:buSzPts val="1100"/>
              <a:buChar char="-"/>
            </a:pPr>
            <a:endParaRPr>
              <a:solidFill>
                <a:schemeClr val="dk1"/>
              </a:solidFill>
            </a:endParaRPr>
          </a:p>
        </p:txBody>
      </p:sp>
      <p:sp>
        <p:nvSpPr>
          <p:cNvPr id="245" name="Google Shape;245;p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288" name="Google Shape;288;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5" name="Google Shape;385;p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386" name="Google Shape;386;p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3" name="Google Shape;433;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434" name="Google Shape;434;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8" name="Google Shape;498;p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499" name="Google Shape;499;p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588" name="Google Shape;588;p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9" name="Google Shape;599;p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600" name="Google Shape;600;p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2" name="Google Shape;612;p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613" name="Google Shape;613;p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2" name="Google Shape;622;p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623" name="Google Shape;623;p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1" name="Google Shape;631;p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632" name="Google Shape;632;p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1" name="Google Shape;671;p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672" name="Google Shape;672;p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4" name="Google Shape;714;p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715" name="Google Shape;715;p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p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750" name="Google Shape;750;p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1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759" name="Google Shape;759;p1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8" name="Google Shape;848;p1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849" name="Google Shape;849;p1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17: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57" name="Google Shape;857;p17: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858" name="Google Shape;858;p17: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
        <p:cNvGrpSpPr/>
        <p:nvPr/>
      </p:nvGrpSpPr>
      <p:grpSpPr>
        <a:xfrm>
          <a:off x="0" y="0"/>
          <a:ext cx="0" cy="0"/>
          <a:chOff x="0" y="0"/>
          <a:chExt cx="0" cy="0"/>
        </a:xfrm>
      </p:grpSpPr>
      <p:sp>
        <p:nvSpPr>
          <p:cNvPr id="1010" name="Google Shape;1010;p18: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1" name="Google Shape;1011;p18: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12" name="Google Shape;1012;p18: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p19: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03" name="Google Shape;1203;p19: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204" name="Google Shape;1204;p19: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3"/>
        <p:cNvGrpSpPr/>
        <p:nvPr/>
      </p:nvGrpSpPr>
      <p:grpSpPr>
        <a:xfrm>
          <a:off x="0" y="0"/>
          <a:ext cx="0" cy="0"/>
          <a:chOff x="0" y="0"/>
          <a:chExt cx="0" cy="0"/>
        </a:xfrm>
      </p:grpSpPr>
      <p:sp>
        <p:nvSpPr>
          <p:cNvPr id="1334" name="Google Shape;1334;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5" name="Google Shape;1335;p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1336" name="Google Shape;1336;p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56" name="Google Shape;1356;p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0" algn="l" rtl="0">
              <a:lnSpc>
                <a:spcPct val="100000"/>
              </a:lnSpc>
              <a:spcBef>
                <a:spcPts val="0"/>
              </a:spcBef>
              <a:spcAft>
                <a:spcPts val="0"/>
              </a:spcAft>
              <a:buSzPts val="1100"/>
              <a:buNone/>
            </a:pPr>
            <a:endParaRPr/>
          </a:p>
        </p:txBody>
      </p:sp>
      <p:sp>
        <p:nvSpPr>
          <p:cNvPr id="1357" name="Google Shape;1357;p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6"/>
        <p:cNvGrpSpPr/>
        <p:nvPr/>
      </p:nvGrpSpPr>
      <p:grpSpPr>
        <a:xfrm>
          <a:off x="0" y="0"/>
          <a:ext cx="0" cy="0"/>
          <a:chOff x="0" y="0"/>
          <a:chExt cx="0" cy="0"/>
        </a:xfrm>
      </p:grpSpPr>
      <p:sp>
        <p:nvSpPr>
          <p:cNvPr id="1387" name="Google Shape;1387;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88" name="Google Shape;1388;p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1389" name="Google Shape;1389;p2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7"/>
        <p:cNvGrpSpPr/>
        <p:nvPr/>
      </p:nvGrpSpPr>
      <p:grpSpPr>
        <a:xfrm>
          <a:off x="0" y="0"/>
          <a:ext cx="0" cy="0"/>
          <a:chOff x="0" y="0"/>
          <a:chExt cx="0" cy="0"/>
        </a:xfrm>
      </p:grpSpPr>
      <p:sp>
        <p:nvSpPr>
          <p:cNvPr id="1408" name="Google Shape;1408;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9" name="Google Shape;1409;p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410" name="Google Shape;1410;p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 Id="rId4"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4.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Opening_Blank">
  <p:cSld name="Opening_Blank">
    <p:bg>
      <p:bgPr>
        <a:solidFill>
          <a:srgbClr val="0254EC"/>
        </a:solidFill>
        <a:effectLst/>
      </p:bgPr>
    </p:bg>
    <p:spTree>
      <p:nvGrpSpPr>
        <p:cNvPr id="1" name="Shape 9"/>
        <p:cNvGrpSpPr/>
        <p:nvPr/>
      </p:nvGrpSpPr>
      <p:grpSpPr>
        <a:xfrm>
          <a:off x="0" y="0"/>
          <a:ext cx="0" cy="0"/>
          <a:chOff x="0" y="0"/>
          <a:chExt cx="0" cy="0"/>
        </a:xfrm>
      </p:grpSpPr>
      <p:pic>
        <p:nvPicPr>
          <p:cNvPr id="10" name="Google Shape;10;p2" title="bg_blue.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23 1">
  <p:cSld name="ONE_COLUMN_TEXT_1">
    <p:spTree>
      <p:nvGrpSpPr>
        <p:cNvPr id="1" name="Shape 11"/>
        <p:cNvGrpSpPr/>
        <p:nvPr/>
      </p:nvGrpSpPr>
      <p:grpSpPr>
        <a:xfrm>
          <a:off x="0" y="0"/>
          <a:ext cx="0" cy="0"/>
          <a:chOff x="0" y="0"/>
          <a:chExt cx="0" cy="0"/>
        </a:xfrm>
      </p:grpSpPr>
      <p:pic>
        <p:nvPicPr>
          <p:cNvPr id="12" name="Google Shape;12;p3" title="bg6.png"/>
          <p:cNvPicPr preferRelativeResize="0"/>
          <p:nvPr/>
        </p:nvPicPr>
        <p:blipFill rotWithShape="1">
          <a:blip r:embed="rId2">
            <a:alphaModFix/>
          </a:blip>
          <a:srcRect/>
          <a:stretch/>
        </p:blipFill>
        <p:spPr>
          <a:xfrm>
            <a:off x="0" y="10"/>
            <a:ext cx="9144003" cy="5143490"/>
          </a:xfrm>
          <a:prstGeom prst="rect">
            <a:avLst/>
          </a:prstGeom>
          <a:noFill/>
          <a:ln>
            <a:noFill/>
          </a:ln>
        </p:spPr>
      </p:pic>
      <p:sp>
        <p:nvSpPr>
          <p:cNvPr id="13" name="Google Shape;13;p3"/>
          <p:cNvSpPr/>
          <p:nvPr/>
        </p:nvSpPr>
        <p:spPr>
          <a:xfrm>
            <a:off x="0" y="2500300"/>
            <a:ext cx="9158700" cy="2665200"/>
          </a:xfrm>
          <a:prstGeom prst="rect">
            <a:avLst/>
          </a:prstGeom>
          <a:gradFill>
            <a:gsLst>
              <a:gs pos="0">
                <a:schemeClr val="lt1"/>
              </a:gs>
              <a:gs pos="100000">
                <a:srgbClr val="FFFFFF">
                  <a:alpha val="0"/>
                </a:srgbClr>
              </a:gs>
            </a:gsLst>
            <a:lin ang="16200038"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123">
  <p:cSld name="ONE_COLUMN_TEXT">
    <p:spTree>
      <p:nvGrpSpPr>
        <p:cNvPr id="1" name="Shape 14"/>
        <p:cNvGrpSpPr/>
        <p:nvPr/>
      </p:nvGrpSpPr>
      <p:grpSpPr>
        <a:xfrm>
          <a:off x="0" y="0"/>
          <a:ext cx="0" cy="0"/>
          <a:chOff x="0" y="0"/>
          <a:chExt cx="0" cy="0"/>
        </a:xfrm>
      </p:grpSpPr>
      <p:pic>
        <p:nvPicPr>
          <p:cNvPr id="15" name="Google Shape;15;p4" title="bg6.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pic>
        <p:nvPicPr>
          <p:cNvPr id="17" name="Google Shape;17;p5" title="bg2.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8"/>
        <p:cNvGrpSpPr/>
        <p:nvPr/>
      </p:nvGrpSpPr>
      <p:grpSpPr>
        <a:xfrm>
          <a:off x="0" y="0"/>
          <a:ext cx="0" cy="0"/>
          <a:chOff x="0" y="0"/>
          <a:chExt cx="0" cy="0"/>
        </a:xfrm>
      </p:grpSpPr>
      <p:pic>
        <p:nvPicPr>
          <p:cNvPr id="19" name="Google Shape;19;p6" title="bg_blue2.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pic>
        <p:nvPicPr>
          <p:cNvPr id="21" name="Google Shape;21;p7" title="bg1.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pic>
        <p:nvPicPr>
          <p:cNvPr id="23" name="Google Shape;23;p8" title="bg3.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pic>
        <p:nvPicPr>
          <p:cNvPr id="25" name="Google Shape;25;p9" title="bg4.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
        <p:cNvGrpSpPr/>
        <p:nvPr/>
      </p:nvGrpSpPr>
      <p:grpSpPr>
        <a:xfrm>
          <a:off x="0" y="0"/>
          <a:ext cx="0" cy="0"/>
          <a:chOff x="0" y="0"/>
          <a:chExt cx="0" cy="0"/>
        </a:xfrm>
      </p:grpSpPr>
      <p:pic>
        <p:nvPicPr>
          <p:cNvPr id="27" name="Google Shape;27;p10" title="bg5.png"/>
          <p:cNvPicPr preferRelativeResize="0"/>
          <p:nvPr/>
        </p:nvPicPr>
        <p:blipFill rotWithShape="1">
          <a:blip r:embed="rId2">
            <a:alphaModFix/>
          </a:blip>
          <a:srcRect/>
          <a:stretch/>
        </p:blipFill>
        <p:spPr>
          <a:xfrm>
            <a:off x="0" y="-10"/>
            <a:ext cx="9144003" cy="5214936"/>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8"/>
        <p:cNvGrpSpPr/>
        <p:nvPr/>
      </p:nvGrpSpPr>
      <p:grpSpPr>
        <a:xfrm>
          <a:off x="0" y="0"/>
          <a:ext cx="0" cy="0"/>
          <a:chOff x="0" y="0"/>
          <a:chExt cx="0" cy="0"/>
        </a:xfrm>
      </p:grpSpPr>
      <p:sp>
        <p:nvSpPr>
          <p:cNvPr id="29" name="Google Shape;29;p1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0" name="Google Shape;30;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1"/>
        <p:cNvGrpSpPr/>
        <p:nvPr/>
      </p:nvGrpSpPr>
      <p:grpSpPr>
        <a:xfrm>
          <a:off x="0" y="0"/>
          <a:ext cx="0" cy="0"/>
          <a:chOff x="0" y="0"/>
          <a:chExt cx="0" cy="0"/>
        </a:xfrm>
      </p:grpSpPr>
      <p:sp>
        <p:nvSpPr>
          <p:cNvPr id="32" name="Google Shape;32;p1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 name="Google Shape;33;p1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4" name="Google Shape;34;p1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5" name="Google Shape;35;p1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36" name="Google Shape;36;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7"/>
        <p:cNvGrpSpPr/>
        <p:nvPr/>
      </p:nvGrpSpPr>
      <p:grpSpPr>
        <a:xfrm>
          <a:off x="0" y="0"/>
          <a:ext cx="0" cy="0"/>
          <a:chOff x="0" y="0"/>
          <a:chExt cx="0" cy="0"/>
        </a:xfrm>
      </p:grpSpPr>
      <p:sp>
        <p:nvSpPr>
          <p:cNvPr id="38" name="Google Shape;38;p13"/>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39" name="Google Shape;39;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0"/>
        <p:cNvGrpSpPr/>
        <p:nvPr/>
      </p:nvGrpSpPr>
      <p:grpSpPr>
        <a:xfrm>
          <a:off x="0" y="0"/>
          <a:ext cx="0" cy="0"/>
          <a:chOff x="0" y="0"/>
          <a:chExt cx="0" cy="0"/>
        </a:xfrm>
      </p:grpSpPr>
      <p:sp>
        <p:nvSpPr>
          <p:cNvPr id="41" name="Google Shape;41;p14"/>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2" name="Google Shape;42;p14"/>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3" name="Google Shape;43;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i">
  <p:cSld name="ONE_COLUMN_TEXT_1_1">
    <p:spTree>
      <p:nvGrpSpPr>
        <p:cNvPr id="1" name="Shape 46"/>
        <p:cNvGrpSpPr/>
        <p:nvPr/>
      </p:nvGrpSpPr>
      <p:grpSpPr>
        <a:xfrm>
          <a:off x="0" y="0"/>
          <a:ext cx="0" cy="0"/>
          <a:chOff x="0" y="0"/>
          <a:chExt cx="0" cy="0"/>
        </a:xfrm>
      </p:grpSpPr>
      <p:pic>
        <p:nvPicPr>
          <p:cNvPr id="47" name="Google Shape;47;p16" title="bg7.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3"/>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_Title and Content (2/3) Light">
  <p:cSld name="Title and Content (2/3) Light">
    <p:spTree>
      <p:nvGrpSpPr>
        <p:cNvPr id="1" name="Shape 54"/>
        <p:cNvGrpSpPr/>
        <p:nvPr/>
      </p:nvGrpSpPr>
      <p:grpSpPr>
        <a:xfrm>
          <a:off x="0" y="0"/>
          <a:ext cx="0" cy="0"/>
          <a:chOff x="0" y="0"/>
          <a:chExt cx="0" cy="0"/>
        </a:xfrm>
      </p:grpSpPr>
      <p:sp>
        <p:nvSpPr>
          <p:cNvPr id="55" name="Google Shape;55;p19"/>
          <p:cNvSpPr/>
          <p:nvPr/>
        </p:nvSpPr>
        <p:spPr>
          <a:xfrm>
            <a:off x="-4188"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56" name="Google Shape;56;p19"/>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7" name="Google Shape;57;p19"/>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58" name="Google Shape;58;p1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_Divider Slide">
  <p:cSld name="Divider Slide">
    <p:spTree>
      <p:nvGrpSpPr>
        <p:cNvPr id="1" name="Shape 59"/>
        <p:cNvGrpSpPr/>
        <p:nvPr/>
      </p:nvGrpSpPr>
      <p:grpSpPr>
        <a:xfrm>
          <a:off x="0" y="0"/>
          <a:ext cx="0" cy="0"/>
          <a:chOff x="0" y="0"/>
          <a:chExt cx="0" cy="0"/>
        </a:xfrm>
      </p:grpSpPr>
      <p:pic>
        <p:nvPicPr>
          <p:cNvPr id="60" name="Google Shape;60;p20"/>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61" name="Google Shape;61;p20"/>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62" name="Google Shape;62;p20"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hite background_Plain">
  <p:cSld name="White background_Plain">
    <p:spTree>
      <p:nvGrpSpPr>
        <p:cNvPr id="1" name="Shape 63"/>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A_Title Slide + Name">
  <p:cSld name="Title Slide + Name">
    <p:bg>
      <p:bgPr>
        <a:solidFill>
          <a:schemeClr val="dk2"/>
        </a:solidFill>
        <a:effectLst/>
      </p:bgPr>
    </p:bg>
    <p:spTree>
      <p:nvGrpSpPr>
        <p:cNvPr id="1" name="Shape 64"/>
        <p:cNvGrpSpPr/>
        <p:nvPr/>
      </p:nvGrpSpPr>
      <p:grpSpPr>
        <a:xfrm>
          <a:off x="0" y="0"/>
          <a:ext cx="0" cy="0"/>
          <a:chOff x="0" y="0"/>
          <a:chExt cx="0" cy="0"/>
        </a:xfrm>
      </p:grpSpPr>
      <p:sp>
        <p:nvSpPr>
          <p:cNvPr id="65" name="Google Shape;65;p22"/>
          <p:cNvSpPr txBox="1">
            <a:spLocks noGrp="1"/>
          </p:cNvSpPr>
          <p:nvPr>
            <p:ph type="ctrTitle"/>
          </p:nvPr>
        </p:nvSpPr>
        <p:spPr>
          <a:xfrm>
            <a:off x="716304" y="1261139"/>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66" name="Google Shape;66;p22"/>
          <p:cNvSpPr txBox="1">
            <a:spLocks noGrp="1"/>
          </p:cNvSpPr>
          <p:nvPr>
            <p:ph type="subTitle" idx="1"/>
          </p:nvPr>
        </p:nvSpPr>
        <p:spPr>
          <a:xfrm>
            <a:off x="716304" y="232276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67" name="Google Shape;67;p22"/>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68" name="Google Shape;68;p22"/>
          <p:cNvPicPr preferRelativeResize="0"/>
          <p:nvPr/>
        </p:nvPicPr>
        <p:blipFill rotWithShape="1">
          <a:blip r:embed="rId3">
            <a:alphaModFix/>
          </a:blip>
          <a:srcRect/>
          <a:stretch/>
        </p:blipFill>
        <p:spPr>
          <a:xfrm>
            <a:off x="5693291" y="1210831"/>
            <a:ext cx="2822062" cy="2877556"/>
          </a:xfrm>
          <a:prstGeom prst="rect">
            <a:avLst/>
          </a:prstGeom>
          <a:noFill/>
          <a:ln>
            <a:noFill/>
          </a:ln>
        </p:spPr>
      </p:pic>
      <p:sp>
        <p:nvSpPr>
          <p:cNvPr id="69" name="Google Shape;69;p22"/>
          <p:cNvSpPr>
            <a:spLocks noGrp="1"/>
          </p:cNvSpPr>
          <p:nvPr>
            <p:ph type="pic" idx="2"/>
          </p:nvPr>
        </p:nvSpPr>
        <p:spPr>
          <a:xfrm>
            <a:off x="716304" y="3312109"/>
            <a:ext cx="714600" cy="714600"/>
          </a:xfrm>
          <a:prstGeom prst="ellipse">
            <a:avLst/>
          </a:prstGeom>
          <a:noFill/>
          <a:ln w="12700" cap="flat" cmpd="sng">
            <a:solidFill>
              <a:schemeClr val="lt1"/>
            </a:solidFill>
            <a:prstDash val="solid"/>
            <a:round/>
            <a:headEnd type="none" w="sm" len="sm"/>
            <a:tailEnd type="none" w="sm" len="sm"/>
          </a:ln>
        </p:spPr>
      </p:sp>
      <p:sp>
        <p:nvSpPr>
          <p:cNvPr id="70" name="Google Shape;70;p22"/>
          <p:cNvSpPr txBox="1">
            <a:spLocks noGrp="1"/>
          </p:cNvSpPr>
          <p:nvPr>
            <p:ph type="body" idx="3"/>
          </p:nvPr>
        </p:nvSpPr>
        <p:spPr>
          <a:xfrm>
            <a:off x="1531868" y="3442481"/>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400"/>
              <a:buNone/>
              <a:defRPr sz="14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71" name="Google Shape;71;p22"/>
          <p:cNvSpPr txBox="1">
            <a:spLocks noGrp="1"/>
          </p:cNvSpPr>
          <p:nvPr>
            <p:ph type="body" idx="4"/>
          </p:nvPr>
        </p:nvSpPr>
        <p:spPr>
          <a:xfrm>
            <a:off x="1531868" y="3657984"/>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100"/>
              <a:buNone/>
              <a:defRPr sz="11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A_Title Slide 1">
  <p:cSld name="Title Slide 1">
    <p:bg>
      <p:bgPr>
        <a:solidFill>
          <a:schemeClr val="dk2"/>
        </a:solidFill>
        <a:effectLst/>
      </p:bgPr>
    </p:bg>
    <p:spTree>
      <p:nvGrpSpPr>
        <p:cNvPr id="1" name="Shape 72"/>
        <p:cNvGrpSpPr/>
        <p:nvPr/>
      </p:nvGrpSpPr>
      <p:grpSpPr>
        <a:xfrm>
          <a:off x="0" y="0"/>
          <a:ext cx="0" cy="0"/>
          <a:chOff x="0" y="0"/>
          <a:chExt cx="0" cy="0"/>
        </a:xfrm>
      </p:grpSpPr>
      <p:sp>
        <p:nvSpPr>
          <p:cNvPr id="73" name="Google Shape;73;p23"/>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74" name="Google Shape;74;p23"/>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75" name="Google Shape;75;p23"/>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76" name="Google Shape;76;p23"/>
          <p:cNvPicPr preferRelativeResize="0"/>
          <p:nvPr/>
        </p:nvPicPr>
        <p:blipFill rotWithShape="1">
          <a:blip r:embed="rId3">
            <a:alphaModFix/>
          </a:blip>
          <a:srcRect/>
          <a:stretch/>
        </p:blipFill>
        <p:spPr>
          <a:xfrm>
            <a:off x="5693291" y="1210831"/>
            <a:ext cx="2822062" cy="2877556"/>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_Title Slide 2">
  <p:cSld name="Title Slide 2">
    <p:spTree>
      <p:nvGrpSpPr>
        <p:cNvPr id="1" name="Shape 77"/>
        <p:cNvGrpSpPr/>
        <p:nvPr/>
      </p:nvGrpSpPr>
      <p:grpSpPr>
        <a:xfrm>
          <a:off x="0" y="0"/>
          <a:ext cx="0" cy="0"/>
          <a:chOff x="0" y="0"/>
          <a:chExt cx="0" cy="0"/>
        </a:xfrm>
      </p:grpSpPr>
      <p:pic>
        <p:nvPicPr>
          <p:cNvPr id="78" name="Google Shape;78;p24"/>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79" name="Google Shape;79;p24"/>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0" name="Google Shape;80;p24"/>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1" name="Google Shape;81;p24"/>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_Title Slide 3">
  <p:cSld name="1_Title Slide 2">
    <p:spTree>
      <p:nvGrpSpPr>
        <p:cNvPr id="1" name="Shape 82"/>
        <p:cNvGrpSpPr/>
        <p:nvPr/>
      </p:nvGrpSpPr>
      <p:grpSpPr>
        <a:xfrm>
          <a:off x="0" y="0"/>
          <a:ext cx="0" cy="0"/>
          <a:chOff x="0" y="0"/>
          <a:chExt cx="0" cy="0"/>
        </a:xfrm>
      </p:grpSpPr>
      <p:pic>
        <p:nvPicPr>
          <p:cNvPr id="83" name="Google Shape;83;p25"/>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4" name="Google Shape;84;p25"/>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5" name="Google Shape;85;p25"/>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6" name="Google Shape;86;p25"/>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_Title Slide 4">
  <p:cSld name="2_Title Slide 2">
    <p:spTree>
      <p:nvGrpSpPr>
        <p:cNvPr id="1" name="Shape 87"/>
        <p:cNvGrpSpPr/>
        <p:nvPr/>
      </p:nvGrpSpPr>
      <p:grpSpPr>
        <a:xfrm>
          <a:off x="0" y="0"/>
          <a:ext cx="0" cy="0"/>
          <a:chOff x="0" y="0"/>
          <a:chExt cx="0" cy="0"/>
        </a:xfrm>
      </p:grpSpPr>
      <p:pic>
        <p:nvPicPr>
          <p:cNvPr id="88" name="Google Shape;88;p26"/>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9" name="Google Shape;89;p26"/>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0" name="Google Shape;90;p26"/>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91" name="Google Shape;91;p26"/>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_Title and Content (3/2) Blue">
  <p:cSld name="Title and Content (3/2) Blue">
    <p:bg>
      <p:bgPr>
        <a:blipFill>
          <a:blip r:embed="rId2">
            <a:alphaModFix/>
          </a:blip>
          <a:stretch>
            <a:fillRect/>
          </a:stretch>
        </a:blipFill>
        <a:effectLst/>
      </p:bgPr>
    </p:bg>
    <p:spTree>
      <p:nvGrpSpPr>
        <p:cNvPr id="1" name="Shape 92"/>
        <p:cNvGrpSpPr/>
        <p:nvPr/>
      </p:nvGrpSpPr>
      <p:grpSpPr>
        <a:xfrm>
          <a:off x="0" y="0"/>
          <a:ext cx="0" cy="0"/>
          <a:chOff x="0" y="0"/>
          <a:chExt cx="0" cy="0"/>
        </a:xfrm>
      </p:grpSpPr>
      <p:sp>
        <p:nvSpPr>
          <p:cNvPr id="93" name="Google Shape;93;p27"/>
          <p:cNvSpPr/>
          <p:nvPr/>
        </p:nvSpPr>
        <p:spPr>
          <a:xfrm>
            <a:off x="6066275"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94" name="Google Shape;94;p2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95" name="Google Shape;95;p27"/>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6" name="Google Shape;96;p27"/>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97" name="Google Shape;97;p27"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extLst>
    <p:ext uri="{DCECCB84-F9BA-43D5-87BE-67443E8EF086}">
      <p15:sldGuideLst xmlns:p15="http://schemas.microsoft.com/office/powerpoint/2012/main">
        <p15:guide id="1" pos="4918">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_Title and Content" type="obj">
  <p:cSld name="OBJECT">
    <p:spTree>
      <p:nvGrpSpPr>
        <p:cNvPr id="1" name="Shape 98"/>
        <p:cNvGrpSpPr/>
        <p:nvPr/>
      </p:nvGrpSpPr>
      <p:grpSpPr>
        <a:xfrm>
          <a:off x="0" y="0"/>
          <a:ext cx="0" cy="0"/>
          <a:chOff x="0" y="0"/>
          <a:chExt cx="0" cy="0"/>
        </a:xfrm>
      </p:grpSpPr>
      <p:sp>
        <p:nvSpPr>
          <p:cNvPr id="99" name="Google Shape;99;p28"/>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0" name="Google Shape;100;p28"/>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_Title and Content (1/2) Light">
  <p:cSld name="Title and Content (1/2) Light">
    <p:spTree>
      <p:nvGrpSpPr>
        <p:cNvPr id="1" name="Shape 101"/>
        <p:cNvGrpSpPr/>
        <p:nvPr/>
      </p:nvGrpSpPr>
      <p:grpSpPr>
        <a:xfrm>
          <a:off x="0" y="0"/>
          <a:ext cx="0" cy="0"/>
          <a:chOff x="0" y="0"/>
          <a:chExt cx="0" cy="0"/>
        </a:xfrm>
      </p:grpSpPr>
      <p:sp>
        <p:nvSpPr>
          <p:cNvPr id="102" name="Google Shape;102;p29"/>
          <p:cNvSpPr/>
          <p:nvPr/>
        </p:nvSpPr>
        <p:spPr>
          <a:xfrm>
            <a:off x="4572000" y="0"/>
            <a:ext cx="45720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3" name="Google Shape;103;p29"/>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4" name="Google Shape;104;p29"/>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05" name="Google Shape;105;p2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06" name="Google Shape;106;p29"/>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_Title and Content (1/2) Blue">
  <p:cSld name="Title and Content (1/2) Blue">
    <p:spTree>
      <p:nvGrpSpPr>
        <p:cNvPr id="1" name="Shape 107"/>
        <p:cNvGrpSpPr/>
        <p:nvPr/>
      </p:nvGrpSpPr>
      <p:grpSpPr>
        <a:xfrm>
          <a:off x="0" y="0"/>
          <a:ext cx="0" cy="0"/>
          <a:chOff x="0" y="0"/>
          <a:chExt cx="0" cy="0"/>
        </a:xfrm>
      </p:grpSpPr>
      <p:sp>
        <p:nvSpPr>
          <p:cNvPr id="108" name="Google Shape;108;p30"/>
          <p:cNvSpPr/>
          <p:nvPr/>
        </p:nvSpPr>
        <p:spPr>
          <a:xfrm>
            <a:off x="4572000" y="0"/>
            <a:ext cx="45720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9" name="Google Shape;109;p3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10" name="Google Shape;110;p30"/>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1" name="Google Shape;111;p30"/>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12" name="Google Shape;112;p30"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_Title and Content (2/3) Blue">
  <p:cSld name="Title and Content (2/3) Blue">
    <p:spTree>
      <p:nvGrpSpPr>
        <p:cNvPr id="1" name="Shape 113"/>
        <p:cNvGrpSpPr/>
        <p:nvPr/>
      </p:nvGrpSpPr>
      <p:grpSpPr>
        <a:xfrm>
          <a:off x="0" y="0"/>
          <a:ext cx="0" cy="0"/>
          <a:chOff x="0" y="0"/>
          <a:chExt cx="0" cy="0"/>
        </a:xfrm>
      </p:grpSpPr>
      <p:sp>
        <p:nvSpPr>
          <p:cNvPr id="114" name="Google Shape;114;p31"/>
          <p:cNvSpPr/>
          <p:nvPr/>
        </p:nvSpPr>
        <p:spPr>
          <a:xfrm>
            <a:off x="-4188"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15" name="Google Shape;115;p31"/>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lt1"/>
              </a:buClr>
              <a:buSzPts val="2000"/>
              <a:buFont typeface="DM Sans"/>
              <a:buNone/>
              <a:defRPr>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6" name="Google Shape;116;p31"/>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23850" algn="l">
              <a:lnSpc>
                <a:spcPct val="90000"/>
              </a:lnSpc>
              <a:spcBef>
                <a:spcPts val="800"/>
              </a:spcBef>
              <a:spcAft>
                <a:spcPts val="0"/>
              </a:spcAft>
              <a:buClr>
                <a:schemeClr val="lt1"/>
              </a:buClr>
              <a:buSzPts val="1500"/>
              <a:buChar char="•"/>
              <a:defRPr>
                <a:solidFill>
                  <a:schemeClr val="lt1"/>
                </a:solidFill>
              </a:defRPr>
            </a:lvl1pPr>
            <a:lvl2pPr marL="914400" lvl="1" indent="-317500" algn="l">
              <a:lnSpc>
                <a:spcPct val="90000"/>
              </a:lnSpc>
              <a:spcBef>
                <a:spcPts val="400"/>
              </a:spcBef>
              <a:spcAft>
                <a:spcPts val="0"/>
              </a:spcAft>
              <a:buClr>
                <a:schemeClr val="lt1"/>
              </a:buClr>
              <a:buSzPts val="1400"/>
              <a:buChar char="•"/>
              <a:defRPr>
                <a:solidFill>
                  <a:schemeClr val="lt1"/>
                </a:solidFill>
              </a:defRPr>
            </a:lvl2pPr>
            <a:lvl3pPr marL="1371600" lvl="2" indent="-304800" algn="l">
              <a:lnSpc>
                <a:spcPct val="90000"/>
              </a:lnSpc>
              <a:spcBef>
                <a:spcPts val="400"/>
              </a:spcBef>
              <a:spcAft>
                <a:spcPts val="0"/>
              </a:spcAft>
              <a:buClr>
                <a:schemeClr val="lt1"/>
              </a:buClr>
              <a:buSzPts val="1200"/>
              <a:buChar char="•"/>
              <a:defRPr>
                <a:solidFill>
                  <a:schemeClr val="lt1"/>
                </a:solidFill>
              </a:defRPr>
            </a:lvl3pPr>
            <a:lvl4pPr marL="1828800" lvl="3" indent="-298450" algn="l">
              <a:lnSpc>
                <a:spcPct val="90000"/>
              </a:lnSpc>
              <a:spcBef>
                <a:spcPts val="400"/>
              </a:spcBef>
              <a:spcAft>
                <a:spcPts val="0"/>
              </a:spcAft>
              <a:buClr>
                <a:schemeClr val="lt1"/>
              </a:buClr>
              <a:buSzPts val="1100"/>
              <a:buChar char="•"/>
              <a:defRPr>
                <a:solidFill>
                  <a:schemeClr val="lt1"/>
                </a:solidFill>
              </a:defRPr>
            </a:lvl4pPr>
            <a:lvl5pPr marL="2286000" lvl="4" indent="-298450" algn="l">
              <a:lnSpc>
                <a:spcPct val="90000"/>
              </a:lnSpc>
              <a:spcBef>
                <a:spcPts val="400"/>
              </a:spcBef>
              <a:spcAft>
                <a:spcPts val="0"/>
              </a:spcAft>
              <a:buClr>
                <a:schemeClr val="lt1"/>
              </a:buClr>
              <a:buSzPts val="11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117" name="Google Shape;117;p31"/>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18" name="Google Shape;118;p31"/>
          <p:cNvPicPr preferRelativeResize="0"/>
          <p:nvPr/>
        </p:nvPicPr>
        <p:blipFill rotWithShape="1">
          <a:blip r:embed="rId2">
            <a:alphaModFix/>
          </a:blip>
          <a:srcRect/>
          <a:stretch/>
        </p:blipFill>
        <p:spPr>
          <a:xfrm>
            <a:off x="420742" y="4829647"/>
            <a:ext cx="310926" cy="149074"/>
          </a:xfrm>
          <a:prstGeom prst="rect">
            <a:avLst/>
          </a:prstGeom>
          <a:noFill/>
          <a:ln>
            <a:noFill/>
          </a:ln>
        </p:spPr>
      </p:pic>
      <p:pic>
        <p:nvPicPr>
          <p:cNvPr id="119" name="Google Shape;119;p31"/>
          <p:cNvPicPr preferRelativeResize="0"/>
          <p:nvPr/>
        </p:nvPicPr>
        <p:blipFill rotWithShape="1">
          <a:blip r:embed="rId3">
            <a:alphaModFix/>
          </a:blip>
          <a:srcRect/>
          <a:stretch/>
        </p:blipFill>
        <p:spPr>
          <a:xfrm>
            <a:off x="4719311" y="3391372"/>
            <a:ext cx="313335" cy="151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_Title and Content (3/2) Light">
  <p:cSld name="Title and Content (3/2) Light">
    <p:spTree>
      <p:nvGrpSpPr>
        <p:cNvPr id="1" name="Shape 120"/>
        <p:cNvGrpSpPr/>
        <p:nvPr/>
      </p:nvGrpSpPr>
      <p:grpSpPr>
        <a:xfrm>
          <a:off x="0" y="0"/>
          <a:ext cx="0" cy="0"/>
          <a:chOff x="0" y="0"/>
          <a:chExt cx="0" cy="0"/>
        </a:xfrm>
      </p:grpSpPr>
      <p:sp>
        <p:nvSpPr>
          <p:cNvPr id="121" name="Google Shape;121;p32"/>
          <p:cNvSpPr/>
          <p:nvPr/>
        </p:nvSpPr>
        <p:spPr>
          <a:xfrm>
            <a:off x="6066275"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2" name="Google Shape;122;p32"/>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23" name="Google Shape;123;p32"/>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4" name="Google Shape;124;p32"/>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25" name="Google Shape;125;p32"/>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_Cards 1">
  <p:cSld name="Cards 1">
    <p:spTree>
      <p:nvGrpSpPr>
        <p:cNvPr id="1" name="Shape 126"/>
        <p:cNvGrpSpPr/>
        <p:nvPr/>
      </p:nvGrpSpPr>
      <p:grpSpPr>
        <a:xfrm>
          <a:off x="0" y="0"/>
          <a:ext cx="0" cy="0"/>
          <a:chOff x="0" y="0"/>
          <a:chExt cx="0" cy="0"/>
        </a:xfrm>
      </p:grpSpPr>
      <p:sp>
        <p:nvSpPr>
          <p:cNvPr id="127" name="Google Shape;127;p33"/>
          <p:cNvSpPr/>
          <p:nvPr/>
        </p:nvSpPr>
        <p:spPr>
          <a:xfrm>
            <a:off x="492931"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8" name="Google Shape;128;p33"/>
          <p:cNvSpPr/>
          <p:nvPr/>
        </p:nvSpPr>
        <p:spPr>
          <a:xfrm>
            <a:off x="3378413"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9" name="Google Shape;129;p33"/>
          <p:cNvSpPr/>
          <p:nvPr/>
        </p:nvSpPr>
        <p:spPr>
          <a:xfrm>
            <a:off x="6256421"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30" name="Google Shape;130;p33"/>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1" name="Google Shape;131;p33"/>
          <p:cNvSpPr txBox="1">
            <a:spLocks noGrp="1"/>
          </p:cNvSpPr>
          <p:nvPr>
            <p:ph type="body" idx="1"/>
          </p:nvPr>
        </p:nvSpPr>
        <p:spPr>
          <a:xfrm>
            <a:off x="740774"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2" name="Google Shape;132;p33"/>
          <p:cNvSpPr txBox="1">
            <a:spLocks noGrp="1"/>
          </p:cNvSpPr>
          <p:nvPr>
            <p:ph type="body" idx="2"/>
          </p:nvPr>
        </p:nvSpPr>
        <p:spPr>
          <a:xfrm>
            <a:off x="667264"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3" name="Google Shape;133;p33"/>
          <p:cNvSpPr txBox="1">
            <a:spLocks noGrp="1"/>
          </p:cNvSpPr>
          <p:nvPr>
            <p:ph type="body" idx="3"/>
          </p:nvPr>
        </p:nvSpPr>
        <p:spPr>
          <a:xfrm>
            <a:off x="362576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4" name="Google Shape;134;p33"/>
          <p:cNvSpPr txBox="1">
            <a:spLocks noGrp="1"/>
          </p:cNvSpPr>
          <p:nvPr>
            <p:ph type="body" idx="4"/>
          </p:nvPr>
        </p:nvSpPr>
        <p:spPr>
          <a:xfrm>
            <a:off x="355225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5" name="Google Shape;135;p33"/>
          <p:cNvSpPr txBox="1">
            <a:spLocks noGrp="1"/>
          </p:cNvSpPr>
          <p:nvPr>
            <p:ph type="body" idx="5"/>
          </p:nvPr>
        </p:nvSpPr>
        <p:spPr>
          <a:xfrm>
            <a:off x="650377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6" name="Google Shape;136;p33"/>
          <p:cNvSpPr txBox="1">
            <a:spLocks noGrp="1"/>
          </p:cNvSpPr>
          <p:nvPr>
            <p:ph type="body" idx="6"/>
          </p:nvPr>
        </p:nvSpPr>
        <p:spPr>
          <a:xfrm>
            <a:off x="643026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37" name="Google Shape;137;p33"/>
          <p:cNvCxnSpPr/>
          <p:nvPr/>
        </p:nvCxnSpPr>
        <p:spPr>
          <a:xfrm>
            <a:off x="740774" y="1847088"/>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38" name="Google Shape;138;p33"/>
          <p:cNvCxnSpPr/>
          <p:nvPr/>
        </p:nvCxnSpPr>
        <p:spPr>
          <a:xfrm>
            <a:off x="3625767" y="1847088"/>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39" name="Google Shape;139;p33"/>
          <p:cNvCxnSpPr/>
          <p:nvPr/>
        </p:nvCxnSpPr>
        <p:spPr>
          <a:xfrm>
            <a:off x="6503777" y="1847088"/>
            <a:ext cx="1910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_Cards 2">
  <p:cSld name="Cards 2">
    <p:spTree>
      <p:nvGrpSpPr>
        <p:cNvPr id="1" name="Shape 140"/>
        <p:cNvGrpSpPr/>
        <p:nvPr/>
      </p:nvGrpSpPr>
      <p:grpSpPr>
        <a:xfrm>
          <a:off x="0" y="0"/>
          <a:ext cx="0" cy="0"/>
          <a:chOff x="0" y="0"/>
          <a:chExt cx="0" cy="0"/>
        </a:xfrm>
      </p:grpSpPr>
      <p:sp>
        <p:nvSpPr>
          <p:cNvPr id="141" name="Google Shape;141;p34"/>
          <p:cNvSpPr/>
          <p:nvPr/>
        </p:nvSpPr>
        <p:spPr>
          <a:xfrm>
            <a:off x="492931"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2" name="Google Shape;142;p34"/>
          <p:cNvSpPr/>
          <p:nvPr/>
        </p:nvSpPr>
        <p:spPr>
          <a:xfrm>
            <a:off x="3378413"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3" name="Google Shape;143;p34"/>
          <p:cNvSpPr/>
          <p:nvPr/>
        </p:nvSpPr>
        <p:spPr>
          <a:xfrm>
            <a:off x="6256421"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4" name="Google Shape;144;p34"/>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45" name="Google Shape;145;p34"/>
          <p:cNvSpPr txBox="1">
            <a:spLocks noGrp="1"/>
          </p:cNvSpPr>
          <p:nvPr>
            <p:ph type="body" idx="1"/>
          </p:nvPr>
        </p:nvSpPr>
        <p:spPr>
          <a:xfrm>
            <a:off x="740774"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6" name="Google Shape;146;p34"/>
          <p:cNvSpPr txBox="1">
            <a:spLocks noGrp="1"/>
          </p:cNvSpPr>
          <p:nvPr>
            <p:ph type="body" idx="2"/>
          </p:nvPr>
        </p:nvSpPr>
        <p:spPr>
          <a:xfrm>
            <a:off x="66726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7" name="Google Shape;147;p34"/>
          <p:cNvSpPr txBox="1">
            <a:spLocks noGrp="1"/>
          </p:cNvSpPr>
          <p:nvPr>
            <p:ph type="body" idx="3"/>
          </p:nvPr>
        </p:nvSpPr>
        <p:spPr>
          <a:xfrm>
            <a:off x="3626255"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8" name="Google Shape;148;p34"/>
          <p:cNvSpPr txBox="1">
            <a:spLocks noGrp="1"/>
          </p:cNvSpPr>
          <p:nvPr>
            <p:ph type="body" idx="4"/>
          </p:nvPr>
        </p:nvSpPr>
        <p:spPr>
          <a:xfrm>
            <a:off x="3552745"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9" name="Google Shape;149;p34"/>
          <p:cNvSpPr txBox="1">
            <a:spLocks noGrp="1"/>
          </p:cNvSpPr>
          <p:nvPr>
            <p:ph type="body" idx="5"/>
          </p:nvPr>
        </p:nvSpPr>
        <p:spPr>
          <a:xfrm>
            <a:off x="6504263"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0" name="Google Shape;150;p34"/>
          <p:cNvSpPr txBox="1">
            <a:spLocks noGrp="1"/>
          </p:cNvSpPr>
          <p:nvPr>
            <p:ph type="body" idx="6"/>
          </p:nvPr>
        </p:nvSpPr>
        <p:spPr>
          <a:xfrm>
            <a:off x="643075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1" name="Google Shape;151;p34"/>
          <p:cNvSpPr txBox="1">
            <a:spLocks noGrp="1"/>
          </p:cNvSpPr>
          <p:nvPr>
            <p:ph type="body" idx="7"/>
          </p:nvPr>
        </p:nvSpPr>
        <p:spPr>
          <a:xfrm>
            <a:off x="420743" y="812524"/>
            <a:ext cx="8302500" cy="13815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52" name="Google Shape;152;p34"/>
          <p:cNvCxnSpPr/>
          <p:nvPr/>
        </p:nvCxnSpPr>
        <p:spPr>
          <a:xfrm>
            <a:off x="740774" y="3423224"/>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53" name="Google Shape;153;p34"/>
          <p:cNvCxnSpPr/>
          <p:nvPr/>
        </p:nvCxnSpPr>
        <p:spPr>
          <a:xfrm>
            <a:off x="3628353" y="3423224"/>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54" name="Google Shape;154;p34"/>
          <p:cNvCxnSpPr/>
          <p:nvPr/>
        </p:nvCxnSpPr>
        <p:spPr>
          <a:xfrm>
            <a:off x="6503777" y="3423224"/>
            <a:ext cx="1910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_Cards 3">
  <p:cSld name="Cards 3">
    <p:spTree>
      <p:nvGrpSpPr>
        <p:cNvPr id="1" name="Shape 155"/>
        <p:cNvGrpSpPr/>
        <p:nvPr/>
      </p:nvGrpSpPr>
      <p:grpSpPr>
        <a:xfrm>
          <a:off x="0" y="0"/>
          <a:ext cx="0" cy="0"/>
          <a:chOff x="0" y="0"/>
          <a:chExt cx="0" cy="0"/>
        </a:xfrm>
      </p:grpSpPr>
      <p:sp>
        <p:nvSpPr>
          <p:cNvPr id="156" name="Google Shape;156;p35"/>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7" name="Google Shape;157;p35"/>
          <p:cNvSpPr/>
          <p:nvPr/>
        </p:nvSpPr>
        <p:spPr>
          <a:xfrm>
            <a:off x="4630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58" name="Google Shape;158;p35"/>
          <p:cNvSpPr/>
          <p:nvPr/>
        </p:nvSpPr>
        <p:spPr>
          <a:xfrm>
            <a:off x="10311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59" name="Google Shape;159;p35"/>
          <p:cNvSpPr/>
          <p:nvPr/>
        </p:nvSpPr>
        <p:spPr>
          <a:xfrm>
            <a:off x="25966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0" name="Google Shape;160;p35"/>
          <p:cNvSpPr/>
          <p:nvPr/>
        </p:nvSpPr>
        <p:spPr>
          <a:xfrm>
            <a:off x="31647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1" name="Google Shape;161;p35"/>
          <p:cNvSpPr/>
          <p:nvPr/>
        </p:nvSpPr>
        <p:spPr>
          <a:xfrm>
            <a:off x="47302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2" name="Google Shape;162;p35"/>
          <p:cNvSpPr/>
          <p:nvPr/>
        </p:nvSpPr>
        <p:spPr>
          <a:xfrm>
            <a:off x="52983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3" name="Google Shape;163;p35"/>
          <p:cNvSpPr/>
          <p:nvPr/>
        </p:nvSpPr>
        <p:spPr>
          <a:xfrm>
            <a:off x="68638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4" name="Google Shape;164;p35"/>
          <p:cNvSpPr/>
          <p:nvPr/>
        </p:nvSpPr>
        <p:spPr>
          <a:xfrm>
            <a:off x="74319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5" name="Google Shape;165;p35"/>
          <p:cNvSpPr txBox="1">
            <a:spLocks noGrp="1"/>
          </p:cNvSpPr>
          <p:nvPr>
            <p:ph type="body" idx="1"/>
          </p:nvPr>
        </p:nvSpPr>
        <p:spPr>
          <a:xfrm>
            <a:off x="5725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6" name="Google Shape;166;p35"/>
          <p:cNvSpPr txBox="1">
            <a:spLocks noGrp="1"/>
          </p:cNvSpPr>
          <p:nvPr>
            <p:ph type="body" idx="2"/>
          </p:nvPr>
        </p:nvSpPr>
        <p:spPr>
          <a:xfrm>
            <a:off x="2706160"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7" name="Google Shape;167;p35"/>
          <p:cNvSpPr txBox="1">
            <a:spLocks noGrp="1"/>
          </p:cNvSpPr>
          <p:nvPr>
            <p:ph type="body" idx="3"/>
          </p:nvPr>
        </p:nvSpPr>
        <p:spPr>
          <a:xfrm>
            <a:off x="48397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8" name="Google Shape;168;p35"/>
          <p:cNvSpPr txBox="1">
            <a:spLocks noGrp="1"/>
          </p:cNvSpPr>
          <p:nvPr>
            <p:ph type="body" idx="4"/>
          </p:nvPr>
        </p:nvSpPr>
        <p:spPr>
          <a:xfrm>
            <a:off x="69733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9" name="Google Shape;169;p35"/>
          <p:cNvSpPr txBox="1">
            <a:spLocks noGrp="1"/>
          </p:cNvSpPr>
          <p:nvPr>
            <p:ph type="body" idx="5"/>
          </p:nvPr>
        </p:nvSpPr>
        <p:spPr>
          <a:xfrm>
            <a:off x="572561"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0" name="Google Shape;170;p35"/>
          <p:cNvSpPr txBox="1">
            <a:spLocks noGrp="1"/>
          </p:cNvSpPr>
          <p:nvPr>
            <p:ph type="body" idx="6"/>
          </p:nvPr>
        </p:nvSpPr>
        <p:spPr>
          <a:xfrm>
            <a:off x="27061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1" name="Google Shape;171;p35"/>
          <p:cNvSpPr txBox="1">
            <a:spLocks noGrp="1"/>
          </p:cNvSpPr>
          <p:nvPr>
            <p:ph type="body" idx="7"/>
          </p:nvPr>
        </p:nvSpPr>
        <p:spPr>
          <a:xfrm>
            <a:off x="48397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2" name="Google Shape;172;p35"/>
          <p:cNvSpPr txBox="1">
            <a:spLocks noGrp="1"/>
          </p:cNvSpPr>
          <p:nvPr>
            <p:ph type="body" idx="8"/>
          </p:nvPr>
        </p:nvSpPr>
        <p:spPr>
          <a:xfrm>
            <a:off x="69733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73" name="Google Shape;173;p35"/>
          <p:cNvCxnSpPr/>
          <p:nvPr/>
        </p:nvCxnSpPr>
        <p:spPr>
          <a:xfrm>
            <a:off x="6337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4" name="Google Shape;174;p35"/>
          <p:cNvCxnSpPr/>
          <p:nvPr/>
        </p:nvCxnSpPr>
        <p:spPr>
          <a:xfrm>
            <a:off x="27673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5" name="Google Shape;175;p35"/>
          <p:cNvCxnSpPr/>
          <p:nvPr/>
        </p:nvCxnSpPr>
        <p:spPr>
          <a:xfrm>
            <a:off x="49009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6" name="Google Shape;176;p35"/>
          <p:cNvCxnSpPr/>
          <p:nvPr/>
        </p:nvCxnSpPr>
        <p:spPr>
          <a:xfrm>
            <a:off x="7034558" y="1940821"/>
            <a:ext cx="1535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_Cards 4">
  <p:cSld name="Cards 4">
    <p:spTree>
      <p:nvGrpSpPr>
        <p:cNvPr id="1" name="Shape 177"/>
        <p:cNvGrpSpPr/>
        <p:nvPr/>
      </p:nvGrpSpPr>
      <p:grpSpPr>
        <a:xfrm>
          <a:off x="0" y="0"/>
          <a:ext cx="0" cy="0"/>
          <a:chOff x="0" y="0"/>
          <a:chExt cx="0" cy="0"/>
        </a:xfrm>
      </p:grpSpPr>
      <p:sp>
        <p:nvSpPr>
          <p:cNvPr id="178" name="Google Shape;178;p36"/>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9" name="Google Shape;179;p36"/>
          <p:cNvSpPr/>
          <p:nvPr/>
        </p:nvSpPr>
        <p:spPr>
          <a:xfrm>
            <a:off x="734137" y="1133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0" name="Google Shape;180;p36"/>
          <p:cNvSpPr/>
          <p:nvPr/>
        </p:nvSpPr>
        <p:spPr>
          <a:xfrm>
            <a:off x="420743" y="1247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1" name="Google Shape;181;p36"/>
          <p:cNvSpPr txBox="1">
            <a:spLocks noGrp="1"/>
          </p:cNvSpPr>
          <p:nvPr>
            <p:ph type="body" idx="1"/>
          </p:nvPr>
        </p:nvSpPr>
        <p:spPr>
          <a:xfrm>
            <a:off x="11907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2" name="Google Shape;182;p36"/>
          <p:cNvSpPr/>
          <p:nvPr/>
        </p:nvSpPr>
        <p:spPr>
          <a:xfrm>
            <a:off x="5115637" y="1133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3" name="Google Shape;183;p36"/>
          <p:cNvSpPr/>
          <p:nvPr/>
        </p:nvSpPr>
        <p:spPr>
          <a:xfrm>
            <a:off x="4802243" y="1247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4" name="Google Shape;184;p36"/>
          <p:cNvSpPr txBox="1">
            <a:spLocks noGrp="1"/>
          </p:cNvSpPr>
          <p:nvPr>
            <p:ph type="body" idx="2"/>
          </p:nvPr>
        </p:nvSpPr>
        <p:spPr>
          <a:xfrm>
            <a:off x="55722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5" name="Google Shape;185;p36"/>
          <p:cNvSpPr/>
          <p:nvPr/>
        </p:nvSpPr>
        <p:spPr>
          <a:xfrm>
            <a:off x="734137" y="2276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6" name="Google Shape;186;p36"/>
          <p:cNvSpPr/>
          <p:nvPr/>
        </p:nvSpPr>
        <p:spPr>
          <a:xfrm>
            <a:off x="420743" y="2390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7" name="Google Shape;187;p36"/>
          <p:cNvSpPr txBox="1">
            <a:spLocks noGrp="1"/>
          </p:cNvSpPr>
          <p:nvPr>
            <p:ph type="body" idx="3"/>
          </p:nvPr>
        </p:nvSpPr>
        <p:spPr>
          <a:xfrm>
            <a:off x="11907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8" name="Google Shape;188;p36"/>
          <p:cNvSpPr/>
          <p:nvPr/>
        </p:nvSpPr>
        <p:spPr>
          <a:xfrm>
            <a:off x="5115637" y="2276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9" name="Google Shape;189;p36"/>
          <p:cNvSpPr/>
          <p:nvPr/>
        </p:nvSpPr>
        <p:spPr>
          <a:xfrm>
            <a:off x="4802243" y="2390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0" name="Google Shape;190;p36"/>
          <p:cNvSpPr txBox="1">
            <a:spLocks noGrp="1"/>
          </p:cNvSpPr>
          <p:nvPr>
            <p:ph type="body" idx="4"/>
          </p:nvPr>
        </p:nvSpPr>
        <p:spPr>
          <a:xfrm>
            <a:off x="55722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1" name="Google Shape;191;p36"/>
          <p:cNvSpPr/>
          <p:nvPr/>
        </p:nvSpPr>
        <p:spPr>
          <a:xfrm>
            <a:off x="734137" y="3419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2" name="Google Shape;192;p36"/>
          <p:cNvSpPr/>
          <p:nvPr/>
        </p:nvSpPr>
        <p:spPr>
          <a:xfrm>
            <a:off x="420743" y="3533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3" name="Google Shape;193;p36"/>
          <p:cNvSpPr txBox="1">
            <a:spLocks noGrp="1"/>
          </p:cNvSpPr>
          <p:nvPr>
            <p:ph type="body" idx="5"/>
          </p:nvPr>
        </p:nvSpPr>
        <p:spPr>
          <a:xfrm>
            <a:off x="11907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4" name="Google Shape;194;p36"/>
          <p:cNvSpPr/>
          <p:nvPr/>
        </p:nvSpPr>
        <p:spPr>
          <a:xfrm>
            <a:off x="5115637" y="3419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5" name="Google Shape;195;p36"/>
          <p:cNvSpPr/>
          <p:nvPr/>
        </p:nvSpPr>
        <p:spPr>
          <a:xfrm>
            <a:off x="4802243" y="3533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6" name="Google Shape;196;p36"/>
          <p:cNvSpPr txBox="1">
            <a:spLocks noGrp="1"/>
          </p:cNvSpPr>
          <p:nvPr>
            <p:ph type="body" idx="6"/>
          </p:nvPr>
        </p:nvSpPr>
        <p:spPr>
          <a:xfrm>
            <a:off x="55722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_Testimonials 1">
  <p:cSld name="Testimonials 1">
    <p:bg>
      <p:bgPr>
        <a:solidFill>
          <a:schemeClr val="lt2"/>
        </a:solidFill>
        <a:effectLst/>
      </p:bgPr>
    </p:bg>
    <p:spTree>
      <p:nvGrpSpPr>
        <p:cNvPr id="1" name="Shape 197"/>
        <p:cNvGrpSpPr/>
        <p:nvPr/>
      </p:nvGrpSpPr>
      <p:grpSpPr>
        <a:xfrm>
          <a:off x="0" y="0"/>
          <a:ext cx="0" cy="0"/>
          <a:chOff x="0" y="0"/>
          <a:chExt cx="0" cy="0"/>
        </a:xfrm>
      </p:grpSpPr>
      <p:sp>
        <p:nvSpPr>
          <p:cNvPr id="198" name="Google Shape;198;p37"/>
          <p:cNvSpPr txBox="1">
            <a:spLocks noGrp="1"/>
          </p:cNvSpPr>
          <p:nvPr>
            <p:ph type="title"/>
          </p:nvPr>
        </p:nvSpPr>
        <p:spPr>
          <a:xfrm>
            <a:off x="420743" y="439044"/>
            <a:ext cx="4151400" cy="3672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1100"/>
              <a:buFont typeface="DM Sans"/>
              <a:buNone/>
              <a:defRPr sz="11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9" name="Google Shape;199;p37"/>
          <p:cNvSpPr txBox="1">
            <a:spLocks noGrp="1"/>
          </p:cNvSpPr>
          <p:nvPr>
            <p:ph type="body" idx="1"/>
          </p:nvPr>
        </p:nvSpPr>
        <p:spPr>
          <a:xfrm>
            <a:off x="420743" y="821019"/>
            <a:ext cx="4151400" cy="2194200"/>
          </a:xfrm>
          <a:prstGeom prst="rect">
            <a:avLst/>
          </a:prstGeom>
          <a:noFill/>
          <a:ln>
            <a:noFill/>
          </a:ln>
        </p:spPr>
        <p:txBody>
          <a:bodyPr spcFirstLastPara="1" wrap="square" lIns="68575" tIns="34275" rIns="68575" bIns="34275" anchor="t" anchorCtr="0">
            <a:normAutofit/>
          </a:bodyPr>
          <a:lstStyle>
            <a:lvl1pPr marL="457200" lvl="0" indent="-361950" algn="l">
              <a:lnSpc>
                <a:spcPct val="90000"/>
              </a:lnSpc>
              <a:spcBef>
                <a:spcPts val="800"/>
              </a:spcBef>
              <a:spcAft>
                <a:spcPts val="0"/>
              </a:spcAft>
              <a:buClr>
                <a:schemeClr val="dk1"/>
              </a:buClr>
              <a:buSzPts val="2100"/>
              <a:buChar char="•"/>
              <a:defRPr sz="2100"/>
            </a:lvl1pPr>
            <a:lvl2pPr marL="914400" lvl="1" indent="-342900" algn="l">
              <a:lnSpc>
                <a:spcPct val="90000"/>
              </a:lnSpc>
              <a:spcBef>
                <a:spcPts val="400"/>
              </a:spcBef>
              <a:spcAft>
                <a:spcPts val="0"/>
              </a:spcAft>
              <a:buClr>
                <a:schemeClr val="dk1"/>
              </a:buClr>
              <a:buSzPts val="1800"/>
              <a:buChar char="•"/>
              <a:defRPr sz="1800"/>
            </a:lvl2pPr>
            <a:lvl3pPr marL="1371600" lvl="2" indent="-323850" algn="l">
              <a:lnSpc>
                <a:spcPct val="90000"/>
              </a:lnSpc>
              <a:spcBef>
                <a:spcPts val="400"/>
              </a:spcBef>
              <a:spcAft>
                <a:spcPts val="0"/>
              </a:spcAft>
              <a:buClr>
                <a:schemeClr val="dk1"/>
              </a:buClr>
              <a:buSzPts val="1500"/>
              <a:buChar char="•"/>
              <a:defRPr sz="1500"/>
            </a:lvl3pPr>
            <a:lvl4pPr marL="1828800" lvl="3" indent="-317500" algn="l">
              <a:lnSpc>
                <a:spcPct val="90000"/>
              </a:lnSpc>
              <a:spcBef>
                <a:spcPts val="400"/>
              </a:spcBef>
              <a:spcAft>
                <a:spcPts val="0"/>
              </a:spcAft>
              <a:buClr>
                <a:schemeClr val="dk1"/>
              </a:buClr>
              <a:buSzPts val="1400"/>
              <a:buChar char="•"/>
              <a:defRPr sz="1400"/>
            </a:lvl4pPr>
            <a:lvl5pPr marL="2286000" lvl="4" indent="-317500" algn="l">
              <a:lnSpc>
                <a:spcPct val="90000"/>
              </a:lnSpc>
              <a:spcBef>
                <a:spcPts val="400"/>
              </a:spcBef>
              <a:spcAft>
                <a:spcPts val="0"/>
              </a:spcAft>
              <a:buClr>
                <a:schemeClr val="dk1"/>
              </a:buClr>
              <a:buSzPts val="1400"/>
              <a:buChar char="•"/>
              <a:defRPr sz="14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0" name="Google Shape;200;p37"/>
          <p:cNvSpPr>
            <a:spLocks noGrp="1"/>
          </p:cNvSpPr>
          <p:nvPr>
            <p:ph type="pic" idx="2"/>
          </p:nvPr>
        </p:nvSpPr>
        <p:spPr>
          <a:xfrm>
            <a:off x="520220" y="2791738"/>
            <a:ext cx="714600" cy="714600"/>
          </a:xfrm>
          <a:prstGeom prst="ellipse">
            <a:avLst/>
          </a:prstGeom>
          <a:noFill/>
          <a:ln w="12700" cap="flat" cmpd="sng">
            <a:solidFill>
              <a:schemeClr val="dk2"/>
            </a:solidFill>
            <a:prstDash val="solid"/>
            <a:round/>
            <a:headEnd type="none" w="sm" len="sm"/>
            <a:tailEnd type="none" w="sm" len="sm"/>
          </a:ln>
        </p:spPr>
      </p:sp>
      <p:sp>
        <p:nvSpPr>
          <p:cNvPr id="201" name="Google Shape;201;p37"/>
          <p:cNvSpPr txBox="1">
            <a:spLocks noGrp="1"/>
          </p:cNvSpPr>
          <p:nvPr>
            <p:ph type="body" idx="3"/>
          </p:nvPr>
        </p:nvSpPr>
        <p:spPr>
          <a:xfrm>
            <a:off x="1335785" y="2922110"/>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400"/>
              <a:buNone/>
              <a:defRPr sz="14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2" name="Google Shape;202;p37"/>
          <p:cNvSpPr txBox="1">
            <a:spLocks noGrp="1"/>
          </p:cNvSpPr>
          <p:nvPr>
            <p:ph type="body" idx="4"/>
          </p:nvPr>
        </p:nvSpPr>
        <p:spPr>
          <a:xfrm>
            <a:off x="1335785" y="3137613"/>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203" name="Google Shape;203;p37" descr="A blue line on a black background  Description automatically generated"/>
          <p:cNvPicPr preferRelativeResize="0"/>
          <p:nvPr/>
        </p:nvPicPr>
        <p:blipFill rotWithShape="1">
          <a:blip r:embed="rId2">
            <a:alphaModFix/>
          </a:blip>
          <a:srcRect/>
          <a:stretch/>
        </p:blipFill>
        <p:spPr>
          <a:xfrm>
            <a:off x="7088382" y="3892490"/>
            <a:ext cx="2055618" cy="1282314"/>
          </a:xfrm>
          <a:prstGeom prst="rect">
            <a:avLst/>
          </a:prstGeom>
          <a:noFill/>
          <a:ln>
            <a:noFill/>
          </a:ln>
        </p:spPr>
      </p:pic>
      <p:pic>
        <p:nvPicPr>
          <p:cNvPr id="204" name="Google Shape;204;p37" descr="A blue line on a black background  Description automatically generated"/>
          <p:cNvPicPr preferRelativeResize="0"/>
          <p:nvPr/>
        </p:nvPicPr>
        <p:blipFill rotWithShape="1">
          <a:blip r:embed="rId3">
            <a:alphaModFix/>
          </a:blip>
          <a:srcRect/>
          <a:stretch/>
        </p:blipFill>
        <p:spPr>
          <a:xfrm rot="10800000">
            <a:off x="0" y="4025113"/>
            <a:ext cx="2669286" cy="1122440"/>
          </a:xfrm>
          <a:prstGeom prst="rect">
            <a:avLst/>
          </a:prstGeom>
          <a:noFill/>
          <a:ln>
            <a:noFill/>
          </a:ln>
        </p:spPr>
      </p:pic>
      <p:sp>
        <p:nvSpPr>
          <p:cNvPr id="205" name="Google Shape;205;p37"/>
          <p:cNvSpPr>
            <a:spLocks noGrp="1"/>
          </p:cNvSpPr>
          <p:nvPr>
            <p:ph type="pic" idx="5"/>
          </p:nvPr>
        </p:nvSpPr>
        <p:spPr>
          <a:xfrm>
            <a:off x="4803425" y="800100"/>
            <a:ext cx="3883500" cy="2171100"/>
          </a:xfrm>
          <a:prstGeom prst="roundRect">
            <a:avLst>
              <a:gd name="adj" fmla="val 4242"/>
            </a:avLst>
          </a:prstGeom>
          <a:noFill/>
          <a:ln>
            <a:noFill/>
          </a:ln>
          <a:effectLst>
            <a:outerShdw dist="66675" dir="7800000" algn="bl" rotWithShape="0">
              <a:schemeClr val="dk2"/>
            </a:outerShdw>
          </a:effectLst>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C_Illustration 1">
  <p:cSld name="Illustration 1">
    <p:spTree>
      <p:nvGrpSpPr>
        <p:cNvPr id="1" name="Shape 206"/>
        <p:cNvGrpSpPr/>
        <p:nvPr/>
      </p:nvGrpSpPr>
      <p:grpSpPr>
        <a:xfrm>
          <a:off x="0" y="0"/>
          <a:ext cx="0" cy="0"/>
          <a:chOff x="0" y="0"/>
          <a:chExt cx="0" cy="0"/>
        </a:xfrm>
      </p:grpSpPr>
      <p:pic>
        <p:nvPicPr>
          <p:cNvPr id="207" name="Google Shape;207;p38"/>
          <p:cNvPicPr preferRelativeResize="0"/>
          <p:nvPr/>
        </p:nvPicPr>
        <p:blipFill rotWithShape="1">
          <a:blip r:embed="rId2">
            <a:alphaModFix/>
          </a:blip>
          <a:srcRect/>
          <a:stretch/>
        </p:blipFill>
        <p:spPr>
          <a:xfrm>
            <a:off x="0" y="0"/>
            <a:ext cx="9144000" cy="5143500"/>
          </a:xfrm>
          <a:prstGeom prst="rect">
            <a:avLst/>
          </a:prstGeom>
          <a:noFill/>
          <a:ln>
            <a:noFill/>
          </a:ln>
        </p:spPr>
      </p:pic>
      <p:pic>
        <p:nvPicPr>
          <p:cNvPr id="208" name="Google Shape;208;p38"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_Plain White">
  <p:cSld name="Plain White">
    <p:spTree>
      <p:nvGrpSpPr>
        <p:cNvPr id="1"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_Image/Graphic Drop Shadow Asset">
  <p:cSld name="Image/Graphic Drop Shadow Asset">
    <p:bg>
      <p:bgPr>
        <a:solidFill>
          <a:schemeClr val="lt1"/>
        </a:solidFill>
        <a:effectLst/>
      </p:bgPr>
    </p:bg>
    <p:spTree>
      <p:nvGrpSpPr>
        <p:cNvPr id="1" name="Shape 210"/>
        <p:cNvGrpSpPr/>
        <p:nvPr/>
      </p:nvGrpSpPr>
      <p:grpSpPr>
        <a:xfrm>
          <a:off x="0" y="0"/>
          <a:ext cx="0" cy="0"/>
          <a:chOff x="0" y="0"/>
          <a:chExt cx="0" cy="0"/>
        </a:xfrm>
      </p:grpSpPr>
      <p:sp>
        <p:nvSpPr>
          <p:cNvPr id="211" name="Google Shape;211;p4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chemeClr val="lt2"/>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212" name="Google Shape;212;p40"/>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3" name="Google Shape;213;p40"/>
          <p:cNvSpPr>
            <a:spLocks noGrp="1"/>
          </p:cNvSpPr>
          <p:nvPr>
            <p:ph type="pic" idx="2"/>
          </p:nvPr>
        </p:nvSpPr>
        <p:spPr>
          <a:xfrm>
            <a:off x="602200" y="880600"/>
            <a:ext cx="3904800" cy="2194200"/>
          </a:xfrm>
          <a:prstGeom prst="roundRect">
            <a:avLst>
              <a:gd name="adj" fmla="val 3229"/>
            </a:avLst>
          </a:prstGeom>
          <a:noFill/>
          <a:ln>
            <a:noFill/>
          </a:ln>
          <a:effectLst>
            <a:outerShdw dist="69226" dir="7800000" algn="ctr" rotWithShape="0">
              <a:schemeClr val="accent3"/>
            </a:outerShdw>
          </a:effectLst>
        </p:spPr>
      </p:sp>
      <p:sp>
        <p:nvSpPr>
          <p:cNvPr id="214" name="Google Shape;214;p40"/>
          <p:cNvSpPr>
            <a:spLocks noGrp="1"/>
          </p:cNvSpPr>
          <p:nvPr>
            <p:ph type="pic" idx="3"/>
          </p:nvPr>
        </p:nvSpPr>
        <p:spPr>
          <a:xfrm>
            <a:off x="4824700" y="880600"/>
            <a:ext cx="3898500" cy="2194200"/>
          </a:xfrm>
          <a:prstGeom prst="roundRect">
            <a:avLst>
              <a:gd name="adj" fmla="val 3874"/>
            </a:avLst>
          </a:prstGeom>
          <a:noFill/>
          <a:ln>
            <a:noFill/>
          </a:ln>
          <a:effectLst>
            <a:outerShdw dist="69226" dir="7800000" algn="ctr" rotWithShape="0">
              <a:schemeClr val="dk2"/>
            </a:outerShdw>
          </a:effectLst>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C_Q&amp;A">
  <p:cSld name="Q&amp;A">
    <p:bg>
      <p:bgPr>
        <a:solidFill>
          <a:schemeClr val="dk2"/>
        </a:solidFill>
        <a:effectLst/>
      </p:bgPr>
    </p:bg>
    <p:spTree>
      <p:nvGrpSpPr>
        <p:cNvPr id="1" name="Shape 215"/>
        <p:cNvGrpSpPr/>
        <p:nvPr/>
      </p:nvGrpSpPr>
      <p:grpSpPr>
        <a:xfrm>
          <a:off x="0" y="0"/>
          <a:ext cx="0" cy="0"/>
          <a:chOff x="0" y="0"/>
          <a:chExt cx="0" cy="0"/>
        </a:xfrm>
      </p:grpSpPr>
      <p:pic>
        <p:nvPicPr>
          <p:cNvPr id="216" name="Google Shape;216;p41" descr="A black and white image of a person  Description automatically generated"/>
          <p:cNvPicPr preferRelativeResize="0"/>
          <p:nvPr/>
        </p:nvPicPr>
        <p:blipFill rotWithShape="1">
          <a:blip r:embed="rId2">
            <a:alphaModFix amt="60000"/>
          </a:blip>
          <a:srcRect/>
          <a:stretch/>
        </p:blipFill>
        <p:spPr>
          <a:xfrm rot="-900001">
            <a:off x="4096523" y="3086333"/>
            <a:ext cx="7191132" cy="2776325"/>
          </a:xfrm>
          <a:prstGeom prst="rect">
            <a:avLst/>
          </a:prstGeom>
          <a:noFill/>
          <a:ln>
            <a:noFill/>
          </a:ln>
        </p:spPr>
      </p:pic>
      <p:sp>
        <p:nvSpPr>
          <p:cNvPr id="217" name="Google Shape;217;p41"/>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218" name="Google Shape;218;p41"/>
          <p:cNvPicPr preferRelativeResize="0"/>
          <p:nvPr/>
        </p:nvPicPr>
        <p:blipFill rotWithShape="1">
          <a:blip r:embed="rId3">
            <a:alphaModFix/>
          </a:blip>
          <a:srcRect/>
          <a:stretch/>
        </p:blipFill>
        <p:spPr>
          <a:xfrm>
            <a:off x="6610333" y="3093755"/>
            <a:ext cx="2374527" cy="1795313"/>
          </a:xfrm>
          <a:prstGeom prst="rect">
            <a:avLst/>
          </a:prstGeom>
          <a:noFill/>
          <a:ln>
            <a:noFill/>
          </a:ln>
        </p:spPr>
      </p:pic>
      <p:pic>
        <p:nvPicPr>
          <p:cNvPr id="219" name="Google Shape;219;p41" title="Logo.png"/>
          <p:cNvPicPr preferRelativeResize="0"/>
          <p:nvPr/>
        </p:nvPicPr>
        <p:blipFill rotWithShape="1">
          <a:blip r:embed="rId4">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_Demo">
  <p:cSld name="Demo">
    <p:bg>
      <p:bgPr>
        <a:solidFill>
          <a:schemeClr val="dk2"/>
        </a:solidFill>
        <a:effectLst/>
      </p:bgPr>
    </p:bg>
    <p:spTree>
      <p:nvGrpSpPr>
        <p:cNvPr id="1" name="Shape 220"/>
        <p:cNvGrpSpPr/>
        <p:nvPr/>
      </p:nvGrpSpPr>
      <p:grpSpPr>
        <a:xfrm>
          <a:off x="0" y="0"/>
          <a:ext cx="0" cy="0"/>
          <a:chOff x="0" y="0"/>
          <a:chExt cx="0" cy="0"/>
        </a:xfrm>
      </p:grpSpPr>
      <p:pic>
        <p:nvPicPr>
          <p:cNvPr id="221" name="Google Shape;221;p42"/>
          <p:cNvPicPr preferRelativeResize="0"/>
          <p:nvPr/>
        </p:nvPicPr>
        <p:blipFill rotWithShape="1">
          <a:blip r:embed="rId2">
            <a:alphaModFix/>
          </a:blip>
          <a:srcRect/>
          <a:stretch/>
        </p:blipFill>
        <p:spPr>
          <a:xfrm>
            <a:off x="0" y="2741"/>
            <a:ext cx="9139128" cy="5140760"/>
          </a:xfrm>
          <a:prstGeom prst="rect">
            <a:avLst/>
          </a:prstGeom>
          <a:noFill/>
          <a:ln>
            <a:noFill/>
          </a:ln>
        </p:spPr>
      </p:pic>
      <p:pic>
        <p:nvPicPr>
          <p:cNvPr id="222" name="Google Shape;222;p42"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5000"/>
                                        <p:tgtEl>
                                          <p:spTgt spid="2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C_Thank you">
  <p:cSld name="Thank you">
    <p:bg>
      <p:bgPr>
        <a:solidFill>
          <a:schemeClr val="dk2"/>
        </a:solidFill>
        <a:effectLst/>
      </p:bgPr>
    </p:bg>
    <p:spTree>
      <p:nvGrpSpPr>
        <p:cNvPr id="1" name="Shape 223"/>
        <p:cNvGrpSpPr/>
        <p:nvPr/>
      </p:nvGrpSpPr>
      <p:grpSpPr>
        <a:xfrm>
          <a:off x="0" y="0"/>
          <a:ext cx="0" cy="0"/>
          <a:chOff x="0" y="0"/>
          <a:chExt cx="0" cy="0"/>
        </a:xfrm>
      </p:grpSpPr>
      <p:pic>
        <p:nvPicPr>
          <p:cNvPr id="224" name="Google Shape;224;p43"/>
          <p:cNvPicPr preferRelativeResize="0"/>
          <p:nvPr/>
        </p:nvPicPr>
        <p:blipFill rotWithShape="1">
          <a:blip r:embed="rId2">
            <a:alphaModFix/>
          </a:blip>
          <a:src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4"/>
                                        </p:tgtEl>
                                        <p:attrNameLst>
                                          <p:attrName>style.visibility</p:attrName>
                                        </p:attrNameLst>
                                      </p:cBhvr>
                                      <p:to>
                                        <p:strVal val="visible"/>
                                      </p:to>
                                    </p:set>
                                    <p:animEffect transition="in" filter="fade">
                                      <p:cBhvr>
                                        <p:cTn id="7" dur="3029"/>
                                        <p:tgtEl>
                                          <p:spTgt spid="2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_Plain Blue">
  <p:cSld name="Plain Blue">
    <p:bg>
      <p:bgPr>
        <a:solidFill>
          <a:schemeClr val="dk2"/>
        </a:solidFill>
        <a:effectLst/>
      </p:bgPr>
    </p:bg>
    <p:spTree>
      <p:nvGrpSpPr>
        <p:cNvPr id="1" name="Shape 225"/>
        <p:cNvGrpSpPr/>
        <p:nvPr/>
      </p:nvGrpSpPr>
      <p:grpSpPr>
        <a:xfrm>
          <a:off x="0" y="0"/>
          <a:ext cx="0" cy="0"/>
          <a:chOff x="0" y="0"/>
          <a:chExt cx="0" cy="0"/>
        </a:xfrm>
      </p:grpSpPr>
      <p:pic>
        <p:nvPicPr>
          <p:cNvPr id="226" name="Google Shape;226;p44"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27"/>
        <p:cNvGrpSpPr/>
        <p:nvPr/>
      </p:nvGrpSpPr>
      <p:grpSpPr>
        <a:xfrm>
          <a:off x="0" y="0"/>
          <a:ext cx="0" cy="0"/>
          <a:chOff x="0" y="0"/>
          <a:chExt cx="0" cy="0"/>
        </a:xfrm>
      </p:grpSpPr>
      <p:sp>
        <p:nvSpPr>
          <p:cNvPr id="228" name="Google Shape;228;p45"/>
          <p:cNvSpPr txBox="1">
            <a:spLocks noGrp="1"/>
          </p:cNvSpPr>
          <p:nvPr>
            <p:ph type="ctrTitle"/>
          </p:nvPr>
        </p:nvSpPr>
        <p:spPr>
          <a:xfrm>
            <a:off x="311708" y="744575"/>
            <a:ext cx="8520600" cy="20526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229" name="Google Shape;229;p45"/>
          <p:cNvSpPr txBox="1">
            <a:spLocks noGrp="1"/>
          </p:cNvSpPr>
          <p:nvPr>
            <p:ph type="subTitle" idx="1"/>
          </p:nvPr>
        </p:nvSpPr>
        <p:spPr>
          <a:xfrm>
            <a:off x="311700" y="2834125"/>
            <a:ext cx="8520600" cy="792600"/>
          </a:xfrm>
          <a:prstGeom prst="rect">
            <a:avLst/>
          </a:prstGeom>
          <a:noFill/>
          <a:ln>
            <a:noFill/>
          </a:ln>
        </p:spPr>
        <p:txBody>
          <a:bodyPr spcFirstLastPara="1" wrap="square" lIns="68575" tIns="34275" rIns="68575" bIns="34275" anchor="t" anchorCtr="0">
            <a:normAutofit/>
          </a:bodyPr>
          <a:lstStyle>
            <a:lvl1pPr lvl="0" algn="ctr">
              <a:lnSpc>
                <a:spcPct val="100000"/>
              </a:lnSpc>
              <a:spcBef>
                <a:spcPts val="800"/>
              </a:spcBef>
              <a:spcAft>
                <a:spcPts val="0"/>
              </a:spcAft>
              <a:buSzPts val="2800"/>
              <a:buNone/>
              <a:defRPr sz="2800"/>
            </a:lvl1pPr>
            <a:lvl2pPr lvl="1" algn="ctr">
              <a:lnSpc>
                <a:spcPct val="100000"/>
              </a:lnSpc>
              <a:spcBef>
                <a:spcPts val="400"/>
              </a:spcBef>
              <a:spcAft>
                <a:spcPts val="0"/>
              </a:spcAft>
              <a:buSzPts val="2800"/>
              <a:buNone/>
              <a:defRPr sz="2800"/>
            </a:lvl2pPr>
            <a:lvl3pPr lvl="2" algn="ctr">
              <a:lnSpc>
                <a:spcPct val="100000"/>
              </a:lnSpc>
              <a:spcBef>
                <a:spcPts val="400"/>
              </a:spcBef>
              <a:spcAft>
                <a:spcPts val="0"/>
              </a:spcAft>
              <a:buSzPts val="2800"/>
              <a:buNone/>
              <a:defRPr sz="2800"/>
            </a:lvl3pPr>
            <a:lvl4pPr lvl="3" algn="ctr">
              <a:lnSpc>
                <a:spcPct val="100000"/>
              </a:lnSpc>
              <a:spcBef>
                <a:spcPts val="400"/>
              </a:spcBef>
              <a:spcAft>
                <a:spcPts val="0"/>
              </a:spcAft>
              <a:buSzPts val="2800"/>
              <a:buNone/>
              <a:defRPr sz="2800"/>
            </a:lvl4pPr>
            <a:lvl5pPr lvl="4" algn="ctr">
              <a:lnSpc>
                <a:spcPct val="100000"/>
              </a:lnSpc>
              <a:spcBef>
                <a:spcPts val="400"/>
              </a:spcBef>
              <a:spcAft>
                <a:spcPts val="0"/>
              </a:spcAft>
              <a:buSzPts val="2800"/>
              <a:buNone/>
              <a:defRPr sz="2800"/>
            </a:lvl5pPr>
            <a:lvl6pPr lvl="5" algn="ctr">
              <a:lnSpc>
                <a:spcPct val="100000"/>
              </a:lnSpc>
              <a:spcBef>
                <a:spcPts val="400"/>
              </a:spcBef>
              <a:spcAft>
                <a:spcPts val="0"/>
              </a:spcAft>
              <a:buSzPts val="2800"/>
              <a:buNone/>
              <a:defRPr sz="2800"/>
            </a:lvl6pPr>
            <a:lvl7pPr lvl="6" algn="ctr">
              <a:lnSpc>
                <a:spcPct val="100000"/>
              </a:lnSpc>
              <a:spcBef>
                <a:spcPts val="400"/>
              </a:spcBef>
              <a:spcAft>
                <a:spcPts val="0"/>
              </a:spcAft>
              <a:buSzPts val="2800"/>
              <a:buNone/>
              <a:defRPr sz="2800"/>
            </a:lvl7pPr>
            <a:lvl8pPr lvl="7" algn="ctr">
              <a:lnSpc>
                <a:spcPct val="100000"/>
              </a:lnSpc>
              <a:spcBef>
                <a:spcPts val="400"/>
              </a:spcBef>
              <a:spcAft>
                <a:spcPts val="0"/>
              </a:spcAft>
              <a:buSzPts val="2800"/>
              <a:buNone/>
              <a:defRPr sz="2800"/>
            </a:lvl8pPr>
            <a:lvl9pPr lvl="8" algn="ctr">
              <a:lnSpc>
                <a:spcPct val="100000"/>
              </a:lnSpc>
              <a:spcBef>
                <a:spcPts val="400"/>
              </a:spcBef>
              <a:spcAft>
                <a:spcPts val="0"/>
              </a:spcAft>
              <a:buSzPts val="2800"/>
              <a:buNone/>
              <a:defRPr sz="2800"/>
            </a:lvl9pPr>
          </a:lstStyle>
          <a:p>
            <a:endParaRPr/>
          </a:p>
        </p:txBody>
      </p:sp>
      <p:sp>
        <p:nvSpPr>
          <p:cNvPr id="230" name="Google Shape;230;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3_Custom Layout">
  <p:cSld name="3_Custom Layout">
    <p:spTree>
      <p:nvGrpSpPr>
        <p:cNvPr id="1" name="Shape 23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slideLayout" Target="../slideLayouts/slideLayout41.xml"/><Relationship Id="rId3" Type="http://schemas.openxmlformats.org/officeDocument/2006/relationships/slideLayout" Target="../slideLayouts/slideLayout18.xml"/><Relationship Id="rId21" Type="http://schemas.openxmlformats.org/officeDocument/2006/relationships/slideLayout" Target="../slideLayouts/slideLayout36.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slideLayout" Target="../slideLayouts/slideLayout40.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0" Type="http://schemas.openxmlformats.org/officeDocument/2006/relationships/slideLayout" Target="../slideLayouts/slideLayout35.xml"/><Relationship Id="rId29" Type="http://schemas.openxmlformats.org/officeDocument/2006/relationships/slideLayout" Target="../slideLayouts/slideLayout44.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24" Type="http://schemas.openxmlformats.org/officeDocument/2006/relationships/slideLayout" Target="../slideLayouts/slideLayout39.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23" Type="http://schemas.openxmlformats.org/officeDocument/2006/relationships/slideLayout" Target="../slideLayouts/slideLayout38.xml"/><Relationship Id="rId28" Type="http://schemas.openxmlformats.org/officeDocument/2006/relationships/slideLayout" Target="../slideLayouts/slideLayout43.xml"/><Relationship Id="rId10" Type="http://schemas.openxmlformats.org/officeDocument/2006/relationships/slideLayout" Target="../slideLayouts/slideLayout25.xml"/><Relationship Id="rId19" Type="http://schemas.openxmlformats.org/officeDocument/2006/relationships/slideLayout" Target="../slideLayouts/slideLayout34.xml"/><Relationship Id="rId31" Type="http://schemas.openxmlformats.org/officeDocument/2006/relationships/image" Target="../media/image10.png"/><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 Id="rId22" Type="http://schemas.openxmlformats.org/officeDocument/2006/relationships/slideLayout" Target="../slideLayouts/slideLayout37.xml"/><Relationship Id="rId27" Type="http://schemas.openxmlformats.org/officeDocument/2006/relationships/slideLayout" Target="../slideLayouts/slideLayout42.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8"/>
        <p:cNvGrpSpPr/>
        <p:nvPr/>
      </p:nvGrpSpPr>
      <p:grpSpPr>
        <a:xfrm>
          <a:off x="0" y="0"/>
          <a:ext cx="0" cy="0"/>
          <a:chOff x="0" y="0"/>
          <a:chExt cx="0" cy="0"/>
        </a:xfrm>
      </p:grpSpPr>
      <p:sp>
        <p:nvSpPr>
          <p:cNvPr id="49" name="Google Shape;49;p17"/>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2000"/>
              <a:buFont typeface="DM Sans"/>
              <a:buNone/>
              <a:defRPr sz="2000" b="0" i="0" u="none" strike="noStrike" cap="none">
                <a:solidFill>
                  <a:schemeClr val="dk1"/>
                </a:solidFill>
                <a:latin typeface="DM Sans"/>
                <a:ea typeface="DM Sans"/>
                <a:cs typeface="DM Sans"/>
                <a:sym typeface="DM Sans"/>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50" name="Google Shape;50;p17"/>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marR="0" lvl="0" indent="-311150" algn="l" rtl="0">
              <a:lnSpc>
                <a:spcPct val="90000"/>
              </a:lnSpc>
              <a:spcBef>
                <a:spcPts val="800"/>
              </a:spcBef>
              <a:spcAft>
                <a:spcPts val="0"/>
              </a:spcAft>
              <a:buClr>
                <a:schemeClr val="dk1"/>
              </a:buClr>
              <a:buSzPts val="1300"/>
              <a:buFont typeface="Arial"/>
              <a:buChar char="•"/>
              <a:defRPr sz="1300" b="0" i="0" u="none" strike="noStrike" cap="none">
                <a:solidFill>
                  <a:schemeClr val="dk1"/>
                </a:solidFill>
                <a:latin typeface="DM Sans"/>
                <a:ea typeface="DM Sans"/>
                <a:cs typeface="DM Sans"/>
                <a:sym typeface="DM Sans"/>
              </a:defRPr>
            </a:lvl1pPr>
            <a:lvl2pPr marL="914400" marR="0" lvl="1" indent="-304800" algn="l" rtl="0">
              <a:lnSpc>
                <a:spcPct val="90000"/>
              </a:lnSpc>
              <a:spcBef>
                <a:spcPts val="400"/>
              </a:spcBef>
              <a:spcAft>
                <a:spcPts val="0"/>
              </a:spcAft>
              <a:buClr>
                <a:schemeClr val="dk1"/>
              </a:buClr>
              <a:buSzPts val="1200"/>
              <a:buFont typeface="Arial"/>
              <a:buChar char="•"/>
              <a:defRPr sz="1200" b="0" i="0" u="none" strike="noStrike" cap="none">
                <a:solidFill>
                  <a:schemeClr val="dk1"/>
                </a:solidFill>
                <a:latin typeface="DM Sans"/>
                <a:ea typeface="DM Sans"/>
                <a:cs typeface="DM Sans"/>
                <a:sym typeface="DM Sans"/>
              </a:defRPr>
            </a:lvl2pPr>
            <a:lvl3pPr marL="1371600" marR="0" lvl="2" indent="-292100" algn="l" rtl="0">
              <a:lnSpc>
                <a:spcPct val="90000"/>
              </a:lnSpc>
              <a:spcBef>
                <a:spcPts val="400"/>
              </a:spcBef>
              <a:spcAft>
                <a:spcPts val="0"/>
              </a:spcAft>
              <a:buClr>
                <a:schemeClr val="dk1"/>
              </a:buClr>
              <a:buSzPts val="1000"/>
              <a:buFont typeface="Arial"/>
              <a:buChar char="•"/>
              <a:defRPr sz="1000" b="0" i="0" u="none" strike="noStrike" cap="none">
                <a:solidFill>
                  <a:schemeClr val="dk1"/>
                </a:solidFill>
                <a:latin typeface="DM Sans"/>
                <a:ea typeface="DM Sans"/>
                <a:cs typeface="DM Sans"/>
                <a:sym typeface="DM Sans"/>
              </a:defRPr>
            </a:lvl3pPr>
            <a:lvl4pPr marL="1828800" marR="0" lvl="3"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4pPr>
            <a:lvl5pPr marL="2286000" marR="0" lvl="4"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5pPr>
            <a:lvl6pPr marL="2743200" marR="0" lvl="5"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6pPr>
            <a:lvl7pPr marL="3200400" marR="0" lvl="6"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7pPr>
            <a:lvl8pPr marL="3657600" marR="0" lvl="7" indent="-273050" algn="l" rtl="0">
              <a:lnSpc>
                <a:spcPct val="90000"/>
              </a:lnSpc>
              <a:spcBef>
                <a:spcPts val="400"/>
              </a:spcBef>
              <a:spcAft>
                <a:spcPts val="0"/>
              </a:spcAft>
              <a:buClr>
                <a:schemeClr val="dk1"/>
              </a:buClr>
              <a:buSzPts val="700"/>
              <a:buFont typeface="Arial"/>
              <a:buChar char="•"/>
              <a:defRPr sz="700" b="0" i="0" u="none" strike="noStrike" cap="none">
                <a:solidFill>
                  <a:schemeClr val="dk1"/>
                </a:solidFill>
                <a:latin typeface="DM Sans"/>
                <a:ea typeface="DM Sans"/>
                <a:cs typeface="DM Sans"/>
                <a:sym typeface="DM Sans"/>
              </a:defRPr>
            </a:lvl8pPr>
            <a:lvl9pPr marL="4114800" marR="0" lvl="8"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9pPr>
          </a:lstStyle>
          <a:p>
            <a:endParaRPr/>
          </a:p>
        </p:txBody>
      </p:sp>
      <p:sp>
        <p:nvSpPr>
          <p:cNvPr id="51" name="Google Shape;51;p1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52" name="Google Shape;52;p17"/>
          <p:cNvPicPr preferRelativeResize="0"/>
          <p:nvPr/>
        </p:nvPicPr>
        <p:blipFill rotWithShape="1">
          <a:blip r:embed="rId31">
            <a:alphaModFix/>
          </a:blip>
          <a:srcRect/>
          <a:stretch/>
        </p:blipFill>
        <p:spPr>
          <a:xfrm>
            <a:off x="8412332" y="4829647"/>
            <a:ext cx="310926" cy="149074"/>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hyperlink" Target="https://app.wiz.io/settings/deployments#%7E%28type%7E%27ALL%29" TargetMode="External"/><Relationship Id="rId2" Type="http://schemas.openxmlformats.org/officeDocument/2006/relationships/notesSlide" Target="../notesSlides/notesSlide3.xml"/><Relationship Id="rId16" Type="http://schemas.openxmlformats.org/officeDocument/2006/relationships/hyperlink" Target="https://app.wiz.io/boards/ai-security" TargetMode="External"/><Relationship Id="rId1" Type="http://schemas.openxmlformats.org/officeDocument/2006/relationships/slideLayout" Target="../slideLayouts/slideLayout3.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hyperlink" Target="https://app.wiz.io/explorer/cloud-events#%7E%28filters%7E%28timestampv2%7E%28dateRange%7E%28past%7E%28unit%7E%27month%7Eamount%7E1%29%29%29%29%7EgroupBy%7E%28%7E%27origin%29%29"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48.png"/><Relationship Id="rId12" Type="http://schemas.openxmlformats.org/officeDocument/2006/relationships/image" Target="../media/image49.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7.png"/><Relationship Id="rId11" Type="http://schemas.openxmlformats.org/officeDocument/2006/relationships/hyperlink" Target="https://app.wiz.io/inventory/containers/images" TargetMode="External"/><Relationship Id="rId5" Type="http://schemas.openxmlformats.org/officeDocument/2006/relationships/image" Target="../media/image46.png"/><Relationship Id="rId10" Type="http://schemas.openxmlformats.org/officeDocument/2006/relationships/hyperlink" Target="https://app.wiz.io/inventory/container-registries" TargetMode="External"/><Relationship Id="rId4" Type="http://schemas.openxmlformats.org/officeDocument/2006/relationships/image" Target="../media/image45.png"/><Relationship Id="rId9" Type="http://schemas.openxmlformats.org/officeDocument/2006/relationships/hyperlink" Target="https://app.wiz.io/findings/code-cicd-scans#%7E%28filters%7E%28timestamp%7E%28inTheLast%7E%28amount%7E30%7Eunit%7E%27days%29%29%7Eorigin%7E%28equals%7E%28%7E%27WIZ_CLI%29%29%7EcicdScanTrigger%7E%28equals%7E%28%7E%27USER_INITIATED%29%29%29%29" TargetMode="External"/><Relationship Id="rId14" Type="http://schemas.openxmlformats.org/officeDocument/2006/relationships/hyperlink" Target="https://app.wiz.io/policies/red-agent-modules"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NOT_EQUALS%7E%28%7E%276961%7E%273032%7E%279899%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8" Type="http://schemas.openxmlformats.org/officeDocument/2006/relationships/hyperlink" Target="https://app.wiz.io/settings/workload-scan-log#%7E%28filters%7E%28status%7E%28%29%7Etimestamp%7E%28%29%7EdataScan%7E%28equals%7Efalse%29%29%29" TargetMode="External"/><Relationship Id="rId26" Type="http://schemas.openxmlformats.org/officeDocument/2006/relationships/hyperlink" Target="https://app.wiz.io/settings/system-health#%7E%28filters%7E%28status%7E%28equals%7E%28%7E%27OPEN%29%29%7EdeploymentType%7E%28equals%7E%28%7E%27BROKER%29%29%7Eseverity%7E%28equals%7E%28%7E%27CRITICAL%7E%27HIGH%29%29%29%29" TargetMode="External"/><Relationship Id="rId3" Type="http://schemas.openxmlformats.org/officeDocument/2006/relationships/image" Target="../media/image48.png"/><Relationship Id="rId21" Type="http://schemas.openxmlformats.org/officeDocument/2006/relationships/hyperlink" Target="https://app.wiz.io/settings/system-health#%7E%28filters%7E%28status%7E%28equals%7E%28%7E%27OPEN%29%29%7EdeploymentType%7E%28equals%7E%28%7E%27OUTPOST_CLUSTER%7E%27OUTPOST%29%29%7Eseverity%7E%28equals%7E%28%7E%27CRITICAL%7E%27HIGH%29%29%29%29" TargetMode="External"/><Relationship Id="rId7" Type="http://schemas.openxmlformats.org/officeDocument/2006/relationships/hyperlink" Target="https://app.wiz.io/settings/system-health#%7E%28filters%7E%28status%7E%28equals%7E%28%7E%27RESOLVED%29%29%7Eseverity%7E%28equals%7E%28%7E%27HIGH%29%29%29%7EgroupBy%7E%27none%29" TargetMode="External"/><Relationship Id="rId12" Type="http://schemas.openxmlformats.org/officeDocument/2006/relationships/hyperlink" Target="https://app.wiz.io/explorer/graph#%7E%28query%7E%28type%7E%28%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7" Type="http://schemas.openxmlformats.org/officeDocument/2006/relationships/hyperlink" Target="https://app.wiz.io/explorer/graph#%7E%28query%7E%28type%7E%28%7E%27FILE_SYSTEM_SERVIC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FILE_SYSTEM_SERVICE%7E%28%7E%27cloudPlatform%7E%27atRestEncryption%7E%27inTransitEncryption%7E%27accessibleFrom.internet%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5" Type="http://schemas.openxmlformats.org/officeDocument/2006/relationships/hyperlink" Target="https://app.wiz.io/settings/system-health#%7E%28filters%7E%28status%7E%28equals%7E%28%7E%27OPEN%29%29%7EdeploymentType%7E%28equals%7E%28%7E%27VERSION_CONTROL_CONNECTOR%29%29%7Eseverity%7E%28equals%7E%28%7E%27CRITICAL%7E%27HIGH%29%29%29%29" TargetMode="External"/><Relationship Id="rId2" Type="http://schemas.openxmlformats.org/officeDocument/2006/relationships/notesSlide" Target="../notesSlides/notesSlide5.xml"/><Relationship Id="rId16" Type="http://schemas.openxmlformats.org/officeDocument/2006/relationships/hyperlink" Target="https://app.wiz.io/explorer/graph#%7E%28query%7E%28type%7E%28%7E%27AI_DATAS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AI_DATAS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0" Type="http://schemas.openxmlformats.org/officeDocument/2006/relationships/hyperlink" Target="https://app.wiz.io/settings/workload-scan-log#%7E%28filters%7E%28status%7E%28equals%7E%28%7E%27SKIPPED%29%29%7Etimestamp%7E%28%29%7EdataScan%7E%28equals%7Efalse%29%29%29" TargetMode="External"/><Relationship Id="rId1" Type="http://schemas.openxmlformats.org/officeDocument/2006/relationships/slideLayout" Target="../slideLayouts/slideLayout3.xml"/><Relationship Id="rId6" Type="http://schemas.openxmlformats.org/officeDocument/2006/relationships/hyperlink" Target="https://app.wiz.io/settings/system-health#%7E%28filters%7E%28status%7E%28equals%7E%28%7E%27RESOLVED%29%29%7Eseverity%7E%28equals%7E%28%7E%27CRITICAL%29%29%29%7EgroupBy%7E%27none%29" TargetMode="External"/><Relationship Id="rId11"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Skipped%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4" Type="http://schemas.openxmlformats.org/officeDocument/2006/relationships/hyperlink" Target="https://app.wiz.io/settings/system-health#%7E%28filters%7E%28status%7E%28equals%7E%28%7E%27OPEN%29%29%7EdeploymentType%7E%28equals%7E%28%7E%27KUBERNETES_CONNECTOR%29%29%7Eseverity%7E%28equals%7E%28%7E%27CRITICAL%7E%27HIGH%29%29%29%29" TargetMode="External"/><Relationship Id="rId5" Type="http://schemas.openxmlformats.org/officeDocument/2006/relationships/hyperlink" Target="https://app.wiz.io/settings/system-health#%7E%28filters%7E%28status%7E%28equals%7E%28%7E%27OPEN%29%29%7Eseverity%7E%28equals%7E%28%7E%27HIGH%29%29%29%7EgroupBy%7E%27none%29" TargetMode="External"/><Relationship Id="rId15"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EQUALS%7E%28%7E%273032%7E%279899%7E%276961%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3" Type="http://schemas.openxmlformats.org/officeDocument/2006/relationships/hyperlink" Target="https://app.wiz.io/settings/system-health#%7E%28filters%7E%28status%7E%28equals%7E%28%7E%27OPEN%29%29%7EdeploymentType%7E%28equals%7E%28%7E%27INTEGRATION%29%29%7Eseverity%7E%28equals%7E%28%7E%27CRITICAL%7E%27HIGH%29%29%29%29" TargetMode="External"/><Relationship Id="rId10"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Error%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9" Type="http://schemas.openxmlformats.org/officeDocument/2006/relationships/hyperlink" Target="https://app.wiz.io/settings/workload-scan-log#%7E%28filters%7E%28status%7E%28equals%7E%28%7E%27FAILED%29%29%7Etimestamp%7E%28%29%7EdataScan%7E%28equals%7Efalse%29%29%29" TargetMode="External"/><Relationship Id="rId4" Type="http://schemas.openxmlformats.org/officeDocument/2006/relationships/hyperlink" Target="https://app.wiz.io/settings/system-health#%7E%28filters%7E%28status%7E%28equals%7E%28%7E%27OPEN%29%29%7Eseverity%7E%28equals%7E%28%7E%27CRITICAL%29%29%29%7EgroupBy%7E%27none%29" TargetMode="External"/><Relationship Id="rId9"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4" Type="http://schemas.openxmlformats.org/officeDocument/2006/relationships/hyperlink" Target="https://app.wiz.io/explorer/graph#%7E%28query%7E%28type%7E%28%7E%27VIRTUAL_DRIV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VIRTUAL_DRIVE%7E%28%7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2" Type="http://schemas.openxmlformats.org/officeDocument/2006/relationships/hyperlink" Target="https://app.wiz.io/settings/system-health#%7E%28filters%7E%28status%7E%28equals%7E%28%7E%27OPEN%29%29%7EdeploymentType%7E%28equals%7E%28%7E%27REGISTRY_CONNECTOR%29%29%7Eseverity%7E%28equals%7E%28%7E%27CRITICAL%7E%27HIGH%29%29%29%29" TargetMode="External"/><Relationship Id="rId27" Type="http://schemas.openxmlformats.org/officeDocument/2006/relationships/hyperlink" Target="https://app.wiz.io/settings/system-health#%7E%28filters%7E%28status%7E%28equals%7E%28%7E%27OPEN%29%29%7EdeploymentType%7E%28equals%7E%28%7E%27CLOUD_CONNECTOR%29%29%7Eseverity%7E%28equals%7E%28%7E%27CRITICAL%7E%27HIGH%29%29%29%29" TargetMode="External"/></Relationships>
</file>

<file path=ppt/slides/_rels/slide6.xml.rels><?xml version="1.0" encoding="UTF-8" standalone="yes"?>
<Relationships xmlns="http://schemas.openxmlformats.org/package/2006/relationships"><Relationship Id="rId8" Type="http://schemas.openxmlformats.org/officeDocument/2006/relationships/hyperlink" Target="https://app.wiz.io/settings/projects#%7E%28filters%7E%28businessImpact%7E%28equals%7E%28%7E%27MBI%29%29%29%29" TargetMode="External"/><Relationship Id="rId13" Type="http://schemas.openxmlformats.org/officeDocument/2006/relationships/hyperlink" Target="https://app.wiz.io/policies/inventory-management-rules#%7E%28filters%7E%28createdBy%7E%28equals%7E%28%7E%27USER%29%29%29%29" TargetMode="External"/><Relationship Id="rId18" Type="http://schemas.openxmlformats.org/officeDocument/2006/relationships/image" Target="../media/image51.png"/><Relationship Id="rId3" Type="http://schemas.openxmlformats.org/officeDocument/2006/relationships/hyperlink" Target="https://app.wiz.io/settings/users#%7E%28filters%7E%28status%7E%28notEquals%7E%28%7E%27DELETED%29%29%29%29" TargetMode="External"/><Relationship Id="rId21" Type="http://schemas.openxmlformats.org/officeDocument/2006/relationships/hyperlink" Target="https://app.wiz.io/policies/workflows" TargetMode="External"/><Relationship Id="rId7" Type="http://schemas.openxmlformats.org/officeDocument/2006/relationships/hyperlink" Target="https://app.wiz.io/settings/projects#%7E%28filters%7E%28businessImpact%7E%28equals%7E%28%7E%27HBI%29%29%29%29" TargetMode="External"/><Relationship Id="rId12" Type="http://schemas.openxmlformats.org/officeDocument/2006/relationships/hyperlink" Target="https://app.wiz.io/settings/services" TargetMode="External"/><Relationship Id="rId17" Type="http://schemas.openxmlformats.org/officeDocument/2006/relationships/hyperlink" Target="https://app.wiz.io/settings/audit-log#%7E%28filters%7E%28action%7E%28equals%7E%28%7E%27AiAssistantSendMessage%29%29%7EclientType%7E%28notEquals%7E%28%7E%27UNKNOWN%29%29%7EuserType%7E%28equals%7E%28%7E%27USER_ACCOUNT%29%29%29%7EgroupBy%7E%28%7E%27CLIENT_TYPE%29%29" TargetMode="External"/><Relationship Id="rId2" Type="http://schemas.openxmlformats.org/officeDocument/2006/relationships/notesSlide" Target="../notesSlides/notesSlide6.xml"/><Relationship Id="rId16" Type="http://schemas.openxmlformats.org/officeDocument/2006/relationships/hyperlink" Target="https://app.wiz.io/boards/champion-center" TargetMode="External"/><Relationship Id="rId20" Type="http://schemas.openxmlformats.org/officeDocument/2006/relationships/image" Target="../media/image53.png"/><Relationship Id="rId1" Type="http://schemas.openxmlformats.org/officeDocument/2006/relationships/slideLayout" Target="../slideLayouts/slideLayout3.xml"/><Relationship Id="rId6" Type="http://schemas.openxmlformats.org/officeDocument/2006/relationships/hyperlink" Target="https://app.wiz.io/inventory/unscanned-resources/unclassified" TargetMode="External"/><Relationship Id="rId11" Type="http://schemas.openxmlformats.org/officeDocument/2006/relationships/hyperlink" Target="https://app.wiz.io/policies/resource-tag-rules#%7E%28filters%7E%28type%7E%28equals%7E%28%7E%27TAG%29%29%7Estatus%7E%28equals%7E%27enabled%29%29%29" TargetMode="External"/><Relationship Id="rId5" Type="http://schemas.openxmlformats.org/officeDocument/2006/relationships/hyperlink" Target="https://app.wiz.io/settings/deployments#%7E%28type%7E%27INTEGRATION%29" TargetMode="External"/><Relationship Id="rId15" Type="http://schemas.openxmlformats.org/officeDocument/2006/relationships/hyperlink" Target="https://app.wiz.io/reports/monitored-metrics#%7E%28filters%7E%28builtin%7E%28equals%7E%28%7E%27false%29%29%29%29" TargetMode="External"/><Relationship Id="rId23" Type="http://schemas.openxmlformats.org/officeDocument/2006/relationships/hyperlink" Target="https://app.wiz.io/settings/audit-log#%7E%28filters%7E%28clientType%7E%28equals%7E%28%7E%27MCP%29%29%29%7EgroupBy%7E%28%7E%27PERFORMER%29%29" TargetMode="External"/><Relationship Id="rId10" Type="http://schemas.openxmlformats.org/officeDocument/2006/relationships/hyperlink" Target="https://app.wiz.io/reports/compliance/security-frameworks#%7E%28filters%7E%28createdBy%7E%28equals%7E%27USER%29%29%29" TargetMode="External"/><Relationship Id="rId19" Type="http://schemas.openxmlformats.org/officeDocument/2006/relationships/image" Target="../media/image52.png"/><Relationship Id="rId4" Type="http://schemas.openxmlformats.org/officeDocument/2006/relationships/hyperlink" Target="https://app.wiz.io/settings/users#%7E%28filters%7E%28status%7E%28notEquals%7E%28%7E%27DELETED%29%29%7ElastLoginAt%7E%28inTheLast%7E%28amount%7E30%7Eunit%7E%27days%29%29%29%29" TargetMode="External"/><Relationship Id="rId9" Type="http://schemas.openxmlformats.org/officeDocument/2006/relationships/hyperlink" Target="https://app.wiz.io/settings/projects#%7E%28filters%7E%28businessImpact%7E%28equals%7E%28%7E%27LBI%29%29%29%29" TargetMode="External"/><Relationship Id="rId14" Type="http://schemas.openxmlformats.org/officeDocument/2006/relationships/hyperlink" Target="https://app.wiz.io/policies/posture#%7E%28filters%7E%28creator%7E%28equals%7E%28%7E%27USER%29%29%29%29" TargetMode="External"/><Relationship Id="rId22" Type="http://schemas.openxmlformats.org/officeDocument/2006/relationships/hyperlink" Target="https://app.wiz.io/policies/automation-rules"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app.wiz.io/roadmap?tab=TRACKED"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9.png"/><Relationship Id="rId7" Type="http://schemas.openxmlformats.org/officeDocument/2006/relationships/image" Target="../media/image5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2.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8" Type="http://schemas.openxmlformats.org/officeDocument/2006/relationships/hyperlink" Target="https://app.wiz.io/issues#%7E%28filters%7E%28status%7E%28equals%7E%28%7E%27REJECTED%29%29%29%7EgroupBy%7E%27none%29" TargetMode="External"/><Relationship Id="rId13" Type="http://schemas.openxmlformats.org/officeDocument/2006/relationships/image" Target="../media/image55.png"/><Relationship Id="rId3" Type="http://schemas.openxmlformats.org/officeDocument/2006/relationships/image" Target="../media/image48.png"/><Relationship Id="rId7" Type="http://schemas.openxmlformats.org/officeDocument/2006/relationships/hyperlink" Target="https://app.wiz.io/issues#%7E%28filters%7E%28status%7E%28equals%7E%28%7E%27RESOLVED%29%29%7Eseverity%7E%28equals%7E%28%7E%27HIGH%29%29%29%7EgroupBy%7E%27none%29" TargetMode="External"/><Relationship Id="rId12" Type="http://schemas.openxmlformats.org/officeDocument/2006/relationships/hyperlink" Target="https://app.wiz.io/threats#%7E%28filters%7E%28status%7E%28equals%7E%28%7E%27OPEN%7E%27IN_PROGRESS%29%29%7EcreatedAt%7E%28dateRange%7E%28past%7E%28amount%7E30%7Eunit%7E%27day%29%29%29%29%29"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hyperlink" Target="https://app.wiz.io/issues#%7E%28filters%7E%28status%7E%28equals%7E%28%7E%27OPEN%7E%27IN_PROGRESS%29%29%7Eseverity%7E%28equals%7E%28%7E%27HIGH%29%29%29%7EgroupBy%7E%27none%29" TargetMode="External"/><Relationship Id="rId11"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issues#%7E%28filters%7E%28status%7E%28equals%7E%28%7E%27RESOLVED%29%29%7Eseverity%7E%28equals%7E%28%7E%27CRITICAL%29%29%29%7EgroupBy%7E%27none%29" TargetMode="External"/><Relationship Id="rId10" Type="http://schemas.openxmlformats.org/officeDocument/2006/relationships/image" Target="../media/image44.png"/><Relationship Id="rId4" Type="http://schemas.openxmlformats.org/officeDocument/2006/relationships/hyperlink" Target="https://app.wiz.io/issues#%7E%28filters%7E%28status%7E%28equals%7E%28%7E%27OPEN%7E%27IN_PROGRESS%29%29%7Eseverity%7E%28equals%7E%28%7E%27CRITICAL%29%29%29%7EgroupBy%7E%27none%29" TargetMode="External"/><Relationship Id="rId9" Type="http://schemas.openxmlformats.org/officeDocument/2006/relationships/hyperlink" Target="https://app.wiz.io/boards/ai-security" TargetMode="External"/><Relationship Id="rId14" Type="http://schemas.openxmlformats.org/officeDocument/2006/relationships/image" Target="../media/image56.png"/></Relationships>
</file>

<file path=ppt/slides/_rels/slide13.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3" Type="http://schemas.openxmlformats.org/officeDocument/2006/relationships/image" Target="../media/image44.png"/><Relationship Id="rId7" Type="http://schemas.openxmlformats.org/officeDocument/2006/relationships/hyperlink" Target="https://app.wiz.io/issues?filters=%7B%22status%22%3A%7B%22equals%22%3A%5B%22OPEN%22%2C%22IN_PROGRESS%22%5D%7D%2C%22severity%22%3A%7B%22equals%22%3A%5B%22CRITICAL%22%5D%7D%7D&amp;groupOrderBy=%5B%22SEVERITY%22%2C%22DESC%22%5D"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 Id="rId9" Type="http://schemas.openxmlformats.org/officeDocument/2006/relationships/hyperlink" Target="https://app.wiz.io/issues?filters=%7B%22status%22%3A%7B%22equals%22%3A%5B%22OPEN%22%2C%22IN_PROGRESS%22%5D%7D%2C%22severity%22%3A%7B%22equals%22%3A%5B%22HIGH%22%5D%7D%7D&amp;groupOrderBy=%5B%22SEVERITY%22%2C%22DESC%22%5D"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8"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Installed%29%29%29%29" TargetMode="External"/><Relationship Id="rId13"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NotInstalled%29%29%29%29" TargetMode="External"/><Relationship Id="rId3" Type="http://schemas.openxmlformats.org/officeDocument/2006/relationships/hyperlink" Target="https://app.wiz.io/inventory/kubernetes-clusters" TargetMode="External"/><Relationship Id="rId7" Type="http://schemas.openxmlformats.org/officeDocument/2006/relationships/hyperlink" Target="https://app.wiz.io/inventory/container-registries" TargetMode="External"/><Relationship Id="rId12"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NotInstalled%29%29%29%29" TargetMode="External"/><Relationship Id="rId17" Type="http://schemas.openxmlformats.org/officeDocument/2006/relationships/hyperlink" Target="https://app.wiz.io/inventory/container-registries#%7E%28filters%7E%28scanningConfigurationType%7E%28equals%7E%28%7E%27CUSTOM%29%29%29%29" TargetMode="External"/><Relationship Id="rId2" Type="http://schemas.openxmlformats.org/officeDocument/2006/relationships/notesSlide" Target="../notesSlides/notesSlide15.xml"/><Relationship Id="rId16" Type="http://schemas.openxmlformats.org/officeDocument/2006/relationships/hyperlink" Target="https://app.wiz.io/inventory/container-registries#%7E%28filters%7E%28connectionType%7E%28equals%7E%28%7E%27AUTOMATIC%29%29%29%29" TargetMode="External"/><Relationship Id="rId1" Type="http://schemas.openxmlformats.org/officeDocument/2006/relationships/slideLayout" Target="../slideLayouts/slideLayout4.xml"/><Relationship Id="rId6" Type="http://schemas.openxmlformats.org/officeDocument/2006/relationships/hyperlink" Target="https://app.wiz.io/inventory/containers/images" TargetMode="External"/><Relationship Id="rId11"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NotInstalled%29%29%29%29" TargetMode="External"/><Relationship Id="rId5"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dmissionController_deploymentStatus%7E%28EQUALS%7E%28%7E%27Installed%29%29%29%29" TargetMode="External"/><Relationship Id="rId15" Type="http://schemas.openxmlformats.org/officeDocument/2006/relationships/hyperlink" Target="https://app.wiz.io/inventory/container-registries#%7E%28filters%7E%28connectionType%7E%28equals%7E%28%7E%27STANDALONE%29%29%29%29" TargetMode="External"/><Relationship Id="rId10" Type="http://schemas.openxmlformats.org/officeDocument/2006/relationships/hyperlink" Target="https://app.wiz.io/inventory/kubernetes-clusters#%7E%28filters%7E%28property*3aaccessibleFrom.internet%7E%28EQUALS%7Etrue%29%29%29" TargetMode="External"/><Relationship Id="rId4"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Installed%29%29%29%29" TargetMode="External"/><Relationship Id="rId9"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Installed%29%29%29%29" TargetMode="External"/><Relationship Id="rId14" Type="http://schemas.openxmlformats.org/officeDocument/2006/relationships/image" Target="../media/image57.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hyperlink" Target="https://app.wiz.io/settings/scanners/cloud-configuration" TargetMode="External"/><Relationship Id="rId7" Type="http://schemas.openxmlformats.org/officeDocument/2006/relationships/hyperlink" Target="https://app.wiz.io/settings/scanners/attack-surface" TargetMode="External"/><Relationship Id="rId2" Type="http://schemas.openxmlformats.org/officeDocument/2006/relationships/notesSlide" Target="../notesSlides/notesSlide17.xml"/><Relationship Id="rId1" Type="http://schemas.openxmlformats.org/officeDocument/2006/relationships/slideLayout" Target="../slideLayouts/slideLayout16.xml"/><Relationship Id="rId6"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settings/scanners/workload-scanner" TargetMode="External"/><Relationship Id="rId4" Type="http://schemas.openxmlformats.org/officeDocument/2006/relationships/hyperlink" Target="https://app.wiz.io/settings/scanners/file-integrity-monitoring"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8.xml"/><Relationship Id="rId1" Type="http://schemas.openxmlformats.org/officeDocument/2006/relationships/slideLayout" Target="../slideLayouts/slideLayout16.xml"/><Relationship Id="rId6" Type="http://schemas.openxmlformats.org/officeDocument/2006/relationships/hyperlink" Target="https://app.wiz.io/settings/scanners/data-security" TargetMode="External"/><Relationship Id="rId5" Type="http://schemas.openxmlformats.org/officeDocument/2006/relationships/hyperlink" Target="https://app.wiz.io/boards/security-operations#%7E%28filters%7E%28timestamp%7E%28dateRange%7E%28past%7E%28unit%7E%27day%7Eamount%7E30%29%29%29%29%29" TargetMode="External"/><Relationship Id="rId4" Type="http://schemas.openxmlformats.org/officeDocument/2006/relationships/hyperlink" Target="https://app.wiz.io/settings/scanners/vulnerability-scanning"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SPM*20*28Cloud*20Security*20Posture*20Management*29%7E%27CNAPP*20*28Cloud-Native*20Application*20Protection*20Platform*29%7E%27CIEM*20*28Cloud*20Infrastructure*20Entitlement*20Management*29%7E%27DSPM*20*28Data*20Security*20Posture*20Management*29%7E%27Data*20Access*20Management%7E%27Attack*20Surface*20Management%29%29%29%29%7Eview%7E%27table%7EgraphEntityCols%7E%28TECHNOLOGY%7E%28%7E%27deploymentModel%7E%27categories%7E%27storesData%7E%27stackLayer%7E%27ownerName%7E%27description%29%29%29" TargetMode="External"/><Relationship Id="rId2" Type="http://schemas.openxmlformats.org/officeDocument/2006/relationships/notesSlide" Target="../notesSlides/notesSlide19.xml"/><Relationship Id="rId1" Type="http://schemas.openxmlformats.org/officeDocument/2006/relationships/slideLayout" Target="../slideLayouts/slideLayout16.xml"/><Relationship Id="rId5"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select%7Etrue%7Etype%7E%28%7E%27SERVICE_ACCOUNT%29%7Ewhere%7E%28externalOwners%7E%28IS_SET%7Etrue%29%29%7Eaggregate%7Etrue%29%29%29%7Eselect%7Etrue%7Etype%7E%28%7E%27TECHNOLOGY%29%7Ewhere%7E%28deploymentModel%7E%28EQUALS%7E%28%7E%27Cloud*20service%29%29%7Ename%7E%28DOES_NOT_CONTAIN%7E%28%7E%27wiz%29%29%7Ecategories%7E%28EQUALS%7E%28%7E%27Infrastructure*20as*20Code*20Analysis%7E%27SAST*20*28Static*20Application*20Security*20Testing*29%7E%27DAST*20*28Dynamic*20Application*20Security*20Testing*29%7E%27SCA*20*28Software*20Composition*20Analysis*29%7E%27Code*20Secret*20Scanner%7E%27Integrated*20development*20environment*20*28IDE*29*20Tools%7E%27Code*20Security%29%29%29%29%7Eview%7E%27table%7EgraphEntityCols%7E%28TECHNOLOGY%7E%28%7E%27deploymentModel%7E%27categories%7E%27storesData%7E%27stackLayer%7E%27ownerName%7E%27description%29%29%29" TargetMode="External"/><Relationship Id="rId4"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WPP*20*28Cloud*20Workload*20Protection*20Platform*29%7E%27Container*20Runtime*20Security%7E%27Runtime*20Security%7E%27Threat*20Detection*20and*20Response%7E%27Container*20Image*20Scanners%7E%27Container*20Security%29%29%29%29%7Eview%7E%27table%7EgraphEntityCols%7E%28TECHNOLOGY%7E%28%7E%27deploymentModel%7E%27categories%7E%27storesData%7E%27stackLayer%7E%27ownerName%7E%27description%29%29%29"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60.png"/><Relationship Id="rId7"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65.png"/><Relationship Id="rId5" Type="http://schemas.openxmlformats.org/officeDocument/2006/relationships/image" Target="../media/image64.png"/><Relationship Id="rId10"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68.png"/></Relationships>
</file>

<file path=ppt/slides/_rels/slide2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43.png"/></Relationships>
</file>

<file path=ppt/slides/_rels/slide2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7"/>
          <p:cNvSpPr txBox="1"/>
          <p:nvPr/>
        </p:nvSpPr>
        <p:spPr>
          <a:xfrm>
            <a:off x="250594" y="1969767"/>
            <a:ext cx="3854969" cy="90021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Tenant Health Assessment </a:t>
            </a:r>
            <a:b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b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{{Customer}}</a:t>
            </a:r>
            <a:endParaRPr sz="27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238" name="Google Shape;238;p47"/>
          <p:cNvSpPr txBox="1"/>
          <p:nvPr/>
        </p:nvSpPr>
        <p:spPr>
          <a:xfrm>
            <a:off x="467646" y="3430075"/>
            <a:ext cx="4026300" cy="5310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800"/>
              <a:buFont typeface="Arial"/>
              <a:buNone/>
            </a:pPr>
            <a:endParaRPr sz="15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1800"/>
              <a:buFont typeface="Arial"/>
              <a:buNone/>
            </a:pPr>
            <a:r>
              <a:rPr lang="en" sz="15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{Date}</a:t>
            </a:r>
            <a:endParaRPr sz="15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39" name="Google Shape;239;p47"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240" name="Google Shape;240;p47"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241" name="Google Shape;241;p47" title="logo.png"/>
          <p:cNvPicPr preferRelativeResize="0"/>
          <p:nvPr/>
        </p:nvPicPr>
        <p:blipFill rotWithShape="1">
          <a:blip r:embed="rId5">
            <a:alphaModFix/>
          </a:blip>
          <a:srcRect/>
          <a:stretch/>
        </p:blipFill>
        <p:spPr>
          <a:xfrm>
            <a:off x="548202" y="1143475"/>
            <a:ext cx="637001" cy="3041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48"/>
          <p:cNvSpPr txBox="1"/>
          <p:nvPr/>
        </p:nvSpPr>
        <p:spPr>
          <a:xfrm>
            <a:off x="6799450" y="3366600"/>
            <a:ext cx="2010300" cy="177538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48" name="Google Shape;248;p48"/>
          <p:cNvSpPr txBox="1"/>
          <p:nvPr/>
        </p:nvSpPr>
        <p:spPr>
          <a:xfrm>
            <a:off x="799800" y="4353432"/>
            <a:ext cx="2010300" cy="78994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49" name="Google Shape;249;p48"/>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50" name="Google Shape;250;p48"/>
          <p:cNvSpPr txBox="1"/>
          <p:nvPr/>
        </p:nvSpPr>
        <p:spPr>
          <a:xfrm>
            <a:off x="2815700" y="4060176"/>
            <a:ext cx="1987500" cy="1083324"/>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cxnSp>
        <p:nvCxnSpPr>
          <p:cNvPr id="251" name="Google Shape;251;p48"/>
          <p:cNvCxnSpPr>
            <a:cxnSpLocks/>
          </p:cNvCxnSpPr>
          <p:nvPr/>
        </p:nvCxnSpPr>
        <p:spPr>
          <a:xfrm flipH="1" flipV="1">
            <a:off x="2813100" y="2136400"/>
            <a:ext cx="7761" cy="3005580"/>
          </a:xfrm>
          <a:prstGeom prst="straightConnector1">
            <a:avLst/>
          </a:prstGeom>
          <a:noFill/>
          <a:ln w="9525" cap="flat" cmpd="sng">
            <a:solidFill>
              <a:srgbClr val="0254EC"/>
            </a:solidFill>
            <a:prstDash val="solid"/>
            <a:round/>
            <a:headEnd type="none" w="sm" len="sm"/>
            <a:tailEnd type="none" w="sm" len="sm"/>
          </a:ln>
        </p:spPr>
      </p:cxnSp>
      <p:cxnSp>
        <p:nvCxnSpPr>
          <p:cNvPr id="252" name="Google Shape;252;p48"/>
          <p:cNvCxnSpPr>
            <a:cxnSpLocks/>
          </p:cNvCxnSpPr>
          <p:nvPr/>
        </p:nvCxnSpPr>
        <p:spPr>
          <a:xfrm flipV="1">
            <a:off x="4804975" y="1525650"/>
            <a:ext cx="0" cy="3616330"/>
          </a:xfrm>
          <a:prstGeom prst="straightConnector1">
            <a:avLst/>
          </a:prstGeom>
          <a:noFill/>
          <a:ln w="9525" cap="flat" cmpd="sng">
            <a:solidFill>
              <a:srgbClr val="0254EC"/>
            </a:solidFill>
            <a:prstDash val="solid"/>
            <a:round/>
            <a:headEnd type="none" w="sm" len="sm"/>
            <a:tailEnd type="none" w="sm" len="sm"/>
          </a:ln>
        </p:spPr>
      </p:cxnSp>
      <p:cxnSp>
        <p:nvCxnSpPr>
          <p:cNvPr id="253" name="Google Shape;253;p48"/>
          <p:cNvCxnSpPr>
            <a:cxnSpLocks/>
          </p:cNvCxnSpPr>
          <p:nvPr/>
        </p:nvCxnSpPr>
        <p:spPr>
          <a:xfrm flipH="1" flipV="1">
            <a:off x="6804675" y="910700"/>
            <a:ext cx="7760" cy="4245462"/>
          </a:xfrm>
          <a:prstGeom prst="straightConnector1">
            <a:avLst/>
          </a:prstGeom>
          <a:noFill/>
          <a:ln w="9525" cap="flat" cmpd="sng">
            <a:solidFill>
              <a:srgbClr val="0254EC"/>
            </a:solidFill>
            <a:prstDash val="solid"/>
            <a:round/>
            <a:headEnd type="none" w="sm" len="sm"/>
            <a:tailEnd type="none" w="sm" len="sm"/>
          </a:ln>
        </p:spPr>
      </p:cxnSp>
      <p:cxnSp>
        <p:nvCxnSpPr>
          <p:cNvPr id="254" name="Google Shape;254;p48"/>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255" name="Google Shape;255;p48"/>
          <p:cNvCxnSpPr/>
          <p:nvPr/>
        </p:nvCxnSpPr>
        <p:spPr>
          <a:xfrm rot="10800000">
            <a:off x="807946" y="2752144"/>
            <a:ext cx="0" cy="2399400"/>
          </a:xfrm>
          <a:prstGeom prst="straightConnector1">
            <a:avLst/>
          </a:prstGeom>
          <a:noFill/>
          <a:ln w="9525" cap="flat" cmpd="sng">
            <a:solidFill>
              <a:srgbClr val="0254EC"/>
            </a:solidFill>
            <a:prstDash val="solid"/>
            <a:round/>
            <a:headEnd type="none" w="sm" len="sm"/>
            <a:tailEnd type="none" w="sm" len="sm"/>
          </a:ln>
        </p:spPr>
      </p:cxnSp>
      <p:pic>
        <p:nvPicPr>
          <p:cNvPr id="256" name="Google Shape;256;p48"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257" name="Google Shape;257;p48"/>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EMBED AND AUTOMATE SECURITY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58" name="Google Shape;258;p48"/>
          <p:cNvSpPr txBox="1"/>
          <p:nvPr/>
        </p:nvSpPr>
        <p:spPr>
          <a:xfrm>
            <a:off x="6810800" y="2070322"/>
            <a:ext cx="1811700" cy="1320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Enforce security policies consistently across cloud, code, and runtime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Automate remediation and security lifecycle actions with automation rules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Continuously reduce risk without manual intervention</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59" name="Google Shape;259;p48"/>
          <p:cNvSpPr txBox="1"/>
          <p:nvPr/>
        </p:nvSpPr>
        <p:spPr>
          <a:xfrm>
            <a:off x="5006084" y="2154770"/>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SELF SERVICE SECURITY FOR DEVELOPERS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0" name="Google Shape;260;p48"/>
          <p:cNvSpPr txBox="1"/>
          <p:nvPr/>
        </p:nvSpPr>
        <p:spPr>
          <a:xfrm>
            <a:off x="4902050" y="2498816"/>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Enable developers to identify  and remediate risk independently</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Deliver security context       directly into engineering processes with Workflows, integrations, and WizExtend</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61" name="Google Shape;261;p48"/>
          <p:cNvSpPr txBox="1"/>
          <p:nvPr/>
        </p:nvSpPr>
        <p:spPr>
          <a:xfrm>
            <a:off x="3007225" y="2579120"/>
            <a:ext cx="1668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SHARED SECURITY CONTEXT WITH ENGINEERING</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2" name="Google Shape;262;p48"/>
          <p:cNvSpPr txBox="1"/>
          <p:nvPr/>
        </p:nvSpPr>
        <p:spPr>
          <a:xfrm>
            <a:off x="2903200" y="2920169"/>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Map issues to an owner, application, or environment via Projects and Service Catalog</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issues by business context and real exposure</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Align security and engineering on what matters most</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63" name="Google Shape;263;p48"/>
          <p:cNvSpPr txBox="1"/>
          <p:nvPr/>
        </p:nvSpPr>
        <p:spPr>
          <a:xfrm>
            <a:off x="1008697" y="3181396"/>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CENTRALIZE SECURITY ACROSS SECURITY TEAMS</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4" name="Google Shape;264;p48"/>
          <p:cNvSpPr txBox="1"/>
          <p:nvPr/>
        </p:nvSpPr>
        <p:spPr>
          <a:xfrm>
            <a:off x="904675" y="3518334"/>
            <a:ext cx="18906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Security ownership is centralized across security teams</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Standardize policies and prioritization across security teams</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265" name="Google Shape;265;p48"/>
          <p:cNvCxnSpPr>
            <a:cxnSpLocks/>
          </p:cNvCxnSpPr>
          <p:nvPr/>
        </p:nvCxnSpPr>
        <p:spPr>
          <a:xfrm flipV="1">
            <a:off x="8809850" y="306800"/>
            <a:ext cx="0" cy="4836700"/>
          </a:xfrm>
          <a:prstGeom prst="straightConnector1">
            <a:avLst/>
          </a:prstGeom>
          <a:noFill/>
          <a:ln w="9525" cap="flat" cmpd="sng">
            <a:solidFill>
              <a:srgbClr val="0254EC"/>
            </a:solidFill>
            <a:prstDash val="solid"/>
            <a:round/>
            <a:headEnd type="none" w="sm" len="sm"/>
            <a:tailEnd type="none" w="sm" len="sm"/>
          </a:ln>
        </p:spPr>
      </p:cxnSp>
      <p:sp>
        <p:nvSpPr>
          <p:cNvPr id="266" name="Google Shape;266;p48"/>
          <p:cNvSpPr txBox="1"/>
          <p:nvPr/>
        </p:nvSpPr>
        <p:spPr>
          <a:xfrm>
            <a:off x="6929000" y="346589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Risk is continuously mitigated and remediated by default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rgbClr val="000000"/>
              </a:buClr>
              <a:buSzPts val="1000"/>
              <a:buFont typeface="Arial"/>
              <a:buNone/>
            </a:pP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cxnSp>
        <p:nvCxnSpPr>
          <p:cNvPr id="267" name="Google Shape;267;p48"/>
          <p:cNvCxnSpPr/>
          <p:nvPr/>
        </p:nvCxnSpPr>
        <p:spPr>
          <a:xfrm>
            <a:off x="6804671" y="3366612"/>
            <a:ext cx="2005500" cy="0"/>
          </a:xfrm>
          <a:prstGeom prst="straightConnector1">
            <a:avLst/>
          </a:prstGeom>
          <a:noFill/>
          <a:ln w="9525" cap="flat" cmpd="sng">
            <a:solidFill>
              <a:srgbClr val="0254EC"/>
            </a:solidFill>
            <a:prstDash val="solid"/>
            <a:round/>
            <a:headEnd type="none" w="sm" len="sm"/>
            <a:tailEnd type="none" w="sm" len="sm"/>
          </a:ln>
        </p:spPr>
      </p:cxnSp>
      <p:cxnSp>
        <p:nvCxnSpPr>
          <p:cNvPr id="268" name="Google Shape;268;p48"/>
          <p:cNvCxnSpPr/>
          <p:nvPr/>
        </p:nvCxnSpPr>
        <p:spPr>
          <a:xfrm>
            <a:off x="805008" y="4367296"/>
            <a:ext cx="2005500" cy="0"/>
          </a:xfrm>
          <a:prstGeom prst="straightConnector1">
            <a:avLst/>
          </a:prstGeom>
          <a:noFill/>
          <a:ln w="9525" cap="flat" cmpd="sng">
            <a:solidFill>
              <a:srgbClr val="0254EC"/>
            </a:solidFill>
            <a:prstDash val="solid"/>
            <a:round/>
            <a:headEnd type="none" w="sm" len="sm"/>
            <a:tailEnd type="none" w="sm" len="sm"/>
          </a:ln>
        </p:spPr>
      </p:cxnSp>
      <p:cxnSp>
        <p:nvCxnSpPr>
          <p:cNvPr id="269" name="Google Shape;269;p48"/>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270" name="Google Shape;270;p48"/>
          <p:cNvCxnSpPr/>
          <p:nvPr/>
        </p:nvCxnSpPr>
        <p:spPr>
          <a:xfrm>
            <a:off x="2820861" y="4060188"/>
            <a:ext cx="1982700" cy="0"/>
          </a:xfrm>
          <a:prstGeom prst="straightConnector1">
            <a:avLst/>
          </a:prstGeom>
          <a:noFill/>
          <a:ln w="9525" cap="flat" cmpd="sng">
            <a:solidFill>
              <a:srgbClr val="0254EC"/>
            </a:solidFill>
            <a:prstDash val="solid"/>
            <a:round/>
            <a:headEnd type="none" w="sm" len="sm"/>
            <a:tailEnd type="none" w="sm" len="sm"/>
          </a:ln>
        </p:spPr>
      </p:cxnSp>
      <p:sp>
        <p:nvSpPr>
          <p:cNvPr id="271" name="Google Shape;271;p48"/>
          <p:cNvSpPr txBox="1"/>
          <p:nvPr/>
        </p:nvSpPr>
        <p:spPr>
          <a:xfrm>
            <a:off x="904675" y="4435122"/>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Full visibility into vulnerabilities across all environments</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2" name="Google Shape;272;p48"/>
          <p:cNvSpPr txBox="1"/>
          <p:nvPr/>
        </p:nvSpPr>
        <p:spPr>
          <a:xfrm>
            <a:off x="2942638" y="4164084"/>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Engineers have what they need to remediate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3" name="Google Shape;273;p48"/>
          <p:cNvSpPr txBox="1"/>
          <p:nvPr/>
        </p:nvSpPr>
        <p:spPr>
          <a:xfrm>
            <a:off x="4934925" y="3774490"/>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Security is a natural part of development</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4" name="Google Shape;274;p48"/>
          <p:cNvSpPr/>
          <p:nvPr/>
        </p:nvSpPr>
        <p:spPr>
          <a:xfrm>
            <a:off x="3440152" y="629773"/>
            <a:ext cx="1453800" cy="252300"/>
          </a:xfrm>
          <a:prstGeom prst="roundRect">
            <a:avLst>
              <a:gd name="adj" fmla="val 50000"/>
            </a:avLst>
          </a:prstGeom>
          <a:solidFill>
            <a:srgbClr val="FFFFFF"/>
          </a:solidFill>
          <a:ln w="11350" cap="flat" cmpd="sng">
            <a:solidFill>
              <a:srgbClr val="CADAFF"/>
            </a:solidFill>
            <a:prstDash val="solid"/>
            <a:miter lim="8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75" name="Google Shape;275;p48"/>
          <p:cNvSpPr txBox="1"/>
          <p:nvPr/>
        </p:nvSpPr>
        <p:spPr>
          <a:xfrm>
            <a:off x="3725258"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panose="020F0502020204030204" pitchFamily="34" charset="0"/>
                <a:ea typeface="Calibri" panose="020F0502020204030204" pitchFamily="34" charset="0"/>
                <a:cs typeface="Calibri" panose="020F0502020204030204" pitchFamily="34" charset="0"/>
                <a:sym typeface="Poppins Medium"/>
              </a:rPr>
              <a:t>Where are you?</a:t>
            </a:r>
            <a:endParaRPr sz="131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76" name="Google Shape;276;p48" title="icon.png"/>
          <p:cNvPicPr preferRelativeResize="0"/>
          <p:nvPr/>
        </p:nvPicPr>
        <p:blipFill rotWithShape="1">
          <a:blip r:embed="rId4">
            <a:alphaModFix/>
          </a:blip>
          <a:srcRect/>
          <a:stretch/>
        </p:blipFill>
        <p:spPr>
          <a:xfrm>
            <a:off x="3377536" y="617823"/>
            <a:ext cx="272612" cy="272612"/>
          </a:xfrm>
          <a:prstGeom prst="rect">
            <a:avLst/>
          </a:prstGeom>
          <a:noFill/>
          <a:ln>
            <a:noFill/>
          </a:ln>
        </p:spPr>
      </p:pic>
      <p:pic>
        <p:nvPicPr>
          <p:cNvPr id="277" name="Google Shape;277;p48" title="Group 1000004543_1.png"/>
          <p:cNvPicPr preferRelativeResize="0"/>
          <p:nvPr/>
        </p:nvPicPr>
        <p:blipFill rotWithShape="1">
          <a:blip r:embed="rId5">
            <a:alphaModFix/>
          </a:blip>
          <a:srcRect/>
          <a:stretch/>
        </p:blipFill>
        <p:spPr>
          <a:xfrm>
            <a:off x="685650" y="2277531"/>
            <a:ext cx="883400" cy="883400"/>
          </a:xfrm>
          <a:prstGeom prst="rect">
            <a:avLst/>
          </a:prstGeom>
          <a:noFill/>
          <a:ln>
            <a:noFill/>
          </a:ln>
        </p:spPr>
      </p:pic>
      <p:pic>
        <p:nvPicPr>
          <p:cNvPr id="278" name="Google Shape;278;p48" title="Group 1000004545.png"/>
          <p:cNvPicPr preferRelativeResize="0"/>
          <p:nvPr/>
        </p:nvPicPr>
        <p:blipFill rotWithShape="1">
          <a:blip r:embed="rId6">
            <a:alphaModFix/>
          </a:blip>
          <a:srcRect/>
          <a:stretch/>
        </p:blipFill>
        <p:spPr>
          <a:xfrm>
            <a:off x="2702325" y="1693376"/>
            <a:ext cx="883400" cy="883400"/>
          </a:xfrm>
          <a:prstGeom prst="rect">
            <a:avLst/>
          </a:prstGeom>
          <a:noFill/>
          <a:ln>
            <a:noFill/>
          </a:ln>
        </p:spPr>
      </p:pic>
      <p:pic>
        <p:nvPicPr>
          <p:cNvPr id="279" name="Google Shape;279;p48" title="Group 1000004546.png"/>
          <p:cNvPicPr preferRelativeResize="0"/>
          <p:nvPr/>
        </p:nvPicPr>
        <p:blipFill rotWithShape="1">
          <a:blip r:embed="rId7">
            <a:alphaModFix/>
          </a:blip>
          <a:srcRect/>
          <a:stretch/>
        </p:blipFill>
        <p:spPr>
          <a:xfrm>
            <a:off x="4685600" y="1077600"/>
            <a:ext cx="883400" cy="883400"/>
          </a:xfrm>
          <a:prstGeom prst="rect">
            <a:avLst/>
          </a:prstGeom>
          <a:noFill/>
          <a:ln>
            <a:noFill/>
          </a:ln>
        </p:spPr>
      </p:pic>
      <p:grpSp>
        <p:nvGrpSpPr>
          <p:cNvPr id="280" name="Google Shape;280;p48"/>
          <p:cNvGrpSpPr/>
          <p:nvPr/>
        </p:nvGrpSpPr>
        <p:grpSpPr>
          <a:xfrm>
            <a:off x="6717625" y="465775"/>
            <a:ext cx="883400" cy="883400"/>
            <a:chOff x="6717625" y="465775"/>
            <a:chExt cx="883400" cy="883400"/>
          </a:xfrm>
        </p:grpSpPr>
        <p:pic>
          <p:nvPicPr>
            <p:cNvPr id="281" name="Google Shape;281;p48" title="Group 1000004546.png"/>
            <p:cNvPicPr preferRelativeResize="0"/>
            <p:nvPr/>
          </p:nvPicPr>
          <p:blipFill rotWithShape="1">
            <a:blip r:embed="rId7">
              <a:alphaModFix/>
            </a:blip>
            <a:srcRect/>
            <a:stretch/>
          </p:blipFill>
          <p:spPr>
            <a:xfrm>
              <a:off x="6717625" y="465775"/>
              <a:ext cx="883400" cy="883400"/>
            </a:xfrm>
            <a:prstGeom prst="rect">
              <a:avLst/>
            </a:prstGeom>
            <a:noFill/>
            <a:ln>
              <a:noFill/>
            </a:ln>
          </p:spPr>
        </p:pic>
        <p:sp>
          <p:nvSpPr>
            <p:cNvPr id="282" name="Google Shape;282;p48"/>
            <p:cNvSpPr/>
            <p:nvPr/>
          </p:nvSpPr>
          <p:spPr>
            <a:xfrm>
              <a:off x="6911825" y="635000"/>
              <a:ext cx="495000" cy="495000"/>
            </a:xfrm>
            <a:prstGeom prst="ellipse">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pic>
          <p:nvPicPr>
            <p:cNvPr id="283" name="Google Shape;283;p48" descr="A blue and pink logo&#10;&#10;AI-generated content may be incorrect."/>
            <p:cNvPicPr preferRelativeResize="0"/>
            <p:nvPr/>
          </p:nvPicPr>
          <p:blipFill rotWithShape="1">
            <a:blip r:embed="rId8">
              <a:alphaModFix/>
            </a:blip>
            <a:srcRect/>
            <a:stretch/>
          </p:blipFill>
          <p:spPr>
            <a:xfrm>
              <a:off x="6913025" y="617974"/>
              <a:ext cx="492600" cy="492600"/>
            </a:xfrm>
            <a:prstGeom prst="rect">
              <a:avLst/>
            </a:prstGeom>
            <a:noFill/>
            <a:ln>
              <a:noFill/>
            </a:ln>
          </p:spPr>
        </p:pic>
      </p:grpSp>
      <p:sp>
        <p:nvSpPr>
          <p:cNvPr id="284" name="Google Shape;284;p48"/>
          <p:cNvSpPr txBox="1">
            <a:spLocks noGrp="1"/>
          </p:cNvSpPr>
          <p:nvPr>
            <p:ph type="title" idx="4294967295"/>
          </p:nvPr>
        </p:nvSpPr>
        <p:spPr>
          <a:xfrm>
            <a:off x="301950" y="201625"/>
            <a:ext cx="2915100" cy="883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Wiz Adoption &amp; Democratization</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l" rtl="0">
              <a:lnSpc>
                <a:spcPct val="100000"/>
              </a:lnSpc>
              <a:spcBef>
                <a:spcPts val="0"/>
              </a:spcBef>
              <a:spcAft>
                <a:spcPts val="0"/>
              </a:spcAft>
              <a:buSzPts val="2800"/>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Maturity Model </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pic>
        <p:nvPicPr>
          <p:cNvPr id="290" name="Google Shape;290;p49"/>
          <p:cNvPicPr preferRelativeResize="0"/>
          <p:nvPr/>
        </p:nvPicPr>
        <p:blipFill rotWithShape="1">
          <a:blip r:embed="rId3">
            <a:alphaModFix/>
          </a:blip>
          <a:srcRect/>
          <a:stretch/>
        </p:blipFill>
        <p:spPr>
          <a:xfrm>
            <a:off x="99275" y="814525"/>
            <a:ext cx="2694900" cy="4186399"/>
          </a:xfrm>
          <a:prstGeom prst="rect">
            <a:avLst/>
          </a:prstGeom>
          <a:noFill/>
          <a:ln w="6350">
            <a:solidFill>
              <a:schemeClr val="accent1"/>
            </a:solidFill>
            <a:round/>
          </a:ln>
          <a:effectLst/>
        </p:spPr>
      </p:pic>
      <p:sp>
        <p:nvSpPr>
          <p:cNvPr id="291" name="Google Shape;291;p49"/>
          <p:cNvSpPr txBox="1">
            <a:spLocks noGrp="1"/>
          </p:cNvSpPr>
          <p:nvPr>
            <p:ph type="title" idx="4294967295"/>
          </p:nvPr>
        </p:nvSpPr>
        <p:spPr>
          <a:xfrm>
            <a:off x="0" y="221125"/>
            <a:ext cx="91443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and AI Visibility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292" name="Google Shape;292;p49"/>
          <p:cNvPicPr preferRelativeResize="0"/>
          <p:nvPr/>
        </p:nvPicPr>
        <p:blipFill rotWithShape="1">
          <a:blip r:embed="rId4">
            <a:alphaModFix/>
          </a:blip>
          <a:srcRect/>
          <a:stretch/>
        </p:blipFill>
        <p:spPr>
          <a:xfrm>
            <a:off x="296060" y="1339164"/>
            <a:ext cx="216750" cy="132020"/>
          </a:xfrm>
          <a:prstGeom prst="rect">
            <a:avLst/>
          </a:prstGeom>
          <a:noFill/>
          <a:ln>
            <a:noFill/>
          </a:ln>
        </p:spPr>
      </p:pic>
      <p:sp>
        <p:nvSpPr>
          <p:cNvPr id="293" name="Google Shape;293;p49"/>
          <p:cNvSpPr txBox="1"/>
          <p:nvPr/>
        </p:nvSpPr>
        <p:spPr>
          <a:xfrm>
            <a:off x="594173" y="1306063"/>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{{C_AWS}} AWS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94" name="Google Shape;294;p49" descr="Kubernetes Logo transparent PNG - StickPNG"/>
          <p:cNvPicPr preferRelativeResize="0"/>
          <p:nvPr/>
        </p:nvPicPr>
        <p:blipFill rotWithShape="1">
          <a:blip r:embed="rId5">
            <a:alphaModFix/>
          </a:blip>
          <a:srcRect/>
          <a:stretch/>
        </p:blipFill>
        <p:spPr>
          <a:xfrm>
            <a:off x="291295" y="2333701"/>
            <a:ext cx="214875" cy="211565"/>
          </a:xfrm>
          <a:prstGeom prst="rect">
            <a:avLst/>
          </a:prstGeom>
          <a:noFill/>
          <a:ln>
            <a:noFill/>
          </a:ln>
        </p:spPr>
      </p:pic>
      <p:sp>
        <p:nvSpPr>
          <p:cNvPr id="295" name="Google Shape;295;p49"/>
          <p:cNvSpPr txBox="1"/>
          <p:nvPr/>
        </p:nvSpPr>
        <p:spPr>
          <a:xfrm>
            <a:off x="594176" y="2267228"/>
            <a:ext cx="21582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{{K8S}} K8s Clusters</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{{KG_NC}} Not Connected via Connector</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grpSp>
        <p:nvGrpSpPr>
          <p:cNvPr id="296" name="Google Shape;296;p49"/>
          <p:cNvGrpSpPr/>
          <p:nvPr/>
        </p:nvGrpSpPr>
        <p:grpSpPr>
          <a:xfrm>
            <a:off x="309832" y="2763999"/>
            <a:ext cx="189207" cy="194205"/>
            <a:chOff x="6171974" y="3205262"/>
            <a:chExt cx="189207" cy="191978"/>
          </a:xfrm>
        </p:grpSpPr>
        <p:sp>
          <p:nvSpPr>
            <p:cNvPr id="297" name="Google Shape;297;p49"/>
            <p:cNvSpPr/>
            <p:nvPr/>
          </p:nvSpPr>
          <p:spPr>
            <a:xfrm>
              <a:off x="6171974" y="3205262"/>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6" y="324079"/>
                  </a:lnTo>
                  <a:cubicBezTo>
                    <a:pt x="339490" y="324079"/>
                    <a:pt x="308916" y="354653"/>
                    <a:pt x="308916" y="392369"/>
                  </a:cubicBezTo>
                  <a:lnTo>
                    <a:pt x="308916"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98" name="Google Shape;298;p49"/>
            <p:cNvSpPr/>
            <p:nvPr/>
          </p:nvSpPr>
          <p:spPr>
            <a:xfrm>
              <a:off x="6212578" y="3247251"/>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5" y="324079"/>
                  </a:lnTo>
                  <a:cubicBezTo>
                    <a:pt x="339489" y="324079"/>
                    <a:pt x="308915" y="354653"/>
                    <a:pt x="308915" y="392369"/>
                  </a:cubicBezTo>
                  <a:lnTo>
                    <a:pt x="308915"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99" name="Google Shape;299;p49"/>
            <p:cNvSpPr/>
            <p:nvPr/>
          </p:nvSpPr>
          <p:spPr>
            <a:xfrm>
              <a:off x="6253181" y="3289240"/>
              <a:ext cx="108000" cy="108000"/>
            </a:xfrm>
            <a:prstGeom prst="roundRect">
              <a:avLst>
                <a:gd name="adj" fmla="val 6582"/>
              </a:avLst>
            </a:pr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00" name="Google Shape;300;p49"/>
          <p:cNvSpPr txBox="1"/>
          <p:nvPr/>
        </p:nvSpPr>
        <p:spPr>
          <a:xfrm>
            <a:off x="594175" y="2710232"/>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{{C_OTH}} Others</a:t>
            </a:r>
            <a:b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{{C_OTH_NAMES}}</a:t>
            </a:r>
            <a:b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grpSp>
        <p:nvGrpSpPr>
          <p:cNvPr id="301" name="Google Shape;301;p49"/>
          <p:cNvGrpSpPr/>
          <p:nvPr/>
        </p:nvGrpSpPr>
        <p:grpSpPr>
          <a:xfrm>
            <a:off x="318778" y="3899121"/>
            <a:ext cx="171314" cy="178215"/>
            <a:chOff x="11835920" y="1617571"/>
            <a:chExt cx="5866906" cy="6041208"/>
          </a:xfrm>
        </p:grpSpPr>
        <p:sp>
          <p:nvSpPr>
            <p:cNvPr id="302" name="Google Shape;302;p49"/>
            <p:cNvSpPr/>
            <p:nvPr/>
          </p:nvSpPr>
          <p:spPr>
            <a:xfrm>
              <a:off x="13171525" y="1625031"/>
              <a:ext cx="1490700" cy="944700"/>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3" name="Google Shape;303;p49"/>
            <p:cNvSpPr/>
            <p:nvPr/>
          </p:nvSpPr>
          <p:spPr>
            <a:xfrm rot="4145691">
              <a:off x="12227504" y="4096971"/>
              <a:ext cx="6050917" cy="1078706"/>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4" name="Google Shape;304;p49"/>
            <p:cNvSpPr/>
            <p:nvPr/>
          </p:nvSpPr>
          <p:spPr>
            <a:xfrm rot="9723288">
              <a:off x="15609080" y="6301883"/>
              <a:ext cx="1975610" cy="107878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5" name="Google Shape;305;p49"/>
            <p:cNvSpPr/>
            <p:nvPr/>
          </p:nvSpPr>
          <p:spPr>
            <a:xfrm rot="7393903">
              <a:off x="14175210" y="3530494"/>
              <a:ext cx="644860" cy="60433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6" name="Google Shape;306;p49"/>
            <p:cNvSpPr/>
            <p:nvPr/>
          </p:nvSpPr>
          <p:spPr>
            <a:xfrm>
              <a:off x="11835920" y="3725119"/>
              <a:ext cx="3579000" cy="3592200"/>
            </a:xfrm>
            <a:prstGeom prst="parallelogram">
              <a:avLst>
                <a:gd name="adj" fmla="val 66161"/>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07" name="Google Shape;307;p49"/>
          <p:cNvSpPr txBox="1"/>
          <p:nvPr/>
        </p:nvSpPr>
        <p:spPr>
          <a:xfrm>
            <a:off x="594173" y="3867490"/>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{{SERVERLESS_FN_COUNT}} Serverless Functions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08" name="Google Shape;308;p49"/>
          <p:cNvSpPr txBox="1"/>
          <p:nvPr/>
        </p:nvSpPr>
        <p:spPr>
          <a:xfrm>
            <a:off x="594173" y="1626385"/>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{{C_GCP}} GCP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09" name="Google Shape;309;p49" descr="Google Cloud Platform · GitHub"/>
          <p:cNvPicPr preferRelativeResize="0"/>
          <p:nvPr/>
        </p:nvPicPr>
        <p:blipFill rotWithShape="1">
          <a:blip r:embed="rId6">
            <a:alphaModFix/>
          </a:blip>
          <a:srcRect/>
          <a:stretch/>
        </p:blipFill>
        <p:spPr>
          <a:xfrm>
            <a:off x="299754" y="1614903"/>
            <a:ext cx="209362" cy="211780"/>
          </a:xfrm>
          <a:prstGeom prst="rect">
            <a:avLst/>
          </a:prstGeom>
          <a:noFill/>
          <a:ln>
            <a:noFill/>
          </a:ln>
        </p:spPr>
      </p:pic>
      <p:sp>
        <p:nvSpPr>
          <p:cNvPr id="310" name="Google Shape;310;p49"/>
          <p:cNvSpPr txBox="1"/>
          <p:nvPr/>
        </p:nvSpPr>
        <p:spPr>
          <a:xfrm>
            <a:off x="594173" y="1958244"/>
            <a:ext cx="2051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{{C_AZ}} Azure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11" name="Google Shape;311;p49"/>
          <p:cNvPicPr preferRelativeResize="0"/>
          <p:nvPr/>
        </p:nvPicPr>
        <p:blipFill rotWithShape="1">
          <a:blip r:embed="rId7">
            <a:alphaModFix/>
          </a:blip>
          <a:srcRect/>
          <a:stretch/>
        </p:blipFill>
        <p:spPr>
          <a:xfrm>
            <a:off x="299673" y="1970401"/>
            <a:ext cx="209525" cy="185367"/>
          </a:xfrm>
          <a:prstGeom prst="rect">
            <a:avLst/>
          </a:prstGeom>
          <a:noFill/>
          <a:ln>
            <a:noFill/>
          </a:ln>
        </p:spPr>
      </p:pic>
      <p:grpSp>
        <p:nvGrpSpPr>
          <p:cNvPr id="312" name="Google Shape;312;p49"/>
          <p:cNvGrpSpPr/>
          <p:nvPr/>
        </p:nvGrpSpPr>
        <p:grpSpPr>
          <a:xfrm>
            <a:off x="240579" y="3445870"/>
            <a:ext cx="327712" cy="372880"/>
            <a:chOff x="6153425" y="3541954"/>
            <a:chExt cx="540155" cy="607594"/>
          </a:xfrm>
        </p:grpSpPr>
        <p:grpSp>
          <p:nvGrpSpPr>
            <p:cNvPr id="313" name="Google Shape;313;p49"/>
            <p:cNvGrpSpPr/>
            <p:nvPr/>
          </p:nvGrpSpPr>
          <p:grpSpPr>
            <a:xfrm>
              <a:off x="6302419" y="3759933"/>
              <a:ext cx="246143" cy="246517"/>
              <a:chOff x="6996063" y="371043"/>
              <a:chExt cx="3423407" cy="3428610"/>
            </a:xfrm>
          </p:grpSpPr>
          <p:grpSp>
            <p:nvGrpSpPr>
              <p:cNvPr id="314" name="Google Shape;314;p49"/>
              <p:cNvGrpSpPr/>
              <p:nvPr/>
            </p:nvGrpSpPr>
            <p:grpSpPr>
              <a:xfrm>
                <a:off x="7365704" y="1326099"/>
                <a:ext cx="2559934" cy="2230430"/>
                <a:chOff x="7359949" y="1328909"/>
                <a:chExt cx="2559934" cy="2230430"/>
              </a:xfrm>
            </p:grpSpPr>
            <p:sp>
              <p:nvSpPr>
                <p:cNvPr id="315" name="Google Shape;315;p49"/>
                <p:cNvSpPr/>
                <p:nvPr/>
              </p:nvSpPr>
              <p:spPr>
                <a:xfrm rot="-1800156">
                  <a:off x="7697610" y="1838146"/>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6" name="Google Shape;316;p49"/>
                <p:cNvSpPr/>
                <p:nvPr/>
              </p:nvSpPr>
              <p:spPr>
                <a:xfrm rot="5400000">
                  <a:off x="8189014" y="983759"/>
                  <a:ext cx="901800" cy="1592100"/>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7" name="Google Shape;317;p49"/>
                <p:cNvSpPr/>
                <p:nvPr/>
              </p:nvSpPr>
              <p:spPr>
                <a:xfrm rot="-8999844">
                  <a:off x="8680494" y="1848387"/>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18" name="Google Shape;318;p49"/>
              <p:cNvSpPr/>
              <p:nvPr/>
            </p:nvSpPr>
            <p:spPr>
              <a:xfrm rot="5400000">
                <a:off x="6993462" y="373644"/>
                <a:ext cx="3428610" cy="3423407"/>
              </a:xfrm>
              <a:custGeom>
                <a:avLst/>
                <a:gdLst/>
                <a:ahLst/>
                <a:cxnLst/>
                <a:rect l="l" t="t" r="r" b="b"/>
                <a:pathLst>
                  <a:path w="4021830" h="3547572" extrusionOk="0">
                    <a:moveTo>
                      <a:pt x="438870" y="1773786"/>
                    </a:moveTo>
                    <a:lnTo>
                      <a:pt x="1231625" y="3181575"/>
                    </a:lnTo>
                    <a:lnTo>
                      <a:pt x="2790205" y="3181575"/>
                    </a:lnTo>
                    <a:lnTo>
                      <a:pt x="3582960" y="1773786"/>
                    </a:lnTo>
                    <a:lnTo>
                      <a:pt x="2790205" y="365997"/>
                    </a:lnTo>
                    <a:lnTo>
                      <a:pt x="1231625" y="365997"/>
                    </a:lnTo>
                    <a:close/>
                    <a:moveTo>
                      <a:pt x="0" y="1773786"/>
                    </a:moveTo>
                    <a:lnTo>
                      <a:pt x="998855" y="0"/>
                    </a:lnTo>
                    <a:lnTo>
                      <a:pt x="3022975" y="0"/>
                    </a:lnTo>
                    <a:lnTo>
                      <a:pt x="4021830" y="1773786"/>
                    </a:lnTo>
                    <a:lnTo>
                      <a:pt x="3022975" y="3547572"/>
                    </a:lnTo>
                    <a:lnTo>
                      <a:pt x="998855" y="3547572"/>
                    </a:lnTo>
                    <a:close/>
                  </a:path>
                </a:pathLst>
              </a:cu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9" name="Google Shape;319;p49"/>
              <p:cNvSpPr/>
              <p:nvPr/>
            </p:nvSpPr>
            <p:spPr>
              <a:xfrm>
                <a:off x="8550588" y="665584"/>
                <a:ext cx="190200" cy="854100"/>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20" name="Google Shape;320;p49"/>
              <p:cNvSpPr/>
              <p:nvPr/>
            </p:nvSpPr>
            <p:spPr>
              <a:xfrm rot="7200163">
                <a:off x="9706081" y="2593755"/>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21" name="Google Shape;321;p49"/>
              <p:cNvSpPr/>
              <p:nvPr/>
            </p:nvSpPr>
            <p:spPr>
              <a:xfrm rot="-7200163">
                <a:off x="7397547" y="2579190"/>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pic>
          <p:nvPicPr>
            <p:cNvPr id="322" name="Google Shape;322;p49" descr="Serverless Containers | Scaleway"/>
            <p:cNvPicPr preferRelativeResize="0"/>
            <p:nvPr/>
          </p:nvPicPr>
          <p:blipFill rotWithShape="1">
            <a:blip r:embed="rId8">
              <a:alphaModFix/>
            </a:blip>
            <a:srcRect/>
            <a:stretch/>
          </p:blipFill>
          <p:spPr>
            <a:xfrm>
              <a:off x="6153425" y="3541954"/>
              <a:ext cx="540155" cy="607594"/>
            </a:xfrm>
            <a:prstGeom prst="rect">
              <a:avLst/>
            </a:prstGeom>
            <a:noFill/>
            <a:ln>
              <a:noFill/>
            </a:ln>
          </p:spPr>
        </p:pic>
      </p:grpSp>
      <p:pic>
        <p:nvPicPr>
          <p:cNvPr id="323" name="Google Shape;323;p49" descr="A blue hexagon with white text&#10;&#10;Description automatically generated"/>
          <p:cNvPicPr preferRelativeResize="0"/>
          <p:nvPr/>
        </p:nvPicPr>
        <p:blipFill rotWithShape="1">
          <a:blip r:embed="rId9">
            <a:alphaModFix/>
          </a:blip>
          <a:srcRect/>
          <a:stretch/>
        </p:blipFill>
        <p:spPr>
          <a:xfrm>
            <a:off x="281180" y="3165533"/>
            <a:ext cx="246510" cy="211566"/>
          </a:xfrm>
          <a:prstGeom prst="rect">
            <a:avLst/>
          </a:prstGeom>
          <a:noFill/>
          <a:ln>
            <a:noFill/>
          </a:ln>
        </p:spPr>
      </p:pic>
      <p:sp>
        <p:nvSpPr>
          <p:cNvPr id="324" name="Google Shape;324;p49"/>
          <p:cNvSpPr txBox="1"/>
          <p:nvPr/>
        </p:nvSpPr>
        <p:spPr>
          <a:xfrm>
            <a:off x="602752" y="3174368"/>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FF0000"/>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{{R_TOT}} Container Registries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5" name="Google Shape;325;p49"/>
          <p:cNvSpPr txBox="1"/>
          <p:nvPr/>
        </p:nvSpPr>
        <p:spPr>
          <a:xfrm>
            <a:off x="99325" y="902925"/>
            <a:ext cx="26949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Cloud Visibility</a:t>
            </a:r>
            <a:endParaRPr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6" name="Google Shape;326;p49"/>
          <p:cNvSpPr txBox="1"/>
          <p:nvPr/>
        </p:nvSpPr>
        <p:spPr>
          <a:xfrm>
            <a:off x="594175" y="3523023"/>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{{SERVERLESS_CT_COUNT}} Serverless Containers</a:t>
            </a:r>
            <a:endParaRPr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7" name="Google Shape;327;p49"/>
          <p:cNvSpPr txBox="1"/>
          <p:nvPr/>
        </p:nvSpPr>
        <p:spPr>
          <a:xfrm>
            <a:off x="593145" y="4603900"/>
            <a:ext cx="2147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{{L_SE}} </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Wiz Runtime Sensors Deployed</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28" name="Google Shape;328;p49"/>
          <p:cNvPicPr preferRelativeResize="0"/>
          <p:nvPr/>
        </p:nvPicPr>
        <p:blipFill rotWithShape="1">
          <a:blip r:embed="rId10">
            <a:alphaModFix/>
          </a:blip>
          <a:srcRect/>
          <a:stretch/>
        </p:blipFill>
        <p:spPr>
          <a:xfrm>
            <a:off x="285915" y="4606907"/>
            <a:ext cx="216750" cy="245654"/>
          </a:xfrm>
          <a:prstGeom prst="rect">
            <a:avLst/>
          </a:prstGeom>
          <a:noFill/>
          <a:ln>
            <a:noFill/>
          </a:ln>
        </p:spPr>
      </p:pic>
      <p:sp>
        <p:nvSpPr>
          <p:cNvPr id="329" name="Google Shape;329;p49"/>
          <p:cNvSpPr txBox="1"/>
          <p:nvPr/>
        </p:nvSpPr>
        <p:spPr>
          <a:xfrm>
            <a:off x="590675" y="4214860"/>
            <a:ext cx="22134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{{CON_WE}} Connectors With Cloud Events</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{{CON_NE}} Connectors Without</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30" name="Google Shape;330;p49"/>
          <p:cNvPicPr preferRelativeResize="0"/>
          <p:nvPr/>
        </p:nvPicPr>
        <p:blipFill rotWithShape="1">
          <a:blip r:embed="rId11">
            <a:alphaModFix/>
          </a:blip>
          <a:srcRect/>
          <a:stretch/>
        </p:blipFill>
        <p:spPr>
          <a:xfrm>
            <a:off x="260656" y="4232746"/>
            <a:ext cx="287558" cy="276456"/>
          </a:xfrm>
          <a:prstGeom prst="rect">
            <a:avLst/>
          </a:prstGeom>
          <a:noFill/>
          <a:ln>
            <a:noFill/>
          </a:ln>
        </p:spPr>
      </p:pic>
      <p:pic>
        <p:nvPicPr>
          <p:cNvPr id="331" name="Google Shape;331;p49"/>
          <p:cNvPicPr preferRelativeResize="0"/>
          <p:nvPr/>
        </p:nvPicPr>
        <p:blipFill rotWithShape="1">
          <a:blip r:embed="rId3">
            <a:alphaModFix/>
          </a:blip>
          <a:srcRect/>
          <a:stretch/>
        </p:blipFill>
        <p:spPr>
          <a:xfrm>
            <a:off x="2972000" y="820225"/>
            <a:ext cx="2879650" cy="2923377"/>
          </a:xfrm>
          <a:prstGeom prst="rect">
            <a:avLst/>
          </a:prstGeom>
          <a:noFill/>
          <a:ln w="6350">
            <a:solidFill>
              <a:schemeClr val="accent1"/>
            </a:solidFill>
          </a:ln>
        </p:spPr>
      </p:pic>
      <p:sp>
        <p:nvSpPr>
          <p:cNvPr id="332" name="Google Shape;332;p49"/>
          <p:cNvSpPr txBox="1"/>
          <p:nvPr/>
        </p:nvSpPr>
        <p:spPr>
          <a:xfrm>
            <a:off x="2972075" y="829568"/>
            <a:ext cx="28797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Deployments / Connectors</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33" name="Google Shape;333;p49"/>
          <p:cNvSpPr/>
          <p:nvPr/>
        </p:nvSpPr>
        <p:spPr>
          <a:xfrm>
            <a:off x="4494205" y="1157402"/>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{{CON_EN}}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Active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4" name="Google Shape;334;p49"/>
          <p:cNvSpPr/>
          <p:nvPr/>
        </p:nvSpPr>
        <p:spPr>
          <a:xfrm>
            <a:off x="4494205" y="1683395"/>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{{CON_VCS}}</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VCS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5" name="Google Shape;335;p49"/>
          <p:cNvSpPr/>
          <p:nvPr/>
        </p:nvSpPr>
        <p:spPr>
          <a:xfrm>
            <a:off x="3195369" y="115339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{{CON_TOT}}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Total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6" name="Google Shape;336;p49"/>
          <p:cNvSpPr/>
          <p:nvPr/>
        </p:nvSpPr>
        <p:spPr>
          <a:xfrm>
            <a:off x="3195369" y="168110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{{OUT_DEP}}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Outpost Deployments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7" name="Google Shape;337;p49"/>
          <p:cNvSpPr/>
          <p:nvPr/>
        </p:nvSpPr>
        <p:spPr>
          <a:xfrm>
            <a:off x="3201552" y="2208819"/>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{{CON_DIS}}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Inactive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8" name="Google Shape;338;p49"/>
          <p:cNvSpPr/>
          <p:nvPr/>
        </p:nvSpPr>
        <p:spPr>
          <a:xfrm>
            <a:off x="4500405" y="2209388"/>
            <a:ext cx="11703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175" tIns="91175" rIns="91175" bIns="91175" anchor="ctr" anchorCtr="0">
            <a:noAutofit/>
          </a:bodyPr>
          <a:lstStyle/>
          <a:p>
            <a:pPr marL="0" marR="0" lvl="0" indent="0" algn="ctr" rtl="0">
              <a:lnSpc>
                <a:spcPct val="100000"/>
              </a:lnSpc>
              <a:spcBef>
                <a:spcPts val="0"/>
              </a:spcBef>
              <a:spcAft>
                <a:spcPts val="0"/>
              </a:spcAft>
              <a:buClr>
                <a:srgbClr val="000000"/>
              </a:buClr>
              <a:buSzPts val="698"/>
              <a:buFont typeface="Arial"/>
              <a:buNone/>
            </a:pPr>
            <a: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{{CON_BRO}}</a:t>
            </a:r>
            <a:b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Broker Deployments</a:t>
            </a:r>
            <a:endParaRPr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9" name="Google Shape;339;p49"/>
          <p:cNvSpPr/>
          <p:nvPr/>
        </p:nvSpPr>
        <p:spPr>
          <a:xfrm>
            <a:off x="3201552" y="2738628"/>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{{CON_R}}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Registry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40" name="Google Shape;340;p49"/>
          <p:cNvSpPr/>
          <p:nvPr/>
        </p:nvSpPr>
        <p:spPr>
          <a:xfrm>
            <a:off x="4500395" y="2735381"/>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{{CON_K8S}}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Kubernetes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341" name="Google Shape;341;p49"/>
          <p:cNvPicPr preferRelativeResize="0"/>
          <p:nvPr/>
        </p:nvPicPr>
        <p:blipFill rotWithShape="1">
          <a:blip r:embed="rId3">
            <a:alphaModFix/>
          </a:blip>
          <a:srcRect/>
          <a:stretch/>
        </p:blipFill>
        <p:spPr>
          <a:xfrm>
            <a:off x="5999925" y="828800"/>
            <a:ext cx="2958424" cy="2914801"/>
          </a:xfrm>
          <a:prstGeom prst="rect">
            <a:avLst/>
          </a:prstGeom>
          <a:noFill/>
          <a:ln w="6350">
            <a:solidFill>
              <a:schemeClr val="accent1"/>
            </a:solidFill>
          </a:ln>
        </p:spPr>
      </p:pic>
      <p:sp>
        <p:nvSpPr>
          <p:cNvPr id="342" name="Google Shape;342;p49"/>
          <p:cNvSpPr txBox="1"/>
          <p:nvPr/>
        </p:nvSpPr>
        <p:spPr>
          <a:xfrm>
            <a:off x="6027633" y="838143"/>
            <a:ext cx="2901413"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4">
                  <a:extLst>
                    <a:ext uri="{A12FA001-AC4F-418D-AE19-62706E023703}">
                      <ahyp:hlinkClr xmlns:ahyp="http://schemas.microsoft.com/office/drawing/2018/hyperlinkcolor" val="tx"/>
                    </a:ext>
                  </a:extLst>
                </a:hlinkClick>
              </a:rPr>
              <a:t>Cloud Events</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Arial"/>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43" name="Google Shape;343;p49"/>
          <p:cNvSpPr txBox="1"/>
          <p:nvPr/>
        </p:nvSpPr>
        <p:spPr>
          <a:xfrm>
            <a:off x="6015229" y="131973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4" name="Google Shape;344;p49"/>
          <p:cNvSpPr txBox="1"/>
          <p:nvPr/>
        </p:nvSpPr>
        <p:spPr>
          <a:xfrm>
            <a:off x="6015229" y="151458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5" name="Google Shape;345;p49"/>
          <p:cNvSpPr txBox="1"/>
          <p:nvPr/>
        </p:nvSpPr>
        <p:spPr>
          <a:xfrm>
            <a:off x="6015229" y="170942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{{CLOUD_EVENTS_4}}</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6" name="Google Shape;346;p49"/>
          <p:cNvSpPr txBox="1"/>
          <p:nvPr/>
        </p:nvSpPr>
        <p:spPr>
          <a:xfrm>
            <a:off x="6015229" y="190426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{{CLOUD_EVENTS_5}}</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7" name="Google Shape;347;p49"/>
          <p:cNvSpPr txBox="1"/>
          <p:nvPr/>
        </p:nvSpPr>
        <p:spPr>
          <a:xfrm>
            <a:off x="6015229" y="209910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{{CLOUD_EVENTS_6}}</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8" name="Google Shape;348;p49"/>
          <p:cNvSpPr txBox="1"/>
          <p:nvPr/>
        </p:nvSpPr>
        <p:spPr>
          <a:xfrm>
            <a:off x="6015229" y="229394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{{CLOUD_EVENTS_7}}</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9" name="Google Shape;349;p49"/>
          <p:cNvSpPr txBox="1"/>
          <p:nvPr/>
        </p:nvSpPr>
        <p:spPr>
          <a:xfrm>
            <a:off x="6015229" y="248879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{{CLOUD_EVENTS_8}}</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0" name="Google Shape;350;p49"/>
          <p:cNvSpPr txBox="1"/>
          <p:nvPr/>
        </p:nvSpPr>
        <p:spPr>
          <a:xfrm>
            <a:off x="6015229" y="268363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{{CLOUD_EVENTS_9}}</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1" name="Google Shape;351;p49"/>
          <p:cNvSpPr txBox="1"/>
          <p:nvPr/>
        </p:nvSpPr>
        <p:spPr>
          <a:xfrm>
            <a:off x="6015229" y="2878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{{CLOUD_EVENTS_10}}</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2" name="Google Shape;352;p49"/>
          <p:cNvSpPr txBox="1"/>
          <p:nvPr/>
        </p:nvSpPr>
        <p:spPr>
          <a:xfrm>
            <a:off x="6015229" y="307331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{{CLOUD_EVENTS_11}}</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3" name="Google Shape;353;p49"/>
          <p:cNvSpPr txBox="1"/>
          <p:nvPr/>
        </p:nvSpPr>
        <p:spPr>
          <a:xfrm>
            <a:off x="6015229" y="326815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4" name="Google Shape;354;p49"/>
          <p:cNvSpPr txBox="1"/>
          <p:nvPr/>
        </p:nvSpPr>
        <p:spPr>
          <a:xfrm>
            <a:off x="6015228" y="1122408"/>
            <a:ext cx="2287200" cy="1839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5" name="Google Shape;355;p49"/>
          <p:cNvSpPr txBox="1"/>
          <p:nvPr/>
        </p:nvSpPr>
        <p:spPr>
          <a:xfrm>
            <a:off x="7985429" y="1105704"/>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6" name="Google Shape;356;p49"/>
          <p:cNvSpPr txBox="1"/>
          <p:nvPr/>
        </p:nvSpPr>
        <p:spPr>
          <a:xfrm>
            <a:off x="7985429" y="130077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7" name="Google Shape;357;p49"/>
          <p:cNvSpPr txBox="1"/>
          <p:nvPr/>
        </p:nvSpPr>
        <p:spPr>
          <a:xfrm>
            <a:off x="7985429" y="149584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8" name="Google Shape;358;p49"/>
          <p:cNvSpPr txBox="1"/>
          <p:nvPr/>
        </p:nvSpPr>
        <p:spPr>
          <a:xfrm>
            <a:off x="7985429" y="169091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{{CE_4}}</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9" name="Google Shape;359;p49"/>
          <p:cNvSpPr txBox="1"/>
          <p:nvPr/>
        </p:nvSpPr>
        <p:spPr>
          <a:xfrm>
            <a:off x="7985429" y="1885981"/>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{{CE_5}}</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0" name="Google Shape;360;p49"/>
          <p:cNvSpPr txBox="1"/>
          <p:nvPr/>
        </p:nvSpPr>
        <p:spPr>
          <a:xfrm>
            <a:off x="7985429" y="208105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{{CE_6}}</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1" name="Google Shape;361;p49"/>
          <p:cNvSpPr txBox="1"/>
          <p:nvPr/>
        </p:nvSpPr>
        <p:spPr>
          <a:xfrm>
            <a:off x="7985429" y="227612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{{CE_7}}</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2" name="Google Shape;362;p49"/>
          <p:cNvSpPr txBox="1"/>
          <p:nvPr/>
        </p:nvSpPr>
        <p:spPr>
          <a:xfrm>
            <a:off x="7985429" y="2471189"/>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{{CE_8}}</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3" name="Google Shape;363;p49"/>
          <p:cNvSpPr txBox="1"/>
          <p:nvPr/>
        </p:nvSpPr>
        <p:spPr>
          <a:xfrm>
            <a:off x="7985429" y="2666258"/>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{{CE_9}}</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4" name="Google Shape;364;p49"/>
          <p:cNvSpPr txBox="1"/>
          <p:nvPr/>
        </p:nvSpPr>
        <p:spPr>
          <a:xfrm>
            <a:off x="7985429" y="286132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{{CE_10}}</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5" name="Google Shape;365;p49"/>
          <p:cNvSpPr txBox="1"/>
          <p:nvPr/>
        </p:nvSpPr>
        <p:spPr>
          <a:xfrm>
            <a:off x="7990523" y="305639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{{CE_11}}</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6" name="Google Shape;366;p49"/>
          <p:cNvSpPr txBox="1"/>
          <p:nvPr/>
        </p:nvSpPr>
        <p:spPr>
          <a:xfrm>
            <a:off x="7985429" y="3251466"/>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{{CE_12}}</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67" name="Google Shape;367;p49"/>
          <p:cNvPicPr preferRelativeResize="0"/>
          <p:nvPr/>
        </p:nvPicPr>
        <p:blipFill rotWithShape="1">
          <a:blip r:embed="rId15">
            <a:alphaModFix/>
          </a:blip>
          <a:srcRect/>
          <a:stretch/>
        </p:blipFill>
        <p:spPr>
          <a:xfrm>
            <a:off x="2972000" y="3837150"/>
            <a:ext cx="5986350" cy="1180899"/>
          </a:xfrm>
          <a:prstGeom prst="rect">
            <a:avLst/>
          </a:prstGeom>
          <a:noFill/>
          <a:ln w="6350">
            <a:solidFill>
              <a:schemeClr val="accent1"/>
            </a:solidFill>
          </a:ln>
        </p:spPr>
      </p:pic>
      <p:sp>
        <p:nvSpPr>
          <p:cNvPr id="368" name="Google Shape;368;p49"/>
          <p:cNvSpPr txBox="1"/>
          <p:nvPr/>
        </p:nvSpPr>
        <p:spPr>
          <a:xfrm>
            <a:off x="3107645" y="3877908"/>
            <a:ext cx="2630400" cy="3090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6">
                  <a:extLst>
                    <a:ext uri="{A12FA001-AC4F-418D-AE19-62706E023703}">
                      <ahyp:hlinkClr xmlns:ahyp="http://schemas.microsoft.com/office/drawing/2018/hyperlinkcolor" val="tx"/>
                    </a:ext>
                  </a:extLst>
                </a:hlinkClick>
              </a:rPr>
              <a:t>AI Visibility / Inventory</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69" name="Google Shape;369;p49"/>
          <p:cNvSpPr/>
          <p:nvPr/>
        </p:nvSpPr>
        <p:spPr>
          <a:xfrm>
            <a:off x="3139402"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{{AI_MODELS_COUNT}}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Models</a:t>
            </a:r>
            <a:endParaRPr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0" name="Google Shape;370;p49"/>
          <p:cNvSpPr/>
          <p:nvPr/>
        </p:nvSpPr>
        <p:spPr>
          <a:xfrm>
            <a:off x="4314761"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{{AI_AGENTS_COUNT}}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Agents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1" name="Google Shape;371;p49"/>
          <p:cNvSpPr/>
          <p:nvPr/>
        </p:nvSpPr>
        <p:spPr>
          <a:xfrm>
            <a:off x="5490120" y="427906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{{AI_PIPELINES_COUNT}}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Pipelines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2" name="Google Shape;372;p49"/>
          <p:cNvSpPr/>
          <p:nvPr/>
        </p:nvSpPr>
        <p:spPr>
          <a:xfrm>
            <a:off x="6665479"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{{AI_WORKLOADS_COUNT}}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Workloads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3" name="Google Shape;373;p49"/>
          <p:cNvSpPr/>
          <p:nvPr/>
        </p:nvSpPr>
        <p:spPr>
          <a:xfrm>
            <a:off x="3145104" y="465696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{{AI_GUARDRAILS_COUNT}}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Guardrails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4" name="Google Shape;374;p49"/>
          <p:cNvSpPr/>
          <p:nvPr/>
        </p:nvSpPr>
        <p:spPr>
          <a:xfrm>
            <a:off x="4319779" y="466445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{{AI_MCP_SERVERS_COUNT}}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MCP Servers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5" name="Google Shape;375;p49"/>
          <p:cNvSpPr/>
          <p:nvPr/>
        </p:nvSpPr>
        <p:spPr>
          <a:xfrm>
            <a:off x="5494453" y="4657061"/>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{{AI_TECHNOLOGIES_COUNT}}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Technologies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6" name="Google Shape;376;p49"/>
          <p:cNvSpPr/>
          <p:nvPr/>
        </p:nvSpPr>
        <p:spPr>
          <a:xfrm>
            <a:off x="6669128"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{{AI_CODE_REPOS_COUNT}}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Code Repos with AI</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7" name="Google Shape;377;p49"/>
          <p:cNvSpPr txBox="1"/>
          <p:nvPr/>
        </p:nvSpPr>
        <p:spPr>
          <a:xfrm>
            <a:off x="6013666" y="3460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78" name="Google Shape;378;p49"/>
          <p:cNvSpPr txBox="1"/>
          <p:nvPr/>
        </p:nvSpPr>
        <p:spPr>
          <a:xfrm>
            <a:off x="7983866" y="344378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{{CE_13}}</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79" name="Google Shape;379;p49"/>
          <p:cNvSpPr/>
          <p:nvPr/>
        </p:nvSpPr>
        <p:spPr>
          <a:xfrm>
            <a:off x="3190949" y="3268438"/>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{{CON_R}}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Admission Controllers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0" name="Google Shape;380;p49"/>
          <p:cNvSpPr/>
          <p:nvPr/>
        </p:nvSpPr>
        <p:spPr>
          <a:xfrm>
            <a:off x="7840838"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{{AI_DATASETS_COUNT}}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Datastores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1" name="Google Shape;381;p49"/>
          <p:cNvSpPr/>
          <p:nvPr/>
        </p:nvSpPr>
        <p:spPr>
          <a:xfrm>
            <a:off x="7843803"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{{AI_CA_COUNT}}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Coding Agents (IDE)</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2" name="Google Shape;382;p49"/>
          <p:cNvSpPr/>
          <p:nvPr/>
        </p:nvSpPr>
        <p:spPr>
          <a:xfrm>
            <a:off x="4488949" y="3261374"/>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{{CON_WOS}}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WizOS Workloads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pic>
        <p:nvPicPr>
          <p:cNvPr id="388" name="Google Shape;388;p50"/>
          <p:cNvPicPr preferRelativeResize="0"/>
          <p:nvPr/>
        </p:nvPicPr>
        <p:blipFill rotWithShape="1">
          <a:blip r:embed="rId3">
            <a:alphaModFix/>
          </a:blip>
          <a:srcRect/>
          <a:stretch/>
        </p:blipFill>
        <p:spPr>
          <a:xfrm>
            <a:off x="169678" y="971143"/>
            <a:ext cx="2848816" cy="3509202"/>
          </a:xfrm>
          <a:prstGeom prst="rect">
            <a:avLst/>
          </a:prstGeom>
          <a:noFill/>
          <a:ln w="6350">
            <a:solidFill>
              <a:schemeClr val="accent1"/>
            </a:solidFill>
          </a:ln>
        </p:spPr>
      </p:pic>
      <p:sp>
        <p:nvSpPr>
          <p:cNvPr id="389" name="Google Shape;389;p50"/>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Wiz Adoption &amp; Usage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90" name="Google Shape;390;p50"/>
          <p:cNvSpPr txBox="1"/>
          <p:nvPr/>
        </p:nvSpPr>
        <p:spPr>
          <a:xfrm>
            <a:off x="558756" y="1438781"/>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{{L_CL_PCT}}</a:t>
            </a: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 Cloud Advanced</a:t>
            </a:r>
            <a:endParaRPr sz="11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91" name="Google Shape;391;p50"/>
          <p:cNvSpPr txBox="1"/>
          <p:nvPr/>
        </p:nvSpPr>
        <p:spPr>
          <a:xfrm>
            <a:off x="612468" y="1693344"/>
            <a:ext cx="2538600" cy="987600"/>
          </a:xfrm>
          <a:prstGeom prst="rect">
            <a:avLst/>
          </a:prstGeom>
          <a:noFill/>
          <a:ln>
            <a:noFill/>
          </a:ln>
        </p:spPr>
        <p:txBody>
          <a:bodyPr spcFirstLastPara="1" wrap="square" lIns="55875" tIns="27925" rIns="55875" bIns="27925" anchor="t" anchorCtr="0">
            <a:noAutofit/>
          </a:bodyPr>
          <a:lstStyle/>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Compute </a:t>
            </a:r>
            <a:b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Data </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Non-OS / Registry / VM Image</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WizOS </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Unified Vulnerability Mgmt</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Advanced ASM</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chemeClr val="dk1"/>
              </a:buClr>
              <a:buSzPts val="11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Red Agent</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SaaS Users</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92" name="Google Shape;392;p50"/>
          <p:cNvSpPr txBox="1"/>
          <p:nvPr/>
        </p:nvSpPr>
        <p:spPr>
          <a:xfrm>
            <a:off x="169678" y="1008122"/>
            <a:ext cx="2843100" cy="3876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Product Usage</a:t>
            </a:r>
            <a:endParaRPr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93" name="Google Shape;393;p50"/>
          <p:cNvSpPr txBox="1"/>
          <p:nvPr/>
        </p:nvSpPr>
        <p:spPr>
          <a:xfrm>
            <a:off x="613618" y="2992819"/>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Runtime Sensor</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{{L_SE}}</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4" name="Google Shape;394;p50" title="Screenshot 2025-07-09 at 19.45.30.png"/>
          <p:cNvPicPr preferRelativeResize="0"/>
          <p:nvPr/>
        </p:nvPicPr>
        <p:blipFill rotWithShape="1">
          <a:blip r:embed="rId4">
            <a:alphaModFix/>
          </a:blip>
          <a:srcRect/>
          <a:stretch/>
        </p:blipFill>
        <p:spPr>
          <a:xfrm>
            <a:off x="212175" y="3021565"/>
            <a:ext cx="384944" cy="394315"/>
          </a:xfrm>
          <a:prstGeom prst="rect">
            <a:avLst/>
          </a:prstGeom>
          <a:noFill/>
          <a:ln>
            <a:noFill/>
          </a:ln>
        </p:spPr>
      </p:pic>
      <p:sp>
        <p:nvSpPr>
          <p:cNvPr id="395" name="Google Shape;395;p50"/>
          <p:cNvSpPr txBox="1"/>
          <p:nvPr/>
        </p:nvSpPr>
        <p:spPr>
          <a:xfrm>
            <a:off x="618387" y="3495619"/>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Wiz Defend Ingestion</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{{L_DE}} Units</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6" name="Google Shape;396;p50" title="Screenshot 2025-07-09 at 19.46.40.png"/>
          <p:cNvPicPr preferRelativeResize="0"/>
          <p:nvPr/>
        </p:nvPicPr>
        <p:blipFill rotWithShape="1">
          <a:blip r:embed="rId5">
            <a:alphaModFix/>
          </a:blip>
          <a:srcRect/>
          <a:stretch/>
        </p:blipFill>
        <p:spPr>
          <a:xfrm>
            <a:off x="194378" y="3538892"/>
            <a:ext cx="403072" cy="394315"/>
          </a:xfrm>
          <a:prstGeom prst="rect">
            <a:avLst/>
          </a:prstGeom>
          <a:noFill/>
          <a:ln>
            <a:noFill/>
          </a:ln>
        </p:spPr>
      </p:pic>
      <p:pic>
        <p:nvPicPr>
          <p:cNvPr id="397" name="Google Shape;397;p50" title="Screenshot 2025-07-09 at 19.46.06.png"/>
          <p:cNvPicPr preferRelativeResize="0"/>
          <p:nvPr/>
        </p:nvPicPr>
        <p:blipFill rotWithShape="1">
          <a:blip r:embed="rId6">
            <a:alphaModFix/>
          </a:blip>
          <a:srcRect/>
          <a:stretch/>
        </p:blipFill>
        <p:spPr>
          <a:xfrm>
            <a:off x="217005" y="4027677"/>
            <a:ext cx="385851" cy="388893"/>
          </a:xfrm>
          <a:prstGeom prst="rect">
            <a:avLst/>
          </a:prstGeom>
          <a:noFill/>
          <a:ln>
            <a:noFill/>
          </a:ln>
        </p:spPr>
      </p:pic>
      <p:sp>
        <p:nvSpPr>
          <p:cNvPr id="398" name="Google Shape;398;p50"/>
          <p:cNvSpPr txBox="1"/>
          <p:nvPr/>
        </p:nvSpPr>
        <p:spPr>
          <a:xfrm>
            <a:off x="621949" y="3980673"/>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Wiz Code</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{{L_CO}} Developers</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9" name="Google Shape;399;p50"/>
          <p:cNvPicPr preferRelativeResize="0"/>
          <p:nvPr/>
        </p:nvPicPr>
        <p:blipFill rotWithShape="1">
          <a:blip r:embed="rId7">
            <a:alphaModFix/>
          </a:blip>
          <a:srcRect/>
          <a:stretch/>
        </p:blipFill>
        <p:spPr>
          <a:xfrm>
            <a:off x="3171345" y="971143"/>
            <a:ext cx="2838298" cy="1109701"/>
          </a:xfrm>
          <a:prstGeom prst="rect">
            <a:avLst/>
          </a:prstGeom>
          <a:noFill/>
          <a:ln w="6350">
            <a:solidFill>
              <a:schemeClr val="accent1"/>
            </a:solidFill>
          </a:ln>
        </p:spPr>
      </p:pic>
      <p:sp>
        <p:nvSpPr>
          <p:cNvPr id="400" name="Google Shape;400;p50"/>
          <p:cNvSpPr txBox="1"/>
          <p:nvPr/>
        </p:nvSpPr>
        <p:spPr>
          <a:xfrm>
            <a:off x="3171351" y="997628"/>
            <a:ext cx="2836200" cy="285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Time With Wiz</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1" name="Google Shape;401;p50"/>
          <p:cNvSpPr txBox="1"/>
          <p:nvPr/>
        </p:nvSpPr>
        <p:spPr>
          <a:xfrm>
            <a:off x="3310069" y="1492406"/>
            <a:ext cx="2556900" cy="306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02" name="Google Shape;402;p50"/>
          <p:cNvSpPr txBox="1"/>
          <p:nvPr/>
        </p:nvSpPr>
        <p:spPr>
          <a:xfrm>
            <a:off x="3249786" y="1239364"/>
            <a:ext cx="2683500" cy="2607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403" name="Google Shape;403;p50"/>
          <p:cNvPicPr preferRelativeResize="0"/>
          <p:nvPr/>
        </p:nvPicPr>
        <p:blipFill rotWithShape="1">
          <a:blip r:embed="rId7">
            <a:alphaModFix/>
          </a:blip>
          <a:srcRect/>
          <a:stretch/>
        </p:blipFill>
        <p:spPr>
          <a:xfrm>
            <a:off x="3167109" y="2242540"/>
            <a:ext cx="2841027" cy="2534151"/>
          </a:xfrm>
          <a:prstGeom prst="rect">
            <a:avLst/>
          </a:prstGeom>
          <a:noFill/>
          <a:ln w="6350">
            <a:solidFill>
              <a:schemeClr val="accent1"/>
            </a:solidFill>
          </a:ln>
        </p:spPr>
      </p:pic>
      <p:sp>
        <p:nvSpPr>
          <p:cNvPr id="404" name="Google Shape;404;p50"/>
          <p:cNvSpPr txBox="1"/>
          <p:nvPr/>
        </p:nvSpPr>
        <p:spPr>
          <a:xfrm>
            <a:off x="3167119" y="2314275"/>
            <a:ext cx="2838900" cy="667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Kubernetes / Containers</a:t>
            </a:r>
            <a:b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&amp; Wiz CLI</a:t>
            </a:r>
            <a:endParaRPr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5" name="Google Shape;405;p50"/>
          <p:cNvSpPr txBox="1"/>
          <p:nvPr/>
        </p:nvSpPr>
        <p:spPr>
          <a:xfrm>
            <a:off x="3271520" y="3472107"/>
            <a:ext cx="2592000" cy="716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06" name="Google Shape;406;p50"/>
          <p:cNvSpPr txBox="1"/>
          <p:nvPr/>
        </p:nvSpPr>
        <p:spPr>
          <a:xfrm>
            <a:off x="3210410" y="2880241"/>
            <a:ext cx="2720400" cy="6096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07" name="Google Shape;407;p50"/>
          <p:cNvSpPr txBox="1"/>
          <p:nvPr/>
        </p:nvSpPr>
        <p:spPr>
          <a:xfrm>
            <a:off x="3302811" y="302416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K8s Clusters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8" name="Google Shape;408;p50"/>
          <p:cNvSpPr txBox="1"/>
          <p:nvPr/>
        </p:nvSpPr>
        <p:spPr>
          <a:xfrm>
            <a:off x="4789108" y="302416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9" name="Google Shape;409;p50"/>
          <p:cNvSpPr txBox="1"/>
          <p:nvPr/>
        </p:nvSpPr>
        <p:spPr>
          <a:xfrm>
            <a:off x="4789108" y="3245522"/>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{{TI}}</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0" name="Google Shape;410;p50"/>
          <p:cNvSpPr txBox="1"/>
          <p:nvPr/>
        </p:nvSpPr>
        <p:spPr>
          <a:xfrm>
            <a:off x="3167108" y="3808871"/>
            <a:ext cx="2838900" cy="2703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Wiz CLI SCANS (30d) </a:t>
            </a:r>
            <a:r>
              <a:rPr lang="en" sz="14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1" name="Google Shape;411;p50"/>
          <p:cNvSpPr txBox="1"/>
          <p:nvPr/>
        </p:nvSpPr>
        <p:spPr>
          <a:xfrm>
            <a:off x="3167108" y="4128246"/>
            <a:ext cx="2838900" cy="4920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2000"/>
              <a:buFont typeface="Arial"/>
              <a:buNone/>
            </a:pPr>
            <a:r>
              <a:rPr lang="en" sz="2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{{CLI}}</a:t>
            </a:r>
            <a:endParaRPr sz="2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2" name="Google Shape;412;p50"/>
          <p:cNvSpPr txBox="1"/>
          <p:nvPr/>
        </p:nvSpPr>
        <p:spPr>
          <a:xfrm>
            <a:off x="3306330" y="346620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0">
                  <a:extLst>
                    <a:ext uri="{A12FA001-AC4F-418D-AE19-62706E023703}">
                      <ahyp:hlinkClr xmlns:ahyp="http://schemas.microsoft.com/office/drawing/2018/hyperlinkcolor" val="tx"/>
                    </a:ext>
                  </a:extLst>
                </a:hlinkClick>
              </a:rPr>
              <a:t>Container Registries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3" name="Google Shape;413;p50"/>
          <p:cNvSpPr txBox="1"/>
          <p:nvPr/>
        </p:nvSpPr>
        <p:spPr>
          <a:xfrm>
            <a:off x="4792628" y="346620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{{R_TOT}}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4" name="Google Shape;414;p50"/>
          <p:cNvSpPr txBox="1"/>
          <p:nvPr/>
        </p:nvSpPr>
        <p:spPr>
          <a:xfrm>
            <a:off x="3293611" y="3244616"/>
            <a:ext cx="17847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Container Images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5" name="Google Shape;415;p50"/>
          <p:cNvSpPr txBox="1"/>
          <p:nvPr/>
        </p:nvSpPr>
        <p:spPr>
          <a:xfrm>
            <a:off x="1817806" y="1749876"/>
            <a:ext cx="1225800" cy="1248900"/>
          </a:xfrm>
          <a:prstGeom prst="rect">
            <a:avLst/>
          </a:prstGeom>
          <a:noFill/>
          <a:ln>
            <a:noFill/>
          </a:ln>
        </p:spPr>
        <p:txBody>
          <a:bodyPr spcFirstLastPara="1" wrap="square" lIns="91225" tIns="91225" rIns="91225" bIns="91225" anchor="ctr" anchorCtr="0">
            <a:noAutofit/>
          </a:bodyPr>
          <a:lstStyle/>
          <a:p>
            <a:pPr marL="0" marR="0" lvl="0" indent="0" algn="r" rtl="0">
              <a:lnSpc>
                <a:spcPct val="115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{{CL_CP}}%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{{CL_DP}}%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{{CL_NRVP}}%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{{CL_WOP}}%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{{CL_UVMP}}%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{{CL_ASMP}}%</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r" rtl="0">
              <a:lnSpc>
                <a:spcPct val="115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{{CL_REDA}}%</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{{CL_SUP}}%</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6" name="Google Shape;416;p50"/>
          <p:cNvSpPr txBox="1"/>
          <p:nvPr/>
        </p:nvSpPr>
        <p:spPr>
          <a:xfrm>
            <a:off x="3295309" y="1456043"/>
            <a:ext cx="2528700" cy="335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Current Contract End</a:t>
            </a:r>
            <a:b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b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{{CONTRACT_END_FMT}}</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17" name="Google Shape;417;p50"/>
          <p:cNvSpPr txBox="1"/>
          <p:nvPr/>
        </p:nvSpPr>
        <p:spPr>
          <a:xfrm>
            <a:off x="3266555" y="1275483"/>
            <a:ext cx="2683500" cy="285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{{CUS_NOD}} Days as Wiz Customer</a:t>
            </a:r>
            <a:endParaRPr sz="11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18" name="Google Shape;418;p50"/>
          <p:cNvSpPr txBox="1"/>
          <p:nvPr/>
        </p:nvSpPr>
        <p:spPr>
          <a:xfrm>
            <a:off x="3293159" y="1891557"/>
            <a:ext cx="2683500" cy="153888"/>
          </a:xfrm>
          <a:prstGeom prst="rect">
            <a:avLst/>
          </a:prstGeom>
          <a:noFill/>
          <a:ln>
            <a:noFill/>
          </a:ln>
        </p:spPr>
        <p:txBody>
          <a:bodyPr spcFirstLastPara="1" wrap="square" lIns="91425" tIns="0" rIns="91425"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{{D_U_R}} Days Until Renewal</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419" name="Google Shape;419;p50"/>
          <p:cNvPicPr preferRelativeResize="0"/>
          <p:nvPr/>
        </p:nvPicPr>
        <p:blipFill rotWithShape="1">
          <a:blip r:embed="rId12">
            <a:alphaModFix/>
          </a:blip>
          <a:srcRect/>
          <a:stretch/>
        </p:blipFill>
        <p:spPr>
          <a:xfrm>
            <a:off x="231234" y="1394102"/>
            <a:ext cx="338330" cy="357132"/>
          </a:xfrm>
          <a:prstGeom prst="rect">
            <a:avLst/>
          </a:prstGeom>
          <a:noFill/>
          <a:ln>
            <a:noFill/>
          </a:ln>
        </p:spPr>
      </p:pic>
      <p:pic>
        <p:nvPicPr>
          <p:cNvPr id="420" name="Google Shape;420;p50"/>
          <p:cNvPicPr preferRelativeResize="0"/>
          <p:nvPr/>
        </p:nvPicPr>
        <p:blipFill rotWithShape="1">
          <a:blip r:embed="rId7">
            <a:alphaModFix/>
          </a:blip>
          <a:srcRect/>
          <a:stretch/>
        </p:blipFill>
        <p:spPr>
          <a:xfrm>
            <a:off x="6189553" y="976375"/>
            <a:ext cx="2780923" cy="1385452"/>
          </a:xfrm>
          <a:prstGeom prst="rect">
            <a:avLst/>
          </a:prstGeom>
          <a:noFill/>
          <a:ln w="6350">
            <a:solidFill>
              <a:schemeClr val="accent1"/>
            </a:solidFill>
          </a:ln>
        </p:spPr>
      </p:pic>
      <p:sp>
        <p:nvSpPr>
          <p:cNvPr id="421" name="Google Shape;421;p50"/>
          <p:cNvSpPr txBox="1"/>
          <p:nvPr/>
        </p:nvSpPr>
        <p:spPr>
          <a:xfrm>
            <a:off x="6189557" y="997040"/>
            <a:ext cx="2781000" cy="376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595959"/>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Unscanned Resources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2" name="Google Shape;422;p50"/>
          <p:cNvSpPr txBox="1"/>
          <p:nvPr/>
        </p:nvSpPr>
        <p:spPr>
          <a:xfrm>
            <a:off x="6189565" y="1395307"/>
            <a:ext cx="2781000" cy="940800"/>
          </a:xfrm>
          <a:prstGeom prst="rect">
            <a:avLst/>
          </a:prstGeom>
          <a:noFill/>
          <a:ln>
            <a:noFill/>
          </a:ln>
        </p:spPr>
        <p:txBody>
          <a:bodyPr spcFirstLastPara="1" wrap="square" lIns="92600" tIns="92600" rIns="92600" bIns="92600" anchor="t"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{{U_RES}} Unscanned Resources</a:t>
            </a:r>
            <a:b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Cloud Organizations, Code Repositories &amp; Subscriptions</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423" name="Google Shape;423;p50"/>
          <p:cNvPicPr preferRelativeResize="0"/>
          <p:nvPr/>
        </p:nvPicPr>
        <p:blipFill rotWithShape="1">
          <a:blip r:embed="rId7">
            <a:alphaModFix/>
          </a:blip>
          <a:srcRect/>
          <a:stretch/>
        </p:blipFill>
        <p:spPr>
          <a:xfrm>
            <a:off x="6194229" y="2518124"/>
            <a:ext cx="2769198" cy="1385452"/>
          </a:xfrm>
          <a:prstGeom prst="rect">
            <a:avLst/>
          </a:prstGeom>
          <a:noFill/>
          <a:ln w="6350">
            <a:solidFill>
              <a:schemeClr val="accent1"/>
            </a:solidFill>
          </a:ln>
        </p:spPr>
      </p:pic>
      <p:sp>
        <p:nvSpPr>
          <p:cNvPr id="424" name="Google Shape;424;p50"/>
          <p:cNvSpPr txBox="1"/>
          <p:nvPr/>
        </p:nvSpPr>
        <p:spPr>
          <a:xfrm>
            <a:off x="6194230" y="2538228"/>
            <a:ext cx="2767200" cy="4047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4">
                  <a:extLst>
                    <a:ext uri="{A12FA001-AC4F-418D-AE19-62706E023703}">
                      <ahyp:hlinkClr xmlns:ahyp="http://schemas.microsoft.com/office/drawing/2018/hyperlinkcolor" val="tx"/>
                    </a:ext>
                  </a:extLst>
                </a:hlinkClick>
              </a:rPr>
              <a:t>Red Agent Scans</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5" name="Google Shape;425;p50"/>
          <p:cNvSpPr txBox="1"/>
          <p:nvPr/>
        </p:nvSpPr>
        <p:spPr>
          <a:xfrm>
            <a:off x="6296001" y="3150231"/>
            <a:ext cx="2526300" cy="37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26" name="Google Shape;426;p50"/>
          <p:cNvSpPr txBox="1"/>
          <p:nvPr/>
        </p:nvSpPr>
        <p:spPr>
          <a:xfrm>
            <a:off x="6236436" y="2843382"/>
            <a:ext cx="2651700" cy="316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27" name="Google Shape;427;p50"/>
          <p:cNvSpPr txBox="1"/>
          <p:nvPr/>
        </p:nvSpPr>
        <p:spPr>
          <a:xfrm>
            <a:off x="6203356" y="286135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DAST Attacker: {{RA_DAST}}</a:t>
            </a:r>
            <a:endParaRPr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8" name="Google Shape;428;p50"/>
          <p:cNvSpPr txBox="1"/>
          <p:nvPr/>
        </p:nvSpPr>
        <p:spPr>
          <a:xfrm>
            <a:off x="6202885" y="3097036"/>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Web Crawler: {{RA_WC}}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9" name="Google Shape;429;p50"/>
          <p:cNvSpPr txBox="1"/>
          <p:nvPr/>
        </p:nvSpPr>
        <p:spPr>
          <a:xfrm>
            <a:off x="6202728" y="3332721"/>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Secret Impact: {{RA_SI}}</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30" name="Google Shape;430;p50"/>
          <p:cNvSpPr txBox="1"/>
          <p:nvPr/>
        </p:nvSpPr>
        <p:spPr>
          <a:xfrm>
            <a:off x="6192125" y="351961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Total Monthly Scans: {{RA_TOTS}}</a:t>
            </a:r>
            <a:endParaRPr sz="11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35"/>
        <p:cNvGrpSpPr/>
        <p:nvPr/>
      </p:nvGrpSpPr>
      <p:grpSpPr>
        <a:xfrm>
          <a:off x="0" y="0"/>
          <a:ext cx="0" cy="0"/>
          <a:chOff x="0" y="0"/>
          <a:chExt cx="0" cy="0"/>
        </a:xfrm>
      </p:grpSpPr>
      <p:sp>
        <p:nvSpPr>
          <p:cNvPr id="436" name="Google Shape;436;p51"/>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Wiz System Health &amp; Scans Snapshot</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437" name="Google Shape;437;p51"/>
          <p:cNvPicPr preferRelativeResize="0"/>
          <p:nvPr/>
        </p:nvPicPr>
        <p:blipFill rotWithShape="1">
          <a:blip r:embed="rId3">
            <a:alphaModFix/>
          </a:blip>
          <a:srcRect/>
          <a:stretch/>
        </p:blipFill>
        <p:spPr>
          <a:xfrm>
            <a:off x="119827" y="933590"/>
            <a:ext cx="2755502" cy="1594700"/>
          </a:xfrm>
          <a:prstGeom prst="rect">
            <a:avLst/>
          </a:prstGeom>
          <a:noFill/>
          <a:ln w="6350">
            <a:solidFill>
              <a:schemeClr val="accent1"/>
            </a:solidFill>
          </a:ln>
        </p:spPr>
      </p:pic>
      <p:sp>
        <p:nvSpPr>
          <p:cNvPr id="438" name="Google Shape;438;p51"/>
          <p:cNvSpPr txBox="1"/>
          <p:nvPr/>
        </p:nvSpPr>
        <p:spPr>
          <a:xfrm>
            <a:off x="119827" y="1028050"/>
            <a:ext cx="2838300" cy="225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System Health Issues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39" name="Google Shape;439;p51"/>
          <p:cNvSpPr txBox="1"/>
          <p:nvPr/>
        </p:nvSpPr>
        <p:spPr>
          <a:xfrm>
            <a:off x="224233" y="1475155"/>
            <a:ext cx="2591700" cy="336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40" name="Google Shape;440;p51"/>
          <p:cNvSpPr txBox="1"/>
          <p:nvPr/>
        </p:nvSpPr>
        <p:spPr>
          <a:xfrm>
            <a:off x="163134" y="1196871"/>
            <a:ext cx="2720100" cy="286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41" name="Google Shape;441;p51"/>
          <p:cNvSpPr txBox="1"/>
          <p:nvPr/>
        </p:nvSpPr>
        <p:spPr>
          <a:xfrm>
            <a:off x="256245" y="1350741"/>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Critical SHIs</a:t>
            </a:r>
            <a:endParaRPr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2" name="Google Shape;442;p51"/>
          <p:cNvSpPr txBox="1"/>
          <p:nvPr/>
        </p:nvSpPr>
        <p:spPr>
          <a:xfrm>
            <a:off x="1713244" y="134010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{{SHI_C}}</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3" name="Google Shape;443;p51"/>
          <p:cNvSpPr txBox="1"/>
          <p:nvPr/>
        </p:nvSpPr>
        <p:spPr>
          <a:xfrm>
            <a:off x="256245" y="1525050"/>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High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4" name="Google Shape;444;p51"/>
          <p:cNvSpPr txBox="1"/>
          <p:nvPr/>
        </p:nvSpPr>
        <p:spPr>
          <a:xfrm>
            <a:off x="1712251" y="1519655"/>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{{SHI_H}}</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5" name="Google Shape;445;p51"/>
          <p:cNvSpPr txBox="1"/>
          <p:nvPr/>
        </p:nvSpPr>
        <p:spPr>
          <a:xfrm>
            <a:off x="256528" y="1974033"/>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Resolved Critical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6" name="Google Shape;446;p51"/>
          <p:cNvSpPr txBox="1"/>
          <p:nvPr/>
        </p:nvSpPr>
        <p:spPr>
          <a:xfrm>
            <a:off x="1735851" y="1974033"/>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{{SHI_R_C}}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7" name="Google Shape;447;p51"/>
          <p:cNvSpPr txBox="1"/>
          <p:nvPr/>
        </p:nvSpPr>
        <p:spPr>
          <a:xfrm>
            <a:off x="256528" y="2153659"/>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Resolved High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8" name="Google Shape;448;p51"/>
          <p:cNvSpPr txBox="1"/>
          <p:nvPr/>
        </p:nvSpPr>
        <p:spPr>
          <a:xfrm>
            <a:off x="1735851" y="215365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{{SHI_R_H}}</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9" name="Google Shape;449;p51"/>
          <p:cNvSpPr txBox="1"/>
          <p:nvPr/>
        </p:nvSpPr>
        <p:spPr>
          <a:xfrm>
            <a:off x="244065" y="1774709"/>
            <a:ext cx="2655300" cy="2199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Resolved SHIs in Past 30 Days</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450" name="Google Shape;450;p51"/>
          <p:cNvPicPr preferRelativeResize="0"/>
          <p:nvPr/>
        </p:nvPicPr>
        <p:blipFill rotWithShape="1">
          <a:blip r:embed="rId8">
            <a:alphaModFix amt="79000"/>
          </a:blip>
          <a:srcRect/>
          <a:stretch/>
        </p:blipFill>
        <p:spPr>
          <a:xfrm>
            <a:off x="3091600" y="2638250"/>
            <a:ext cx="2755502" cy="2427451"/>
          </a:xfrm>
          <a:prstGeom prst="rect">
            <a:avLst/>
          </a:prstGeom>
          <a:noFill/>
          <a:ln w="6350">
            <a:solidFill>
              <a:schemeClr val="accent1"/>
            </a:solidFill>
          </a:ln>
        </p:spPr>
      </p:pic>
      <p:sp>
        <p:nvSpPr>
          <p:cNvPr id="451" name="Google Shape;451;p51"/>
          <p:cNvSpPr txBox="1"/>
          <p:nvPr/>
        </p:nvSpPr>
        <p:spPr>
          <a:xfrm>
            <a:off x="3091590" y="2718202"/>
            <a:ext cx="27534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Non-OS, Registry &amp; VM Image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52" name="Google Shape;452;p51"/>
          <p:cNvSpPr txBox="1"/>
          <p:nvPr/>
        </p:nvSpPr>
        <p:spPr>
          <a:xfrm>
            <a:off x="3097638" y="3166433"/>
            <a:ext cx="27429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Non-OS Disk Scans: {{NON_T}}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53" name="Google Shape;453;p51"/>
          <p:cNvSpPr txBox="1"/>
          <p:nvPr/>
        </p:nvSpPr>
        <p:spPr>
          <a:xfrm>
            <a:off x="3116051" y="3365306"/>
            <a:ext cx="2715979" cy="176808"/>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{{NON_F}} / Skipped: {{NON_S}}</a:t>
            </a:r>
            <a:endParaRPr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54" name="Google Shape;454;p51"/>
          <p:cNvPicPr preferRelativeResize="0"/>
          <p:nvPr/>
        </p:nvPicPr>
        <p:blipFill rotWithShape="1">
          <a:blip r:embed="rId3">
            <a:alphaModFix/>
          </a:blip>
          <a:srcRect/>
          <a:stretch/>
        </p:blipFill>
        <p:spPr>
          <a:xfrm>
            <a:off x="6074877" y="933600"/>
            <a:ext cx="2941998" cy="1594700"/>
          </a:xfrm>
          <a:prstGeom prst="rect">
            <a:avLst/>
          </a:prstGeom>
          <a:noFill/>
          <a:ln w="6350">
            <a:solidFill>
              <a:schemeClr val="accent1"/>
            </a:solidFill>
          </a:ln>
        </p:spPr>
      </p:pic>
      <p:sp>
        <p:nvSpPr>
          <p:cNvPr id="455" name="Google Shape;455;p51"/>
          <p:cNvSpPr txBox="1"/>
          <p:nvPr/>
        </p:nvSpPr>
        <p:spPr>
          <a:xfrm>
            <a:off x="6074879" y="1016199"/>
            <a:ext cx="29397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Data Security (DSPM)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56" name="Google Shape;456;p51"/>
          <p:cNvSpPr txBox="1"/>
          <p:nvPr/>
        </p:nvSpPr>
        <p:spPr>
          <a:xfrm>
            <a:off x="6183001" y="1483537"/>
            <a:ext cx="26841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57" name="Google Shape;457;p51"/>
          <p:cNvSpPr txBox="1"/>
          <p:nvPr/>
        </p:nvSpPr>
        <p:spPr>
          <a:xfrm>
            <a:off x="6119719" y="1221521"/>
            <a:ext cx="2817300" cy="2700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58" name="Google Shape;458;p51"/>
          <p:cNvSpPr txBox="1"/>
          <p:nvPr/>
        </p:nvSpPr>
        <p:spPr>
          <a:xfrm>
            <a:off x="6255252" y="1350465"/>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9">
                  <a:extLst>
                    <a:ext uri="{A12FA001-AC4F-418D-AE19-62706E023703}">
                      <ahyp:hlinkClr xmlns:ahyp="http://schemas.microsoft.com/office/drawing/2018/hyperlinkcolor" val="tx"/>
                    </a:ext>
                  </a:extLst>
                </a:hlinkClick>
              </a:rPr>
              <a:t>Total</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59" name="Google Shape;459;p51"/>
          <p:cNvSpPr txBox="1"/>
          <p:nvPr/>
        </p:nvSpPr>
        <p:spPr>
          <a:xfrm>
            <a:off x="6254802" y="1603626"/>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0">
                  <a:extLst>
                    <a:ext uri="{A12FA001-AC4F-418D-AE19-62706E023703}">
                      <ahyp:hlinkClr xmlns:ahyp="http://schemas.microsoft.com/office/drawing/2018/hyperlinkcolor" val="tx"/>
                    </a:ext>
                  </a:extLst>
                </a:hlinkClick>
              </a:rPr>
              <a:t>Failed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{{DS_F}}</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0" name="Google Shape;460;p51"/>
          <p:cNvSpPr txBox="1"/>
          <p:nvPr/>
        </p:nvSpPr>
        <p:spPr>
          <a:xfrm>
            <a:off x="6088076" y="2109948"/>
            <a:ext cx="29283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Medium"/>
              </a:rPr>
              <a:t>Data Scan Coverage:</a:t>
            </a: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{{DS_P}}</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1" name="Google Shape;461;p51"/>
          <p:cNvSpPr txBox="1"/>
          <p:nvPr/>
        </p:nvSpPr>
        <p:spPr>
          <a:xfrm>
            <a:off x="6248593" y="1856787"/>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1">
                  <a:extLst>
                    <a:ext uri="{A12FA001-AC4F-418D-AE19-62706E023703}">
                      <ahyp:hlinkClr xmlns:ahyp="http://schemas.microsoft.com/office/drawing/2018/hyperlinkcolor" val="tx"/>
                    </a:ext>
                  </a:extLst>
                </a:hlinkClick>
              </a:rPr>
              <a:t>Skipped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{{DS_SK}}</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62" name="Google Shape;462;p51"/>
          <p:cNvPicPr preferRelativeResize="0"/>
          <p:nvPr/>
        </p:nvPicPr>
        <p:blipFill rotWithShape="1">
          <a:blip r:embed="rId3">
            <a:alphaModFix/>
          </a:blip>
          <a:srcRect/>
          <a:stretch/>
        </p:blipFill>
        <p:spPr>
          <a:xfrm>
            <a:off x="6071616" y="2962656"/>
            <a:ext cx="2939187" cy="2033900"/>
          </a:xfrm>
          <a:prstGeom prst="rect">
            <a:avLst/>
          </a:prstGeom>
          <a:noFill/>
          <a:ln w="6350">
            <a:solidFill>
              <a:schemeClr val="accent1"/>
            </a:solidFill>
          </a:ln>
        </p:spPr>
      </p:pic>
      <p:sp>
        <p:nvSpPr>
          <p:cNvPr id="463" name="Google Shape;463;p51"/>
          <p:cNvSpPr txBox="1"/>
          <p:nvPr/>
        </p:nvSpPr>
        <p:spPr>
          <a:xfrm>
            <a:off x="6074177" y="3001318"/>
            <a:ext cx="29370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Data Security Scans</a:t>
            </a:r>
            <a:b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Counts by Resource Type</a:t>
            </a: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64" name="Google Shape;464;p51"/>
          <p:cNvSpPr txBox="1"/>
          <p:nvPr/>
        </p:nvSpPr>
        <p:spPr>
          <a:xfrm>
            <a:off x="6182195" y="3512872"/>
            <a:ext cx="2681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65" name="Google Shape;465;p51"/>
          <p:cNvSpPr txBox="1"/>
          <p:nvPr/>
        </p:nvSpPr>
        <p:spPr>
          <a:xfrm>
            <a:off x="6080958" y="3553677"/>
            <a:ext cx="29256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2">
                  <a:extLst>
                    <a:ext uri="{A12FA001-AC4F-418D-AE19-62706E023703}">
                      <ahyp:hlinkClr xmlns:ahyp="http://schemas.microsoft.com/office/drawing/2018/hyperlinkcolor" val="tx"/>
                    </a:ext>
                  </a:extLst>
                </a:hlinkClick>
              </a:rPr>
              <a:t>Buckets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{{DS_B}}</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6" name="Google Shape;466;p51"/>
          <p:cNvSpPr txBox="1"/>
          <p:nvPr/>
        </p:nvSpPr>
        <p:spPr>
          <a:xfrm>
            <a:off x="6076847" y="3787606"/>
            <a:ext cx="29394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PaaS Databases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{{DS_PD}}</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7" name="Google Shape;467;p51"/>
          <p:cNvSpPr txBox="1"/>
          <p:nvPr/>
        </p:nvSpPr>
        <p:spPr>
          <a:xfrm>
            <a:off x="6087369" y="4266098"/>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4">
                  <a:extLst>
                    <a:ext uri="{A12FA001-AC4F-418D-AE19-62706E023703}">
                      <ahyp:hlinkClr xmlns:ahyp="http://schemas.microsoft.com/office/drawing/2018/hyperlinkcolor" val="tx"/>
                    </a:ext>
                  </a:extLst>
                </a:hlinkClick>
              </a:rPr>
              <a:t>Virtual Drives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{{DS_VD}}</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8" name="Google Shape;468;p51"/>
          <p:cNvSpPr txBox="1"/>
          <p:nvPr/>
        </p:nvSpPr>
        <p:spPr>
          <a:xfrm>
            <a:off x="6084243" y="4026852"/>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5">
                  <a:extLst>
                    <a:ext uri="{A12FA001-AC4F-418D-AE19-62706E023703}">
                      <ahyp:hlinkClr xmlns:ahyp="http://schemas.microsoft.com/office/drawing/2018/hyperlinkcolor" val="tx"/>
                    </a:ext>
                  </a:extLst>
                </a:hlinkClick>
              </a:rPr>
              <a:t>Data Warehouses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{{DS_DW}}</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9" name="Google Shape;469;p51"/>
          <p:cNvSpPr txBox="1"/>
          <p:nvPr/>
        </p:nvSpPr>
        <p:spPr>
          <a:xfrm>
            <a:off x="6085707" y="4505344"/>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6">
                  <a:extLst>
                    <a:ext uri="{A12FA001-AC4F-418D-AE19-62706E023703}">
                      <ahyp:hlinkClr xmlns:ahyp="http://schemas.microsoft.com/office/drawing/2018/hyperlinkcolor" val="tx"/>
                    </a:ext>
                  </a:extLst>
                </a:hlinkClick>
              </a:rPr>
              <a:t>AI Datastores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{{DS_AI}}</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0" name="Google Shape;470;p51"/>
          <p:cNvSpPr txBox="1"/>
          <p:nvPr/>
        </p:nvSpPr>
        <p:spPr>
          <a:xfrm>
            <a:off x="6085192" y="4744589"/>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7">
                  <a:extLst>
                    <a:ext uri="{A12FA001-AC4F-418D-AE19-62706E023703}">
                      <ahyp:hlinkClr xmlns:ahyp="http://schemas.microsoft.com/office/drawing/2018/hyperlinkcolor" val="tx"/>
                    </a:ext>
                  </a:extLst>
                </a:hlinkClick>
              </a:rPr>
              <a:t>File System Services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{{DS_FSS}}</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71" name="Google Shape;471;p51"/>
          <p:cNvPicPr preferRelativeResize="0"/>
          <p:nvPr/>
        </p:nvPicPr>
        <p:blipFill rotWithShape="1">
          <a:blip r:embed="rId3">
            <a:alphaModFix/>
          </a:blip>
          <a:srcRect/>
          <a:stretch/>
        </p:blipFill>
        <p:spPr>
          <a:xfrm>
            <a:off x="3080275" y="933600"/>
            <a:ext cx="2789652" cy="1542625"/>
          </a:xfrm>
          <a:prstGeom prst="rect">
            <a:avLst/>
          </a:prstGeom>
          <a:noFill/>
          <a:ln w="6350">
            <a:solidFill>
              <a:schemeClr val="accent1"/>
            </a:solidFill>
          </a:ln>
        </p:spPr>
      </p:pic>
      <p:sp>
        <p:nvSpPr>
          <p:cNvPr id="472" name="Google Shape;472;p51"/>
          <p:cNvSpPr txBox="1"/>
          <p:nvPr/>
        </p:nvSpPr>
        <p:spPr>
          <a:xfrm>
            <a:off x="3080277" y="1001134"/>
            <a:ext cx="27822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Workload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73" name="Google Shape;473;p51"/>
          <p:cNvSpPr txBox="1"/>
          <p:nvPr/>
        </p:nvSpPr>
        <p:spPr>
          <a:xfrm>
            <a:off x="3158346" y="1578966"/>
            <a:ext cx="2540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74" name="Google Shape;474;p51"/>
          <p:cNvSpPr txBox="1"/>
          <p:nvPr/>
        </p:nvSpPr>
        <p:spPr>
          <a:xfrm>
            <a:off x="3226732" y="1361234"/>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8">
                  <a:extLst>
                    <a:ext uri="{A12FA001-AC4F-418D-AE19-62706E023703}">
                      <ahyp:hlinkClr xmlns:ahyp="http://schemas.microsoft.com/office/drawing/2018/hyperlinkcolor" val="tx"/>
                    </a:ext>
                  </a:extLst>
                </a:hlinkClick>
              </a:rPr>
              <a:t>Total</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5" name="Google Shape;475;p51"/>
          <p:cNvSpPr txBox="1"/>
          <p:nvPr/>
        </p:nvSpPr>
        <p:spPr>
          <a:xfrm>
            <a:off x="3226306" y="1591491"/>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9">
                  <a:extLst>
                    <a:ext uri="{A12FA001-AC4F-418D-AE19-62706E023703}">
                      <ahyp:hlinkClr xmlns:ahyp="http://schemas.microsoft.com/office/drawing/2018/hyperlinkcolor" val="tx"/>
                    </a:ext>
                  </a:extLst>
                </a:hlinkClick>
              </a:rPr>
              <a:t>Failed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{{WS_F}}</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6" name="Google Shape;476;p51"/>
          <p:cNvSpPr txBox="1"/>
          <p:nvPr/>
        </p:nvSpPr>
        <p:spPr>
          <a:xfrm>
            <a:off x="3231506" y="2052005"/>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8">
                  <a:extLst>
                    <a:ext uri="{A12FA001-AC4F-418D-AE19-62706E023703}">
                      <ahyp:hlinkClr xmlns:ahyp="http://schemas.microsoft.com/office/drawing/2018/hyperlinkcolor" val="tx"/>
                    </a:ext>
                  </a:extLst>
                </a:hlinkClick>
              </a:rPr>
              <a:t>Scan Coverage</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{{WS_P}}</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7" name="Google Shape;477;p51"/>
          <p:cNvSpPr txBox="1"/>
          <p:nvPr/>
        </p:nvSpPr>
        <p:spPr>
          <a:xfrm>
            <a:off x="3231499" y="1821748"/>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0">
                  <a:extLst>
                    <a:ext uri="{A12FA001-AC4F-418D-AE19-62706E023703}">
                      <ahyp:hlinkClr xmlns:ahyp="http://schemas.microsoft.com/office/drawing/2018/hyperlinkcolor" val="tx"/>
                    </a:ext>
                  </a:extLst>
                </a:hlinkClick>
              </a:rPr>
              <a:t>Skipped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{{WS_SK}}</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8" name="Google Shape;478;p51"/>
          <p:cNvSpPr/>
          <p:nvPr/>
        </p:nvSpPr>
        <p:spPr>
          <a:xfrm>
            <a:off x="1335452" y="2575004"/>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pic>
        <p:nvPicPr>
          <p:cNvPr id="479" name="Google Shape;479;p51"/>
          <p:cNvPicPr preferRelativeResize="0"/>
          <p:nvPr/>
        </p:nvPicPr>
        <p:blipFill rotWithShape="1">
          <a:blip r:embed="rId3">
            <a:alphaModFix/>
          </a:blip>
          <a:srcRect/>
          <a:stretch/>
        </p:blipFill>
        <p:spPr>
          <a:xfrm>
            <a:off x="119827" y="2962925"/>
            <a:ext cx="2755502" cy="2126475"/>
          </a:xfrm>
          <a:prstGeom prst="rect">
            <a:avLst/>
          </a:prstGeom>
          <a:noFill/>
          <a:ln w="6350">
            <a:solidFill>
              <a:schemeClr val="accent1"/>
            </a:solidFill>
          </a:ln>
        </p:spPr>
      </p:pic>
      <p:sp>
        <p:nvSpPr>
          <p:cNvPr id="480" name="Google Shape;480;p51"/>
          <p:cNvSpPr txBox="1"/>
          <p:nvPr/>
        </p:nvSpPr>
        <p:spPr>
          <a:xfrm>
            <a:off x="119827" y="2984749"/>
            <a:ext cx="27534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System Health Issues</a:t>
            </a:r>
            <a:b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Counts by Resource Type</a:t>
            </a: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81" name="Google Shape;481;p51"/>
          <p:cNvSpPr txBox="1"/>
          <p:nvPr/>
        </p:nvSpPr>
        <p:spPr>
          <a:xfrm>
            <a:off x="157649" y="3766713"/>
            <a:ext cx="2690181" cy="18877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1">
                  <a:extLst>
                    <a:ext uri="{A12FA001-AC4F-418D-AE19-62706E023703}">
                      <ahyp:hlinkClr xmlns:ahyp="http://schemas.microsoft.com/office/drawing/2018/hyperlinkcolor" val="tx"/>
                    </a:ext>
                  </a:extLst>
                </a:hlinkClick>
              </a:rPr>
              <a:t>Outposts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{{SHI_O}}</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2" name="Google Shape;482;p51"/>
          <p:cNvSpPr txBox="1"/>
          <p:nvPr/>
        </p:nvSpPr>
        <p:spPr>
          <a:xfrm>
            <a:off x="142826" y="4203392"/>
            <a:ext cx="2695757" cy="2235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2">
                  <a:extLst>
                    <a:ext uri="{A12FA001-AC4F-418D-AE19-62706E023703}">
                      <ahyp:hlinkClr xmlns:ahyp="http://schemas.microsoft.com/office/drawing/2018/hyperlinkcolor" val="tx"/>
                    </a:ext>
                  </a:extLst>
                </a:hlinkClick>
              </a:rPr>
              <a:t>Registry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{{SHI_RC}}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3" name="Google Shape;483;p51"/>
          <p:cNvSpPr txBox="1"/>
          <p:nvPr/>
        </p:nvSpPr>
        <p:spPr>
          <a:xfrm>
            <a:off x="147275" y="3985053"/>
            <a:ext cx="2696624" cy="19981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3">
                  <a:extLst>
                    <a:ext uri="{A12FA001-AC4F-418D-AE19-62706E023703}">
                      <ahyp:hlinkClr xmlns:ahyp="http://schemas.microsoft.com/office/drawing/2018/hyperlinkcolor" val="tx"/>
                    </a:ext>
                  </a:extLst>
                </a:hlinkClick>
              </a:rPr>
              <a:t>Integrations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{{SHI_I}}</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4" name="Google Shape;484;p51"/>
          <p:cNvSpPr txBox="1"/>
          <p:nvPr/>
        </p:nvSpPr>
        <p:spPr>
          <a:xfrm>
            <a:off x="157216" y="4421732"/>
            <a:ext cx="2685297" cy="20258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4">
                  <a:extLst>
                    <a:ext uri="{A12FA001-AC4F-418D-AE19-62706E023703}">
                      <ahyp:hlinkClr xmlns:ahyp="http://schemas.microsoft.com/office/drawing/2018/hyperlinkcolor" val="tx"/>
                    </a:ext>
                  </a:extLst>
                </a:hlinkClick>
              </a:rPr>
              <a:t>K8S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{{SHI_KC}}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5" name="Google Shape;485;p51"/>
          <p:cNvSpPr txBox="1"/>
          <p:nvPr/>
        </p:nvSpPr>
        <p:spPr>
          <a:xfrm>
            <a:off x="140785" y="4640071"/>
            <a:ext cx="2695757" cy="21834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5">
                  <a:extLst>
                    <a:ext uri="{A12FA001-AC4F-418D-AE19-62706E023703}">
                      <ahyp:hlinkClr xmlns:ahyp="http://schemas.microsoft.com/office/drawing/2018/hyperlinkcolor" val="tx"/>
                    </a:ext>
                  </a:extLst>
                </a:hlinkClick>
              </a:rPr>
              <a:t>VCS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{{SHI_VCS}}</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6" name="Google Shape;486;p51"/>
          <p:cNvSpPr txBox="1"/>
          <p:nvPr/>
        </p:nvSpPr>
        <p:spPr>
          <a:xfrm>
            <a:off x="154650" y="4858411"/>
            <a:ext cx="2682547" cy="19465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6">
                  <a:extLst>
                    <a:ext uri="{A12FA001-AC4F-418D-AE19-62706E023703}">
                      <ahyp:hlinkClr xmlns:ahyp="http://schemas.microsoft.com/office/drawing/2018/hyperlinkcolor" val="tx"/>
                    </a:ext>
                  </a:extLst>
                </a:hlinkClick>
              </a:rPr>
              <a:t>Brokers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{{SHI_B}}</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7" name="Google Shape;487;p51"/>
          <p:cNvSpPr txBox="1"/>
          <p:nvPr/>
        </p:nvSpPr>
        <p:spPr>
          <a:xfrm>
            <a:off x="136809" y="3548374"/>
            <a:ext cx="2725374" cy="19465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7">
                  <a:extLst>
                    <a:ext uri="{A12FA001-AC4F-418D-AE19-62706E023703}">
                      <ahyp:hlinkClr xmlns:ahyp="http://schemas.microsoft.com/office/drawing/2018/hyperlinkcolor" val="tx"/>
                    </a:ext>
                  </a:extLst>
                </a:hlinkClick>
              </a:rPr>
              <a:t>Cloud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{{SHI_CC}}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8" name="Google Shape;488;p51"/>
          <p:cNvSpPr/>
          <p:nvPr/>
        </p:nvSpPr>
        <p:spPr>
          <a:xfrm>
            <a:off x="7428227" y="2578608"/>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489" name="Google Shape;489;p51"/>
          <p:cNvSpPr txBox="1"/>
          <p:nvPr/>
        </p:nvSpPr>
        <p:spPr>
          <a:xfrm>
            <a:off x="3125493" y="3816773"/>
            <a:ext cx="2684101" cy="19249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Container Image Scans: {{RCI_T}}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0" name="Google Shape;490;p51"/>
          <p:cNvSpPr txBox="1"/>
          <p:nvPr/>
        </p:nvSpPr>
        <p:spPr>
          <a:xfrm>
            <a:off x="3121350" y="3994034"/>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{{RCI_F}} / Skipped: {{RCI_S}}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1" name="Google Shape;491;p51"/>
          <p:cNvSpPr txBox="1"/>
          <p:nvPr/>
        </p:nvSpPr>
        <p:spPr>
          <a:xfrm>
            <a:off x="3115085" y="4449820"/>
            <a:ext cx="2715979" cy="20161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VM Image Scans: {{VMI_T}}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2" name="Google Shape;492;p51"/>
          <p:cNvSpPr txBox="1"/>
          <p:nvPr/>
        </p:nvSpPr>
        <p:spPr>
          <a:xfrm>
            <a:off x="3132188" y="4624320"/>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{{VMI_F}} / Skipped: {{VMI_S}}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3" name="Google Shape;493;p51"/>
          <p:cNvSpPr txBox="1"/>
          <p:nvPr/>
        </p:nvSpPr>
        <p:spPr>
          <a:xfrm>
            <a:off x="3121555" y="3532304"/>
            <a:ext cx="2701695" cy="207299"/>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Non-OS Disk Scan Coverage: {{NON_C}}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94" name="Google Shape;494;p51"/>
          <p:cNvSpPr txBox="1"/>
          <p:nvPr/>
        </p:nvSpPr>
        <p:spPr>
          <a:xfrm>
            <a:off x="3116240" y="4171296"/>
            <a:ext cx="2715978" cy="201611"/>
          </a:xfrm>
          <a:prstGeom prst="rect">
            <a:avLst/>
          </a:prstGeom>
          <a:noFill/>
          <a:ln>
            <a:noFill/>
          </a:ln>
        </p:spPr>
        <p:txBody>
          <a:bodyPr spcFirstLastPara="1" wrap="square" lIns="0" tIns="91250" rIns="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Container Image Scan Coverage: {{RCI_C}}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95" name="Google Shape;495;p51"/>
          <p:cNvSpPr txBox="1"/>
          <p:nvPr/>
        </p:nvSpPr>
        <p:spPr>
          <a:xfrm>
            <a:off x="3114023" y="4798820"/>
            <a:ext cx="27429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VM Image Scan Coverage: {{VMI_C}}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52"/>
          <p:cNvSpPr txBox="1">
            <a:spLocks noGrp="1"/>
          </p:cNvSpPr>
          <p:nvPr>
            <p:ph type="title" idx="4294967295"/>
          </p:nvPr>
        </p:nvSpPr>
        <p:spPr>
          <a:xfrm>
            <a:off x="150" y="2661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Democratization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502" name="Google Shape;502;p52"/>
          <p:cNvSpPr/>
          <p:nvPr/>
        </p:nvSpPr>
        <p:spPr>
          <a:xfrm>
            <a:off x="145225" y="1212546"/>
            <a:ext cx="2401200" cy="953400"/>
          </a:xfrm>
          <a:prstGeom prst="roundRect">
            <a:avLst>
              <a:gd name="adj" fmla="val 16667"/>
            </a:avLst>
          </a:prstGeom>
          <a:noFill/>
          <a:ln w="9650" cap="sq" cmpd="sng">
            <a:solidFill>
              <a:schemeClr val="accent1"/>
            </a:solidFill>
            <a:prstDash val="solid"/>
            <a:round/>
            <a:headEnd type="none" w="sm" len="sm"/>
            <a:tailEnd type="none" w="sm" len="sm"/>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3" name="Google Shape;503;p52"/>
          <p:cNvSpPr txBox="1"/>
          <p:nvPr/>
        </p:nvSpPr>
        <p:spPr>
          <a:xfrm>
            <a:off x="145225" y="914076"/>
            <a:ext cx="2401200" cy="303900"/>
          </a:xfrm>
          <a:prstGeom prst="rect">
            <a:avLst/>
          </a:prstGeom>
          <a:noFill/>
          <a:ln>
            <a:noFill/>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Users &amp; Engagement</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04" name="Google Shape;504;p52"/>
          <p:cNvSpPr txBox="1"/>
          <p:nvPr/>
        </p:nvSpPr>
        <p:spPr>
          <a:xfrm>
            <a:off x="178750" y="1248140"/>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3">
                  <a:extLst>
                    <a:ext uri="{A12FA001-AC4F-418D-AE19-62706E023703}">
                      <ahyp:hlinkClr xmlns:ahyp="http://schemas.microsoft.com/office/drawing/2018/hyperlinkcolor" val="tx"/>
                    </a:ext>
                  </a:extLst>
                </a:hlinkClick>
              </a:rPr>
              <a:t>Total Users</a:t>
            </a:r>
            <a:endParaRPr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5" name="Google Shape;505;p52"/>
          <p:cNvSpPr txBox="1"/>
          <p:nvPr/>
        </p:nvSpPr>
        <p:spPr>
          <a:xfrm>
            <a:off x="1496720" y="1248135"/>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{{U_TOT}}</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6" name="Google Shape;506;p52"/>
          <p:cNvSpPr txBox="1"/>
          <p:nvPr/>
        </p:nvSpPr>
        <p:spPr>
          <a:xfrm>
            <a:off x="178750" y="1430476"/>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4">
                  <a:extLst>
                    <a:ext uri="{A12FA001-AC4F-418D-AE19-62706E023703}">
                      <ahyp:hlinkClr xmlns:ahyp="http://schemas.microsoft.com/office/drawing/2018/hyperlinkcolor" val="tx"/>
                    </a:ext>
                  </a:extLst>
                </a:hlinkClick>
              </a:rPr>
              <a:t>Active (Last 30 Days)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7" name="Google Shape;507;p52"/>
          <p:cNvSpPr txBox="1"/>
          <p:nvPr/>
        </p:nvSpPr>
        <p:spPr>
          <a:xfrm>
            <a:off x="1496720" y="1430472"/>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{{U_ACT}}</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8" name="Google Shape;508;p52"/>
          <p:cNvSpPr txBox="1"/>
          <p:nvPr/>
        </p:nvSpPr>
        <p:spPr>
          <a:xfrm>
            <a:off x="178750" y="1612811"/>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rPr>
              <a:t>Engagement Rate</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9" name="Google Shape;509;p52"/>
          <p:cNvSpPr txBox="1"/>
          <p:nvPr/>
        </p:nvSpPr>
        <p:spPr>
          <a:xfrm>
            <a:off x="1496720" y="1612810"/>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{{U_ENG}}</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0" name="Google Shape;510;p52"/>
          <p:cNvSpPr/>
          <p:nvPr/>
        </p:nvSpPr>
        <p:spPr>
          <a:xfrm>
            <a:off x="2714774" y="1111825"/>
            <a:ext cx="3290529" cy="220395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1" name="Google Shape;511;p52"/>
          <p:cNvSpPr txBox="1"/>
          <p:nvPr/>
        </p:nvSpPr>
        <p:spPr>
          <a:xfrm>
            <a:off x="2891014" y="1529715"/>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{{IA_2}}</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2" name="Google Shape;512;p52"/>
          <p:cNvSpPr txBox="1"/>
          <p:nvPr/>
        </p:nvSpPr>
        <p:spPr>
          <a:xfrm>
            <a:off x="2891014" y="1705039"/>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{{IA_3}}</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3" name="Google Shape;513;p52"/>
          <p:cNvSpPr txBox="1"/>
          <p:nvPr/>
        </p:nvSpPr>
        <p:spPr>
          <a:xfrm>
            <a:off x="2891012" y="1880390"/>
            <a:ext cx="2142803" cy="161630"/>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{{IA_4}}</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4" name="Google Shape;514;p52"/>
          <p:cNvSpPr txBox="1"/>
          <p:nvPr/>
        </p:nvSpPr>
        <p:spPr>
          <a:xfrm>
            <a:off x="2891014" y="2055722"/>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{{IA_5}}</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5" name="Google Shape;515;p52"/>
          <p:cNvSpPr txBox="1"/>
          <p:nvPr/>
        </p:nvSpPr>
        <p:spPr>
          <a:xfrm>
            <a:off x="2891014" y="2231057"/>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{{IA_6}}</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6" name="Google Shape;516;p52"/>
          <p:cNvSpPr txBox="1"/>
          <p:nvPr/>
        </p:nvSpPr>
        <p:spPr>
          <a:xfrm>
            <a:off x="2891014" y="2406393"/>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{{IA_7}}</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7" name="Google Shape;517;p52"/>
          <p:cNvSpPr txBox="1"/>
          <p:nvPr/>
        </p:nvSpPr>
        <p:spPr>
          <a:xfrm>
            <a:off x="2891014" y="2581729"/>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{{IA_8}}</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8" name="Google Shape;518;p52"/>
          <p:cNvSpPr txBox="1"/>
          <p:nvPr/>
        </p:nvSpPr>
        <p:spPr>
          <a:xfrm>
            <a:off x="2891014" y="2757064"/>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{{IA_9}}</a:t>
            </a:r>
            <a:endParaRPr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9" name="Google Shape;519;p52"/>
          <p:cNvSpPr txBox="1"/>
          <p:nvPr/>
        </p:nvSpPr>
        <p:spPr>
          <a:xfrm>
            <a:off x="2885478" y="2932400"/>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{{IA_10}}</a:t>
            </a:r>
            <a:endParaRPr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0" name="Google Shape;520;p52"/>
          <p:cNvSpPr txBox="1"/>
          <p:nvPr/>
        </p:nvSpPr>
        <p:spPr>
          <a:xfrm>
            <a:off x="2891012" y="1352375"/>
            <a:ext cx="2142803" cy="147315"/>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{{IA_1}}</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1" name="Google Shape;521;p52"/>
          <p:cNvSpPr txBox="1"/>
          <p:nvPr/>
        </p:nvSpPr>
        <p:spPr>
          <a:xfrm>
            <a:off x="4962307" y="13435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{{IR_1}}</a:t>
            </a:r>
            <a:endParaRPr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2" name="Google Shape;522;p52"/>
          <p:cNvSpPr txBox="1"/>
          <p:nvPr/>
        </p:nvSpPr>
        <p:spPr>
          <a:xfrm>
            <a:off x="4962307" y="1519058"/>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{{IR_2}}</a:t>
            </a:r>
            <a:endParaRPr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3" name="Google Shape;523;p52"/>
          <p:cNvSpPr txBox="1"/>
          <p:nvPr/>
        </p:nvSpPr>
        <p:spPr>
          <a:xfrm>
            <a:off x="4962307" y="16945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{{IR_3}}</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4" name="Google Shape;524;p52"/>
          <p:cNvSpPr txBox="1"/>
          <p:nvPr/>
        </p:nvSpPr>
        <p:spPr>
          <a:xfrm>
            <a:off x="4962307" y="18701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{{IR_4}}</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5" name="Google Shape;525;p52"/>
          <p:cNvSpPr txBox="1"/>
          <p:nvPr/>
        </p:nvSpPr>
        <p:spPr>
          <a:xfrm>
            <a:off x="4962307" y="20456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{{IR_5}}</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6" name="Google Shape;526;p52"/>
          <p:cNvSpPr txBox="1"/>
          <p:nvPr/>
        </p:nvSpPr>
        <p:spPr>
          <a:xfrm>
            <a:off x="4962307" y="22211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{{IR_6}}</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7" name="Google Shape;527;p52"/>
          <p:cNvSpPr txBox="1"/>
          <p:nvPr/>
        </p:nvSpPr>
        <p:spPr>
          <a:xfrm>
            <a:off x="4962307" y="23967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{{IR_7}}</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8" name="Google Shape;528;p52"/>
          <p:cNvSpPr txBox="1"/>
          <p:nvPr/>
        </p:nvSpPr>
        <p:spPr>
          <a:xfrm>
            <a:off x="4962307" y="25722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{{IR_8}}</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9" name="Google Shape;529;p52"/>
          <p:cNvSpPr txBox="1"/>
          <p:nvPr/>
        </p:nvSpPr>
        <p:spPr>
          <a:xfrm>
            <a:off x="4962307" y="27477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{{IR_9}}</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0" name="Google Shape;530;p52"/>
          <p:cNvSpPr txBox="1"/>
          <p:nvPr/>
        </p:nvSpPr>
        <p:spPr>
          <a:xfrm>
            <a:off x="4972718" y="2923326"/>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{{IR_10}}</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1" name="Google Shape;531;p52"/>
          <p:cNvSpPr txBox="1"/>
          <p:nvPr/>
        </p:nvSpPr>
        <p:spPr>
          <a:xfrm>
            <a:off x="2714775" y="792813"/>
            <a:ext cx="3290528"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Active Integrations</a:t>
            </a:r>
            <a:r>
              <a:rPr lang="en"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6">
                  <a:extLst>
                    <a:ext uri="{A12FA001-AC4F-418D-AE19-62706E023703}">
                      <ahyp:hlinkClr xmlns:ahyp="http://schemas.microsoft.com/office/drawing/2018/hyperlinkcolor" val="tx"/>
                    </a:ext>
                  </a:extLst>
                </a:hlinkClick>
              </a:rPr>
              <a:t>↗</a:t>
            </a:r>
            <a:endParaRPr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32" name="Google Shape;532;p52"/>
          <p:cNvSpPr txBox="1"/>
          <p:nvPr/>
        </p:nvSpPr>
        <p:spPr>
          <a:xfrm>
            <a:off x="2714750" y="1108842"/>
            <a:ext cx="3159552" cy="240862"/>
          </a:xfrm>
          <a:prstGeom prst="rect">
            <a:avLst/>
          </a:prstGeom>
          <a:noFill/>
          <a:ln>
            <a:noFill/>
          </a:ln>
        </p:spPr>
        <p:txBody>
          <a:bodyPr spcFirstLastPara="1" wrap="square" lIns="87225" tIns="87225" rIns="87225" bIns="87225" anchor="t" anchorCtr="0">
            <a:noAutofit/>
          </a:bodyPr>
          <a:lstStyle/>
          <a:p>
            <a:pPr marL="0" marR="0" lvl="0" indent="0" algn="ctr" rtl="0">
              <a:spcBef>
                <a:spcPts val="0"/>
              </a:spcBef>
              <a:spcAft>
                <a:spcPts val="0"/>
              </a:spcAft>
              <a:buClr>
                <a:srgbClr val="000000"/>
              </a:buClr>
              <a:buSzPts val="1136"/>
              <a:buFont typeface="Arial"/>
              <a:buNone/>
            </a:pPr>
            <a:r>
              <a:rPr lang="en" sz="1136"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Integration                                               Last Seen</a:t>
            </a:r>
            <a:endParaRPr sz="1136"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33" name="Google Shape;533;p52"/>
          <p:cNvSpPr/>
          <p:nvPr/>
        </p:nvSpPr>
        <p:spPr>
          <a:xfrm>
            <a:off x="145250" y="2537551"/>
            <a:ext cx="2401200" cy="11592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261"/>
              <a:buFont typeface="Arial"/>
              <a:buNone/>
            </a:pPr>
            <a:endParaRPr sz="126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4" name="Google Shape;534;p52"/>
          <p:cNvSpPr txBox="1"/>
          <p:nvPr/>
        </p:nvSpPr>
        <p:spPr>
          <a:xfrm>
            <a:off x="178755" y="3027738"/>
            <a:ext cx="160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7"/>
              </a:rPr>
              <a:t>HBI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(High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5" name="Google Shape;535;p52"/>
          <p:cNvSpPr txBox="1"/>
          <p:nvPr/>
        </p:nvSpPr>
        <p:spPr>
          <a:xfrm>
            <a:off x="1499205" y="3036972"/>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{{P_HBI}}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6" name="Google Shape;536;p52"/>
          <p:cNvSpPr txBox="1"/>
          <p:nvPr/>
        </p:nvSpPr>
        <p:spPr>
          <a:xfrm>
            <a:off x="178763" y="3191899"/>
            <a:ext cx="1650000" cy="1641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8"/>
              </a:rPr>
              <a:t>MBI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(Medium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7" name="Google Shape;537;p52"/>
          <p:cNvSpPr txBox="1"/>
          <p:nvPr/>
        </p:nvSpPr>
        <p:spPr>
          <a:xfrm>
            <a:off x="1499205" y="3194673"/>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{{P_MBI}}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8" name="Google Shape;538;p52"/>
          <p:cNvSpPr txBox="1"/>
          <p:nvPr/>
        </p:nvSpPr>
        <p:spPr>
          <a:xfrm>
            <a:off x="103249" y="2268903"/>
            <a:ext cx="2443200" cy="273600"/>
          </a:xfrm>
          <a:prstGeom prst="rect">
            <a:avLst/>
          </a:prstGeom>
          <a:noFill/>
          <a:ln>
            <a:noFill/>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Projects</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39" name="Google Shape;539;p52"/>
          <p:cNvSpPr txBox="1"/>
          <p:nvPr/>
        </p:nvSpPr>
        <p:spPr>
          <a:xfrm>
            <a:off x="201255" y="2589298"/>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Total Parent</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40" name="Google Shape;540;p52"/>
          <p:cNvSpPr txBox="1"/>
          <p:nvPr/>
        </p:nvSpPr>
        <p:spPr>
          <a:xfrm>
            <a:off x="1401337" y="2571721"/>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{{P_TOT}}</a:t>
            </a:r>
            <a:endParaRPr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1" name="Google Shape;541;p52"/>
          <p:cNvSpPr txBox="1"/>
          <p:nvPr/>
        </p:nvSpPr>
        <p:spPr>
          <a:xfrm>
            <a:off x="181215" y="3356084"/>
            <a:ext cx="145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9"/>
              </a:rPr>
              <a:t>LBI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(Low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2" name="Google Shape;542;p52"/>
          <p:cNvSpPr txBox="1"/>
          <p:nvPr/>
        </p:nvSpPr>
        <p:spPr>
          <a:xfrm>
            <a:off x="1500450" y="3352374"/>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{{P_LBI}}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3" name="Google Shape;543;p52"/>
          <p:cNvSpPr txBox="1"/>
          <p:nvPr/>
        </p:nvSpPr>
        <p:spPr>
          <a:xfrm>
            <a:off x="200888" y="2781549"/>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Total Child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44" name="Google Shape;544;p52"/>
          <p:cNvSpPr txBox="1"/>
          <p:nvPr/>
        </p:nvSpPr>
        <p:spPr>
          <a:xfrm>
            <a:off x="1400970" y="2763973"/>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{{PC_TOT}}</a:t>
            </a:r>
            <a:endParaRPr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5" name="Google Shape;545;p52"/>
          <p:cNvSpPr txBox="1"/>
          <p:nvPr/>
        </p:nvSpPr>
        <p:spPr>
          <a:xfrm>
            <a:off x="6163222" y="792816"/>
            <a:ext cx="2835527"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Features / Functionality Usage</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46" name="Google Shape;546;p52"/>
          <p:cNvSpPr/>
          <p:nvPr/>
        </p:nvSpPr>
        <p:spPr>
          <a:xfrm>
            <a:off x="6163222" y="1119161"/>
            <a:ext cx="2835527" cy="2063977"/>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91225" tIns="91225" rIns="91225" bIns="912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7" name="Google Shape;547;p52"/>
          <p:cNvSpPr txBox="1"/>
          <p:nvPr/>
        </p:nvSpPr>
        <p:spPr>
          <a:xfrm>
            <a:off x="6301490" y="118781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0">
                  <a:extLst>
                    <a:ext uri="{A12FA001-AC4F-418D-AE19-62706E023703}">
                      <ahyp:hlinkClr xmlns:ahyp="http://schemas.microsoft.com/office/drawing/2018/hyperlinkcolor" val="tx"/>
                    </a:ext>
                  </a:extLst>
                </a:hlinkClick>
              </a:rPr>
              <a:t>Custom Compliance Frameworks</a:t>
            </a:r>
            <a:endParaRPr sz="9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8" name="Google Shape;548;p52"/>
          <p:cNvSpPr txBox="1"/>
          <p:nvPr/>
        </p:nvSpPr>
        <p:spPr>
          <a:xfrm>
            <a:off x="7298168" y="120223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{{F_FW}}</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9" name="Google Shape;549;p52"/>
          <p:cNvSpPr txBox="1"/>
          <p:nvPr/>
        </p:nvSpPr>
        <p:spPr>
          <a:xfrm>
            <a:off x="6301490" y="1387340"/>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1">
                  <a:extLst>
                    <a:ext uri="{A12FA001-AC4F-418D-AE19-62706E023703}">
                      <ahyp:hlinkClr xmlns:ahyp="http://schemas.microsoft.com/office/drawing/2018/hyperlinkcolor" val="tx"/>
                    </a:ext>
                  </a:extLst>
                </a:hlinkClick>
              </a:rPr>
              <a:t>Resource Tag Rules (On / Off)</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0" name="Google Shape;550;p52"/>
          <p:cNvSpPr txBox="1"/>
          <p:nvPr/>
        </p:nvSpPr>
        <p:spPr>
          <a:xfrm>
            <a:off x="7298168" y="1401759"/>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1" name="Google Shape;551;p52"/>
          <p:cNvSpPr txBox="1"/>
          <p:nvPr/>
        </p:nvSpPr>
        <p:spPr>
          <a:xfrm>
            <a:off x="6301490" y="1586869"/>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2">
                  <a:extLst>
                    <a:ext uri="{A12FA001-AC4F-418D-AE19-62706E023703}">
                      <ahyp:hlinkClr xmlns:ahyp="http://schemas.microsoft.com/office/drawing/2018/hyperlinkcolor" val="tx"/>
                    </a:ext>
                  </a:extLst>
                </a:hlinkClick>
              </a:rPr>
              <a:t>Service Catalog Discovery Rules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2" name="Google Shape;552;p52"/>
          <p:cNvSpPr txBox="1"/>
          <p:nvPr/>
        </p:nvSpPr>
        <p:spPr>
          <a:xfrm>
            <a:off x="7298168" y="1601288"/>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{{F_DR}}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3" name="Google Shape;553;p52"/>
          <p:cNvSpPr txBox="1"/>
          <p:nvPr/>
        </p:nvSpPr>
        <p:spPr>
          <a:xfrm>
            <a:off x="6301490" y="1779656"/>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3">
                  <a:extLst>
                    <a:ext uri="{A12FA001-AC4F-418D-AE19-62706E023703}">
                      <ahyp:hlinkClr xmlns:ahyp="http://schemas.microsoft.com/office/drawing/2018/hyperlinkcolor" val="tx"/>
                    </a:ext>
                  </a:extLst>
                </a:hlinkClick>
              </a:rPr>
              <a:t>Inventory Management Rules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4" name="Google Shape;554;p52"/>
          <p:cNvSpPr txBox="1"/>
          <p:nvPr/>
        </p:nvSpPr>
        <p:spPr>
          <a:xfrm>
            <a:off x="7298168" y="1794075"/>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{{F_IR}}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5" name="Google Shape;555;p52"/>
          <p:cNvSpPr txBox="1"/>
          <p:nvPr/>
        </p:nvSpPr>
        <p:spPr>
          <a:xfrm>
            <a:off x="6301490" y="1979184"/>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4">
                  <a:extLst>
                    <a:ext uri="{A12FA001-AC4F-418D-AE19-62706E023703}">
                      <ahyp:hlinkClr xmlns:ahyp="http://schemas.microsoft.com/office/drawing/2018/hyperlinkcolor" val="tx"/>
                    </a:ext>
                  </a:extLst>
                </a:hlinkClick>
              </a:rPr>
              <a:t>User Created Posture Policies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6" name="Google Shape;556;p52"/>
          <p:cNvSpPr txBox="1"/>
          <p:nvPr/>
        </p:nvSpPr>
        <p:spPr>
          <a:xfrm>
            <a:off x="7298168" y="1993603"/>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{{F_PP}}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7" name="Google Shape;557;p52"/>
          <p:cNvSpPr txBox="1"/>
          <p:nvPr/>
        </p:nvSpPr>
        <p:spPr>
          <a:xfrm>
            <a:off x="6301490" y="2178713"/>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5">
                  <a:extLst>
                    <a:ext uri="{A12FA001-AC4F-418D-AE19-62706E023703}">
                      <ahyp:hlinkClr xmlns:ahyp="http://schemas.microsoft.com/office/drawing/2018/hyperlinkcolor" val="tx"/>
                    </a:ext>
                  </a:extLst>
                </a:hlinkClick>
              </a:rPr>
              <a:t>User Created Monitored Metrics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8" name="Google Shape;558;p52"/>
          <p:cNvSpPr txBox="1"/>
          <p:nvPr/>
        </p:nvSpPr>
        <p:spPr>
          <a:xfrm>
            <a:off x="7298168" y="2193132"/>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{{F_MM}}</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9" name="Google Shape;559;p52"/>
          <p:cNvSpPr txBox="1"/>
          <p:nvPr/>
        </p:nvSpPr>
        <p:spPr>
          <a:xfrm>
            <a:off x="6294224" y="237524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6">
                  <a:extLst>
                    <a:ext uri="{A12FA001-AC4F-418D-AE19-62706E023703}">
                      <ahyp:hlinkClr xmlns:ahyp="http://schemas.microsoft.com/office/drawing/2018/hyperlinkcolor" val="tx"/>
                    </a:ext>
                  </a:extLst>
                </a:hlinkClick>
              </a:rPr>
              <a:t>Champion Center Owners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0" name="Google Shape;560;p52"/>
          <p:cNvSpPr txBox="1"/>
          <p:nvPr/>
        </p:nvSpPr>
        <p:spPr>
          <a:xfrm>
            <a:off x="7290901" y="2378257"/>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{{CC_TOT}}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1" name="Google Shape;561;p52"/>
          <p:cNvSpPr txBox="1"/>
          <p:nvPr/>
        </p:nvSpPr>
        <p:spPr>
          <a:xfrm>
            <a:off x="6298365" y="2561857"/>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7">
                  <a:extLst>
                    <a:ext uri="{A12FA001-AC4F-418D-AE19-62706E023703}">
                      <ahyp:hlinkClr xmlns:ahyp="http://schemas.microsoft.com/office/drawing/2018/hyperlinkcolor" val="tx"/>
                    </a:ext>
                  </a:extLst>
                </a:hlinkClick>
              </a:rPr>
              <a:t>Using Wiz Browser Extension</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2" name="Google Shape;562;p52"/>
          <p:cNvSpPr txBox="1"/>
          <p:nvPr/>
        </p:nvSpPr>
        <p:spPr>
          <a:xfrm>
            <a:off x="7295041" y="256487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{{F_BE}}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pic>
        <p:nvPicPr>
          <p:cNvPr id="563" name="Google Shape;563;p52" title="Group 1000004640.png"/>
          <p:cNvPicPr preferRelativeResize="0"/>
          <p:nvPr/>
        </p:nvPicPr>
        <p:blipFill rotWithShape="1">
          <a:blip r:embed="rId18">
            <a:alphaModFix/>
          </a:blip>
          <a:srcRect/>
          <a:stretch/>
        </p:blipFill>
        <p:spPr>
          <a:xfrm>
            <a:off x="6701399" y="3945838"/>
            <a:ext cx="1202026" cy="1216270"/>
          </a:xfrm>
          <a:prstGeom prst="rect">
            <a:avLst/>
          </a:prstGeom>
          <a:noFill/>
          <a:ln>
            <a:noFill/>
          </a:ln>
        </p:spPr>
      </p:pic>
      <p:pic>
        <p:nvPicPr>
          <p:cNvPr id="564" name="Google Shape;564;p52" title="Group 1000004641.png"/>
          <p:cNvPicPr preferRelativeResize="0"/>
          <p:nvPr/>
        </p:nvPicPr>
        <p:blipFill rotWithShape="1">
          <a:blip r:embed="rId19">
            <a:alphaModFix/>
          </a:blip>
          <a:srcRect/>
          <a:stretch/>
        </p:blipFill>
        <p:spPr>
          <a:xfrm>
            <a:off x="4245479" y="3945838"/>
            <a:ext cx="1202026" cy="1216270"/>
          </a:xfrm>
          <a:prstGeom prst="rect">
            <a:avLst/>
          </a:prstGeom>
          <a:noFill/>
          <a:ln>
            <a:noFill/>
          </a:ln>
        </p:spPr>
      </p:pic>
      <p:pic>
        <p:nvPicPr>
          <p:cNvPr id="565" name="Google Shape;565;p52" title="Group 1000004639.png"/>
          <p:cNvPicPr preferRelativeResize="0"/>
          <p:nvPr/>
        </p:nvPicPr>
        <p:blipFill rotWithShape="1">
          <a:blip r:embed="rId20">
            <a:alphaModFix/>
          </a:blip>
          <a:srcRect/>
          <a:stretch/>
        </p:blipFill>
        <p:spPr>
          <a:xfrm>
            <a:off x="1789559" y="3945838"/>
            <a:ext cx="1202026" cy="1216270"/>
          </a:xfrm>
          <a:prstGeom prst="rect">
            <a:avLst/>
          </a:prstGeom>
          <a:noFill/>
          <a:ln>
            <a:noFill/>
          </a:ln>
        </p:spPr>
      </p:pic>
      <p:sp>
        <p:nvSpPr>
          <p:cNvPr id="566" name="Google Shape;566;p52"/>
          <p:cNvSpPr/>
          <p:nvPr/>
        </p:nvSpPr>
        <p:spPr>
          <a:xfrm>
            <a:off x="1826818" y="4593453"/>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Green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7" name="Google Shape;567;p52"/>
          <p:cNvSpPr/>
          <p:nvPr/>
        </p:nvSpPr>
        <p:spPr>
          <a:xfrm>
            <a:off x="1842610" y="4876841"/>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{{F_GA}}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8" name="Google Shape;568;p52"/>
          <p:cNvSpPr/>
          <p:nvPr/>
        </p:nvSpPr>
        <p:spPr>
          <a:xfrm>
            <a:off x="792658" y="4465733"/>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Preventive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9" name="Google Shape;569;p52"/>
          <p:cNvSpPr/>
          <p:nvPr/>
        </p:nvSpPr>
        <p:spPr>
          <a:xfrm>
            <a:off x="746564" y="4637698"/>
            <a:ext cx="10293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Build securely and </a:t>
            </a:r>
            <a:b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remediate at the source</a:t>
            </a:r>
            <a:endParaRPr sz="73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0" name="Google Shape;570;p52"/>
          <p:cNvSpPr/>
          <p:nvPr/>
        </p:nvSpPr>
        <p:spPr>
          <a:xfrm>
            <a:off x="3258006"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Reactive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1" name="Google Shape;571;p52"/>
          <p:cNvSpPr/>
          <p:nvPr/>
        </p:nvSpPr>
        <p:spPr>
          <a:xfrm>
            <a:off x="3173074" y="4650643"/>
            <a:ext cx="11178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Investigate and </a:t>
            </a:r>
            <a:b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triage high-fidelity threats</a:t>
            </a:r>
            <a:endParaRPr sz="73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2" name="Google Shape;572;p52"/>
          <p:cNvSpPr/>
          <p:nvPr/>
        </p:nvSpPr>
        <p:spPr>
          <a:xfrm>
            <a:off x="5714491"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Proactive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3" name="Google Shape;573;p52"/>
          <p:cNvSpPr/>
          <p:nvPr/>
        </p:nvSpPr>
        <p:spPr>
          <a:xfrm>
            <a:off x="5629558" y="4738385"/>
            <a:ext cx="11178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Identify high-risk </a:t>
            </a:r>
            <a:b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issues before they </a:t>
            </a:r>
            <a:b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can be exploited</a:t>
            </a:r>
            <a:endParaRPr sz="73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4" name="Google Shape;574;p52"/>
          <p:cNvSpPr/>
          <p:nvPr/>
        </p:nvSpPr>
        <p:spPr>
          <a:xfrm>
            <a:off x="4293866" y="4602589"/>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Blue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5" name="Google Shape;575;p52"/>
          <p:cNvSpPr/>
          <p:nvPr/>
        </p:nvSpPr>
        <p:spPr>
          <a:xfrm>
            <a:off x="4309658" y="4885978"/>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{{F_BA}}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6" name="Google Shape;576;p52"/>
          <p:cNvSpPr/>
          <p:nvPr/>
        </p:nvSpPr>
        <p:spPr>
          <a:xfrm>
            <a:off x="6751047" y="4611991"/>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Red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7" name="Google Shape;577;p52"/>
          <p:cNvSpPr/>
          <p:nvPr/>
        </p:nvSpPr>
        <p:spPr>
          <a:xfrm>
            <a:off x="6766839" y="4895379"/>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{{F_RA}}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8" name="Google Shape;578;p52"/>
          <p:cNvSpPr/>
          <p:nvPr/>
        </p:nvSpPr>
        <p:spPr>
          <a:xfrm>
            <a:off x="6220691" y="3251123"/>
            <a:ext cx="2673777" cy="5631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79" name="Google Shape;579;p52"/>
          <p:cNvSpPr txBox="1"/>
          <p:nvPr/>
        </p:nvSpPr>
        <p:spPr>
          <a:xfrm>
            <a:off x="6223125" y="3218322"/>
            <a:ext cx="2636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1">
                  <a:extLst>
                    <a:ext uri="{A12FA001-AC4F-418D-AE19-62706E023703}">
                      <ahyp:hlinkClr xmlns:ahyp="http://schemas.microsoft.com/office/drawing/2018/hyperlinkcolor" val="tx"/>
                    </a:ext>
                  </a:extLst>
                </a:hlinkClick>
              </a:rPr>
              <a:t>Automation Workflows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0" name="Google Shape;580;p52"/>
          <p:cNvSpPr txBox="1"/>
          <p:nvPr/>
        </p:nvSpPr>
        <p:spPr>
          <a:xfrm>
            <a:off x="7155895" y="323273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{{F_WF}}</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1" name="Google Shape;581;p52"/>
          <p:cNvSpPr txBox="1"/>
          <p:nvPr/>
        </p:nvSpPr>
        <p:spPr>
          <a:xfrm>
            <a:off x="6223125" y="3417847"/>
            <a:ext cx="2171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2">
                  <a:extLst>
                    <a:ext uri="{A12FA001-AC4F-418D-AE19-62706E023703}">
                      <ahyp:hlinkClr xmlns:ahyp="http://schemas.microsoft.com/office/drawing/2018/hyperlinkcolor" val="tx"/>
                    </a:ext>
                  </a:extLst>
                </a:hlinkClick>
              </a:rPr>
              <a:t>Automation Rules (On / Off)</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2" name="Google Shape;582;p52"/>
          <p:cNvSpPr txBox="1"/>
          <p:nvPr/>
        </p:nvSpPr>
        <p:spPr>
          <a:xfrm>
            <a:off x="7155895" y="343226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{{F_AR}}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3" name="Google Shape;583;p52"/>
          <p:cNvSpPr txBox="1"/>
          <p:nvPr/>
        </p:nvSpPr>
        <p:spPr>
          <a:xfrm>
            <a:off x="6304997" y="2755905"/>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3">
                  <a:extLst>
                    <a:ext uri="{A12FA001-AC4F-418D-AE19-62706E023703}">
                      <ahyp:hlinkClr xmlns:ahyp="http://schemas.microsoft.com/office/drawing/2018/hyperlinkcolor" val="tx"/>
                    </a:ext>
                  </a:extLst>
                </a:hlinkClick>
              </a:rPr>
              <a:t>Wiz MCP Users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4" name="Google Shape;584;p52"/>
          <p:cNvSpPr txBox="1"/>
          <p:nvPr/>
        </p:nvSpPr>
        <p:spPr>
          <a:xfrm>
            <a:off x="7301674" y="2758918"/>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{{F_WMCP}}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pic>
        <p:nvPicPr>
          <p:cNvPr id="590" name="Google Shape;590;p53"/>
          <p:cNvPicPr preferRelativeResize="0"/>
          <p:nvPr/>
        </p:nvPicPr>
        <p:blipFill rotWithShape="1">
          <a:blip r:embed="rId3">
            <a:alphaModFix/>
          </a:blip>
          <a:srcRect/>
          <a:stretch/>
        </p:blipFill>
        <p:spPr>
          <a:xfrm>
            <a:off x="110700" y="514955"/>
            <a:ext cx="4359173" cy="4230574"/>
          </a:xfrm>
          <a:prstGeom prst="rect">
            <a:avLst/>
          </a:prstGeom>
          <a:noFill/>
          <a:ln w="6350">
            <a:solidFill>
              <a:schemeClr val="accent1"/>
            </a:solidFill>
          </a:ln>
        </p:spPr>
      </p:pic>
      <p:sp>
        <p:nvSpPr>
          <p:cNvPr id="591" name="Google Shape;591;p53"/>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Preview Hub Availability vs Usage</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592" name="Google Shape;592;p53"/>
          <p:cNvSpPr txBox="1"/>
          <p:nvPr/>
        </p:nvSpPr>
        <p:spPr>
          <a:xfrm>
            <a:off x="110700" y="583584"/>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Public Future-Billable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93" name="Google Shape;593;p53"/>
          <p:cNvSpPr/>
          <p:nvPr/>
        </p:nvSpPr>
        <p:spPr>
          <a:xfrm>
            <a:off x="165200" y="983157"/>
            <a:ext cx="4313400" cy="209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Advanced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{{BILLABLE_ADVANCED}}</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Sensor / Defend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{{BILLABLE_SENSOR}}</a:t>
            </a:r>
            <a:b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{{BILLABLE_DEFEND}}</a:t>
            </a:r>
            <a:endParaRPr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Wiz Code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{{BILLABLE_CODE}}</a:t>
            </a:r>
            <a:endParaRPr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594" name="Google Shape;594;p53"/>
          <p:cNvPicPr preferRelativeResize="0"/>
          <p:nvPr/>
        </p:nvPicPr>
        <p:blipFill rotWithShape="1">
          <a:blip r:embed="rId3">
            <a:alphaModFix/>
          </a:blip>
          <a:srcRect/>
          <a:stretch/>
        </p:blipFill>
        <p:spPr>
          <a:xfrm>
            <a:off x="4636225" y="519525"/>
            <a:ext cx="4359173" cy="4230574"/>
          </a:xfrm>
          <a:prstGeom prst="rect">
            <a:avLst/>
          </a:prstGeom>
          <a:noFill/>
          <a:ln w="6350">
            <a:solidFill>
              <a:schemeClr val="accent1"/>
            </a:solidFill>
          </a:ln>
        </p:spPr>
      </p:pic>
      <p:sp>
        <p:nvSpPr>
          <p:cNvPr id="595" name="Google Shape;595;p53"/>
          <p:cNvSpPr txBox="1"/>
          <p:nvPr/>
        </p:nvSpPr>
        <p:spPr>
          <a:xfrm>
            <a:off x="4636222" y="584617"/>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Public Non-Billable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96" name="Google Shape;596;p53"/>
          <p:cNvSpPr/>
          <p:nvPr/>
        </p:nvSpPr>
        <p:spPr>
          <a:xfrm>
            <a:off x="4690701" y="997376"/>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{{ALL_NON_BILLABLE_PREVIEW}}</a:t>
            </a:r>
            <a:br>
              <a:rPr lang="en" sz="10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endParaRPr sz="10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pic>
        <p:nvPicPr>
          <p:cNvPr id="602" name="Google Shape;602;p54"/>
          <p:cNvPicPr preferRelativeResize="0"/>
          <p:nvPr/>
        </p:nvPicPr>
        <p:blipFill rotWithShape="1">
          <a:blip r:embed="rId3">
            <a:alphaModFix/>
          </a:blip>
          <a:srcRect/>
          <a:stretch/>
        </p:blipFill>
        <p:spPr>
          <a:xfrm>
            <a:off x="110700" y="514953"/>
            <a:ext cx="4359173" cy="3657923"/>
          </a:xfrm>
          <a:prstGeom prst="rect">
            <a:avLst/>
          </a:prstGeom>
          <a:noFill/>
          <a:ln w="6350">
            <a:solidFill>
              <a:schemeClr val="accent1"/>
            </a:solidFill>
          </a:ln>
        </p:spPr>
      </p:pic>
      <p:sp>
        <p:nvSpPr>
          <p:cNvPr id="603" name="Google Shape;603;p54"/>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Preview Hub Availability vs Usage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04" name="Google Shape;604;p54"/>
          <p:cNvSpPr txBox="1"/>
          <p:nvPr/>
        </p:nvSpPr>
        <p:spPr>
          <a:xfrm>
            <a:off x="110700" y="573172"/>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Private Future-Billable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5" name="Google Shape;605;p54"/>
          <p:cNvSpPr/>
          <p:nvPr/>
        </p:nvSpPr>
        <p:spPr>
          <a:xfrm>
            <a:off x="165200" y="979468"/>
            <a:ext cx="4313400" cy="2127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{{PRIVATE_BILLABLE}}</a:t>
            </a: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2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06" name="Google Shape;606;p54"/>
          <p:cNvPicPr preferRelativeResize="0"/>
          <p:nvPr/>
        </p:nvPicPr>
        <p:blipFill rotWithShape="1">
          <a:blip r:embed="rId3">
            <a:alphaModFix/>
          </a:blip>
          <a:srcRect/>
          <a:stretch/>
        </p:blipFill>
        <p:spPr>
          <a:xfrm>
            <a:off x="4636225" y="519525"/>
            <a:ext cx="4359173" cy="3657923"/>
          </a:xfrm>
          <a:prstGeom prst="rect">
            <a:avLst/>
          </a:prstGeom>
          <a:noFill/>
          <a:ln w="6350">
            <a:solidFill>
              <a:schemeClr val="accent1"/>
            </a:solidFill>
          </a:ln>
        </p:spPr>
      </p:pic>
      <p:sp>
        <p:nvSpPr>
          <p:cNvPr id="607" name="Google Shape;607;p54"/>
          <p:cNvSpPr txBox="1"/>
          <p:nvPr/>
        </p:nvSpPr>
        <p:spPr>
          <a:xfrm>
            <a:off x="4636222" y="574205"/>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Private Non-Billable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8" name="Google Shape;608;p54"/>
          <p:cNvSpPr/>
          <p:nvPr/>
        </p:nvSpPr>
        <p:spPr>
          <a:xfrm>
            <a:off x="4690701" y="972864"/>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{{PRIVATE_NON_BILLABLE}}</a:t>
            </a: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9" name="Google Shape;609;p54"/>
          <p:cNvSpPr txBox="1"/>
          <p:nvPr/>
        </p:nvSpPr>
        <p:spPr>
          <a:xfrm>
            <a:off x="-100" y="4435475"/>
            <a:ext cx="9144000" cy="189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1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**Private Features are typically only available upon request and approval</a:t>
            </a:r>
            <a:endParaRPr sz="11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14"/>
        <p:cNvGrpSpPr/>
        <p:nvPr/>
      </p:nvGrpSpPr>
      <p:grpSpPr>
        <a:xfrm>
          <a:off x="0" y="0"/>
          <a:ext cx="0" cy="0"/>
          <a:chOff x="0" y="0"/>
          <a:chExt cx="0" cy="0"/>
        </a:xfrm>
      </p:grpSpPr>
      <p:pic>
        <p:nvPicPr>
          <p:cNvPr id="615" name="Google Shape;615;p55"/>
          <p:cNvPicPr preferRelativeResize="0"/>
          <p:nvPr/>
        </p:nvPicPr>
        <p:blipFill rotWithShape="1">
          <a:blip r:embed="rId3">
            <a:alphaModFix/>
          </a:blip>
          <a:srcRect/>
          <a:stretch/>
        </p:blipFill>
        <p:spPr>
          <a:xfrm>
            <a:off x="329350" y="1194925"/>
            <a:ext cx="8466125" cy="3904599"/>
          </a:xfrm>
          <a:prstGeom prst="rect">
            <a:avLst/>
          </a:prstGeom>
          <a:noFill/>
          <a:ln w="6350">
            <a:solidFill>
              <a:schemeClr val="accent1"/>
            </a:solidFill>
          </a:ln>
        </p:spPr>
      </p:pic>
      <p:sp>
        <p:nvSpPr>
          <p:cNvPr id="616" name="Google Shape;616;p55"/>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Roadmap Tracker Usage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17" name="Google Shape;617;p55"/>
          <p:cNvSpPr txBox="1"/>
          <p:nvPr/>
        </p:nvSpPr>
        <p:spPr>
          <a:xfrm>
            <a:off x="406975" y="1231821"/>
            <a:ext cx="8306406" cy="375600"/>
          </a:xfrm>
          <a:prstGeom prst="rect">
            <a:avLst/>
          </a:prstGeom>
          <a:noFill/>
          <a:ln w="6350">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8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Tracked Roadmap Items</a:t>
            </a:r>
            <a:r>
              <a:rPr lang="en" sz="18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8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18" name="Google Shape;618;p55"/>
          <p:cNvSpPr/>
          <p:nvPr/>
        </p:nvSpPr>
        <p:spPr>
          <a:xfrm>
            <a:off x="435197" y="1658861"/>
            <a:ext cx="8377200" cy="2010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rPr>
              <a:t>{{ROADMAP_TRACKER}}</a:t>
            </a:r>
            <a:endParaRPr sz="11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100000"/>
              </a:lnSpc>
              <a:spcBef>
                <a:spcPts val="0"/>
              </a:spcBef>
              <a:spcAft>
                <a:spcPts val="0"/>
              </a:spcAft>
              <a:buClr>
                <a:srgbClr val="4A4A4A"/>
              </a:buClr>
              <a:buSzPts val="1100"/>
              <a:buFont typeface="Arial"/>
              <a:buNone/>
            </a:pPr>
            <a:endParaRPr sz="13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19" name="Google Shape;619;p55"/>
          <p:cNvSpPr txBox="1"/>
          <p:nvPr/>
        </p:nvSpPr>
        <p:spPr>
          <a:xfrm>
            <a:off x="150" y="498025"/>
            <a:ext cx="9144000" cy="696900"/>
          </a:xfrm>
          <a:prstGeom prst="rect">
            <a:avLst/>
          </a:prstGeom>
          <a:noFill/>
          <a:ln>
            <a:noFill/>
          </a:ln>
        </p:spPr>
        <p:txBody>
          <a:bodyPr spcFirstLastPara="1" wrap="square" lIns="68575" tIns="34275" rIns="68575" bIns="34275" anchor="t" anchorCtr="0">
            <a:noAutofit/>
          </a:bodyPr>
          <a:lstStyle/>
          <a:p>
            <a:pPr marL="0" marR="0" lvl="0" indent="0" algn="ctr" rtl="0">
              <a:lnSpc>
                <a:spcPct val="115000"/>
              </a:lnSpc>
              <a:spcBef>
                <a:spcPts val="0"/>
              </a:spcBef>
              <a:spcAft>
                <a:spcPts val="0"/>
              </a:spcAft>
              <a:buClr>
                <a:schemeClr val="dk1"/>
              </a:buClr>
              <a:buSzPts val="1100"/>
              <a:buFont typeface="Arial"/>
              <a:buNone/>
            </a:pPr>
            <a:r>
              <a:rPr lang="en" sz="800" b="0" i="0" u="none" strike="noStrike" cap="none" dirty="0">
                <a:solidFill>
                  <a:srgbClr val="60646C"/>
                </a:solidFill>
                <a:latin typeface="Calibri" panose="020F0502020204030204" pitchFamily="34" charset="0"/>
                <a:ea typeface="Calibri" panose="020F0502020204030204" pitchFamily="34" charset="0"/>
                <a:cs typeface="Calibri" panose="020F0502020204030204" pitchFamily="34" charset="0"/>
                <a:sym typeface="Poppins"/>
              </a:rPr>
              <a:t>Discover, track, and monitor roadmap features. All quarters listed refer to the calendar year, and represent Wiz goals,  meaning some features will be pushed to later quarters. Also, the quarters listed may reflect when features become available to preview, with general availability (GA) following. Some support tiers allow you to track up to 20 non-highlight features, of which 5 can be marked high priority. Product managers review the most popular features when deciding what to work on next, so your votes really count. Features remain trackable until one quarter after release. Some features may not have a timeline. A planned timeline is added once available.</a:t>
            </a:r>
            <a:endParaRPr sz="800" b="0" i="0" u="none" strike="noStrike" cap="none" dirty="0">
              <a:solidFill>
                <a:srgbClr val="60646C"/>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90000"/>
              </a:lnSpc>
              <a:spcBef>
                <a:spcPts val="600"/>
              </a:spcBef>
              <a:spcAft>
                <a:spcPts val="0"/>
              </a:spcAft>
              <a:buClr>
                <a:schemeClr val="dk2"/>
              </a:buClr>
              <a:buSzPts val="1500"/>
              <a:buFont typeface="Arial"/>
              <a:buNone/>
            </a:pPr>
            <a:endParaRPr sz="8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625" name="Google Shape;625;p56"/>
          <p:cNvSpPr txBox="1"/>
          <p:nvPr/>
        </p:nvSpPr>
        <p:spPr>
          <a:xfrm>
            <a:off x="468449" y="2215800"/>
            <a:ext cx="3273600" cy="9003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Reducing Critical Risk and Beyond</a:t>
            </a:r>
            <a:endParaRPr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626" name="Google Shape;626;p56"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627" name="Google Shape;627;p56"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628" name="Google Shape;628;p56" title="logo.png"/>
          <p:cNvPicPr preferRelativeResize="0"/>
          <p:nvPr/>
        </p:nvPicPr>
        <p:blipFill rotWithShape="1">
          <a:blip r:embed="rId5">
            <a:alphaModFix/>
          </a:blip>
          <a:srcRect/>
          <a:stretch/>
        </p:blipFill>
        <p:spPr>
          <a:xfrm>
            <a:off x="553277" y="1726800"/>
            <a:ext cx="637001" cy="3041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57"/>
          <p:cNvSpPr txBox="1"/>
          <p:nvPr/>
        </p:nvSpPr>
        <p:spPr>
          <a:xfrm>
            <a:off x="6799450" y="3138000"/>
            <a:ext cx="2010300" cy="201816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5" name="Google Shape;635;p57"/>
          <p:cNvSpPr txBox="1"/>
          <p:nvPr/>
        </p:nvSpPr>
        <p:spPr>
          <a:xfrm>
            <a:off x="799800" y="4324999"/>
            <a:ext cx="2010300" cy="8313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6" name="Google Shape;636;p57"/>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7" name="Google Shape;637;p57"/>
          <p:cNvSpPr txBox="1"/>
          <p:nvPr/>
        </p:nvSpPr>
        <p:spPr>
          <a:xfrm>
            <a:off x="2815700" y="3916475"/>
            <a:ext cx="1987500" cy="1227025"/>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cxnSp>
        <p:nvCxnSpPr>
          <p:cNvPr id="638" name="Google Shape;638;p57"/>
          <p:cNvCxnSpPr>
            <a:cxnSpLocks/>
          </p:cNvCxnSpPr>
          <p:nvPr/>
        </p:nvCxnSpPr>
        <p:spPr>
          <a:xfrm flipV="1">
            <a:off x="2813100" y="2136400"/>
            <a:ext cx="0" cy="3019761"/>
          </a:xfrm>
          <a:prstGeom prst="straightConnector1">
            <a:avLst/>
          </a:prstGeom>
          <a:noFill/>
          <a:ln w="9525" cap="flat" cmpd="sng">
            <a:solidFill>
              <a:srgbClr val="0254EC"/>
            </a:solidFill>
            <a:prstDash val="solid"/>
            <a:round/>
            <a:headEnd type="none" w="sm" len="sm"/>
            <a:tailEnd type="none" w="sm" len="sm"/>
          </a:ln>
        </p:spPr>
      </p:cxnSp>
      <p:cxnSp>
        <p:nvCxnSpPr>
          <p:cNvPr id="639" name="Google Shape;639;p57"/>
          <p:cNvCxnSpPr>
            <a:cxnSpLocks/>
          </p:cNvCxnSpPr>
          <p:nvPr/>
        </p:nvCxnSpPr>
        <p:spPr>
          <a:xfrm flipV="1">
            <a:off x="4804975" y="1525650"/>
            <a:ext cx="0" cy="3617850"/>
          </a:xfrm>
          <a:prstGeom prst="straightConnector1">
            <a:avLst/>
          </a:prstGeom>
          <a:noFill/>
          <a:ln w="9525" cap="flat" cmpd="sng">
            <a:solidFill>
              <a:srgbClr val="0254EC"/>
            </a:solidFill>
            <a:prstDash val="solid"/>
            <a:round/>
            <a:headEnd type="none" w="sm" len="sm"/>
            <a:tailEnd type="none" w="sm" len="sm"/>
          </a:ln>
        </p:spPr>
      </p:cxnSp>
      <p:cxnSp>
        <p:nvCxnSpPr>
          <p:cNvPr id="640" name="Google Shape;640;p57"/>
          <p:cNvCxnSpPr>
            <a:cxnSpLocks/>
          </p:cNvCxnSpPr>
          <p:nvPr/>
        </p:nvCxnSpPr>
        <p:spPr>
          <a:xfrm flipV="1">
            <a:off x="6799450" y="910700"/>
            <a:ext cx="5225" cy="4232800"/>
          </a:xfrm>
          <a:prstGeom prst="straightConnector1">
            <a:avLst/>
          </a:prstGeom>
          <a:noFill/>
          <a:ln w="9525" cap="flat" cmpd="sng">
            <a:solidFill>
              <a:srgbClr val="0254EC"/>
            </a:solidFill>
            <a:prstDash val="solid"/>
            <a:round/>
            <a:headEnd type="none" w="sm" len="sm"/>
            <a:tailEnd type="none" w="sm" len="sm"/>
          </a:ln>
        </p:spPr>
      </p:cxnSp>
      <p:cxnSp>
        <p:nvCxnSpPr>
          <p:cNvPr id="641" name="Google Shape;641;p57"/>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642" name="Google Shape;642;p57"/>
          <p:cNvCxnSpPr/>
          <p:nvPr/>
        </p:nvCxnSpPr>
        <p:spPr>
          <a:xfrm rot="10800000">
            <a:off x="807946" y="2756762"/>
            <a:ext cx="0" cy="2399400"/>
          </a:xfrm>
          <a:prstGeom prst="straightConnector1">
            <a:avLst/>
          </a:prstGeom>
          <a:noFill/>
          <a:ln w="9525" cap="flat" cmpd="sng">
            <a:solidFill>
              <a:srgbClr val="0254EC"/>
            </a:solidFill>
            <a:prstDash val="solid"/>
            <a:round/>
            <a:headEnd type="none" w="sm" len="sm"/>
            <a:tailEnd type="none" w="sm" len="sm"/>
          </a:ln>
        </p:spPr>
      </p:cxnSp>
      <p:pic>
        <p:nvPicPr>
          <p:cNvPr id="643" name="Google Shape;643;p57"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644" name="Google Shape;644;p57"/>
          <p:cNvSpPr txBox="1">
            <a:spLocks noGrp="1"/>
          </p:cNvSpPr>
          <p:nvPr>
            <p:ph type="title" idx="4294967295"/>
          </p:nvPr>
        </p:nvSpPr>
        <p:spPr>
          <a:xfrm>
            <a:off x="304850" y="182250"/>
            <a:ext cx="7550100" cy="646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Wiz Security</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l" rtl="0">
              <a:lnSpc>
                <a:spcPct val="10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Maturity Model </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5" name="Google Shape;645;p57"/>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BACKLOG PREVENTION - DEVELOP SECURELY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46" name="Google Shape;646;p57"/>
          <p:cNvSpPr txBox="1"/>
          <p:nvPr/>
        </p:nvSpPr>
        <p:spPr>
          <a:xfrm>
            <a:off x="6810807" y="2070332"/>
            <a:ext cx="1811700" cy="972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Enforce code-to-cloud guardrails to prevent issues from ever being deployed with Wiz Code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Give devs cloud context directly in IDEs and code for secure by design</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7" name="Google Shape;647;p57"/>
          <p:cNvSpPr txBox="1"/>
          <p:nvPr/>
        </p:nvSpPr>
        <p:spPr>
          <a:xfrm>
            <a:off x="5006084" y="2154770"/>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POSTURE HARDENING</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48" name="Google Shape;648;p57"/>
          <p:cNvSpPr txBox="1"/>
          <p:nvPr/>
        </p:nvSpPr>
        <p:spPr>
          <a:xfrm>
            <a:off x="4902050" y="2387075"/>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Address non-urgent findings impacting overall security posture, including Posture Issues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Manage exposures in the environment with Wiz XM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Consolidate remediation for greater impact in a shorter      time frame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9" name="Google Shape;649;p57"/>
          <p:cNvSpPr txBox="1"/>
          <p:nvPr/>
        </p:nvSpPr>
        <p:spPr>
          <a:xfrm>
            <a:off x="3007222" y="26253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REDUCE CRITICAL RISK</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50" name="Google Shape;650;p57"/>
          <p:cNvSpPr txBox="1"/>
          <p:nvPr/>
        </p:nvSpPr>
        <p:spPr>
          <a:xfrm>
            <a:off x="2903188" y="28576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immediately  exploitable attack paths   (validate with Wiz ASM)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Achieve Zero Critical Risk Issues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external findings (UVM) with Wiz context</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51" name="Google Shape;651;p57"/>
          <p:cNvSpPr txBox="1"/>
          <p:nvPr/>
        </p:nvSpPr>
        <p:spPr>
          <a:xfrm>
            <a:off x="1008697" y="32091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GAIN VISIBILITY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52" name="Google Shape;652;p57"/>
          <p:cNvSpPr txBox="1"/>
          <p:nvPr/>
        </p:nvSpPr>
        <p:spPr>
          <a:xfrm>
            <a:off x="904663" y="34414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100% code-to-cloud visibility into any repo, pipeline, or cloud</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Centralize visibility across on-prem, hybrid, cloud, code with UVM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653" name="Google Shape;653;p57"/>
          <p:cNvCxnSpPr>
            <a:cxnSpLocks/>
          </p:cNvCxnSpPr>
          <p:nvPr/>
        </p:nvCxnSpPr>
        <p:spPr>
          <a:xfrm flipV="1">
            <a:off x="8809750" y="306800"/>
            <a:ext cx="100" cy="4836700"/>
          </a:xfrm>
          <a:prstGeom prst="straightConnector1">
            <a:avLst/>
          </a:prstGeom>
          <a:noFill/>
          <a:ln w="9525" cap="flat" cmpd="sng">
            <a:solidFill>
              <a:srgbClr val="0254EC"/>
            </a:solidFill>
            <a:prstDash val="solid"/>
            <a:round/>
            <a:headEnd type="none" w="sm" len="sm"/>
            <a:tailEnd type="none" w="sm" len="sm"/>
          </a:ln>
        </p:spPr>
      </p:cxnSp>
      <p:sp>
        <p:nvSpPr>
          <p:cNvPr id="654" name="Google Shape;654;p57"/>
          <p:cNvSpPr txBox="1"/>
          <p:nvPr/>
        </p:nvSpPr>
        <p:spPr>
          <a:xfrm>
            <a:off x="6929000" y="321420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Harden the SDLC while maintaining “Zero Criticals” and SLA compliance requirements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cxnSp>
        <p:nvCxnSpPr>
          <p:cNvPr id="655" name="Google Shape;655;p57"/>
          <p:cNvCxnSpPr/>
          <p:nvPr/>
        </p:nvCxnSpPr>
        <p:spPr>
          <a:xfrm>
            <a:off x="6804671" y="3138012"/>
            <a:ext cx="2005500" cy="0"/>
          </a:xfrm>
          <a:prstGeom prst="straightConnector1">
            <a:avLst/>
          </a:prstGeom>
          <a:noFill/>
          <a:ln w="9525" cap="flat" cmpd="sng">
            <a:solidFill>
              <a:srgbClr val="0254EC"/>
            </a:solidFill>
            <a:prstDash val="solid"/>
            <a:round/>
            <a:headEnd type="none" w="sm" len="sm"/>
            <a:tailEnd type="none" w="sm" len="sm"/>
          </a:ln>
        </p:spPr>
      </p:cxnSp>
      <p:cxnSp>
        <p:nvCxnSpPr>
          <p:cNvPr id="656" name="Google Shape;656;p57"/>
          <p:cNvCxnSpPr/>
          <p:nvPr/>
        </p:nvCxnSpPr>
        <p:spPr>
          <a:xfrm>
            <a:off x="805008" y="4325009"/>
            <a:ext cx="2005500" cy="0"/>
          </a:xfrm>
          <a:prstGeom prst="straightConnector1">
            <a:avLst/>
          </a:prstGeom>
          <a:noFill/>
          <a:ln w="9525" cap="flat" cmpd="sng">
            <a:solidFill>
              <a:srgbClr val="0254EC"/>
            </a:solidFill>
            <a:prstDash val="solid"/>
            <a:round/>
            <a:headEnd type="none" w="sm" len="sm"/>
            <a:tailEnd type="none" w="sm" len="sm"/>
          </a:ln>
        </p:spPr>
      </p:cxnSp>
      <p:cxnSp>
        <p:nvCxnSpPr>
          <p:cNvPr id="657" name="Google Shape;657;p57"/>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658" name="Google Shape;658;p57"/>
          <p:cNvCxnSpPr/>
          <p:nvPr/>
        </p:nvCxnSpPr>
        <p:spPr>
          <a:xfrm>
            <a:off x="2820861" y="3916487"/>
            <a:ext cx="1982700" cy="0"/>
          </a:xfrm>
          <a:prstGeom prst="straightConnector1">
            <a:avLst/>
          </a:prstGeom>
          <a:noFill/>
          <a:ln w="9525" cap="flat" cmpd="sng">
            <a:solidFill>
              <a:srgbClr val="0254EC"/>
            </a:solidFill>
            <a:prstDash val="solid"/>
            <a:round/>
            <a:headEnd type="none" w="sm" len="sm"/>
            <a:tailEnd type="none" w="sm" len="sm"/>
          </a:ln>
        </p:spPr>
      </p:cxnSp>
      <p:sp>
        <p:nvSpPr>
          <p:cNvPr id="659" name="Google Shape;659;p57"/>
          <p:cNvSpPr txBox="1"/>
          <p:nvPr/>
        </p:nvSpPr>
        <p:spPr>
          <a:xfrm>
            <a:off x="904675" y="4416650"/>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Full visibility into vulnerabilities across all environments</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660" name="Google Shape;660;p57"/>
          <p:cNvSpPr txBox="1"/>
          <p:nvPr/>
        </p:nvSpPr>
        <p:spPr>
          <a:xfrm>
            <a:off x="2942638" y="3992675"/>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Achieve “Zero Critical” Risk Issues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661" name="Google Shape;661;p57"/>
          <p:cNvSpPr txBox="1"/>
          <p:nvPr/>
        </p:nvSpPr>
        <p:spPr>
          <a:xfrm>
            <a:off x="4934925" y="3751400"/>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Meet all SLAs for Posture Issues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662" name="Google Shape;662;p57" title="Group 1000004546.png"/>
          <p:cNvPicPr preferRelativeResize="0"/>
          <p:nvPr/>
        </p:nvPicPr>
        <p:blipFill rotWithShape="1">
          <a:blip r:embed="rId4">
            <a:alphaModFix/>
          </a:blip>
          <a:srcRect/>
          <a:stretch/>
        </p:blipFill>
        <p:spPr>
          <a:xfrm>
            <a:off x="6717625" y="465775"/>
            <a:ext cx="883400" cy="883400"/>
          </a:xfrm>
          <a:prstGeom prst="rect">
            <a:avLst/>
          </a:prstGeom>
          <a:noFill/>
          <a:ln>
            <a:noFill/>
          </a:ln>
        </p:spPr>
      </p:pic>
      <p:pic>
        <p:nvPicPr>
          <p:cNvPr id="663" name="Google Shape;663;p57" title="Group 1000004545.png"/>
          <p:cNvPicPr preferRelativeResize="0"/>
          <p:nvPr/>
        </p:nvPicPr>
        <p:blipFill rotWithShape="1">
          <a:blip r:embed="rId5">
            <a:alphaModFix/>
          </a:blip>
          <a:srcRect/>
          <a:stretch/>
        </p:blipFill>
        <p:spPr>
          <a:xfrm>
            <a:off x="4685600" y="1077601"/>
            <a:ext cx="883400" cy="883400"/>
          </a:xfrm>
          <a:prstGeom prst="rect">
            <a:avLst/>
          </a:prstGeom>
          <a:noFill/>
          <a:ln>
            <a:noFill/>
          </a:ln>
        </p:spPr>
      </p:pic>
      <p:pic>
        <p:nvPicPr>
          <p:cNvPr id="664" name="Google Shape;664;p57" title="Group 1000004543_1.png"/>
          <p:cNvPicPr preferRelativeResize="0"/>
          <p:nvPr/>
        </p:nvPicPr>
        <p:blipFill rotWithShape="1">
          <a:blip r:embed="rId6">
            <a:alphaModFix/>
          </a:blip>
          <a:srcRect/>
          <a:stretch/>
        </p:blipFill>
        <p:spPr>
          <a:xfrm>
            <a:off x="685650" y="2277531"/>
            <a:ext cx="883400" cy="883400"/>
          </a:xfrm>
          <a:prstGeom prst="rect">
            <a:avLst/>
          </a:prstGeom>
          <a:noFill/>
          <a:ln>
            <a:noFill/>
          </a:ln>
        </p:spPr>
      </p:pic>
      <p:pic>
        <p:nvPicPr>
          <p:cNvPr id="665" name="Google Shape;665;p57" title="Group 1000004544.png"/>
          <p:cNvPicPr preferRelativeResize="0"/>
          <p:nvPr/>
        </p:nvPicPr>
        <p:blipFill rotWithShape="1">
          <a:blip r:embed="rId7">
            <a:alphaModFix/>
          </a:blip>
          <a:srcRect/>
          <a:stretch/>
        </p:blipFill>
        <p:spPr>
          <a:xfrm>
            <a:off x="2698497" y="1693375"/>
            <a:ext cx="883400" cy="883400"/>
          </a:xfrm>
          <a:prstGeom prst="rect">
            <a:avLst/>
          </a:prstGeom>
          <a:noFill/>
          <a:ln>
            <a:noFill/>
          </a:ln>
        </p:spPr>
      </p:pic>
      <p:sp>
        <p:nvSpPr>
          <p:cNvPr id="666" name="Google Shape;666;p57"/>
          <p:cNvSpPr/>
          <p:nvPr/>
        </p:nvSpPr>
        <p:spPr>
          <a:xfrm>
            <a:off x="3212396" y="629773"/>
            <a:ext cx="1453800" cy="252300"/>
          </a:xfrm>
          <a:prstGeom prst="roundRect">
            <a:avLst>
              <a:gd name="adj" fmla="val 50000"/>
            </a:avLst>
          </a:prstGeom>
          <a:solidFill>
            <a:srgbClr val="FFFFFF"/>
          </a:solidFill>
          <a:ln w="11350" cap="flat" cmpd="sng">
            <a:solidFill>
              <a:srgbClr val="CADAFF"/>
            </a:solidFill>
            <a:prstDash val="solid"/>
            <a:miter lim="8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667" name="Google Shape;667;p57"/>
          <p:cNvSpPr txBox="1"/>
          <p:nvPr/>
        </p:nvSpPr>
        <p:spPr>
          <a:xfrm>
            <a:off x="3497502"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panose="020F0502020204030204" pitchFamily="34" charset="0"/>
                <a:ea typeface="Calibri" panose="020F0502020204030204" pitchFamily="34" charset="0"/>
                <a:cs typeface="Calibri" panose="020F0502020204030204" pitchFamily="34" charset="0"/>
                <a:sym typeface="Poppins Medium"/>
              </a:rPr>
              <a:t>Where are you?</a:t>
            </a:r>
            <a:endParaRPr sz="131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668" name="Google Shape;668;p57" title="icon.png"/>
          <p:cNvPicPr preferRelativeResize="0"/>
          <p:nvPr/>
        </p:nvPicPr>
        <p:blipFill rotWithShape="1">
          <a:blip r:embed="rId8">
            <a:alphaModFix/>
          </a:blip>
          <a:srcRect/>
          <a:stretch/>
        </p:blipFill>
        <p:spPr>
          <a:xfrm>
            <a:off x="3149780" y="617823"/>
            <a:ext cx="272612" cy="27261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58"/>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Security Posture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675" name="Google Shape;675;p58"/>
          <p:cNvPicPr preferRelativeResize="0"/>
          <p:nvPr/>
        </p:nvPicPr>
        <p:blipFill rotWithShape="1">
          <a:blip r:embed="rId3">
            <a:alphaModFix/>
          </a:blip>
          <a:srcRect/>
          <a:stretch/>
        </p:blipFill>
        <p:spPr>
          <a:xfrm>
            <a:off x="328386" y="891625"/>
            <a:ext cx="2104822" cy="1177356"/>
          </a:xfrm>
          <a:prstGeom prst="rect">
            <a:avLst/>
          </a:prstGeom>
          <a:noFill/>
          <a:ln w="6350">
            <a:solidFill>
              <a:schemeClr val="accent1"/>
            </a:solidFill>
          </a:ln>
        </p:spPr>
      </p:pic>
      <p:sp>
        <p:nvSpPr>
          <p:cNvPr id="676" name="Google Shape;676;p58"/>
          <p:cNvSpPr txBox="1"/>
          <p:nvPr/>
        </p:nvSpPr>
        <p:spPr>
          <a:xfrm>
            <a:off x="328224" y="961165"/>
            <a:ext cx="2105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Current Security Score</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77" name="Google Shape;677;p58"/>
          <p:cNvSpPr txBox="1"/>
          <p:nvPr/>
        </p:nvSpPr>
        <p:spPr>
          <a:xfrm>
            <a:off x="328682" y="1709240"/>
            <a:ext cx="21048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90 Day Trend {{s1d}}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78" name="Google Shape;678;p58"/>
          <p:cNvSpPr txBox="1"/>
          <p:nvPr/>
        </p:nvSpPr>
        <p:spPr>
          <a:xfrm>
            <a:off x="325825" y="1275254"/>
            <a:ext cx="2104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{{SS}}%</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79" name="Google Shape;679;p58"/>
          <p:cNvPicPr preferRelativeResize="0"/>
          <p:nvPr/>
        </p:nvPicPr>
        <p:blipFill rotWithShape="1">
          <a:blip r:embed="rId3">
            <a:alphaModFix/>
          </a:blip>
          <a:srcRect/>
          <a:stretch/>
        </p:blipFill>
        <p:spPr>
          <a:xfrm>
            <a:off x="2581991" y="897686"/>
            <a:ext cx="2072709" cy="1177356"/>
          </a:xfrm>
          <a:prstGeom prst="rect">
            <a:avLst/>
          </a:prstGeom>
          <a:noFill/>
          <a:ln w="6350">
            <a:solidFill>
              <a:schemeClr val="accent1"/>
            </a:solidFill>
          </a:ln>
        </p:spPr>
      </p:pic>
      <p:sp>
        <p:nvSpPr>
          <p:cNvPr id="680" name="Google Shape;680;p58"/>
          <p:cNvSpPr txBox="1"/>
          <p:nvPr/>
        </p:nvSpPr>
        <p:spPr>
          <a:xfrm>
            <a:off x="2581870" y="966862"/>
            <a:ext cx="2067300" cy="2610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Industry Benchmark</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1" name="Google Shape;681;p58"/>
          <p:cNvSpPr txBox="1"/>
          <p:nvPr/>
        </p:nvSpPr>
        <p:spPr>
          <a:xfrm>
            <a:off x="2582409" y="1756556"/>
            <a:ext cx="2065500" cy="389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Security Score Gap {{SG}}%</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2" name="Google Shape;682;p58"/>
          <p:cNvSpPr txBox="1"/>
          <p:nvPr/>
        </p:nvSpPr>
        <p:spPr>
          <a:xfrm>
            <a:off x="2580848" y="1468922"/>
            <a:ext cx="2065500" cy="331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700"/>
              <a:buFont typeface="Arial"/>
              <a:buNone/>
            </a:pPr>
            <a:r>
              <a:rPr lang="en" sz="17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{{SP}}%</a:t>
            </a:r>
            <a:endParaRPr sz="17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83" name="Google Shape;683;p58"/>
          <p:cNvPicPr preferRelativeResize="0"/>
          <p:nvPr/>
        </p:nvPicPr>
        <p:blipFill rotWithShape="1">
          <a:blip r:embed="rId3">
            <a:alphaModFix/>
          </a:blip>
          <a:srcRect/>
          <a:stretch/>
        </p:blipFill>
        <p:spPr>
          <a:xfrm>
            <a:off x="4776020" y="897687"/>
            <a:ext cx="1951974" cy="1177356"/>
          </a:xfrm>
          <a:prstGeom prst="rect">
            <a:avLst/>
          </a:prstGeom>
          <a:noFill/>
          <a:ln w="6350">
            <a:solidFill>
              <a:schemeClr val="accent1"/>
            </a:solidFill>
          </a:ln>
        </p:spPr>
      </p:pic>
      <p:sp>
        <p:nvSpPr>
          <p:cNvPr id="684" name="Google Shape;684;p58"/>
          <p:cNvSpPr txBox="1"/>
          <p:nvPr/>
        </p:nvSpPr>
        <p:spPr>
          <a:xfrm>
            <a:off x="4775870" y="955658"/>
            <a:ext cx="1952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Open Critical Issues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5" name="Google Shape;685;p58"/>
          <p:cNvSpPr txBox="1"/>
          <p:nvPr/>
        </p:nvSpPr>
        <p:spPr>
          <a:xfrm>
            <a:off x="4775970" y="1697930"/>
            <a:ext cx="19521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Resolved Criticals </a:t>
            </a:r>
            <a:r>
              <a:rPr lang="en" sz="11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t>
            </a:r>
            <a:r>
              <a:rPr lang="en"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0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{{RC}}</a:t>
            </a:r>
            <a:endParaRPr sz="10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6" name="Google Shape;686;p58"/>
          <p:cNvSpPr txBox="1"/>
          <p:nvPr/>
        </p:nvSpPr>
        <p:spPr>
          <a:xfrm>
            <a:off x="4773495" y="1274373"/>
            <a:ext cx="1951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{{OC}}</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87" name="Google Shape;687;p58"/>
          <p:cNvPicPr preferRelativeResize="0"/>
          <p:nvPr/>
        </p:nvPicPr>
        <p:blipFill rotWithShape="1">
          <a:blip r:embed="rId3">
            <a:alphaModFix/>
          </a:blip>
          <a:srcRect/>
          <a:stretch/>
        </p:blipFill>
        <p:spPr>
          <a:xfrm>
            <a:off x="6866110" y="897687"/>
            <a:ext cx="1951974" cy="1177356"/>
          </a:xfrm>
          <a:prstGeom prst="rect">
            <a:avLst/>
          </a:prstGeom>
          <a:noFill/>
          <a:ln w="6350">
            <a:solidFill>
              <a:schemeClr val="accent1"/>
            </a:solidFill>
          </a:ln>
        </p:spPr>
      </p:pic>
      <p:sp>
        <p:nvSpPr>
          <p:cNvPr id="688" name="Google Shape;688;p58"/>
          <p:cNvSpPr txBox="1"/>
          <p:nvPr/>
        </p:nvSpPr>
        <p:spPr>
          <a:xfrm>
            <a:off x="6865973" y="948265"/>
            <a:ext cx="1952100" cy="2577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Open High Issues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9" name="Google Shape;689;p58"/>
          <p:cNvSpPr txBox="1"/>
          <p:nvPr/>
        </p:nvSpPr>
        <p:spPr>
          <a:xfrm>
            <a:off x="6866072" y="1682413"/>
            <a:ext cx="1952100" cy="384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Resolved Highs</a:t>
            </a:r>
            <a:r>
              <a:rPr lang="en"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1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a:t>
            </a:r>
            <a:r>
              <a:rPr lang="en"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0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{{RH}}</a:t>
            </a:r>
            <a:endParaRPr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0" name="Google Shape;690;p58"/>
          <p:cNvSpPr txBox="1"/>
          <p:nvPr/>
        </p:nvSpPr>
        <p:spPr>
          <a:xfrm>
            <a:off x="6863397" y="1267303"/>
            <a:ext cx="1952100" cy="327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{{OH}}</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1" name="Google Shape;691;p58"/>
          <p:cNvPicPr preferRelativeResize="0"/>
          <p:nvPr/>
        </p:nvPicPr>
        <p:blipFill rotWithShape="1">
          <a:blip r:embed="rId3">
            <a:alphaModFix/>
          </a:blip>
          <a:srcRect/>
          <a:stretch/>
        </p:blipFill>
        <p:spPr>
          <a:xfrm>
            <a:off x="331250" y="2224649"/>
            <a:ext cx="2100500" cy="1268051"/>
          </a:xfrm>
          <a:prstGeom prst="rect">
            <a:avLst/>
          </a:prstGeom>
          <a:noFill/>
          <a:ln w="6350">
            <a:solidFill>
              <a:schemeClr val="accent1"/>
            </a:solidFill>
          </a:ln>
        </p:spPr>
      </p:pic>
      <p:sp>
        <p:nvSpPr>
          <p:cNvPr id="692" name="Google Shape;692;p58"/>
          <p:cNvSpPr txBox="1"/>
          <p:nvPr/>
        </p:nvSpPr>
        <p:spPr>
          <a:xfrm>
            <a:off x="331089" y="2303994"/>
            <a:ext cx="21006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Ignored Issues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3" name="Google Shape;693;p58"/>
          <p:cNvSpPr txBox="1"/>
          <p:nvPr/>
        </p:nvSpPr>
        <p:spPr>
          <a:xfrm>
            <a:off x="331546" y="3000634"/>
            <a:ext cx="21003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Total Ignored Issues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4" name="Google Shape;694;p58"/>
          <p:cNvSpPr txBox="1"/>
          <p:nvPr/>
        </p:nvSpPr>
        <p:spPr>
          <a:xfrm>
            <a:off x="328694" y="2629117"/>
            <a:ext cx="21003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{{RJ}}</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5" name="Google Shape;695;p58"/>
          <p:cNvPicPr preferRelativeResize="0"/>
          <p:nvPr/>
        </p:nvPicPr>
        <p:blipFill rotWithShape="1">
          <a:blip r:embed="rId3">
            <a:alphaModFix/>
          </a:blip>
          <a:srcRect/>
          <a:stretch/>
        </p:blipFill>
        <p:spPr>
          <a:xfrm>
            <a:off x="2586575" y="2230725"/>
            <a:ext cx="2100372" cy="1268051"/>
          </a:xfrm>
          <a:prstGeom prst="rect">
            <a:avLst/>
          </a:prstGeom>
          <a:noFill/>
          <a:ln w="6350">
            <a:solidFill>
              <a:schemeClr val="accent1"/>
            </a:solidFill>
          </a:ln>
        </p:spPr>
      </p:pic>
      <p:sp>
        <p:nvSpPr>
          <p:cNvPr id="696" name="Google Shape;696;p58"/>
          <p:cNvSpPr txBox="1"/>
          <p:nvPr/>
        </p:nvSpPr>
        <p:spPr>
          <a:xfrm>
            <a:off x="2586459" y="2311150"/>
            <a:ext cx="2100300" cy="277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AI Findings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7" name="Google Shape;697;p58"/>
          <p:cNvSpPr txBox="1"/>
          <p:nvPr/>
        </p:nvSpPr>
        <p:spPr>
          <a:xfrm>
            <a:off x="2583825" y="2603552"/>
            <a:ext cx="2100300" cy="10188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Security Findings: {{AI_SF}}</a:t>
            </a:r>
            <a:b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Configuration Findings: {{AI_MF}}</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AI Inventory Findings: {{AI_IF}}</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8" name="Google Shape;698;p58"/>
          <p:cNvPicPr preferRelativeResize="0"/>
          <p:nvPr/>
        </p:nvPicPr>
        <p:blipFill rotWithShape="1">
          <a:blip r:embed="rId10">
            <a:alphaModFix/>
          </a:blip>
          <a:srcRect/>
          <a:stretch/>
        </p:blipFill>
        <p:spPr>
          <a:xfrm>
            <a:off x="334850" y="3601610"/>
            <a:ext cx="2100726" cy="1404216"/>
          </a:xfrm>
          <a:prstGeom prst="rect">
            <a:avLst/>
          </a:prstGeom>
          <a:noFill/>
          <a:ln w="6350">
            <a:solidFill>
              <a:schemeClr val="accent1"/>
            </a:solidFill>
          </a:ln>
        </p:spPr>
      </p:pic>
      <p:sp>
        <p:nvSpPr>
          <p:cNvPr id="699" name="Google Shape;699;p58"/>
          <p:cNvSpPr txBox="1"/>
          <p:nvPr/>
        </p:nvSpPr>
        <p:spPr>
          <a:xfrm>
            <a:off x="377423" y="3721314"/>
            <a:ext cx="2028884"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Threats MTTR </a:t>
            </a:r>
            <a:r>
              <a:rPr lang="en" sz="13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a:t>
            </a:r>
            <a:endParaRPr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0" name="Google Shape;700;p58"/>
          <p:cNvSpPr txBox="1"/>
          <p:nvPr/>
        </p:nvSpPr>
        <p:spPr>
          <a:xfrm>
            <a:off x="368756" y="4062355"/>
            <a:ext cx="2028884"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{{MTTR_O}}</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01" name="Google Shape;701;p58"/>
          <p:cNvSpPr txBox="1"/>
          <p:nvPr/>
        </p:nvSpPr>
        <p:spPr>
          <a:xfrm>
            <a:off x="368756" y="4505977"/>
            <a:ext cx="2028884" cy="23013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02" name="Google Shape;702;p58"/>
          <p:cNvPicPr preferRelativeResize="0"/>
          <p:nvPr/>
        </p:nvPicPr>
        <p:blipFill rotWithShape="1">
          <a:blip r:embed="rId10">
            <a:alphaModFix/>
          </a:blip>
          <a:srcRect/>
          <a:stretch/>
        </p:blipFill>
        <p:spPr>
          <a:xfrm>
            <a:off x="2585906" y="3601600"/>
            <a:ext cx="2100895" cy="1404216"/>
          </a:xfrm>
          <a:prstGeom prst="rect">
            <a:avLst/>
          </a:prstGeom>
          <a:noFill/>
          <a:ln w="6350">
            <a:solidFill>
              <a:schemeClr val="accent1"/>
            </a:solidFill>
          </a:ln>
        </p:spPr>
      </p:pic>
      <p:sp>
        <p:nvSpPr>
          <p:cNvPr id="703" name="Google Shape;703;p58"/>
          <p:cNvSpPr txBox="1"/>
          <p:nvPr/>
        </p:nvSpPr>
        <p:spPr>
          <a:xfrm>
            <a:off x="2644411" y="3707460"/>
            <a:ext cx="1986065"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Open Threats</a:t>
            </a:r>
            <a:r>
              <a:rPr lang="en" sz="13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3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4" name="Google Shape;704;p58"/>
          <p:cNvSpPr txBox="1"/>
          <p:nvPr/>
        </p:nvSpPr>
        <p:spPr>
          <a:xfrm>
            <a:off x="2609187" y="4107445"/>
            <a:ext cx="2047876"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{{OT}}</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05" name="Google Shape;705;p58"/>
          <p:cNvSpPr txBox="1"/>
          <p:nvPr/>
        </p:nvSpPr>
        <p:spPr>
          <a:xfrm>
            <a:off x="2609180" y="4597077"/>
            <a:ext cx="2047876" cy="327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Resolved Threats: {{RT}}</a:t>
            </a:r>
            <a:b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Past 90 Days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6" name="Google Shape;706;p58"/>
          <p:cNvSpPr txBox="1"/>
          <p:nvPr/>
        </p:nvSpPr>
        <p:spPr>
          <a:xfrm>
            <a:off x="2587908" y="1206673"/>
            <a:ext cx="2067000" cy="331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Industry: {{SS_I}}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07" name="Google Shape;707;p58"/>
          <p:cNvPicPr preferRelativeResize="0"/>
          <p:nvPr/>
        </p:nvPicPr>
        <p:blipFill rotWithShape="1">
          <a:blip r:embed="rId13">
            <a:alphaModFix/>
          </a:blip>
          <a:srcRect/>
          <a:stretch/>
        </p:blipFill>
        <p:spPr>
          <a:xfrm>
            <a:off x="4848909" y="2345935"/>
            <a:ext cx="3994750" cy="1755250"/>
          </a:xfrm>
          <a:prstGeom prst="rect">
            <a:avLst/>
          </a:prstGeom>
          <a:noFill/>
          <a:ln w="6350">
            <a:solidFill>
              <a:schemeClr val="accent1"/>
            </a:solidFill>
          </a:ln>
        </p:spPr>
      </p:pic>
      <p:pic>
        <p:nvPicPr>
          <p:cNvPr id="708" name="Google Shape;708;p58"/>
          <p:cNvPicPr preferRelativeResize="0"/>
          <p:nvPr/>
        </p:nvPicPr>
        <p:blipFill rotWithShape="1">
          <a:blip r:embed="rId14">
            <a:alphaModFix/>
          </a:blip>
          <a:srcRect/>
          <a:stretch/>
        </p:blipFill>
        <p:spPr>
          <a:xfrm>
            <a:off x="5470184" y="3177785"/>
            <a:ext cx="687200" cy="382200"/>
          </a:xfrm>
          <a:prstGeom prst="rect">
            <a:avLst/>
          </a:prstGeom>
          <a:noFill/>
          <a:ln>
            <a:noFill/>
          </a:ln>
        </p:spPr>
      </p:pic>
      <p:sp>
        <p:nvSpPr>
          <p:cNvPr id="709" name="Google Shape;709;p58"/>
          <p:cNvSpPr txBox="1"/>
          <p:nvPr/>
        </p:nvSpPr>
        <p:spPr>
          <a:xfrm>
            <a:off x="5161247" y="298909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{{AVG_AGEC}}</a:t>
            </a:r>
            <a:r>
              <a:rPr lang="en" sz="12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br>
              <a:rPr lang="en" sz="12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101" b="1"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10" name="Google Shape;710;p58"/>
          <p:cNvPicPr preferRelativeResize="0"/>
          <p:nvPr/>
        </p:nvPicPr>
        <p:blipFill rotWithShape="1">
          <a:blip r:embed="rId14">
            <a:alphaModFix/>
          </a:blip>
          <a:srcRect/>
          <a:stretch/>
        </p:blipFill>
        <p:spPr>
          <a:xfrm>
            <a:off x="7458900" y="3219400"/>
            <a:ext cx="760050" cy="382200"/>
          </a:xfrm>
          <a:prstGeom prst="rect">
            <a:avLst/>
          </a:prstGeom>
          <a:noFill/>
          <a:ln>
            <a:noFill/>
          </a:ln>
        </p:spPr>
      </p:pic>
      <p:sp>
        <p:nvSpPr>
          <p:cNvPr id="711" name="Google Shape;711;p58"/>
          <p:cNvSpPr txBox="1"/>
          <p:nvPr/>
        </p:nvSpPr>
        <p:spPr>
          <a:xfrm>
            <a:off x="7188866" y="299008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{{AVG_AGEH}} </a:t>
            </a:r>
            <a:br>
              <a:rPr lang="en" sz="1212"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24"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101" b="1"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59"/>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Security Risk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718" name="Google Shape;718;p59"/>
          <p:cNvPicPr preferRelativeResize="0"/>
          <p:nvPr/>
        </p:nvPicPr>
        <p:blipFill rotWithShape="1">
          <a:blip r:embed="rId3">
            <a:alphaModFix/>
          </a:blip>
          <a:srcRect/>
          <a:stretch/>
        </p:blipFill>
        <p:spPr>
          <a:xfrm>
            <a:off x="107950" y="673900"/>
            <a:ext cx="7440046" cy="1064875"/>
          </a:xfrm>
          <a:prstGeom prst="rect">
            <a:avLst/>
          </a:prstGeom>
          <a:noFill/>
          <a:ln w="6350">
            <a:solidFill>
              <a:schemeClr val="accent1"/>
            </a:solidFill>
          </a:ln>
        </p:spPr>
      </p:pic>
      <p:sp>
        <p:nvSpPr>
          <p:cNvPr id="719" name="Google Shape;719;p59"/>
          <p:cNvSpPr txBox="1"/>
          <p:nvPr/>
        </p:nvSpPr>
        <p:spPr>
          <a:xfrm>
            <a:off x="259724" y="709330"/>
            <a:ext cx="1928400" cy="3615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External Exposure</a:t>
            </a:r>
            <a:endParaRPr sz="1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0" name="Google Shape;720;p59"/>
          <p:cNvSpPr txBox="1"/>
          <p:nvPr/>
        </p:nvSpPr>
        <p:spPr>
          <a:xfrm>
            <a:off x="269504" y="108174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HTTP Application Endpoints  {{AE_HTTP}}</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21" name="Google Shape;721;p59"/>
          <p:cNvSpPr txBox="1"/>
          <p:nvPr/>
        </p:nvSpPr>
        <p:spPr>
          <a:xfrm>
            <a:off x="273692" y="137479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Non-HTTP Application Endpoints  {{AE_NHTTP}}</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22" name="Google Shape;722;p59"/>
          <p:cNvSpPr txBox="1"/>
          <p:nvPr/>
        </p:nvSpPr>
        <p:spPr>
          <a:xfrm>
            <a:off x="3418767" y="1130944"/>
            <a:ext cx="1848000" cy="462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Estimated # of Additional Workloads to Scan via Advanced ASM</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3" name="Google Shape;723;p59"/>
          <p:cNvSpPr txBox="1"/>
          <p:nvPr/>
        </p:nvSpPr>
        <p:spPr>
          <a:xfrm>
            <a:off x="5162479" y="1199657"/>
            <a:ext cx="2395200" cy="4077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chemeClr val="dk1"/>
              </a:buClr>
              <a:buSzPts val="1100"/>
              <a:buFont typeface="Arial"/>
              <a:buNone/>
            </a:pP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{{AE_TOT}} Workloads</a:t>
            </a:r>
            <a:endParaRPr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724" name="Google Shape;724;p59" title="Group 1000004640.png"/>
          <p:cNvPicPr preferRelativeResize="0"/>
          <p:nvPr/>
        </p:nvPicPr>
        <p:blipFill rotWithShape="1">
          <a:blip r:embed="rId4">
            <a:alphaModFix/>
          </a:blip>
          <a:srcRect/>
          <a:stretch/>
        </p:blipFill>
        <p:spPr>
          <a:xfrm>
            <a:off x="7961878" y="1035264"/>
            <a:ext cx="958486" cy="956160"/>
          </a:xfrm>
          <a:prstGeom prst="rect">
            <a:avLst/>
          </a:prstGeom>
          <a:noFill/>
          <a:ln>
            <a:noFill/>
          </a:ln>
        </p:spPr>
      </p:pic>
      <p:pic>
        <p:nvPicPr>
          <p:cNvPr id="725" name="Google Shape;725;p59" title="Group 1000004641.png"/>
          <p:cNvPicPr preferRelativeResize="0"/>
          <p:nvPr/>
        </p:nvPicPr>
        <p:blipFill rotWithShape="1">
          <a:blip r:embed="rId5">
            <a:alphaModFix/>
          </a:blip>
          <a:srcRect/>
          <a:stretch/>
        </p:blipFill>
        <p:spPr>
          <a:xfrm>
            <a:off x="7968735" y="4118017"/>
            <a:ext cx="944778" cy="934274"/>
          </a:xfrm>
          <a:prstGeom prst="rect">
            <a:avLst/>
          </a:prstGeom>
          <a:noFill/>
          <a:ln>
            <a:noFill/>
          </a:ln>
        </p:spPr>
      </p:pic>
      <p:pic>
        <p:nvPicPr>
          <p:cNvPr id="726" name="Google Shape;726;p59" title="Group 1000004639.png"/>
          <p:cNvPicPr preferRelativeResize="0"/>
          <p:nvPr/>
        </p:nvPicPr>
        <p:blipFill rotWithShape="1">
          <a:blip r:embed="rId6">
            <a:alphaModFix/>
          </a:blip>
          <a:srcRect/>
          <a:stretch/>
        </p:blipFill>
        <p:spPr>
          <a:xfrm>
            <a:off x="7968735" y="2520408"/>
            <a:ext cx="924766" cy="946984"/>
          </a:xfrm>
          <a:prstGeom prst="rect">
            <a:avLst/>
          </a:prstGeom>
          <a:noFill/>
          <a:ln>
            <a:noFill/>
          </a:ln>
        </p:spPr>
      </p:pic>
      <p:sp>
        <p:nvSpPr>
          <p:cNvPr id="727" name="Google Shape;727;p59"/>
          <p:cNvSpPr/>
          <p:nvPr/>
        </p:nvSpPr>
        <p:spPr>
          <a:xfrm>
            <a:off x="7955120" y="3041698"/>
            <a:ext cx="963600" cy="93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74"/>
              <a:buFont typeface="DM Sans"/>
              <a:buNone/>
            </a:pPr>
            <a:r>
              <a:rPr lang="en" sz="7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Green Agent</a:t>
            </a:r>
            <a:endParaRPr sz="7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8" name="Google Shape;728;p59"/>
          <p:cNvSpPr/>
          <p:nvPr/>
        </p:nvSpPr>
        <p:spPr>
          <a:xfrm>
            <a:off x="7954004" y="3191175"/>
            <a:ext cx="944700" cy="1374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492"/>
              <a:buFont typeface="DM Sans"/>
              <a:buNone/>
            </a:pPr>
            <a: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{{F_GA}}</a:t>
            </a:r>
            <a:endParaRPr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9" name="Google Shape;729;p59"/>
          <p:cNvSpPr/>
          <p:nvPr/>
        </p:nvSpPr>
        <p:spPr>
          <a:xfrm>
            <a:off x="7906406" y="2038924"/>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Preventive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0" name="Google Shape;730;p59"/>
          <p:cNvSpPr/>
          <p:nvPr/>
        </p:nvSpPr>
        <p:spPr>
          <a:xfrm>
            <a:off x="7719100" y="2144544"/>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Build securely and </a:t>
            </a:r>
            <a:b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remediate at the source</a:t>
            </a:r>
            <a:endParaRPr sz="6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1" name="Google Shape;731;p59"/>
          <p:cNvSpPr/>
          <p:nvPr/>
        </p:nvSpPr>
        <p:spPr>
          <a:xfrm>
            <a:off x="7936234" y="3618692"/>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Reactive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2" name="Google Shape;732;p59"/>
          <p:cNvSpPr/>
          <p:nvPr/>
        </p:nvSpPr>
        <p:spPr>
          <a:xfrm>
            <a:off x="7718900" y="3785755"/>
            <a:ext cx="14250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Investigate and triage high-fidelity threats</a:t>
            </a:r>
            <a:endParaRPr sz="6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3" name="Google Shape;733;p59"/>
          <p:cNvSpPr/>
          <p:nvPr/>
        </p:nvSpPr>
        <p:spPr>
          <a:xfrm>
            <a:off x="7916398" y="550119"/>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Proactive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4" name="Google Shape;734;p59"/>
          <p:cNvSpPr/>
          <p:nvPr/>
        </p:nvSpPr>
        <p:spPr>
          <a:xfrm>
            <a:off x="7661455" y="656976"/>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Identify high-risk issues before they </a:t>
            </a:r>
            <a:b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can be exploited</a:t>
            </a:r>
            <a:endParaRPr sz="6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5" name="Google Shape;735;p59"/>
          <p:cNvSpPr/>
          <p:nvPr/>
        </p:nvSpPr>
        <p:spPr>
          <a:xfrm>
            <a:off x="7961878" y="4624264"/>
            <a:ext cx="966900" cy="945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Blue Agent</a:t>
            </a:r>
            <a:endParaRPr sz="626"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6" name="Google Shape;736;p59"/>
          <p:cNvSpPr/>
          <p:nvPr/>
        </p:nvSpPr>
        <p:spPr>
          <a:xfrm>
            <a:off x="7965161" y="4851627"/>
            <a:ext cx="948000" cy="1380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{{F_BA}}</a:t>
            </a:r>
            <a:b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7" name="Google Shape;737;p59"/>
          <p:cNvSpPr/>
          <p:nvPr/>
        </p:nvSpPr>
        <p:spPr>
          <a:xfrm>
            <a:off x="7964150" y="1548816"/>
            <a:ext cx="948000" cy="96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92"/>
              <a:buFont typeface="DM Sans"/>
              <a:buNone/>
            </a:pPr>
            <a:r>
              <a:rPr lang="en" sz="7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Red Agent</a:t>
            </a:r>
            <a:endParaRPr sz="7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8" name="Google Shape;738;p59"/>
          <p:cNvSpPr/>
          <p:nvPr/>
        </p:nvSpPr>
        <p:spPr>
          <a:xfrm>
            <a:off x="7968735" y="1766529"/>
            <a:ext cx="944700" cy="1419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508"/>
              <a:buFont typeface="DM Sans"/>
              <a:buNone/>
            </a:pPr>
            <a: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{{F_RA}}</a:t>
            </a:r>
            <a:b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39" name="Google Shape;739;p59"/>
          <p:cNvPicPr preferRelativeResize="0"/>
          <p:nvPr/>
        </p:nvPicPr>
        <p:blipFill rotWithShape="1">
          <a:blip r:embed="rId3">
            <a:alphaModFix/>
          </a:blip>
          <a:srcRect/>
          <a:stretch/>
        </p:blipFill>
        <p:spPr>
          <a:xfrm>
            <a:off x="107954" y="1893191"/>
            <a:ext cx="7613696" cy="1578100"/>
          </a:xfrm>
          <a:prstGeom prst="rect">
            <a:avLst/>
          </a:prstGeom>
          <a:noFill/>
          <a:ln w="6350">
            <a:solidFill>
              <a:schemeClr val="accent1"/>
            </a:solidFill>
          </a:ln>
        </p:spPr>
      </p:pic>
      <p:sp>
        <p:nvSpPr>
          <p:cNvPr id="740" name="Google Shape;740;p59"/>
          <p:cNvSpPr txBox="1"/>
          <p:nvPr/>
        </p:nvSpPr>
        <p:spPr>
          <a:xfrm>
            <a:off x="155254" y="2004575"/>
            <a:ext cx="4782900" cy="3615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Top 3 Wiz Critical Risk Issues by Count</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1" name="Google Shape;741;p59"/>
          <p:cNvSpPr txBox="1"/>
          <p:nvPr/>
        </p:nvSpPr>
        <p:spPr>
          <a:xfrm>
            <a:off x="112373" y="2363761"/>
            <a:ext cx="6979500" cy="1244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{{CI_CONTROL_1}}</a:t>
            </a:r>
            <a:endParaRPr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{{CI_CONTROL_2}}</a:t>
            </a:r>
            <a:br>
              <a:rPr lang="en" sz="800" b="0" i="0" u="sng" strike="noStrike" cap="none">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{{CI_CONTROL_3}}</a:t>
            </a:r>
            <a:br>
              <a:rPr lang="en" sz="800" b="0" i="0" u="sng" strike="noStrike" cap="none">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742" name="Google Shape;742;p59"/>
          <p:cNvPicPr preferRelativeResize="0"/>
          <p:nvPr/>
        </p:nvPicPr>
        <p:blipFill rotWithShape="1">
          <a:blip r:embed="rId3">
            <a:alphaModFix/>
          </a:blip>
          <a:srcRect/>
          <a:stretch/>
        </p:blipFill>
        <p:spPr>
          <a:xfrm>
            <a:off x="107950" y="3625724"/>
            <a:ext cx="7613696" cy="1474550"/>
          </a:xfrm>
          <a:prstGeom prst="rect">
            <a:avLst/>
          </a:prstGeom>
          <a:noFill/>
          <a:ln w="6350">
            <a:solidFill>
              <a:schemeClr val="accent1"/>
            </a:solidFill>
          </a:ln>
        </p:spPr>
      </p:pic>
      <p:sp>
        <p:nvSpPr>
          <p:cNvPr id="743" name="Google Shape;743;p59"/>
          <p:cNvSpPr txBox="1"/>
          <p:nvPr/>
        </p:nvSpPr>
        <p:spPr>
          <a:xfrm>
            <a:off x="192197" y="3700461"/>
            <a:ext cx="4735500" cy="3147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Top 3 Wiz High Risk Issues by Count</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a:t>
            </a:r>
            <a:endParaRPr sz="17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4" name="Google Shape;744;p59"/>
          <p:cNvSpPr txBox="1"/>
          <p:nvPr/>
        </p:nvSpPr>
        <p:spPr>
          <a:xfrm>
            <a:off x="6213626" y="3912215"/>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{{HI_CBC_1}}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{{HI_CBC_2}}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{{HI_CBC_3}}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5" name="Google Shape;745;p59"/>
          <p:cNvSpPr txBox="1"/>
          <p:nvPr/>
        </p:nvSpPr>
        <p:spPr>
          <a:xfrm>
            <a:off x="6198064" y="2230298"/>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{{CI_CBC_1}}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{{CI_CBC_2}}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{{CI_CBC_3}}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6" name="Google Shape;746;p59"/>
          <p:cNvSpPr txBox="1"/>
          <p:nvPr/>
        </p:nvSpPr>
        <p:spPr>
          <a:xfrm>
            <a:off x="112748" y="4015785"/>
            <a:ext cx="6979500" cy="1273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{{HI_CONTROL_1}}</a:t>
            </a:r>
            <a:endParaRPr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{{HI_CONTROL_2}}</a:t>
            </a:r>
            <a:br>
              <a:rPr lang="en" sz="800" b="0" i="0" u="sng" strike="noStrike" cap="none" dirty="0">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{{HI_CONTROL_3}}</a:t>
            </a:r>
            <a:br>
              <a:rPr lang="en" sz="800" b="0" i="0" u="sng" strike="noStrike" cap="none" dirty="0">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60"/>
          <p:cNvSpPr txBox="1"/>
          <p:nvPr/>
        </p:nvSpPr>
        <p:spPr>
          <a:xfrm>
            <a:off x="468449" y="2483713"/>
            <a:ext cx="3273600" cy="4848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Develop Securely</a:t>
            </a:r>
            <a:endParaRPr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53" name="Google Shape;753;p60"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754" name="Google Shape;754;p60"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755" name="Google Shape;755;p60"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61"/>
          <p:cNvSpPr txBox="1">
            <a:spLocks noGrp="1"/>
          </p:cNvSpPr>
          <p:nvPr>
            <p:ph type="title" idx="4294967295"/>
          </p:nvPr>
        </p:nvSpPr>
        <p:spPr>
          <a:xfrm>
            <a:off x="150" y="1221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Secure Development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762" name="Google Shape;762;p61"/>
          <p:cNvSpPr/>
          <p:nvPr/>
        </p:nvSpPr>
        <p:spPr>
          <a:xfrm>
            <a:off x="219075" y="2736094"/>
            <a:ext cx="32292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3" name="Google Shape;763;p61"/>
          <p:cNvSpPr/>
          <p:nvPr/>
        </p:nvSpPr>
        <p:spPr>
          <a:xfrm>
            <a:off x="6193748" y="909833"/>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4" name="Google Shape;764;p61"/>
          <p:cNvSpPr/>
          <p:nvPr/>
        </p:nvSpPr>
        <p:spPr>
          <a:xfrm>
            <a:off x="3199649" y="894648"/>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5" name="Google Shape;765;p61"/>
          <p:cNvSpPr/>
          <p:nvPr/>
        </p:nvSpPr>
        <p:spPr>
          <a:xfrm>
            <a:off x="205550" y="886120"/>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6" name="Google Shape;766;p61"/>
          <p:cNvSpPr txBox="1"/>
          <p:nvPr/>
        </p:nvSpPr>
        <p:spPr>
          <a:xfrm>
            <a:off x="205550" y="63573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Kubernetes Clusters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a:t>
            </a:r>
            <a:r>
              <a:rPr lang="en" sz="13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 </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67" name="Google Shape;767;p61"/>
          <p:cNvSpPr txBox="1"/>
          <p:nvPr/>
        </p:nvSpPr>
        <p:spPr>
          <a:xfrm>
            <a:off x="385090" y="909480"/>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68" name="Google Shape;768;p61"/>
          <p:cNvSpPr txBox="1"/>
          <p:nvPr/>
        </p:nvSpPr>
        <p:spPr>
          <a:xfrm>
            <a:off x="1633470" y="909480"/>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{{K8C_1}}</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9" name="Google Shape;769;p61"/>
          <p:cNvSpPr txBox="1"/>
          <p:nvPr/>
        </p:nvSpPr>
        <p:spPr>
          <a:xfrm>
            <a:off x="385090" y="1075974"/>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0" name="Google Shape;770;p61"/>
          <p:cNvSpPr txBox="1"/>
          <p:nvPr/>
        </p:nvSpPr>
        <p:spPr>
          <a:xfrm>
            <a:off x="1633470" y="107342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{{K8C_2}}</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1" name="Google Shape;771;p61"/>
          <p:cNvSpPr txBox="1"/>
          <p:nvPr/>
        </p:nvSpPr>
        <p:spPr>
          <a:xfrm>
            <a:off x="385090" y="1242467"/>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2" name="Google Shape;772;p61"/>
          <p:cNvSpPr txBox="1"/>
          <p:nvPr/>
        </p:nvSpPr>
        <p:spPr>
          <a:xfrm>
            <a:off x="1633470" y="1237378"/>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{{K8C_3}}</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3" name="Google Shape;773;p61"/>
          <p:cNvSpPr txBox="1"/>
          <p:nvPr/>
        </p:nvSpPr>
        <p:spPr>
          <a:xfrm>
            <a:off x="385090" y="1408961"/>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4" name="Google Shape;774;p61"/>
          <p:cNvSpPr txBox="1"/>
          <p:nvPr/>
        </p:nvSpPr>
        <p:spPr>
          <a:xfrm>
            <a:off x="1633470" y="140132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{{K8C_4}}</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5" name="Google Shape;775;p61"/>
          <p:cNvSpPr txBox="1"/>
          <p:nvPr/>
        </p:nvSpPr>
        <p:spPr>
          <a:xfrm>
            <a:off x="385090" y="1575455"/>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6" name="Google Shape;776;p61"/>
          <p:cNvSpPr txBox="1"/>
          <p:nvPr/>
        </p:nvSpPr>
        <p:spPr>
          <a:xfrm>
            <a:off x="1633470" y="1565275"/>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{{K8C_5}}</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7" name="Google Shape;777;p61"/>
          <p:cNvSpPr txBox="1"/>
          <p:nvPr/>
        </p:nvSpPr>
        <p:spPr>
          <a:xfrm>
            <a:off x="217670" y="1937845"/>
            <a:ext cx="2676900" cy="1581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{{K8C_TOT}}</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8" name="Google Shape;778;p61"/>
          <p:cNvSpPr txBox="1"/>
          <p:nvPr/>
        </p:nvSpPr>
        <p:spPr>
          <a:xfrm>
            <a:off x="3238087" y="1038052"/>
            <a:ext cx="1680900" cy="1530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Wiz Connector Deployed</a:t>
            </a:r>
            <a:endParaRPr sz="9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9" name="Google Shape;779;p61"/>
          <p:cNvSpPr txBox="1"/>
          <p:nvPr/>
        </p:nvSpPr>
        <p:spPr>
          <a:xfrm>
            <a:off x="4766331" y="1038062"/>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{{KC_WC}}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0" name="Google Shape;780;p61"/>
          <p:cNvSpPr txBox="1"/>
          <p:nvPr/>
        </p:nvSpPr>
        <p:spPr>
          <a:xfrm>
            <a:off x="3238089" y="1213479"/>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Admission Controller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1" name="Google Shape;781;p61"/>
          <p:cNvSpPr txBox="1"/>
          <p:nvPr/>
        </p:nvSpPr>
        <p:spPr>
          <a:xfrm>
            <a:off x="4764913" y="1211115"/>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{{KC_AC}}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782" name="Google Shape;782;p61"/>
          <p:cNvCxnSpPr/>
          <p:nvPr/>
        </p:nvCxnSpPr>
        <p:spPr>
          <a:xfrm>
            <a:off x="150000" y="2399129"/>
            <a:ext cx="8776500" cy="0"/>
          </a:xfrm>
          <a:prstGeom prst="straightConnector1">
            <a:avLst/>
          </a:prstGeom>
          <a:noFill/>
          <a:ln w="14300" cap="flat" cmpd="sng">
            <a:solidFill>
              <a:srgbClr val="0054EC"/>
            </a:solidFill>
            <a:prstDash val="solid"/>
            <a:round/>
            <a:headEnd type="none" w="sm" len="sm"/>
            <a:tailEnd type="none" w="sm" len="sm"/>
          </a:ln>
        </p:spPr>
      </p:cxnSp>
      <p:sp>
        <p:nvSpPr>
          <p:cNvPr id="783" name="Google Shape;783;p61"/>
          <p:cNvSpPr txBox="1"/>
          <p:nvPr/>
        </p:nvSpPr>
        <p:spPr>
          <a:xfrm>
            <a:off x="300000" y="2950479"/>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Cloud (Workload/K8s)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4" name="Google Shape;784;p61"/>
          <p:cNvSpPr txBox="1"/>
          <p:nvPr/>
        </p:nvSpPr>
        <p:spPr>
          <a:xfrm>
            <a:off x="1751486" y="2964986"/>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5" name="Google Shape;785;p61"/>
          <p:cNvSpPr txBox="1"/>
          <p:nvPr/>
        </p:nvSpPr>
        <p:spPr>
          <a:xfrm>
            <a:off x="300000" y="315293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Store (Registry Scans)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6" name="Google Shape;786;p61"/>
          <p:cNvSpPr txBox="1"/>
          <p:nvPr/>
        </p:nvSpPr>
        <p:spPr>
          <a:xfrm>
            <a:off x="1751486" y="316743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{{CL_STR}}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7" name="Google Shape;787;p61"/>
          <p:cNvSpPr txBox="1"/>
          <p:nvPr/>
        </p:nvSpPr>
        <p:spPr>
          <a:xfrm>
            <a:off x="300000" y="335538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Runtime (Sensor)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8" name="Google Shape;788;p61"/>
          <p:cNvSpPr txBox="1"/>
          <p:nvPr/>
        </p:nvSpPr>
        <p:spPr>
          <a:xfrm>
            <a:off x="1751486" y="336988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{{CL_RT}}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9" name="Google Shape;789;p61"/>
          <p:cNvSpPr txBox="1"/>
          <p:nvPr/>
        </p:nvSpPr>
        <p:spPr>
          <a:xfrm>
            <a:off x="300000" y="3557831"/>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Code (Wiz Code)</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0" name="Google Shape;790;p61"/>
          <p:cNvSpPr txBox="1"/>
          <p:nvPr/>
        </p:nvSpPr>
        <p:spPr>
          <a:xfrm>
            <a:off x="1751486" y="3572338"/>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{{CL_CODE}}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1" name="Google Shape;791;p61"/>
          <p:cNvSpPr txBox="1"/>
          <p:nvPr/>
        </p:nvSpPr>
        <p:spPr>
          <a:xfrm>
            <a:off x="300000" y="3760282"/>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Build (Wiz CLI + Tagged Images)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2" name="Google Shape;792;p61"/>
          <p:cNvSpPr txBox="1"/>
          <p:nvPr/>
        </p:nvSpPr>
        <p:spPr>
          <a:xfrm>
            <a:off x="1751486" y="377478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{{CL_BLD}}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3" name="Google Shape;793;p61"/>
          <p:cNvSpPr txBox="1"/>
          <p:nvPr/>
        </p:nvSpPr>
        <p:spPr>
          <a:xfrm>
            <a:off x="300000" y="3962733"/>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Deploy (Admission Controller)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4" name="Google Shape;794;p61"/>
          <p:cNvSpPr txBox="1"/>
          <p:nvPr/>
        </p:nvSpPr>
        <p:spPr>
          <a:xfrm>
            <a:off x="1751486" y="397723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{{CL_DEP}}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5" name="Google Shape;795;p61"/>
          <p:cNvSpPr txBox="1"/>
          <p:nvPr/>
        </p:nvSpPr>
        <p:spPr>
          <a:xfrm>
            <a:off x="223925" y="4650100"/>
            <a:ext cx="32019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Images {{TI}}</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6" name="Google Shape;796;p61"/>
          <p:cNvSpPr txBox="1"/>
          <p:nvPr/>
        </p:nvSpPr>
        <p:spPr>
          <a:xfrm>
            <a:off x="3199649" y="65377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Kubernetes Coverage</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7" name="Google Shape;797;p61"/>
          <p:cNvSpPr txBox="1"/>
          <p:nvPr/>
        </p:nvSpPr>
        <p:spPr>
          <a:xfrm>
            <a:off x="6193748" y="649827"/>
            <a:ext cx="2688900" cy="3009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Gaps &amp; Exposure</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8" name="Google Shape;798;p61"/>
          <p:cNvSpPr txBox="1"/>
          <p:nvPr/>
        </p:nvSpPr>
        <p:spPr>
          <a:xfrm>
            <a:off x="205545" y="2441805"/>
            <a:ext cx="32874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Container Images Lifecycle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a:t>
            </a:r>
            <a:r>
              <a:rPr lang="en" sz="11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 </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9" name="Google Shape;799;p61"/>
          <p:cNvSpPr/>
          <p:nvPr/>
        </p:nvSpPr>
        <p:spPr>
          <a:xfrm>
            <a:off x="6419250" y="2723725"/>
            <a:ext cx="25791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0" name="Google Shape;800;p61"/>
          <p:cNvSpPr txBox="1"/>
          <p:nvPr/>
        </p:nvSpPr>
        <p:spPr>
          <a:xfrm>
            <a:off x="6421350" y="4112573"/>
            <a:ext cx="25710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Registries  {{R_TOT}}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1" name="Google Shape;801;p61"/>
          <p:cNvSpPr txBox="1"/>
          <p:nvPr/>
        </p:nvSpPr>
        <p:spPr>
          <a:xfrm>
            <a:off x="6482720" y="3090648"/>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2" name="Google Shape;802;p61"/>
          <p:cNvSpPr txBox="1"/>
          <p:nvPr/>
        </p:nvSpPr>
        <p:spPr>
          <a:xfrm>
            <a:off x="6595982" y="3077858"/>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3" name="Google Shape;803;p61"/>
          <p:cNvSpPr txBox="1"/>
          <p:nvPr/>
        </p:nvSpPr>
        <p:spPr>
          <a:xfrm>
            <a:off x="6482720" y="3275456"/>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4" name="Google Shape;804;p61"/>
          <p:cNvSpPr txBox="1"/>
          <p:nvPr/>
        </p:nvSpPr>
        <p:spPr>
          <a:xfrm>
            <a:off x="6595982" y="3263116"/>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5" name="Google Shape;805;p61"/>
          <p:cNvSpPr txBox="1"/>
          <p:nvPr/>
        </p:nvSpPr>
        <p:spPr>
          <a:xfrm>
            <a:off x="6482720" y="3460264"/>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6" name="Google Shape;806;p61"/>
          <p:cNvSpPr txBox="1"/>
          <p:nvPr/>
        </p:nvSpPr>
        <p:spPr>
          <a:xfrm>
            <a:off x="6595982" y="3448374"/>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7" name="Google Shape;807;p61"/>
          <p:cNvSpPr txBox="1"/>
          <p:nvPr/>
        </p:nvSpPr>
        <p:spPr>
          <a:xfrm>
            <a:off x="6482720" y="3645072"/>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8" name="Google Shape;808;p61"/>
          <p:cNvSpPr txBox="1"/>
          <p:nvPr/>
        </p:nvSpPr>
        <p:spPr>
          <a:xfrm>
            <a:off x="6595982" y="3633632"/>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9" name="Google Shape;809;p61"/>
          <p:cNvSpPr txBox="1"/>
          <p:nvPr/>
        </p:nvSpPr>
        <p:spPr>
          <a:xfrm>
            <a:off x="6482720" y="3829881"/>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{{R_6}}</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0" name="Google Shape;810;p61"/>
          <p:cNvSpPr txBox="1"/>
          <p:nvPr/>
        </p:nvSpPr>
        <p:spPr>
          <a:xfrm>
            <a:off x="6595982" y="381889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{{RC_6}}</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1" name="Google Shape;811;p61"/>
          <p:cNvSpPr txBox="1"/>
          <p:nvPr/>
        </p:nvSpPr>
        <p:spPr>
          <a:xfrm>
            <a:off x="6427050" y="2431400"/>
            <a:ext cx="25635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Container Registries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2" name="Google Shape;812;p61"/>
          <p:cNvSpPr txBox="1"/>
          <p:nvPr/>
        </p:nvSpPr>
        <p:spPr>
          <a:xfrm>
            <a:off x="6480125" y="2905839"/>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3" name="Google Shape;813;p61"/>
          <p:cNvSpPr txBox="1"/>
          <p:nvPr/>
        </p:nvSpPr>
        <p:spPr>
          <a:xfrm>
            <a:off x="6597131" y="289260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4" name="Google Shape;814;p61"/>
          <p:cNvSpPr txBox="1"/>
          <p:nvPr/>
        </p:nvSpPr>
        <p:spPr>
          <a:xfrm>
            <a:off x="6419250" y="4423386"/>
            <a:ext cx="2579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Do you have visibility into </a:t>
            </a:r>
            <a:r>
              <a:rPr lang="en" sz="9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all </a:t>
            </a:r>
            <a:br>
              <a:rPr lang="en" sz="9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of your Registries?</a:t>
            </a:r>
            <a:b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jFrog, Sonatype Nexus, etc. </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5" name="Google Shape;815;p61"/>
          <p:cNvSpPr txBox="1"/>
          <p:nvPr/>
        </p:nvSpPr>
        <p:spPr>
          <a:xfrm>
            <a:off x="388145" y="1741949"/>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Other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6" name="Google Shape;816;p61"/>
          <p:cNvSpPr txBox="1"/>
          <p:nvPr/>
        </p:nvSpPr>
        <p:spPr>
          <a:xfrm>
            <a:off x="1631697" y="1729224"/>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{{K8C_OTH}}</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7" name="Google Shape;817;p61"/>
          <p:cNvSpPr txBox="1"/>
          <p:nvPr/>
        </p:nvSpPr>
        <p:spPr>
          <a:xfrm>
            <a:off x="3236233" y="1390756"/>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K8S Audit Logs Onboarded</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8" name="Google Shape;818;p61"/>
          <p:cNvSpPr txBox="1"/>
          <p:nvPr/>
        </p:nvSpPr>
        <p:spPr>
          <a:xfrm>
            <a:off x="3239438" y="1568033"/>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Sensor Active (Runtime)</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9" name="Google Shape;819;p61"/>
          <p:cNvSpPr txBox="1"/>
          <p:nvPr/>
        </p:nvSpPr>
        <p:spPr>
          <a:xfrm>
            <a:off x="4763494" y="1384168"/>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{{KC_SE}}</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0" name="Google Shape;820;p61"/>
          <p:cNvSpPr txBox="1"/>
          <p:nvPr/>
        </p:nvSpPr>
        <p:spPr>
          <a:xfrm>
            <a:off x="4762076" y="1557221"/>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{{KC_CLI}}</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1" name="Google Shape;821;p61"/>
          <p:cNvSpPr txBox="1"/>
          <p:nvPr/>
        </p:nvSpPr>
        <p:spPr>
          <a:xfrm>
            <a:off x="6233046" y="1113294"/>
            <a:ext cx="17205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0">
                  <a:extLst>
                    <a:ext uri="{A12FA001-AC4F-418D-AE19-62706E023703}">
                      <ahyp:hlinkClr xmlns:ahyp="http://schemas.microsoft.com/office/drawing/2018/hyperlinkcolor" val="tx"/>
                    </a:ext>
                  </a:extLst>
                </a:hlinkClick>
              </a:rPr>
              <a:t>Internet-Accessible</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2" name="Google Shape;822;p61"/>
          <p:cNvSpPr txBox="1"/>
          <p:nvPr/>
        </p:nvSpPr>
        <p:spPr>
          <a:xfrm>
            <a:off x="7853359" y="1113282"/>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{{KG_IA}}</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3" name="Google Shape;823;p61"/>
          <p:cNvSpPr txBox="1"/>
          <p:nvPr/>
        </p:nvSpPr>
        <p:spPr>
          <a:xfrm>
            <a:off x="6233048" y="1280583"/>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No Wiz Connector Deployed</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4" name="Google Shape;824;p61"/>
          <p:cNvSpPr txBox="1"/>
          <p:nvPr/>
        </p:nvSpPr>
        <p:spPr>
          <a:xfrm>
            <a:off x="7853359" y="128137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5" name="Google Shape;825;p61"/>
          <p:cNvSpPr txBox="1"/>
          <p:nvPr/>
        </p:nvSpPr>
        <p:spPr>
          <a:xfrm>
            <a:off x="6231149" y="1453558"/>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No K8S Audit Logs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6" name="Google Shape;826;p61"/>
          <p:cNvSpPr txBox="1"/>
          <p:nvPr/>
        </p:nvSpPr>
        <p:spPr>
          <a:xfrm>
            <a:off x="6234434" y="1622052"/>
            <a:ext cx="22974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3">
                  <a:extLst>
                    <a:ext uri="{A12FA001-AC4F-418D-AE19-62706E023703}">
                      <ahyp:hlinkClr xmlns:ahyp="http://schemas.microsoft.com/office/drawing/2018/hyperlinkcolor" val="tx"/>
                    </a:ext>
                  </a:extLst>
                </a:hlinkClick>
              </a:rPr>
              <a:t>No Runtime Sensor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7" name="Google Shape;827;p61"/>
          <p:cNvSpPr txBox="1"/>
          <p:nvPr/>
        </p:nvSpPr>
        <p:spPr>
          <a:xfrm>
            <a:off x="7851586" y="144947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{{KG_NA}}</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8" name="Google Shape;828;p61"/>
          <p:cNvSpPr txBox="1"/>
          <p:nvPr/>
        </p:nvSpPr>
        <p:spPr>
          <a:xfrm>
            <a:off x="7849813" y="1617573"/>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{{KG_NS}}</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9" name="Google Shape;829;p61"/>
          <p:cNvSpPr txBox="1"/>
          <p:nvPr/>
        </p:nvSpPr>
        <p:spPr>
          <a:xfrm>
            <a:off x="3205665" y="2023737"/>
            <a:ext cx="2676900" cy="204300"/>
          </a:xfrm>
          <a:prstGeom prst="rect">
            <a:avLst/>
          </a:prstGeom>
          <a:noFill/>
          <a:ln>
            <a:noFill/>
          </a:ln>
        </p:spPr>
        <p:txBody>
          <a:bodyPr spcFirstLastPara="1" wrap="square" lIns="91775" tIns="91775" rIns="91775" bIns="91775" anchor="ctr"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Do you have </a:t>
            </a:r>
            <a:r>
              <a:rPr lang="en" sz="11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full</a:t>
            </a: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 visibility?</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830" name="Google Shape;830;p61"/>
          <p:cNvPicPr preferRelativeResize="0"/>
          <p:nvPr/>
        </p:nvPicPr>
        <p:blipFill rotWithShape="1">
          <a:blip r:embed="rId14">
            <a:alphaModFix/>
          </a:blip>
          <a:srcRect/>
          <a:stretch/>
        </p:blipFill>
        <p:spPr>
          <a:xfrm>
            <a:off x="3550644" y="2777812"/>
            <a:ext cx="2785632" cy="527016"/>
          </a:xfrm>
          <a:prstGeom prst="rect">
            <a:avLst/>
          </a:prstGeom>
          <a:noFill/>
          <a:ln w="6350">
            <a:solidFill>
              <a:schemeClr val="accent1"/>
            </a:solidFill>
          </a:ln>
        </p:spPr>
      </p:pic>
      <p:sp>
        <p:nvSpPr>
          <p:cNvPr id="831" name="Google Shape;831;p61"/>
          <p:cNvSpPr/>
          <p:nvPr/>
        </p:nvSpPr>
        <p:spPr>
          <a:xfrm>
            <a:off x="3595375" y="3607213"/>
            <a:ext cx="2676900" cy="133860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rgbClr val="6B7280"/>
              </a:buClr>
              <a:buSzPts val="800"/>
              <a:buFont typeface="DM Sans"/>
              <a:buNone/>
            </a:pPr>
            <a:r>
              <a:rPr lang="en"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rPr>
              <a:t>Understanding where your images are scanned allows you to pinpoint and intercept vulnerabilities at the earliest possible moment. Identifying these specific scan sources is the key to an effective "shift left" strategy, ensuring you apply fixes where they have the most impact before they ever reach production.</a:t>
            </a: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90000"/>
              </a:lnSpc>
              <a:spcBef>
                <a:spcPts val="0"/>
              </a:spcBef>
              <a:spcAft>
                <a:spcPts val="0"/>
              </a:spcAft>
              <a:buClr>
                <a:srgbClr val="6B7280"/>
              </a:buClr>
              <a:buSzPts val="800"/>
              <a:buFont typeface="DM Sans"/>
              <a:buNone/>
            </a:pP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100000"/>
              </a:lnSpc>
              <a:spcBef>
                <a:spcPts val="0"/>
              </a:spcBef>
              <a:spcAft>
                <a:spcPts val="0"/>
              </a:spcAft>
              <a:buClr>
                <a:srgbClr val="1F2937"/>
              </a:buClr>
              <a:buSzPts val="800"/>
              <a:buFont typeface="JetBrains Mono"/>
              <a:buNone/>
            </a:pPr>
            <a:r>
              <a:rPr lang="en"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rPr>
              <a:t>Are you tagging your Images? Correlate the Docker image to the CI phase, gain further insights, and potentially improve your CI/CD pipeline conduct</a:t>
            </a: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32" name="Google Shape;832;p61"/>
          <p:cNvSpPr txBox="1"/>
          <p:nvPr/>
        </p:nvSpPr>
        <p:spPr>
          <a:xfrm>
            <a:off x="5383579" y="326151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3" name="Google Shape;833;p61"/>
          <p:cNvSpPr txBox="1"/>
          <p:nvPr/>
        </p:nvSpPr>
        <p:spPr>
          <a:xfrm>
            <a:off x="5855777" y="326711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{{CL_RT}}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4" name="Google Shape;834;p61"/>
          <p:cNvSpPr txBox="1"/>
          <p:nvPr/>
        </p:nvSpPr>
        <p:spPr>
          <a:xfrm>
            <a:off x="4911380" y="326898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{{CL_DEP}}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5" name="Google Shape;835;p61"/>
          <p:cNvSpPr txBox="1"/>
          <p:nvPr/>
        </p:nvSpPr>
        <p:spPr>
          <a:xfrm>
            <a:off x="3966984" y="325964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{{CL_BLD}}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6" name="Google Shape;836;p61"/>
          <p:cNvSpPr txBox="1"/>
          <p:nvPr/>
        </p:nvSpPr>
        <p:spPr>
          <a:xfrm>
            <a:off x="4439182" y="3263381"/>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{{CL_STR}}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7" name="Google Shape;837;p61"/>
          <p:cNvSpPr txBox="1"/>
          <p:nvPr/>
        </p:nvSpPr>
        <p:spPr>
          <a:xfrm>
            <a:off x="3494786" y="3265248"/>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{{CL_CODE}}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8" name="Google Shape;838;p61"/>
          <p:cNvSpPr txBox="1"/>
          <p:nvPr/>
        </p:nvSpPr>
        <p:spPr>
          <a:xfrm>
            <a:off x="7851954" y="3368391"/>
            <a:ext cx="11397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{{R_CON}}</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39" name="Google Shape;839;p61"/>
          <p:cNvSpPr txBox="1"/>
          <p:nvPr/>
        </p:nvSpPr>
        <p:spPr>
          <a:xfrm>
            <a:off x="7847951" y="3544289"/>
            <a:ext cx="11430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{{R_AUT}}</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0" name="Google Shape;840;p61"/>
          <p:cNvSpPr txBox="1"/>
          <p:nvPr/>
        </p:nvSpPr>
        <p:spPr>
          <a:xfrm>
            <a:off x="7743278" y="3375563"/>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5">
                  <a:extLst>
                    <a:ext uri="{A12FA001-AC4F-418D-AE19-62706E023703}">
                      <ahyp:hlinkClr xmlns:ahyp="http://schemas.microsoft.com/office/drawing/2018/hyperlinkcolor" val="tx"/>
                    </a:ext>
                  </a:extLst>
                </a:hlinkClick>
              </a:rPr>
              <a:t>Connector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1" name="Google Shape;841;p61"/>
          <p:cNvSpPr txBox="1"/>
          <p:nvPr/>
        </p:nvSpPr>
        <p:spPr>
          <a:xfrm>
            <a:off x="7743278" y="3544276"/>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6">
                  <a:extLst>
                    <a:ext uri="{A12FA001-AC4F-418D-AE19-62706E023703}">
                      <ahyp:hlinkClr xmlns:ahyp="http://schemas.microsoft.com/office/drawing/2018/hyperlinkcolor" val="tx"/>
                    </a:ext>
                  </a:extLst>
                </a:hlinkClick>
              </a:rPr>
              <a:t>Global</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2" name="Google Shape;842;p61"/>
          <p:cNvSpPr txBox="1"/>
          <p:nvPr/>
        </p:nvSpPr>
        <p:spPr>
          <a:xfrm>
            <a:off x="7743747" y="3712990"/>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7">
                  <a:extLst>
                    <a:ext uri="{A12FA001-AC4F-418D-AE19-62706E023703}">
                      <ahyp:hlinkClr xmlns:ahyp="http://schemas.microsoft.com/office/drawing/2018/hyperlinkcolor" val="tx"/>
                    </a:ext>
                  </a:extLst>
                </a:hlinkClick>
              </a:rPr>
              <a:t>Custom</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3" name="Google Shape;843;p61"/>
          <p:cNvSpPr txBox="1"/>
          <p:nvPr/>
        </p:nvSpPr>
        <p:spPr>
          <a:xfrm>
            <a:off x="7847336" y="3720187"/>
            <a:ext cx="1143000" cy="155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{{R_CUS}}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4" name="Google Shape;844;p61"/>
          <p:cNvSpPr txBox="1"/>
          <p:nvPr/>
        </p:nvSpPr>
        <p:spPr>
          <a:xfrm>
            <a:off x="7683303" y="2828294"/>
            <a:ext cx="1275600" cy="219300"/>
          </a:xfrm>
          <a:prstGeom prst="rect">
            <a:avLst/>
          </a:prstGeom>
          <a:noFill/>
          <a:ln>
            <a:noFill/>
          </a:ln>
        </p:spPr>
        <p:txBody>
          <a:bodyPr spcFirstLastPara="1" wrap="square" lIns="91225" tIns="91225" rIns="91225" bIns="91225" anchor="t"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Scanning Config Type</a:t>
            </a:r>
            <a:endParaRPr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cxnSp>
        <p:nvCxnSpPr>
          <p:cNvPr id="845" name="Google Shape;845;p61"/>
          <p:cNvCxnSpPr/>
          <p:nvPr/>
        </p:nvCxnSpPr>
        <p:spPr>
          <a:xfrm rot="10800000" flipH="1">
            <a:off x="7699350" y="2976423"/>
            <a:ext cx="15900" cy="1091400"/>
          </a:xfrm>
          <a:prstGeom prst="straightConnector1">
            <a:avLst/>
          </a:prstGeom>
          <a:noFill/>
          <a:ln w="9525" cap="flat" cmpd="sng">
            <a:solidFill>
              <a:srgbClr val="595959"/>
            </a:solidFill>
            <a:prstDash val="solid"/>
            <a:round/>
            <a:headEnd type="none" w="sm" len="sm"/>
            <a:tailEnd type="none" w="sm" len="sm"/>
          </a:ln>
        </p:spPr>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sp>
        <p:nvSpPr>
          <p:cNvPr id="851" name="Google Shape;851;p62"/>
          <p:cNvSpPr txBox="1"/>
          <p:nvPr/>
        </p:nvSpPr>
        <p:spPr>
          <a:xfrm>
            <a:off x="468449" y="2483713"/>
            <a:ext cx="3273600" cy="484718"/>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Best Practice Review</a:t>
            </a:r>
            <a:endParaRPr sz="27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852" name="Google Shape;852;p62"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853" name="Google Shape;853;p62"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854" name="Google Shape;854;p62"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859"/>
        <p:cNvGrpSpPr/>
        <p:nvPr/>
      </p:nvGrpSpPr>
      <p:grpSpPr>
        <a:xfrm>
          <a:off x="0" y="0"/>
          <a:ext cx="0" cy="0"/>
          <a:chOff x="0" y="0"/>
          <a:chExt cx="0" cy="0"/>
        </a:xfrm>
      </p:grpSpPr>
      <p:sp>
        <p:nvSpPr>
          <p:cNvPr id="860" name="Google Shape;860;p63"/>
          <p:cNvSpPr/>
          <p:nvPr/>
        </p:nvSpPr>
        <p:spPr>
          <a:xfrm>
            <a:off x="457190" y="141377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Scanning Non-OS Disks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1" name="Google Shape;861;p63"/>
          <p:cNvSpPr/>
          <p:nvPr/>
        </p:nvSpPr>
        <p:spPr>
          <a:xfrm>
            <a:off x="457190" y="164456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Virtual Machine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2" name="Google Shape;862;p63"/>
          <p:cNvSpPr/>
          <p:nvPr/>
        </p:nvSpPr>
        <p:spPr>
          <a:xfrm>
            <a:off x="457190" y="187536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Shared AWS CMKs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3" name="Google Shape;863;p63"/>
          <p:cNvSpPr/>
          <p:nvPr/>
        </p:nvSpPr>
        <p:spPr>
          <a:xfrm>
            <a:off x="457190" y="210615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Scanning via Temp Volumes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4" name="Google Shape;864;p63"/>
          <p:cNvSpPr/>
          <p:nvPr/>
        </p:nvSpPr>
        <p:spPr>
          <a:xfrm>
            <a:off x="457190" y="233695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LightSail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5" name="Google Shape;865;p63"/>
          <p:cNvSpPr/>
          <p:nvPr/>
        </p:nvSpPr>
        <p:spPr>
          <a:xfrm>
            <a:off x="457190" y="256774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Lambda Version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6" name="Google Shape;866;p63"/>
          <p:cNvSpPr/>
          <p:nvPr/>
        </p:nvSpPr>
        <p:spPr>
          <a:xfrm>
            <a:off x="457190" y="279853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Custom Scanner Tags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7" name="Google Shape;867;p63"/>
          <p:cNvSpPr/>
          <p:nvPr/>
        </p:nvSpPr>
        <p:spPr>
          <a:xfrm>
            <a:off x="457190" y="302933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Workload Scanning Exclusions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8" name="Google Shape;868;p63"/>
          <p:cNvSpPr/>
          <p:nvPr/>
        </p:nvSpPr>
        <p:spPr>
          <a:xfrm>
            <a:off x="457190" y="326012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Compute Instance Group Sampling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63"/>
          <p:cNvSpPr/>
          <p:nvPr/>
        </p:nvSpPr>
        <p:spPr>
          <a:xfrm>
            <a:off x="457190" y="349092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ADE Private Endpoints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0" name="Google Shape;870;p63"/>
          <p:cNvSpPr/>
          <p:nvPr/>
        </p:nvSpPr>
        <p:spPr>
          <a:xfrm>
            <a:off x="457190" y="372171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ADE Private Endpoints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1" name="Google Shape;871;p63"/>
          <p:cNvSpPr/>
          <p:nvPr/>
        </p:nvSpPr>
        <p:spPr>
          <a:xfrm>
            <a:off x="457190" y="395250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Near Real-Time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2" name="Google Shape;872;p63"/>
          <p:cNvSpPr/>
          <p:nvPr/>
        </p:nvSpPr>
        <p:spPr>
          <a:xfrm>
            <a:off x="458865" y="418330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Include NRT Workload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3" name="Google Shape;873;p63"/>
          <p:cNvSpPr/>
          <p:nvPr/>
        </p:nvSpPr>
        <p:spPr>
          <a:xfrm>
            <a:off x="454207" y="4414097"/>
            <a:ext cx="19785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86"/>
              <a:buFont typeface="DM Sans"/>
              <a:buNone/>
            </a:pPr>
            <a:r>
              <a:rPr lang="en" sz="783"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Agentless File Integrity Monitoring</a:t>
            </a:r>
            <a:endParaRPr sz="783"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4" name="Google Shape;874;p63"/>
          <p:cNvSpPr/>
          <p:nvPr/>
        </p:nvSpPr>
        <p:spPr>
          <a:xfrm>
            <a:off x="4880822" y="140157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Scanner Mode (Basic/Advanced)</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5" name="Google Shape;875;p63"/>
          <p:cNvSpPr/>
          <p:nvPr/>
        </p:nvSpPr>
        <p:spPr>
          <a:xfrm>
            <a:off x="4880822" y="160453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Custom Targets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6" name="Google Shape;876;p63"/>
          <p:cNvSpPr/>
          <p:nvPr/>
        </p:nvSpPr>
        <p:spPr>
          <a:xfrm>
            <a:off x="4880822" y="18074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Reconnaissance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7" name="Google Shape;877;p63"/>
          <p:cNvSpPr/>
          <p:nvPr/>
        </p:nvSpPr>
        <p:spPr>
          <a:xfrm>
            <a:off x="4880822" y="201045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Code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8" name="Google Shape;878;p63"/>
          <p:cNvSpPr/>
          <p:nvPr/>
        </p:nvSpPr>
        <p:spPr>
          <a:xfrm>
            <a:off x="4880822" y="221341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API Security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9" name="Google Shape;879;p63"/>
          <p:cNvSpPr/>
          <p:nvPr/>
        </p:nvSpPr>
        <p:spPr>
          <a:xfrm>
            <a:off x="4880822" y="241638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Runtime Sensor</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0" name="Google Shape;880;p63"/>
          <p:cNvSpPr/>
          <p:nvPr/>
        </p:nvSpPr>
        <p:spPr>
          <a:xfrm>
            <a:off x="4880822" y="2619341"/>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SaaS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1" name="Google Shape;881;p63"/>
          <p:cNvSpPr/>
          <p:nvPr/>
        </p:nvSpPr>
        <p:spPr>
          <a:xfrm>
            <a:off x="4880822" y="2822303"/>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Misconfiguration Detection</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2" name="Google Shape;882;p63"/>
          <p:cNvSpPr/>
          <p:nvPr/>
        </p:nvSpPr>
        <p:spPr>
          <a:xfrm>
            <a:off x="4881077" y="3025264"/>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Default Credentials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3" name="Google Shape;883;p63"/>
          <p:cNvSpPr/>
          <p:nvPr/>
        </p:nvSpPr>
        <p:spPr>
          <a:xfrm>
            <a:off x="4881333" y="322822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High-Profile Threat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4" name="Google Shape;884;p63"/>
          <p:cNvSpPr/>
          <p:nvPr/>
        </p:nvSpPr>
        <p:spPr>
          <a:xfrm>
            <a:off x="4875837" y="343118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DAST</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5" name="Google Shape;885;p63"/>
          <p:cNvSpPr/>
          <p:nvPr/>
        </p:nvSpPr>
        <p:spPr>
          <a:xfrm>
            <a:off x="4870341" y="363414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Vulnerability Exploitability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6" name="Google Shape;886;p63"/>
          <p:cNvSpPr/>
          <p:nvPr/>
        </p:nvSpPr>
        <p:spPr>
          <a:xfrm>
            <a:off x="4864845" y="383710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Early Access Rules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7" name="Google Shape;887;p63"/>
          <p:cNvSpPr/>
          <p:nvPr/>
        </p:nvSpPr>
        <p:spPr>
          <a:xfrm>
            <a:off x="4857389" y="404006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Vulnerability Assessment</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8" name="Google Shape;888;p63"/>
          <p:cNvSpPr/>
          <p:nvPr/>
        </p:nvSpPr>
        <p:spPr>
          <a:xfrm>
            <a:off x="4855344" y="424303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Sensitive Data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9" name="Google Shape;889;p63"/>
          <p:cNvSpPr/>
          <p:nvPr/>
        </p:nvSpPr>
        <p:spPr>
          <a:xfrm>
            <a:off x="7769390" y="1840063"/>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JetBrains Mono"/>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{{ASM_RECON_R}}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0" name="Google Shape;890;p63"/>
          <p:cNvSpPr/>
          <p:nvPr/>
        </p:nvSpPr>
        <p:spPr>
          <a:xfrm>
            <a:off x="7769390" y="2856085"/>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JetBrains Mono"/>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{{ASM_MISC_R}}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1" name="Google Shape;891;p63"/>
          <p:cNvSpPr txBox="1"/>
          <p:nvPr/>
        </p:nvSpPr>
        <p:spPr>
          <a:xfrm>
            <a:off x="7769386" y="143365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{{ASM_MODE_R}}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2" name="Google Shape;892;p63"/>
          <p:cNvSpPr txBox="1"/>
          <p:nvPr/>
        </p:nvSpPr>
        <p:spPr>
          <a:xfrm>
            <a:off x="7769386" y="163685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{{ASM_CUST_R}}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3" name="Google Shape;893;p63"/>
          <p:cNvSpPr txBox="1"/>
          <p:nvPr/>
        </p:nvSpPr>
        <p:spPr>
          <a:xfrm>
            <a:off x="7769381" y="204326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4" name="Google Shape;894;p63"/>
          <p:cNvSpPr txBox="1"/>
          <p:nvPr/>
        </p:nvSpPr>
        <p:spPr>
          <a:xfrm>
            <a:off x="7769386" y="224647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{{ASM_API_R}}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5" name="Google Shape;895;p63"/>
          <p:cNvSpPr txBox="1"/>
          <p:nvPr/>
        </p:nvSpPr>
        <p:spPr>
          <a:xfrm>
            <a:off x="7769381" y="244967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{{ASM_RS_R}}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6" name="Google Shape;896;p63"/>
          <p:cNvSpPr txBox="1"/>
          <p:nvPr/>
        </p:nvSpPr>
        <p:spPr>
          <a:xfrm>
            <a:off x="7769386" y="265288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{{ASM_SASS_R}}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7" name="Google Shape;897;p63"/>
          <p:cNvSpPr txBox="1"/>
          <p:nvPr/>
        </p:nvSpPr>
        <p:spPr>
          <a:xfrm>
            <a:off x="7775393" y="3059290"/>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{{ASM_CRED_R}}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8" name="Google Shape;898;p63"/>
          <p:cNvSpPr txBox="1"/>
          <p:nvPr/>
        </p:nvSpPr>
        <p:spPr>
          <a:xfrm>
            <a:off x="7781400" y="326249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{{ASM_HPT_R}}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9" name="Google Shape;899;p63"/>
          <p:cNvSpPr txBox="1"/>
          <p:nvPr/>
        </p:nvSpPr>
        <p:spPr>
          <a:xfrm>
            <a:off x="7775904" y="346569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{{ASM_DAST_R}}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0" name="Google Shape;900;p63"/>
          <p:cNvSpPr txBox="1"/>
          <p:nvPr/>
        </p:nvSpPr>
        <p:spPr>
          <a:xfrm>
            <a:off x="7770409" y="3668903"/>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{{ASM_VEXP_R}}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1" name="Google Shape;901;p63"/>
          <p:cNvSpPr txBox="1"/>
          <p:nvPr/>
        </p:nvSpPr>
        <p:spPr>
          <a:xfrm>
            <a:off x="7764913" y="3872107"/>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{{ASM_EAR_R}}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2" name="Google Shape;902;p63"/>
          <p:cNvSpPr txBox="1"/>
          <p:nvPr/>
        </p:nvSpPr>
        <p:spPr>
          <a:xfrm>
            <a:off x="7757456" y="407531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{{ASM_VULN_R}}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3" name="Google Shape;903;p63"/>
          <p:cNvSpPr txBox="1"/>
          <p:nvPr/>
        </p:nvSpPr>
        <p:spPr>
          <a:xfrm>
            <a:off x="7755412" y="427851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{{ASM_DATA_R}}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4" name="Google Shape;904;p63"/>
          <p:cNvSpPr/>
          <p:nvPr/>
        </p:nvSpPr>
        <p:spPr>
          <a:xfrm>
            <a:off x="6921549" y="140157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{{ASM_MODE}}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5" name="Google Shape;905;p63"/>
          <p:cNvSpPr/>
          <p:nvPr/>
        </p:nvSpPr>
        <p:spPr>
          <a:xfrm>
            <a:off x="6921549" y="16045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{{ASM_CUST}}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6" name="Google Shape;906;p63"/>
          <p:cNvSpPr/>
          <p:nvPr/>
        </p:nvSpPr>
        <p:spPr>
          <a:xfrm>
            <a:off x="6921549" y="18074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{{ASM_RECON}}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7" name="Google Shape;907;p63"/>
          <p:cNvSpPr/>
          <p:nvPr/>
        </p:nvSpPr>
        <p:spPr>
          <a:xfrm>
            <a:off x="6921549" y="20104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63"/>
          <p:cNvSpPr/>
          <p:nvPr/>
        </p:nvSpPr>
        <p:spPr>
          <a:xfrm>
            <a:off x="6921549" y="221335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{{ASM_API}}</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9" name="Google Shape;909;p63"/>
          <p:cNvSpPr/>
          <p:nvPr/>
        </p:nvSpPr>
        <p:spPr>
          <a:xfrm>
            <a:off x="6921549" y="2416303"/>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{{ASM_RS}}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0" name="Google Shape;910;p63"/>
          <p:cNvSpPr/>
          <p:nvPr/>
        </p:nvSpPr>
        <p:spPr>
          <a:xfrm>
            <a:off x="6921549" y="2619248"/>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{{ASM_SAAS}}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1" name="Google Shape;911;p63"/>
          <p:cNvSpPr/>
          <p:nvPr/>
        </p:nvSpPr>
        <p:spPr>
          <a:xfrm>
            <a:off x="6921549" y="2822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{{ASM_MISC}}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2" name="Google Shape;912;p63"/>
          <p:cNvSpPr/>
          <p:nvPr/>
        </p:nvSpPr>
        <p:spPr>
          <a:xfrm>
            <a:off x="6921216" y="3025139"/>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{{ASM_CRED}}</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3" name="Google Shape;913;p63"/>
          <p:cNvSpPr/>
          <p:nvPr/>
        </p:nvSpPr>
        <p:spPr>
          <a:xfrm>
            <a:off x="6927625" y="322808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{{ASM_HPT}}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4" name="Google Shape;914;p63"/>
          <p:cNvSpPr/>
          <p:nvPr/>
        </p:nvSpPr>
        <p:spPr>
          <a:xfrm>
            <a:off x="6922129" y="3431030"/>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{{ASM_DAST}}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5" name="Google Shape;915;p63"/>
          <p:cNvSpPr/>
          <p:nvPr/>
        </p:nvSpPr>
        <p:spPr>
          <a:xfrm>
            <a:off x="6916633" y="363397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{{ASM_VEXP}}</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6" name="Google Shape;916;p63"/>
          <p:cNvSpPr/>
          <p:nvPr/>
        </p:nvSpPr>
        <p:spPr>
          <a:xfrm>
            <a:off x="6911137" y="38369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{{ASM_EAR}}</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7" name="Google Shape;917;p63"/>
          <p:cNvSpPr/>
          <p:nvPr/>
        </p:nvSpPr>
        <p:spPr>
          <a:xfrm>
            <a:off x="6903681" y="403986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{{ASM_VULN}}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8" name="Google Shape;918;p63"/>
          <p:cNvSpPr/>
          <p:nvPr/>
        </p:nvSpPr>
        <p:spPr>
          <a:xfrm>
            <a:off x="6901636" y="42428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{{ASM_DATA}}</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9" name="Google Shape;919;p63"/>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0" name="Google Shape;920;p63"/>
          <p:cNvSpPr/>
          <p:nvPr/>
        </p:nvSpPr>
        <p:spPr>
          <a:xfrm>
            <a:off x="457200" y="164592"/>
            <a:ext cx="64008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Scanner Configuration — Workload &amp; Attack Surface</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21" name="Google Shape;921;p63"/>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Current workload scanner and attack surface management configuration settings.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22" name="Google Shape;922;p63"/>
          <p:cNvSpPr/>
          <p:nvPr/>
        </p:nvSpPr>
        <p:spPr>
          <a:xfrm>
            <a:off x="365760" y="868680"/>
            <a:ext cx="3977700" cy="2742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3" name="Google Shape;923;p63"/>
          <p:cNvSpPr/>
          <p:nvPr/>
        </p:nvSpPr>
        <p:spPr>
          <a:xfrm>
            <a:off x="365760" y="868680"/>
            <a:ext cx="36600" cy="2742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4" name="Google Shape;924;p63"/>
          <p:cNvSpPr/>
          <p:nvPr/>
        </p:nvSpPr>
        <p:spPr>
          <a:xfrm>
            <a:off x="50292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5"/>
              </a:rPr>
              <a:t>WORKLOAD SCANNER</a:t>
            </a:r>
            <a:r>
              <a:rPr lang="en"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rPr>
              <a:t>↗</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5" name="Google Shape;925;p63"/>
          <p:cNvSpPr/>
          <p:nvPr/>
        </p:nvSpPr>
        <p:spPr>
          <a:xfrm>
            <a:off x="365760" y="1212609"/>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6" name="Google Shape;926;p63"/>
          <p:cNvSpPr/>
          <p:nvPr/>
        </p:nvSpPr>
        <p:spPr>
          <a:xfrm>
            <a:off x="457200" y="1212609"/>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7" name="Google Shape;927;p63"/>
          <p:cNvSpPr/>
          <p:nvPr/>
        </p:nvSpPr>
        <p:spPr>
          <a:xfrm>
            <a:off x="2514439" y="1212602"/>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8" name="Google Shape;928;p63"/>
          <p:cNvSpPr/>
          <p:nvPr/>
        </p:nvSpPr>
        <p:spPr>
          <a:xfrm>
            <a:off x="3398583" y="1212602"/>
            <a:ext cx="9909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29" name="Google Shape;929;p63"/>
          <p:cNvCxnSpPr/>
          <p:nvPr/>
        </p:nvCxnSpPr>
        <p:spPr>
          <a:xfrm>
            <a:off x="365750" y="1644243"/>
            <a:ext cx="3977700" cy="0"/>
          </a:xfrm>
          <a:prstGeom prst="straightConnector1">
            <a:avLst/>
          </a:prstGeom>
          <a:noFill/>
          <a:ln w="9525" cap="flat" cmpd="sng">
            <a:solidFill>
              <a:srgbClr val="888888"/>
            </a:solidFill>
            <a:prstDash val="solid"/>
            <a:round/>
            <a:headEnd type="none" w="sm" len="sm"/>
            <a:tailEnd type="none" w="sm" len="sm"/>
          </a:ln>
        </p:spPr>
      </p:cxnSp>
      <p:sp>
        <p:nvSpPr>
          <p:cNvPr id="930" name="Google Shape;930;p63"/>
          <p:cNvSpPr/>
          <p:nvPr/>
        </p:nvSpPr>
        <p:spPr>
          <a:xfrm>
            <a:off x="2514443" y="141377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{{WS_NONOS}}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1" name="Google Shape;931;p63"/>
          <p:cNvSpPr/>
          <p:nvPr/>
        </p:nvSpPr>
        <p:spPr>
          <a:xfrm>
            <a:off x="3412672" y="145352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{{WS_NONOS_R}}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32" name="Google Shape;932;p63"/>
          <p:cNvCxnSpPr/>
          <p:nvPr/>
        </p:nvCxnSpPr>
        <p:spPr>
          <a:xfrm>
            <a:off x="365750" y="1874226"/>
            <a:ext cx="3977700" cy="0"/>
          </a:xfrm>
          <a:prstGeom prst="straightConnector1">
            <a:avLst/>
          </a:prstGeom>
          <a:noFill/>
          <a:ln w="9525" cap="flat" cmpd="sng">
            <a:solidFill>
              <a:srgbClr val="888888"/>
            </a:solidFill>
            <a:prstDash val="solid"/>
            <a:round/>
            <a:headEnd type="none" w="sm" len="sm"/>
            <a:tailEnd type="none" w="sm" len="sm"/>
          </a:ln>
        </p:spPr>
      </p:cxnSp>
      <p:sp>
        <p:nvSpPr>
          <p:cNvPr id="933" name="Google Shape;933;p63"/>
          <p:cNvSpPr/>
          <p:nvPr/>
        </p:nvSpPr>
        <p:spPr>
          <a:xfrm>
            <a:off x="2514443" y="164456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{{WS_VM}}</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4" name="Google Shape;934;p63"/>
          <p:cNvSpPr/>
          <p:nvPr/>
        </p:nvSpPr>
        <p:spPr>
          <a:xfrm>
            <a:off x="3412669" y="168343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{{WS_VM_R}}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35" name="Google Shape;935;p63"/>
          <p:cNvSpPr/>
          <p:nvPr/>
        </p:nvSpPr>
        <p:spPr>
          <a:xfrm>
            <a:off x="2514443" y="187536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{{WS_CMK}}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6" name="Google Shape;936;p63"/>
          <p:cNvCxnSpPr/>
          <p:nvPr/>
        </p:nvCxnSpPr>
        <p:spPr>
          <a:xfrm>
            <a:off x="365750" y="2104209"/>
            <a:ext cx="3977700" cy="0"/>
          </a:xfrm>
          <a:prstGeom prst="straightConnector1">
            <a:avLst/>
          </a:prstGeom>
          <a:noFill/>
          <a:ln w="9525" cap="flat" cmpd="sng">
            <a:solidFill>
              <a:srgbClr val="888888"/>
            </a:solidFill>
            <a:prstDash val="solid"/>
            <a:round/>
            <a:headEnd type="none" w="sm" len="sm"/>
            <a:tailEnd type="none" w="sm" len="sm"/>
          </a:ln>
        </p:spPr>
      </p:cxnSp>
      <p:cxnSp>
        <p:nvCxnSpPr>
          <p:cNvPr id="937" name="Google Shape;937;p63"/>
          <p:cNvCxnSpPr/>
          <p:nvPr/>
        </p:nvCxnSpPr>
        <p:spPr>
          <a:xfrm>
            <a:off x="365750" y="2334193"/>
            <a:ext cx="3977700" cy="0"/>
          </a:xfrm>
          <a:prstGeom prst="straightConnector1">
            <a:avLst/>
          </a:prstGeom>
          <a:noFill/>
          <a:ln w="9525" cap="flat" cmpd="sng">
            <a:solidFill>
              <a:srgbClr val="888888"/>
            </a:solidFill>
            <a:prstDash val="solid"/>
            <a:round/>
            <a:headEnd type="none" w="sm" len="sm"/>
            <a:tailEnd type="none" w="sm" len="sm"/>
          </a:ln>
        </p:spPr>
      </p:cxnSp>
      <p:sp>
        <p:nvSpPr>
          <p:cNvPr id="938" name="Google Shape;938;p63"/>
          <p:cNvSpPr/>
          <p:nvPr/>
        </p:nvSpPr>
        <p:spPr>
          <a:xfrm>
            <a:off x="2514443" y="210615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{{WS_TVOL}}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9" name="Google Shape;939;p63"/>
          <p:cNvCxnSpPr/>
          <p:nvPr/>
        </p:nvCxnSpPr>
        <p:spPr>
          <a:xfrm>
            <a:off x="365750" y="2564176"/>
            <a:ext cx="3977700" cy="0"/>
          </a:xfrm>
          <a:prstGeom prst="straightConnector1">
            <a:avLst/>
          </a:prstGeom>
          <a:noFill/>
          <a:ln w="9525" cap="flat" cmpd="sng">
            <a:solidFill>
              <a:srgbClr val="888888"/>
            </a:solidFill>
            <a:prstDash val="solid"/>
            <a:round/>
            <a:headEnd type="none" w="sm" len="sm"/>
            <a:tailEnd type="none" w="sm" len="sm"/>
          </a:ln>
        </p:spPr>
      </p:cxnSp>
      <p:sp>
        <p:nvSpPr>
          <p:cNvPr id="940" name="Google Shape;940;p63"/>
          <p:cNvSpPr/>
          <p:nvPr/>
        </p:nvSpPr>
        <p:spPr>
          <a:xfrm>
            <a:off x="2514443" y="233695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{{WS_LSAIL}}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1" name="Google Shape;941;p63"/>
          <p:cNvCxnSpPr/>
          <p:nvPr/>
        </p:nvCxnSpPr>
        <p:spPr>
          <a:xfrm>
            <a:off x="365750" y="2794159"/>
            <a:ext cx="3977700" cy="0"/>
          </a:xfrm>
          <a:prstGeom prst="straightConnector1">
            <a:avLst/>
          </a:prstGeom>
          <a:noFill/>
          <a:ln w="9525" cap="flat" cmpd="sng">
            <a:solidFill>
              <a:srgbClr val="888888"/>
            </a:solidFill>
            <a:prstDash val="solid"/>
            <a:round/>
            <a:headEnd type="none" w="sm" len="sm"/>
            <a:tailEnd type="none" w="sm" len="sm"/>
          </a:ln>
        </p:spPr>
      </p:cxnSp>
      <p:sp>
        <p:nvSpPr>
          <p:cNvPr id="942" name="Google Shape;942;p63"/>
          <p:cNvSpPr/>
          <p:nvPr/>
        </p:nvSpPr>
        <p:spPr>
          <a:xfrm>
            <a:off x="2514443" y="256774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{{WS_LAMB}}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3" name="Google Shape;943;p63"/>
          <p:cNvCxnSpPr/>
          <p:nvPr/>
        </p:nvCxnSpPr>
        <p:spPr>
          <a:xfrm>
            <a:off x="365750" y="3024142"/>
            <a:ext cx="3977700" cy="0"/>
          </a:xfrm>
          <a:prstGeom prst="straightConnector1">
            <a:avLst/>
          </a:prstGeom>
          <a:noFill/>
          <a:ln w="9525" cap="flat" cmpd="sng">
            <a:solidFill>
              <a:srgbClr val="888888"/>
            </a:solidFill>
            <a:prstDash val="solid"/>
            <a:round/>
            <a:headEnd type="none" w="sm" len="sm"/>
            <a:tailEnd type="none" w="sm" len="sm"/>
          </a:ln>
        </p:spPr>
      </p:cxnSp>
      <p:sp>
        <p:nvSpPr>
          <p:cNvPr id="944" name="Google Shape;944;p63"/>
          <p:cNvSpPr/>
          <p:nvPr/>
        </p:nvSpPr>
        <p:spPr>
          <a:xfrm>
            <a:off x="2514443" y="279853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{{WS_TAGS}}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5" name="Google Shape;945;p63"/>
          <p:cNvCxnSpPr/>
          <p:nvPr/>
        </p:nvCxnSpPr>
        <p:spPr>
          <a:xfrm>
            <a:off x="365750" y="3254126"/>
            <a:ext cx="3977700" cy="0"/>
          </a:xfrm>
          <a:prstGeom prst="straightConnector1">
            <a:avLst/>
          </a:prstGeom>
          <a:noFill/>
          <a:ln w="9525" cap="flat" cmpd="sng">
            <a:solidFill>
              <a:srgbClr val="888888"/>
            </a:solidFill>
            <a:prstDash val="solid"/>
            <a:round/>
            <a:headEnd type="none" w="sm" len="sm"/>
            <a:tailEnd type="none" w="sm" len="sm"/>
          </a:ln>
        </p:spPr>
      </p:cxnSp>
      <p:sp>
        <p:nvSpPr>
          <p:cNvPr id="946" name="Google Shape;946;p63"/>
          <p:cNvSpPr/>
          <p:nvPr/>
        </p:nvSpPr>
        <p:spPr>
          <a:xfrm>
            <a:off x="2514443" y="302933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47" name="Google Shape;947;p63"/>
          <p:cNvSpPr/>
          <p:nvPr/>
        </p:nvSpPr>
        <p:spPr>
          <a:xfrm>
            <a:off x="3412669" y="305238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48" name="Google Shape;948;p63"/>
          <p:cNvCxnSpPr/>
          <p:nvPr/>
        </p:nvCxnSpPr>
        <p:spPr>
          <a:xfrm>
            <a:off x="365750" y="3484109"/>
            <a:ext cx="3977700" cy="0"/>
          </a:xfrm>
          <a:prstGeom prst="straightConnector1">
            <a:avLst/>
          </a:prstGeom>
          <a:noFill/>
          <a:ln w="9525" cap="flat" cmpd="sng">
            <a:solidFill>
              <a:srgbClr val="888888"/>
            </a:solidFill>
            <a:prstDash val="solid"/>
            <a:round/>
            <a:headEnd type="none" w="sm" len="sm"/>
            <a:tailEnd type="none" w="sm" len="sm"/>
          </a:ln>
        </p:spPr>
      </p:cxnSp>
      <p:sp>
        <p:nvSpPr>
          <p:cNvPr id="949" name="Google Shape;949;p63"/>
          <p:cNvSpPr/>
          <p:nvPr/>
        </p:nvSpPr>
        <p:spPr>
          <a:xfrm>
            <a:off x="2514443" y="326012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{{WS_CIGS}}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0" name="Google Shape;950;p63"/>
          <p:cNvSpPr/>
          <p:nvPr/>
        </p:nvSpPr>
        <p:spPr>
          <a:xfrm>
            <a:off x="3412669" y="328229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{{WS_CIGS_R}}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51" name="Google Shape;951;p63"/>
          <p:cNvCxnSpPr/>
          <p:nvPr/>
        </p:nvCxnSpPr>
        <p:spPr>
          <a:xfrm>
            <a:off x="365750" y="3714092"/>
            <a:ext cx="3977700" cy="0"/>
          </a:xfrm>
          <a:prstGeom prst="straightConnector1">
            <a:avLst/>
          </a:prstGeom>
          <a:noFill/>
          <a:ln w="9525" cap="flat" cmpd="sng">
            <a:solidFill>
              <a:srgbClr val="888888"/>
            </a:solidFill>
            <a:prstDash val="solid"/>
            <a:round/>
            <a:headEnd type="none" w="sm" len="sm"/>
            <a:tailEnd type="none" w="sm" len="sm"/>
          </a:ln>
        </p:spPr>
      </p:cxnSp>
      <p:sp>
        <p:nvSpPr>
          <p:cNvPr id="952" name="Google Shape;952;p63"/>
          <p:cNvSpPr/>
          <p:nvPr/>
        </p:nvSpPr>
        <p:spPr>
          <a:xfrm>
            <a:off x="2514443" y="349092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{{WS_ADE1}}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3" name="Google Shape;953;p63"/>
          <p:cNvCxnSpPr/>
          <p:nvPr/>
        </p:nvCxnSpPr>
        <p:spPr>
          <a:xfrm>
            <a:off x="365750" y="3944076"/>
            <a:ext cx="3977700" cy="0"/>
          </a:xfrm>
          <a:prstGeom prst="straightConnector1">
            <a:avLst/>
          </a:prstGeom>
          <a:noFill/>
          <a:ln w="9525" cap="flat" cmpd="sng">
            <a:solidFill>
              <a:srgbClr val="888888"/>
            </a:solidFill>
            <a:prstDash val="solid"/>
            <a:round/>
            <a:headEnd type="none" w="sm" len="sm"/>
            <a:tailEnd type="none" w="sm" len="sm"/>
          </a:ln>
        </p:spPr>
      </p:cxnSp>
      <p:sp>
        <p:nvSpPr>
          <p:cNvPr id="954" name="Google Shape;954;p63"/>
          <p:cNvSpPr/>
          <p:nvPr/>
        </p:nvSpPr>
        <p:spPr>
          <a:xfrm>
            <a:off x="2514443" y="372171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{{WS_ADE2}}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5" name="Google Shape;955;p63"/>
          <p:cNvCxnSpPr/>
          <p:nvPr/>
        </p:nvCxnSpPr>
        <p:spPr>
          <a:xfrm>
            <a:off x="365750" y="4174059"/>
            <a:ext cx="3977700" cy="0"/>
          </a:xfrm>
          <a:prstGeom prst="straightConnector1">
            <a:avLst/>
          </a:prstGeom>
          <a:noFill/>
          <a:ln w="9525" cap="flat" cmpd="sng">
            <a:solidFill>
              <a:srgbClr val="888888"/>
            </a:solidFill>
            <a:prstDash val="solid"/>
            <a:round/>
            <a:headEnd type="none" w="sm" len="sm"/>
            <a:tailEnd type="none" w="sm" len="sm"/>
          </a:ln>
        </p:spPr>
      </p:cxnSp>
      <p:sp>
        <p:nvSpPr>
          <p:cNvPr id="956" name="Google Shape;956;p63"/>
          <p:cNvSpPr/>
          <p:nvPr/>
        </p:nvSpPr>
        <p:spPr>
          <a:xfrm>
            <a:off x="2514443" y="395250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{{WS_NRT}}</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7" name="Google Shape;957;p63"/>
          <p:cNvSpPr/>
          <p:nvPr/>
        </p:nvSpPr>
        <p:spPr>
          <a:xfrm>
            <a:off x="4800600" y="868680"/>
            <a:ext cx="3977700" cy="274200"/>
          </a:xfrm>
          <a:prstGeom prst="rect">
            <a:avLst/>
          </a:prstGeom>
          <a:solidFill>
            <a:srgbClr val="DCC0C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58" name="Google Shape;958;p63"/>
          <p:cNvSpPr/>
          <p:nvPr/>
        </p:nvSpPr>
        <p:spPr>
          <a:xfrm>
            <a:off x="4800600" y="868680"/>
            <a:ext cx="36600" cy="274200"/>
          </a:xfrm>
          <a:prstGeom prst="rect">
            <a:avLst/>
          </a:prstGeom>
          <a:solidFill>
            <a:srgbClr val="DC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59" name="Google Shape;959;p63"/>
          <p:cNvSpPr/>
          <p:nvPr/>
        </p:nvSpPr>
        <p:spPr>
          <a:xfrm>
            <a:off x="493776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C262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7"/>
              </a:rPr>
              <a:t>ATTACK SURFACE MANAGEMENT</a:t>
            </a:r>
            <a:r>
              <a:rPr lang="en"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rPr>
              <a:t>↗</a:t>
            </a:r>
            <a:endParaRPr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0" name="Google Shape;960;p63"/>
          <p:cNvSpPr/>
          <p:nvPr/>
        </p:nvSpPr>
        <p:spPr>
          <a:xfrm>
            <a:off x="4788323" y="1204132"/>
            <a:ext cx="3947400" cy="197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61" name="Google Shape;961;p63"/>
          <p:cNvSpPr/>
          <p:nvPr/>
        </p:nvSpPr>
        <p:spPr>
          <a:xfrm>
            <a:off x="4879063" y="1204132"/>
            <a:ext cx="19734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2" name="Google Shape;962;p63"/>
          <p:cNvSpPr/>
          <p:nvPr/>
        </p:nvSpPr>
        <p:spPr>
          <a:xfrm>
            <a:off x="6929140" y="1204132"/>
            <a:ext cx="8682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3" name="Google Shape;963;p63"/>
          <p:cNvSpPr/>
          <p:nvPr/>
        </p:nvSpPr>
        <p:spPr>
          <a:xfrm>
            <a:off x="7777620" y="1204132"/>
            <a:ext cx="10263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64" name="Google Shape;964;p63"/>
          <p:cNvCxnSpPr/>
          <p:nvPr/>
        </p:nvCxnSpPr>
        <p:spPr>
          <a:xfrm>
            <a:off x="4788600" y="1598105"/>
            <a:ext cx="4012500" cy="0"/>
          </a:xfrm>
          <a:prstGeom prst="straightConnector1">
            <a:avLst/>
          </a:prstGeom>
          <a:noFill/>
          <a:ln w="9525" cap="flat" cmpd="sng">
            <a:solidFill>
              <a:srgbClr val="888888"/>
            </a:solidFill>
            <a:prstDash val="solid"/>
            <a:round/>
            <a:headEnd type="none" w="sm" len="sm"/>
            <a:tailEnd type="none" w="sm" len="sm"/>
          </a:ln>
        </p:spPr>
      </p:cxnSp>
      <p:cxnSp>
        <p:nvCxnSpPr>
          <p:cNvPr id="965" name="Google Shape;965;p63"/>
          <p:cNvCxnSpPr/>
          <p:nvPr/>
        </p:nvCxnSpPr>
        <p:spPr>
          <a:xfrm>
            <a:off x="4788600" y="180094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6" name="Google Shape;966;p63"/>
          <p:cNvCxnSpPr/>
          <p:nvPr/>
        </p:nvCxnSpPr>
        <p:spPr>
          <a:xfrm>
            <a:off x="4788600" y="200378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7" name="Google Shape;967;p63"/>
          <p:cNvCxnSpPr/>
          <p:nvPr/>
        </p:nvCxnSpPr>
        <p:spPr>
          <a:xfrm>
            <a:off x="4788600" y="220662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8" name="Google Shape;968;p63"/>
          <p:cNvCxnSpPr/>
          <p:nvPr/>
        </p:nvCxnSpPr>
        <p:spPr>
          <a:xfrm>
            <a:off x="4788600" y="240946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9" name="Google Shape;969;p63"/>
          <p:cNvCxnSpPr/>
          <p:nvPr/>
        </p:nvCxnSpPr>
        <p:spPr>
          <a:xfrm>
            <a:off x="4788600" y="2612303"/>
            <a:ext cx="4012500" cy="0"/>
          </a:xfrm>
          <a:prstGeom prst="straightConnector1">
            <a:avLst/>
          </a:prstGeom>
          <a:noFill/>
          <a:ln w="9525" cap="flat" cmpd="sng">
            <a:solidFill>
              <a:srgbClr val="888888"/>
            </a:solidFill>
            <a:prstDash val="solid"/>
            <a:round/>
            <a:headEnd type="none" w="sm" len="sm"/>
            <a:tailEnd type="none" w="sm" len="sm"/>
          </a:ln>
        </p:spPr>
      </p:cxnSp>
      <p:cxnSp>
        <p:nvCxnSpPr>
          <p:cNvPr id="970" name="Google Shape;970;p63"/>
          <p:cNvCxnSpPr/>
          <p:nvPr/>
        </p:nvCxnSpPr>
        <p:spPr>
          <a:xfrm>
            <a:off x="4788600" y="2815142"/>
            <a:ext cx="4012500" cy="0"/>
          </a:xfrm>
          <a:prstGeom prst="straightConnector1">
            <a:avLst/>
          </a:prstGeom>
          <a:noFill/>
          <a:ln w="9525" cap="flat" cmpd="sng">
            <a:solidFill>
              <a:srgbClr val="888888"/>
            </a:solidFill>
            <a:prstDash val="solid"/>
            <a:round/>
            <a:headEnd type="none" w="sm" len="sm"/>
            <a:tailEnd type="none" w="sm" len="sm"/>
          </a:ln>
        </p:spPr>
      </p:cxnSp>
      <p:cxnSp>
        <p:nvCxnSpPr>
          <p:cNvPr id="971" name="Google Shape;971;p63"/>
          <p:cNvCxnSpPr/>
          <p:nvPr/>
        </p:nvCxnSpPr>
        <p:spPr>
          <a:xfrm>
            <a:off x="4794352" y="3626501"/>
            <a:ext cx="4012500" cy="0"/>
          </a:xfrm>
          <a:prstGeom prst="straightConnector1">
            <a:avLst/>
          </a:prstGeom>
          <a:noFill/>
          <a:ln w="9525" cap="flat" cmpd="sng">
            <a:solidFill>
              <a:srgbClr val="888888"/>
            </a:solidFill>
            <a:prstDash val="solid"/>
            <a:round/>
            <a:headEnd type="none" w="sm" len="sm"/>
            <a:tailEnd type="none" w="sm" len="sm"/>
          </a:ln>
        </p:spPr>
      </p:cxnSp>
      <p:sp>
        <p:nvSpPr>
          <p:cNvPr id="972" name="Google Shape;972;p63"/>
          <p:cNvSpPr txBox="1"/>
          <p:nvPr/>
        </p:nvSpPr>
        <p:spPr>
          <a:xfrm>
            <a:off x="3412674" y="1913341"/>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{{WS_CMK_R}}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3" name="Google Shape;973;p63"/>
          <p:cNvSpPr txBox="1"/>
          <p:nvPr/>
        </p:nvSpPr>
        <p:spPr>
          <a:xfrm>
            <a:off x="3412674" y="214115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{{WS_TVOL_R}}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4" name="Google Shape;974;p63"/>
          <p:cNvSpPr txBox="1"/>
          <p:nvPr/>
        </p:nvSpPr>
        <p:spPr>
          <a:xfrm>
            <a:off x="3412674" y="236896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{{WS_LSAIL_R}}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5" name="Google Shape;975;p63"/>
          <p:cNvSpPr txBox="1"/>
          <p:nvPr/>
        </p:nvSpPr>
        <p:spPr>
          <a:xfrm>
            <a:off x="3412674" y="259676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{{WS_LAMB_R}}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6" name="Google Shape;976;p63"/>
          <p:cNvSpPr txBox="1"/>
          <p:nvPr/>
        </p:nvSpPr>
        <p:spPr>
          <a:xfrm>
            <a:off x="3412675" y="282457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{{WS_TAGS_R}}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7" name="Google Shape;977;p63"/>
          <p:cNvSpPr txBox="1"/>
          <p:nvPr/>
        </p:nvSpPr>
        <p:spPr>
          <a:xfrm>
            <a:off x="3412674" y="3512208"/>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{{WS_ADE1_R}}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8" name="Google Shape;978;p63"/>
          <p:cNvSpPr txBox="1"/>
          <p:nvPr/>
        </p:nvSpPr>
        <p:spPr>
          <a:xfrm>
            <a:off x="3412674" y="374001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{{WS_ADE2_R}}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9" name="Google Shape;979;p63"/>
          <p:cNvSpPr txBox="1"/>
          <p:nvPr/>
        </p:nvSpPr>
        <p:spPr>
          <a:xfrm>
            <a:off x="3412674" y="396782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{{WS_NRT_R}}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80" name="Google Shape;980;p63"/>
          <p:cNvCxnSpPr/>
          <p:nvPr/>
        </p:nvCxnSpPr>
        <p:spPr>
          <a:xfrm>
            <a:off x="4805551" y="1390969"/>
            <a:ext cx="3947400" cy="0"/>
          </a:xfrm>
          <a:prstGeom prst="straightConnector1">
            <a:avLst/>
          </a:prstGeom>
          <a:noFill/>
          <a:ln w="14300" cap="flat" cmpd="sng">
            <a:solidFill>
              <a:srgbClr val="888888"/>
            </a:solidFill>
            <a:prstDash val="solid"/>
            <a:round/>
            <a:headEnd type="none" w="sm" len="sm"/>
            <a:tailEnd type="none" w="sm" len="sm"/>
          </a:ln>
        </p:spPr>
      </p:cxnSp>
      <p:cxnSp>
        <p:nvCxnSpPr>
          <p:cNvPr id="981" name="Google Shape;981;p63"/>
          <p:cNvCxnSpPr/>
          <p:nvPr/>
        </p:nvCxnSpPr>
        <p:spPr>
          <a:xfrm>
            <a:off x="377157" y="1403236"/>
            <a:ext cx="3977700" cy="0"/>
          </a:xfrm>
          <a:prstGeom prst="straightConnector1">
            <a:avLst/>
          </a:prstGeom>
          <a:noFill/>
          <a:ln w="14300" cap="flat" cmpd="sng">
            <a:solidFill>
              <a:srgbClr val="888888"/>
            </a:solidFill>
            <a:prstDash val="solid"/>
            <a:round/>
            <a:headEnd type="none" w="sm" len="sm"/>
            <a:tailEnd type="none" w="sm" len="sm"/>
          </a:ln>
        </p:spPr>
      </p:cxnSp>
      <p:sp>
        <p:nvSpPr>
          <p:cNvPr id="982" name="Google Shape;982;p63"/>
          <p:cNvSpPr/>
          <p:nvPr/>
        </p:nvSpPr>
        <p:spPr>
          <a:xfrm>
            <a:off x="7010768" y="13417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JetBrains Mono"/>
              </a:rPr>
              <a:t>✓</a:t>
            </a: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83" name="Google Shape;983;p63"/>
          <p:cNvCxnSpPr/>
          <p:nvPr/>
        </p:nvCxnSpPr>
        <p:spPr>
          <a:xfrm>
            <a:off x="4794607" y="3017982"/>
            <a:ext cx="4012500" cy="0"/>
          </a:xfrm>
          <a:prstGeom prst="straightConnector1">
            <a:avLst/>
          </a:prstGeom>
          <a:noFill/>
          <a:ln w="9525" cap="flat" cmpd="sng">
            <a:solidFill>
              <a:srgbClr val="888888"/>
            </a:solidFill>
            <a:prstDash val="solid"/>
            <a:round/>
            <a:headEnd type="none" w="sm" len="sm"/>
            <a:tailEnd type="none" w="sm" len="sm"/>
          </a:ln>
        </p:spPr>
      </p:cxnSp>
      <p:cxnSp>
        <p:nvCxnSpPr>
          <p:cNvPr id="984" name="Google Shape;984;p63"/>
          <p:cNvCxnSpPr/>
          <p:nvPr/>
        </p:nvCxnSpPr>
        <p:spPr>
          <a:xfrm>
            <a:off x="4794607" y="322082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5" name="Google Shape;985;p63"/>
          <p:cNvCxnSpPr/>
          <p:nvPr/>
        </p:nvCxnSpPr>
        <p:spPr>
          <a:xfrm>
            <a:off x="4800614" y="342366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6" name="Google Shape;986;p63"/>
          <p:cNvCxnSpPr/>
          <p:nvPr/>
        </p:nvCxnSpPr>
        <p:spPr>
          <a:xfrm>
            <a:off x="4783871" y="382934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7" name="Google Shape;987;p63"/>
          <p:cNvCxnSpPr/>
          <p:nvPr/>
        </p:nvCxnSpPr>
        <p:spPr>
          <a:xfrm>
            <a:off x="4778376" y="403218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8" name="Google Shape;988;p63"/>
          <p:cNvCxnSpPr/>
          <p:nvPr/>
        </p:nvCxnSpPr>
        <p:spPr>
          <a:xfrm>
            <a:off x="4776331" y="4235019"/>
            <a:ext cx="4012500" cy="0"/>
          </a:xfrm>
          <a:prstGeom prst="straightConnector1">
            <a:avLst/>
          </a:prstGeom>
          <a:noFill/>
          <a:ln w="9525" cap="flat" cmpd="sng">
            <a:solidFill>
              <a:srgbClr val="888888"/>
            </a:solidFill>
            <a:prstDash val="solid"/>
            <a:round/>
            <a:headEnd type="none" w="sm" len="sm"/>
            <a:tailEnd type="none" w="sm" len="sm"/>
          </a:ln>
        </p:spPr>
      </p:cxnSp>
      <p:cxnSp>
        <p:nvCxnSpPr>
          <p:cNvPr id="989" name="Google Shape;989;p63"/>
          <p:cNvCxnSpPr/>
          <p:nvPr/>
        </p:nvCxnSpPr>
        <p:spPr>
          <a:xfrm>
            <a:off x="4774287" y="4437859"/>
            <a:ext cx="4012500" cy="0"/>
          </a:xfrm>
          <a:prstGeom prst="straightConnector1">
            <a:avLst/>
          </a:prstGeom>
          <a:noFill/>
          <a:ln w="9525" cap="flat" cmpd="sng">
            <a:solidFill>
              <a:srgbClr val="888888"/>
            </a:solidFill>
            <a:prstDash val="solid"/>
            <a:round/>
            <a:headEnd type="none" w="sm" len="sm"/>
            <a:tailEnd type="none" w="sm" len="sm"/>
          </a:ln>
        </p:spPr>
      </p:cxnSp>
      <p:sp>
        <p:nvSpPr>
          <p:cNvPr id="990" name="Google Shape;990;p63"/>
          <p:cNvSpPr/>
          <p:nvPr/>
        </p:nvSpPr>
        <p:spPr>
          <a:xfrm>
            <a:off x="2516118" y="418330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{{WS_NRTW}}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91" name="Google Shape;991;p63"/>
          <p:cNvSpPr txBox="1"/>
          <p:nvPr/>
        </p:nvSpPr>
        <p:spPr>
          <a:xfrm>
            <a:off x="3408069" y="419563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{{WS_NRTW_R}}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92" name="Google Shape;992;p63"/>
          <p:cNvSpPr/>
          <p:nvPr/>
        </p:nvSpPr>
        <p:spPr>
          <a:xfrm>
            <a:off x="2519847" y="4414097"/>
            <a:ext cx="8787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{{WS_AFIM}}</a:t>
            </a:r>
            <a:endParaRPr sz="686"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cxnSp>
        <p:nvCxnSpPr>
          <p:cNvPr id="993" name="Google Shape;993;p63"/>
          <p:cNvCxnSpPr/>
          <p:nvPr/>
        </p:nvCxnSpPr>
        <p:spPr>
          <a:xfrm>
            <a:off x="362488" y="4634025"/>
            <a:ext cx="3993600" cy="0"/>
          </a:xfrm>
          <a:prstGeom prst="straightConnector1">
            <a:avLst/>
          </a:prstGeom>
          <a:noFill/>
          <a:ln w="9525" cap="flat" cmpd="sng">
            <a:solidFill>
              <a:srgbClr val="888888"/>
            </a:solidFill>
            <a:prstDash val="solid"/>
            <a:round/>
            <a:headEnd type="none" w="sm" len="sm"/>
            <a:tailEnd type="none" w="sm" len="sm"/>
          </a:ln>
        </p:spPr>
      </p:cxnSp>
      <p:cxnSp>
        <p:nvCxnSpPr>
          <p:cNvPr id="994" name="Google Shape;994;p63"/>
          <p:cNvCxnSpPr/>
          <p:nvPr/>
        </p:nvCxnSpPr>
        <p:spPr>
          <a:xfrm>
            <a:off x="364163" y="4404042"/>
            <a:ext cx="3993600" cy="0"/>
          </a:xfrm>
          <a:prstGeom prst="straightConnector1">
            <a:avLst/>
          </a:prstGeom>
          <a:noFill/>
          <a:ln w="9525" cap="flat" cmpd="sng">
            <a:solidFill>
              <a:srgbClr val="888888"/>
            </a:solidFill>
            <a:prstDash val="solid"/>
            <a:round/>
            <a:headEnd type="none" w="sm" len="sm"/>
            <a:tailEnd type="none" w="sm" len="sm"/>
          </a:ln>
        </p:spPr>
      </p:cxnSp>
      <p:sp>
        <p:nvSpPr>
          <p:cNvPr id="995" name="Google Shape;995;p63"/>
          <p:cNvSpPr txBox="1"/>
          <p:nvPr/>
        </p:nvSpPr>
        <p:spPr>
          <a:xfrm>
            <a:off x="3403463" y="442344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{{WS_AFIM_R}}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pic>
        <p:nvPicPr>
          <p:cNvPr id="996" name="Google Shape;996;p63"/>
          <p:cNvPicPr preferRelativeResize="0"/>
          <p:nvPr/>
        </p:nvPicPr>
        <p:blipFill rotWithShape="1">
          <a:blip r:embed="rId8">
            <a:alphaModFix/>
          </a:blip>
          <a:srcRect/>
          <a:stretch/>
        </p:blipFill>
        <p:spPr>
          <a:xfrm>
            <a:off x="8285539" y="4822005"/>
            <a:ext cx="733511" cy="212512"/>
          </a:xfrm>
          <a:prstGeom prst="rect">
            <a:avLst/>
          </a:prstGeom>
          <a:noFill/>
          <a:ln>
            <a:noFill/>
          </a:ln>
        </p:spPr>
      </p:pic>
      <p:cxnSp>
        <p:nvCxnSpPr>
          <p:cNvPr id="997" name="Google Shape;997;p63"/>
          <p:cNvCxnSpPr/>
          <p:nvPr/>
        </p:nvCxnSpPr>
        <p:spPr>
          <a:xfrm>
            <a:off x="4771650" y="4641518"/>
            <a:ext cx="4012500" cy="0"/>
          </a:xfrm>
          <a:prstGeom prst="straightConnector1">
            <a:avLst/>
          </a:prstGeom>
          <a:noFill/>
          <a:ln w="9525" cap="flat" cmpd="sng">
            <a:solidFill>
              <a:srgbClr val="888888"/>
            </a:solidFill>
            <a:prstDash val="solid"/>
            <a:round/>
            <a:headEnd type="none" w="sm" len="sm"/>
            <a:tailEnd type="none" w="sm" len="sm"/>
          </a:ln>
        </p:spPr>
      </p:cxnSp>
      <p:sp>
        <p:nvSpPr>
          <p:cNvPr id="998" name="Google Shape;998;p63"/>
          <p:cNvSpPr/>
          <p:nvPr/>
        </p:nvSpPr>
        <p:spPr>
          <a:xfrm>
            <a:off x="4852708" y="444656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Secret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99" name="Google Shape;999;p63"/>
          <p:cNvSpPr/>
          <p:nvPr/>
        </p:nvSpPr>
        <p:spPr>
          <a:xfrm>
            <a:off x="4850663" y="464952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Secret Validation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0" name="Google Shape;1000;p63"/>
          <p:cNvSpPr txBox="1"/>
          <p:nvPr/>
        </p:nvSpPr>
        <p:spPr>
          <a:xfrm>
            <a:off x="7752775" y="448181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{{ASM_SEC_R}}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1" name="Google Shape;1001;p63"/>
          <p:cNvSpPr txBox="1"/>
          <p:nvPr/>
        </p:nvSpPr>
        <p:spPr>
          <a:xfrm>
            <a:off x="7750731" y="4685015"/>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{{ASM_SV_R}}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2" name="Google Shape;1002;p63"/>
          <p:cNvSpPr/>
          <p:nvPr/>
        </p:nvSpPr>
        <p:spPr>
          <a:xfrm>
            <a:off x="6899000" y="44463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{{ASM_SEC}}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3" name="Google Shape;1003;p63"/>
          <p:cNvSpPr/>
          <p:nvPr/>
        </p:nvSpPr>
        <p:spPr>
          <a:xfrm>
            <a:off x="6896955" y="464931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{{ASM_SV}}</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04" name="Google Shape;1004;p63"/>
          <p:cNvCxnSpPr/>
          <p:nvPr/>
        </p:nvCxnSpPr>
        <p:spPr>
          <a:xfrm rot="10800000" flipH="1">
            <a:off x="4779864" y="4844405"/>
            <a:ext cx="4011300" cy="13800"/>
          </a:xfrm>
          <a:prstGeom prst="straightConnector1">
            <a:avLst/>
          </a:prstGeom>
          <a:noFill/>
          <a:ln w="9525" cap="flat" cmpd="sng">
            <a:solidFill>
              <a:srgbClr val="888888"/>
            </a:solidFill>
            <a:prstDash val="solid"/>
            <a:round/>
            <a:headEnd type="none" w="sm" len="sm"/>
            <a:tailEnd type="none" w="sm" len="sm"/>
          </a:ln>
        </p:spPr>
      </p:cxnSp>
      <p:sp>
        <p:nvSpPr>
          <p:cNvPr id="1005" name="Google Shape;1005;p63"/>
          <p:cNvSpPr/>
          <p:nvPr/>
        </p:nvSpPr>
        <p:spPr>
          <a:xfrm>
            <a:off x="4849232" y="48643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Application Endpoint Exposure Level</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6" name="Google Shape;1006;p63"/>
          <p:cNvSpPr txBox="1"/>
          <p:nvPr/>
        </p:nvSpPr>
        <p:spPr>
          <a:xfrm>
            <a:off x="7761860" y="489963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{{ASM_EXPL_R}}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7" name="Google Shape;1007;p63"/>
          <p:cNvSpPr/>
          <p:nvPr/>
        </p:nvSpPr>
        <p:spPr>
          <a:xfrm>
            <a:off x="6895524" y="4864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{{ASM_EXPL}}</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08" name="Google Shape;1008;p63"/>
          <p:cNvCxnSpPr/>
          <p:nvPr/>
        </p:nvCxnSpPr>
        <p:spPr>
          <a:xfrm rot="10800000" flipH="1">
            <a:off x="4787783" y="5064960"/>
            <a:ext cx="4011300" cy="13800"/>
          </a:xfrm>
          <a:prstGeom prst="straightConnector1">
            <a:avLst/>
          </a:prstGeom>
          <a:noFill/>
          <a:ln w="9525" cap="flat" cmpd="sng">
            <a:solidFill>
              <a:srgbClr val="888888"/>
            </a:solidFill>
            <a:prstDash val="solid"/>
            <a:round/>
            <a:headEnd type="none" w="sm" len="sm"/>
            <a:tailEnd type="none" w="sm" len="sm"/>
          </a:ln>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3"/>
        <p:cNvGrpSpPr/>
        <p:nvPr/>
      </p:nvGrpSpPr>
      <p:grpSpPr>
        <a:xfrm>
          <a:off x="0" y="0"/>
          <a:ext cx="0" cy="0"/>
          <a:chOff x="0" y="0"/>
          <a:chExt cx="0" cy="0"/>
        </a:xfrm>
      </p:grpSpPr>
      <p:pic>
        <p:nvPicPr>
          <p:cNvPr id="1014" name="Google Shape;1014;p64"/>
          <p:cNvPicPr preferRelativeResize="0"/>
          <p:nvPr/>
        </p:nvPicPr>
        <p:blipFill rotWithShape="1">
          <a:blip r:embed="rId3">
            <a:alphaModFix/>
          </a:blip>
          <a:srcRect/>
          <a:stretch/>
        </p:blipFill>
        <p:spPr>
          <a:xfrm>
            <a:off x="8048746" y="4692300"/>
            <a:ext cx="943800" cy="381270"/>
          </a:xfrm>
          <a:prstGeom prst="rect">
            <a:avLst/>
          </a:prstGeom>
          <a:noFill/>
          <a:ln>
            <a:noFill/>
          </a:ln>
        </p:spPr>
      </p:pic>
      <p:sp>
        <p:nvSpPr>
          <p:cNvPr id="1015" name="Google Shape;1015;p64"/>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16" name="Google Shape;1016;p64"/>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Scanner Configuration — Vulnerability &amp; Data Security</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17" name="Google Shape;1017;p64"/>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Current vulnerability scanner tuning and data security scanning coverage.</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18" name="Google Shape;1018;p64"/>
          <p:cNvSpPr/>
          <p:nvPr/>
        </p:nvSpPr>
        <p:spPr>
          <a:xfrm>
            <a:off x="365760" y="868680"/>
            <a:ext cx="3977700" cy="274200"/>
          </a:xfrm>
          <a:prstGeom prst="rect">
            <a:avLst/>
          </a:prstGeom>
          <a:solidFill>
            <a:srgbClr val="EFE6C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19" name="Google Shape;1019;p64"/>
          <p:cNvSpPr/>
          <p:nvPr/>
        </p:nvSpPr>
        <p:spPr>
          <a:xfrm>
            <a:off x="365760" y="868680"/>
            <a:ext cx="36600" cy="274200"/>
          </a:xfrm>
          <a:prstGeom prst="rect">
            <a:avLst/>
          </a:prstGeom>
          <a:solidFill>
            <a:srgbClr val="D9770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20" name="Google Shape;1020;p64"/>
          <p:cNvSpPr/>
          <p:nvPr/>
        </p:nvSpPr>
        <p:spPr>
          <a:xfrm>
            <a:off x="502920" y="847856"/>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VULNERABILITY SCANNER</a:t>
            </a:r>
            <a:r>
              <a:rPr lang="en" sz="11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rPr>
              <a:t>↗</a:t>
            </a:r>
            <a:endParaRPr sz="9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1" name="Google Shape;1021;p64"/>
          <p:cNvSpPr/>
          <p:nvPr/>
        </p:nvSpPr>
        <p:spPr>
          <a:xfrm>
            <a:off x="371458" y="1191602"/>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22" name="Google Shape;1022;p64"/>
          <p:cNvSpPr/>
          <p:nvPr/>
        </p:nvSpPr>
        <p:spPr>
          <a:xfrm>
            <a:off x="371454" y="1180568"/>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3" name="Google Shape;1023;p64"/>
          <p:cNvSpPr/>
          <p:nvPr/>
        </p:nvSpPr>
        <p:spPr>
          <a:xfrm>
            <a:off x="2537260" y="1191602"/>
            <a:ext cx="875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4" name="Google Shape;1024;p64"/>
          <p:cNvSpPr/>
          <p:nvPr/>
        </p:nvSpPr>
        <p:spPr>
          <a:xfrm>
            <a:off x="3429612" y="1186270"/>
            <a:ext cx="1034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5" name="Google Shape;1025;p64"/>
          <p:cNvSpPr/>
          <p:nvPr/>
        </p:nvSpPr>
        <p:spPr>
          <a:xfrm>
            <a:off x="371449" y="143198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26" name="Google Shape;1026;p64"/>
          <p:cNvCxnSpPr/>
          <p:nvPr/>
        </p:nvCxnSpPr>
        <p:spPr>
          <a:xfrm>
            <a:off x="371449" y="1678076"/>
            <a:ext cx="3977700" cy="0"/>
          </a:xfrm>
          <a:prstGeom prst="straightConnector1">
            <a:avLst/>
          </a:prstGeom>
          <a:noFill/>
          <a:ln w="9525" cap="flat" cmpd="sng">
            <a:solidFill>
              <a:srgbClr val="E5E7EB"/>
            </a:solidFill>
            <a:prstDash val="solid"/>
            <a:round/>
            <a:headEnd type="none" w="sm" len="sm"/>
            <a:tailEnd type="none" w="sm" len="sm"/>
          </a:ln>
        </p:spPr>
      </p:cxnSp>
      <p:sp>
        <p:nvSpPr>
          <p:cNvPr id="1027" name="Google Shape;1027;p64"/>
          <p:cNvSpPr/>
          <p:nvPr/>
        </p:nvSpPr>
        <p:spPr>
          <a:xfrm>
            <a:off x="371445" y="143197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OS-Package Managed Code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8" name="Google Shape;1028;p64"/>
          <p:cNvSpPr/>
          <p:nvPr/>
        </p:nvSpPr>
        <p:spPr>
          <a:xfrm>
            <a:off x="2569586" y="143198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{{VS_OSPKG}}</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9" name="Google Shape;1029;p64"/>
          <p:cNvSpPr/>
          <p:nvPr/>
        </p:nvSpPr>
        <p:spPr>
          <a:xfrm>
            <a:off x="371449" y="1678076"/>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0" name="Google Shape;1030;p64"/>
          <p:cNvCxnSpPr/>
          <p:nvPr/>
        </p:nvCxnSpPr>
        <p:spPr>
          <a:xfrm>
            <a:off x="355736" y="1916264"/>
            <a:ext cx="3977700" cy="0"/>
          </a:xfrm>
          <a:prstGeom prst="straightConnector1">
            <a:avLst/>
          </a:prstGeom>
          <a:noFill/>
          <a:ln w="9525" cap="flat" cmpd="sng">
            <a:solidFill>
              <a:srgbClr val="888888"/>
            </a:solidFill>
            <a:prstDash val="solid"/>
            <a:round/>
            <a:headEnd type="none" w="sm" len="sm"/>
            <a:tailEnd type="none" w="sm" len="sm"/>
          </a:ln>
        </p:spPr>
      </p:cxnSp>
      <p:sp>
        <p:nvSpPr>
          <p:cNvPr id="1031" name="Google Shape;1031;p64"/>
          <p:cNvSpPr/>
          <p:nvPr/>
        </p:nvSpPr>
        <p:spPr>
          <a:xfrm>
            <a:off x="371445" y="167806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Windows App Bundled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2" name="Google Shape;1032;p64"/>
          <p:cNvSpPr/>
          <p:nvPr/>
        </p:nvSpPr>
        <p:spPr>
          <a:xfrm>
            <a:off x="2569586" y="1678076"/>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{{VS_WINB}}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3" name="Google Shape;1033;p64"/>
          <p:cNvSpPr/>
          <p:nvPr/>
        </p:nvSpPr>
        <p:spPr>
          <a:xfrm>
            <a:off x="371449" y="192416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4" name="Google Shape;1034;p64"/>
          <p:cNvCxnSpPr/>
          <p:nvPr/>
        </p:nvCxnSpPr>
        <p:spPr>
          <a:xfrm>
            <a:off x="371449" y="2170262"/>
            <a:ext cx="3977700" cy="0"/>
          </a:xfrm>
          <a:prstGeom prst="straightConnector1">
            <a:avLst/>
          </a:prstGeom>
          <a:noFill/>
          <a:ln w="9525" cap="flat" cmpd="sng">
            <a:solidFill>
              <a:srgbClr val="E5E7EB"/>
            </a:solidFill>
            <a:prstDash val="solid"/>
            <a:round/>
            <a:headEnd type="none" w="sm" len="sm"/>
            <a:tailEnd type="none" w="sm" len="sm"/>
          </a:ln>
        </p:spPr>
      </p:cxnSp>
      <p:sp>
        <p:nvSpPr>
          <p:cNvPr id="1035" name="Google Shape;1035;p64"/>
          <p:cNvSpPr/>
          <p:nvPr/>
        </p:nvSpPr>
        <p:spPr>
          <a:xfrm>
            <a:off x="371445" y="192416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Go Standard Library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6" name="Google Shape;1036;p64"/>
          <p:cNvSpPr/>
          <p:nvPr/>
        </p:nvSpPr>
        <p:spPr>
          <a:xfrm>
            <a:off x="2569586" y="1924169"/>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{{VS_GOSTD}}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7" name="Google Shape;1037;p64"/>
          <p:cNvSpPr/>
          <p:nvPr/>
        </p:nvSpPr>
        <p:spPr>
          <a:xfrm>
            <a:off x="371449" y="2170262"/>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8" name="Google Shape;1038;p64"/>
          <p:cNvCxnSpPr/>
          <p:nvPr/>
        </p:nvCxnSpPr>
        <p:spPr>
          <a:xfrm>
            <a:off x="358777" y="2406445"/>
            <a:ext cx="3977700" cy="0"/>
          </a:xfrm>
          <a:prstGeom prst="straightConnector1">
            <a:avLst/>
          </a:prstGeom>
          <a:noFill/>
          <a:ln w="9525" cap="flat" cmpd="sng">
            <a:solidFill>
              <a:srgbClr val="888888"/>
            </a:solidFill>
            <a:prstDash val="solid"/>
            <a:round/>
            <a:headEnd type="none" w="sm" len="sm"/>
            <a:tailEnd type="none" w="sm" len="sm"/>
          </a:ln>
        </p:spPr>
      </p:cxnSp>
      <p:sp>
        <p:nvSpPr>
          <p:cNvPr id="1039" name="Google Shape;1039;p64"/>
          <p:cNvSpPr/>
          <p:nvPr/>
        </p:nvSpPr>
        <p:spPr>
          <a:xfrm>
            <a:off x="371445" y="21702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Code Library Exclusion Paths (Legacy)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0" name="Google Shape;1040;p64"/>
          <p:cNvSpPr/>
          <p:nvPr/>
        </p:nvSpPr>
        <p:spPr>
          <a:xfrm>
            <a:off x="2569586" y="2170262"/>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1" name="Google Shape;1041;p64"/>
          <p:cNvSpPr/>
          <p:nvPr/>
        </p:nvSpPr>
        <p:spPr>
          <a:xfrm>
            <a:off x="371449" y="241635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42" name="Google Shape;1042;p64"/>
          <p:cNvCxnSpPr/>
          <p:nvPr/>
        </p:nvCxnSpPr>
        <p:spPr>
          <a:xfrm>
            <a:off x="361818" y="2665905"/>
            <a:ext cx="3977700" cy="0"/>
          </a:xfrm>
          <a:prstGeom prst="straightConnector1">
            <a:avLst/>
          </a:prstGeom>
          <a:noFill/>
          <a:ln w="9525" cap="flat" cmpd="sng">
            <a:solidFill>
              <a:srgbClr val="E5E7EB"/>
            </a:solidFill>
            <a:prstDash val="solid"/>
            <a:round/>
            <a:headEnd type="none" w="sm" len="sm"/>
            <a:tailEnd type="none" w="sm" len="sm"/>
          </a:ln>
        </p:spPr>
      </p:cxnSp>
      <p:sp>
        <p:nvSpPr>
          <p:cNvPr id="1043" name="Google Shape;1043;p64"/>
          <p:cNvSpPr/>
          <p:nvPr/>
        </p:nvSpPr>
        <p:spPr>
          <a:xfrm>
            <a:off x="371445" y="24163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Ignore Red Hat OpenShift Vulns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4" name="Google Shape;1044;p64"/>
          <p:cNvSpPr/>
          <p:nvPr/>
        </p:nvSpPr>
        <p:spPr>
          <a:xfrm>
            <a:off x="2569586" y="2416355"/>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{{VS_RHOS}}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5" name="Google Shape;1045;p64"/>
          <p:cNvSpPr/>
          <p:nvPr/>
        </p:nvSpPr>
        <p:spPr>
          <a:xfrm>
            <a:off x="371449" y="2662448"/>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46" name="Google Shape;1046;p64"/>
          <p:cNvCxnSpPr/>
          <p:nvPr/>
        </p:nvCxnSpPr>
        <p:spPr>
          <a:xfrm>
            <a:off x="364860" y="2898661"/>
            <a:ext cx="3977700" cy="0"/>
          </a:xfrm>
          <a:prstGeom prst="straightConnector1">
            <a:avLst/>
          </a:prstGeom>
          <a:noFill/>
          <a:ln w="9525" cap="flat" cmpd="sng">
            <a:solidFill>
              <a:srgbClr val="888888"/>
            </a:solidFill>
            <a:prstDash val="solid"/>
            <a:round/>
            <a:headEnd type="none" w="sm" len="sm"/>
            <a:tailEnd type="none" w="sm" len="sm"/>
          </a:ln>
        </p:spPr>
      </p:cxnSp>
      <p:sp>
        <p:nvSpPr>
          <p:cNvPr id="1047" name="Google Shape;1047;p64"/>
          <p:cNvSpPr/>
          <p:nvPr/>
        </p:nvSpPr>
        <p:spPr>
          <a:xfrm>
            <a:off x="371445" y="26624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Manifest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8" name="Google Shape;1048;p64"/>
          <p:cNvSpPr/>
          <p:nvPr/>
        </p:nvSpPr>
        <p:spPr>
          <a:xfrm>
            <a:off x="2569586" y="2662448"/>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{{VS_MANIF}}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9" name="Google Shape;1049;p64"/>
          <p:cNvSpPr/>
          <p:nvPr/>
        </p:nvSpPr>
        <p:spPr>
          <a:xfrm>
            <a:off x="3395224" y="269842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{{VS_MANIF_R}}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0" name="Google Shape;1050;p64"/>
          <p:cNvSpPr/>
          <p:nvPr/>
        </p:nvSpPr>
        <p:spPr>
          <a:xfrm>
            <a:off x="371449" y="290854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51" name="Google Shape;1051;p64"/>
          <p:cNvCxnSpPr/>
          <p:nvPr/>
        </p:nvCxnSpPr>
        <p:spPr>
          <a:xfrm>
            <a:off x="367901" y="3157103"/>
            <a:ext cx="3977700" cy="0"/>
          </a:xfrm>
          <a:prstGeom prst="straightConnector1">
            <a:avLst/>
          </a:prstGeom>
          <a:noFill/>
          <a:ln w="9525" cap="flat" cmpd="sng">
            <a:solidFill>
              <a:srgbClr val="E5E7EB"/>
            </a:solidFill>
            <a:prstDash val="solid"/>
            <a:round/>
            <a:headEnd type="none" w="sm" len="sm"/>
            <a:tailEnd type="none" w="sm" len="sm"/>
          </a:ln>
        </p:spPr>
      </p:cxnSp>
      <p:sp>
        <p:nvSpPr>
          <p:cNvPr id="1052" name="Google Shape;1052;p64"/>
          <p:cNvSpPr/>
          <p:nvPr/>
        </p:nvSpPr>
        <p:spPr>
          <a:xfrm>
            <a:off x="371445" y="29085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Lock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3" name="Google Shape;1053;p64"/>
          <p:cNvSpPr/>
          <p:nvPr/>
        </p:nvSpPr>
        <p:spPr>
          <a:xfrm>
            <a:off x="2569586" y="2908541"/>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{{VS_LOCK}}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4" name="Google Shape;1054;p64"/>
          <p:cNvSpPr/>
          <p:nvPr/>
        </p:nvSpPr>
        <p:spPr>
          <a:xfrm>
            <a:off x="3395224" y="2947594"/>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{{VS_LOCK_R}}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5" name="Google Shape;1055;p64"/>
          <p:cNvSpPr/>
          <p:nvPr/>
        </p:nvSpPr>
        <p:spPr>
          <a:xfrm>
            <a:off x="371449" y="3154634"/>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56" name="Google Shape;1056;p64"/>
          <p:cNvCxnSpPr/>
          <p:nvPr/>
        </p:nvCxnSpPr>
        <p:spPr>
          <a:xfrm>
            <a:off x="370942" y="3389859"/>
            <a:ext cx="3977700" cy="0"/>
          </a:xfrm>
          <a:prstGeom prst="straightConnector1">
            <a:avLst/>
          </a:prstGeom>
          <a:noFill/>
          <a:ln w="9525" cap="flat" cmpd="sng">
            <a:solidFill>
              <a:srgbClr val="888888"/>
            </a:solidFill>
            <a:prstDash val="solid"/>
            <a:round/>
            <a:headEnd type="none" w="sm" len="sm"/>
            <a:tailEnd type="none" w="sm" len="sm"/>
          </a:ln>
        </p:spPr>
      </p:cxnSp>
      <p:sp>
        <p:nvSpPr>
          <p:cNvPr id="1057" name="Google Shape;1057;p64"/>
          <p:cNvSpPr/>
          <p:nvPr/>
        </p:nvSpPr>
        <p:spPr>
          <a:xfrm>
            <a:off x="371445" y="31546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Artifacts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8" name="Google Shape;1058;p64"/>
          <p:cNvSpPr/>
          <p:nvPr/>
        </p:nvSpPr>
        <p:spPr>
          <a:xfrm>
            <a:off x="2569586" y="3154634"/>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{{VS_ARTIF}}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9" name="Google Shape;1059;p64"/>
          <p:cNvSpPr/>
          <p:nvPr/>
        </p:nvSpPr>
        <p:spPr>
          <a:xfrm>
            <a:off x="3395224" y="319675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{{VS_ARTIF_R}}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0" name="Google Shape;1060;p64"/>
          <p:cNvSpPr/>
          <p:nvPr/>
        </p:nvSpPr>
        <p:spPr>
          <a:xfrm>
            <a:off x="371449" y="3400727"/>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1" name="Google Shape;1061;p64"/>
          <p:cNvCxnSpPr/>
          <p:nvPr/>
        </p:nvCxnSpPr>
        <p:spPr>
          <a:xfrm>
            <a:off x="371449" y="3646820"/>
            <a:ext cx="3977700" cy="0"/>
          </a:xfrm>
          <a:prstGeom prst="straightConnector1">
            <a:avLst/>
          </a:prstGeom>
          <a:noFill/>
          <a:ln w="9525" cap="flat" cmpd="sng">
            <a:solidFill>
              <a:srgbClr val="E5E7EB"/>
            </a:solidFill>
            <a:prstDash val="solid"/>
            <a:round/>
            <a:headEnd type="none" w="sm" len="sm"/>
            <a:tailEnd type="none" w="sm" len="sm"/>
          </a:ln>
        </p:spPr>
      </p:cxnSp>
      <p:sp>
        <p:nvSpPr>
          <p:cNvPr id="1062" name="Google Shape;1062;p64"/>
          <p:cNvSpPr/>
          <p:nvPr/>
        </p:nvSpPr>
        <p:spPr>
          <a:xfrm>
            <a:off x="371445" y="34007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Maven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3" name="Google Shape;1063;p64"/>
          <p:cNvSpPr/>
          <p:nvPr/>
        </p:nvSpPr>
        <p:spPr>
          <a:xfrm>
            <a:off x="2569586" y="340072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{{VS_MAVEN}}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4" name="Google Shape;1064;p64"/>
          <p:cNvSpPr/>
          <p:nvPr/>
        </p:nvSpPr>
        <p:spPr>
          <a:xfrm>
            <a:off x="371449" y="364682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5" name="Google Shape;1065;p64"/>
          <p:cNvCxnSpPr/>
          <p:nvPr/>
        </p:nvCxnSpPr>
        <p:spPr>
          <a:xfrm>
            <a:off x="373984" y="3874636"/>
            <a:ext cx="3977700" cy="0"/>
          </a:xfrm>
          <a:prstGeom prst="straightConnector1">
            <a:avLst/>
          </a:prstGeom>
          <a:noFill/>
          <a:ln w="9525" cap="flat" cmpd="sng">
            <a:solidFill>
              <a:srgbClr val="888888"/>
            </a:solidFill>
            <a:prstDash val="solid"/>
            <a:round/>
            <a:headEnd type="none" w="sm" len="sm"/>
            <a:tailEnd type="none" w="sm" len="sm"/>
          </a:ln>
        </p:spPr>
      </p:cxnSp>
      <p:sp>
        <p:nvSpPr>
          <p:cNvPr id="1066" name="Google Shape;1066;p64"/>
          <p:cNvSpPr/>
          <p:nvPr/>
        </p:nvSpPr>
        <p:spPr>
          <a:xfrm>
            <a:off x="371450" y="3646825"/>
            <a:ext cx="21657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JS (npm/pnpm/Yarn)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7" name="Google Shape;1067;p64"/>
          <p:cNvSpPr/>
          <p:nvPr/>
        </p:nvSpPr>
        <p:spPr>
          <a:xfrm>
            <a:off x="2569586" y="364682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{{VS_JSDEP}}</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8" name="Google Shape;1068;p64"/>
          <p:cNvSpPr/>
          <p:nvPr/>
        </p:nvSpPr>
        <p:spPr>
          <a:xfrm>
            <a:off x="371449" y="389291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9" name="Google Shape;1069;p64"/>
          <p:cNvCxnSpPr/>
          <p:nvPr/>
        </p:nvCxnSpPr>
        <p:spPr>
          <a:xfrm>
            <a:off x="371449" y="4139007"/>
            <a:ext cx="3977700" cy="0"/>
          </a:xfrm>
          <a:prstGeom prst="straightConnector1">
            <a:avLst/>
          </a:prstGeom>
          <a:noFill/>
          <a:ln w="9525" cap="flat" cmpd="sng">
            <a:solidFill>
              <a:srgbClr val="E5E7EB"/>
            </a:solidFill>
            <a:prstDash val="solid"/>
            <a:round/>
            <a:headEnd type="none" w="sm" len="sm"/>
            <a:tailEnd type="none" w="sm" len="sm"/>
          </a:ln>
        </p:spPr>
      </p:cxnSp>
      <p:sp>
        <p:nvSpPr>
          <p:cNvPr id="1070" name="Google Shape;1070;p64"/>
          <p:cNvSpPr/>
          <p:nvPr/>
        </p:nvSpPr>
        <p:spPr>
          <a:xfrm>
            <a:off x="371445" y="38929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Gradle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1" name="Google Shape;1071;p64"/>
          <p:cNvSpPr/>
          <p:nvPr/>
        </p:nvSpPr>
        <p:spPr>
          <a:xfrm>
            <a:off x="2569586" y="389291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{{VS_GRADL}}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2" name="Google Shape;1072;p64"/>
          <p:cNvSpPr/>
          <p:nvPr/>
        </p:nvSpPr>
        <p:spPr>
          <a:xfrm>
            <a:off x="371449" y="4139007"/>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73" name="Google Shape;1073;p64"/>
          <p:cNvCxnSpPr/>
          <p:nvPr/>
        </p:nvCxnSpPr>
        <p:spPr>
          <a:xfrm>
            <a:off x="377025" y="4385100"/>
            <a:ext cx="3977700" cy="0"/>
          </a:xfrm>
          <a:prstGeom prst="straightConnector1">
            <a:avLst/>
          </a:prstGeom>
          <a:noFill/>
          <a:ln w="9525" cap="flat" cmpd="sng">
            <a:solidFill>
              <a:srgbClr val="888888"/>
            </a:solidFill>
            <a:prstDash val="solid"/>
            <a:round/>
            <a:headEnd type="none" w="sm" len="sm"/>
            <a:tailEnd type="none" w="sm" len="sm"/>
          </a:ln>
        </p:spPr>
      </p:cxnSp>
      <p:sp>
        <p:nvSpPr>
          <p:cNvPr id="1074" name="Google Shape;1074;p64"/>
          <p:cNvSpPr/>
          <p:nvPr/>
        </p:nvSpPr>
        <p:spPr>
          <a:xfrm>
            <a:off x="371445" y="41390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End of Life Detection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5" name="Google Shape;1075;p64"/>
          <p:cNvSpPr/>
          <p:nvPr/>
        </p:nvSpPr>
        <p:spPr>
          <a:xfrm>
            <a:off x="2569586" y="413900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{{VS_EOL}}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6" name="Google Shape;1076;p64"/>
          <p:cNvSpPr/>
          <p:nvPr/>
        </p:nvSpPr>
        <p:spPr>
          <a:xfrm>
            <a:off x="4800600" y="868680"/>
            <a:ext cx="3977700" cy="274200"/>
          </a:xfrm>
          <a:prstGeom prst="rect">
            <a:avLst/>
          </a:prstGeom>
          <a:solidFill>
            <a:srgbClr val="E6DDF7"/>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77" name="Google Shape;1077;p64"/>
          <p:cNvSpPr/>
          <p:nvPr/>
        </p:nvSpPr>
        <p:spPr>
          <a:xfrm>
            <a:off x="4800600" y="868680"/>
            <a:ext cx="36600" cy="274200"/>
          </a:xfrm>
          <a:prstGeom prst="rect">
            <a:avLst/>
          </a:prstGeom>
          <a:solidFill>
            <a:srgbClr val="7C3AE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78" name="Google Shape;1078;p64"/>
          <p:cNvSpPr/>
          <p:nvPr/>
        </p:nvSpPr>
        <p:spPr>
          <a:xfrm>
            <a:off x="4937760" y="847856"/>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7C3AED"/>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6"/>
              </a:rPr>
              <a:t>DATA SECURITY SCANNER</a:t>
            </a:r>
            <a:r>
              <a:rPr lang="en"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rPr>
              <a:t>↗</a:t>
            </a:r>
            <a:r>
              <a:rPr lang="en"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rPr>
              <a:t> </a:t>
            </a:r>
            <a:endParaRPr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9" name="Google Shape;1079;p64"/>
          <p:cNvSpPr/>
          <p:nvPr/>
        </p:nvSpPr>
        <p:spPr>
          <a:xfrm>
            <a:off x="4800600" y="1201204"/>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80" name="Google Shape;1080;p64"/>
          <p:cNvSpPr/>
          <p:nvPr/>
        </p:nvSpPr>
        <p:spPr>
          <a:xfrm>
            <a:off x="4892040" y="1201204"/>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1" name="Google Shape;1081;p64"/>
          <p:cNvSpPr/>
          <p:nvPr/>
        </p:nvSpPr>
        <p:spPr>
          <a:xfrm>
            <a:off x="6916585" y="1201204"/>
            <a:ext cx="875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2" name="Google Shape;1082;p64"/>
          <p:cNvSpPr/>
          <p:nvPr/>
        </p:nvSpPr>
        <p:spPr>
          <a:xfrm>
            <a:off x="7869988" y="1201204"/>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3" name="Google Shape;1083;p64"/>
          <p:cNvSpPr/>
          <p:nvPr/>
        </p:nvSpPr>
        <p:spPr>
          <a:xfrm>
            <a:off x="4800600" y="1402372"/>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84" name="Google Shape;1084;p64"/>
          <p:cNvCxnSpPr/>
          <p:nvPr/>
        </p:nvCxnSpPr>
        <p:spPr>
          <a:xfrm>
            <a:off x="4800600" y="1590526"/>
            <a:ext cx="3977700" cy="0"/>
          </a:xfrm>
          <a:prstGeom prst="straightConnector1">
            <a:avLst/>
          </a:prstGeom>
          <a:noFill/>
          <a:ln w="9525" cap="flat" cmpd="sng">
            <a:solidFill>
              <a:srgbClr val="888888"/>
            </a:solidFill>
            <a:prstDash val="solid"/>
            <a:round/>
            <a:headEnd type="none" w="sm" len="sm"/>
            <a:tailEnd type="none" w="sm" len="sm"/>
          </a:ln>
        </p:spPr>
      </p:cxnSp>
      <p:sp>
        <p:nvSpPr>
          <p:cNvPr id="1085" name="Google Shape;1085;p64"/>
          <p:cNvSpPr/>
          <p:nvPr/>
        </p:nvSpPr>
        <p:spPr>
          <a:xfrm>
            <a:off x="4892040" y="140237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Data Security Scanner</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6" name="Google Shape;1086;p64"/>
          <p:cNvSpPr/>
          <p:nvPr/>
        </p:nvSpPr>
        <p:spPr>
          <a:xfrm>
            <a:off x="6941699" y="140237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{{DSS_ON}}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7" name="Google Shape;1087;p64"/>
          <p:cNvSpPr/>
          <p:nvPr/>
        </p:nvSpPr>
        <p:spPr>
          <a:xfrm>
            <a:off x="4800600" y="1590526"/>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88" name="Google Shape;1088;p64"/>
          <p:cNvCxnSpPr/>
          <p:nvPr/>
        </p:nvCxnSpPr>
        <p:spPr>
          <a:xfrm>
            <a:off x="4800600" y="1864215"/>
            <a:ext cx="3977700" cy="0"/>
          </a:xfrm>
          <a:prstGeom prst="straightConnector1">
            <a:avLst/>
          </a:prstGeom>
          <a:noFill/>
          <a:ln w="9525" cap="flat" cmpd="sng">
            <a:solidFill>
              <a:srgbClr val="888888"/>
            </a:solidFill>
            <a:prstDash val="solid"/>
            <a:round/>
            <a:headEnd type="none" w="sm" len="sm"/>
            <a:tailEnd type="none" w="sm" len="sm"/>
          </a:ln>
        </p:spPr>
      </p:cxnSp>
      <p:sp>
        <p:nvSpPr>
          <p:cNvPr id="1089" name="Google Shape;1089;p64"/>
          <p:cNvSpPr/>
          <p:nvPr/>
        </p:nvSpPr>
        <p:spPr>
          <a:xfrm>
            <a:off x="4892044" y="1592964"/>
            <a:ext cx="1970400"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Buckets (Public &amp; Private)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0" name="Google Shape;1090;p64"/>
          <p:cNvSpPr/>
          <p:nvPr/>
        </p:nvSpPr>
        <p:spPr>
          <a:xfrm>
            <a:off x="6941698" y="1592525"/>
            <a:ext cx="1034100"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{{DSS_BUCK}}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1" name="Google Shape;1091;p64"/>
          <p:cNvSpPr/>
          <p:nvPr/>
        </p:nvSpPr>
        <p:spPr>
          <a:xfrm>
            <a:off x="7864530" y="1596535"/>
            <a:ext cx="943800" cy="260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{{DSS_BUCK_R}}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2" name="Google Shape;1092;p64"/>
          <p:cNvSpPr/>
          <p:nvPr/>
        </p:nvSpPr>
        <p:spPr>
          <a:xfrm>
            <a:off x="4800600" y="1864215"/>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93" name="Google Shape;1093;p64"/>
          <p:cNvCxnSpPr/>
          <p:nvPr/>
        </p:nvCxnSpPr>
        <p:spPr>
          <a:xfrm>
            <a:off x="4800600" y="2052368"/>
            <a:ext cx="3977700" cy="0"/>
          </a:xfrm>
          <a:prstGeom prst="straightConnector1">
            <a:avLst/>
          </a:prstGeom>
          <a:noFill/>
          <a:ln w="9525" cap="flat" cmpd="sng">
            <a:solidFill>
              <a:srgbClr val="888888"/>
            </a:solidFill>
            <a:prstDash val="solid"/>
            <a:round/>
            <a:headEnd type="none" w="sm" len="sm"/>
            <a:tailEnd type="none" w="sm" len="sm"/>
          </a:ln>
        </p:spPr>
      </p:cxnSp>
      <p:sp>
        <p:nvSpPr>
          <p:cNvPr id="1094" name="Google Shape;1094;p64"/>
          <p:cNvSpPr/>
          <p:nvPr/>
        </p:nvSpPr>
        <p:spPr>
          <a:xfrm>
            <a:off x="4892040" y="186305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Storage: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5" name="Google Shape;1095;p64"/>
          <p:cNvSpPr/>
          <p:nvPr/>
        </p:nvSpPr>
        <p:spPr>
          <a:xfrm>
            <a:off x="6941699" y="186421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{{DSS_AZ1}}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6" name="Google Shape;1096;p64"/>
          <p:cNvSpPr/>
          <p:nvPr/>
        </p:nvSpPr>
        <p:spPr>
          <a:xfrm>
            <a:off x="4800600" y="205236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97" name="Google Shape;1097;p64"/>
          <p:cNvCxnSpPr/>
          <p:nvPr/>
        </p:nvCxnSpPr>
        <p:spPr>
          <a:xfrm>
            <a:off x="4800600" y="2240522"/>
            <a:ext cx="3977700" cy="0"/>
          </a:xfrm>
          <a:prstGeom prst="straightConnector1">
            <a:avLst/>
          </a:prstGeom>
          <a:noFill/>
          <a:ln w="9525" cap="flat" cmpd="sng">
            <a:solidFill>
              <a:srgbClr val="888888"/>
            </a:solidFill>
            <a:prstDash val="solid"/>
            <a:round/>
            <a:headEnd type="none" w="sm" len="sm"/>
            <a:tailEnd type="none" w="sm" len="sm"/>
          </a:ln>
        </p:spPr>
      </p:cxnSp>
      <p:sp>
        <p:nvSpPr>
          <p:cNvPr id="1098" name="Google Shape;1098;p64"/>
          <p:cNvSpPr/>
          <p:nvPr/>
        </p:nvSpPr>
        <p:spPr>
          <a:xfrm>
            <a:off x="4892040" y="205364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Storage: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9" name="Google Shape;1099;p64"/>
          <p:cNvSpPr/>
          <p:nvPr/>
        </p:nvSpPr>
        <p:spPr>
          <a:xfrm>
            <a:off x="6941699" y="2052368"/>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0" name="Google Shape;1100;p64"/>
          <p:cNvSpPr/>
          <p:nvPr/>
        </p:nvSpPr>
        <p:spPr>
          <a:xfrm>
            <a:off x="4800600" y="2622578"/>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01" name="Google Shape;1101;p64"/>
          <p:cNvCxnSpPr/>
          <p:nvPr/>
        </p:nvCxnSpPr>
        <p:spPr>
          <a:xfrm>
            <a:off x="4800600" y="2810732"/>
            <a:ext cx="3977700" cy="0"/>
          </a:xfrm>
          <a:prstGeom prst="straightConnector1">
            <a:avLst/>
          </a:prstGeom>
          <a:noFill/>
          <a:ln w="9525" cap="flat" cmpd="sng">
            <a:solidFill>
              <a:srgbClr val="888888"/>
            </a:solidFill>
            <a:prstDash val="solid"/>
            <a:round/>
            <a:headEnd type="none" w="sm" len="sm"/>
            <a:tailEnd type="none" w="sm" len="sm"/>
          </a:ln>
        </p:spPr>
      </p:cxnSp>
      <p:sp>
        <p:nvSpPr>
          <p:cNvPr id="1102" name="Google Shape;1102;p64"/>
          <p:cNvSpPr/>
          <p:nvPr/>
        </p:nvSpPr>
        <p:spPr>
          <a:xfrm>
            <a:off x="4892040" y="262542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Virtual Drives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3" name="Google Shape;1103;p64"/>
          <p:cNvSpPr/>
          <p:nvPr/>
        </p:nvSpPr>
        <p:spPr>
          <a:xfrm>
            <a:off x="6941699" y="2622578"/>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{{DSS_VDRV}}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4" name="Google Shape;1104;p64"/>
          <p:cNvSpPr/>
          <p:nvPr/>
        </p:nvSpPr>
        <p:spPr>
          <a:xfrm>
            <a:off x="7864530" y="2648090"/>
            <a:ext cx="943800" cy="157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{{DSS_VDRV_R}}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05" name="Google Shape;1105;p64"/>
          <p:cNvSpPr/>
          <p:nvPr/>
        </p:nvSpPr>
        <p:spPr>
          <a:xfrm>
            <a:off x="4800600" y="2810732"/>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06" name="Google Shape;1106;p64"/>
          <p:cNvCxnSpPr/>
          <p:nvPr/>
        </p:nvCxnSpPr>
        <p:spPr>
          <a:xfrm>
            <a:off x="4800600" y="2998885"/>
            <a:ext cx="3977700" cy="0"/>
          </a:xfrm>
          <a:prstGeom prst="straightConnector1">
            <a:avLst/>
          </a:prstGeom>
          <a:noFill/>
          <a:ln w="9525" cap="flat" cmpd="sng">
            <a:solidFill>
              <a:srgbClr val="888888"/>
            </a:solidFill>
            <a:prstDash val="solid"/>
            <a:round/>
            <a:headEnd type="none" w="sm" len="sm"/>
            <a:tailEnd type="none" w="sm" len="sm"/>
          </a:ln>
        </p:spPr>
      </p:cxnSp>
      <p:sp>
        <p:nvSpPr>
          <p:cNvPr id="1107" name="Google Shape;1107;p64"/>
          <p:cNvSpPr/>
          <p:nvPr/>
        </p:nvSpPr>
        <p:spPr>
          <a:xfrm>
            <a:off x="4892040" y="281601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Cloud Managed Databases (PaaS)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8" name="Google Shape;1108;p64"/>
          <p:cNvSpPr/>
          <p:nvPr/>
        </p:nvSpPr>
        <p:spPr>
          <a:xfrm>
            <a:off x="6941699" y="281073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{{DSS_PAAS}}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9" name="Google Shape;1109;p64"/>
          <p:cNvSpPr/>
          <p:nvPr/>
        </p:nvSpPr>
        <p:spPr>
          <a:xfrm>
            <a:off x="4800600" y="2998885"/>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0" name="Google Shape;1110;p64"/>
          <p:cNvCxnSpPr/>
          <p:nvPr/>
        </p:nvCxnSpPr>
        <p:spPr>
          <a:xfrm>
            <a:off x="4800600" y="3187039"/>
            <a:ext cx="3977700" cy="0"/>
          </a:xfrm>
          <a:prstGeom prst="straightConnector1">
            <a:avLst/>
          </a:prstGeom>
          <a:noFill/>
          <a:ln w="9525" cap="flat" cmpd="sng">
            <a:solidFill>
              <a:srgbClr val="888888"/>
            </a:solidFill>
            <a:prstDash val="solid"/>
            <a:round/>
            <a:headEnd type="none" w="sm" len="sm"/>
            <a:tailEnd type="none" w="sm" len="sm"/>
          </a:ln>
        </p:spPr>
      </p:cxnSp>
      <p:sp>
        <p:nvSpPr>
          <p:cNvPr id="1111" name="Google Shape;1111;p64"/>
          <p:cNvSpPr/>
          <p:nvPr/>
        </p:nvSpPr>
        <p:spPr>
          <a:xfrm>
            <a:off x="4892040" y="300660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Data Warehouses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2" name="Google Shape;1112;p64"/>
          <p:cNvSpPr/>
          <p:nvPr/>
        </p:nvSpPr>
        <p:spPr>
          <a:xfrm>
            <a:off x="6941699" y="299888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{{DSS_DW}}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3" name="Google Shape;1113;p64"/>
          <p:cNvSpPr/>
          <p:nvPr/>
        </p:nvSpPr>
        <p:spPr>
          <a:xfrm>
            <a:off x="4800600" y="3187039"/>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4" name="Google Shape;1114;p64"/>
          <p:cNvCxnSpPr/>
          <p:nvPr/>
        </p:nvCxnSpPr>
        <p:spPr>
          <a:xfrm>
            <a:off x="4800600" y="3375192"/>
            <a:ext cx="3977700" cy="0"/>
          </a:xfrm>
          <a:prstGeom prst="straightConnector1">
            <a:avLst/>
          </a:prstGeom>
          <a:noFill/>
          <a:ln w="9525" cap="flat" cmpd="sng">
            <a:solidFill>
              <a:srgbClr val="888888"/>
            </a:solidFill>
            <a:prstDash val="solid"/>
            <a:round/>
            <a:headEnd type="none" w="sm" len="sm"/>
            <a:tailEnd type="none" w="sm" len="sm"/>
          </a:ln>
        </p:spPr>
      </p:cxnSp>
      <p:sp>
        <p:nvSpPr>
          <p:cNvPr id="1115" name="Google Shape;1115;p64"/>
          <p:cNvSpPr/>
          <p:nvPr/>
        </p:nvSpPr>
        <p:spPr>
          <a:xfrm>
            <a:off x="4892040" y="319720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Google BigQuery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6" name="Google Shape;1116;p64"/>
          <p:cNvSpPr/>
          <p:nvPr/>
        </p:nvSpPr>
        <p:spPr>
          <a:xfrm>
            <a:off x="6941699" y="318703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{{DSS_BQ}}</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7" name="Google Shape;1117;p64"/>
          <p:cNvSpPr/>
          <p:nvPr/>
        </p:nvSpPr>
        <p:spPr>
          <a:xfrm>
            <a:off x="4800600" y="3375192"/>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8" name="Google Shape;1118;p64"/>
          <p:cNvCxnSpPr/>
          <p:nvPr/>
        </p:nvCxnSpPr>
        <p:spPr>
          <a:xfrm>
            <a:off x="4800600" y="3563346"/>
            <a:ext cx="3977700" cy="0"/>
          </a:xfrm>
          <a:prstGeom prst="straightConnector1">
            <a:avLst/>
          </a:prstGeom>
          <a:noFill/>
          <a:ln w="9525" cap="flat" cmpd="sng">
            <a:solidFill>
              <a:srgbClr val="888888"/>
            </a:solidFill>
            <a:prstDash val="solid"/>
            <a:round/>
            <a:headEnd type="none" w="sm" len="sm"/>
            <a:tailEnd type="none" w="sm" len="sm"/>
          </a:ln>
        </p:spPr>
      </p:cxnSp>
      <p:sp>
        <p:nvSpPr>
          <p:cNvPr id="1119" name="Google Shape;1119;p64"/>
          <p:cNvSpPr/>
          <p:nvPr/>
        </p:nvSpPr>
        <p:spPr>
          <a:xfrm>
            <a:off x="4892040" y="338779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Amazon DynamoDB</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0" name="Google Shape;1120;p64"/>
          <p:cNvSpPr/>
          <p:nvPr/>
        </p:nvSpPr>
        <p:spPr>
          <a:xfrm>
            <a:off x="6941699" y="337519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{{DSS_DDB}}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1" name="Google Shape;1121;p64"/>
          <p:cNvSpPr/>
          <p:nvPr/>
        </p:nvSpPr>
        <p:spPr>
          <a:xfrm>
            <a:off x="4800600" y="3563346"/>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22" name="Google Shape;1122;p64"/>
          <p:cNvCxnSpPr/>
          <p:nvPr/>
        </p:nvCxnSpPr>
        <p:spPr>
          <a:xfrm>
            <a:off x="4800600" y="3751500"/>
            <a:ext cx="3977700" cy="0"/>
          </a:xfrm>
          <a:prstGeom prst="straightConnector1">
            <a:avLst/>
          </a:prstGeom>
          <a:noFill/>
          <a:ln w="9525" cap="flat" cmpd="sng">
            <a:solidFill>
              <a:srgbClr val="888888"/>
            </a:solidFill>
            <a:prstDash val="solid"/>
            <a:round/>
            <a:headEnd type="none" w="sm" len="sm"/>
            <a:tailEnd type="none" w="sm" len="sm"/>
          </a:ln>
        </p:spPr>
      </p:cxnSp>
      <p:sp>
        <p:nvSpPr>
          <p:cNvPr id="1123" name="Google Shape;1123;p64"/>
          <p:cNvSpPr/>
          <p:nvPr/>
        </p:nvSpPr>
        <p:spPr>
          <a:xfrm>
            <a:off x="4892040" y="357838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Snowflake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4" name="Google Shape;1124;p64"/>
          <p:cNvSpPr/>
          <p:nvPr/>
        </p:nvSpPr>
        <p:spPr>
          <a:xfrm>
            <a:off x="6941699" y="3563346"/>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{{DSS_SNOW}}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5" name="Google Shape;1125;p64"/>
          <p:cNvSpPr/>
          <p:nvPr/>
        </p:nvSpPr>
        <p:spPr>
          <a:xfrm>
            <a:off x="4800600" y="3751500"/>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26" name="Google Shape;1126;p64"/>
          <p:cNvCxnSpPr/>
          <p:nvPr/>
        </p:nvCxnSpPr>
        <p:spPr>
          <a:xfrm>
            <a:off x="4800600" y="3939653"/>
            <a:ext cx="3977700" cy="0"/>
          </a:xfrm>
          <a:prstGeom prst="straightConnector1">
            <a:avLst/>
          </a:prstGeom>
          <a:noFill/>
          <a:ln w="9525" cap="flat" cmpd="sng">
            <a:solidFill>
              <a:srgbClr val="888888"/>
            </a:solidFill>
            <a:prstDash val="solid"/>
            <a:round/>
            <a:headEnd type="none" w="sm" len="sm"/>
            <a:tailEnd type="none" w="sm" len="sm"/>
          </a:ln>
        </p:spPr>
      </p:cxnSp>
      <p:sp>
        <p:nvSpPr>
          <p:cNvPr id="1127" name="Google Shape;1127;p64"/>
          <p:cNvSpPr/>
          <p:nvPr/>
        </p:nvSpPr>
        <p:spPr>
          <a:xfrm>
            <a:off x="4892040" y="376897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Hosted Databases (IaaS)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8" name="Google Shape;1128;p64"/>
          <p:cNvSpPr/>
          <p:nvPr/>
        </p:nvSpPr>
        <p:spPr>
          <a:xfrm>
            <a:off x="6941699" y="375150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{{DSS_IAAS}}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9" name="Google Shape;1129;p64"/>
          <p:cNvSpPr/>
          <p:nvPr/>
        </p:nvSpPr>
        <p:spPr>
          <a:xfrm>
            <a:off x="4800600" y="3939653"/>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0" name="Google Shape;1130;p64"/>
          <p:cNvCxnSpPr/>
          <p:nvPr/>
        </p:nvCxnSpPr>
        <p:spPr>
          <a:xfrm>
            <a:off x="4800600" y="4127807"/>
            <a:ext cx="3977700" cy="0"/>
          </a:xfrm>
          <a:prstGeom prst="straightConnector1">
            <a:avLst/>
          </a:prstGeom>
          <a:noFill/>
          <a:ln w="9525" cap="flat" cmpd="sng">
            <a:solidFill>
              <a:srgbClr val="888888"/>
            </a:solidFill>
            <a:prstDash val="solid"/>
            <a:round/>
            <a:headEnd type="none" w="sm" len="sm"/>
            <a:tailEnd type="none" w="sm" len="sm"/>
          </a:ln>
        </p:spPr>
      </p:cxnSp>
      <p:sp>
        <p:nvSpPr>
          <p:cNvPr id="1131" name="Google Shape;1131;p64"/>
          <p:cNvSpPr/>
          <p:nvPr/>
        </p:nvSpPr>
        <p:spPr>
          <a:xfrm>
            <a:off x="4892040" y="395956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VM Disks (OS and non-OS)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2" name="Google Shape;1132;p64"/>
          <p:cNvSpPr/>
          <p:nvPr/>
        </p:nvSpPr>
        <p:spPr>
          <a:xfrm>
            <a:off x="6941699" y="3939653"/>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{{DSS_VMD}}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3" name="Google Shape;1133;p64"/>
          <p:cNvSpPr/>
          <p:nvPr/>
        </p:nvSpPr>
        <p:spPr>
          <a:xfrm>
            <a:off x="4800600" y="412780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4" name="Google Shape;1134;p64"/>
          <p:cNvCxnSpPr/>
          <p:nvPr/>
        </p:nvCxnSpPr>
        <p:spPr>
          <a:xfrm>
            <a:off x="4800600" y="4315960"/>
            <a:ext cx="3977700" cy="0"/>
          </a:xfrm>
          <a:prstGeom prst="straightConnector1">
            <a:avLst/>
          </a:prstGeom>
          <a:noFill/>
          <a:ln w="9525" cap="flat" cmpd="sng">
            <a:solidFill>
              <a:srgbClr val="888888"/>
            </a:solidFill>
            <a:prstDash val="solid"/>
            <a:round/>
            <a:headEnd type="none" w="sm" len="sm"/>
            <a:tailEnd type="none" w="sm" len="sm"/>
          </a:ln>
        </p:spPr>
      </p:cxnSp>
      <p:sp>
        <p:nvSpPr>
          <p:cNvPr id="1135" name="Google Shape;1135;p64"/>
          <p:cNvSpPr/>
          <p:nvPr/>
        </p:nvSpPr>
        <p:spPr>
          <a:xfrm>
            <a:off x="4892040" y="4150159"/>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Serverless Functions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6" name="Google Shape;1136;p64"/>
          <p:cNvSpPr/>
          <p:nvPr/>
        </p:nvSpPr>
        <p:spPr>
          <a:xfrm>
            <a:off x="6941699" y="412780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{{DSS_SLS}}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7" name="Google Shape;1137;p64"/>
          <p:cNvSpPr/>
          <p:nvPr/>
        </p:nvSpPr>
        <p:spPr>
          <a:xfrm>
            <a:off x="4800600" y="4315960"/>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8" name="Google Shape;1138;p64"/>
          <p:cNvCxnSpPr/>
          <p:nvPr/>
        </p:nvCxnSpPr>
        <p:spPr>
          <a:xfrm>
            <a:off x="4800600" y="4504114"/>
            <a:ext cx="3977700" cy="0"/>
          </a:xfrm>
          <a:prstGeom prst="straightConnector1">
            <a:avLst/>
          </a:prstGeom>
          <a:noFill/>
          <a:ln w="9525" cap="flat" cmpd="sng">
            <a:solidFill>
              <a:srgbClr val="888888"/>
            </a:solidFill>
            <a:prstDash val="solid"/>
            <a:round/>
            <a:headEnd type="none" w="sm" len="sm"/>
            <a:tailEnd type="none" w="sm" len="sm"/>
          </a:ln>
        </p:spPr>
      </p:cxnSp>
      <p:sp>
        <p:nvSpPr>
          <p:cNvPr id="1139" name="Google Shape;1139;p64"/>
          <p:cNvSpPr/>
          <p:nvPr/>
        </p:nvSpPr>
        <p:spPr>
          <a:xfrm>
            <a:off x="4892040" y="4340751"/>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Vertex 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0" name="Google Shape;1140;p64"/>
          <p:cNvSpPr/>
          <p:nvPr/>
        </p:nvSpPr>
        <p:spPr>
          <a:xfrm>
            <a:off x="6941699" y="431596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1" name="Google Shape;1141;p64"/>
          <p:cNvSpPr/>
          <p:nvPr/>
        </p:nvSpPr>
        <p:spPr>
          <a:xfrm>
            <a:off x="4816611" y="451835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42" name="Google Shape;1142;p64"/>
          <p:cNvCxnSpPr/>
          <p:nvPr/>
        </p:nvCxnSpPr>
        <p:spPr>
          <a:xfrm>
            <a:off x="4816611" y="4706513"/>
            <a:ext cx="3977700" cy="0"/>
          </a:xfrm>
          <a:prstGeom prst="straightConnector1">
            <a:avLst/>
          </a:prstGeom>
          <a:noFill/>
          <a:ln w="9525" cap="flat" cmpd="sng">
            <a:solidFill>
              <a:srgbClr val="888888"/>
            </a:solidFill>
            <a:prstDash val="solid"/>
            <a:round/>
            <a:headEnd type="none" w="sm" len="sm"/>
            <a:tailEnd type="none" w="sm" len="sm"/>
          </a:ln>
        </p:spPr>
      </p:cxnSp>
      <p:sp>
        <p:nvSpPr>
          <p:cNvPr id="1143" name="Google Shape;1143;p64"/>
          <p:cNvSpPr/>
          <p:nvPr/>
        </p:nvSpPr>
        <p:spPr>
          <a:xfrm>
            <a:off x="4908051" y="4531343"/>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Azure 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4" name="Google Shape;1144;p64"/>
          <p:cNvSpPr/>
          <p:nvPr/>
        </p:nvSpPr>
        <p:spPr>
          <a:xfrm>
            <a:off x="6957710" y="451835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{{DSS_AIAO}}</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sp>
        <p:nvSpPr>
          <p:cNvPr id="1145" name="Google Shape;1145;p64"/>
          <p:cNvSpPr/>
          <p:nvPr/>
        </p:nvSpPr>
        <p:spPr>
          <a:xfrm>
            <a:off x="4816611" y="4706513"/>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146" name="Google Shape;1146;p64"/>
          <p:cNvSpPr/>
          <p:nvPr/>
        </p:nvSpPr>
        <p:spPr>
          <a:xfrm>
            <a:off x="4908051" y="4721935"/>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7" name="Google Shape;1147;p64"/>
          <p:cNvSpPr/>
          <p:nvPr/>
        </p:nvSpPr>
        <p:spPr>
          <a:xfrm>
            <a:off x="6957710" y="4706513"/>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{{DSS_AIOA}}</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sp>
        <p:nvSpPr>
          <p:cNvPr id="1148" name="Google Shape;1148;p64"/>
          <p:cNvSpPr/>
          <p:nvPr/>
        </p:nvSpPr>
        <p:spPr>
          <a:xfrm>
            <a:off x="4816865" y="491252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149" name="Google Shape;1149;p64"/>
          <p:cNvSpPr/>
          <p:nvPr/>
        </p:nvSpPr>
        <p:spPr>
          <a:xfrm>
            <a:off x="4908305" y="4912527"/>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Shadow Data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0" name="Google Shape;1150;p64"/>
          <p:cNvSpPr/>
          <p:nvPr/>
        </p:nvSpPr>
        <p:spPr>
          <a:xfrm>
            <a:off x="6957964" y="491252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{{DSS_SHAD}}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51" name="Google Shape;1151;p64"/>
          <p:cNvCxnSpPr/>
          <p:nvPr/>
        </p:nvCxnSpPr>
        <p:spPr>
          <a:xfrm>
            <a:off x="4817440" y="5113722"/>
            <a:ext cx="3977700" cy="0"/>
          </a:xfrm>
          <a:prstGeom prst="straightConnector1">
            <a:avLst/>
          </a:prstGeom>
          <a:noFill/>
          <a:ln w="9525" cap="flat" cmpd="sng">
            <a:solidFill>
              <a:srgbClr val="888888"/>
            </a:solidFill>
            <a:prstDash val="solid"/>
            <a:round/>
            <a:headEnd type="none" w="sm" len="sm"/>
            <a:tailEnd type="none" w="sm" len="sm"/>
          </a:ln>
        </p:spPr>
      </p:cxnSp>
      <p:sp>
        <p:nvSpPr>
          <p:cNvPr id="1152" name="Google Shape;1152;p64"/>
          <p:cNvSpPr txBox="1"/>
          <p:nvPr/>
        </p:nvSpPr>
        <p:spPr>
          <a:xfrm>
            <a:off x="3395224" y="1457671"/>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{{VS_OSPKG_R}}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3" name="Google Shape;1153;p64"/>
          <p:cNvSpPr txBox="1"/>
          <p:nvPr/>
        </p:nvSpPr>
        <p:spPr>
          <a:xfrm>
            <a:off x="3395224" y="170582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{{VS_WINB_R}}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4" name="Google Shape;1154;p64"/>
          <p:cNvSpPr txBox="1"/>
          <p:nvPr/>
        </p:nvSpPr>
        <p:spPr>
          <a:xfrm>
            <a:off x="3395224" y="195397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{{VS_GOSTD_R}}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5" name="Google Shape;1155;p64"/>
          <p:cNvSpPr txBox="1"/>
          <p:nvPr/>
        </p:nvSpPr>
        <p:spPr>
          <a:xfrm>
            <a:off x="3395224" y="220212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6" name="Google Shape;1156;p64"/>
          <p:cNvSpPr txBox="1"/>
          <p:nvPr/>
        </p:nvSpPr>
        <p:spPr>
          <a:xfrm>
            <a:off x="3395224" y="245027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{{VS_RHOS_R}}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7" name="Google Shape;1157;p64"/>
          <p:cNvSpPr txBox="1"/>
          <p:nvPr/>
        </p:nvSpPr>
        <p:spPr>
          <a:xfrm>
            <a:off x="3395224" y="344592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{{VS_MAVEN_R}}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8" name="Google Shape;1158;p64"/>
          <p:cNvSpPr txBox="1"/>
          <p:nvPr/>
        </p:nvSpPr>
        <p:spPr>
          <a:xfrm>
            <a:off x="3395224" y="369407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{{VS_JSDEP_R}}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9" name="Google Shape;1159;p64"/>
          <p:cNvSpPr txBox="1"/>
          <p:nvPr/>
        </p:nvSpPr>
        <p:spPr>
          <a:xfrm>
            <a:off x="3395224" y="394222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{{VS_GRADL_R}}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0" name="Google Shape;1160;p64"/>
          <p:cNvSpPr txBox="1"/>
          <p:nvPr/>
        </p:nvSpPr>
        <p:spPr>
          <a:xfrm>
            <a:off x="3395224" y="4190379"/>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{{VS_EOL_R}}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1" name="Google Shape;1161;p64"/>
          <p:cNvSpPr txBox="1"/>
          <p:nvPr/>
        </p:nvSpPr>
        <p:spPr>
          <a:xfrm>
            <a:off x="7864530" y="140806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{{DSS_ON_R}}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2" name="Google Shape;1162;p64"/>
          <p:cNvSpPr txBox="1"/>
          <p:nvPr/>
        </p:nvSpPr>
        <p:spPr>
          <a:xfrm>
            <a:off x="7864530" y="1889100"/>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3" name="Google Shape;1163;p64"/>
          <p:cNvSpPr txBox="1"/>
          <p:nvPr/>
        </p:nvSpPr>
        <p:spPr>
          <a:xfrm>
            <a:off x="7864530" y="2077567"/>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4" name="Google Shape;1164;p64"/>
          <p:cNvSpPr txBox="1"/>
          <p:nvPr/>
        </p:nvSpPr>
        <p:spPr>
          <a:xfrm>
            <a:off x="7864530" y="2836556"/>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{{DSS_PAAS_R}}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5" name="Google Shape;1165;p64"/>
          <p:cNvSpPr txBox="1"/>
          <p:nvPr/>
        </p:nvSpPr>
        <p:spPr>
          <a:xfrm>
            <a:off x="7854823" y="3025023"/>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{{DSS_DW_R}}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6" name="Google Shape;1166;p64"/>
          <p:cNvSpPr txBox="1"/>
          <p:nvPr/>
        </p:nvSpPr>
        <p:spPr>
          <a:xfrm>
            <a:off x="7854823" y="3213490"/>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{{DSS_BQ_R}}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7" name="Google Shape;1167;p64"/>
          <p:cNvSpPr txBox="1"/>
          <p:nvPr/>
        </p:nvSpPr>
        <p:spPr>
          <a:xfrm>
            <a:off x="7864530" y="3401957"/>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{{DSS_DDB_R}}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8" name="Google Shape;1168;p64"/>
          <p:cNvSpPr txBox="1"/>
          <p:nvPr/>
        </p:nvSpPr>
        <p:spPr>
          <a:xfrm>
            <a:off x="7864530" y="3590423"/>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{{DSS_SNOW_R}}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9" name="Google Shape;1169;p64"/>
          <p:cNvSpPr txBox="1"/>
          <p:nvPr/>
        </p:nvSpPr>
        <p:spPr>
          <a:xfrm>
            <a:off x="7864530" y="3778890"/>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{{DSS_IAAS_R}}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0" name="Google Shape;1170;p64"/>
          <p:cNvSpPr txBox="1"/>
          <p:nvPr/>
        </p:nvSpPr>
        <p:spPr>
          <a:xfrm>
            <a:off x="7864530" y="3967357"/>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{{DSS_VMD_R}}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1" name="Google Shape;1171;p64"/>
          <p:cNvSpPr txBox="1"/>
          <p:nvPr/>
        </p:nvSpPr>
        <p:spPr>
          <a:xfrm>
            <a:off x="7864530" y="415582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{{DSS_SLS_R}}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2" name="Google Shape;1172;p64"/>
          <p:cNvSpPr txBox="1"/>
          <p:nvPr/>
        </p:nvSpPr>
        <p:spPr>
          <a:xfrm>
            <a:off x="7864530" y="434429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3" name="Google Shape;1173;p64"/>
          <p:cNvSpPr txBox="1"/>
          <p:nvPr/>
        </p:nvSpPr>
        <p:spPr>
          <a:xfrm>
            <a:off x="7880542" y="454700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{{DSS_AIAO_R}}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4" name="Google Shape;1174;p64"/>
          <p:cNvSpPr txBox="1"/>
          <p:nvPr/>
        </p:nvSpPr>
        <p:spPr>
          <a:xfrm>
            <a:off x="7880542" y="473546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{{DSS_AIOA_R}}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5" name="Google Shape;1175;p64"/>
          <p:cNvSpPr txBox="1"/>
          <p:nvPr/>
        </p:nvSpPr>
        <p:spPr>
          <a:xfrm>
            <a:off x="7880549" y="4899258"/>
            <a:ext cx="943800" cy="188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{{DSS_SHAD_R}}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1176" name="Google Shape;1176;p64"/>
          <p:cNvCxnSpPr/>
          <p:nvPr/>
        </p:nvCxnSpPr>
        <p:spPr>
          <a:xfrm>
            <a:off x="383107" y="413950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7" name="Google Shape;1177;p64"/>
          <p:cNvCxnSpPr/>
          <p:nvPr/>
        </p:nvCxnSpPr>
        <p:spPr>
          <a:xfrm>
            <a:off x="380066" y="3648302"/>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8" name="Google Shape;1178;p64"/>
          <p:cNvCxnSpPr/>
          <p:nvPr/>
        </p:nvCxnSpPr>
        <p:spPr>
          <a:xfrm>
            <a:off x="360551" y="315877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9" name="Google Shape;1179;p64"/>
          <p:cNvCxnSpPr/>
          <p:nvPr/>
        </p:nvCxnSpPr>
        <p:spPr>
          <a:xfrm>
            <a:off x="349400" y="266009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0" name="Google Shape;1180;p64"/>
          <p:cNvCxnSpPr/>
          <p:nvPr/>
        </p:nvCxnSpPr>
        <p:spPr>
          <a:xfrm>
            <a:off x="349653" y="217470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1" name="Google Shape;1181;p64"/>
          <p:cNvCxnSpPr/>
          <p:nvPr/>
        </p:nvCxnSpPr>
        <p:spPr>
          <a:xfrm>
            <a:off x="352695" y="1683508"/>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2" name="Google Shape;1182;p64"/>
          <p:cNvCxnSpPr/>
          <p:nvPr/>
        </p:nvCxnSpPr>
        <p:spPr>
          <a:xfrm>
            <a:off x="4817960" y="1391566"/>
            <a:ext cx="3977700" cy="0"/>
          </a:xfrm>
          <a:prstGeom prst="straightConnector1">
            <a:avLst/>
          </a:prstGeom>
          <a:noFill/>
          <a:ln w="14300" cap="flat" cmpd="sng">
            <a:solidFill>
              <a:srgbClr val="888888"/>
            </a:solidFill>
            <a:prstDash val="solid"/>
            <a:round/>
            <a:headEnd type="none" w="sm" len="sm"/>
            <a:tailEnd type="none" w="sm" len="sm"/>
          </a:ln>
        </p:spPr>
      </p:cxnSp>
      <p:cxnSp>
        <p:nvCxnSpPr>
          <p:cNvPr id="1183" name="Google Shape;1183;p64"/>
          <p:cNvCxnSpPr/>
          <p:nvPr/>
        </p:nvCxnSpPr>
        <p:spPr>
          <a:xfrm>
            <a:off x="370950" y="1408929"/>
            <a:ext cx="3977700" cy="0"/>
          </a:xfrm>
          <a:prstGeom prst="straightConnector1">
            <a:avLst/>
          </a:prstGeom>
          <a:noFill/>
          <a:ln w="14300" cap="flat" cmpd="sng">
            <a:solidFill>
              <a:srgbClr val="888888"/>
            </a:solidFill>
            <a:prstDash val="solid"/>
            <a:round/>
            <a:headEnd type="none" w="sm" len="sm"/>
            <a:tailEnd type="none" w="sm" len="sm"/>
          </a:ln>
        </p:spPr>
      </p:cxnSp>
      <p:sp>
        <p:nvSpPr>
          <p:cNvPr id="1184" name="Google Shape;1184;p64"/>
          <p:cNvSpPr/>
          <p:nvPr/>
        </p:nvSpPr>
        <p:spPr>
          <a:xfrm>
            <a:off x="4805920" y="225041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85" name="Google Shape;1185;p64"/>
          <p:cNvCxnSpPr/>
          <p:nvPr/>
        </p:nvCxnSpPr>
        <p:spPr>
          <a:xfrm>
            <a:off x="4805920" y="2438571"/>
            <a:ext cx="3977700" cy="0"/>
          </a:xfrm>
          <a:prstGeom prst="straightConnector1">
            <a:avLst/>
          </a:prstGeom>
          <a:noFill/>
          <a:ln w="9525" cap="flat" cmpd="sng">
            <a:solidFill>
              <a:srgbClr val="888888"/>
            </a:solidFill>
            <a:prstDash val="solid"/>
            <a:round/>
            <a:headEnd type="none" w="sm" len="sm"/>
            <a:tailEnd type="none" w="sm" len="sm"/>
          </a:ln>
        </p:spPr>
      </p:cxnSp>
      <p:sp>
        <p:nvSpPr>
          <p:cNvPr id="1186" name="Google Shape;1186;p64"/>
          <p:cNvSpPr/>
          <p:nvPr/>
        </p:nvSpPr>
        <p:spPr>
          <a:xfrm>
            <a:off x="4897361" y="224424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CosmosDB: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7" name="Google Shape;1187;p64"/>
          <p:cNvSpPr/>
          <p:nvPr/>
        </p:nvSpPr>
        <p:spPr>
          <a:xfrm>
            <a:off x="6947019" y="225041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{{DSS_CDBAZ1}}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8" name="Google Shape;1188;p64"/>
          <p:cNvSpPr/>
          <p:nvPr/>
        </p:nvSpPr>
        <p:spPr>
          <a:xfrm>
            <a:off x="4805920" y="2438571"/>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89" name="Google Shape;1189;p64"/>
          <p:cNvCxnSpPr/>
          <p:nvPr/>
        </p:nvCxnSpPr>
        <p:spPr>
          <a:xfrm>
            <a:off x="4805920" y="2632427"/>
            <a:ext cx="3977700" cy="0"/>
          </a:xfrm>
          <a:prstGeom prst="straightConnector1">
            <a:avLst/>
          </a:prstGeom>
          <a:noFill/>
          <a:ln w="9525" cap="flat" cmpd="sng">
            <a:solidFill>
              <a:srgbClr val="888888"/>
            </a:solidFill>
            <a:prstDash val="solid"/>
            <a:round/>
            <a:headEnd type="none" w="sm" len="sm"/>
            <a:tailEnd type="none" w="sm" len="sm"/>
          </a:ln>
        </p:spPr>
      </p:cxnSp>
      <p:sp>
        <p:nvSpPr>
          <p:cNvPr id="1190" name="Google Shape;1190;p64"/>
          <p:cNvSpPr/>
          <p:nvPr/>
        </p:nvSpPr>
        <p:spPr>
          <a:xfrm>
            <a:off x="4897361" y="243483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CosmosDB: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1" name="Google Shape;1191;p64"/>
          <p:cNvSpPr/>
          <p:nvPr/>
        </p:nvSpPr>
        <p:spPr>
          <a:xfrm>
            <a:off x="6947019" y="243857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{{DSS_CDBAZ2}}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2" name="Google Shape;1192;p64"/>
          <p:cNvSpPr txBox="1"/>
          <p:nvPr/>
        </p:nvSpPr>
        <p:spPr>
          <a:xfrm>
            <a:off x="7869851" y="227530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{{DSS_CDBAZ1_R}}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93" name="Google Shape;1193;p64"/>
          <p:cNvSpPr txBox="1"/>
          <p:nvPr/>
        </p:nvSpPr>
        <p:spPr>
          <a:xfrm>
            <a:off x="7869851" y="246376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{{DSS_CDBAZ2_R}}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1194" name="Google Shape;1194;p64"/>
          <p:cNvCxnSpPr/>
          <p:nvPr/>
        </p:nvCxnSpPr>
        <p:spPr>
          <a:xfrm>
            <a:off x="4816611" y="4900369"/>
            <a:ext cx="3977700" cy="0"/>
          </a:xfrm>
          <a:prstGeom prst="straightConnector1">
            <a:avLst/>
          </a:prstGeom>
          <a:noFill/>
          <a:ln w="9525" cap="flat" cmpd="sng">
            <a:solidFill>
              <a:srgbClr val="888888"/>
            </a:solidFill>
            <a:prstDash val="solid"/>
            <a:round/>
            <a:headEnd type="none" w="sm" len="sm"/>
            <a:tailEnd type="none" w="sm" len="sm"/>
          </a:ln>
        </p:spPr>
      </p:cxnSp>
      <p:sp>
        <p:nvSpPr>
          <p:cNvPr id="1195" name="Google Shape;1195;p64"/>
          <p:cNvSpPr/>
          <p:nvPr/>
        </p:nvSpPr>
        <p:spPr>
          <a:xfrm>
            <a:off x="7042170" y="14673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JetBrains Mono"/>
              </a:rPr>
              <a:t>✓</a:t>
            </a: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96" name="Google Shape;1196;p64"/>
          <p:cNvSpPr/>
          <p:nvPr/>
        </p:nvSpPr>
        <p:spPr>
          <a:xfrm>
            <a:off x="366844" y="437933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97" name="Google Shape;1197;p64"/>
          <p:cNvCxnSpPr/>
          <p:nvPr/>
        </p:nvCxnSpPr>
        <p:spPr>
          <a:xfrm>
            <a:off x="372419" y="4625423"/>
            <a:ext cx="3977700" cy="0"/>
          </a:xfrm>
          <a:prstGeom prst="straightConnector1">
            <a:avLst/>
          </a:prstGeom>
          <a:noFill/>
          <a:ln w="9525" cap="flat" cmpd="sng">
            <a:solidFill>
              <a:srgbClr val="888888"/>
            </a:solidFill>
            <a:prstDash val="solid"/>
            <a:round/>
            <a:headEnd type="none" w="sm" len="sm"/>
            <a:tailEnd type="none" w="sm" len="sm"/>
          </a:ln>
        </p:spPr>
      </p:cxnSp>
      <p:sp>
        <p:nvSpPr>
          <p:cNvPr id="1198" name="Google Shape;1198;p64"/>
          <p:cNvSpPr/>
          <p:nvPr/>
        </p:nvSpPr>
        <p:spPr>
          <a:xfrm>
            <a:off x="373120" y="437933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Linux Vulnerabilities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9" name="Google Shape;1199;p64"/>
          <p:cNvSpPr/>
          <p:nvPr/>
        </p:nvSpPr>
        <p:spPr>
          <a:xfrm>
            <a:off x="2571260" y="437933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{{VS_LVULN}}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00" name="Google Shape;1200;p64"/>
          <p:cNvSpPr txBox="1"/>
          <p:nvPr/>
        </p:nvSpPr>
        <p:spPr>
          <a:xfrm>
            <a:off x="3396898" y="443070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{{VS_LVULN_R}}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5"/>
        <p:cNvGrpSpPr/>
        <p:nvPr/>
      </p:nvGrpSpPr>
      <p:grpSpPr>
        <a:xfrm>
          <a:off x="0" y="0"/>
          <a:ext cx="0" cy="0"/>
          <a:chOff x="0" y="0"/>
          <a:chExt cx="0" cy="0"/>
        </a:xfrm>
      </p:grpSpPr>
      <p:sp>
        <p:nvSpPr>
          <p:cNvPr id="1206" name="Google Shape;1206;p65"/>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07" name="Google Shape;1207;p65"/>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Potential Technology Overlap</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208" name="Google Shape;1208;p65"/>
          <p:cNvSpPr/>
          <p:nvPr/>
        </p:nvSpPr>
        <p:spPr>
          <a:xfrm>
            <a:off x="457200" y="548650"/>
            <a:ext cx="83445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Third-party principals detected in your cloud environments, grouped by functional overlap with Wiz platform capabilities.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6B7280"/>
              </a:buClr>
              <a:buSzPts val="900"/>
              <a:buFont typeface="DM Sans"/>
              <a:buNone/>
            </a:pP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209" name="Google Shape;1209;p65"/>
          <p:cNvSpPr/>
          <p:nvPr/>
        </p:nvSpPr>
        <p:spPr>
          <a:xfrm>
            <a:off x="365750" y="868675"/>
            <a:ext cx="4019400" cy="431400"/>
          </a:xfrm>
          <a:prstGeom prst="rect">
            <a:avLst/>
          </a:prstGeom>
          <a:solidFill>
            <a:srgbClr val="F4CC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0" name="Google Shape;1210;p65"/>
          <p:cNvSpPr/>
          <p:nvPr/>
        </p:nvSpPr>
        <p:spPr>
          <a:xfrm>
            <a:off x="365750" y="868672"/>
            <a:ext cx="36600" cy="431400"/>
          </a:xfrm>
          <a:prstGeom prst="rect">
            <a:avLst/>
          </a:prstGeom>
          <a:solidFill>
            <a:srgbClr val="85200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1" name="Google Shape;1211;p65"/>
          <p:cNvSpPr/>
          <p:nvPr/>
        </p:nvSpPr>
        <p:spPr>
          <a:xfrm>
            <a:off x="502911" y="948505"/>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CLOUD SECURITY PLATFORM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3"/>
              </a:rPr>
              <a:t>↗</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CC4125"/>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CNAPP, CSPM, CIEM, DSPM</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2" name="Google Shape;1212;p65"/>
          <p:cNvSpPr/>
          <p:nvPr/>
        </p:nvSpPr>
        <p:spPr>
          <a:xfrm>
            <a:off x="371458" y="139118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3" name="Google Shape;1213;p65"/>
          <p:cNvSpPr/>
          <p:nvPr/>
        </p:nvSpPr>
        <p:spPr>
          <a:xfrm>
            <a:off x="371454" y="138014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4" name="Google Shape;1214;p65"/>
          <p:cNvSpPr/>
          <p:nvPr/>
        </p:nvSpPr>
        <p:spPr>
          <a:xfrm>
            <a:off x="2308825" y="1392425"/>
            <a:ext cx="736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5" name="Google Shape;1215;p65"/>
          <p:cNvSpPr/>
          <p:nvPr/>
        </p:nvSpPr>
        <p:spPr>
          <a:xfrm>
            <a:off x="2926225" y="1385850"/>
            <a:ext cx="15945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6" name="Google Shape;1216;p65"/>
          <p:cNvSpPr/>
          <p:nvPr/>
        </p:nvSpPr>
        <p:spPr>
          <a:xfrm>
            <a:off x="371449" y="163156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17" name="Google Shape;1217;p65"/>
          <p:cNvCxnSpPr/>
          <p:nvPr/>
        </p:nvCxnSpPr>
        <p:spPr>
          <a:xfrm>
            <a:off x="371449" y="1877657"/>
            <a:ext cx="3977700" cy="0"/>
          </a:xfrm>
          <a:prstGeom prst="straightConnector1">
            <a:avLst/>
          </a:prstGeom>
          <a:noFill/>
          <a:ln w="9525" cap="flat" cmpd="sng">
            <a:solidFill>
              <a:srgbClr val="E5E7EB"/>
            </a:solidFill>
            <a:prstDash val="solid"/>
            <a:round/>
            <a:headEnd type="none" w="sm" len="sm"/>
            <a:tailEnd type="none" w="sm" len="sm"/>
          </a:ln>
        </p:spPr>
      </p:cxnSp>
      <p:sp>
        <p:nvSpPr>
          <p:cNvPr id="1218" name="Google Shape;1218;p65"/>
          <p:cNvSpPr/>
          <p:nvPr/>
        </p:nvSpPr>
        <p:spPr>
          <a:xfrm>
            <a:off x="371445" y="16315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9" name="Google Shape;1219;p65"/>
          <p:cNvSpPr/>
          <p:nvPr/>
        </p:nvSpPr>
        <p:spPr>
          <a:xfrm>
            <a:off x="2311680" y="1631575"/>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0" name="Google Shape;1220;p65"/>
          <p:cNvSpPr/>
          <p:nvPr/>
        </p:nvSpPr>
        <p:spPr>
          <a:xfrm>
            <a:off x="371449" y="187765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1" name="Google Shape;1221;p65"/>
          <p:cNvCxnSpPr/>
          <p:nvPr/>
        </p:nvCxnSpPr>
        <p:spPr>
          <a:xfrm>
            <a:off x="355736" y="2115845"/>
            <a:ext cx="3977700" cy="0"/>
          </a:xfrm>
          <a:prstGeom prst="straightConnector1">
            <a:avLst/>
          </a:prstGeom>
          <a:noFill/>
          <a:ln w="9525" cap="flat" cmpd="sng">
            <a:solidFill>
              <a:srgbClr val="888888"/>
            </a:solidFill>
            <a:prstDash val="solid"/>
            <a:round/>
            <a:headEnd type="none" w="sm" len="sm"/>
            <a:tailEnd type="none" w="sm" len="sm"/>
          </a:ln>
        </p:spPr>
      </p:cxnSp>
      <p:sp>
        <p:nvSpPr>
          <p:cNvPr id="1222" name="Google Shape;1222;p65"/>
          <p:cNvSpPr/>
          <p:nvPr/>
        </p:nvSpPr>
        <p:spPr>
          <a:xfrm>
            <a:off x="371445" y="18776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3" name="Google Shape;1223;p65"/>
          <p:cNvSpPr/>
          <p:nvPr/>
        </p:nvSpPr>
        <p:spPr>
          <a:xfrm>
            <a:off x="371449" y="212375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4" name="Google Shape;1224;p65"/>
          <p:cNvCxnSpPr/>
          <p:nvPr/>
        </p:nvCxnSpPr>
        <p:spPr>
          <a:xfrm>
            <a:off x="371449" y="2369843"/>
            <a:ext cx="3977700" cy="0"/>
          </a:xfrm>
          <a:prstGeom prst="straightConnector1">
            <a:avLst/>
          </a:prstGeom>
          <a:noFill/>
          <a:ln w="9525" cap="flat" cmpd="sng">
            <a:solidFill>
              <a:srgbClr val="E5E7EB"/>
            </a:solidFill>
            <a:prstDash val="solid"/>
            <a:round/>
            <a:headEnd type="none" w="sm" len="sm"/>
            <a:tailEnd type="none" w="sm" len="sm"/>
          </a:ln>
        </p:spPr>
      </p:cxnSp>
      <p:sp>
        <p:nvSpPr>
          <p:cNvPr id="1225" name="Google Shape;1225;p65"/>
          <p:cNvSpPr/>
          <p:nvPr/>
        </p:nvSpPr>
        <p:spPr>
          <a:xfrm>
            <a:off x="371445" y="21237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6" name="Google Shape;1226;p65"/>
          <p:cNvSpPr/>
          <p:nvPr/>
        </p:nvSpPr>
        <p:spPr>
          <a:xfrm>
            <a:off x="371449" y="236984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7" name="Google Shape;1227;p65"/>
          <p:cNvCxnSpPr/>
          <p:nvPr/>
        </p:nvCxnSpPr>
        <p:spPr>
          <a:xfrm>
            <a:off x="358777" y="2606026"/>
            <a:ext cx="3977700" cy="0"/>
          </a:xfrm>
          <a:prstGeom prst="straightConnector1">
            <a:avLst/>
          </a:prstGeom>
          <a:noFill/>
          <a:ln w="9525" cap="flat" cmpd="sng">
            <a:solidFill>
              <a:srgbClr val="888888"/>
            </a:solidFill>
            <a:prstDash val="solid"/>
            <a:round/>
            <a:headEnd type="none" w="sm" len="sm"/>
            <a:tailEnd type="none" w="sm" len="sm"/>
          </a:ln>
        </p:spPr>
      </p:cxnSp>
      <p:sp>
        <p:nvSpPr>
          <p:cNvPr id="1228" name="Google Shape;1228;p65"/>
          <p:cNvSpPr/>
          <p:nvPr/>
        </p:nvSpPr>
        <p:spPr>
          <a:xfrm>
            <a:off x="371445" y="23698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9" name="Google Shape;1229;p65"/>
          <p:cNvSpPr/>
          <p:nvPr/>
        </p:nvSpPr>
        <p:spPr>
          <a:xfrm>
            <a:off x="371449" y="261593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30" name="Google Shape;1230;p65"/>
          <p:cNvCxnSpPr/>
          <p:nvPr/>
        </p:nvCxnSpPr>
        <p:spPr>
          <a:xfrm>
            <a:off x="361818" y="2865486"/>
            <a:ext cx="3977700" cy="0"/>
          </a:xfrm>
          <a:prstGeom prst="straightConnector1">
            <a:avLst/>
          </a:prstGeom>
          <a:noFill/>
          <a:ln w="9525" cap="flat" cmpd="sng">
            <a:solidFill>
              <a:srgbClr val="E5E7EB"/>
            </a:solidFill>
            <a:prstDash val="solid"/>
            <a:round/>
            <a:headEnd type="none" w="sm" len="sm"/>
            <a:tailEnd type="none" w="sm" len="sm"/>
          </a:ln>
        </p:spPr>
      </p:cxnSp>
      <p:sp>
        <p:nvSpPr>
          <p:cNvPr id="1231" name="Google Shape;1231;p65"/>
          <p:cNvSpPr/>
          <p:nvPr/>
        </p:nvSpPr>
        <p:spPr>
          <a:xfrm>
            <a:off x="371445" y="26159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232" name="Google Shape;1232;p65"/>
          <p:cNvCxnSpPr/>
          <p:nvPr/>
        </p:nvCxnSpPr>
        <p:spPr>
          <a:xfrm>
            <a:off x="349400" y="285967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3" name="Google Shape;1233;p65"/>
          <p:cNvCxnSpPr/>
          <p:nvPr/>
        </p:nvCxnSpPr>
        <p:spPr>
          <a:xfrm>
            <a:off x="349653" y="237428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4" name="Google Shape;1234;p65"/>
          <p:cNvCxnSpPr/>
          <p:nvPr/>
        </p:nvCxnSpPr>
        <p:spPr>
          <a:xfrm>
            <a:off x="352695" y="188308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5" name="Google Shape;1235;p65"/>
          <p:cNvCxnSpPr/>
          <p:nvPr/>
        </p:nvCxnSpPr>
        <p:spPr>
          <a:xfrm>
            <a:off x="370950" y="1608510"/>
            <a:ext cx="3977700" cy="0"/>
          </a:xfrm>
          <a:prstGeom prst="straightConnector1">
            <a:avLst/>
          </a:prstGeom>
          <a:noFill/>
          <a:ln w="14300" cap="flat" cmpd="sng">
            <a:solidFill>
              <a:srgbClr val="888888"/>
            </a:solidFill>
            <a:prstDash val="solid"/>
            <a:round/>
            <a:headEnd type="none" w="sm" len="sm"/>
            <a:tailEnd type="none" w="sm" len="sm"/>
          </a:ln>
        </p:spPr>
      </p:cxnSp>
      <p:sp>
        <p:nvSpPr>
          <p:cNvPr id="1236" name="Google Shape;1236;p65"/>
          <p:cNvSpPr/>
          <p:nvPr/>
        </p:nvSpPr>
        <p:spPr>
          <a:xfrm>
            <a:off x="4711846" y="3088397"/>
            <a:ext cx="4023300" cy="431400"/>
          </a:xfrm>
          <a:prstGeom prst="rect">
            <a:avLst/>
          </a:prstGeom>
          <a:solidFill>
            <a:srgbClr val="D9D9D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EAD1DC"/>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37" name="Google Shape;1237;p65"/>
          <p:cNvSpPr/>
          <p:nvPr/>
        </p:nvSpPr>
        <p:spPr>
          <a:xfrm>
            <a:off x="4711846" y="3088397"/>
            <a:ext cx="36600" cy="431400"/>
          </a:xfrm>
          <a:prstGeom prst="rect">
            <a:avLst/>
          </a:prstGeom>
          <a:solidFill>
            <a:srgbClr val="59595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38" name="Google Shape;1238;p65"/>
          <p:cNvSpPr/>
          <p:nvPr/>
        </p:nvSpPr>
        <p:spPr>
          <a:xfrm>
            <a:off x="4849007" y="31682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RUNTIME / WORKLOAD PROTECTION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4"/>
              </a:rPr>
              <a:t>↗</a:t>
            </a:r>
            <a:br>
              <a:rPr lang="en" sz="11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Sensor, Defend, CWPP,, TDR</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39" name="Google Shape;1239;p65"/>
          <p:cNvSpPr/>
          <p:nvPr/>
        </p:nvSpPr>
        <p:spPr>
          <a:xfrm>
            <a:off x="4717478" y="884700"/>
            <a:ext cx="4023300" cy="431400"/>
          </a:xfrm>
          <a:prstGeom prst="rect">
            <a:avLst/>
          </a:prstGeom>
          <a:solidFill>
            <a:srgbClr val="CBDA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40" name="Google Shape;1240;p65"/>
          <p:cNvSpPr/>
          <p:nvPr/>
        </p:nvSpPr>
        <p:spPr>
          <a:xfrm>
            <a:off x="4688967" y="884697"/>
            <a:ext cx="36600" cy="431400"/>
          </a:xfrm>
          <a:prstGeom prst="rect">
            <a:avLst/>
          </a:prstGeom>
          <a:solidFill>
            <a:srgbClr val="0B539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41" name="Google Shape;1241;p65"/>
          <p:cNvSpPr/>
          <p:nvPr/>
        </p:nvSpPr>
        <p:spPr>
          <a:xfrm>
            <a:off x="4854639" y="9645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5"/>
              </a:rPr>
              <a:t>CODE SECURITY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5"/>
              </a:rPr>
              <a:t>↗</a:t>
            </a:r>
            <a:br>
              <a:rPr lang="en" sz="1100" b="1" i="0" u="none" strike="noStrike" cap="none">
                <a:solidFill>
                  <a:srgbClr val="0B5394"/>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0B5394"/>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Code, SAST, SCA, Wiz CLI</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2" name="Google Shape;1242;p65"/>
          <p:cNvSpPr/>
          <p:nvPr/>
        </p:nvSpPr>
        <p:spPr>
          <a:xfrm>
            <a:off x="2308828" y="1875197"/>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3" name="Google Shape;1243;p65"/>
          <p:cNvSpPr/>
          <p:nvPr/>
        </p:nvSpPr>
        <p:spPr>
          <a:xfrm>
            <a:off x="2317385" y="2118819"/>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4" name="Google Shape;1244;p65"/>
          <p:cNvSpPr/>
          <p:nvPr/>
        </p:nvSpPr>
        <p:spPr>
          <a:xfrm>
            <a:off x="2320237" y="2362441"/>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5" name="Google Shape;1245;p65"/>
          <p:cNvSpPr/>
          <p:nvPr/>
        </p:nvSpPr>
        <p:spPr>
          <a:xfrm>
            <a:off x="2314532" y="260606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6" name="Google Shape;1246;p65"/>
          <p:cNvSpPr/>
          <p:nvPr/>
        </p:nvSpPr>
        <p:spPr>
          <a:xfrm>
            <a:off x="2926250" y="1629200"/>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{{PI_T1_1_FA}} / {{PI_T1_1_LA}}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7" name="Google Shape;1247;p65"/>
          <p:cNvSpPr/>
          <p:nvPr/>
        </p:nvSpPr>
        <p:spPr>
          <a:xfrm>
            <a:off x="2930509" y="187280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{{PI_T1_2_FA}} / {{PI_T1_2_LA}}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8" name="Google Shape;1248;p65"/>
          <p:cNvSpPr/>
          <p:nvPr/>
        </p:nvSpPr>
        <p:spPr>
          <a:xfrm>
            <a:off x="2934768" y="2116406"/>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{{PI_T1_3_FA}} / {{PI_T1_3_LA}}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9" name="Google Shape;1249;p65"/>
          <p:cNvSpPr/>
          <p:nvPr/>
        </p:nvSpPr>
        <p:spPr>
          <a:xfrm>
            <a:off x="2943286" y="2360009"/>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{{PI_T1_4_FA}} / {{PI_T1_4_LA}}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0" name="Google Shape;1250;p65"/>
          <p:cNvSpPr/>
          <p:nvPr/>
        </p:nvSpPr>
        <p:spPr>
          <a:xfrm>
            <a:off x="2939027" y="260361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{{PI_T1_5_FA}} / {{PI_T1_5_LA}}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1" name="Google Shape;1251;p65"/>
          <p:cNvSpPr/>
          <p:nvPr/>
        </p:nvSpPr>
        <p:spPr>
          <a:xfrm>
            <a:off x="4723186" y="138685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52" name="Google Shape;1252;p65"/>
          <p:cNvSpPr/>
          <p:nvPr/>
        </p:nvSpPr>
        <p:spPr>
          <a:xfrm>
            <a:off x="4706075" y="137581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3" name="Google Shape;1253;p65"/>
          <p:cNvSpPr/>
          <p:nvPr/>
        </p:nvSpPr>
        <p:spPr>
          <a:xfrm>
            <a:off x="6607455" y="1388100"/>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4" name="Google Shape;1254;p65"/>
          <p:cNvSpPr/>
          <p:nvPr/>
        </p:nvSpPr>
        <p:spPr>
          <a:xfrm>
            <a:off x="7277955" y="1381525"/>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5" name="Google Shape;1255;p65"/>
          <p:cNvSpPr/>
          <p:nvPr/>
        </p:nvSpPr>
        <p:spPr>
          <a:xfrm>
            <a:off x="4723178" y="162723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56" name="Google Shape;1256;p65"/>
          <p:cNvCxnSpPr/>
          <p:nvPr/>
        </p:nvCxnSpPr>
        <p:spPr>
          <a:xfrm>
            <a:off x="4723178" y="1873327"/>
            <a:ext cx="3977700" cy="0"/>
          </a:xfrm>
          <a:prstGeom prst="straightConnector1">
            <a:avLst/>
          </a:prstGeom>
          <a:noFill/>
          <a:ln w="9525" cap="flat" cmpd="sng">
            <a:solidFill>
              <a:srgbClr val="E5E7EB"/>
            </a:solidFill>
            <a:prstDash val="solid"/>
            <a:round/>
            <a:headEnd type="none" w="sm" len="sm"/>
            <a:tailEnd type="none" w="sm" len="sm"/>
          </a:ln>
        </p:spPr>
      </p:cxnSp>
      <p:sp>
        <p:nvSpPr>
          <p:cNvPr id="1257" name="Google Shape;1257;p65"/>
          <p:cNvSpPr/>
          <p:nvPr/>
        </p:nvSpPr>
        <p:spPr>
          <a:xfrm>
            <a:off x="4706067" y="16272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8" name="Google Shape;1258;p65"/>
          <p:cNvSpPr/>
          <p:nvPr/>
        </p:nvSpPr>
        <p:spPr>
          <a:xfrm>
            <a:off x="6609971" y="1627250"/>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9" name="Google Shape;1259;p65"/>
          <p:cNvSpPr/>
          <p:nvPr/>
        </p:nvSpPr>
        <p:spPr>
          <a:xfrm>
            <a:off x="4723178" y="187332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0" name="Google Shape;1260;p65"/>
          <p:cNvCxnSpPr/>
          <p:nvPr/>
        </p:nvCxnSpPr>
        <p:spPr>
          <a:xfrm>
            <a:off x="4707464" y="2111515"/>
            <a:ext cx="3977700" cy="0"/>
          </a:xfrm>
          <a:prstGeom prst="straightConnector1">
            <a:avLst/>
          </a:prstGeom>
          <a:noFill/>
          <a:ln w="9525" cap="flat" cmpd="sng">
            <a:solidFill>
              <a:srgbClr val="888888"/>
            </a:solidFill>
            <a:prstDash val="solid"/>
            <a:round/>
            <a:headEnd type="none" w="sm" len="sm"/>
            <a:tailEnd type="none" w="sm" len="sm"/>
          </a:ln>
        </p:spPr>
      </p:cxnSp>
      <p:sp>
        <p:nvSpPr>
          <p:cNvPr id="1261" name="Google Shape;1261;p65"/>
          <p:cNvSpPr/>
          <p:nvPr/>
        </p:nvSpPr>
        <p:spPr>
          <a:xfrm>
            <a:off x="4706067" y="187332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2" name="Google Shape;1262;p65"/>
          <p:cNvSpPr/>
          <p:nvPr/>
        </p:nvSpPr>
        <p:spPr>
          <a:xfrm>
            <a:off x="4723178" y="211942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3" name="Google Shape;1263;p65"/>
          <p:cNvCxnSpPr/>
          <p:nvPr/>
        </p:nvCxnSpPr>
        <p:spPr>
          <a:xfrm>
            <a:off x="4723178" y="2365513"/>
            <a:ext cx="3977700" cy="0"/>
          </a:xfrm>
          <a:prstGeom prst="straightConnector1">
            <a:avLst/>
          </a:prstGeom>
          <a:noFill/>
          <a:ln w="9525" cap="flat" cmpd="sng">
            <a:solidFill>
              <a:srgbClr val="E5E7EB"/>
            </a:solidFill>
            <a:prstDash val="solid"/>
            <a:round/>
            <a:headEnd type="none" w="sm" len="sm"/>
            <a:tailEnd type="none" w="sm" len="sm"/>
          </a:ln>
        </p:spPr>
      </p:cxnSp>
      <p:sp>
        <p:nvSpPr>
          <p:cNvPr id="1264" name="Google Shape;1264;p65"/>
          <p:cNvSpPr/>
          <p:nvPr/>
        </p:nvSpPr>
        <p:spPr>
          <a:xfrm>
            <a:off x="4706067" y="21194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5" name="Google Shape;1265;p65"/>
          <p:cNvSpPr/>
          <p:nvPr/>
        </p:nvSpPr>
        <p:spPr>
          <a:xfrm>
            <a:off x="4723178" y="236551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6" name="Google Shape;1266;p65"/>
          <p:cNvCxnSpPr/>
          <p:nvPr/>
        </p:nvCxnSpPr>
        <p:spPr>
          <a:xfrm>
            <a:off x="4710506" y="2601696"/>
            <a:ext cx="3977700" cy="0"/>
          </a:xfrm>
          <a:prstGeom prst="straightConnector1">
            <a:avLst/>
          </a:prstGeom>
          <a:noFill/>
          <a:ln w="9525" cap="flat" cmpd="sng">
            <a:solidFill>
              <a:srgbClr val="888888"/>
            </a:solidFill>
            <a:prstDash val="solid"/>
            <a:round/>
            <a:headEnd type="none" w="sm" len="sm"/>
            <a:tailEnd type="none" w="sm" len="sm"/>
          </a:ln>
        </p:spPr>
      </p:cxnSp>
      <p:sp>
        <p:nvSpPr>
          <p:cNvPr id="1267" name="Google Shape;1267;p65"/>
          <p:cNvSpPr/>
          <p:nvPr/>
        </p:nvSpPr>
        <p:spPr>
          <a:xfrm>
            <a:off x="4706067" y="23655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8" name="Google Shape;1268;p65"/>
          <p:cNvSpPr/>
          <p:nvPr/>
        </p:nvSpPr>
        <p:spPr>
          <a:xfrm>
            <a:off x="4723178" y="261160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69" name="Google Shape;1269;p65"/>
          <p:cNvSpPr/>
          <p:nvPr/>
        </p:nvSpPr>
        <p:spPr>
          <a:xfrm>
            <a:off x="4706067" y="261160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270" name="Google Shape;1270;p65"/>
          <p:cNvCxnSpPr/>
          <p:nvPr/>
        </p:nvCxnSpPr>
        <p:spPr>
          <a:xfrm>
            <a:off x="4716068" y="285534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1" name="Google Shape;1271;p65"/>
          <p:cNvCxnSpPr/>
          <p:nvPr/>
        </p:nvCxnSpPr>
        <p:spPr>
          <a:xfrm>
            <a:off x="4701382" y="236995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2" name="Google Shape;1272;p65"/>
          <p:cNvCxnSpPr/>
          <p:nvPr/>
        </p:nvCxnSpPr>
        <p:spPr>
          <a:xfrm>
            <a:off x="4704423" y="187875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3" name="Google Shape;1273;p65"/>
          <p:cNvCxnSpPr/>
          <p:nvPr/>
        </p:nvCxnSpPr>
        <p:spPr>
          <a:xfrm>
            <a:off x="4722679" y="1604180"/>
            <a:ext cx="3977700" cy="0"/>
          </a:xfrm>
          <a:prstGeom prst="straightConnector1">
            <a:avLst/>
          </a:prstGeom>
          <a:noFill/>
          <a:ln w="14300" cap="flat" cmpd="sng">
            <a:solidFill>
              <a:srgbClr val="888888"/>
            </a:solidFill>
            <a:prstDash val="solid"/>
            <a:round/>
            <a:headEnd type="none" w="sm" len="sm"/>
            <a:tailEnd type="none" w="sm" len="sm"/>
          </a:ln>
        </p:spPr>
      </p:cxnSp>
      <p:sp>
        <p:nvSpPr>
          <p:cNvPr id="1274" name="Google Shape;1274;p65"/>
          <p:cNvSpPr/>
          <p:nvPr/>
        </p:nvSpPr>
        <p:spPr>
          <a:xfrm>
            <a:off x="6606980" y="187086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5" name="Google Shape;1275;p65"/>
          <p:cNvSpPr/>
          <p:nvPr/>
        </p:nvSpPr>
        <p:spPr>
          <a:xfrm>
            <a:off x="6615954" y="211448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6" name="Google Shape;1276;p65"/>
          <p:cNvSpPr/>
          <p:nvPr/>
        </p:nvSpPr>
        <p:spPr>
          <a:xfrm>
            <a:off x="6618945" y="235810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7" name="Google Shape;1277;p65"/>
          <p:cNvSpPr/>
          <p:nvPr/>
        </p:nvSpPr>
        <p:spPr>
          <a:xfrm>
            <a:off x="6612962" y="260172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8" name="Google Shape;1278;p65"/>
          <p:cNvSpPr/>
          <p:nvPr/>
        </p:nvSpPr>
        <p:spPr>
          <a:xfrm>
            <a:off x="7277980" y="1624875"/>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{{PI_T2_1_FA}} / {{PI_T2_1_LA}}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9" name="Google Shape;1279;p65"/>
          <p:cNvSpPr/>
          <p:nvPr/>
        </p:nvSpPr>
        <p:spPr>
          <a:xfrm>
            <a:off x="7282310" y="18684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{{PI_T2_2_FA}} / {{PI_T2_2_LA}}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0" name="Google Shape;1280;p65"/>
          <p:cNvSpPr/>
          <p:nvPr/>
        </p:nvSpPr>
        <p:spPr>
          <a:xfrm>
            <a:off x="7286640" y="21120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{{PI_T2_3_FA}} / {{PI_T2_3_LA}}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1" name="Google Shape;1281;p65"/>
          <p:cNvSpPr/>
          <p:nvPr/>
        </p:nvSpPr>
        <p:spPr>
          <a:xfrm>
            <a:off x="7295300" y="2355677"/>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{{PI_T2_4_FA}} / {{PI_T2_4_LA}}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2" name="Google Shape;1282;p65"/>
          <p:cNvSpPr/>
          <p:nvPr/>
        </p:nvSpPr>
        <p:spPr>
          <a:xfrm>
            <a:off x="7290970" y="2599278"/>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{{PI_T2_5_FA}} / {{PI_T2_5_LA}}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3" name="Google Shape;1283;p65"/>
          <p:cNvSpPr/>
          <p:nvPr/>
        </p:nvSpPr>
        <p:spPr>
          <a:xfrm>
            <a:off x="4733920" y="3618329"/>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84" name="Google Shape;1284;p65"/>
          <p:cNvSpPr/>
          <p:nvPr/>
        </p:nvSpPr>
        <p:spPr>
          <a:xfrm>
            <a:off x="4716809" y="3607294"/>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5" name="Google Shape;1285;p65"/>
          <p:cNvSpPr/>
          <p:nvPr/>
        </p:nvSpPr>
        <p:spPr>
          <a:xfrm>
            <a:off x="6618189" y="3619575"/>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6" name="Google Shape;1286;p65"/>
          <p:cNvSpPr/>
          <p:nvPr/>
        </p:nvSpPr>
        <p:spPr>
          <a:xfrm>
            <a:off x="7288689" y="3613000"/>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7" name="Google Shape;1287;p65"/>
          <p:cNvSpPr/>
          <p:nvPr/>
        </p:nvSpPr>
        <p:spPr>
          <a:xfrm>
            <a:off x="4733912" y="385870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88" name="Google Shape;1288;p65"/>
          <p:cNvCxnSpPr/>
          <p:nvPr/>
        </p:nvCxnSpPr>
        <p:spPr>
          <a:xfrm>
            <a:off x="4733912" y="4104802"/>
            <a:ext cx="3977700" cy="0"/>
          </a:xfrm>
          <a:prstGeom prst="straightConnector1">
            <a:avLst/>
          </a:prstGeom>
          <a:noFill/>
          <a:ln w="9525" cap="flat" cmpd="sng">
            <a:solidFill>
              <a:srgbClr val="E5E7EB"/>
            </a:solidFill>
            <a:prstDash val="solid"/>
            <a:round/>
            <a:headEnd type="none" w="sm" len="sm"/>
            <a:tailEnd type="none" w="sm" len="sm"/>
          </a:ln>
        </p:spPr>
      </p:cxnSp>
      <p:sp>
        <p:nvSpPr>
          <p:cNvPr id="1289" name="Google Shape;1289;p65"/>
          <p:cNvSpPr/>
          <p:nvPr/>
        </p:nvSpPr>
        <p:spPr>
          <a:xfrm>
            <a:off x="4716801" y="385870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0" name="Google Shape;1290;p65"/>
          <p:cNvSpPr/>
          <p:nvPr/>
        </p:nvSpPr>
        <p:spPr>
          <a:xfrm>
            <a:off x="6620705" y="3858725"/>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1" name="Google Shape;1291;p65"/>
          <p:cNvSpPr/>
          <p:nvPr/>
        </p:nvSpPr>
        <p:spPr>
          <a:xfrm>
            <a:off x="4733912" y="4104802"/>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2" name="Google Shape;1292;p65"/>
          <p:cNvCxnSpPr/>
          <p:nvPr/>
        </p:nvCxnSpPr>
        <p:spPr>
          <a:xfrm>
            <a:off x="4718198" y="4342990"/>
            <a:ext cx="3977700" cy="0"/>
          </a:xfrm>
          <a:prstGeom prst="straightConnector1">
            <a:avLst/>
          </a:prstGeom>
          <a:noFill/>
          <a:ln w="9525" cap="flat" cmpd="sng">
            <a:solidFill>
              <a:srgbClr val="888888"/>
            </a:solidFill>
            <a:prstDash val="solid"/>
            <a:round/>
            <a:headEnd type="none" w="sm" len="sm"/>
            <a:tailEnd type="none" w="sm" len="sm"/>
          </a:ln>
        </p:spPr>
      </p:cxnSp>
      <p:sp>
        <p:nvSpPr>
          <p:cNvPr id="1293" name="Google Shape;1293;p65"/>
          <p:cNvSpPr/>
          <p:nvPr/>
        </p:nvSpPr>
        <p:spPr>
          <a:xfrm>
            <a:off x="4716801" y="410479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4" name="Google Shape;1294;p65"/>
          <p:cNvSpPr/>
          <p:nvPr/>
        </p:nvSpPr>
        <p:spPr>
          <a:xfrm>
            <a:off x="4733912" y="435089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5" name="Google Shape;1295;p65"/>
          <p:cNvCxnSpPr/>
          <p:nvPr/>
        </p:nvCxnSpPr>
        <p:spPr>
          <a:xfrm>
            <a:off x="4733912" y="4596988"/>
            <a:ext cx="3977700" cy="0"/>
          </a:xfrm>
          <a:prstGeom prst="straightConnector1">
            <a:avLst/>
          </a:prstGeom>
          <a:noFill/>
          <a:ln w="9525" cap="flat" cmpd="sng">
            <a:solidFill>
              <a:srgbClr val="E5E7EB"/>
            </a:solidFill>
            <a:prstDash val="solid"/>
            <a:round/>
            <a:headEnd type="none" w="sm" len="sm"/>
            <a:tailEnd type="none" w="sm" len="sm"/>
          </a:ln>
        </p:spPr>
      </p:cxnSp>
      <p:sp>
        <p:nvSpPr>
          <p:cNvPr id="1296" name="Google Shape;1296;p65"/>
          <p:cNvSpPr/>
          <p:nvPr/>
        </p:nvSpPr>
        <p:spPr>
          <a:xfrm>
            <a:off x="4716801" y="435088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7" name="Google Shape;1297;p65"/>
          <p:cNvSpPr/>
          <p:nvPr/>
        </p:nvSpPr>
        <p:spPr>
          <a:xfrm>
            <a:off x="4733912" y="4596988"/>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8" name="Google Shape;1298;p65"/>
          <p:cNvCxnSpPr/>
          <p:nvPr/>
        </p:nvCxnSpPr>
        <p:spPr>
          <a:xfrm>
            <a:off x="4721240" y="4833171"/>
            <a:ext cx="3977700" cy="0"/>
          </a:xfrm>
          <a:prstGeom prst="straightConnector1">
            <a:avLst/>
          </a:prstGeom>
          <a:noFill/>
          <a:ln w="9525" cap="flat" cmpd="sng">
            <a:solidFill>
              <a:srgbClr val="888888"/>
            </a:solidFill>
            <a:prstDash val="solid"/>
            <a:round/>
            <a:headEnd type="none" w="sm" len="sm"/>
            <a:tailEnd type="none" w="sm" len="sm"/>
          </a:ln>
        </p:spPr>
      </p:cxnSp>
      <p:sp>
        <p:nvSpPr>
          <p:cNvPr id="1299" name="Google Shape;1299;p65"/>
          <p:cNvSpPr/>
          <p:nvPr/>
        </p:nvSpPr>
        <p:spPr>
          <a:xfrm>
            <a:off x="4716801" y="4596983"/>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0" name="Google Shape;1300;p65"/>
          <p:cNvSpPr/>
          <p:nvPr/>
        </p:nvSpPr>
        <p:spPr>
          <a:xfrm>
            <a:off x="4733912" y="484308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301" name="Google Shape;1301;p65"/>
          <p:cNvSpPr/>
          <p:nvPr/>
        </p:nvSpPr>
        <p:spPr>
          <a:xfrm>
            <a:off x="4716801" y="4843077"/>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02" name="Google Shape;1302;p65"/>
          <p:cNvCxnSpPr/>
          <p:nvPr/>
        </p:nvCxnSpPr>
        <p:spPr>
          <a:xfrm>
            <a:off x="4694756" y="5086816"/>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3" name="Google Shape;1303;p65"/>
          <p:cNvCxnSpPr/>
          <p:nvPr/>
        </p:nvCxnSpPr>
        <p:spPr>
          <a:xfrm>
            <a:off x="4712116" y="4601433"/>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4" name="Google Shape;1304;p65"/>
          <p:cNvCxnSpPr/>
          <p:nvPr/>
        </p:nvCxnSpPr>
        <p:spPr>
          <a:xfrm>
            <a:off x="4715157" y="4110234"/>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5" name="Google Shape;1305;p65"/>
          <p:cNvCxnSpPr/>
          <p:nvPr/>
        </p:nvCxnSpPr>
        <p:spPr>
          <a:xfrm>
            <a:off x="4733413" y="3835655"/>
            <a:ext cx="3977700" cy="0"/>
          </a:xfrm>
          <a:prstGeom prst="straightConnector1">
            <a:avLst/>
          </a:prstGeom>
          <a:noFill/>
          <a:ln w="14300" cap="flat" cmpd="sng">
            <a:solidFill>
              <a:srgbClr val="888888"/>
            </a:solidFill>
            <a:prstDash val="solid"/>
            <a:round/>
            <a:headEnd type="none" w="sm" len="sm"/>
            <a:tailEnd type="none" w="sm" len="sm"/>
          </a:ln>
        </p:spPr>
      </p:cxnSp>
      <p:sp>
        <p:nvSpPr>
          <p:cNvPr id="1306" name="Google Shape;1306;p65"/>
          <p:cNvSpPr/>
          <p:nvPr/>
        </p:nvSpPr>
        <p:spPr>
          <a:xfrm>
            <a:off x="6617714" y="410234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7" name="Google Shape;1307;p65"/>
          <p:cNvSpPr/>
          <p:nvPr/>
        </p:nvSpPr>
        <p:spPr>
          <a:xfrm>
            <a:off x="6626688" y="434596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8" name="Google Shape;1308;p65"/>
          <p:cNvSpPr/>
          <p:nvPr/>
        </p:nvSpPr>
        <p:spPr>
          <a:xfrm>
            <a:off x="6629679" y="458958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9" name="Google Shape;1309;p65"/>
          <p:cNvSpPr/>
          <p:nvPr/>
        </p:nvSpPr>
        <p:spPr>
          <a:xfrm>
            <a:off x="6623696" y="483320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0" name="Google Shape;1310;p65"/>
          <p:cNvSpPr/>
          <p:nvPr/>
        </p:nvSpPr>
        <p:spPr>
          <a:xfrm>
            <a:off x="7288714" y="3856350"/>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{{PI_T3_1_FA}} / {{PI_T3_1_LA}}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1" name="Google Shape;1311;p65"/>
          <p:cNvSpPr/>
          <p:nvPr/>
        </p:nvSpPr>
        <p:spPr>
          <a:xfrm>
            <a:off x="7293044" y="40999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{{PI_T3_2_FA}} / {{PI_T3_2_LA}}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2" name="Google Shape;1312;p65"/>
          <p:cNvSpPr/>
          <p:nvPr/>
        </p:nvSpPr>
        <p:spPr>
          <a:xfrm>
            <a:off x="7297374" y="43435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{{PI_T3_3_FA}} / {{PI_T3_3_LA}}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3" name="Google Shape;1313;p65"/>
          <p:cNvSpPr/>
          <p:nvPr/>
        </p:nvSpPr>
        <p:spPr>
          <a:xfrm>
            <a:off x="7306035" y="4587152"/>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{{PI_T3_4_FA}} / {{PI_T3_4_LA}}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4" name="Google Shape;1314;p65"/>
          <p:cNvSpPr/>
          <p:nvPr/>
        </p:nvSpPr>
        <p:spPr>
          <a:xfrm>
            <a:off x="7301704" y="4830753"/>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{{PI_T3_5_FA}} / {{PI_T3_5_LA}}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5" name="Google Shape;1315;p65"/>
          <p:cNvSpPr/>
          <p:nvPr/>
        </p:nvSpPr>
        <p:spPr>
          <a:xfrm>
            <a:off x="369464" y="28911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16" name="Google Shape;1316;p65"/>
          <p:cNvCxnSpPr/>
          <p:nvPr/>
        </p:nvCxnSpPr>
        <p:spPr>
          <a:xfrm>
            <a:off x="359833" y="3140736"/>
            <a:ext cx="3977700" cy="0"/>
          </a:xfrm>
          <a:prstGeom prst="straightConnector1">
            <a:avLst/>
          </a:prstGeom>
          <a:noFill/>
          <a:ln w="9525" cap="flat" cmpd="sng">
            <a:solidFill>
              <a:srgbClr val="E5E7EB"/>
            </a:solidFill>
            <a:prstDash val="solid"/>
            <a:round/>
            <a:headEnd type="none" w="sm" len="sm"/>
            <a:tailEnd type="none" w="sm" len="sm"/>
          </a:ln>
        </p:spPr>
      </p:cxnSp>
      <p:sp>
        <p:nvSpPr>
          <p:cNvPr id="1317" name="Google Shape;1317;p65"/>
          <p:cNvSpPr/>
          <p:nvPr/>
        </p:nvSpPr>
        <p:spPr>
          <a:xfrm>
            <a:off x="369460" y="28911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18" name="Google Shape;1318;p65"/>
          <p:cNvCxnSpPr/>
          <p:nvPr/>
        </p:nvCxnSpPr>
        <p:spPr>
          <a:xfrm>
            <a:off x="347415" y="3134921"/>
            <a:ext cx="3977700" cy="0"/>
          </a:xfrm>
          <a:prstGeom prst="straightConnector1">
            <a:avLst/>
          </a:prstGeom>
          <a:noFill/>
          <a:ln w="9525" cap="flat" cmpd="sng">
            <a:solidFill>
              <a:srgbClr val="888888"/>
            </a:solidFill>
            <a:prstDash val="solid"/>
            <a:round/>
            <a:headEnd type="none" w="sm" len="sm"/>
            <a:tailEnd type="none" w="sm" len="sm"/>
          </a:ln>
        </p:spPr>
      </p:cxnSp>
      <p:sp>
        <p:nvSpPr>
          <p:cNvPr id="1319" name="Google Shape;1319;p65"/>
          <p:cNvSpPr/>
          <p:nvPr/>
        </p:nvSpPr>
        <p:spPr>
          <a:xfrm>
            <a:off x="2312547" y="28813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0" name="Google Shape;1320;p65"/>
          <p:cNvSpPr/>
          <p:nvPr/>
        </p:nvSpPr>
        <p:spPr>
          <a:xfrm>
            <a:off x="2937042" y="28788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{{PI_T1_6_FA}} / {{PI_T1_6_LA}}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1" name="Google Shape;1321;p65"/>
          <p:cNvSpPr/>
          <p:nvPr/>
        </p:nvSpPr>
        <p:spPr>
          <a:xfrm>
            <a:off x="380824" y="31565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22" name="Google Shape;1322;p65"/>
          <p:cNvCxnSpPr/>
          <p:nvPr/>
        </p:nvCxnSpPr>
        <p:spPr>
          <a:xfrm>
            <a:off x="371193" y="3406136"/>
            <a:ext cx="3977700" cy="0"/>
          </a:xfrm>
          <a:prstGeom prst="straightConnector1">
            <a:avLst/>
          </a:prstGeom>
          <a:noFill/>
          <a:ln w="9525" cap="flat" cmpd="sng">
            <a:solidFill>
              <a:srgbClr val="E5E7EB"/>
            </a:solidFill>
            <a:prstDash val="solid"/>
            <a:round/>
            <a:headEnd type="none" w="sm" len="sm"/>
            <a:tailEnd type="none" w="sm" len="sm"/>
          </a:ln>
        </p:spPr>
      </p:cxnSp>
      <p:sp>
        <p:nvSpPr>
          <p:cNvPr id="1323" name="Google Shape;1323;p65"/>
          <p:cNvSpPr/>
          <p:nvPr/>
        </p:nvSpPr>
        <p:spPr>
          <a:xfrm>
            <a:off x="380820" y="31565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24" name="Google Shape;1324;p65"/>
          <p:cNvCxnSpPr/>
          <p:nvPr/>
        </p:nvCxnSpPr>
        <p:spPr>
          <a:xfrm>
            <a:off x="358775" y="3400321"/>
            <a:ext cx="3977700" cy="0"/>
          </a:xfrm>
          <a:prstGeom prst="straightConnector1">
            <a:avLst/>
          </a:prstGeom>
          <a:noFill/>
          <a:ln w="9525" cap="flat" cmpd="sng">
            <a:solidFill>
              <a:srgbClr val="888888"/>
            </a:solidFill>
            <a:prstDash val="solid"/>
            <a:round/>
            <a:headEnd type="none" w="sm" len="sm"/>
            <a:tailEnd type="none" w="sm" len="sm"/>
          </a:ln>
        </p:spPr>
      </p:cxnSp>
      <p:sp>
        <p:nvSpPr>
          <p:cNvPr id="1325" name="Google Shape;1325;p65"/>
          <p:cNvSpPr/>
          <p:nvPr/>
        </p:nvSpPr>
        <p:spPr>
          <a:xfrm>
            <a:off x="2323907" y="31467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6" name="Google Shape;1326;p65"/>
          <p:cNvSpPr/>
          <p:nvPr/>
        </p:nvSpPr>
        <p:spPr>
          <a:xfrm>
            <a:off x="2948402" y="31442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{{PI_T1_7_FA}} / {{PI_T1_7_LA}}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7" name="Google Shape;1327;p65"/>
          <p:cNvSpPr/>
          <p:nvPr/>
        </p:nvSpPr>
        <p:spPr>
          <a:xfrm>
            <a:off x="377476" y="34219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28" name="Google Shape;1328;p65"/>
          <p:cNvCxnSpPr/>
          <p:nvPr/>
        </p:nvCxnSpPr>
        <p:spPr>
          <a:xfrm>
            <a:off x="367845" y="3671536"/>
            <a:ext cx="3977700" cy="0"/>
          </a:xfrm>
          <a:prstGeom prst="straightConnector1">
            <a:avLst/>
          </a:prstGeom>
          <a:noFill/>
          <a:ln w="9525" cap="flat" cmpd="sng">
            <a:solidFill>
              <a:srgbClr val="E5E7EB"/>
            </a:solidFill>
            <a:prstDash val="solid"/>
            <a:round/>
            <a:headEnd type="none" w="sm" len="sm"/>
            <a:tailEnd type="none" w="sm" len="sm"/>
          </a:ln>
        </p:spPr>
      </p:cxnSp>
      <p:sp>
        <p:nvSpPr>
          <p:cNvPr id="1329" name="Google Shape;1329;p65"/>
          <p:cNvSpPr/>
          <p:nvPr/>
        </p:nvSpPr>
        <p:spPr>
          <a:xfrm>
            <a:off x="377472" y="34219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30" name="Google Shape;1330;p65"/>
          <p:cNvCxnSpPr/>
          <p:nvPr/>
        </p:nvCxnSpPr>
        <p:spPr>
          <a:xfrm>
            <a:off x="355427" y="3665721"/>
            <a:ext cx="3977700" cy="0"/>
          </a:xfrm>
          <a:prstGeom prst="straightConnector1">
            <a:avLst/>
          </a:prstGeom>
          <a:noFill/>
          <a:ln w="9525" cap="flat" cmpd="sng">
            <a:solidFill>
              <a:srgbClr val="888888"/>
            </a:solidFill>
            <a:prstDash val="solid"/>
            <a:round/>
            <a:headEnd type="none" w="sm" len="sm"/>
            <a:tailEnd type="none" w="sm" len="sm"/>
          </a:ln>
        </p:spPr>
      </p:cxnSp>
      <p:sp>
        <p:nvSpPr>
          <p:cNvPr id="1331" name="Google Shape;1331;p65"/>
          <p:cNvSpPr/>
          <p:nvPr/>
        </p:nvSpPr>
        <p:spPr>
          <a:xfrm>
            <a:off x="2320559" y="34121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32" name="Google Shape;1332;p65"/>
          <p:cNvSpPr/>
          <p:nvPr/>
        </p:nvSpPr>
        <p:spPr>
          <a:xfrm>
            <a:off x="2945054" y="34096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{{PI_T1_8_FA}} / {{PI_T1_8_LA}}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1337"/>
        <p:cNvGrpSpPr/>
        <p:nvPr/>
      </p:nvGrpSpPr>
      <p:grpSpPr>
        <a:xfrm>
          <a:off x="0" y="0"/>
          <a:ext cx="0" cy="0"/>
          <a:chOff x="0" y="0"/>
          <a:chExt cx="0" cy="0"/>
        </a:xfrm>
      </p:grpSpPr>
      <p:pic>
        <p:nvPicPr>
          <p:cNvPr id="1338" name="Google Shape;1338;p66"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39" name="Google Shape;1339;p66"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40" name="Google Shape;1340;p66"/>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1" name="Google Shape;1341;p66"/>
          <p:cNvSpPr txBox="1"/>
          <p:nvPr/>
        </p:nvSpPr>
        <p:spPr>
          <a:xfrm>
            <a:off x="357125" y="3164537"/>
            <a:ext cx="2641800" cy="15399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An unscanned resource</a:t>
            </a:r>
            <a:r>
              <a:rPr lang="en" sz="900" b="0" i="0" u="none" strike="noStrike" cap="none">
                <a:solidFill>
                  <a:srgbClr val="01123F"/>
                </a:solidFill>
                <a:latin typeface="Poppins Light"/>
                <a:ea typeface="Poppins Light"/>
                <a:cs typeface="Poppins Light"/>
                <a:sym typeface="Poppins Light"/>
              </a:rPr>
              <a:t> is one in which </a:t>
            </a:r>
            <a:r>
              <a:rPr lang="en" sz="900" b="0" i="0" u="none" strike="noStrike" cap="none">
                <a:solidFill>
                  <a:schemeClr val="dk1"/>
                </a:solidFill>
                <a:highlight>
                  <a:srgbClr val="FFFFFF"/>
                </a:highlight>
                <a:latin typeface="Poppins Light"/>
                <a:ea typeface="Poppins Light"/>
                <a:cs typeface="Poppins Light"/>
                <a:sym typeface="Poppins Light"/>
              </a:rPr>
              <a:t>Wiz can identify but cannot directly scan, such as unconnected repositories, cloud accounts, and organizations.</a:t>
            </a:r>
            <a:r>
              <a:rPr lang="en" sz="900" b="0" i="0" u="none" strike="noStrike" cap="none">
                <a:solidFill>
                  <a:schemeClr val="dk1"/>
                </a:solidFill>
                <a:latin typeface="Poppins Light"/>
                <a:ea typeface="Poppins Light"/>
                <a:cs typeface="Poppins Light"/>
                <a:sym typeface="Poppins Light"/>
              </a:rPr>
              <a:t> </a:t>
            </a:r>
            <a:endParaRPr sz="900" b="0" i="0" u="none" strike="noStrike" cap="none">
              <a:solidFill>
                <a:schemeClr val="dk1"/>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Classify </a:t>
            </a:r>
            <a:r>
              <a:rPr lang="en" sz="900" b="0" i="0" u="none" strike="noStrike" cap="none">
                <a:solidFill>
                  <a:schemeClr val="dk1"/>
                </a:solidFill>
                <a:highlight>
                  <a:srgbClr val="FFFFFF"/>
                </a:highlight>
                <a:latin typeface="Poppins Light"/>
                <a:ea typeface="Poppins Light"/>
                <a:cs typeface="Poppins Light"/>
                <a:sym typeface="Poppins Light"/>
              </a:rPr>
              <a:t>these resources, determine if they belong to your organization or a third party, and identify gaps in your security coverage.</a:t>
            </a:r>
            <a:r>
              <a:rPr lang="en" sz="900" b="0" i="0" u="none" strike="noStrike" cap="none">
                <a:solidFill>
                  <a:schemeClr val="dk1"/>
                </a:solidFill>
                <a:latin typeface="Poppins Light"/>
                <a:ea typeface="Poppins Light"/>
                <a:cs typeface="Poppins Light"/>
                <a:sym typeface="Poppins Light"/>
              </a:rPr>
              <a:t> </a:t>
            </a:r>
            <a:endParaRPr sz="900" b="0" i="0" u="none" strike="noStrike" cap="none">
              <a:solidFill>
                <a:schemeClr val="dk1"/>
              </a:solidFill>
              <a:latin typeface="Poppins Light"/>
              <a:ea typeface="Poppins Light"/>
              <a:cs typeface="Poppins Light"/>
              <a:sym typeface="Poppins Light"/>
            </a:endParaRPr>
          </a:p>
        </p:txBody>
      </p:sp>
      <p:cxnSp>
        <p:nvCxnSpPr>
          <p:cNvPr id="1342" name="Google Shape;1342;p66"/>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43" name="Google Shape;1343;p66"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44" name="Google Shape;1344;p66"/>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5" name="Google Shape;1345;p66"/>
          <p:cNvSpPr txBox="1"/>
          <p:nvPr/>
        </p:nvSpPr>
        <p:spPr>
          <a:xfrm>
            <a:off x="3269550" y="3164537"/>
            <a:ext cx="2599800" cy="16185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 DSPM more widely</a:t>
            </a:r>
            <a:r>
              <a:rPr lang="en" sz="900" b="0" i="0" u="none" strike="noStrike" cap="none">
                <a:solidFill>
                  <a:srgbClr val="01123F"/>
                </a:solidFill>
                <a:latin typeface="Poppins Light"/>
                <a:ea typeface="Poppins Light"/>
                <a:cs typeface="Poppins Light"/>
                <a:sym typeface="Poppins Light"/>
              </a:rPr>
              <a:t> to extend visibility to your sensitive data and complement your existing tools. Discover PII, PHI and PCI across private buckets, PaaS, IaaS and AI buckets.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 Near Real-Time Scanning</a:t>
            </a:r>
            <a:r>
              <a:rPr lang="en" sz="900" b="0" i="0" u="none" strike="noStrike" cap="none">
                <a:solidFill>
                  <a:srgbClr val="01123F"/>
                </a:solidFill>
                <a:latin typeface="Poppins Light"/>
                <a:ea typeface="Poppins Light"/>
                <a:cs typeface="Poppins Light"/>
                <a:sym typeface="Poppins Light"/>
              </a:rPr>
              <a:t> to cut misconfiguration detection from 24-hour to an hour or less.</a:t>
            </a:r>
            <a:endParaRPr sz="900" b="0" i="0" u="none" strike="noStrike" cap="none">
              <a:solidFill>
                <a:srgbClr val="01123F"/>
              </a:solidFill>
              <a:latin typeface="Poppins Light"/>
              <a:ea typeface="Poppins Light"/>
              <a:cs typeface="Poppins Light"/>
              <a:sym typeface="Poppins Light"/>
            </a:endParaRPr>
          </a:p>
        </p:txBody>
      </p:sp>
      <p:sp>
        <p:nvSpPr>
          <p:cNvPr id="1346" name="Google Shape;1346;p66"/>
          <p:cNvSpPr txBox="1"/>
          <p:nvPr/>
        </p:nvSpPr>
        <p:spPr>
          <a:xfrm>
            <a:off x="6131275" y="3177641"/>
            <a:ext cx="2641800" cy="1684200"/>
          </a:xfrm>
          <a:prstGeom prst="rect">
            <a:avLst/>
          </a:prstGeom>
          <a:noFill/>
          <a:ln>
            <a:noFill/>
          </a:ln>
        </p:spPr>
        <p:txBody>
          <a:bodyPr spcFirstLastPara="1" wrap="square" lIns="68575" tIns="34275" rIns="68575" bIns="34275" anchor="t" anchorCtr="0">
            <a:normAutofit/>
          </a:bodyPr>
          <a:lstStyle/>
          <a:p>
            <a:pPr marL="274320" marR="0" lvl="0" indent="-8382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a:t>
            </a:r>
            <a:r>
              <a:rPr lang="en" sz="900" b="0" i="0" u="none" strike="noStrike" cap="none">
                <a:solidFill>
                  <a:srgbClr val="01123F"/>
                </a:solidFill>
                <a:latin typeface="Poppins Light"/>
                <a:ea typeface="Poppins Light"/>
                <a:cs typeface="Poppins Light"/>
                <a:sym typeface="Poppins Light"/>
              </a:rPr>
              <a:t> </a:t>
            </a:r>
            <a:r>
              <a:rPr lang="en" sz="900" b="1" i="0" u="none" strike="noStrike" cap="none">
                <a:solidFill>
                  <a:srgbClr val="01123F"/>
                </a:solidFill>
                <a:latin typeface="Poppins"/>
                <a:ea typeface="Poppins"/>
                <a:cs typeface="Poppins"/>
                <a:sym typeface="Poppins"/>
              </a:rPr>
              <a:t>Akamai Connector </a:t>
            </a:r>
            <a:r>
              <a:rPr lang="en" sz="900" b="0" i="0" u="none" strike="noStrike" cap="none">
                <a:solidFill>
                  <a:srgbClr val="01123F"/>
                </a:solidFill>
                <a:latin typeface="Poppins Light"/>
                <a:ea typeface="Poppins Light"/>
                <a:cs typeface="Poppins Light"/>
                <a:sym typeface="Poppins Light"/>
              </a:rPr>
              <a:t>provide better visibility in terms of exposure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Fold in third-party telemetry</a:t>
            </a:r>
            <a:r>
              <a:rPr lang="en" sz="900" b="0" i="0" u="none" strike="noStrike" cap="none">
                <a:solidFill>
                  <a:srgbClr val="01123F"/>
                </a:solidFill>
                <a:latin typeface="Poppins Light"/>
                <a:ea typeface="Poppins Light"/>
                <a:cs typeface="Poppins Light"/>
                <a:sym typeface="Poppins Light"/>
              </a:rPr>
              <a:t>. Integrating with additional tools to provide stronger attribution. I.e. Pull findings from tools like ServiceNow, Armorcode, Crowdstrike, etc.) across cloud and on-prem.</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Normalize, deduplicate and enrich existing Wiz data, in one view.</a:t>
            </a:r>
            <a:endParaRPr sz="900" b="0" i="0" u="none" strike="noStrike" cap="none">
              <a:solidFill>
                <a:srgbClr val="01123F"/>
              </a:solidFill>
              <a:latin typeface="Poppins Light"/>
              <a:ea typeface="Poppins Light"/>
              <a:cs typeface="Poppins Light"/>
              <a:sym typeface="Poppins Light"/>
            </a:endParaRPr>
          </a:p>
        </p:txBody>
      </p:sp>
      <p:sp>
        <p:nvSpPr>
          <p:cNvPr id="1347" name="Google Shape;1347;p66"/>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Expand Coverage 3rd Party Resources &amp; Telemetry</a:t>
            </a:r>
            <a:endParaRPr sz="1000" b="0" i="0" u="none" strike="noStrike" cap="none">
              <a:solidFill>
                <a:schemeClr val="dk1"/>
              </a:solidFill>
              <a:latin typeface="Poppins SemiBold"/>
              <a:ea typeface="Poppins SemiBold"/>
              <a:cs typeface="Poppins SemiBold"/>
              <a:sym typeface="Poppins SemiBold"/>
            </a:endParaRPr>
          </a:p>
        </p:txBody>
      </p:sp>
      <p:sp>
        <p:nvSpPr>
          <p:cNvPr id="1348" name="Google Shape;1348;p66"/>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Cloud Visibility &amp; Coverage</a:t>
            </a:r>
            <a:endParaRPr sz="2420">
              <a:latin typeface="Poppins Light"/>
              <a:ea typeface="Poppins Light"/>
              <a:cs typeface="Poppins Light"/>
              <a:sym typeface="Poppins Light"/>
            </a:endParaRPr>
          </a:p>
        </p:txBody>
      </p:sp>
      <p:pic>
        <p:nvPicPr>
          <p:cNvPr id="1349" name="Google Shape;1349;p66"/>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350" name="Google Shape;1350;p66"/>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351" name="Google Shape;1351;p66"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352" name="Google Shape;1352;p66"/>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Review Unscanned </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Resources for Coverage Gaps</a:t>
            </a:r>
            <a:endParaRPr sz="1000" b="0" i="0" u="none" strike="noStrike" cap="none">
              <a:solidFill>
                <a:schemeClr val="dk1"/>
              </a:solidFill>
              <a:latin typeface="Poppins SemiBold"/>
              <a:ea typeface="Poppins SemiBold"/>
              <a:cs typeface="Poppins SemiBold"/>
              <a:sym typeface="Poppins SemiBold"/>
            </a:endParaRPr>
          </a:p>
        </p:txBody>
      </p:sp>
      <p:sp>
        <p:nvSpPr>
          <p:cNvPr id="1353" name="Google Shape;1353;p66"/>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Adopt Additional Features &amp; Functionality in Wiz</a:t>
            </a:r>
            <a:endParaRPr sz="1000" b="0" i="0" u="none" strike="noStrike" cap="none">
              <a:solidFill>
                <a:schemeClr val="dk1"/>
              </a:solidFill>
              <a:latin typeface="Poppins SemiBold"/>
              <a:ea typeface="Poppins SemiBold"/>
              <a:cs typeface="Poppins SemiBold"/>
              <a:sym typeface="Poppins SemiBo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1358"/>
        <p:cNvGrpSpPr/>
        <p:nvPr/>
      </p:nvGrpSpPr>
      <p:grpSpPr>
        <a:xfrm>
          <a:off x="0" y="0"/>
          <a:ext cx="0" cy="0"/>
          <a:chOff x="0" y="0"/>
          <a:chExt cx="0" cy="0"/>
        </a:xfrm>
      </p:grpSpPr>
      <p:pic>
        <p:nvPicPr>
          <p:cNvPr id="1359" name="Google Shape;1359;p67" title="Rectangle 7854.png"/>
          <p:cNvPicPr preferRelativeResize="0"/>
          <p:nvPr/>
        </p:nvPicPr>
        <p:blipFill rotWithShape="1">
          <a:blip r:embed="rId3">
            <a:alphaModFix/>
          </a:blip>
          <a:srcRect/>
          <a:stretch/>
        </p:blipFill>
        <p:spPr>
          <a:xfrm>
            <a:off x="3237297" y="1445495"/>
            <a:ext cx="2669405" cy="2471275"/>
          </a:xfrm>
          <a:prstGeom prst="rect">
            <a:avLst/>
          </a:prstGeom>
          <a:noFill/>
          <a:ln>
            <a:noFill/>
          </a:ln>
        </p:spPr>
      </p:pic>
      <p:pic>
        <p:nvPicPr>
          <p:cNvPr id="1360" name="Google Shape;1360;p67" title="Rectangle 7854.png"/>
          <p:cNvPicPr preferRelativeResize="0"/>
          <p:nvPr/>
        </p:nvPicPr>
        <p:blipFill rotWithShape="1">
          <a:blip r:embed="rId3">
            <a:alphaModFix/>
          </a:blip>
          <a:srcRect/>
          <a:stretch/>
        </p:blipFill>
        <p:spPr>
          <a:xfrm>
            <a:off x="357122" y="1445495"/>
            <a:ext cx="2669405" cy="2471275"/>
          </a:xfrm>
          <a:prstGeom prst="rect">
            <a:avLst/>
          </a:prstGeom>
          <a:noFill/>
          <a:ln>
            <a:noFill/>
          </a:ln>
        </p:spPr>
      </p:pic>
      <p:cxnSp>
        <p:nvCxnSpPr>
          <p:cNvPr id="1361" name="Google Shape;1361;p67"/>
          <p:cNvCxnSpPr/>
          <p:nvPr/>
        </p:nvCxnSpPr>
        <p:spPr>
          <a:xfrm>
            <a:off x="63057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2" name="Google Shape;1362;p67"/>
          <p:cNvSpPr txBox="1"/>
          <p:nvPr/>
        </p:nvSpPr>
        <p:spPr>
          <a:xfrm>
            <a:off x="522275" y="2210368"/>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Assigning Ownership</a:t>
            </a:r>
            <a:endParaRPr sz="1000" b="0" i="0" u="none" strike="noStrike" cap="none">
              <a:solidFill>
                <a:schemeClr val="dk1"/>
              </a:solidFill>
              <a:latin typeface="Poppins SemiBold"/>
              <a:ea typeface="Poppins SemiBold"/>
              <a:cs typeface="Poppins SemiBold"/>
              <a:sym typeface="Poppins SemiBold"/>
            </a:endParaRPr>
          </a:p>
        </p:txBody>
      </p:sp>
      <p:sp>
        <p:nvSpPr>
          <p:cNvPr id="1363" name="Google Shape;1363;p67"/>
          <p:cNvSpPr txBox="1"/>
          <p:nvPr/>
        </p:nvSpPr>
        <p:spPr>
          <a:xfrm>
            <a:off x="391576" y="2613904"/>
            <a:ext cx="2575800" cy="12225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Service Catalog democratizes ownership to developers. Auto-group resources by applications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Resource Tag Rules convert Security Graph queries into auto-assigned tags, that can then be used as conditions to route tickets to the right owners</a:t>
            </a:r>
            <a:endParaRPr sz="900" b="0" i="0" u="none" strike="noStrike" cap="none">
              <a:solidFill>
                <a:srgbClr val="01123F"/>
              </a:solidFill>
              <a:latin typeface="Poppins Light"/>
              <a:ea typeface="Poppins Light"/>
              <a:cs typeface="Poppins Light"/>
              <a:sym typeface="Poppins Light"/>
            </a:endParaRPr>
          </a:p>
        </p:txBody>
      </p:sp>
      <p:cxnSp>
        <p:nvCxnSpPr>
          <p:cNvPr id="1364" name="Google Shape;1364;p67"/>
          <p:cNvCxnSpPr/>
          <p:nvPr/>
        </p:nvCxnSpPr>
        <p:spPr>
          <a:xfrm>
            <a:off x="3510750"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5" name="Google Shape;1365;p67"/>
          <p:cNvSpPr txBox="1"/>
          <p:nvPr/>
        </p:nvSpPr>
        <p:spPr>
          <a:xfrm>
            <a:off x="3362850"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1"/>
              </a:buClr>
              <a:buSzPts val="1100"/>
              <a:buFont typeface="Arial"/>
              <a:buNone/>
            </a:pPr>
            <a:r>
              <a:rPr lang="en" sz="1000" b="0" i="0" u="none" strike="noStrike" cap="none">
                <a:solidFill>
                  <a:schemeClr val="dk1"/>
                </a:solidFill>
                <a:latin typeface="Poppins SemiBold"/>
                <a:ea typeface="Poppins SemiBold"/>
                <a:cs typeface="Poppins SemiBold"/>
                <a:sym typeface="Poppins SemiBold"/>
              </a:rPr>
              <a:t>Leverage Integrations</a:t>
            </a:r>
            <a:endParaRPr sz="1000" b="0" i="0" u="none" strike="noStrike" cap="none">
              <a:solidFill>
                <a:schemeClr val="dk1"/>
              </a:solidFill>
              <a:latin typeface="Poppins SemiBold"/>
              <a:ea typeface="Poppins SemiBold"/>
              <a:cs typeface="Poppins SemiBold"/>
              <a:sym typeface="Poppins SemiBold"/>
            </a:endParaRPr>
          </a:p>
        </p:txBody>
      </p:sp>
      <p:pic>
        <p:nvPicPr>
          <p:cNvPr id="1366" name="Google Shape;1366;p67" title="Rectangle 7854.png"/>
          <p:cNvPicPr preferRelativeResize="0"/>
          <p:nvPr/>
        </p:nvPicPr>
        <p:blipFill rotWithShape="1">
          <a:blip r:embed="rId3">
            <a:alphaModFix/>
          </a:blip>
          <a:srcRect/>
          <a:stretch/>
        </p:blipFill>
        <p:spPr>
          <a:xfrm>
            <a:off x="6117472" y="1445495"/>
            <a:ext cx="2669405" cy="2471275"/>
          </a:xfrm>
          <a:prstGeom prst="rect">
            <a:avLst/>
          </a:prstGeom>
          <a:noFill/>
          <a:ln>
            <a:noFill/>
          </a:ln>
        </p:spPr>
      </p:pic>
      <p:cxnSp>
        <p:nvCxnSpPr>
          <p:cNvPr id="1367" name="Google Shape;1367;p67"/>
          <p:cNvCxnSpPr/>
          <p:nvPr/>
        </p:nvCxnSpPr>
        <p:spPr>
          <a:xfrm>
            <a:off x="639092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8" name="Google Shape;1368;p67"/>
          <p:cNvSpPr txBox="1"/>
          <p:nvPr/>
        </p:nvSpPr>
        <p:spPr>
          <a:xfrm>
            <a:off x="3251700" y="2613901"/>
            <a:ext cx="2655000" cy="9723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Get Issues in front of the right people, using the tools they’re accustomed to. Jira, ServiceNow, Teams, etc.</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Send prescriptive data to SIEM / SOAR</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Route by team, severity or environment. Integration + per-team Action templates = Cutting the noise and operationalizing Wiz </a:t>
            </a:r>
            <a:endParaRPr sz="900" b="0" i="0" u="none" strike="noStrike" cap="none">
              <a:solidFill>
                <a:srgbClr val="01123F"/>
              </a:solidFill>
              <a:latin typeface="Poppins Light"/>
              <a:ea typeface="Poppins Light"/>
              <a:cs typeface="Poppins Light"/>
              <a:sym typeface="Poppins Light"/>
            </a:endParaRPr>
          </a:p>
        </p:txBody>
      </p:sp>
      <p:sp>
        <p:nvSpPr>
          <p:cNvPr id="1369" name="Google Shape;1369;p67"/>
          <p:cNvSpPr txBox="1"/>
          <p:nvPr/>
        </p:nvSpPr>
        <p:spPr>
          <a:xfrm>
            <a:off x="6114876" y="2638600"/>
            <a:ext cx="2604000" cy="12783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Take the human out of the routing. Auto-assign Issues to the right owners and notify accordingly</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Enable self-service remediation with Worklows. Designed to offer more granular control around which context to include (i.e. Remediation steps, Investigation details, etc).</a:t>
            </a:r>
            <a:endParaRPr sz="900" b="0" i="0" u="none" strike="noStrike" cap="none">
              <a:solidFill>
                <a:srgbClr val="01123F"/>
              </a:solidFill>
              <a:latin typeface="Poppins Light"/>
              <a:ea typeface="Poppins Light"/>
              <a:cs typeface="Poppins Light"/>
              <a:sym typeface="Poppins Light"/>
            </a:endParaRPr>
          </a:p>
        </p:txBody>
      </p:sp>
      <p:sp>
        <p:nvSpPr>
          <p:cNvPr id="1370" name="Google Shape;1370;p67"/>
          <p:cNvSpPr txBox="1"/>
          <p:nvPr/>
        </p:nvSpPr>
        <p:spPr>
          <a:xfrm>
            <a:off x="6243025"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Automation (Workflows)</a:t>
            </a:r>
            <a:endParaRPr sz="1000" b="0" i="0" u="none" strike="noStrike" cap="none">
              <a:solidFill>
                <a:schemeClr val="dk1"/>
              </a:solidFill>
              <a:latin typeface="Poppins SemiBold"/>
              <a:ea typeface="Poppins SemiBold"/>
              <a:cs typeface="Poppins SemiBold"/>
              <a:sym typeface="Poppins SemiBold"/>
            </a:endParaRPr>
          </a:p>
        </p:txBody>
      </p:sp>
      <p:pic>
        <p:nvPicPr>
          <p:cNvPr id="1371" name="Google Shape;1371;p67"/>
          <p:cNvPicPr preferRelativeResize="0"/>
          <p:nvPr/>
        </p:nvPicPr>
        <p:blipFill rotWithShape="1">
          <a:blip r:embed="rId4">
            <a:alphaModFix/>
          </a:blip>
          <a:srcRect/>
          <a:stretch/>
        </p:blipFill>
        <p:spPr>
          <a:xfrm>
            <a:off x="1337712" y="1516460"/>
            <a:ext cx="708225" cy="708225"/>
          </a:xfrm>
          <a:prstGeom prst="rect">
            <a:avLst/>
          </a:prstGeom>
          <a:noFill/>
          <a:ln>
            <a:noFill/>
          </a:ln>
        </p:spPr>
      </p:pic>
      <p:sp>
        <p:nvSpPr>
          <p:cNvPr id="1372" name="Google Shape;1372;p67"/>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Democratization Improvements</a:t>
            </a:r>
            <a:endParaRPr sz="2420">
              <a:latin typeface="Poppins Light"/>
              <a:ea typeface="Poppins Light"/>
              <a:cs typeface="Poppins Light"/>
              <a:sym typeface="Poppins Light"/>
            </a:endParaRPr>
          </a:p>
        </p:txBody>
      </p:sp>
      <p:pic>
        <p:nvPicPr>
          <p:cNvPr id="1373" name="Google Shape;1373;p67" title="Group 1000002969.png"/>
          <p:cNvPicPr preferRelativeResize="0"/>
          <p:nvPr/>
        </p:nvPicPr>
        <p:blipFill rotWithShape="1">
          <a:blip r:embed="rId5">
            <a:alphaModFix/>
          </a:blip>
          <a:srcRect/>
          <a:stretch/>
        </p:blipFill>
        <p:spPr>
          <a:xfrm>
            <a:off x="4195263" y="1618451"/>
            <a:ext cx="753475" cy="504238"/>
          </a:xfrm>
          <a:prstGeom prst="rect">
            <a:avLst/>
          </a:prstGeom>
          <a:noFill/>
          <a:ln>
            <a:noFill/>
          </a:ln>
        </p:spPr>
      </p:pic>
      <p:pic>
        <p:nvPicPr>
          <p:cNvPr id="1374" name="Google Shape;1374;p67" title="Group 1000003039.png"/>
          <p:cNvPicPr preferRelativeResize="0"/>
          <p:nvPr/>
        </p:nvPicPr>
        <p:blipFill rotWithShape="1">
          <a:blip r:embed="rId6">
            <a:alphaModFix/>
          </a:blip>
          <a:srcRect/>
          <a:stretch/>
        </p:blipFill>
        <p:spPr>
          <a:xfrm>
            <a:off x="7196474" y="1601139"/>
            <a:ext cx="511400" cy="538875"/>
          </a:xfrm>
          <a:prstGeom prst="rect">
            <a:avLst/>
          </a:prstGeom>
          <a:noFill/>
          <a:ln>
            <a:noFill/>
          </a:ln>
        </p:spPr>
      </p:pic>
      <p:grpSp>
        <p:nvGrpSpPr>
          <p:cNvPr id="1375" name="Google Shape;1375;p67"/>
          <p:cNvGrpSpPr/>
          <p:nvPr/>
        </p:nvGrpSpPr>
        <p:grpSpPr>
          <a:xfrm>
            <a:off x="4726377" y="4145669"/>
            <a:ext cx="4010949" cy="832434"/>
            <a:chOff x="4726377" y="3456975"/>
            <a:chExt cx="4010949" cy="832434"/>
          </a:xfrm>
        </p:grpSpPr>
        <p:pic>
          <p:nvPicPr>
            <p:cNvPr id="1376" name="Google Shape;1376;p67" title="Rectangle 16310.png"/>
            <p:cNvPicPr preferRelativeResize="0"/>
            <p:nvPr/>
          </p:nvPicPr>
          <p:blipFill rotWithShape="1">
            <a:blip r:embed="rId7">
              <a:alphaModFix/>
            </a:blip>
            <a:srcRect/>
            <a:stretch/>
          </p:blipFill>
          <p:spPr>
            <a:xfrm>
              <a:off x="5072702" y="3456975"/>
              <a:ext cx="3664624" cy="832327"/>
            </a:xfrm>
            <a:prstGeom prst="rect">
              <a:avLst/>
            </a:prstGeom>
            <a:noFill/>
            <a:ln>
              <a:noFill/>
            </a:ln>
          </p:spPr>
        </p:pic>
        <p:sp>
          <p:nvSpPr>
            <p:cNvPr id="1377" name="Google Shape;1377;p67"/>
            <p:cNvSpPr txBox="1"/>
            <p:nvPr/>
          </p:nvSpPr>
          <p:spPr>
            <a:xfrm>
              <a:off x="5566125" y="3585438"/>
              <a:ext cx="30489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200"/>
                <a:buFont typeface="Arial"/>
                <a:buNone/>
              </a:pPr>
              <a:r>
                <a:rPr lang="en" sz="1100" b="0" i="0" u="none" strike="noStrike" cap="none">
                  <a:solidFill>
                    <a:schemeClr val="dk1"/>
                  </a:solidFill>
                  <a:latin typeface="Poppins Light"/>
                  <a:ea typeface="Poppins Light"/>
                  <a:cs typeface="Poppins Light"/>
                  <a:sym typeface="Poppins Light"/>
                </a:rPr>
                <a:t>Is Wiz completely integrated into your workflow? What could help make it part of day to day?</a:t>
              </a:r>
              <a:endParaRPr sz="1100" b="0" i="0" u="none" strike="noStrike" cap="none">
                <a:solidFill>
                  <a:schemeClr val="dk1"/>
                </a:solidFill>
                <a:latin typeface="Poppins Light"/>
                <a:ea typeface="Poppins Light"/>
                <a:cs typeface="Poppins Light"/>
                <a:sym typeface="Poppins Light"/>
              </a:endParaRPr>
            </a:p>
          </p:txBody>
        </p:sp>
        <p:pic>
          <p:nvPicPr>
            <p:cNvPr id="1378" name="Google Shape;1378;p67" title="Ellipse icon_color.png"/>
            <p:cNvPicPr preferRelativeResize="0"/>
            <p:nvPr/>
          </p:nvPicPr>
          <p:blipFill rotWithShape="1">
            <a:blip r:embed="rId8">
              <a:alphaModFix/>
            </a:blip>
            <a:srcRect/>
            <a:stretch/>
          </p:blipFill>
          <p:spPr>
            <a:xfrm>
              <a:off x="4726377" y="3457087"/>
              <a:ext cx="839753" cy="832322"/>
            </a:xfrm>
            <a:prstGeom prst="rect">
              <a:avLst/>
            </a:prstGeom>
            <a:noFill/>
            <a:ln>
              <a:noFill/>
            </a:ln>
          </p:spPr>
        </p:pic>
      </p:grpSp>
      <p:grpSp>
        <p:nvGrpSpPr>
          <p:cNvPr id="1379" name="Google Shape;1379;p67"/>
          <p:cNvGrpSpPr/>
          <p:nvPr/>
        </p:nvGrpSpPr>
        <p:grpSpPr>
          <a:xfrm>
            <a:off x="434302" y="4145669"/>
            <a:ext cx="4010949" cy="832434"/>
            <a:chOff x="434302" y="3456975"/>
            <a:chExt cx="4010949" cy="832434"/>
          </a:xfrm>
        </p:grpSpPr>
        <p:pic>
          <p:nvPicPr>
            <p:cNvPr id="1380" name="Google Shape;1380;p67" title="Rectangle 16310.png"/>
            <p:cNvPicPr preferRelativeResize="0"/>
            <p:nvPr/>
          </p:nvPicPr>
          <p:blipFill rotWithShape="1">
            <a:blip r:embed="rId7">
              <a:alphaModFix/>
            </a:blip>
            <a:srcRect/>
            <a:stretch/>
          </p:blipFill>
          <p:spPr>
            <a:xfrm>
              <a:off x="780627" y="3456975"/>
              <a:ext cx="3664624" cy="832327"/>
            </a:xfrm>
            <a:prstGeom prst="rect">
              <a:avLst/>
            </a:prstGeom>
            <a:noFill/>
            <a:ln>
              <a:noFill/>
            </a:ln>
          </p:spPr>
        </p:pic>
        <p:sp>
          <p:nvSpPr>
            <p:cNvPr id="1381" name="Google Shape;1381;p67"/>
            <p:cNvSpPr txBox="1"/>
            <p:nvPr/>
          </p:nvSpPr>
          <p:spPr>
            <a:xfrm>
              <a:off x="1274050" y="3585438"/>
              <a:ext cx="31653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171"/>
                <a:buFont typeface="Arial"/>
                <a:buNone/>
              </a:pPr>
              <a:r>
                <a:rPr lang="en" sz="1100" b="0" i="0" u="none" strike="noStrike" cap="none">
                  <a:solidFill>
                    <a:schemeClr val="dk1"/>
                  </a:solidFill>
                  <a:latin typeface="Poppins Light"/>
                  <a:ea typeface="Poppins Light"/>
                  <a:cs typeface="Poppins Light"/>
                  <a:sym typeface="Poppins Light"/>
                </a:rPr>
                <a:t>What is your current issues resolution flow? What is your ideal state? Is there anything blocking you from further democratization? </a:t>
              </a:r>
              <a:endParaRPr sz="1100" b="0" i="0" u="none" strike="noStrike" cap="none">
                <a:solidFill>
                  <a:schemeClr val="dk1"/>
                </a:solidFill>
                <a:latin typeface="Poppins Light"/>
                <a:ea typeface="Poppins Light"/>
                <a:cs typeface="Poppins Light"/>
                <a:sym typeface="Poppins Light"/>
              </a:endParaRPr>
            </a:p>
          </p:txBody>
        </p:sp>
        <p:grpSp>
          <p:nvGrpSpPr>
            <p:cNvPr id="1382" name="Google Shape;1382;p67"/>
            <p:cNvGrpSpPr/>
            <p:nvPr/>
          </p:nvGrpSpPr>
          <p:grpSpPr>
            <a:xfrm>
              <a:off x="434302" y="3457087"/>
              <a:ext cx="839753" cy="832322"/>
              <a:chOff x="434302" y="3457087"/>
              <a:chExt cx="839753" cy="832322"/>
            </a:xfrm>
          </p:grpSpPr>
          <p:pic>
            <p:nvPicPr>
              <p:cNvPr id="1383" name="Google Shape;1383;p67" title="Ellipse icon_color.png"/>
              <p:cNvPicPr preferRelativeResize="0"/>
              <p:nvPr/>
            </p:nvPicPr>
            <p:blipFill rotWithShape="1">
              <a:blip r:embed="rId8">
                <a:alphaModFix/>
              </a:blip>
              <a:srcRect/>
              <a:stretch/>
            </p:blipFill>
            <p:spPr>
              <a:xfrm>
                <a:off x="434302" y="3457087"/>
                <a:ext cx="839753" cy="832322"/>
              </a:xfrm>
              <a:prstGeom prst="rect">
                <a:avLst/>
              </a:prstGeom>
              <a:noFill/>
              <a:ln>
                <a:noFill/>
              </a:ln>
            </p:spPr>
          </p:pic>
          <p:pic>
            <p:nvPicPr>
              <p:cNvPr id="1384" name="Google Shape;1384;p67"/>
              <p:cNvPicPr preferRelativeResize="0"/>
              <p:nvPr/>
            </p:nvPicPr>
            <p:blipFill rotWithShape="1">
              <a:blip r:embed="rId9">
                <a:alphaModFix/>
              </a:blip>
              <a:srcRect/>
              <a:stretch/>
            </p:blipFill>
            <p:spPr>
              <a:xfrm>
                <a:off x="577339" y="3703834"/>
                <a:ext cx="553675" cy="338602"/>
              </a:xfrm>
              <a:prstGeom prst="rect">
                <a:avLst/>
              </a:prstGeom>
              <a:noFill/>
              <a:ln>
                <a:noFill/>
              </a:ln>
            </p:spPr>
          </p:pic>
        </p:grpSp>
      </p:grpSp>
      <p:pic>
        <p:nvPicPr>
          <p:cNvPr id="1385" name="Google Shape;1385;p67" title="Group 1000003678 (1).png"/>
          <p:cNvPicPr preferRelativeResize="0"/>
          <p:nvPr/>
        </p:nvPicPr>
        <p:blipFill rotWithShape="1">
          <a:blip r:embed="rId10">
            <a:alphaModFix/>
          </a:blip>
          <a:srcRect/>
          <a:stretch/>
        </p:blipFill>
        <p:spPr>
          <a:xfrm>
            <a:off x="4930184" y="4346632"/>
            <a:ext cx="430800" cy="4246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1390"/>
        <p:cNvGrpSpPr/>
        <p:nvPr/>
      </p:nvGrpSpPr>
      <p:grpSpPr>
        <a:xfrm>
          <a:off x="0" y="0"/>
          <a:ext cx="0" cy="0"/>
          <a:chOff x="0" y="0"/>
          <a:chExt cx="0" cy="0"/>
        </a:xfrm>
      </p:grpSpPr>
      <p:pic>
        <p:nvPicPr>
          <p:cNvPr id="1391" name="Google Shape;1391;p68"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92" name="Google Shape;1392;p68"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93" name="Google Shape;1393;p68"/>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4" name="Google Shape;1394;p68"/>
          <p:cNvSpPr txBox="1"/>
          <p:nvPr/>
        </p:nvSpPr>
        <p:spPr>
          <a:xfrm>
            <a:off x="357125" y="3203850"/>
            <a:ext cx="2641800" cy="12321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How do you determine what to work on first?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Why are the custom TWDC Graph Controls marked as “Critical”? Is this still relevant?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How are you alerted on Critical Issues, when they arise?</a:t>
            </a:r>
            <a:endParaRPr sz="900" b="0" i="0" u="none" strike="noStrike" cap="none">
              <a:solidFill>
                <a:srgbClr val="01123F"/>
              </a:solidFill>
              <a:latin typeface="Poppins Light"/>
              <a:ea typeface="Poppins Light"/>
              <a:cs typeface="Poppins Light"/>
              <a:sym typeface="Poppins Light"/>
            </a:endParaRPr>
          </a:p>
        </p:txBody>
      </p:sp>
      <p:cxnSp>
        <p:nvCxnSpPr>
          <p:cNvPr id="1395" name="Google Shape;1395;p68"/>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96" name="Google Shape;1396;p68"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97" name="Google Shape;1397;p68"/>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8" name="Google Shape;1398;p68"/>
          <p:cNvSpPr txBox="1"/>
          <p:nvPr/>
        </p:nvSpPr>
        <p:spPr>
          <a:xfrm>
            <a:off x="3269550" y="3203850"/>
            <a:ext cx="2599800" cy="14220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You only have “MBI” (Medium Business Impact) resources defined, why?</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Grouping filters or queries to identify the “low hanging fruit” Issues (i.e. resources exhibiting the same Issue)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Are you using Posture Policies to identify and group high-impact vulnerabilities?</a:t>
            </a:r>
            <a:endParaRPr sz="900" b="0" i="0" u="none" strike="noStrike" cap="none">
              <a:solidFill>
                <a:srgbClr val="01123F"/>
              </a:solidFill>
              <a:latin typeface="Poppins Light"/>
              <a:ea typeface="Poppins Light"/>
              <a:cs typeface="Poppins Light"/>
              <a:sym typeface="Poppins Light"/>
            </a:endParaRPr>
          </a:p>
        </p:txBody>
      </p:sp>
      <p:sp>
        <p:nvSpPr>
          <p:cNvPr id="1399" name="Google Shape;1399;p68"/>
          <p:cNvSpPr txBox="1"/>
          <p:nvPr/>
        </p:nvSpPr>
        <p:spPr>
          <a:xfrm>
            <a:off x="6081878" y="3203850"/>
            <a:ext cx="2641800" cy="16842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Green Agent for automated investigation and remediation context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Advanced ASM to validate which external exposures are truly exploitable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Red Agent to actively probe your web apps and APIS to proactively identify high-impact exposures</a:t>
            </a:r>
            <a:endParaRPr sz="900" b="0" i="0" u="none" strike="noStrike" cap="none">
              <a:solidFill>
                <a:srgbClr val="01123F"/>
              </a:solidFill>
              <a:latin typeface="Poppins Light"/>
              <a:ea typeface="Poppins Light"/>
              <a:cs typeface="Poppins Light"/>
              <a:sym typeface="Poppins Light"/>
            </a:endParaRPr>
          </a:p>
        </p:txBody>
      </p:sp>
      <p:sp>
        <p:nvSpPr>
          <p:cNvPr id="1400" name="Google Shape;1400;p68"/>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Using Wiz Tools to Remediate</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More Efficiently</a:t>
            </a:r>
            <a:endParaRPr sz="1000" b="0" i="0" u="none" strike="noStrike" cap="none">
              <a:solidFill>
                <a:schemeClr val="dk1"/>
              </a:solidFill>
              <a:latin typeface="Poppins SemiBold"/>
              <a:ea typeface="Poppins SemiBold"/>
              <a:cs typeface="Poppins SemiBold"/>
              <a:sym typeface="Poppins SemiBold"/>
            </a:endParaRPr>
          </a:p>
        </p:txBody>
      </p:sp>
      <p:sp>
        <p:nvSpPr>
          <p:cNvPr id="1401" name="Google Shape;1401;p68"/>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Security Posture &amp; Risk Reduction</a:t>
            </a:r>
            <a:endParaRPr sz="2420">
              <a:latin typeface="Poppins Light"/>
              <a:ea typeface="Poppins Light"/>
              <a:cs typeface="Poppins Light"/>
              <a:sym typeface="Poppins Light"/>
            </a:endParaRPr>
          </a:p>
        </p:txBody>
      </p:sp>
      <p:pic>
        <p:nvPicPr>
          <p:cNvPr id="1402" name="Google Shape;1402;p68"/>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403" name="Google Shape;1403;p68"/>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404" name="Google Shape;1404;p68"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405" name="Google Shape;1405;p68"/>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Prioritize Investigation by       Severity  &amp; Criticality</a:t>
            </a:r>
            <a:endParaRPr sz="1000" b="0" i="0" u="none" strike="noStrike" cap="none">
              <a:solidFill>
                <a:schemeClr val="dk1"/>
              </a:solidFill>
              <a:latin typeface="Poppins SemiBold"/>
              <a:ea typeface="Poppins SemiBold"/>
              <a:cs typeface="Poppins SemiBold"/>
              <a:sym typeface="Poppins SemiBold"/>
            </a:endParaRPr>
          </a:p>
        </p:txBody>
      </p:sp>
      <p:sp>
        <p:nvSpPr>
          <p:cNvPr id="1406" name="Google Shape;1406;p68"/>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Prioritize Remediation by       Greatest Impact </a:t>
            </a:r>
            <a:endParaRPr sz="1000" b="0" i="0" u="none" strike="noStrike" cap="none">
              <a:solidFill>
                <a:schemeClr val="dk1"/>
              </a:solidFill>
              <a:latin typeface="Poppins SemiBold"/>
              <a:ea typeface="Poppins SemiBold"/>
              <a:cs typeface="Poppins SemiBold"/>
              <a:sym typeface="Poppins SemiBo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1411"/>
        <p:cNvGrpSpPr/>
        <p:nvPr/>
      </p:nvGrpSpPr>
      <p:grpSpPr>
        <a:xfrm>
          <a:off x="0" y="0"/>
          <a:ext cx="0" cy="0"/>
          <a:chOff x="0" y="0"/>
          <a:chExt cx="0" cy="0"/>
        </a:xfrm>
      </p:grpSpPr>
      <p:pic>
        <p:nvPicPr>
          <p:cNvPr id="1412" name="Google Shape;1412;p69" title="Rectangle 7854.png"/>
          <p:cNvPicPr preferRelativeResize="0"/>
          <p:nvPr/>
        </p:nvPicPr>
        <p:blipFill rotWithShape="1">
          <a:blip r:embed="rId3">
            <a:alphaModFix/>
          </a:blip>
          <a:srcRect/>
          <a:stretch/>
        </p:blipFill>
        <p:spPr>
          <a:xfrm>
            <a:off x="3237298" y="1837849"/>
            <a:ext cx="2669404" cy="2703664"/>
          </a:xfrm>
          <a:prstGeom prst="rect">
            <a:avLst/>
          </a:prstGeom>
          <a:noFill/>
          <a:ln>
            <a:noFill/>
          </a:ln>
        </p:spPr>
      </p:pic>
      <p:pic>
        <p:nvPicPr>
          <p:cNvPr id="1413" name="Google Shape;1413;p69" title="Rectangle 7854.png"/>
          <p:cNvPicPr preferRelativeResize="0"/>
          <p:nvPr/>
        </p:nvPicPr>
        <p:blipFill rotWithShape="1">
          <a:blip r:embed="rId3">
            <a:alphaModFix/>
          </a:blip>
          <a:srcRect/>
          <a:stretch/>
        </p:blipFill>
        <p:spPr>
          <a:xfrm>
            <a:off x="357125" y="1837849"/>
            <a:ext cx="2669404" cy="2703664"/>
          </a:xfrm>
          <a:prstGeom prst="rect">
            <a:avLst/>
          </a:prstGeom>
          <a:noFill/>
          <a:ln>
            <a:noFill/>
          </a:ln>
        </p:spPr>
      </p:pic>
      <p:cxnSp>
        <p:nvCxnSpPr>
          <p:cNvPr id="1414" name="Google Shape;1414;p69"/>
          <p:cNvCxnSpPr/>
          <p:nvPr/>
        </p:nvCxnSpPr>
        <p:spPr>
          <a:xfrm>
            <a:off x="63057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5" name="Google Shape;1415;p69"/>
          <p:cNvSpPr txBox="1"/>
          <p:nvPr/>
        </p:nvSpPr>
        <p:spPr>
          <a:xfrm>
            <a:off x="522275" y="2664476"/>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7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K8S Connectors</a:t>
            </a:r>
            <a:endParaRPr sz="1000" b="0" i="0" u="none" strike="noStrike" cap="none">
              <a:solidFill>
                <a:schemeClr val="dk1"/>
              </a:solidFill>
              <a:latin typeface="Poppins SemiBold"/>
              <a:ea typeface="Poppins SemiBold"/>
              <a:cs typeface="Poppins SemiBold"/>
              <a:sym typeface="Poppins SemiBold"/>
            </a:endParaRPr>
          </a:p>
        </p:txBody>
      </p:sp>
      <p:sp>
        <p:nvSpPr>
          <p:cNvPr id="1416" name="Google Shape;1416;p69"/>
          <p:cNvSpPr txBox="1"/>
          <p:nvPr/>
        </p:nvSpPr>
        <p:spPr>
          <a:xfrm>
            <a:off x="403925" y="309270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Map Cluster architectures more effectively in Wiz.</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Allows Wiz to assess K8S clusters directly via the Kubernetes API, to identify risks associated with K8S specific identities, secretes, configs, etc.</a:t>
            </a:r>
            <a:endParaRPr sz="900" b="0" i="0" u="none" strike="noStrike" cap="none">
              <a:solidFill>
                <a:srgbClr val="01123F"/>
              </a:solidFill>
              <a:latin typeface="Poppins Light"/>
              <a:ea typeface="Poppins Light"/>
              <a:cs typeface="Poppins Light"/>
              <a:sym typeface="Poppins Light"/>
            </a:endParaRPr>
          </a:p>
        </p:txBody>
      </p:sp>
      <p:cxnSp>
        <p:nvCxnSpPr>
          <p:cNvPr id="1417" name="Google Shape;1417;p69"/>
          <p:cNvCxnSpPr/>
          <p:nvPr/>
        </p:nvCxnSpPr>
        <p:spPr>
          <a:xfrm>
            <a:off x="3510750"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8" name="Google Shape;1418;p69"/>
          <p:cNvSpPr txBox="1"/>
          <p:nvPr/>
        </p:nvSpPr>
        <p:spPr>
          <a:xfrm>
            <a:off x="3362850" y="2664476"/>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WizOS &amp; Image Tagging</a:t>
            </a:r>
            <a:endParaRPr sz="1000" b="0" i="0" u="none" strike="noStrike" cap="none">
              <a:solidFill>
                <a:schemeClr val="dk1"/>
              </a:solidFill>
              <a:latin typeface="Poppins SemiBold"/>
              <a:ea typeface="Poppins SemiBold"/>
              <a:cs typeface="Poppins SemiBold"/>
              <a:sym typeface="Poppins SemiBold"/>
            </a:endParaRPr>
          </a:p>
        </p:txBody>
      </p:sp>
      <p:pic>
        <p:nvPicPr>
          <p:cNvPr id="1419" name="Google Shape;1419;p69" title="Rectangle 7854.png"/>
          <p:cNvPicPr preferRelativeResize="0"/>
          <p:nvPr/>
        </p:nvPicPr>
        <p:blipFill rotWithShape="1">
          <a:blip r:embed="rId3">
            <a:alphaModFix/>
          </a:blip>
          <a:srcRect/>
          <a:stretch/>
        </p:blipFill>
        <p:spPr>
          <a:xfrm>
            <a:off x="6117471" y="1837849"/>
            <a:ext cx="2669404" cy="2703664"/>
          </a:xfrm>
          <a:prstGeom prst="rect">
            <a:avLst/>
          </a:prstGeom>
          <a:noFill/>
          <a:ln>
            <a:noFill/>
          </a:ln>
        </p:spPr>
      </p:pic>
      <p:cxnSp>
        <p:nvCxnSpPr>
          <p:cNvPr id="1420" name="Google Shape;1420;p69"/>
          <p:cNvCxnSpPr/>
          <p:nvPr/>
        </p:nvCxnSpPr>
        <p:spPr>
          <a:xfrm>
            <a:off x="639092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21" name="Google Shape;1421;p69"/>
          <p:cNvSpPr txBox="1"/>
          <p:nvPr/>
        </p:nvSpPr>
        <p:spPr>
          <a:xfrm>
            <a:off x="6164274" y="3093376"/>
            <a:ext cx="2575800" cy="1500600"/>
          </a:xfrm>
          <a:prstGeom prst="rect">
            <a:avLst/>
          </a:prstGeom>
          <a:noFill/>
          <a:ln>
            <a:noFill/>
          </a:ln>
        </p:spPr>
        <p:txBody>
          <a:bodyPr spcFirstLastPara="1" wrap="square" lIns="68575" tIns="34275" rIns="68575" bIns="34275" anchor="t" anchorCtr="0">
            <a:normAutofit lnSpcReduction="2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Scan your repos for vulnerabilities, SAST flaws, IaC misconfigurations, secrets and Malware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 Developers to scan their code at the IDE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Scan PRs and (optionally) block merges that introduce risk </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Trace every risk back to its origin. Catch risks at the source, before they ship.</a:t>
            </a:r>
            <a:endParaRPr sz="900" b="0" i="0" u="none" strike="noStrike" cap="none">
              <a:solidFill>
                <a:srgbClr val="01123F"/>
              </a:solidFill>
              <a:latin typeface="Poppins Light"/>
              <a:ea typeface="Poppins Light"/>
              <a:cs typeface="Poppins Light"/>
              <a:sym typeface="Poppins Light"/>
            </a:endParaRPr>
          </a:p>
          <a:p>
            <a:pPr marL="0" marR="0" lvl="0" indent="0" algn="l" rtl="0">
              <a:lnSpc>
                <a:spcPct val="112000"/>
              </a:lnSpc>
              <a:spcBef>
                <a:spcPts val="0"/>
              </a:spcBef>
              <a:spcAft>
                <a:spcPts val="0"/>
              </a:spcAft>
              <a:buClr>
                <a:srgbClr val="000000"/>
              </a:buClr>
              <a:buSzPts val="900"/>
              <a:buFont typeface="Arial"/>
              <a:buNone/>
            </a:pPr>
            <a:endParaRPr sz="900" b="0" i="0" u="none" strike="noStrike" cap="none">
              <a:solidFill>
                <a:srgbClr val="01123F"/>
              </a:solidFill>
              <a:latin typeface="Poppins Light"/>
              <a:ea typeface="Poppins Light"/>
              <a:cs typeface="Poppins Light"/>
              <a:sym typeface="Poppins Light"/>
            </a:endParaRPr>
          </a:p>
        </p:txBody>
      </p:sp>
      <p:sp>
        <p:nvSpPr>
          <p:cNvPr id="1422" name="Google Shape;1422;p69"/>
          <p:cNvSpPr txBox="1"/>
          <p:nvPr/>
        </p:nvSpPr>
        <p:spPr>
          <a:xfrm>
            <a:off x="6243025" y="2644820"/>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Full Code-to-Cloud Context </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Wiz Code POV</a:t>
            </a:r>
            <a:endParaRPr sz="1000" b="0" i="0" u="none" strike="noStrike" cap="none">
              <a:solidFill>
                <a:schemeClr val="dk1"/>
              </a:solidFill>
              <a:latin typeface="Poppins SemiBold"/>
              <a:ea typeface="Poppins SemiBold"/>
              <a:cs typeface="Poppins SemiBold"/>
              <a:sym typeface="Poppins SemiBold"/>
            </a:endParaRPr>
          </a:p>
        </p:txBody>
      </p:sp>
      <p:pic>
        <p:nvPicPr>
          <p:cNvPr id="1423" name="Google Shape;1423;p69"/>
          <p:cNvPicPr preferRelativeResize="0"/>
          <p:nvPr/>
        </p:nvPicPr>
        <p:blipFill rotWithShape="1">
          <a:blip r:embed="rId4">
            <a:alphaModFix/>
          </a:blip>
          <a:srcRect/>
          <a:stretch/>
        </p:blipFill>
        <p:spPr>
          <a:xfrm>
            <a:off x="1337712" y="1908821"/>
            <a:ext cx="708225" cy="708225"/>
          </a:xfrm>
          <a:prstGeom prst="rect">
            <a:avLst/>
          </a:prstGeom>
          <a:noFill/>
          <a:ln>
            <a:noFill/>
          </a:ln>
        </p:spPr>
      </p:pic>
      <p:sp>
        <p:nvSpPr>
          <p:cNvPr id="1424" name="Google Shape;1424;p69"/>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Developing Securely Improvements</a:t>
            </a:r>
            <a:endParaRPr sz="2420">
              <a:latin typeface="Poppins Light"/>
              <a:ea typeface="Poppins Light"/>
              <a:cs typeface="Poppins Light"/>
              <a:sym typeface="Poppins Light"/>
            </a:endParaRPr>
          </a:p>
        </p:txBody>
      </p:sp>
      <p:pic>
        <p:nvPicPr>
          <p:cNvPr id="1425" name="Google Shape;1425;p69" title="Group 1000002969.png"/>
          <p:cNvPicPr preferRelativeResize="0"/>
          <p:nvPr/>
        </p:nvPicPr>
        <p:blipFill rotWithShape="1">
          <a:blip r:embed="rId5">
            <a:alphaModFix/>
          </a:blip>
          <a:srcRect/>
          <a:stretch/>
        </p:blipFill>
        <p:spPr>
          <a:xfrm>
            <a:off x="4195263" y="2010813"/>
            <a:ext cx="753475" cy="504238"/>
          </a:xfrm>
          <a:prstGeom prst="rect">
            <a:avLst/>
          </a:prstGeom>
          <a:noFill/>
          <a:ln>
            <a:noFill/>
          </a:ln>
        </p:spPr>
      </p:pic>
      <p:pic>
        <p:nvPicPr>
          <p:cNvPr id="1426" name="Google Shape;1426;p69" title="Group 1000003039.png"/>
          <p:cNvPicPr preferRelativeResize="0"/>
          <p:nvPr/>
        </p:nvPicPr>
        <p:blipFill rotWithShape="1">
          <a:blip r:embed="rId6">
            <a:alphaModFix/>
          </a:blip>
          <a:srcRect/>
          <a:stretch/>
        </p:blipFill>
        <p:spPr>
          <a:xfrm>
            <a:off x="7196474" y="1993500"/>
            <a:ext cx="511400" cy="538875"/>
          </a:xfrm>
          <a:prstGeom prst="rect">
            <a:avLst/>
          </a:prstGeom>
          <a:noFill/>
          <a:ln>
            <a:noFill/>
          </a:ln>
        </p:spPr>
      </p:pic>
      <p:sp>
        <p:nvSpPr>
          <p:cNvPr id="1427" name="Google Shape;1427;p69"/>
          <p:cNvSpPr txBox="1"/>
          <p:nvPr/>
        </p:nvSpPr>
        <p:spPr>
          <a:xfrm>
            <a:off x="3284100" y="308455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Build on a clean image base with WizOS. Hardened, minimal, near-zero-CVE base images.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Allows Enforce quality with proper image tagging via Wiz CLI. Stamps each image by digest, giving full code-to-cloud traceability.</a:t>
            </a:r>
            <a:endParaRPr sz="900" b="0" i="0" u="none" strike="noStrike" cap="none">
              <a:solidFill>
                <a:srgbClr val="01123F"/>
              </a:solidFill>
              <a:latin typeface="Poppins Light"/>
              <a:ea typeface="Poppins Light"/>
              <a:cs typeface="Poppins Light"/>
              <a:sym typeface="Poppins Light"/>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ntent Slides">
  <a:themeElements>
    <a:clrScheme name="Wiz Colors">
      <a:dk1>
        <a:srgbClr val="01123F"/>
      </a:dk1>
      <a:lt1>
        <a:srgbClr val="FFFFFF"/>
      </a:lt1>
      <a:dk2>
        <a:srgbClr val="0054EC"/>
      </a:dk2>
      <a:lt2>
        <a:srgbClr val="F3F8FF"/>
      </a:lt2>
      <a:accent1>
        <a:srgbClr val="B8D3FF"/>
      </a:accent1>
      <a:accent2>
        <a:srgbClr val="6195FF"/>
      </a:accent2>
      <a:accent3>
        <a:srgbClr val="FFBFFF"/>
      </a:accent3>
      <a:accent4>
        <a:srgbClr val="F595F5"/>
      </a:accent4>
      <a:accent5>
        <a:srgbClr val="E9F9EE"/>
      </a:accent5>
      <a:accent6>
        <a:srgbClr val="FFEFEF"/>
      </a:accent6>
      <a:hlink>
        <a:srgbClr val="0055F5"/>
      </a:hlink>
      <a:folHlink>
        <a:srgbClr val="01123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1279</TotalTime>
  <Words>5200</Words>
  <Application>Microsoft Office PowerPoint</Application>
  <PresentationFormat>On-screen Show (16:9)</PresentationFormat>
  <Paragraphs>800</Paragraphs>
  <Slides>23</Slides>
  <Notes>23</Notes>
  <HiddenSlides>4</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23</vt:i4>
      </vt:variant>
    </vt:vector>
  </HeadingPairs>
  <TitlesOfParts>
    <vt:vector size="33" baseType="lpstr">
      <vt:lpstr>JetBrains Mono</vt:lpstr>
      <vt:lpstr>Poppins</vt:lpstr>
      <vt:lpstr>DM Sans</vt:lpstr>
      <vt:lpstr>Arial</vt:lpstr>
      <vt:lpstr>Poppins SemiBold</vt:lpstr>
      <vt:lpstr>Poppins Light</vt:lpstr>
      <vt:lpstr>Calibri</vt:lpstr>
      <vt:lpstr>DM Sans Medium</vt:lpstr>
      <vt:lpstr>Simple Light</vt:lpstr>
      <vt:lpstr>Content Slides</vt:lpstr>
      <vt:lpstr>PowerPoint Presentation</vt:lpstr>
      <vt:lpstr>Wiz Adoption &amp; Democratization Maturity Model </vt:lpstr>
      <vt:lpstr>Cloud and AI Visibility Snapshot</vt:lpstr>
      <vt:lpstr>Wiz Adoption &amp; Usage Snapshot</vt:lpstr>
      <vt:lpstr>Wiz System Health &amp; Scans Snapshot</vt:lpstr>
      <vt:lpstr>Democratization Snapshot</vt:lpstr>
      <vt:lpstr>Preview Hub Availability vs Usage</vt:lpstr>
      <vt:lpstr>Preview Hub Availability vs Usage</vt:lpstr>
      <vt:lpstr>Roadmap Tracker Usage</vt:lpstr>
      <vt:lpstr>PowerPoint Presentation</vt:lpstr>
      <vt:lpstr>Wiz Security Maturity Model </vt:lpstr>
      <vt:lpstr>Cloud Security Posture Snapshot</vt:lpstr>
      <vt:lpstr>Cloud Security Risk Snapshot</vt:lpstr>
      <vt:lpstr>PowerPoint Presentation</vt:lpstr>
      <vt:lpstr>Secure Development Snapshot</vt:lpstr>
      <vt:lpstr>PowerPoint Presentation</vt:lpstr>
      <vt:lpstr>PowerPoint Presentation</vt:lpstr>
      <vt:lpstr>PowerPoint Presentation</vt:lpstr>
      <vt:lpstr>PowerPoint Presentation</vt:lpstr>
      <vt:lpstr>Top Three Focus Areas to Improve Cloud Visibility &amp; Coverage</vt:lpstr>
      <vt:lpstr>Top Three Focus Areas to Mature for Democratization Improvements</vt:lpstr>
      <vt:lpstr>Top Three Focus Areas to Improve Security Posture &amp; Risk Reduction</vt:lpstr>
      <vt:lpstr>Top Three Focus Areas to Mature for Developing Securely Improvements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Lindsey Petrone</cp:lastModifiedBy>
  <cp:revision>8</cp:revision>
  <dcterms:modified xsi:type="dcterms:W3CDTF">2026-08-26T22:13:02Z</dcterms:modified>
</cp:coreProperties>
</file>