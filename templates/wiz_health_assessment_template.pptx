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4.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92" r:id="rId3"/>
    <p:sldMasterId id="2147483693"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Lst>
  <p:sldSz cy="5143500" cx="9144000"/>
  <p:notesSz cx="6858000" cy="9144000"/>
  <p:embeddedFontLst>
    <p:embeddedFont>
      <p:font typeface="Poppins"/>
      <p:regular r:id="rId29"/>
      <p:bold r:id="rId30"/>
      <p:italic r:id="rId31"/>
      <p:boldItalic r:id="rId32"/>
    </p:embeddedFont>
    <p:embeddedFont>
      <p:font typeface="Poppins Light"/>
      <p:regular r:id="rId33"/>
      <p:bold r:id="rId34"/>
      <p:italic r:id="rId35"/>
      <p:boldItalic r:id="rId36"/>
    </p:embeddedFont>
    <p:embeddedFont>
      <p:font typeface="Poppins SemiBold"/>
      <p:regular r:id="rId37"/>
      <p:bold r:id="rId38"/>
      <p:italic r:id="rId39"/>
      <p:boldItalic r:id="rId40"/>
    </p:embeddedFont>
    <p:embeddedFont>
      <p:font typeface="DM Sans"/>
      <p:regular r:id="rId41"/>
      <p:bold r:id="rId42"/>
      <p:italic r:id="rId43"/>
      <p:boldItalic r:id="rId4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PoppinsSemiBold-boldItalic.fntdata"/><Relationship Id="rId20" Type="http://schemas.openxmlformats.org/officeDocument/2006/relationships/slide" Target="slides/slide15.xml"/><Relationship Id="rId42" Type="http://schemas.openxmlformats.org/officeDocument/2006/relationships/font" Target="fonts/DMSans-bold.fntdata"/><Relationship Id="rId41" Type="http://schemas.openxmlformats.org/officeDocument/2006/relationships/font" Target="fonts/DMSans-regular.fntdata"/><Relationship Id="rId22" Type="http://schemas.openxmlformats.org/officeDocument/2006/relationships/slide" Target="slides/slide17.xml"/><Relationship Id="rId44" Type="http://schemas.openxmlformats.org/officeDocument/2006/relationships/font" Target="fonts/DMSans-boldItalic.fntdata"/><Relationship Id="rId21" Type="http://schemas.openxmlformats.org/officeDocument/2006/relationships/slide" Target="slides/slide16.xml"/><Relationship Id="rId43" Type="http://schemas.openxmlformats.org/officeDocument/2006/relationships/font" Target="fonts/DMSans-italic.fntdata"/><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Poppins-regular.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Poppins-italic.fntdata"/><Relationship Id="rId30" Type="http://schemas.openxmlformats.org/officeDocument/2006/relationships/font" Target="fonts/Poppins-bold.fntdata"/><Relationship Id="rId11" Type="http://schemas.openxmlformats.org/officeDocument/2006/relationships/slide" Target="slides/slide6.xml"/><Relationship Id="rId33" Type="http://schemas.openxmlformats.org/officeDocument/2006/relationships/font" Target="fonts/PoppinsLight-regular.fntdata"/><Relationship Id="rId10" Type="http://schemas.openxmlformats.org/officeDocument/2006/relationships/slide" Target="slides/slide5.xml"/><Relationship Id="rId32" Type="http://schemas.openxmlformats.org/officeDocument/2006/relationships/font" Target="fonts/Poppins-boldItalic.fntdata"/><Relationship Id="rId13" Type="http://schemas.openxmlformats.org/officeDocument/2006/relationships/slide" Target="slides/slide8.xml"/><Relationship Id="rId35" Type="http://schemas.openxmlformats.org/officeDocument/2006/relationships/font" Target="fonts/PoppinsLight-italic.fntdata"/><Relationship Id="rId12" Type="http://schemas.openxmlformats.org/officeDocument/2006/relationships/slide" Target="slides/slide7.xml"/><Relationship Id="rId34" Type="http://schemas.openxmlformats.org/officeDocument/2006/relationships/font" Target="fonts/PoppinsLight-bold.fntdata"/><Relationship Id="rId15" Type="http://schemas.openxmlformats.org/officeDocument/2006/relationships/slide" Target="slides/slide10.xml"/><Relationship Id="rId37" Type="http://schemas.openxmlformats.org/officeDocument/2006/relationships/font" Target="fonts/PoppinsSemiBold-regular.fntdata"/><Relationship Id="rId14" Type="http://schemas.openxmlformats.org/officeDocument/2006/relationships/slide" Target="slides/slide9.xml"/><Relationship Id="rId36" Type="http://schemas.openxmlformats.org/officeDocument/2006/relationships/font" Target="fonts/PoppinsLight-boldItalic.fntdata"/><Relationship Id="rId17" Type="http://schemas.openxmlformats.org/officeDocument/2006/relationships/slide" Target="slides/slide12.xml"/><Relationship Id="rId39" Type="http://schemas.openxmlformats.org/officeDocument/2006/relationships/font" Target="fonts/PoppinsSemiBold-italic.fntdata"/><Relationship Id="rId16" Type="http://schemas.openxmlformats.org/officeDocument/2006/relationships/slide" Target="slides/slide11.xml"/><Relationship Id="rId38" Type="http://schemas.openxmlformats.org/officeDocument/2006/relationships/font" Target="fonts/PoppinsSemiBold-bold.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35" name="Google Shape;235;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381000" rtl="0" algn="l">
              <a:lnSpc>
                <a:spcPct val="115000"/>
              </a:lnSpc>
              <a:spcBef>
                <a:spcPts val="1200"/>
              </a:spcBef>
              <a:spcAft>
                <a:spcPts val="0"/>
              </a:spcAft>
              <a:buClr>
                <a:schemeClr val="dk1"/>
              </a:buClr>
              <a:buSzPts val="1100"/>
              <a:buNone/>
            </a:pPr>
            <a:r>
              <a:t/>
            </a:r>
            <a:endParaRPr>
              <a:solidFill>
                <a:schemeClr val="dk1"/>
              </a:solidFill>
            </a:endParaRPr>
          </a:p>
        </p:txBody>
      </p:sp>
      <p:sp>
        <p:nvSpPr>
          <p:cNvPr id="245" name="Google Shape;24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Clr>
                <a:schemeClr val="dk1"/>
              </a:buClr>
              <a:buSzPts val="1100"/>
              <a:buNone/>
            </a:pPr>
            <a:r>
              <a:t/>
            </a:r>
            <a:endParaRPr>
              <a:solidFill>
                <a:schemeClr val="dk1"/>
              </a:solidFill>
            </a:endParaRPr>
          </a:p>
        </p:txBody>
      </p:sp>
      <p:sp>
        <p:nvSpPr>
          <p:cNvPr id="288" name="Google Shape;288;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5" name="Google Shape;38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Clr>
                <a:schemeClr val="dk1"/>
              </a:buClr>
              <a:buSzPts val="1100"/>
              <a:buNone/>
            </a:pPr>
            <a:r>
              <a:t/>
            </a:r>
            <a:endParaRPr>
              <a:solidFill>
                <a:schemeClr val="dk1"/>
              </a:solidFill>
            </a:endParaRPr>
          </a:p>
        </p:txBody>
      </p:sp>
      <p:sp>
        <p:nvSpPr>
          <p:cNvPr id="386" name="Google Shape;38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 name="Google Shape;433;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Clr>
                <a:schemeClr val="dk1"/>
              </a:buClr>
              <a:buSzPts val="1100"/>
              <a:buNone/>
            </a:pPr>
            <a:r>
              <a:t/>
            </a:r>
            <a:endParaRPr>
              <a:solidFill>
                <a:schemeClr val="dk1"/>
              </a:solidFill>
            </a:endParaRPr>
          </a:p>
        </p:txBody>
      </p:sp>
      <p:sp>
        <p:nvSpPr>
          <p:cNvPr id="434" name="Google Shape;434;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8" name="Google Shape;498;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solidFill>
                <a:schemeClr val="dk1"/>
              </a:solidFill>
            </a:endParaRPr>
          </a:p>
        </p:txBody>
      </p:sp>
      <p:sp>
        <p:nvSpPr>
          <p:cNvPr id="499" name="Google Shape;499;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7" name="Google Shape;587;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Clr>
                <a:schemeClr val="dk1"/>
              </a:buClr>
              <a:buSzPts val="1100"/>
              <a:buNone/>
            </a:pPr>
            <a:r>
              <a:t/>
            </a:r>
            <a:endParaRPr>
              <a:solidFill>
                <a:schemeClr val="dk1"/>
              </a:solidFill>
            </a:endParaRPr>
          </a:p>
        </p:txBody>
      </p:sp>
      <p:sp>
        <p:nvSpPr>
          <p:cNvPr id="588" name="Google Shape;588;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9" name="Google Shape;599;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Clr>
                <a:schemeClr val="dk1"/>
              </a:buClr>
              <a:buSzPts val="1100"/>
              <a:buNone/>
            </a:pPr>
            <a:r>
              <a:t/>
            </a:r>
            <a:endParaRPr>
              <a:solidFill>
                <a:schemeClr val="dk1"/>
              </a:solidFill>
            </a:endParaRPr>
          </a:p>
        </p:txBody>
      </p:sp>
      <p:sp>
        <p:nvSpPr>
          <p:cNvPr id="600" name="Google Shape;600;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2" name="Google Shape;612;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Clr>
                <a:schemeClr val="dk1"/>
              </a:buClr>
              <a:buSzPts val="1100"/>
              <a:buNone/>
            </a:pPr>
            <a:r>
              <a:t/>
            </a:r>
            <a:endParaRPr>
              <a:solidFill>
                <a:schemeClr val="dk1"/>
              </a:solidFill>
            </a:endParaRPr>
          </a:p>
        </p:txBody>
      </p:sp>
      <p:sp>
        <p:nvSpPr>
          <p:cNvPr id="613" name="Google Shape;613;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2" name="Google Shape;622;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623" name="Google Shape;623;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1" name="Google Shape;631;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Clr>
                <a:schemeClr val="dk1"/>
              </a:buClr>
              <a:buSzPts val="1100"/>
              <a:buNone/>
            </a:pPr>
            <a:r>
              <a:t/>
            </a:r>
            <a:endParaRPr/>
          </a:p>
        </p:txBody>
      </p:sp>
      <p:sp>
        <p:nvSpPr>
          <p:cNvPr id="632" name="Google Shape;632;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76200" lvl="0" marL="0" rtl="0" algn="l">
              <a:lnSpc>
                <a:spcPct val="138083"/>
              </a:lnSpc>
              <a:spcBef>
                <a:spcPts val="0"/>
              </a:spcBef>
              <a:spcAft>
                <a:spcPts val="0"/>
              </a:spcAft>
              <a:buClr>
                <a:schemeClr val="dk1"/>
              </a:buClr>
              <a:buSzPts val="1200"/>
              <a:buNone/>
            </a:pPr>
            <a:r>
              <a:t/>
            </a:r>
            <a:endParaRPr sz="1200">
              <a:solidFill>
                <a:schemeClr val="dk1"/>
              </a:solidFill>
            </a:endParaRPr>
          </a:p>
        </p:txBody>
      </p:sp>
      <p:sp>
        <p:nvSpPr>
          <p:cNvPr id="672" name="Google Shape;672;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2" name="Shape 712"/>
        <p:cNvGrpSpPr/>
        <p:nvPr/>
      </p:nvGrpSpPr>
      <p:grpSpPr>
        <a:xfrm>
          <a:off x="0" y="0"/>
          <a:ext cx="0" cy="0"/>
          <a:chOff x="0" y="0"/>
          <a:chExt cx="0" cy="0"/>
        </a:xfrm>
      </p:grpSpPr>
      <p:sp>
        <p:nvSpPr>
          <p:cNvPr id="713" name="Google Shape;71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4" name="Google Shape;714;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76200" lvl="0" marL="0" rtl="0" algn="l">
              <a:lnSpc>
                <a:spcPct val="138083"/>
              </a:lnSpc>
              <a:spcBef>
                <a:spcPts val="0"/>
              </a:spcBef>
              <a:spcAft>
                <a:spcPts val="0"/>
              </a:spcAft>
              <a:buClr>
                <a:schemeClr val="dk1"/>
              </a:buClr>
              <a:buSzPts val="1200"/>
              <a:buNone/>
            </a:pPr>
            <a:r>
              <a:t/>
            </a:r>
            <a:endParaRPr sz="1200">
              <a:solidFill>
                <a:schemeClr val="dk1"/>
              </a:solidFill>
            </a:endParaRPr>
          </a:p>
        </p:txBody>
      </p:sp>
      <p:sp>
        <p:nvSpPr>
          <p:cNvPr id="715" name="Google Shape;715;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9" name="Google Shape;7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solidFill>
                <a:schemeClr val="dk1"/>
              </a:solidFill>
            </a:endParaRPr>
          </a:p>
        </p:txBody>
      </p:sp>
      <p:sp>
        <p:nvSpPr>
          <p:cNvPr id="750" name="Google Shape;7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76200" lvl="0" marL="0" rtl="0" algn="l">
              <a:lnSpc>
                <a:spcPct val="138083"/>
              </a:lnSpc>
              <a:spcBef>
                <a:spcPts val="0"/>
              </a:spcBef>
              <a:spcAft>
                <a:spcPts val="0"/>
              </a:spcAft>
              <a:buClr>
                <a:schemeClr val="dk1"/>
              </a:buClr>
              <a:buSzPts val="1200"/>
              <a:buNone/>
            </a:pPr>
            <a:r>
              <a:t/>
            </a:r>
            <a:endParaRPr sz="1200">
              <a:solidFill>
                <a:schemeClr val="dk1"/>
              </a:solidFill>
            </a:endParaRPr>
          </a:p>
        </p:txBody>
      </p:sp>
      <p:sp>
        <p:nvSpPr>
          <p:cNvPr id="759" name="Google Shape;759;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solidFill>
                <a:schemeClr val="dk1"/>
              </a:solidFill>
            </a:endParaRPr>
          </a:p>
        </p:txBody>
      </p:sp>
      <p:sp>
        <p:nvSpPr>
          <p:cNvPr id="849" name="Google Shape;849;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5" name="Shape 855"/>
        <p:cNvGrpSpPr/>
        <p:nvPr/>
      </p:nvGrpSpPr>
      <p:grpSpPr>
        <a:xfrm>
          <a:off x="0" y="0"/>
          <a:ext cx="0" cy="0"/>
          <a:chOff x="0" y="0"/>
          <a:chExt cx="0" cy="0"/>
        </a:xfrm>
      </p:grpSpPr>
      <p:sp>
        <p:nvSpPr>
          <p:cNvPr id="856" name="Google Shape;856;p17:notes"/>
          <p:cNvSpPr/>
          <p:nvPr>
            <p:ph idx="2" type="sldImg"/>
          </p:nvPr>
        </p:nvSpPr>
        <p:spPr>
          <a:xfrm>
            <a:off x="1828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7" name="Google Shape;857;p1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858" name="Google Shape;858;p1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p18:notes"/>
          <p:cNvSpPr/>
          <p:nvPr>
            <p:ph idx="2" type="sldImg"/>
          </p:nvPr>
        </p:nvSpPr>
        <p:spPr>
          <a:xfrm>
            <a:off x="1828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2" name="Google Shape;1012;p1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013" name="Google Shape;1013;p1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p19:notes"/>
          <p:cNvSpPr/>
          <p:nvPr>
            <p:ph idx="2" type="sldImg"/>
          </p:nvPr>
        </p:nvSpPr>
        <p:spPr>
          <a:xfrm>
            <a:off x="1828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5" name="Google Shape;1205;p1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206" name="Google Shape;1206;p1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5" name="Shape 1335"/>
        <p:cNvGrpSpPr/>
        <p:nvPr/>
      </p:nvGrpSpPr>
      <p:grpSpPr>
        <a:xfrm>
          <a:off x="0" y="0"/>
          <a:ext cx="0" cy="0"/>
          <a:chOff x="0" y="0"/>
          <a:chExt cx="0" cy="0"/>
        </a:xfrm>
      </p:grpSpPr>
      <p:sp>
        <p:nvSpPr>
          <p:cNvPr id="1336" name="Google Shape;1336;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7" name="Google Shape;1337;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Clr>
                <a:schemeClr val="dk1"/>
              </a:buClr>
              <a:buSzPts val="1100"/>
              <a:buNone/>
            </a:pPr>
            <a:r>
              <a:t/>
            </a:r>
            <a:endParaRPr/>
          </a:p>
        </p:txBody>
      </p:sp>
      <p:sp>
        <p:nvSpPr>
          <p:cNvPr id="1338" name="Google Shape;1338;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6" name="Shape 1356"/>
        <p:cNvGrpSpPr/>
        <p:nvPr/>
      </p:nvGrpSpPr>
      <p:grpSpPr>
        <a:xfrm>
          <a:off x="0" y="0"/>
          <a:ext cx="0" cy="0"/>
          <a:chOff x="0" y="0"/>
          <a:chExt cx="0" cy="0"/>
        </a:xfrm>
      </p:grpSpPr>
      <p:sp>
        <p:nvSpPr>
          <p:cNvPr id="1357" name="Google Shape;13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8" name="Google Shape;1358;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457200" rtl="0" algn="l">
              <a:lnSpc>
                <a:spcPct val="100000"/>
              </a:lnSpc>
              <a:spcBef>
                <a:spcPts val="0"/>
              </a:spcBef>
              <a:spcAft>
                <a:spcPts val="0"/>
              </a:spcAft>
              <a:buSzPts val="1100"/>
              <a:buNone/>
            </a:pPr>
            <a:r>
              <a:t/>
            </a:r>
            <a:endParaRPr/>
          </a:p>
        </p:txBody>
      </p:sp>
      <p:sp>
        <p:nvSpPr>
          <p:cNvPr id="1359" name="Google Shape;1359;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Clr>
                <a:schemeClr val="dk1"/>
              </a:buClr>
              <a:buSzPts val="1100"/>
              <a:buNone/>
            </a:pPr>
            <a:r>
              <a:t/>
            </a:r>
            <a:endParaRPr/>
          </a:p>
        </p:txBody>
      </p:sp>
      <p:sp>
        <p:nvSpPr>
          <p:cNvPr id="1391" name="Google Shape;1391;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9" name="Shape 1409"/>
        <p:cNvGrpSpPr/>
        <p:nvPr/>
      </p:nvGrpSpPr>
      <p:grpSpPr>
        <a:xfrm>
          <a:off x="0" y="0"/>
          <a:ext cx="0" cy="0"/>
          <a:chOff x="0" y="0"/>
          <a:chExt cx="0" cy="0"/>
        </a:xfrm>
      </p:grpSpPr>
      <p:sp>
        <p:nvSpPr>
          <p:cNvPr id="1410" name="Google Shape;1410;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1" name="Google Shape;1411;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412" name="Google Shape;1412;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1.png"/><Relationship Id="rId4"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pening_Blank">
  <p:cSld name="Opening_Blank">
    <p:bg>
      <p:bgPr>
        <a:solidFill>
          <a:srgbClr val="0254EC"/>
        </a:solidFill>
      </p:bgPr>
    </p:bg>
    <p:spTree>
      <p:nvGrpSpPr>
        <p:cNvPr id="9" name="Shape 9"/>
        <p:cNvGrpSpPr/>
        <p:nvPr/>
      </p:nvGrpSpPr>
      <p:grpSpPr>
        <a:xfrm>
          <a:off x="0" y="0"/>
          <a:ext cx="0" cy="0"/>
          <a:chOff x="0" y="0"/>
          <a:chExt cx="0" cy="0"/>
        </a:xfrm>
      </p:grpSpPr>
      <p:pic>
        <p:nvPicPr>
          <p:cNvPr id="10" name="Google Shape;10;p2" title="bg_blue.png"/>
          <p:cNvPicPr preferRelativeResize="0"/>
          <p:nvPr/>
        </p:nvPicPr>
        <p:blipFill rotWithShape="1">
          <a:blip r:embed="rId2">
            <a:alphaModFix/>
          </a:blip>
          <a:srcRect b="0" l="0" r="0" t="0"/>
          <a:stretch/>
        </p:blipFill>
        <p:spPr>
          <a:xfrm>
            <a:off x="0" y="-5"/>
            <a:ext cx="9144000" cy="514350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3 1">
  <p:cSld name="ONE_COLUMN_TEXT_1">
    <p:spTree>
      <p:nvGrpSpPr>
        <p:cNvPr id="11" name="Shape 11"/>
        <p:cNvGrpSpPr/>
        <p:nvPr/>
      </p:nvGrpSpPr>
      <p:grpSpPr>
        <a:xfrm>
          <a:off x="0" y="0"/>
          <a:ext cx="0" cy="0"/>
          <a:chOff x="0" y="0"/>
          <a:chExt cx="0" cy="0"/>
        </a:xfrm>
      </p:grpSpPr>
      <p:pic>
        <p:nvPicPr>
          <p:cNvPr id="12" name="Google Shape;12;p3" title="bg6.png"/>
          <p:cNvPicPr preferRelativeResize="0"/>
          <p:nvPr/>
        </p:nvPicPr>
        <p:blipFill rotWithShape="1">
          <a:blip r:embed="rId2">
            <a:alphaModFix/>
          </a:blip>
          <a:srcRect b="0" l="0" r="0" t="0"/>
          <a:stretch/>
        </p:blipFill>
        <p:spPr>
          <a:xfrm>
            <a:off x="0" y="10"/>
            <a:ext cx="9144003" cy="5143490"/>
          </a:xfrm>
          <a:prstGeom prst="rect">
            <a:avLst/>
          </a:prstGeom>
          <a:noFill/>
          <a:ln>
            <a:noFill/>
          </a:ln>
        </p:spPr>
      </p:pic>
      <p:sp>
        <p:nvSpPr>
          <p:cNvPr id="13" name="Google Shape;13;p3"/>
          <p:cNvSpPr/>
          <p:nvPr/>
        </p:nvSpPr>
        <p:spPr>
          <a:xfrm>
            <a:off x="0" y="2500300"/>
            <a:ext cx="9158700" cy="2665200"/>
          </a:xfrm>
          <a:prstGeom prst="rect">
            <a:avLst/>
          </a:prstGeom>
          <a:gradFill>
            <a:gsLst>
              <a:gs pos="0">
                <a:schemeClr val="lt1"/>
              </a:gs>
              <a:gs pos="100000">
                <a:srgbClr val="FFFFFF">
                  <a:alpha val="0"/>
                </a:srgbClr>
              </a:gs>
            </a:gsLst>
            <a:lin ang="16200038" scaled="0"/>
          </a:gra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3">
  <p:cSld name="ONE_COLUMN_TEXT">
    <p:spTree>
      <p:nvGrpSpPr>
        <p:cNvPr id="14" name="Shape 14"/>
        <p:cNvGrpSpPr/>
        <p:nvPr/>
      </p:nvGrpSpPr>
      <p:grpSpPr>
        <a:xfrm>
          <a:off x="0" y="0"/>
          <a:ext cx="0" cy="0"/>
          <a:chOff x="0" y="0"/>
          <a:chExt cx="0" cy="0"/>
        </a:xfrm>
      </p:grpSpPr>
      <p:pic>
        <p:nvPicPr>
          <p:cNvPr id="15" name="Google Shape;15;p4" title="bg6.png"/>
          <p:cNvPicPr preferRelativeResize="0"/>
          <p:nvPr/>
        </p:nvPicPr>
        <p:blipFill rotWithShape="1">
          <a:blip r:embed="rId2">
            <a:alphaModFix/>
          </a:blip>
          <a:srcRect b="0" l="0" r="0" t="0"/>
          <a:stretch/>
        </p:blipFill>
        <p:spPr>
          <a:xfrm>
            <a:off x="0" y="10"/>
            <a:ext cx="9144003" cy="514349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pic>
        <p:nvPicPr>
          <p:cNvPr id="17" name="Google Shape;17;p5" title="bg2.png"/>
          <p:cNvPicPr preferRelativeResize="0"/>
          <p:nvPr/>
        </p:nvPicPr>
        <p:blipFill rotWithShape="1">
          <a:blip r:embed="rId2">
            <a:alphaModFix/>
          </a:blip>
          <a:srcRect b="0" l="0" r="0" t="0"/>
          <a:stretch/>
        </p:blipFill>
        <p:spPr>
          <a:xfrm>
            <a:off x="0" y="10"/>
            <a:ext cx="9143997" cy="514349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8" name="Shape 18"/>
        <p:cNvGrpSpPr/>
        <p:nvPr/>
      </p:nvGrpSpPr>
      <p:grpSpPr>
        <a:xfrm>
          <a:off x="0" y="0"/>
          <a:ext cx="0" cy="0"/>
          <a:chOff x="0" y="0"/>
          <a:chExt cx="0" cy="0"/>
        </a:xfrm>
      </p:grpSpPr>
      <p:pic>
        <p:nvPicPr>
          <p:cNvPr id="19" name="Google Shape;19;p6" title="bg_blue2.png"/>
          <p:cNvPicPr preferRelativeResize="0"/>
          <p:nvPr/>
        </p:nvPicPr>
        <p:blipFill rotWithShape="1">
          <a:blip r:embed="rId2">
            <a:alphaModFix/>
          </a:blip>
          <a:srcRect b="0" l="0" r="0" t="0"/>
          <a:stretch/>
        </p:blipFill>
        <p:spPr>
          <a:xfrm>
            <a:off x="0" y="-5"/>
            <a:ext cx="9144000" cy="514350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0" name="Shape 20"/>
        <p:cNvGrpSpPr/>
        <p:nvPr/>
      </p:nvGrpSpPr>
      <p:grpSpPr>
        <a:xfrm>
          <a:off x="0" y="0"/>
          <a:ext cx="0" cy="0"/>
          <a:chOff x="0" y="0"/>
          <a:chExt cx="0" cy="0"/>
        </a:xfrm>
      </p:grpSpPr>
      <p:pic>
        <p:nvPicPr>
          <p:cNvPr id="21" name="Google Shape;21;p7" title="bg1.png"/>
          <p:cNvPicPr preferRelativeResize="0"/>
          <p:nvPr/>
        </p:nvPicPr>
        <p:blipFill rotWithShape="1">
          <a:blip r:embed="rId2">
            <a:alphaModFix/>
          </a:blip>
          <a:srcRect b="0" l="0" r="0" t="0"/>
          <a:stretch/>
        </p:blipFill>
        <p:spPr>
          <a:xfrm>
            <a:off x="0" y="-5"/>
            <a:ext cx="9144000" cy="514350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2" name="Shape 22"/>
        <p:cNvGrpSpPr/>
        <p:nvPr/>
      </p:nvGrpSpPr>
      <p:grpSpPr>
        <a:xfrm>
          <a:off x="0" y="0"/>
          <a:ext cx="0" cy="0"/>
          <a:chOff x="0" y="0"/>
          <a:chExt cx="0" cy="0"/>
        </a:xfrm>
      </p:grpSpPr>
      <p:pic>
        <p:nvPicPr>
          <p:cNvPr id="23" name="Google Shape;23;p8" title="bg3.png"/>
          <p:cNvPicPr preferRelativeResize="0"/>
          <p:nvPr/>
        </p:nvPicPr>
        <p:blipFill rotWithShape="1">
          <a:blip r:embed="rId2">
            <a:alphaModFix/>
          </a:blip>
          <a:srcRect b="0" l="0" r="0" t="0"/>
          <a:stretch/>
        </p:blipFill>
        <p:spPr>
          <a:xfrm>
            <a:off x="0" y="10"/>
            <a:ext cx="9143997" cy="514349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pic>
        <p:nvPicPr>
          <p:cNvPr id="25" name="Google Shape;25;p9" title="bg4.png"/>
          <p:cNvPicPr preferRelativeResize="0"/>
          <p:nvPr/>
        </p:nvPicPr>
        <p:blipFill rotWithShape="1">
          <a:blip r:embed="rId2">
            <a:alphaModFix/>
          </a:blip>
          <a:srcRect b="0" l="0" r="0" t="0"/>
          <a:stretch/>
        </p:blipFill>
        <p:spPr>
          <a:xfrm>
            <a:off x="0" y="-5"/>
            <a:ext cx="9144000" cy="514350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 name="Shape 26"/>
        <p:cNvGrpSpPr/>
        <p:nvPr/>
      </p:nvGrpSpPr>
      <p:grpSpPr>
        <a:xfrm>
          <a:off x="0" y="0"/>
          <a:ext cx="0" cy="0"/>
          <a:chOff x="0" y="0"/>
          <a:chExt cx="0" cy="0"/>
        </a:xfrm>
      </p:grpSpPr>
      <p:pic>
        <p:nvPicPr>
          <p:cNvPr id="27" name="Google Shape;27;p10" title="bg5.png"/>
          <p:cNvPicPr preferRelativeResize="0"/>
          <p:nvPr/>
        </p:nvPicPr>
        <p:blipFill rotWithShape="1">
          <a:blip r:embed="rId2">
            <a:alphaModFix/>
          </a:blip>
          <a:srcRect b="0" l="0" r="0" t="0"/>
          <a:stretch/>
        </p:blipFill>
        <p:spPr>
          <a:xfrm>
            <a:off x="0" y="-10"/>
            <a:ext cx="9144003" cy="521493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28" name="Shape 28"/>
        <p:cNvGrpSpPr/>
        <p:nvPr/>
      </p:nvGrpSpPr>
      <p:grpSpPr>
        <a:xfrm>
          <a:off x="0" y="0"/>
          <a:ext cx="0" cy="0"/>
          <a:chOff x="0" y="0"/>
          <a:chExt cx="0" cy="0"/>
        </a:xfrm>
      </p:grpSpPr>
      <p:sp>
        <p:nvSpPr>
          <p:cNvPr id="29" name="Google Shape;29;p11"/>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0" name="Google Shape;30;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1" name="Shape 31"/>
        <p:cNvGrpSpPr/>
        <p:nvPr/>
      </p:nvGrpSpPr>
      <p:grpSpPr>
        <a:xfrm>
          <a:off x="0" y="0"/>
          <a:ext cx="0" cy="0"/>
          <a:chOff x="0" y="0"/>
          <a:chExt cx="0" cy="0"/>
        </a:xfrm>
      </p:grpSpPr>
      <p:sp>
        <p:nvSpPr>
          <p:cNvPr id="32" name="Google Shape;32;p12"/>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12"/>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4" name="Google Shape;34;p12"/>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5" name="Google Shape;35;p12"/>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36" name="Google Shape;36;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7" name="Shape 37"/>
        <p:cNvGrpSpPr/>
        <p:nvPr/>
      </p:nvGrpSpPr>
      <p:grpSpPr>
        <a:xfrm>
          <a:off x="0" y="0"/>
          <a:ext cx="0" cy="0"/>
          <a:chOff x="0" y="0"/>
          <a:chExt cx="0" cy="0"/>
        </a:xfrm>
      </p:grpSpPr>
      <p:sp>
        <p:nvSpPr>
          <p:cNvPr id="38" name="Google Shape;38;p13"/>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9" name="Google Shape;39;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0" name="Shape 40"/>
        <p:cNvGrpSpPr/>
        <p:nvPr/>
      </p:nvGrpSpPr>
      <p:grpSpPr>
        <a:xfrm>
          <a:off x="0" y="0"/>
          <a:ext cx="0" cy="0"/>
          <a:chOff x="0" y="0"/>
          <a:chExt cx="0" cy="0"/>
        </a:xfrm>
      </p:grpSpPr>
      <p:sp>
        <p:nvSpPr>
          <p:cNvPr id="41" name="Google Shape;41;p14"/>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2" name="Google Shape;42;p14"/>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3" name="Google Shape;43;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4" name="Shape 44"/>
        <p:cNvGrpSpPr/>
        <p:nvPr/>
      </p:nvGrpSpPr>
      <p:grpSpPr>
        <a:xfrm>
          <a:off x="0" y="0"/>
          <a:ext cx="0" cy="0"/>
          <a:chOff x="0" y="0"/>
          <a:chExt cx="0" cy="0"/>
        </a:xfrm>
      </p:grpSpPr>
      <p:sp>
        <p:nvSpPr>
          <p:cNvPr id="45" name="Google Shape;45;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i">
  <p:cSld name="ONE_COLUMN_TEXT_1_1">
    <p:spTree>
      <p:nvGrpSpPr>
        <p:cNvPr id="46" name="Shape 46"/>
        <p:cNvGrpSpPr/>
        <p:nvPr/>
      </p:nvGrpSpPr>
      <p:grpSpPr>
        <a:xfrm>
          <a:off x="0" y="0"/>
          <a:ext cx="0" cy="0"/>
          <a:chOff x="0" y="0"/>
          <a:chExt cx="0" cy="0"/>
        </a:xfrm>
      </p:grpSpPr>
      <p:pic>
        <p:nvPicPr>
          <p:cNvPr id="47" name="Google Shape;47;p16" title="bg7.png"/>
          <p:cNvPicPr preferRelativeResize="0"/>
          <p:nvPr/>
        </p:nvPicPr>
        <p:blipFill rotWithShape="1">
          <a:blip r:embed="rId2">
            <a:alphaModFix/>
          </a:blip>
          <a:srcRect b="0" l="0" r="0" t="0"/>
          <a:stretch/>
        </p:blipFill>
        <p:spPr>
          <a:xfrm>
            <a:off x="0" y="10"/>
            <a:ext cx="9144003" cy="514349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53" name="Shape 53"/>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2/3) Light">
  <p:cSld name="Title and Content (2/3) Light">
    <p:spTree>
      <p:nvGrpSpPr>
        <p:cNvPr id="54" name="Shape 54"/>
        <p:cNvGrpSpPr/>
        <p:nvPr/>
      </p:nvGrpSpPr>
      <p:grpSpPr>
        <a:xfrm>
          <a:off x="0" y="0"/>
          <a:ext cx="0" cy="0"/>
          <a:chOff x="0" y="0"/>
          <a:chExt cx="0" cy="0"/>
        </a:xfrm>
      </p:grpSpPr>
      <p:sp>
        <p:nvSpPr>
          <p:cNvPr id="55" name="Google Shape;55;p19"/>
          <p:cNvSpPr/>
          <p:nvPr/>
        </p:nvSpPr>
        <p:spPr>
          <a:xfrm>
            <a:off x="-4188" y="0"/>
            <a:ext cx="3077700" cy="51435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56" name="Google Shape;56;p19"/>
          <p:cNvSpPr txBox="1"/>
          <p:nvPr>
            <p:ph type="title"/>
          </p:nvPr>
        </p:nvSpPr>
        <p:spPr>
          <a:xfrm>
            <a:off x="420742" y="273844"/>
            <a:ext cx="22278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7" name="Google Shape;57;p19"/>
          <p:cNvSpPr txBox="1"/>
          <p:nvPr>
            <p:ph idx="1" type="body"/>
          </p:nvPr>
        </p:nvSpPr>
        <p:spPr>
          <a:xfrm>
            <a:off x="420742" y="812524"/>
            <a:ext cx="22278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58" name="Google Shape;58;p19"/>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Divider Slide">
  <p:cSld name="Divider Slide">
    <p:spTree>
      <p:nvGrpSpPr>
        <p:cNvPr id="59" name="Shape 59"/>
        <p:cNvGrpSpPr/>
        <p:nvPr/>
      </p:nvGrpSpPr>
      <p:grpSpPr>
        <a:xfrm>
          <a:off x="0" y="0"/>
          <a:ext cx="0" cy="0"/>
          <a:chOff x="0" y="0"/>
          <a:chExt cx="0" cy="0"/>
        </a:xfrm>
      </p:grpSpPr>
      <p:pic>
        <p:nvPicPr>
          <p:cNvPr id="60" name="Google Shape;60;p20"/>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61" name="Google Shape;61;p20"/>
          <p:cNvSpPr txBox="1"/>
          <p:nvPr>
            <p:ph type="title"/>
          </p:nvPr>
        </p:nvSpPr>
        <p:spPr>
          <a:xfrm>
            <a:off x="420742" y="1645445"/>
            <a:ext cx="8302500" cy="367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pic>
        <p:nvPicPr>
          <p:cNvPr id="62" name="Google Shape;62;p20" title="Logo.png"/>
          <p:cNvPicPr preferRelativeResize="0"/>
          <p:nvPr/>
        </p:nvPicPr>
        <p:blipFill rotWithShape="1">
          <a:blip r:embed="rId3">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background_Plain">
  <p:cSld name="White background_Plain">
    <p:spTree>
      <p:nvGrpSpPr>
        <p:cNvPr id="63" name="Shape 63"/>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 Name">
  <p:cSld name="Title Slide + Name">
    <p:bg>
      <p:bgPr>
        <a:solidFill>
          <a:schemeClr val="dk2"/>
        </a:solidFill>
      </p:bgPr>
    </p:bg>
    <p:spTree>
      <p:nvGrpSpPr>
        <p:cNvPr id="64" name="Shape 64"/>
        <p:cNvGrpSpPr/>
        <p:nvPr/>
      </p:nvGrpSpPr>
      <p:grpSpPr>
        <a:xfrm>
          <a:off x="0" y="0"/>
          <a:ext cx="0" cy="0"/>
          <a:chOff x="0" y="0"/>
          <a:chExt cx="0" cy="0"/>
        </a:xfrm>
      </p:grpSpPr>
      <p:sp>
        <p:nvSpPr>
          <p:cNvPr id="65" name="Google Shape;65;p22"/>
          <p:cNvSpPr txBox="1"/>
          <p:nvPr>
            <p:ph type="ctrTitle"/>
          </p:nvPr>
        </p:nvSpPr>
        <p:spPr>
          <a:xfrm>
            <a:off x="716304" y="1261139"/>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p:txBody>
      </p:sp>
      <p:sp>
        <p:nvSpPr>
          <p:cNvPr id="66" name="Google Shape;66;p22"/>
          <p:cNvSpPr txBox="1"/>
          <p:nvPr>
            <p:ph idx="1" type="subTitle"/>
          </p:nvPr>
        </p:nvSpPr>
        <p:spPr>
          <a:xfrm>
            <a:off x="716304" y="232276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p:txBody>
      </p:sp>
      <p:pic>
        <p:nvPicPr>
          <p:cNvPr id="67" name="Google Shape;67;p22"/>
          <p:cNvPicPr preferRelativeResize="0"/>
          <p:nvPr/>
        </p:nvPicPr>
        <p:blipFill rotWithShape="1">
          <a:blip r:embed="rId2">
            <a:alphaModFix/>
          </a:blip>
          <a:srcRect b="0" l="0" r="0" t="0"/>
          <a:stretch/>
        </p:blipFill>
        <p:spPr>
          <a:xfrm>
            <a:off x="716304" y="564606"/>
            <a:ext cx="639881" cy="306710"/>
          </a:xfrm>
          <a:prstGeom prst="rect">
            <a:avLst/>
          </a:prstGeom>
          <a:noFill/>
          <a:ln>
            <a:noFill/>
          </a:ln>
        </p:spPr>
      </p:pic>
      <p:pic>
        <p:nvPicPr>
          <p:cNvPr id="68" name="Google Shape;68;p22"/>
          <p:cNvPicPr preferRelativeResize="0"/>
          <p:nvPr/>
        </p:nvPicPr>
        <p:blipFill rotWithShape="1">
          <a:blip r:embed="rId3">
            <a:alphaModFix/>
          </a:blip>
          <a:srcRect b="0" l="0" r="0" t="0"/>
          <a:stretch/>
        </p:blipFill>
        <p:spPr>
          <a:xfrm>
            <a:off x="5693291" y="1210831"/>
            <a:ext cx="2822062" cy="2877556"/>
          </a:xfrm>
          <a:prstGeom prst="rect">
            <a:avLst/>
          </a:prstGeom>
          <a:noFill/>
          <a:ln>
            <a:noFill/>
          </a:ln>
        </p:spPr>
      </p:pic>
      <p:sp>
        <p:nvSpPr>
          <p:cNvPr id="69" name="Google Shape;69;p22"/>
          <p:cNvSpPr/>
          <p:nvPr>
            <p:ph idx="2" type="pic"/>
          </p:nvPr>
        </p:nvSpPr>
        <p:spPr>
          <a:xfrm>
            <a:off x="716304" y="3312109"/>
            <a:ext cx="714600" cy="714600"/>
          </a:xfrm>
          <a:prstGeom prst="ellipse">
            <a:avLst/>
          </a:prstGeom>
          <a:noFill/>
          <a:ln cap="flat" cmpd="sng" w="12700">
            <a:solidFill>
              <a:schemeClr val="lt1"/>
            </a:solidFill>
            <a:prstDash val="solid"/>
            <a:round/>
            <a:headEnd len="sm" w="sm" type="none"/>
            <a:tailEnd len="sm" w="sm" type="none"/>
          </a:ln>
        </p:spPr>
      </p:sp>
      <p:sp>
        <p:nvSpPr>
          <p:cNvPr id="70" name="Google Shape;70;p22"/>
          <p:cNvSpPr txBox="1"/>
          <p:nvPr>
            <p:ph idx="3" type="body"/>
          </p:nvPr>
        </p:nvSpPr>
        <p:spPr>
          <a:xfrm>
            <a:off x="1531868" y="3442481"/>
            <a:ext cx="3350400" cy="2739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lt1"/>
              </a:buClr>
              <a:buSzPts val="1400"/>
              <a:buNone/>
              <a:defRPr sz="1400">
                <a:solidFill>
                  <a:schemeClr val="lt1"/>
                </a:solidFill>
              </a:defRPr>
            </a:lvl1pPr>
            <a:lvl2pPr indent="-228600" lvl="1" marL="914400" algn="l">
              <a:lnSpc>
                <a:spcPct val="90000"/>
              </a:lnSpc>
              <a:spcBef>
                <a:spcPts val="400"/>
              </a:spcBef>
              <a:spcAft>
                <a:spcPts val="0"/>
              </a:spcAft>
              <a:buClr>
                <a:schemeClr val="lt1"/>
              </a:buClr>
              <a:buSzPts val="1400"/>
              <a:buNone/>
              <a:defRPr>
                <a:solidFill>
                  <a:schemeClr val="lt1"/>
                </a:solidFill>
              </a:defRPr>
            </a:lvl2pPr>
            <a:lvl3pPr indent="-317500" lvl="2" marL="1371600" algn="l">
              <a:lnSpc>
                <a:spcPct val="90000"/>
              </a:lnSpc>
              <a:spcBef>
                <a:spcPts val="400"/>
              </a:spcBef>
              <a:spcAft>
                <a:spcPts val="0"/>
              </a:spcAft>
              <a:buClr>
                <a:schemeClr val="lt1"/>
              </a:buClr>
              <a:buSzPts val="1400"/>
              <a:buChar char="•"/>
              <a:defRPr>
                <a:solidFill>
                  <a:schemeClr val="lt1"/>
                </a:solidFill>
              </a:defRPr>
            </a:lvl3pPr>
            <a:lvl4pPr indent="-317500" lvl="3" marL="1828800" algn="l">
              <a:lnSpc>
                <a:spcPct val="90000"/>
              </a:lnSpc>
              <a:spcBef>
                <a:spcPts val="400"/>
              </a:spcBef>
              <a:spcAft>
                <a:spcPts val="0"/>
              </a:spcAft>
              <a:buClr>
                <a:schemeClr val="lt1"/>
              </a:buClr>
              <a:buSzPts val="1400"/>
              <a:buChar char="•"/>
              <a:defRPr>
                <a:solidFill>
                  <a:schemeClr val="lt1"/>
                </a:solidFill>
              </a:defRPr>
            </a:lvl4pPr>
            <a:lvl5pPr indent="-317500" lvl="4" marL="2286000" algn="l">
              <a:lnSpc>
                <a:spcPct val="90000"/>
              </a:lnSpc>
              <a:spcBef>
                <a:spcPts val="400"/>
              </a:spcBef>
              <a:spcAft>
                <a:spcPts val="0"/>
              </a:spcAft>
              <a:buClr>
                <a:schemeClr val="lt1"/>
              </a:buClr>
              <a:buSzPts val="1400"/>
              <a:buChar char="•"/>
              <a:defRPr>
                <a:solidFill>
                  <a:schemeClr val="lt1"/>
                </a:solidFill>
              </a:defRPr>
            </a:lvl5pPr>
            <a:lvl6pPr indent="-317500" lvl="5" marL="2743200" algn="l">
              <a:lnSpc>
                <a:spcPct val="90000"/>
              </a:lnSpc>
              <a:spcBef>
                <a:spcPts val="400"/>
              </a:spcBef>
              <a:spcAft>
                <a:spcPts val="0"/>
              </a:spcAft>
              <a:buClr>
                <a:schemeClr val="lt1"/>
              </a:buClr>
              <a:buSzPts val="1400"/>
              <a:buChar char="•"/>
              <a:defRPr>
                <a:solidFill>
                  <a:schemeClr val="lt1"/>
                </a:solidFill>
              </a:defRPr>
            </a:lvl6pPr>
            <a:lvl7pPr indent="-317500" lvl="6" marL="3200400" algn="l">
              <a:lnSpc>
                <a:spcPct val="90000"/>
              </a:lnSpc>
              <a:spcBef>
                <a:spcPts val="400"/>
              </a:spcBef>
              <a:spcAft>
                <a:spcPts val="0"/>
              </a:spcAft>
              <a:buClr>
                <a:schemeClr val="lt1"/>
              </a:buClr>
              <a:buSzPts val="1400"/>
              <a:buChar char="•"/>
              <a:defRPr>
                <a:solidFill>
                  <a:schemeClr val="lt1"/>
                </a:solidFill>
              </a:defRPr>
            </a:lvl7pPr>
            <a:lvl8pPr indent="-317500" lvl="7" marL="3657600" algn="l">
              <a:lnSpc>
                <a:spcPct val="90000"/>
              </a:lnSpc>
              <a:spcBef>
                <a:spcPts val="400"/>
              </a:spcBef>
              <a:spcAft>
                <a:spcPts val="0"/>
              </a:spcAft>
              <a:buClr>
                <a:schemeClr val="lt1"/>
              </a:buClr>
              <a:buSzPts val="1400"/>
              <a:buChar char="•"/>
              <a:defRPr>
                <a:solidFill>
                  <a:schemeClr val="lt1"/>
                </a:solidFill>
              </a:defRPr>
            </a:lvl8pPr>
            <a:lvl9pPr indent="-317500" lvl="8" marL="4114800" algn="l">
              <a:lnSpc>
                <a:spcPct val="90000"/>
              </a:lnSpc>
              <a:spcBef>
                <a:spcPts val="400"/>
              </a:spcBef>
              <a:spcAft>
                <a:spcPts val="0"/>
              </a:spcAft>
              <a:buClr>
                <a:schemeClr val="lt1"/>
              </a:buClr>
              <a:buSzPts val="1400"/>
              <a:buChar char="•"/>
              <a:defRPr>
                <a:solidFill>
                  <a:schemeClr val="lt1"/>
                </a:solidFill>
              </a:defRPr>
            </a:lvl9pPr>
          </a:lstStyle>
          <a:p/>
        </p:txBody>
      </p:sp>
      <p:sp>
        <p:nvSpPr>
          <p:cNvPr id="71" name="Google Shape;71;p22"/>
          <p:cNvSpPr txBox="1"/>
          <p:nvPr>
            <p:ph idx="4" type="body"/>
          </p:nvPr>
        </p:nvSpPr>
        <p:spPr>
          <a:xfrm>
            <a:off x="1531868" y="3657984"/>
            <a:ext cx="3350400" cy="2739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lt1"/>
              </a:buClr>
              <a:buSzPts val="1100"/>
              <a:buNone/>
              <a:defRPr sz="1100">
                <a:solidFill>
                  <a:schemeClr val="lt1"/>
                </a:solidFill>
              </a:defRPr>
            </a:lvl1pPr>
            <a:lvl2pPr indent="-228600" lvl="1" marL="914400" algn="l">
              <a:lnSpc>
                <a:spcPct val="90000"/>
              </a:lnSpc>
              <a:spcBef>
                <a:spcPts val="400"/>
              </a:spcBef>
              <a:spcAft>
                <a:spcPts val="0"/>
              </a:spcAft>
              <a:buClr>
                <a:schemeClr val="lt1"/>
              </a:buClr>
              <a:buSzPts val="1400"/>
              <a:buNone/>
              <a:defRPr>
                <a:solidFill>
                  <a:schemeClr val="lt1"/>
                </a:solidFill>
              </a:defRPr>
            </a:lvl2pPr>
            <a:lvl3pPr indent="-317500" lvl="2" marL="1371600" algn="l">
              <a:lnSpc>
                <a:spcPct val="90000"/>
              </a:lnSpc>
              <a:spcBef>
                <a:spcPts val="400"/>
              </a:spcBef>
              <a:spcAft>
                <a:spcPts val="0"/>
              </a:spcAft>
              <a:buClr>
                <a:schemeClr val="lt1"/>
              </a:buClr>
              <a:buSzPts val="1400"/>
              <a:buChar char="•"/>
              <a:defRPr>
                <a:solidFill>
                  <a:schemeClr val="lt1"/>
                </a:solidFill>
              </a:defRPr>
            </a:lvl3pPr>
            <a:lvl4pPr indent="-317500" lvl="3" marL="1828800" algn="l">
              <a:lnSpc>
                <a:spcPct val="90000"/>
              </a:lnSpc>
              <a:spcBef>
                <a:spcPts val="400"/>
              </a:spcBef>
              <a:spcAft>
                <a:spcPts val="0"/>
              </a:spcAft>
              <a:buClr>
                <a:schemeClr val="lt1"/>
              </a:buClr>
              <a:buSzPts val="1400"/>
              <a:buChar char="•"/>
              <a:defRPr>
                <a:solidFill>
                  <a:schemeClr val="lt1"/>
                </a:solidFill>
              </a:defRPr>
            </a:lvl4pPr>
            <a:lvl5pPr indent="-317500" lvl="4" marL="2286000" algn="l">
              <a:lnSpc>
                <a:spcPct val="90000"/>
              </a:lnSpc>
              <a:spcBef>
                <a:spcPts val="400"/>
              </a:spcBef>
              <a:spcAft>
                <a:spcPts val="0"/>
              </a:spcAft>
              <a:buClr>
                <a:schemeClr val="lt1"/>
              </a:buClr>
              <a:buSzPts val="1400"/>
              <a:buChar char="•"/>
              <a:defRPr>
                <a:solidFill>
                  <a:schemeClr val="lt1"/>
                </a:solidFill>
              </a:defRPr>
            </a:lvl5pPr>
            <a:lvl6pPr indent="-317500" lvl="5" marL="2743200" algn="l">
              <a:lnSpc>
                <a:spcPct val="90000"/>
              </a:lnSpc>
              <a:spcBef>
                <a:spcPts val="400"/>
              </a:spcBef>
              <a:spcAft>
                <a:spcPts val="0"/>
              </a:spcAft>
              <a:buClr>
                <a:schemeClr val="lt1"/>
              </a:buClr>
              <a:buSzPts val="1400"/>
              <a:buChar char="•"/>
              <a:defRPr>
                <a:solidFill>
                  <a:schemeClr val="lt1"/>
                </a:solidFill>
              </a:defRPr>
            </a:lvl6pPr>
            <a:lvl7pPr indent="-317500" lvl="6" marL="3200400" algn="l">
              <a:lnSpc>
                <a:spcPct val="90000"/>
              </a:lnSpc>
              <a:spcBef>
                <a:spcPts val="400"/>
              </a:spcBef>
              <a:spcAft>
                <a:spcPts val="0"/>
              </a:spcAft>
              <a:buClr>
                <a:schemeClr val="lt1"/>
              </a:buClr>
              <a:buSzPts val="1400"/>
              <a:buChar char="•"/>
              <a:defRPr>
                <a:solidFill>
                  <a:schemeClr val="lt1"/>
                </a:solidFill>
              </a:defRPr>
            </a:lvl7pPr>
            <a:lvl8pPr indent="-317500" lvl="7" marL="3657600" algn="l">
              <a:lnSpc>
                <a:spcPct val="90000"/>
              </a:lnSpc>
              <a:spcBef>
                <a:spcPts val="400"/>
              </a:spcBef>
              <a:spcAft>
                <a:spcPts val="0"/>
              </a:spcAft>
              <a:buClr>
                <a:schemeClr val="lt1"/>
              </a:buClr>
              <a:buSzPts val="1400"/>
              <a:buChar char="•"/>
              <a:defRPr>
                <a:solidFill>
                  <a:schemeClr val="lt1"/>
                </a:solidFill>
              </a:defRPr>
            </a:lvl8pPr>
            <a:lvl9pPr indent="-317500" lvl="8" marL="4114800" algn="l">
              <a:lnSpc>
                <a:spcPct val="90000"/>
              </a:lnSpc>
              <a:spcBef>
                <a:spcPts val="400"/>
              </a:spcBef>
              <a:spcAft>
                <a:spcPts val="0"/>
              </a:spcAft>
              <a:buClr>
                <a:schemeClr val="lt1"/>
              </a:buClr>
              <a:buSzPts val="1400"/>
              <a:buChar char="•"/>
              <a:defRPr>
                <a:solidFill>
                  <a:schemeClr val="lt1"/>
                </a:solidFill>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1">
  <p:cSld name="Title Slide 1">
    <p:bg>
      <p:bgPr>
        <a:solidFill>
          <a:schemeClr val="dk2"/>
        </a:solidFill>
      </p:bgPr>
    </p:bg>
    <p:spTree>
      <p:nvGrpSpPr>
        <p:cNvPr id="72" name="Shape 72"/>
        <p:cNvGrpSpPr/>
        <p:nvPr/>
      </p:nvGrpSpPr>
      <p:grpSpPr>
        <a:xfrm>
          <a:off x="0" y="0"/>
          <a:ext cx="0" cy="0"/>
          <a:chOff x="0" y="0"/>
          <a:chExt cx="0" cy="0"/>
        </a:xfrm>
      </p:grpSpPr>
      <p:sp>
        <p:nvSpPr>
          <p:cNvPr id="73" name="Google Shape;73;p23"/>
          <p:cNvSpPr txBox="1"/>
          <p:nvPr>
            <p:ph type="ctrTitle"/>
          </p:nvPr>
        </p:nvSpPr>
        <p:spPr>
          <a:xfrm>
            <a:off x="716304" y="1721858"/>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p:txBody>
      </p:sp>
      <p:sp>
        <p:nvSpPr>
          <p:cNvPr id="74" name="Google Shape;74;p23"/>
          <p:cNvSpPr txBox="1"/>
          <p:nvPr>
            <p:ph idx="1" type="subTitle"/>
          </p:nvPr>
        </p:nvSpPr>
        <p:spPr>
          <a:xfrm>
            <a:off x="716304" y="278348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p:txBody>
      </p:sp>
      <p:pic>
        <p:nvPicPr>
          <p:cNvPr id="75" name="Google Shape;75;p23"/>
          <p:cNvPicPr preferRelativeResize="0"/>
          <p:nvPr/>
        </p:nvPicPr>
        <p:blipFill rotWithShape="1">
          <a:blip r:embed="rId2">
            <a:alphaModFix/>
          </a:blip>
          <a:srcRect b="0" l="0" r="0" t="0"/>
          <a:stretch/>
        </p:blipFill>
        <p:spPr>
          <a:xfrm>
            <a:off x="716304" y="564606"/>
            <a:ext cx="639881" cy="306710"/>
          </a:xfrm>
          <a:prstGeom prst="rect">
            <a:avLst/>
          </a:prstGeom>
          <a:noFill/>
          <a:ln>
            <a:noFill/>
          </a:ln>
        </p:spPr>
      </p:pic>
      <p:pic>
        <p:nvPicPr>
          <p:cNvPr id="76" name="Google Shape;76;p23"/>
          <p:cNvPicPr preferRelativeResize="0"/>
          <p:nvPr/>
        </p:nvPicPr>
        <p:blipFill rotWithShape="1">
          <a:blip r:embed="rId3">
            <a:alphaModFix/>
          </a:blip>
          <a:srcRect b="0" l="0" r="0" t="0"/>
          <a:stretch/>
        </p:blipFill>
        <p:spPr>
          <a:xfrm>
            <a:off x="5693291" y="1210831"/>
            <a:ext cx="2822062" cy="2877556"/>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2">
  <p:cSld name="Title Slide 2">
    <p:spTree>
      <p:nvGrpSpPr>
        <p:cNvPr id="77" name="Shape 77"/>
        <p:cNvGrpSpPr/>
        <p:nvPr/>
      </p:nvGrpSpPr>
      <p:grpSpPr>
        <a:xfrm>
          <a:off x="0" y="0"/>
          <a:ext cx="0" cy="0"/>
          <a:chOff x="0" y="0"/>
          <a:chExt cx="0" cy="0"/>
        </a:xfrm>
      </p:grpSpPr>
      <p:pic>
        <p:nvPicPr>
          <p:cNvPr id="78" name="Google Shape;78;p24"/>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79" name="Google Shape;79;p24"/>
          <p:cNvSpPr txBox="1"/>
          <p:nvPr>
            <p:ph type="ctrTitle"/>
          </p:nvPr>
        </p:nvSpPr>
        <p:spPr>
          <a:xfrm>
            <a:off x="716304" y="1721858"/>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0" name="Google Shape;80;p24"/>
          <p:cNvSpPr txBox="1"/>
          <p:nvPr>
            <p:ph idx="1" type="subTitle"/>
          </p:nvPr>
        </p:nvSpPr>
        <p:spPr>
          <a:xfrm>
            <a:off x="716304" y="278348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id="81" name="Google Shape;81;p24"/>
          <p:cNvPicPr preferRelativeResize="0"/>
          <p:nvPr/>
        </p:nvPicPr>
        <p:blipFill rotWithShape="1">
          <a:blip r:embed="rId3">
            <a:alphaModFix/>
          </a:blip>
          <a:srcRect b="0" l="0" r="0" t="0"/>
          <a:stretch/>
        </p:blipFill>
        <p:spPr>
          <a:xfrm>
            <a:off x="716304" y="564606"/>
            <a:ext cx="639881" cy="30671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3">
  <p:cSld name="1_Title Slide 2">
    <p:spTree>
      <p:nvGrpSpPr>
        <p:cNvPr id="82" name="Shape 82"/>
        <p:cNvGrpSpPr/>
        <p:nvPr/>
      </p:nvGrpSpPr>
      <p:grpSpPr>
        <a:xfrm>
          <a:off x="0" y="0"/>
          <a:ext cx="0" cy="0"/>
          <a:chOff x="0" y="0"/>
          <a:chExt cx="0" cy="0"/>
        </a:xfrm>
      </p:grpSpPr>
      <p:pic>
        <p:nvPicPr>
          <p:cNvPr id="83" name="Google Shape;83;p25"/>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84" name="Google Shape;84;p25"/>
          <p:cNvSpPr txBox="1"/>
          <p:nvPr>
            <p:ph type="ctrTitle"/>
          </p:nvPr>
        </p:nvSpPr>
        <p:spPr>
          <a:xfrm>
            <a:off x="716304" y="1721858"/>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5" name="Google Shape;85;p25"/>
          <p:cNvSpPr txBox="1"/>
          <p:nvPr>
            <p:ph idx="1" type="subTitle"/>
          </p:nvPr>
        </p:nvSpPr>
        <p:spPr>
          <a:xfrm>
            <a:off x="716304" y="278348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id="86" name="Google Shape;86;p25"/>
          <p:cNvPicPr preferRelativeResize="0"/>
          <p:nvPr/>
        </p:nvPicPr>
        <p:blipFill rotWithShape="1">
          <a:blip r:embed="rId3">
            <a:alphaModFix/>
          </a:blip>
          <a:srcRect b="0" l="0" r="0" t="0"/>
          <a:stretch/>
        </p:blipFill>
        <p:spPr>
          <a:xfrm>
            <a:off x="716304" y="564606"/>
            <a:ext cx="639881" cy="30671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4">
  <p:cSld name="2_Title Slide 2">
    <p:spTree>
      <p:nvGrpSpPr>
        <p:cNvPr id="87" name="Shape 87"/>
        <p:cNvGrpSpPr/>
        <p:nvPr/>
      </p:nvGrpSpPr>
      <p:grpSpPr>
        <a:xfrm>
          <a:off x="0" y="0"/>
          <a:ext cx="0" cy="0"/>
          <a:chOff x="0" y="0"/>
          <a:chExt cx="0" cy="0"/>
        </a:xfrm>
      </p:grpSpPr>
      <p:pic>
        <p:nvPicPr>
          <p:cNvPr id="88" name="Google Shape;88;p26"/>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89" name="Google Shape;89;p26"/>
          <p:cNvSpPr txBox="1"/>
          <p:nvPr>
            <p:ph type="ctrTitle"/>
          </p:nvPr>
        </p:nvSpPr>
        <p:spPr>
          <a:xfrm>
            <a:off x="716304" y="1721858"/>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0" name="Google Shape;90;p26"/>
          <p:cNvSpPr txBox="1"/>
          <p:nvPr>
            <p:ph idx="1" type="subTitle"/>
          </p:nvPr>
        </p:nvSpPr>
        <p:spPr>
          <a:xfrm>
            <a:off x="716304" y="278348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id="91" name="Google Shape;91;p26"/>
          <p:cNvPicPr preferRelativeResize="0"/>
          <p:nvPr/>
        </p:nvPicPr>
        <p:blipFill rotWithShape="1">
          <a:blip r:embed="rId3">
            <a:alphaModFix/>
          </a:blip>
          <a:srcRect b="0" l="0" r="0" t="0"/>
          <a:stretch/>
        </p:blipFill>
        <p:spPr>
          <a:xfrm>
            <a:off x="716304" y="564606"/>
            <a:ext cx="639881" cy="30671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3/2) Blue">
  <p:cSld name="Title and Content (3/2) Blue">
    <p:bg>
      <p:bgPr>
        <a:blipFill>
          <a:blip r:embed="rId2">
            <a:alphaModFix/>
          </a:blip>
          <a:stretch>
            <a:fillRect/>
          </a:stretch>
        </a:blipFill>
      </p:bgPr>
    </p:bg>
    <p:spTree>
      <p:nvGrpSpPr>
        <p:cNvPr id="92" name="Shape 92"/>
        <p:cNvGrpSpPr/>
        <p:nvPr/>
      </p:nvGrpSpPr>
      <p:grpSpPr>
        <a:xfrm>
          <a:off x="0" y="0"/>
          <a:ext cx="0" cy="0"/>
          <a:chOff x="0" y="0"/>
          <a:chExt cx="0" cy="0"/>
        </a:xfrm>
      </p:grpSpPr>
      <p:sp>
        <p:nvSpPr>
          <p:cNvPr id="93" name="Google Shape;93;p27"/>
          <p:cNvSpPr/>
          <p:nvPr/>
        </p:nvSpPr>
        <p:spPr>
          <a:xfrm>
            <a:off x="6066275" y="0"/>
            <a:ext cx="3077700" cy="5143500"/>
          </a:xfrm>
          <a:prstGeom prst="rect">
            <a:avLst/>
          </a:prstGeom>
          <a:solidFill>
            <a:schemeClr val="dk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94" name="Google Shape;94;p27"/>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
        <p:nvSpPr>
          <p:cNvPr id="95" name="Google Shape;95;p27"/>
          <p:cNvSpPr txBox="1"/>
          <p:nvPr>
            <p:ph type="title"/>
          </p:nvPr>
        </p:nvSpPr>
        <p:spPr>
          <a:xfrm>
            <a:off x="420742" y="273844"/>
            <a:ext cx="52800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6" name="Google Shape;96;p27"/>
          <p:cNvSpPr txBox="1"/>
          <p:nvPr>
            <p:ph idx="1" type="body"/>
          </p:nvPr>
        </p:nvSpPr>
        <p:spPr>
          <a:xfrm>
            <a:off x="420742" y="812524"/>
            <a:ext cx="52752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pic>
        <p:nvPicPr>
          <p:cNvPr id="97" name="Google Shape;97;p27" title="Logo.png"/>
          <p:cNvPicPr preferRelativeResize="0"/>
          <p:nvPr/>
        </p:nvPicPr>
        <p:blipFill rotWithShape="1">
          <a:blip r:embed="rId2">
            <a:alphaModFix/>
          </a:blip>
          <a:srcRect b="0" l="0" r="0" t="0"/>
          <a:stretch/>
        </p:blipFill>
        <p:spPr>
          <a:xfrm>
            <a:off x="8412313" y="4830850"/>
            <a:ext cx="309686" cy="146674"/>
          </a:xfrm>
          <a:prstGeom prst="rect">
            <a:avLst/>
          </a:prstGeom>
          <a:noFill/>
          <a:ln>
            <a:noFill/>
          </a:ln>
        </p:spPr>
      </p:pic>
    </p:spTree>
  </p:cSld>
  <p:clrMapOvr>
    <a:masterClrMapping/>
  </p:clrMapOvr>
  <p:extLst>
    <p:ext uri="{DCECCB84-F9BA-43D5-87BE-67443E8EF086}">
      <p15:sldGuideLst>
        <p15:guide id="1" pos="4918">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type="obj">
  <p:cSld name="OBJECT">
    <p:spTree>
      <p:nvGrpSpPr>
        <p:cNvPr id="98" name="Shape 98"/>
        <p:cNvGrpSpPr/>
        <p:nvPr/>
      </p:nvGrpSpPr>
      <p:grpSpPr>
        <a:xfrm>
          <a:off x="0" y="0"/>
          <a:ext cx="0" cy="0"/>
          <a:chOff x="0" y="0"/>
          <a:chExt cx="0" cy="0"/>
        </a:xfrm>
      </p:grpSpPr>
      <p:sp>
        <p:nvSpPr>
          <p:cNvPr id="99" name="Google Shape;99;p28"/>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0" name="Google Shape;100;p28"/>
          <p:cNvSpPr txBox="1"/>
          <p:nvPr>
            <p:ph idx="1" type="body"/>
          </p:nvPr>
        </p:nvSpPr>
        <p:spPr>
          <a:xfrm>
            <a:off x="420743" y="812524"/>
            <a:ext cx="83025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1/2) Light">
  <p:cSld name="Title and Content (1/2) Light">
    <p:spTree>
      <p:nvGrpSpPr>
        <p:cNvPr id="101" name="Shape 101"/>
        <p:cNvGrpSpPr/>
        <p:nvPr/>
      </p:nvGrpSpPr>
      <p:grpSpPr>
        <a:xfrm>
          <a:off x="0" y="0"/>
          <a:ext cx="0" cy="0"/>
          <a:chOff x="0" y="0"/>
          <a:chExt cx="0" cy="0"/>
        </a:xfrm>
      </p:grpSpPr>
      <p:sp>
        <p:nvSpPr>
          <p:cNvPr id="102" name="Google Shape;102;p29"/>
          <p:cNvSpPr/>
          <p:nvPr/>
        </p:nvSpPr>
        <p:spPr>
          <a:xfrm>
            <a:off x="4572000" y="0"/>
            <a:ext cx="4572000" cy="51435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03" name="Google Shape;103;p29"/>
          <p:cNvSpPr txBox="1"/>
          <p:nvPr>
            <p:ph type="title"/>
          </p:nvPr>
        </p:nvSpPr>
        <p:spPr>
          <a:xfrm>
            <a:off x="420742" y="273844"/>
            <a:ext cx="38496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4" name="Google Shape;104;p29"/>
          <p:cNvSpPr txBox="1"/>
          <p:nvPr>
            <p:ph idx="1" type="body"/>
          </p:nvPr>
        </p:nvSpPr>
        <p:spPr>
          <a:xfrm>
            <a:off x="420742" y="812524"/>
            <a:ext cx="38496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05" name="Google Shape;105;p29"/>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pic>
        <p:nvPicPr>
          <p:cNvPr id="106" name="Google Shape;106;p29"/>
          <p:cNvPicPr preferRelativeResize="0"/>
          <p:nvPr/>
        </p:nvPicPr>
        <p:blipFill rotWithShape="1">
          <a:blip r:embed="rId2">
            <a:alphaModFix/>
          </a:blip>
          <a:srcRect b="0" l="0" r="0" t="0"/>
          <a:stretch/>
        </p:blipFill>
        <p:spPr>
          <a:xfrm>
            <a:off x="8412332" y="4829647"/>
            <a:ext cx="310926" cy="14907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1/2) Blue">
  <p:cSld name="Title and Content (1/2) Blue">
    <p:spTree>
      <p:nvGrpSpPr>
        <p:cNvPr id="107" name="Shape 107"/>
        <p:cNvGrpSpPr/>
        <p:nvPr/>
      </p:nvGrpSpPr>
      <p:grpSpPr>
        <a:xfrm>
          <a:off x="0" y="0"/>
          <a:ext cx="0" cy="0"/>
          <a:chOff x="0" y="0"/>
          <a:chExt cx="0" cy="0"/>
        </a:xfrm>
      </p:grpSpPr>
      <p:sp>
        <p:nvSpPr>
          <p:cNvPr id="108" name="Google Shape;108;p30"/>
          <p:cNvSpPr/>
          <p:nvPr/>
        </p:nvSpPr>
        <p:spPr>
          <a:xfrm>
            <a:off x="4572000" y="0"/>
            <a:ext cx="4572000" cy="5143500"/>
          </a:xfrm>
          <a:prstGeom prst="rect">
            <a:avLst/>
          </a:prstGeom>
          <a:solidFill>
            <a:schemeClr val="dk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09" name="Google Shape;109;p30"/>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
        <p:nvSpPr>
          <p:cNvPr id="110" name="Google Shape;110;p30"/>
          <p:cNvSpPr txBox="1"/>
          <p:nvPr>
            <p:ph type="title"/>
          </p:nvPr>
        </p:nvSpPr>
        <p:spPr>
          <a:xfrm>
            <a:off x="420742" y="273844"/>
            <a:ext cx="38496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1" name="Google Shape;111;p30"/>
          <p:cNvSpPr txBox="1"/>
          <p:nvPr>
            <p:ph idx="1" type="body"/>
          </p:nvPr>
        </p:nvSpPr>
        <p:spPr>
          <a:xfrm>
            <a:off x="420742" y="812524"/>
            <a:ext cx="38496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pic>
        <p:nvPicPr>
          <p:cNvPr id="112" name="Google Shape;112;p30" title="Logo.png"/>
          <p:cNvPicPr preferRelativeResize="0"/>
          <p:nvPr/>
        </p:nvPicPr>
        <p:blipFill rotWithShape="1">
          <a:blip r:embed="rId2">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2/3) Blue">
  <p:cSld name="Title and Content (2/3) Blue">
    <p:spTree>
      <p:nvGrpSpPr>
        <p:cNvPr id="113" name="Shape 113"/>
        <p:cNvGrpSpPr/>
        <p:nvPr/>
      </p:nvGrpSpPr>
      <p:grpSpPr>
        <a:xfrm>
          <a:off x="0" y="0"/>
          <a:ext cx="0" cy="0"/>
          <a:chOff x="0" y="0"/>
          <a:chExt cx="0" cy="0"/>
        </a:xfrm>
      </p:grpSpPr>
      <p:sp>
        <p:nvSpPr>
          <p:cNvPr id="114" name="Google Shape;114;p31"/>
          <p:cNvSpPr/>
          <p:nvPr/>
        </p:nvSpPr>
        <p:spPr>
          <a:xfrm>
            <a:off x="-4188" y="0"/>
            <a:ext cx="3077700" cy="5143500"/>
          </a:xfrm>
          <a:prstGeom prst="rect">
            <a:avLst/>
          </a:prstGeom>
          <a:solidFill>
            <a:schemeClr val="dk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15" name="Google Shape;115;p31"/>
          <p:cNvSpPr txBox="1"/>
          <p:nvPr>
            <p:ph type="title"/>
          </p:nvPr>
        </p:nvSpPr>
        <p:spPr>
          <a:xfrm>
            <a:off x="420742" y="273844"/>
            <a:ext cx="22278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lt1"/>
              </a:buClr>
              <a:buSzPts val="2000"/>
              <a:buFont typeface="DM Sans"/>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6" name="Google Shape;116;p31"/>
          <p:cNvSpPr txBox="1"/>
          <p:nvPr>
            <p:ph idx="1" type="body"/>
          </p:nvPr>
        </p:nvSpPr>
        <p:spPr>
          <a:xfrm>
            <a:off x="420742" y="812524"/>
            <a:ext cx="2227800" cy="3820200"/>
          </a:xfrm>
          <a:prstGeom prst="rect">
            <a:avLst/>
          </a:prstGeom>
          <a:noFill/>
          <a:ln>
            <a:noFill/>
          </a:ln>
        </p:spPr>
        <p:txBody>
          <a:bodyPr anchorCtr="0" anchor="t" bIns="34275" lIns="68575" spcFirstLastPara="1" rIns="68575" wrap="square" tIns="34275">
            <a:normAutofit/>
          </a:bodyPr>
          <a:lstStyle>
            <a:lvl1pPr indent="-323850" lvl="0" marL="457200" algn="l">
              <a:lnSpc>
                <a:spcPct val="90000"/>
              </a:lnSpc>
              <a:spcBef>
                <a:spcPts val="800"/>
              </a:spcBef>
              <a:spcAft>
                <a:spcPts val="0"/>
              </a:spcAft>
              <a:buClr>
                <a:schemeClr val="lt1"/>
              </a:buClr>
              <a:buSzPts val="1500"/>
              <a:buChar char="•"/>
              <a:defRPr>
                <a:solidFill>
                  <a:schemeClr val="lt1"/>
                </a:solidFill>
              </a:defRPr>
            </a:lvl1pPr>
            <a:lvl2pPr indent="-317500" lvl="1" marL="914400" algn="l">
              <a:lnSpc>
                <a:spcPct val="90000"/>
              </a:lnSpc>
              <a:spcBef>
                <a:spcPts val="400"/>
              </a:spcBef>
              <a:spcAft>
                <a:spcPts val="0"/>
              </a:spcAft>
              <a:buClr>
                <a:schemeClr val="lt1"/>
              </a:buClr>
              <a:buSzPts val="1400"/>
              <a:buChar char="•"/>
              <a:defRPr>
                <a:solidFill>
                  <a:schemeClr val="lt1"/>
                </a:solidFill>
              </a:defRPr>
            </a:lvl2pPr>
            <a:lvl3pPr indent="-304800" lvl="2" marL="1371600" algn="l">
              <a:lnSpc>
                <a:spcPct val="90000"/>
              </a:lnSpc>
              <a:spcBef>
                <a:spcPts val="400"/>
              </a:spcBef>
              <a:spcAft>
                <a:spcPts val="0"/>
              </a:spcAft>
              <a:buClr>
                <a:schemeClr val="lt1"/>
              </a:buClr>
              <a:buSzPts val="1200"/>
              <a:buChar char="•"/>
              <a:defRPr>
                <a:solidFill>
                  <a:schemeClr val="lt1"/>
                </a:solidFill>
              </a:defRPr>
            </a:lvl3pPr>
            <a:lvl4pPr indent="-298450" lvl="3" marL="1828800" algn="l">
              <a:lnSpc>
                <a:spcPct val="90000"/>
              </a:lnSpc>
              <a:spcBef>
                <a:spcPts val="400"/>
              </a:spcBef>
              <a:spcAft>
                <a:spcPts val="0"/>
              </a:spcAft>
              <a:buClr>
                <a:schemeClr val="lt1"/>
              </a:buClr>
              <a:buSzPts val="1100"/>
              <a:buChar char="•"/>
              <a:defRPr>
                <a:solidFill>
                  <a:schemeClr val="lt1"/>
                </a:solidFill>
              </a:defRPr>
            </a:lvl4pPr>
            <a:lvl5pPr indent="-298450" lvl="4" marL="2286000" algn="l">
              <a:lnSpc>
                <a:spcPct val="90000"/>
              </a:lnSpc>
              <a:spcBef>
                <a:spcPts val="400"/>
              </a:spcBef>
              <a:spcAft>
                <a:spcPts val="0"/>
              </a:spcAft>
              <a:buClr>
                <a:schemeClr val="lt1"/>
              </a:buClr>
              <a:buSzPts val="1100"/>
              <a:buChar char="•"/>
              <a:defRPr>
                <a:solidFill>
                  <a:schemeClr val="lt1"/>
                </a:solidFill>
              </a:defRPr>
            </a:lvl5pPr>
            <a:lvl6pPr indent="-317500" lvl="5" marL="2743200" algn="l">
              <a:lnSpc>
                <a:spcPct val="90000"/>
              </a:lnSpc>
              <a:spcBef>
                <a:spcPts val="400"/>
              </a:spcBef>
              <a:spcAft>
                <a:spcPts val="0"/>
              </a:spcAft>
              <a:buClr>
                <a:schemeClr val="lt1"/>
              </a:buClr>
              <a:buSzPts val="1400"/>
              <a:buChar char="•"/>
              <a:defRPr>
                <a:solidFill>
                  <a:schemeClr val="lt1"/>
                </a:solidFill>
              </a:defRPr>
            </a:lvl6pPr>
            <a:lvl7pPr indent="-317500" lvl="6" marL="3200400" algn="l">
              <a:lnSpc>
                <a:spcPct val="90000"/>
              </a:lnSpc>
              <a:spcBef>
                <a:spcPts val="400"/>
              </a:spcBef>
              <a:spcAft>
                <a:spcPts val="0"/>
              </a:spcAft>
              <a:buClr>
                <a:schemeClr val="lt1"/>
              </a:buClr>
              <a:buSzPts val="1400"/>
              <a:buChar char="•"/>
              <a:defRPr>
                <a:solidFill>
                  <a:schemeClr val="lt1"/>
                </a:solidFill>
              </a:defRPr>
            </a:lvl7pPr>
            <a:lvl8pPr indent="-317500" lvl="7" marL="3657600" algn="l">
              <a:lnSpc>
                <a:spcPct val="90000"/>
              </a:lnSpc>
              <a:spcBef>
                <a:spcPts val="400"/>
              </a:spcBef>
              <a:spcAft>
                <a:spcPts val="0"/>
              </a:spcAft>
              <a:buClr>
                <a:schemeClr val="lt1"/>
              </a:buClr>
              <a:buSzPts val="1400"/>
              <a:buChar char="•"/>
              <a:defRPr>
                <a:solidFill>
                  <a:schemeClr val="lt1"/>
                </a:solidFill>
              </a:defRPr>
            </a:lvl8pPr>
            <a:lvl9pPr indent="-317500" lvl="8" marL="4114800" algn="l">
              <a:lnSpc>
                <a:spcPct val="90000"/>
              </a:lnSpc>
              <a:spcBef>
                <a:spcPts val="400"/>
              </a:spcBef>
              <a:spcAft>
                <a:spcPts val="0"/>
              </a:spcAft>
              <a:buClr>
                <a:schemeClr val="lt1"/>
              </a:buClr>
              <a:buSzPts val="1400"/>
              <a:buChar char="•"/>
              <a:defRPr>
                <a:solidFill>
                  <a:schemeClr val="lt1"/>
                </a:solidFill>
              </a:defRPr>
            </a:lvl9pPr>
          </a:lstStyle>
          <a:p/>
        </p:txBody>
      </p:sp>
      <p:sp>
        <p:nvSpPr>
          <p:cNvPr id="117" name="Google Shape;117;p31"/>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pic>
        <p:nvPicPr>
          <p:cNvPr id="118" name="Google Shape;118;p31"/>
          <p:cNvPicPr preferRelativeResize="0"/>
          <p:nvPr/>
        </p:nvPicPr>
        <p:blipFill rotWithShape="1">
          <a:blip r:embed="rId2">
            <a:alphaModFix/>
          </a:blip>
          <a:srcRect b="0" l="0" r="0" t="0"/>
          <a:stretch/>
        </p:blipFill>
        <p:spPr>
          <a:xfrm>
            <a:off x="420742" y="4829647"/>
            <a:ext cx="310926" cy="149074"/>
          </a:xfrm>
          <a:prstGeom prst="rect">
            <a:avLst/>
          </a:prstGeom>
          <a:noFill/>
          <a:ln>
            <a:noFill/>
          </a:ln>
        </p:spPr>
      </p:pic>
      <p:pic>
        <p:nvPicPr>
          <p:cNvPr id="119" name="Google Shape;119;p31"/>
          <p:cNvPicPr preferRelativeResize="0"/>
          <p:nvPr/>
        </p:nvPicPr>
        <p:blipFill rotWithShape="1">
          <a:blip r:embed="rId3">
            <a:alphaModFix/>
          </a:blip>
          <a:srcRect b="0" l="0" r="0" t="0"/>
          <a:stretch/>
        </p:blipFill>
        <p:spPr>
          <a:xfrm>
            <a:off x="4719311" y="3391372"/>
            <a:ext cx="313335" cy="151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3/2) Light">
  <p:cSld name="Title and Content (3/2) Light">
    <p:spTree>
      <p:nvGrpSpPr>
        <p:cNvPr id="120" name="Shape 120"/>
        <p:cNvGrpSpPr/>
        <p:nvPr/>
      </p:nvGrpSpPr>
      <p:grpSpPr>
        <a:xfrm>
          <a:off x="0" y="0"/>
          <a:ext cx="0" cy="0"/>
          <a:chOff x="0" y="0"/>
          <a:chExt cx="0" cy="0"/>
        </a:xfrm>
      </p:grpSpPr>
      <p:sp>
        <p:nvSpPr>
          <p:cNvPr id="121" name="Google Shape;121;p32"/>
          <p:cNvSpPr/>
          <p:nvPr/>
        </p:nvSpPr>
        <p:spPr>
          <a:xfrm>
            <a:off x="6066275" y="0"/>
            <a:ext cx="3077700" cy="51435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22" name="Google Shape;122;p32"/>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
        <p:nvSpPr>
          <p:cNvPr id="123" name="Google Shape;123;p32"/>
          <p:cNvSpPr txBox="1"/>
          <p:nvPr>
            <p:ph type="title"/>
          </p:nvPr>
        </p:nvSpPr>
        <p:spPr>
          <a:xfrm>
            <a:off x="420742" y="273844"/>
            <a:ext cx="52800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32"/>
          <p:cNvSpPr txBox="1"/>
          <p:nvPr>
            <p:ph idx="1" type="body"/>
          </p:nvPr>
        </p:nvSpPr>
        <p:spPr>
          <a:xfrm>
            <a:off x="420742" y="812524"/>
            <a:ext cx="52752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pic>
        <p:nvPicPr>
          <p:cNvPr id="125" name="Google Shape;125;p32"/>
          <p:cNvPicPr preferRelativeResize="0"/>
          <p:nvPr/>
        </p:nvPicPr>
        <p:blipFill rotWithShape="1">
          <a:blip r:embed="rId2">
            <a:alphaModFix/>
          </a:blip>
          <a:srcRect b="0" l="0" r="0" t="0"/>
          <a:stretch/>
        </p:blipFill>
        <p:spPr>
          <a:xfrm>
            <a:off x="8412332" y="4829647"/>
            <a:ext cx="310926" cy="14907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Cards 1">
  <p:cSld name="Cards 1">
    <p:spTree>
      <p:nvGrpSpPr>
        <p:cNvPr id="126" name="Shape 126"/>
        <p:cNvGrpSpPr/>
        <p:nvPr/>
      </p:nvGrpSpPr>
      <p:grpSpPr>
        <a:xfrm>
          <a:off x="0" y="0"/>
          <a:ext cx="0" cy="0"/>
          <a:chOff x="0" y="0"/>
          <a:chExt cx="0" cy="0"/>
        </a:xfrm>
      </p:grpSpPr>
      <p:sp>
        <p:nvSpPr>
          <p:cNvPr id="127" name="Google Shape;127;p33"/>
          <p:cNvSpPr/>
          <p:nvPr/>
        </p:nvSpPr>
        <p:spPr>
          <a:xfrm>
            <a:off x="492931" y="813038"/>
            <a:ext cx="2406000" cy="3759000"/>
          </a:xfrm>
          <a:prstGeom prst="roundRect">
            <a:avLst>
              <a:gd fmla="val 2226" name="adj"/>
            </a:avLst>
          </a:prstGeom>
          <a:solidFill>
            <a:schemeClr val="lt1"/>
          </a:solidFill>
          <a:ln cap="flat" cmpd="sng" w="12700">
            <a:solidFill>
              <a:schemeClr val="dk2"/>
            </a:solidFill>
            <a:prstDash val="solid"/>
            <a:miter lim="8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28" name="Google Shape;128;p33"/>
          <p:cNvSpPr/>
          <p:nvPr/>
        </p:nvSpPr>
        <p:spPr>
          <a:xfrm>
            <a:off x="3378413" y="813038"/>
            <a:ext cx="2406000" cy="3759000"/>
          </a:xfrm>
          <a:prstGeom prst="roundRect">
            <a:avLst>
              <a:gd fmla="val 2226" name="adj"/>
            </a:avLst>
          </a:prstGeom>
          <a:solidFill>
            <a:schemeClr val="lt1"/>
          </a:solidFill>
          <a:ln cap="flat" cmpd="sng" w="12700">
            <a:solidFill>
              <a:schemeClr val="dk2"/>
            </a:solidFill>
            <a:prstDash val="solid"/>
            <a:miter lim="8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29" name="Google Shape;129;p33"/>
          <p:cNvSpPr/>
          <p:nvPr/>
        </p:nvSpPr>
        <p:spPr>
          <a:xfrm>
            <a:off x="6256421" y="813038"/>
            <a:ext cx="2406000" cy="3759000"/>
          </a:xfrm>
          <a:prstGeom prst="roundRect">
            <a:avLst>
              <a:gd fmla="val 2226" name="adj"/>
            </a:avLst>
          </a:prstGeom>
          <a:solidFill>
            <a:schemeClr val="lt1"/>
          </a:solidFill>
          <a:ln cap="flat" cmpd="sng" w="12700">
            <a:solidFill>
              <a:schemeClr val="dk2"/>
            </a:solidFill>
            <a:prstDash val="solid"/>
            <a:miter lim="8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30" name="Google Shape;130;p33"/>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1" name="Google Shape;131;p33"/>
          <p:cNvSpPr txBox="1"/>
          <p:nvPr>
            <p:ph idx="1" type="body"/>
          </p:nvPr>
        </p:nvSpPr>
        <p:spPr>
          <a:xfrm>
            <a:off x="740774" y="1537190"/>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2" name="Google Shape;132;p33"/>
          <p:cNvSpPr txBox="1"/>
          <p:nvPr>
            <p:ph idx="2" type="body"/>
          </p:nvPr>
        </p:nvSpPr>
        <p:spPr>
          <a:xfrm>
            <a:off x="667264" y="1982956"/>
            <a:ext cx="2057400" cy="241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3" name="Google Shape;133;p33"/>
          <p:cNvSpPr txBox="1"/>
          <p:nvPr>
            <p:ph idx="3" type="body"/>
          </p:nvPr>
        </p:nvSpPr>
        <p:spPr>
          <a:xfrm>
            <a:off x="3625767" y="1537190"/>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4" name="Google Shape;134;p33"/>
          <p:cNvSpPr txBox="1"/>
          <p:nvPr>
            <p:ph idx="4" type="body"/>
          </p:nvPr>
        </p:nvSpPr>
        <p:spPr>
          <a:xfrm>
            <a:off x="3552257" y="1982956"/>
            <a:ext cx="2057400" cy="241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5" name="Google Shape;135;p33"/>
          <p:cNvSpPr txBox="1"/>
          <p:nvPr>
            <p:ph idx="5" type="body"/>
          </p:nvPr>
        </p:nvSpPr>
        <p:spPr>
          <a:xfrm>
            <a:off x="6503777" y="1537190"/>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6" name="Google Shape;136;p33"/>
          <p:cNvSpPr txBox="1"/>
          <p:nvPr>
            <p:ph idx="6" type="body"/>
          </p:nvPr>
        </p:nvSpPr>
        <p:spPr>
          <a:xfrm>
            <a:off x="6430267" y="1982956"/>
            <a:ext cx="2057400" cy="241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137" name="Google Shape;137;p33"/>
          <p:cNvCxnSpPr/>
          <p:nvPr/>
        </p:nvCxnSpPr>
        <p:spPr>
          <a:xfrm>
            <a:off x="740774" y="1847088"/>
            <a:ext cx="1910400" cy="0"/>
          </a:xfrm>
          <a:prstGeom prst="straightConnector1">
            <a:avLst/>
          </a:prstGeom>
          <a:noFill/>
          <a:ln cap="flat" cmpd="sng" w="12700">
            <a:solidFill>
              <a:schemeClr val="dk2"/>
            </a:solidFill>
            <a:prstDash val="solid"/>
            <a:miter lim="80"/>
            <a:headEnd len="sm" w="sm" type="none"/>
            <a:tailEnd len="sm" w="sm" type="none"/>
          </a:ln>
        </p:spPr>
      </p:cxnSp>
      <p:cxnSp>
        <p:nvCxnSpPr>
          <p:cNvPr id="138" name="Google Shape;138;p33"/>
          <p:cNvCxnSpPr/>
          <p:nvPr/>
        </p:nvCxnSpPr>
        <p:spPr>
          <a:xfrm>
            <a:off x="3625767" y="1847088"/>
            <a:ext cx="1910400" cy="0"/>
          </a:xfrm>
          <a:prstGeom prst="straightConnector1">
            <a:avLst/>
          </a:prstGeom>
          <a:noFill/>
          <a:ln cap="flat" cmpd="sng" w="12700">
            <a:solidFill>
              <a:schemeClr val="dk2"/>
            </a:solidFill>
            <a:prstDash val="solid"/>
            <a:miter lim="80"/>
            <a:headEnd len="sm" w="sm" type="none"/>
            <a:tailEnd len="sm" w="sm" type="none"/>
          </a:ln>
        </p:spPr>
      </p:cxnSp>
      <p:cxnSp>
        <p:nvCxnSpPr>
          <p:cNvPr id="139" name="Google Shape;139;p33"/>
          <p:cNvCxnSpPr/>
          <p:nvPr/>
        </p:nvCxnSpPr>
        <p:spPr>
          <a:xfrm>
            <a:off x="6503777" y="1847088"/>
            <a:ext cx="1910400" cy="0"/>
          </a:xfrm>
          <a:prstGeom prst="straightConnector1">
            <a:avLst/>
          </a:prstGeom>
          <a:noFill/>
          <a:ln cap="flat" cmpd="sng" w="12700">
            <a:solidFill>
              <a:schemeClr val="dk2"/>
            </a:solidFill>
            <a:prstDash val="solid"/>
            <a:miter lim="80"/>
            <a:headEnd len="sm" w="sm" type="none"/>
            <a:tailEnd len="sm" w="sm" type="none"/>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Cards 2">
  <p:cSld name="Cards 2">
    <p:spTree>
      <p:nvGrpSpPr>
        <p:cNvPr id="140" name="Shape 140"/>
        <p:cNvGrpSpPr/>
        <p:nvPr/>
      </p:nvGrpSpPr>
      <p:grpSpPr>
        <a:xfrm>
          <a:off x="0" y="0"/>
          <a:ext cx="0" cy="0"/>
          <a:chOff x="0" y="0"/>
          <a:chExt cx="0" cy="0"/>
        </a:xfrm>
      </p:grpSpPr>
      <p:sp>
        <p:nvSpPr>
          <p:cNvPr id="141" name="Google Shape;141;p34"/>
          <p:cNvSpPr/>
          <p:nvPr/>
        </p:nvSpPr>
        <p:spPr>
          <a:xfrm>
            <a:off x="492931" y="2389174"/>
            <a:ext cx="2406000" cy="2182800"/>
          </a:xfrm>
          <a:prstGeom prst="roundRect">
            <a:avLst>
              <a:gd fmla="val 2226" name="adj"/>
            </a:avLst>
          </a:prstGeom>
          <a:solidFill>
            <a:schemeClr val="lt1"/>
          </a:solidFill>
          <a:ln cap="flat" cmpd="sng" w="12700">
            <a:solidFill>
              <a:schemeClr val="dk2"/>
            </a:solidFill>
            <a:prstDash val="solid"/>
            <a:miter lim="8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42" name="Google Shape;142;p34"/>
          <p:cNvSpPr/>
          <p:nvPr/>
        </p:nvSpPr>
        <p:spPr>
          <a:xfrm>
            <a:off x="3378413" y="2389174"/>
            <a:ext cx="2406000" cy="2182800"/>
          </a:xfrm>
          <a:prstGeom prst="roundRect">
            <a:avLst>
              <a:gd fmla="val 2226" name="adj"/>
            </a:avLst>
          </a:prstGeom>
          <a:solidFill>
            <a:schemeClr val="lt1"/>
          </a:solidFill>
          <a:ln cap="flat" cmpd="sng" w="12700">
            <a:solidFill>
              <a:schemeClr val="dk2"/>
            </a:solidFill>
            <a:prstDash val="solid"/>
            <a:miter lim="8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43" name="Google Shape;143;p34"/>
          <p:cNvSpPr/>
          <p:nvPr/>
        </p:nvSpPr>
        <p:spPr>
          <a:xfrm>
            <a:off x="6256421" y="2389174"/>
            <a:ext cx="2406000" cy="2182800"/>
          </a:xfrm>
          <a:prstGeom prst="roundRect">
            <a:avLst>
              <a:gd fmla="val 2226" name="adj"/>
            </a:avLst>
          </a:prstGeom>
          <a:solidFill>
            <a:schemeClr val="lt1"/>
          </a:solidFill>
          <a:ln cap="flat" cmpd="sng" w="12700">
            <a:solidFill>
              <a:schemeClr val="dk2"/>
            </a:solidFill>
            <a:prstDash val="solid"/>
            <a:miter lim="8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44" name="Google Shape;144;p34"/>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5" name="Google Shape;145;p34"/>
          <p:cNvSpPr txBox="1"/>
          <p:nvPr>
            <p:ph idx="1" type="body"/>
          </p:nvPr>
        </p:nvSpPr>
        <p:spPr>
          <a:xfrm>
            <a:off x="740774" y="3113325"/>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b="0" i="0"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6" name="Google Shape;146;p34"/>
          <p:cNvSpPr txBox="1"/>
          <p:nvPr>
            <p:ph idx="2" type="body"/>
          </p:nvPr>
        </p:nvSpPr>
        <p:spPr>
          <a:xfrm>
            <a:off x="667264" y="3559092"/>
            <a:ext cx="2057400" cy="8565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7" name="Google Shape;147;p34"/>
          <p:cNvSpPr txBox="1"/>
          <p:nvPr>
            <p:ph idx="3" type="body"/>
          </p:nvPr>
        </p:nvSpPr>
        <p:spPr>
          <a:xfrm>
            <a:off x="3626255" y="3113325"/>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b="0" i="0"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8" name="Google Shape;148;p34"/>
          <p:cNvSpPr txBox="1"/>
          <p:nvPr>
            <p:ph idx="4" type="body"/>
          </p:nvPr>
        </p:nvSpPr>
        <p:spPr>
          <a:xfrm>
            <a:off x="3552745" y="3559092"/>
            <a:ext cx="2057400" cy="8565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9" name="Google Shape;149;p34"/>
          <p:cNvSpPr txBox="1"/>
          <p:nvPr>
            <p:ph idx="5" type="body"/>
          </p:nvPr>
        </p:nvSpPr>
        <p:spPr>
          <a:xfrm>
            <a:off x="6504263" y="3113325"/>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b="0" i="0"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50" name="Google Shape;150;p34"/>
          <p:cNvSpPr txBox="1"/>
          <p:nvPr>
            <p:ph idx="6" type="body"/>
          </p:nvPr>
        </p:nvSpPr>
        <p:spPr>
          <a:xfrm>
            <a:off x="6430754" y="3559092"/>
            <a:ext cx="2057400" cy="8565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51" name="Google Shape;151;p34"/>
          <p:cNvSpPr txBox="1"/>
          <p:nvPr>
            <p:ph idx="7" type="body"/>
          </p:nvPr>
        </p:nvSpPr>
        <p:spPr>
          <a:xfrm>
            <a:off x="420743" y="812524"/>
            <a:ext cx="8302500" cy="13815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152" name="Google Shape;152;p34"/>
          <p:cNvCxnSpPr/>
          <p:nvPr/>
        </p:nvCxnSpPr>
        <p:spPr>
          <a:xfrm>
            <a:off x="740774" y="3423224"/>
            <a:ext cx="1910400" cy="0"/>
          </a:xfrm>
          <a:prstGeom prst="straightConnector1">
            <a:avLst/>
          </a:prstGeom>
          <a:noFill/>
          <a:ln cap="flat" cmpd="sng" w="12700">
            <a:solidFill>
              <a:schemeClr val="dk2"/>
            </a:solidFill>
            <a:prstDash val="solid"/>
            <a:miter lim="80"/>
            <a:headEnd len="sm" w="sm" type="none"/>
            <a:tailEnd len="sm" w="sm" type="none"/>
          </a:ln>
        </p:spPr>
      </p:cxnSp>
      <p:cxnSp>
        <p:nvCxnSpPr>
          <p:cNvPr id="153" name="Google Shape;153;p34"/>
          <p:cNvCxnSpPr/>
          <p:nvPr/>
        </p:nvCxnSpPr>
        <p:spPr>
          <a:xfrm>
            <a:off x="3628353" y="3423224"/>
            <a:ext cx="1910400" cy="0"/>
          </a:xfrm>
          <a:prstGeom prst="straightConnector1">
            <a:avLst/>
          </a:prstGeom>
          <a:noFill/>
          <a:ln cap="flat" cmpd="sng" w="12700">
            <a:solidFill>
              <a:schemeClr val="dk2"/>
            </a:solidFill>
            <a:prstDash val="solid"/>
            <a:miter lim="80"/>
            <a:headEnd len="sm" w="sm" type="none"/>
            <a:tailEnd len="sm" w="sm" type="none"/>
          </a:ln>
        </p:spPr>
      </p:cxnSp>
      <p:cxnSp>
        <p:nvCxnSpPr>
          <p:cNvPr id="154" name="Google Shape;154;p34"/>
          <p:cNvCxnSpPr/>
          <p:nvPr/>
        </p:nvCxnSpPr>
        <p:spPr>
          <a:xfrm>
            <a:off x="6503777" y="3423224"/>
            <a:ext cx="1910400" cy="0"/>
          </a:xfrm>
          <a:prstGeom prst="straightConnector1">
            <a:avLst/>
          </a:prstGeom>
          <a:noFill/>
          <a:ln cap="flat" cmpd="sng" w="12700">
            <a:solidFill>
              <a:schemeClr val="dk2"/>
            </a:solidFill>
            <a:prstDash val="solid"/>
            <a:miter lim="80"/>
            <a:headEnd len="sm" w="sm" type="none"/>
            <a:tailEnd len="sm" w="sm" type="none"/>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Cards 3">
  <p:cSld name="Cards 3">
    <p:spTree>
      <p:nvGrpSpPr>
        <p:cNvPr id="155" name="Shape 155"/>
        <p:cNvGrpSpPr/>
        <p:nvPr/>
      </p:nvGrpSpPr>
      <p:grpSpPr>
        <a:xfrm>
          <a:off x="0" y="0"/>
          <a:ext cx="0" cy="0"/>
          <a:chOff x="0" y="0"/>
          <a:chExt cx="0" cy="0"/>
        </a:xfrm>
      </p:grpSpPr>
      <p:sp>
        <p:nvSpPr>
          <p:cNvPr id="156" name="Google Shape;156;p35"/>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7" name="Google Shape;157;p35"/>
          <p:cNvSpPr/>
          <p:nvPr/>
        </p:nvSpPr>
        <p:spPr>
          <a:xfrm>
            <a:off x="463013" y="1048888"/>
            <a:ext cx="1877100" cy="35706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58" name="Google Shape;158;p35"/>
          <p:cNvSpPr/>
          <p:nvPr/>
        </p:nvSpPr>
        <p:spPr>
          <a:xfrm>
            <a:off x="1031136" y="752468"/>
            <a:ext cx="740700" cy="740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59" name="Google Shape;159;p35"/>
          <p:cNvSpPr/>
          <p:nvPr/>
        </p:nvSpPr>
        <p:spPr>
          <a:xfrm>
            <a:off x="2596613" y="1048888"/>
            <a:ext cx="1877100" cy="35706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60" name="Google Shape;160;p35"/>
          <p:cNvSpPr/>
          <p:nvPr/>
        </p:nvSpPr>
        <p:spPr>
          <a:xfrm>
            <a:off x="3164736" y="752468"/>
            <a:ext cx="740700" cy="740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61" name="Google Shape;161;p35"/>
          <p:cNvSpPr/>
          <p:nvPr/>
        </p:nvSpPr>
        <p:spPr>
          <a:xfrm>
            <a:off x="4730213" y="1048888"/>
            <a:ext cx="1877100" cy="35706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62" name="Google Shape;162;p35"/>
          <p:cNvSpPr/>
          <p:nvPr/>
        </p:nvSpPr>
        <p:spPr>
          <a:xfrm>
            <a:off x="5298336" y="752468"/>
            <a:ext cx="740700" cy="740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63" name="Google Shape;163;p35"/>
          <p:cNvSpPr/>
          <p:nvPr/>
        </p:nvSpPr>
        <p:spPr>
          <a:xfrm>
            <a:off x="6863813" y="1048888"/>
            <a:ext cx="1877100" cy="35706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64" name="Google Shape;164;p35"/>
          <p:cNvSpPr/>
          <p:nvPr/>
        </p:nvSpPr>
        <p:spPr>
          <a:xfrm>
            <a:off x="7431936" y="752468"/>
            <a:ext cx="740700" cy="740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65" name="Google Shape;165;p35"/>
          <p:cNvSpPr txBox="1"/>
          <p:nvPr>
            <p:ph idx="1" type="body"/>
          </p:nvPr>
        </p:nvSpPr>
        <p:spPr>
          <a:xfrm>
            <a:off x="572561" y="2072245"/>
            <a:ext cx="1657800" cy="2390400"/>
          </a:xfrm>
          <a:prstGeom prst="rect">
            <a:avLst/>
          </a:prstGeom>
          <a:noFill/>
          <a:ln>
            <a:noFill/>
          </a:ln>
        </p:spPr>
        <p:txBody>
          <a:bodyPr anchorCtr="0" anchor="t" bIns="34275" lIns="68575" spcFirstLastPara="1" rIns="68575" wrap="square" tIns="34275">
            <a:noAutofit/>
          </a:bodyPr>
          <a:lstStyle>
            <a:lvl1pPr indent="-285750" lvl="0" marL="457200" algn="l">
              <a:lnSpc>
                <a:spcPct val="90000"/>
              </a:lnSpc>
              <a:spcBef>
                <a:spcPts val="800"/>
              </a:spcBef>
              <a:spcAft>
                <a:spcPts val="0"/>
              </a:spcAft>
              <a:buClr>
                <a:schemeClr val="dk1"/>
              </a:buClr>
              <a:buSzPts val="900"/>
              <a:buFont typeface="DM Sans"/>
              <a:buChar char="•"/>
              <a:defRPr sz="900"/>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6" name="Google Shape;166;p35"/>
          <p:cNvSpPr txBox="1"/>
          <p:nvPr>
            <p:ph idx="2" type="body"/>
          </p:nvPr>
        </p:nvSpPr>
        <p:spPr>
          <a:xfrm>
            <a:off x="2706160" y="2072245"/>
            <a:ext cx="1657800" cy="2390400"/>
          </a:xfrm>
          <a:prstGeom prst="rect">
            <a:avLst/>
          </a:prstGeom>
          <a:noFill/>
          <a:ln>
            <a:noFill/>
          </a:ln>
        </p:spPr>
        <p:txBody>
          <a:bodyPr anchorCtr="0" anchor="t" bIns="34275" lIns="68575" spcFirstLastPara="1" rIns="68575" wrap="square" tIns="34275">
            <a:noAutofit/>
          </a:bodyPr>
          <a:lstStyle>
            <a:lvl1pPr indent="-285750" lvl="0" marL="457200" algn="l">
              <a:lnSpc>
                <a:spcPct val="90000"/>
              </a:lnSpc>
              <a:spcBef>
                <a:spcPts val="800"/>
              </a:spcBef>
              <a:spcAft>
                <a:spcPts val="0"/>
              </a:spcAft>
              <a:buClr>
                <a:schemeClr val="dk1"/>
              </a:buClr>
              <a:buSzPts val="900"/>
              <a:buFont typeface="DM Sans"/>
              <a:buChar char="•"/>
              <a:defRPr sz="900"/>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7" name="Google Shape;167;p35"/>
          <p:cNvSpPr txBox="1"/>
          <p:nvPr>
            <p:ph idx="3" type="body"/>
          </p:nvPr>
        </p:nvSpPr>
        <p:spPr>
          <a:xfrm>
            <a:off x="4839761" y="2072245"/>
            <a:ext cx="1657800" cy="2390400"/>
          </a:xfrm>
          <a:prstGeom prst="rect">
            <a:avLst/>
          </a:prstGeom>
          <a:noFill/>
          <a:ln>
            <a:noFill/>
          </a:ln>
        </p:spPr>
        <p:txBody>
          <a:bodyPr anchorCtr="0" anchor="t" bIns="34275" lIns="68575" spcFirstLastPara="1" rIns="68575" wrap="square" tIns="34275">
            <a:noAutofit/>
          </a:bodyPr>
          <a:lstStyle>
            <a:lvl1pPr indent="-285750" lvl="0" marL="457200" algn="l">
              <a:lnSpc>
                <a:spcPct val="90000"/>
              </a:lnSpc>
              <a:spcBef>
                <a:spcPts val="800"/>
              </a:spcBef>
              <a:spcAft>
                <a:spcPts val="0"/>
              </a:spcAft>
              <a:buClr>
                <a:schemeClr val="dk1"/>
              </a:buClr>
              <a:buSzPts val="900"/>
              <a:buFont typeface="DM Sans"/>
              <a:buChar char="•"/>
              <a:defRPr sz="900"/>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8" name="Google Shape;168;p35"/>
          <p:cNvSpPr txBox="1"/>
          <p:nvPr>
            <p:ph idx="4" type="body"/>
          </p:nvPr>
        </p:nvSpPr>
        <p:spPr>
          <a:xfrm>
            <a:off x="6973361" y="2072245"/>
            <a:ext cx="1657800" cy="2390400"/>
          </a:xfrm>
          <a:prstGeom prst="rect">
            <a:avLst/>
          </a:prstGeom>
          <a:noFill/>
          <a:ln>
            <a:noFill/>
          </a:ln>
        </p:spPr>
        <p:txBody>
          <a:bodyPr anchorCtr="0" anchor="t" bIns="34275" lIns="68575" spcFirstLastPara="1" rIns="68575" wrap="square" tIns="34275">
            <a:noAutofit/>
          </a:bodyPr>
          <a:lstStyle>
            <a:lvl1pPr indent="-285750" lvl="0" marL="457200" algn="l">
              <a:lnSpc>
                <a:spcPct val="90000"/>
              </a:lnSpc>
              <a:spcBef>
                <a:spcPts val="800"/>
              </a:spcBef>
              <a:spcAft>
                <a:spcPts val="0"/>
              </a:spcAft>
              <a:buClr>
                <a:schemeClr val="dk1"/>
              </a:buClr>
              <a:buSzPts val="900"/>
              <a:buFont typeface="DM Sans"/>
              <a:buChar char="•"/>
              <a:defRPr sz="900"/>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9" name="Google Shape;169;p35"/>
          <p:cNvSpPr txBox="1"/>
          <p:nvPr>
            <p:ph idx="5" type="body"/>
          </p:nvPr>
        </p:nvSpPr>
        <p:spPr>
          <a:xfrm>
            <a:off x="572561" y="1537189"/>
            <a:ext cx="1657800" cy="309900"/>
          </a:xfrm>
          <a:prstGeom prst="rect">
            <a:avLst/>
          </a:prstGeom>
          <a:noFill/>
          <a:ln>
            <a:noFill/>
          </a:ln>
        </p:spPr>
        <p:txBody>
          <a:bodyPr anchorCtr="0" anchor="t" bIns="34275" lIns="68575" spcFirstLastPara="1" rIns="68575" wrap="square" tIns="34275">
            <a:noAutofit/>
          </a:bodyPr>
          <a:lstStyle>
            <a:lvl1pPr indent="-228600" lvl="0" marL="457200" algn="ctr">
              <a:lnSpc>
                <a:spcPct val="90000"/>
              </a:lnSpc>
              <a:spcBef>
                <a:spcPts val="800"/>
              </a:spcBef>
              <a:spcAft>
                <a:spcPts val="0"/>
              </a:spcAft>
              <a:buClr>
                <a:schemeClr val="dk2"/>
              </a:buClr>
              <a:buSzPts val="1100"/>
              <a:buFont typeface="DM Sans"/>
              <a:buNone/>
              <a:defRPr sz="1100">
                <a:solidFill>
                  <a:schemeClr val="dk2"/>
                </a:solidFill>
              </a:defRPr>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70" name="Google Shape;170;p35"/>
          <p:cNvSpPr txBox="1"/>
          <p:nvPr>
            <p:ph idx="6" type="body"/>
          </p:nvPr>
        </p:nvSpPr>
        <p:spPr>
          <a:xfrm>
            <a:off x="2706160" y="1537189"/>
            <a:ext cx="1657800" cy="309900"/>
          </a:xfrm>
          <a:prstGeom prst="rect">
            <a:avLst/>
          </a:prstGeom>
          <a:noFill/>
          <a:ln>
            <a:noFill/>
          </a:ln>
        </p:spPr>
        <p:txBody>
          <a:bodyPr anchorCtr="0" anchor="t" bIns="34275" lIns="68575" spcFirstLastPara="1" rIns="68575" wrap="square" tIns="34275">
            <a:noAutofit/>
          </a:bodyPr>
          <a:lstStyle>
            <a:lvl1pPr indent="-228600" lvl="0" marL="457200" algn="ctr">
              <a:lnSpc>
                <a:spcPct val="90000"/>
              </a:lnSpc>
              <a:spcBef>
                <a:spcPts val="800"/>
              </a:spcBef>
              <a:spcAft>
                <a:spcPts val="0"/>
              </a:spcAft>
              <a:buClr>
                <a:schemeClr val="dk2"/>
              </a:buClr>
              <a:buSzPts val="1100"/>
              <a:buFont typeface="DM Sans"/>
              <a:buNone/>
              <a:defRPr sz="1100">
                <a:solidFill>
                  <a:schemeClr val="dk2"/>
                </a:solidFill>
              </a:defRPr>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71" name="Google Shape;171;p35"/>
          <p:cNvSpPr txBox="1"/>
          <p:nvPr>
            <p:ph idx="7" type="body"/>
          </p:nvPr>
        </p:nvSpPr>
        <p:spPr>
          <a:xfrm>
            <a:off x="4839760" y="1537189"/>
            <a:ext cx="1657800" cy="309900"/>
          </a:xfrm>
          <a:prstGeom prst="rect">
            <a:avLst/>
          </a:prstGeom>
          <a:noFill/>
          <a:ln>
            <a:noFill/>
          </a:ln>
        </p:spPr>
        <p:txBody>
          <a:bodyPr anchorCtr="0" anchor="t" bIns="34275" lIns="68575" spcFirstLastPara="1" rIns="68575" wrap="square" tIns="34275">
            <a:noAutofit/>
          </a:bodyPr>
          <a:lstStyle>
            <a:lvl1pPr indent="-228600" lvl="0" marL="457200" algn="ctr">
              <a:lnSpc>
                <a:spcPct val="90000"/>
              </a:lnSpc>
              <a:spcBef>
                <a:spcPts val="800"/>
              </a:spcBef>
              <a:spcAft>
                <a:spcPts val="0"/>
              </a:spcAft>
              <a:buClr>
                <a:schemeClr val="dk2"/>
              </a:buClr>
              <a:buSzPts val="1100"/>
              <a:buFont typeface="DM Sans"/>
              <a:buNone/>
              <a:defRPr sz="1100">
                <a:solidFill>
                  <a:schemeClr val="dk2"/>
                </a:solidFill>
              </a:defRPr>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72" name="Google Shape;172;p35"/>
          <p:cNvSpPr txBox="1"/>
          <p:nvPr>
            <p:ph idx="8" type="body"/>
          </p:nvPr>
        </p:nvSpPr>
        <p:spPr>
          <a:xfrm>
            <a:off x="6973360" y="1537189"/>
            <a:ext cx="1657800" cy="309900"/>
          </a:xfrm>
          <a:prstGeom prst="rect">
            <a:avLst/>
          </a:prstGeom>
          <a:noFill/>
          <a:ln>
            <a:noFill/>
          </a:ln>
        </p:spPr>
        <p:txBody>
          <a:bodyPr anchorCtr="0" anchor="t" bIns="34275" lIns="68575" spcFirstLastPara="1" rIns="68575" wrap="square" tIns="34275">
            <a:noAutofit/>
          </a:bodyPr>
          <a:lstStyle>
            <a:lvl1pPr indent="-228600" lvl="0" marL="457200" algn="ctr">
              <a:lnSpc>
                <a:spcPct val="90000"/>
              </a:lnSpc>
              <a:spcBef>
                <a:spcPts val="800"/>
              </a:spcBef>
              <a:spcAft>
                <a:spcPts val="0"/>
              </a:spcAft>
              <a:buClr>
                <a:schemeClr val="dk2"/>
              </a:buClr>
              <a:buSzPts val="1100"/>
              <a:buFont typeface="DM Sans"/>
              <a:buNone/>
              <a:defRPr sz="1100">
                <a:solidFill>
                  <a:schemeClr val="dk2"/>
                </a:solidFill>
              </a:defRPr>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173" name="Google Shape;173;p35"/>
          <p:cNvCxnSpPr/>
          <p:nvPr/>
        </p:nvCxnSpPr>
        <p:spPr>
          <a:xfrm>
            <a:off x="633758" y="1940821"/>
            <a:ext cx="1535400" cy="0"/>
          </a:xfrm>
          <a:prstGeom prst="straightConnector1">
            <a:avLst/>
          </a:prstGeom>
          <a:noFill/>
          <a:ln cap="flat" cmpd="sng" w="12700">
            <a:solidFill>
              <a:schemeClr val="dk2"/>
            </a:solidFill>
            <a:prstDash val="solid"/>
            <a:miter lim="80"/>
            <a:headEnd len="sm" w="sm" type="none"/>
            <a:tailEnd len="sm" w="sm" type="none"/>
          </a:ln>
        </p:spPr>
      </p:cxnSp>
      <p:cxnSp>
        <p:nvCxnSpPr>
          <p:cNvPr id="174" name="Google Shape;174;p35"/>
          <p:cNvCxnSpPr/>
          <p:nvPr/>
        </p:nvCxnSpPr>
        <p:spPr>
          <a:xfrm>
            <a:off x="2767358" y="1940821"/>
            <a:ext cx="1535400" cy="0"/>
          </a:xfrm>
          <a:prstGeom prst="straightConnector1">
            <a:avLst/>
          </a:prstGeom>
          <a:noFill/>
          <a:ln cap="flat" cmpd="sng" w="12700">
            <a:solidFill>
              <a:schemeClr val="dk2"/>
            </a:solidFill>
            <a:prstDash val="solid"/>
            <a:miter lim="80"/>
            <a:headEnd len="sm" w="sm" type="none"/>
            <a:tailEnd len="sm" w="sm" type="none"/>
          </a:ln>
        </p:spPr>
      </p:cxnSp>
      <p:cxnSp>
        <p:nvCxnSpPr>
          <p:cNvPr id="175" name="Google Shape;175;p35"/>
          <p:cNvCxnSpPr/>
          <p:nvPr/>
        </p:nvCxnSpPr>
        <p:spPr>
          <a:xfrm>
            <a:off x="4900958" y="1940821"/>
            <a:ext cx="1535400" cy="0"/>
          </a:xfrm>
          <a:prstGeom prst="straightConnector1">
            <a:avLst/>
          </a:prstGeom>
          <a:noFill/>
          <a:ln cap="flat" cmpd="sng" w="12700">
            <a:solidFill>
              <a:schemeClr val="dk2"/>
            </a:solidFill>
            <a:prstDash val="solid"/>
            <a:miter lim="80"/>
            <a:headEnd len="sm" w="sm" type="none"/>
            <a:tailEnd len="sm" w="sm" type="none"/>
          </a:ln>
        </p:spPr>
      </p:cxnSp>
      <p:cxnSp>
        <p:nvCxnSpPr>
          <p:cNvPr id="176" name="Google Shape;176;p35"/>
          <p:cNvCxnSpPr/>
          <p:nvPr/>
        </p:nvCxnSpPr>
        <p:spPr>
          <a:xfrm>
            <a:off x="7034558" y="1940821"/>
            <a:ext cx="1535400" cy="0"/>
          </a:xfrm>
          <a:prstGeom prst="straightConnector1">
            <a:avLst/>
          </a:prstGeom>
          <a:noFill/>
          <a:ln cap="flat" cmpd="sng" w="12700">
            <a:solidFill>
              <a:schemeClr val="dk2"/>
            </a:solidFill>
            <a:prstDash val="solid"/>
            <a:miter lim="80"/>
            <a:headEnd len="sm" w="sm" type="none"/>
            <a:tailEnd len="sm" w="sm" type="none"/>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Cards 4">
  <p:cSld name="Cards 4">
    <p:spTree>
      <p:nvGrpSpPr>
        <p:cNvPr id="177" name="Shape 177"/>
        <p:cNvGrpSpPr/>
        <p:nvPr/>
      </p:nvGrpSpPr>
      <p:grpSpPr>
        <a:xfrm>
          <a:off x="0" y="0"/>
          <a:ext cx="0" cy="0"/>
          <a:chOff x="0" y="0"/>
          <a:chExt cx="0" cy="0"/>
        </a:xfrm>
      </p:grpSpPr>
      <p:sp>
        <p:nvSpPr>
          <p:cNvPr id="178" name="Google Shape;178;p36"/>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9" name="Google Shape;179;p36"/>
          <p:cNvSpPr/>
          <p:nvPr/>
        </p:nvSpPr>
        <p:spPr>
          <a:xfrm>
            <a:off x="734137" y="1133993"/>
            <a:ext cx="3609300" cy="8544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80" name="Google Shape;180;p36"/>
          <p:cNvSpPr/>
          <p:nvPr/>
        </p:nvSpPr>
        <p:spPr>
          <a:xfrm>
            <a:off x="420743" y="1247774"/>
            <a:ext cx="626700" cy="626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81" name="Google Shape;181;p36"/>
          <p:cNvSpPr txBox="1"/>
          <p:nvPr>
            <p:ph idx="1" type="body"/>
          </p:nvPr>
        </p:nvSpPr>
        <p:spPr>
          <a:xfrm>
            <a:off x="1190772" y="1247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2" name="Google Shape;182;p36"/>
          <p:cNvSpPr/>
          <p:nvPr/>
        </p:nvSpPr>
        <p:spPr>
          <a:xfrm>
            <a:off x="5115637" y="1133993"/>
            <a:ext cx="3609300" cy="8544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83" name="Google Shape;183;p36"/>
          <p:cNvSpPr/>
          <p:nvPr/>
        </p:nvSpPr>
        <p:spPr>
          <a:xfrm>
            <a:off x="4802243" y="1247774"/>
            <a:ext cx="626700" cy="626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84" name="Google Shape;184;p36"/>
          <p:cNvSpPr txBox="1"/>
          <p:nvPr>
            <p:ph idx="2" type="body"/>
          </p:nvPr>
        </p:nvSpPr>
        <p:spPr>
          <a:xfrm>
            <a:off x="5572272" y="1247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5" name="Google Shape;185;p36"/>
          <p:cNvSpPr/>
          <p:nvPr/>
        </p:nvSpPr>
        <p:spPr>
          <a:xfrm>
            <a:off x="734137" y="2276993"/>
            <a:ext cx="3609300" cy="8544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86" name="Google Shape;186;p36"/>
          <p:cNvSpPr/>
          <p:nvPr/>
        </p:nvSpPr>
        <p:spPr>
          <a:xfrm>
            <a:off x="420743" y="2390774"/>
            <a:ext cx="626700" cy="626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87" name="Google Shape;187;p36"/>
          <p:cNvSpPr txBox="1"/>
          <p:nvPr>
            <p:ph idx="3" type="body"/>
          </p:nvPr>
        </p:nvSpPr>
        <p:spPr>
          <a:xfrm>
            <a:off x="1190772" y="2390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8" name="Google Shape;188;p36"/>
          <p:cNvSpPr/>
          <p:nvPr/>
        </p:nvSpPr>
        <p:spPr>
          <a:xfrm>
            <a:off x="5115637" y="2276993"/>
            <a:ext cx="3609300" cy="8544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89" name="Google Shape;189;p36"/>
          <p:cNvSpPr/>
          <p:nvPr/>
        </p:nvSpPr>
        <p:spPr>
          <a:xfrm>
            <a:off x="4802243" y="2390774"/>
            <a:ext cx="626700" cy="626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90" name="Google Shape;190;p36"/>
          <p:cNvSpPr txBox="1"/>
          <p:nvPr>
            <p:ph idx="4" type="body"/>
          </p:nvPr>
        </p:nvSpPr>
        <p:spPr>
          <a:xfrm>
            <a:off x="5572272" y="2390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91" name="Google Shape;191;p36"/>
          <p:cNvSpPr/>
          <p:nvPr/>
        </p:nvSpPr>
        <p:spPr>
          <a:xfrm>
            <a:off x="734137" y="3419993"/>
            <a:ext cx="3609300" cy="8544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92" name="Google Shape;192;p36"/>
          <p:cNvSpPr/>
          <p:nvPr/>
        </p:nvSpPr>
        <p:spPr>
          <a:xfrm>
            <a:off x="420743" y="3533774"/>
            <a:ext cx="626700" cy="626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93" name="Google Shape;193;p36"/>
          <p:cNvSpPr txBox="1"/>
          <p:nvPr>
            <p:ph idx="5" type="body"/>
          </p:nvPr>
        </p:nvSpPr>
        <p:spPr>
          <a:xfrm>
            <a:off x="1190772" y="3533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94" name="Google Shape;194;p36"/>
          <p:cNvSpPr/>
          <p:nvPr/>
        </p:nvSpPr>
        <p:spPr>
          <a:xfrm>
            <a:off x="5115637" y="3419993"/>
            <a:ext cx="3609300" cy="854400"/>
          </a:xfrm>
          <a:prstGeom prst="roundRect">
            <a:avLst>
              <a:gd fmla="val 5049" name="adj"/>
            </a:avLst>
          </a:prstGeom>
          <a:solidFill>
            <a:schemeClr val="lt1"/>
          </a:solidFill>
          <a:ln cap="flat" cmpd="sng" w="12700">
            <a:solidFill>
              <a:srgbClr val="CBDAFF"/>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95" name="Google Shape;195;p36"/>
          <p:cNvSpPr/>
          <p:nvPr/>
        </p:nvSpPr>
        <p:spPr>
          <a:xfrm>
            <a:off x="4802243" y="3533774"/>
            <a:ext cx="626700" cy="626700"/>
          </a:xfrm>
          <a:prstGeom prst="ellipse">
            <a:avLst/>
          </a:prstGeom>
          <a:solidFill>
            <a:schemeClr val="lt1"/>
          </a:solidFill>
          <a:ln cap="flat" cmpd="sng" w="12700">
            <a:solidFill>
              <a:srgbClr val="0254EC"/>
            </a:solidFill>
            <a:prstDash val="solid"/>
            <a:miter lim="8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96" name="Google Shape;196;p36"/>
          <p:cNvSpPr txBox="1"/>
          <p:nvPr>
            <p:ph idx="6" type="body"/>
          </p:nvPr>
        </p:nvSpPr>
        <p:spPr>
          <a:xfrm>
            <a:off x="5572272" y="3533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estimonials 1">
  <p:cSld name="Testimonials 1">
    <p:bg>
      <p:bgPr>
        <a:solidFill>
          <a:schemeClr val="lt2"/>
        </a:solidFill>
      </p:bgPr>
    </p:bg>
    <p:spTree>
      <p:nvGrpSpPr>
        <p:cNvPr id="197" name="Shape 197"/>
        <p:cNvGrpSpPr/>
        <p:nvPr/>
      </p:nvGrpSpPr>
      <p:grpSpPr>
        <a:xfrm>
          <a:off x="0" y="0"/>
          <a:ext cx="0" cy="0"/>
          <a:chOff x="0" y="0"/>
          <a:chExt cx="0" cy="0"/>
        </a:xfrm>
      </p:grpSpPr>
      <p:sp>
        <p:nvSpPr>
          <p:cNvPr id="198" name="Google Shape;198;p37"/>
          <p:cNvSpPr txBox="1"/>
          <p:nvPr>
            <p:ph type="title"/>
          </p:nvPr>
        </p:nvSpPr>
        <p:spPr>
          <a:xfrm>
            <a:off x="420743" y="439044"/>
            <a:ext cx="4151400" cy="3672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chemeClr val="dk1"/>
              </a:buClr>
              <a:buSzPts val="1100"/>
              <a:buFont typeface="DM Sans"/>
              <a:buNone/>
              <a:defRPr b="1" sz="11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9" name="Google Shape;199;p37"/>
          <p:cNvSpPr txBox="1"/>
          <p:nvPr>
            <p:ph idx="1" type="body"/>
          </p:nvPr>
        </p:nvSpPr>
        <p:spPr>
          <a:xfrm>
            <a:off x="420743" y="821019"/>
            <a:ext cx="4151400" cy="2194200"/>
          </a:xfrm>
          <a:prstGeom prst="rect">
            <a:avLst/>
          </a:prstGeom>
          <a:noFill/>
          <a:ln>
            <a:noFill/>
          </a:ln>
        </p:spPr>
        <p:txBody>
          <a:bodyPr anchorCtr="0" anchor="t" bIns="34275" lIns="68575" spcFirstLastPara="1" rIns="68575" wrap="square" tIns="34275">
            <a:normAutofit/>
          </a:bodyPr>
          <a:lstStyle>
            <a:lvl1pPr indent="-361950" lvl="0" marL="457200" algn="l">
              <a:lnSpc>
                <a:spcPct val="90000"/>
              </a:lnSpc>
              <a:spcBef>
                <a:spcPts val="800"/>
              </a:spcBef>
              <a:spcAft>
                <a:spcPts val="0"/>
              </a:spcAft>
              <a:buClr>
                <a:schemeClr val="dk1"/>
              </a:buClr>
              <a:buSzPts val="2100"/>
              <a:buChar char="•"/>
              <a:defRPr sz="2100"/>
            </a:lvl1pPr>
            <a:lvl2pPr indent="-342900" lvl="1" marL="914400" algn="l">
              <a:lnSpc>
                <a:spcPct val="90000"/>
              </a:lnSpc>
              <a:spcBef>
                <a:spcPts val="400"/>
              </a:spcBef>
              <a:spcAft>
                <a:spcPts val="0"/>
              </a:spcAft>
              <a:buClr>
                <a:schemeClr val="dk1"/>
              </a:buClr>
              <a:buSzPts val="1800"/>
              <a:buChar char="•"/>
              <a:defRPr sz="1800"/>
            </a:lvl2pPr>
            <a:lvl3pPr indent="-323850" lvl="2" marL="1371600" algn="l">
              <a:lnSpc>
                <a:spcPct val="90000"/>
              </a:lnSpc>
              <a:spcBef>
                <a:spcPts val="400"/>
              </a:spcBef>
              <a:spcAft>
                <a:spcPts val="0"/>
              </a:spcAft>
              <a:buClr>
                <a:schemeClr val="dk1"/>
              </a:buClr>
              <a:buSzPts val="1500"/>
              <a:buChar char="•"/>
              <a:defRPr sz="1500"/>
            </a:lvl3pPr>
            <a:lvl4pPr indent="-317500" lvl="3" marL="1828800" algn="l">
              <a:lnSpc>
                <a:spcPct val="90000"/>
              </a:lnSpc>
              <a:spcBef>
                <a:spcPts val="400"/>
              </a:spcBef>
              <a:spcAft>
                <a:spcPts val="0"/>
              </a:spcAft>
              <a:buClr>
                <a:schemeClr val="dk1"/>
              </a:buClr>
              <a:buSzPts val="1400"/>
              <a:buChar char="•"/>
              <a:defRPr sz="1400"/>
            </a:lvl4pPr>
            <a:lvl5pPr indent="-317500" lvl="4" marL="2286000" algn="l">
              <a:lnSpc>
                <a:spcPct val="90000"/>
              </a:lnSpc>
              <a:spcBef>
                <a:spcPts val="400"/>
              </a:spcBef>
              <a:spcAft>
                <a:spcPts val="0"/>
              </a:spcAft>
              <a:buClr>
                <a:schemeClr val="dk1"/>
              </a:buClr>
              <a:buSzPts val="1400"/>
              <a:buChar char="•"/>
              <a:defRPr sz="14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0" name="Google Shape;200;p37"/>
          <p:cNvSpPr/>
          <p:nvPr>
            <p:ph idx="2" type="pic"/>
          </p:nvPr>
        </p:nvSpPr>
        <p:spPr>
          <a:xfrm>
            <a:off x="520220" y="2791738"/>
            <a:ext cx="714600" cy="714600"/>
          </a:xfrm>
          <a:prstGeom prst="ellipse">
            <a:avLst/>
          </a:prstGeom>
          <a:noFill/>
          <a:ln cap="flat" cmpd="sng" w="12700">
            <a:solidFill>
              <a:schemeClr val="dk2"/>
            </a:solidFill>
            <a:prstDash val="solid"/>
            <a:round/>
            <a:headEnd len="sm" w="sm" type="none"/>
            <a:tailEnd len="sm" w="sm" type="none"/>
          </a:ln>
        </p:spPr>
      </p:sp>
      <p:sp>
        <p:nvSpPr>
          <p:cNvPr id="201" name="Google Shape;201;p37"/>
          <p:cNvSpPr txBox="1"/>
          <p:nvPr>
            <p:ph idx="3" type="body"/>
          </p:nvPr>
        </p:nvSpPr>
        <p:spPr>
          <a:xfrm>
            <a:off x="1335785" y="2922110"/>
            <a:ext cx="3350400" cy="2739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400"/>
              <a:buNone/>
              <a:defRPr sz="1400"/>
            </a:lvl1pPr>
            <a:lvl2pPr indent="-228600" lvl="1" marL="914400" algn="l">
              <a:lnSpc>
                <a:spcPct val="90000"/>
              </a:lnSpc>
              <a:spcBef>
                <a:spcPts val="400"/>
              </a:spcBef>
              <a:spcAft>
                <a:spcPts val="0"/>
              </a:spcAft>
              <a:buClr>
                <a:schemeClr val="dk1"/>
              </a:buClr>
              <a:buSzPts val="1400"/>
              <a:buNone/>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2" name="Google Shape;202;p37"/>
          <p:cNvSpPr txBox="1"/>
          <p:nvPr>
            <p:ph idx="4" type="body"/>
          </p:nvPr>
        </p:nvSpPr>
        <p:spPr>
          <a:xfrm>
            <a:off x="1335785" y="3137613"/>
            <a:ext cx="3350400" cy="2739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228600" lvl="1" marL="914400" algn="l">
              <a:lnSpc>
                <a:spcPct val="90000"/>
              </a:lnSpc>
              <a:spcBef>
                <a:spcPts val="400"/>
              </a:spcBef>
              <a:spcAft>
                <a:spcPts val="0"/>
              </a:spcAft>
              <a:buClr>
                <a:schemeClr val="dk1"/>
              </a:buClr>
              <a:buSzPts val="1400"/>
              <a:buNone/>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pic>
        <p:nvPicPr>
          <p:cNvPr descr="A blue line on a black background  Description automatically generated" id="203" name="Google Shape;203;p37"/>
          <p:cNvPicPr preferRelativeResize="0"/>
          <p:nvPr/>
        </p:nvPicPr>
        <p:blipFill rotWithShape="1">
          <a:blip r:embed="rId2">
            <a:alphaModFix/>
          </a:blip>
          <a:srcRect b="0" l="0" r="0" t="0"/>
          <a:stretch/>
        </p:blipFill>
        <p:spPr>
          <a:xfrm>
            <a:off x="7088382" y="3892490"/>
            <a:ext cx="2055618" cy="1282314"/>
          </a:xfrm>
          <a:prstGeom prst="rect">
            <a:avLst/>
          </a:prstGeom>
          <a:noFill/>
          <a:ln>
            <a:noFill/>
          </a:ln>
        </p:spPr>
      </p:pic>
      <p:pic>
        <p:nvPicPr>
          <p:cNvPr descr="A blue line on a black background  Description automatically generated" id="204" name="Google Shape;204;p37"/>
          <p:cNvPicPr preferRelativeResize="0"/>
          <p:nvPr/>
        </p:nvPicPr>
        <p:blipFill rotWithShape="1">
          <a:blip r:embed="rId3">
            <a:alphaModFix/>
          </a:blip>
          <a:srcRect b="0" l="0" r="0" t="0"/>
          <a:stretch/>
        </p:blipFill>
        <p:spPr>
          <a:xfrm rot="10800000">
            <a:off x="0" y="4025113"/>
            <a:ext cx="2669286" cy="1122440"/>
          </a:xfrm>
          <a:prstGeom prst="rect">
            <a:avLst/>
          </a:prstGeom>
          <a:noFill/>
          <a:ln>
            <a:noFill/>
          </a:ln>
        </p:spPr>
      </p:pic>
      <p:sp>
        <p:nvSpPr>
          <p:cNvPr id="205" name="Google Shape;205;p37"/>
          <p:cNvSpPr/>
          <p:nvPr>
            <p:ph idx="5" type="pic"/>
          </p:nvPr>
        </p:nvSpPr>
        <p:spPr>
          <a:xfrm>
            <a:off x="4803425" y="800100"/>
            <a:ext cx="3883500" cy="2171100"/>
          </a:xfrm>
          <a:prstGeom prst="roundRect">
            <a:avLst>
              <a:gd fmla="val 4242" name="adj"/>
            </a:avLst>
          </a:prstGeom>
          <a:noFill/>
          <a:ln>
            <a:noFill/>
          </a:ln>
          <a:effectLst>
            <a:outerShdw rotWithShape="0" algn="bl" dir="7800000" dist="66675">
              <a:schemeClr val="dk2"/>
            </a:outerShdw>
          </a:effectLst>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Illustration 1">
  <p:cSld name="Illustration 1">
    <p:spTree>
      <p:nvGrpSpPr>
        <p:cNvPr id="206" name="Shape 206"/>
        <p:cNvGrpSpPr/>
        <p:nvPr/>
      </p:nvGrpSpPr>
      <p:grpSpPr>
        <a:xfrm>
          <a:off x="0" y="0"/>
          <a:ext cx="0" cy="0"/>
          <a:chOff x="0" y="0"/>
          <a:chExt cx="0" cy="0"/>
        </a:xfrm>
      </p:grpSpPr>
      <p:pic>
        <p:nvPicPr>
          <p:cNvPr id="207" name="Google Shape;207;p38"/>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208" name="Google Shape;208;p38" title="Logo.png"/>
          <p:cNvPicPr preferRelativeResize="0"/>
          <p:nvPr/>
        </p:nvPicPr>
        <p:blipFill rotWithShape="1">
          <a:blip r:embed="rId3">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Plain White">
  <p:cSld name="Plain White">
    <p:spTree>
      <p:nvGrpSpPr>
        <p:cNvPr id="209"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Image/Graphic Drop Shadow Asset">
  <p:cSld name="Image/Graphic Drop Shadow Asset">
    <p:bg>
      <p:bgPr>
        <a:solidFill>
          <a:schemeClr val="lt1"/>
        </a:solidFill>
      </p:bgPr>
    </p:bg>
    <p:spTree>
      <p:nvGrpSpPr>
        <p:cNvPr id="210" name="Shape 210"/>
        <p:cNvGrpSpPr/>
        <p:nvPr/>
      </p:nvGrpSpPr>
      <p:grpSpPr>
        <a:xfrm>
          <a:off x="0" y="0"/>
          <a:ext cx="0" cy="0"/>
          <a:chOff x="0" y="0"/>
          <a:chExt cx="0" cy="0"/>
        </a:xfrm>
      </p:grpSpPr>
      <p:sp>
        <p:nvSpPr>
          <p:cNvPr id="211" name="Google Shape;211;p40"/>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chemeClr val="lt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
        <p:nvSpPr>
          <p:cNvPr id="212" name="Google Shape;212;p40"/>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13" name="Google Shape;213;p40"/>
          <p:cNvSpPr/>
          <p:nvPr>
            <p:ph idx="2" type="pic"/>
          </p:nvPr>
        </p:nvSpPr>
        <p:spPr>
          <a:xfrm>
            <a:off x="602200" y="880600"/>
            <a:ext cx="3904800" cy="2194200"/>
          </a:xfrm>
          <a:prstGeom prst="roundRect">
            <a:avLst>
              <a:gd fmla="val 3229" name="adj"/>
            </a:avLst>
          </a:prstGeom>
          <a:noFill/>
          <a:ln>
            <a:noFill/>
          </a:ln>
          <a:effectLst>
            <a:outerShdw rotWithShape="0" algn="ctr" dir="7800000" dist="69226">
              <a:schemeClr val="accent3"/>
            </a:outerShdw>
          </a:effectLst>
        </p:spPr>
      </p:sp>
      <p:sp>
        <p:nvSpPr>
          <p:cNvPr id="214" name="Google Shape;214;p40"/>
          <p:cNvSpPr/>
          <p:nvPr>
            <p:ph idx="3" type="pic"/>
          </p:nvPr>
        </p:nvSpPr>
        <p:spPr>
          <a:xfrm>
            <a:off x="4824700" y="880600"/>
            <a:ext cx="3898500" cy="2194200"/>
          </a:xfrm>
          <a:prstGeom prst="roundRect">
            <a:avLst>
              <a:gd fmla="val 3874" name="adj"/>
            </a:avLst>
          </a:prstGeom>
          <a:noFill/>
          <a:ln>
            <a:noFill/>
          </a:ln>
          <a:effectLst>
            <a:outerShdw rotWithShape="0" algn="ctr" dir="7800000" dist="69226">
              <a:schemeClr val="dk2"/>
            </a:outerShdw>
          </a:effectLst>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Q&amp;A">
  <p:cSld name="Q&amp;A">
    <p:bg>
      <p:bgPr>
        <a:solidFill>
          <a:schemeClr val="dk2"/>
        </a:solidFill>
      </p:bgPr>
    </p:bg>
    <p:spTree>
      <p:nvGrpSpPr>
        <p:cNvPr id="215" name="Shape 215"/>
        <p:cNvGrpSpPr/>
        <p:nvPr/>
      </p:nvGrpSpPr>
      <p:grpSpPr>
        <a:xfrm>
          <a:off x="0" y="0"/>
          <a:ext cx="0" cy="0"/>
          <a:chOff x="0" y="0"/>
          <a:chExt cx="0" cy="0"/>
        </a:xfrm>
      </p:grpSpPr>
      <p:pic>
        <p:nvPicPr>
          <p:cNvPr descr="A black and white image of a person  Description automatically generated" id="216" name="Google Shape;216;p41"/>
          <p:cNvPicPr preferRelativeResize="0"/>
          <p:nvPr/>
        </p:nvPicPr>
        <p:blipFill rotWithShape="1">
          <a:blip r:embed="rId2">
            <a:alphaModFix amt="60000"/>
          </a:blip>
          <a:srcRect b="0" l="0" r="0" t="0"/>
          <a:stretch/>
        </p:blipFill>
        <p:spPr>
          <a:xfrm rot="-900001">
            <a:off x="4096523" y="3086333"/>
            <a:ext cx="7191132" cy="2776325"/>
          </a:xfrm>
          <a:prstGeom prst="rect">
            <a:avLst/>
          </a:prstGeom>
          <a:noFill/>
          <a:ln>
            <a:noFill/>
          </a:ln>
        </p:spPr>
      </p:pic>
      <p:sp>
        <p:nvSpPr>
          <p:cNvPr id="217" name="Google Shape;217;p41"/>
          <p:cNvSpPr txBox="1"/>
          <p:nvPr>
            <p:ph type="title"/>
          </p:nvPr>
        </p:nvSpPr>
        <p:spPr>
          <a:xfrm>
            <a:off x="420742" y="1645445"/>
            <a:ext cx="8302500" cy="367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pic>
        <p:nvPicPr>
          <p:cNvPr id="218" name="Google Shape;218;p41"/>
          <p:cNvPicPr preferRelativeResize="0"/>
          <p:nvPr/>
        </p:nvPicPr>
        <p:blipFill rotWithShape="1">
          <a:blip r:embed="rId3">
            <a:alphaModFix/>
          </a:blip>
          <a:srcRect b="0" l="0" r="0" t="0"/>
          <a:stretch/>
        </p:blipFill>
        <p:spPr>
          <a:xfrm>
            <a:off x="6610333" y="3093755"/>
            <a:ext cx="2374527" cy="1795313"/>
          </a:xfrm>
          <a:prstGeom prst="rect">
            <a:avLst/>
          </a:prstGeom>
          <a:noFill/>
          <a:ln>
            <a:noFill/>
          </a:ln>
        </p:spPr>
      </p:pic>
      <p:pic>
        <p:nvPicPr>
          <p:cNvPr id="219" name="Google Shape;219;p41" title="Logo.png"/>
          <p:cNvPicPr preferRelativeResize="0"/>
          <p:nvPr/>
        </p:nvPicPr>
        <p:blipFill rotWithShape="1">
          <a:blip r:embed="rId4">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Demo">
  <p:cSld name="Demo">
    <p:bg>
      <p:bgPr>
        <a:solidFill>
          <a:schemeClr val="dk2"/>
        </a:solidFill>
      </p:bgPr>
    </p:bg>
    <p:spTree>
      <p:nvGrpSpPr>
        <p:cNvPr id="220" name="Shape 220"/>
        <p:cNvGrpSpPr/>
        <p:nvPr/>
      </p:nvGrpSpPr>
      <p:grpSpPr>
        <a:xfrm>
          <a:off x="0" y="0"/>
          <a:ext cx="0" cy="0"/>
          <a:chOff x="0" y="0"/>
          <a:chExt cx="0" cy="0"/>
        </a:xfrm>
      </p:grpSpPr>
      <p:pic>
        <p:nvPicPr>
          <p:cNvPr id="221" name="Google Shape;221;p42"/>
          <p:cNvPicPr preferRelativeResize="0"/>
          <p:nvPr/>
        </p:nvPicPr>
        <p:blipFill rotWithShape="1">
          <a:blip r:embed="rId2">
            <a:alphaModFix/>
          </a:blip>
          <a:srcRect b="0" l="0" r="0" t="0"/>
          <a:stretch/>
        </p:blipFill>
        <p:spPr>
          <a:xfrm>
            <a:off x="0" y="2741"/>
            <a:ext cx="9139128" cy="5140760"/>
          </a:xfrm>
          <a:prstGeom prst="rect">
            <a:avLst/>
          </a:prstGeom>
          <a:noFill/>
          <a:ln>
            <a:noFill/>
          </a:ln>
        </p:spPr>
      </p:pic>
      <p:pic>
        <p:nvPicPr>
          <p:cNvPr id="222" name="Google Shape;222;p42" title="Logo.png"/>
          <p:cNvPicPr preferRelativeResize="0"/>
          <p:nvPr/>
        </p:nvPicPr>
        <p:blipFill rotWithShape="1">
          <a:blip r:embed="rId3">
            <a:alphaModFix/>
          </a:blip>
          <a:srcRect b="0" l="0" r="0" t="0"/>
          <a:stretch/>
        </p:blipFill>
        <p:spPr>
          <a:xfrm>
            <a:off x="8412313" y="4830850"/>
            <a:ext cx="309686" cy="1466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21"/>
                                        </p:tgtEl>
                                        <p:attrNameLst>
                                          <p:attrName>style.visibility</p:attrName>
                                        </p:attrNameLst>
                                      </p:cBhvr>
                                      <p:to>
                                        <p:strVal val="visible"/>
                                      </p:to>
                                    </p:set>
                                    <p:animEffect filter="fade" transition="in">
                                      <p:cBhvr>
                                        <p:cTn dur="5000"/>
                                        <p:tgtEl>
                                          <p:spTgt spid="22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Thank you">
  <p:cSld name="Thank you">
    <p:bg>
      <p:bgPr>
        <a:solidFill>
          <a:schemeClr val="dk2"/>
        </a:solidFill>
      </p:bgPr>
    </p:bg>
    <p:spTree>
      <p:nvGrpSpPr>
        <p:cNvPr id="223" name="Shape 223"/>
        <p:cNvGrpSpPr/>
        <p:nvPr/>
      </p:nvGrpSpPr>
      <p:grpSpPr>
        <a:xfrm>
          <a:off x="0" y="0"/>
          <a:ext cx="0" cy="0"/>
          <a:chOff x="0" y="0"/>
          <a:chExt cx="0" cy="0"/>
        </a:xfrm>
      </p:grpSpPr>
      <p:pic>
        <p:nvPicPr>
          <p:cNvPr id="224" name="Google Shape;224;p43"/>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24"/>
                                        </p:tgtEl>
                                        <p:attrNameLst>
                                          <p:attrName>style.visibility</p:attrName>
                                        </p:attrNameLst>
                                      </p:cBhvr>
                                      <p:to>
                                        <p:strVal val="visible"/>
                                      </p:to>
                                    </p:set>
                                    <p:animEffect filter="fade" transition="in">
                                      <p:cBhvr>
                                        <p:cTn dur="3029"/>
                                        <p:tgtEl>
                                          <p:spTgt spid="2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Plain Blue">
  <p:cSld name="Plain Blue">
    <p:bg>
      <p:bgPr>
        <a:solidFill>
          <a:schemeClr val="dk2"/>
        </a:solidFill>
      </p:bgPr>
    </p:bg>
    <p:spTree>
      <p:nvGrpSpPr>
        <p:cNvPr id="225" name="Shape 225"/>
        <p:cNvGrpSpPr/>
        <p:nvPr/>
      </p:nvGrpSpPr>
      <p:grpSpPr>
        <a:xfrm>
          <a:off x="0" y="0"/>
          <a:ext cx="0" cy="0"/>
          <a:chOff x="0" y="0"/>
          <a:chExt cx="0" cy="0"/>
        </a:xfrm>
      </p:grpSpPr>
      <p:pic>
        <p:nvPicPr>
          <p:cNvPr id="226" name="Google Shape;226;p44" title="Logo.png"/>
          <p:cNvPicPr preferRelativeResize="0"/>
          <p:nvPr/>
        </p:nvPicPr>
        <p:blipFill rotWithShape="1">
          <a:blip r:embed="rId2">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7" name="Shape 227"/>
        <p:cNvGrpSpPr/>
        <p:nvPr/>
      </p:nvGrpSpPr>
      <p:grpSpPr>
        <a:xfrm>
          <a:off x="0" y="0"/>
          <a:ext cx="0" cy="0"/>
          <a:chOff x="0" y="0"/>
          <a:chExt cx="0" cy="0"/>
        </a:xfrm>
      </p:grpSpPr>
      <p:sp>
        <p:nvSpPr>
          <p:cNvPr id="228" name="Google Shape;228;p45"/>
          <p:cNvSpPr txBox="1"/>
          <p:nvPr>
            <p:ph type="ctrTitle"/>
          </p:nvPr>
        </p:nvSpPr>
        <p:spPr>
          <a:xfrm>
            <a:off x="311708" y="744575"/>
            <a:ext cx="8520600" cy="20526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229" name="Google Shape;229;p45"/>
          <p:cNvSpPr txBox="1"/>
          <p:nvPr>
            <p:ph idx="1" type="subTitle"/>
          </p:nvPr>
        </p:nvSpPr>
        <p:spPr>
          <a:xfrm>
            <a:off x="311700" y="2834125"/>
            <a:ext cx="8520600" cy="792600"/>
          </a:xfrm>
          <a:prstGeom prst="rect">
            <a:avLst/>
          </a:prstGeom>
          <a:noFill/>
          <a:ln>
            <a:noFill/>
          </a:ln>
        </p:spPr>
        <p:txBody>
          <a:bodyPr anchorCtr="0" anchor="t" bIns="34275" lIns="68575" spcFirstLastPara="1" rIns="68575" wrap="square" tIns="34275">
            <a:normAutofit/>
          </a:bodyPr>
          <a:lstStyle>
            <a:lvl1pPr lvl="0" algn="ctr">
              <a:lnSpc>
                <a:spcPct val="100000"/>
              </a:lnSpc>
              <a:spcBef>
                <a:spcPts val="800"/>
              </a:spcBef>
              <a:spcAft>
                <a:spcPts val="0"/>
              </a:spcAft>
              <a:buSzPts val="2800"/>
              <a:buNone/>
              <a:defRPr sz="2800"/>
            </a:lvl1pPr>
            <a:lvl2pPr lvl="1" algn="ctr">
              <a:lnSpc>
                <a:spcPct val="100000"/>
              </a:lnSpc>
              <a:spcBef>
                <a:spcPts val="400"/>
              </a:spcBef>
              <a:spcAft>
                <a:spcPts val="0"/>
              </a:spcAft>
              <a:buSzPts val="2800"/>
              <a:buNone/>
              <a:defRPr sz="2800"/>
            </a:lvl2pPr>
            <a:lvl3pPr lvl="2" algn="ctr">
              <a:lnSpc>
                <a:spcPct val="100000"/>
              </a:lnSpc>
              <a:spcBef>
                <a:spcPts val="40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p:txBody>
      </p:sp>
      <p:sp>
        <p:nvSpPr>
          <p:cNvPr id="230" name="Google Shape;230;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indent="0" lvl="1" mar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spTree>
      <p:nvGrpSpPr>
        <p:cNvPr id="231" name="Shape 23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4.xml"/><Relationship Id="rId22" Type="http://schemas.openxmlformats.org/officeDocument/2006/relationships/slideLayout" Target="../slideLayouts/slideLayout36.xml"/><Relationship Id="rId21" Type="http://schemas.openxmlformats.org/officeDocument/2006/relationships/slideLayout" Target="../slideLayouts/slideLayout35.xml"/><Relationship Id="rId24" Type="http://schemas.openxmlformats.org/officeDocument/2006/relationships/slideLayout" Target="../slideLayouts/slideLayout38.xml"/><Relationship Id="rId23" Type="http://schemas.openxmlformats.org/officeDocument/2006/relationships/slideLayout" Target="../slideLayouts/slideLayout37.xml"/><Relationship Id="rId1" Type="http://schemas.openxmlformats.org/officeDocument/2006/relationships/image" Target="../media/image2.png"/><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9" Type="http://schemas.openxmlformats.org/officeDocument/2006/relationships/slideLayout" Target="../slideLayouts/slideLayout23.xml"/><Relationship Id="rId26" Type="http://schemas.openxmlformats.org/officeDocument/2006/relationships/slideLayout" Target="../slideLayouts/slideLayout40.xml"/><Relationship Id="rId25" Type="http://schemas.openxmlformats.org/officeDocument/2006/relationships/slideLayout" Target="../slideLayouts/slideLayout39.xml"/><Relationship Id="rId28" Type="http://schemas.openxmlformats.org/officeDocument/2006/relationships/slideLayout" Target="../slideLayouts/slideLayout42.xml"/><Relationship Id="rId27" Type="http://schemas.openxmlformats.org/officeDocument/2006/relationships/slideLayout" Target="../slideLayouts/slideLayout41.xml"/><Relationship Id="rId5" Type="http://schemas.openxmlformats.org/officeDocument/2006/relationships/slideLayout" Target="../slideLayouts/slideLayout19.xml"/><Relationship Id="rId6" Type="http://schemas.openxmlformats.org/officeDocument/2006/relationships/slideLayout" Target="../slideLayouts/slideLayout20.xml"/><Relationship Id="rId29" Type="http://schemas.openxmlformats.org/officeDocument/2006/relationships/slideLayout" Target="../slideLayouts/slideLayout43.xml"/><Relationship Id="rId7" Type="http://schemas.openxmlformats.org/officeDocument/2006/relationships/slideLayout" Target="../slideLayouts/slideLayout21.xml"/><Relationship Id="rId8" Type="http://schemas.openxmlformats.org/officeDocument/2006/relationships/slideLayout" Target="../slideLayouts/slideLayout22.xml"/><Relationship Id="rId31" Type="http://schemas.openxmlformats.org/officeDocument/2006/relationships/theme" Target="../theme/theme3.xml"/><Relationship Id="rId30" Type="http://schemas.openxmlformats.org/officeDocument/2006/relationships/slideLayout" Target="../slideLayouts/slideLayout44.xml"/><Relationship Id="rId11" Type="http://schemas.openxmlformats.org/officeDocument/2006/relationships/slideLayout" Target="../slideLayouts/slideLayout25.xml"/><Relationship Id="rId10" Type="http://schemas.openxmlformats.org/officeDocument/2006/relationships/slideLayout" Target="../slideLayouts/slideLayout24.xml"/><Relationship Id="rId13" Type="http://schemas.openxmlformats.org/officeDocument/2006/relationships/slideLayout" Target="../slideLayouts/slideLayout27.xml"/><Relationship Id="rId12" Type="http://schemas.openxmlformats.org/officeDocument/2006/relationships/slideLayout" Target="../slideLayouts/slideLayout26.xml"/><Relationship Id="rId15" Type="http://schemas.openxmlformats.org/officeDocument/2006/relationships/slideLayout" Target="../slideLayouts/slideLayout29.xml"/><Relationship Id="rId14" Type="http://schemas.openxmlformats.org/officeDocument/2006/relationships/slideLayout" Target="../slideLayouts/slideLayout28.xml"/><Relationship Id="rId17" Type="http://schemas.openxmlformats.org/officeDocument/2006/relationships/slideLayout" Target="../slideLayouts/slideLayout31.xml"/><Relationship Id="rId16" Type="http://schemas.openxmlformats.org/officeDocument/2006/relationships/slideLayout" Target="../slideLayouts/slideLayout30.xml"/><Relationship Id="rId19" Type="http://schemas.openxmlformats.org/officeDocument/2006/relationships/slideLayout" Target="../slideLayouts/slideLayout33.xml"/><Relationship Id="rId18"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8" name="Shape 48"/>
        <p:cNvGrpSpPr/>
        <p:nvPr/>
      </p:nvGrpSpPr>
      <p:grpSpPr>
        <a:xfrm>
          <a:off x="0" y="0"/>
          <a:ext cx="0" cy="0"/>
          <a:chOff x="0" y="0"/>
          <a:chExt cx="0" cy="0"/>
        </a:xfrm>
      </p:grpSpPr>
      <p:sp>
        <p:nvSpPr>
          <p:cNvPr id="49" name="Google Shape;49;p17"/>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2000"/>
              <a:buFont typeface="DM Sans"/>
              <a:buNone/>
              <a:defRPr b="0" i="0" sz="2000" u="none" cap="none" strike="noStrike">
                <a:solidFill>
                  <a:schemeClr val="dk1"/>
                </a:solidFill>
                <a:latin typeface="DM Sans"/>
                <a:ea typeface="DM Sans"/>
                <a:cs typeface="DM Sans"/>
                <a:sym typeface="DM Sans"/>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 name="Google Shape;50;p17"/>
          <p:cNvSpPr txBox="1"/>
          <p:nvPr>
            <p:ph idx="1" type="body"/>
          </p:nvPr>
        </p:nvSpPr>
        <p:spPr>
          <a:xfrm>
            <a:off x="420743" y="812524"/>
            <a:ext cx="8302500" cy="3820200"/>
          </a:xfrm>
          <a:prstGeom prst="rect">
            <a:avLst/>
          </a:prstGeom>
          <a:noFill/>
          <a:ln>
            <a:noFill/>
          </a:ln>
        </p:spPr>
        <p:txBody>
          <a:bodyPr anchorCtr="0" anchor="t" bIns="34275" lIns="68575" spcFirstLastPara="1" rIns="68575" wrap="square" tIns="34275">
            <a:normAutofit/>
          </a:bodyPr>
          <a:lstStyle>
            <a:lvl1pPr indent="-311150" lvl="0" marL="457200" marR="0" rtl="0" algn="l">
              <a:lnSpc>
                <a:spcPct val="90000"/>
              </a:lnSpc>
              <a:spcBef>
                <a:spcPts val="800"/>
              </a:spcBef>
              <a:spcAft>
                <a:spcPts val="0"/>
              </a:spcAft>
              <a:buClr>
                <a:schemeClr val="dk1"/>
              </a:buClr>
              <a:buSzPts val="1300"/>
              <a:buFont typeface="Arial"/>
              <a:buChar char="•"/>
              <a:defRPr b="0" i="0" sz="1300" u="none" cap="none" strike="noStrike">
                <a:solidFill>
                  <a:schemeClr val="dk1"/>
                </a:solidFill>
                <a:latin typeface="DM Sans"/>
                <a:ea typeface="DM Sans"/>
                <a:cs typeface="DM Sans"/>
                <a:sym typeface="DM Sans"/>
              </a:defRPr>
            </a:lvl1pPr>
            <a:lvl2pPr indent="-304800" lvl="1" marL="914400" marR="0" rtl="0" algn="l">
              <a:lnSpc>
                <a:spcPct val="90000"/>
              </a:lnSpc>
              <a:spcBef>
                <a:spcPts val="400"/>
              </a:spcBef>
              <a:spcAft>
                <a:spcPts val="0"/>
              </a:spcAft>
              <a:buClr>
                <a:schemeClr val="dk1"/>
              </a:buClr>
              <a:buSzPts val="1200"/>
              <a:buFont typeface="Arial"/>
              <a:buChar char="•"/>
              <a:defRPr b="0" i="0" sz="1200" u="none" cap="none" strike="noStrike">
                <a:solidFill>
                  <a:schemeClr val="dk1"/>
                </a:solidFill>
                <a:latin typeface="DM Sans"/>
                <a:ea typeface="DM Sans"/>
                <a:cs typeface="DM Sans"/>
                <a:sym typeface="DM Sans"/>
              </a:defRPr>
            </a:lvl2pPr>
            <a:lvl3pPr indent="-292100" lvl="2" marL="1371600" marR="0" rtl="0" algn="l">
              <a:lnSpc>
                <a:spcPct val="90000"/>
              </a:lnSpc>
              <a:spcBef>
                <a:spcPts val="400"/>
              </a:spcBef>
              <a:spcAft>
                <a:spcPts val="0"/>
              </a:spcAft>
              <a:buClr>
                <a:schemeClr val="dk1"/>
              </a:buClr>
              <a:buSzPts val="1000"/>
              <a:buFont typeface="Arial"/>
              <a:buChar char="•"/>
              <a:defRPr b="0" i="0" sz="1000" u="none" cap="none" strike="noStrike">
                <a:solidFill>
                  <a:schemeClr val="dk1"/>
                </a:solidFill>
                <a:latin typeface="DM Sans"/>
                <a:ea typeface="DM Sans"/>
                <a:cs typeface="DM Sans"/>
                <a:sym typeface="DM Sans"/>
              </a:defRPr>
            </a:lvl3pPr>
            <a:lvl4pPr indent="-285750" lvl="3" marL="1828800" marR="0" rtl="0" algn="l">
              <a:lnSpc>
                <a:spcPct val="90000"/>
              </a:lnSpc>
              <a:spcBef>
                <a:spcPts val="400"/>
              </a:spcBef>
              <a:spcAft>
                <a:spcPts val="0"/>
              </a:spcAft>
              <a:buClr>
                <a:schemeClr val="dk1"/>
              </a:buClr>
              <a:buSzPts val="900"/>
              <a:buFont typeface="Arial"/>
              <a:buChar char="•"/>
              <a:defRPr b="0" i="0" sz="900" u="none" cap="none" strike="noStrike">
                <a:solidFill>
                  <a:schemeClr val="dk1"/>
                </a:solidFill>
                <a:latin typeface="DM Sans"/>
                <a:ea typeface="DM Sans"/>
                <a:cs typeface="DM Sans"/>
                <a:sym typeface="DM Sans"/>
              </a:defRPr>
            </a:lvl4pPr>
            <a:lvl5pPr indent="-285750" lvl="4" marL="2286000" marR="0" rtl="0" algn="l">
              <a:lnSpc>
                <a:spcPct val="90000"/>
              </a:lnSpc>
              <a:spcBef>
                <a:spcPts val="400"/>
              </a:spcBef>
              <a:spcAft>
                <a:spcPts val="0"/>
              </a:spcAft>
              <a:buClr>
                <a:schemeClr val="dk1"/>
              </a:buClr>
              <a:buSzPts val="900"/>
              <a:buFont typeface="Arial"/>
              <a:buChar char="•"/>
              <a:defRPr b="0" i="0" sz="900" u="none" cap="none" strike="noStrike">
                <a:solidFill>
                  <a:schemeClr val="dk1"/>
                </a:solidFill>
                <a:latin typeface="DM Sans"/>
                <a:ea typeface="DM Sans"/>
                <a:cs typeface="DM Sans"/>
                <a:sym typeface="DM Sans"/>
              </a:defRPr>
            </a:lvl5pPr>
            <a:lvl6pPr indent="-279400" lvl="5" marL="2743200" marR="0" rtl="0" algn="l">
              <a:lnSpc>
                <a:spcPct val="90000"/>
              </a:lnSpc>
              <a:spcBef>
                <a:spcPts val="400"/>
              </a:spcBef>
              <a:spcAft>
                <a:spcPts val="0"/>
              </a:spcAft>
              <a:buClr>
                <a:schemeClr val="dk1"/>
              </a:buClr>
              <a:buSzPts val="800"/>
              <a:buFont typeface="Arial"/>
              <a:buChar char="•"/>
              <a:defRPr b="0" i="0" sz="800" u="none" cap="none" strike="noStrike">
                <a:solidFill>
                  <a:schemeClr val="dk1"/>
                </a:solidFill>
                <a:latin typeface="DM Sans"/>
                <a:ea typeface="DM Sans"/>
                <a:cs typeface="DM Sans"/>
                <a:sym typeface="DM Sans"/>
              </a:defRPr>
            </a:lvl6pPr>
            <a:lvl7pPr indent="-279400" lvl="6" marL="3200400" marR="0" rtl="0" algn="l">
              <a:lnSpc>
                <a:spcPct val="90000"/>
              </a:lnSpc>
              <a:spcBef>
                <a:spcPts val="400"/>
              </a:spcBef>
              <a:spcAft>
                <a:spcPts val="0"/>
              </a:spcAft>
              <a:buClr>
                <a:schemeClr val="dk1"/>
              </a:buClr>
              <a:buSzPts val="800"/>
              <a:buFont typeface="Arial"/>
              <a:buChar char="•"/>
              <a:defRPr b="0" i="0" sz="800" u="none" cap="none" strike="noStrike">
                <a:solidFill>
                  <a:schemeClr val="dk1"/>
                </a:solidFill>
                <a:latin typeface="DM Sans"/>
                <a:ea typeface="DM Sans"/>
                <a:cs typeface="DM Sans"/>
                <a:sym typeface="DM Sans"/>
              </a:defRPr>
            </a:lvl7pPr>
            <a:lvl8pPr indent="-273050" lvl="7" marL="3657600" marR="0" rtl="0" algn="l">
              <a:lnSpc>
                <a:spcPct val="90000"/>
              </a:lnSpc>
              <a:spcBef>
                <a:spcPts val="400"/>
              </a:spcBef>
              <a:spcAft>
                <a:spcPts val="0"/>
              </a:spcAft>
              <a:buClr>
                <a:schemeClr val="dk1"/>
              </a:buClr>
              <a:buSzPts val="700"/>
              <a:buFont typeface="Arial"/>
              <a:buChar char="•"/>
              <a:defRPr b="0" i="0" sz="700" u="none" cap="none" strike="noStrike">
                <a:solidFill>
                  <a:schemeClr val="dk1"/>
                </a:solidFill>
                <a:latin typeface="DM Sans"/>
                <a:ea typeface="DM Sans"/>
                <a:cs typeface="DM Sans"/>
                <a:sym typeface="DM Sans"/>
              </a:defRPr>
            </a:lvl8pPr>
            <a:lvl9pPr indent="-279400" lvl="8" marL="4114800" marR="0" rtl="0" algn="l">
              <a:lnSpc>
                <a:spcPct val="90000"/>
              </a:lnSpc>
              <a:spcBef>
                <a:spcPts val="400"/>
              </a:spcBef>
              <a:spcAft>
                <a:spcPts val="0"/>
              </a:spcAft>
              <a:buClr>
                <a:schemeClr val="dk1"/>
              </a:buClr>
              <a:buSzPts val="800"/>
              <a:buFont typeface="Arial"/>
              <a:buChar char="•"/>
              <a:defRPr b="0" i="0" sz="800" u="none" cap="none" strike="noStrike">
                <a:solidFill>
                  <a:schemeClr val="dk1"/>
                </a:solidFill>
                <a:latin typeface="DM Sans"/>
                <a:ea typeface="DM Sans"/>
                <a:cs typeface="DM Sans"/>
                <a:sym typeface="DM Sans"/>
              </a:defRPr>
            </a:lvl9pPr>
          </a:lstStyle>
          <a:p/>
        </p:txBody>
      </p:sp>
      <p:sp>
        <p:nvSpPr>
          <p:cNvPr id="51" name="Google Shape;51;p17"/>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pic>
        <p:nvPicPr>
          <p:cNvPr id="52" name="Google Shape;52;p17"/>
          <p:cNvPicPr preferRelativeResize="0"/>
          <p:nvPr/>
        </p:nvPicPr>
        <p:blipFill rotWithShape="1">
          <a:blip r:embed="rId1">
            <a:alphaModFix/>
          </a:blip>
          <a:srcRect b="0" l="0" r="0" t="0"/>
          <a:stretch/>
        </p:blipFill>
        <p:spPr>
          <a:xfrm>
            <a:off x="8412332" y="4829647"/>
            <a:ext cx="310926" cy="149074"/>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 id="2147483685" r:id="rId24"/>
    <p:sldLayoutId id="2147483686" r:id="rId25"/>
    <p:sldLayoutId id="2147483687" r:id="rId26"/>
    <p:sldLayoutId id="2147483688" r:id="rId27"/>
    <p:sldLayoutId id="2147483689" r:id="rId28"/>
    <p:sldLayoutId id="2147483690" r:id="rId29"/>
    <p:sldLayoutId id="2147483691"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2.png"/><Relationship Id="rId4" Type="http://schemas.openxmlformats.org/officeDocument/2006/relationships/image" Target="../media/image19.png"/><Relationship Id="rId5"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6.png"/><Relationship Id="rId4" Type="http://schemas.openxmlformats.org/officeDocument/2006/relationships/image" Target="../media/image29.png"/><Relationship Id="rId5" Type="http://schemas.openxmlformats.org/officeDocument/2006/relationships/image" Target="../media/image34.png"/><Relationship Id="rId6" Type="http://schemas.openxmlformats.org/officeDocument/2006/relationships/image" Target="../media/image32.png"/><Relationship Id="rId7" Type="http://schemas.openxmlformats.org/officeDocument/2006/relationships/image" Target="../media/image35.png"/><Relationship Id="rId8" Type="http://schemas.openxmlformats.org/officeDocument/2006/relationships/image" Target="../media/image4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41.png"/><Relationship Id="rId4" Type="http://schemas.openxmlformats.org/officeDocument/2006/relationships/image" Target="../media/image30.png"/><Relationship Id="rId9" Type="http://schemas.openxmlformats.org/officeDocument/2006/relationships/image" Target="../media/image43.png"/><Relationship Id="rId5" Type="http://schemas.openxmlformats.org/officeDocument/2006/relationships/image" Target="../media/image24.png"/><Relationship Id="rId6" Type="http://schemas.openxmlformats.org/officeDocument/2006/relationships/image" Target="../media/image40.png"/><Relationship Id="rId7" Type="http://schemas.openxmlformats.org/officeDocument/2006/relationships/image" Target="../media/image33.png"/><Relationship Id="rId8" Type="http://schemas.openxmlformats.org/officeDocument/2006/relationships/image" Target="../media/image46.png"/><Relationship Id="rId11" Type="http://schemas.openxmlformats.org/officeDocument/2006/relationships/image" Target="../media/image45.png"/><Relationship Id="rId10" Type="http://schemas.openxmlformats.org/officeDocument/2006/relationships/image" Target="../media/image39.png"/><Relationship Id="rId13" Type="http://schemas.openxmlformats.org/officeDocument/2006/relationships/hyperlink" Target="https://app.wiz.io/inventory/unscanned-resources/unclassified" TargetMode="External"/><Relationship Id="rId12" Type="http://schemas.openxmlformats.org/officeDocument/2006/relationships/hyperlink" Target="https://app.wiz.io/settings/deployments#%7E%28type%7E%27ALL%29" TargetMode="External"/><Relationship Id="rId15" Type="http://schemas.openxmlformats.org/officeDocument/2006/relationships/hyperlink" Target="https://app.wiz.io/inventory/unscanned-resources/unclassified" TargetMode="External"/><Relationship Id="rId14" Type="http://schemas.openxmlformats.org/officeDocument/2006/relationships/hyperlink" Target="https://app.wiz.io/explorer/cloud-events#%7E%28filters%7E%28timestampv2%7E%28dateRange%7E%28past%7E%28unit%7E%27month%7Eamount%7E1%29%29%29%29%7EgroupBy%7E%28%7E%27origin%29%29" TargetMode="External"/><Relationship Id="rId17" Type="http://schemas.openxmlformats.org/officeDocument/2006/relationships/hyperlink" Target="https://app.wiz.io/boards/ai-security" TargetMode="External"/><Relationship Id="rId16" Type="http://schemas.openxmlformats.org/officeDocument/2006/relationships/image" Target="../media/image44.png"/><Relationship Id="rId18" Type="http://schemas.openxmlformats.org/officeDocument/2006/relationships/hyperlink" Target="https://app.wiz.io/inventory/unscanned-resources/unclassified"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41.png"/><Relationship Id="rId4" Type="http://schemas.openxmlformats.org/officeDocument/2006/relationships/image" Target="../media/image47.png"/><Relationship Id="rId9"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53.png"/><Relationship Id="rId8" Type="http://schemas.openxmlformats.org/officeDocument/2006/relationships/hyperlink" Target="https://app.wiz.io/inventory/kubernetes-clusters" TargetMode="External"/><Relationship Id="rId11" Type="http://schemas.openxmlformats.org/officeDocument/2006/relationships/hyperlink" Target="https://app.wiz.io/inventory/container-registries" TargetMode="External"/><Relationship Id="rId10"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13" Type="http://schemas.openxmlformats.org/officeDocument/2006/relationships/image" Target="../media/image54.png"/><Relationship Id="rId12" Type="http://schemas.openxmlformats.org/officeDocument/2006/relationships/hyperlink" Target="https://app.wiz.io/inventory/containers/images" TargetMode="External"/><Relationship Id="rId15" Type="http://schemas.openxmlformats.org/officeDocument/2006/relationships/hyperlink" Target="https://app.wiz.io/inventory/unscanned-resources/unclassified" TargetMode="External"/><Relationship Id="rId14" Type="http://schemas.openxmlformats.org/officeDocument/2006/relationships/hyperlink" Target="https://app.wiz.io/inventory/unscanned-resources/unclassified" TargetMode="External"/><Relationship Id="rId17" Type="http://schemas.openxmlformats.org/officeDocument/2006/relationships/hyperlink" Target="https://app.wiz.io/inventory/unscanned-resources/unclassified" TargetMode="External"/><Relationship Id="rId16" Type="http://schemas.openxmlformats.org/officeDocument/2006/relationships/hyperlink" Target="https://app.wiz.io/policies/red-agent-modules" TargetMode="External"/></Relationships>
</file>

<file path=ppt/slides/_rels/slide5.xml.rels><?xml version="1.0" encoding="UTF-8" standalone="yes"?><Relationships xmlns="http://schemas.openxmlformats.org/package/2006/relationships"><Relationship Id="rId20" Type="http://schemas.openxmlformats.org/officeDocument/2006/relationships/hyperlink" Target="https://app.wiz.io/settings/workload-scan-log#%7E%28filters%7E%28status%7E%28%29%7Etimestamp%7E%28%29%7EdataScan%7E%28equals%7Efalse%29%29%29" TargetMode="External"/><Relationship Id="rId22" Type="http://schemas.openxmlformats.org/officeDocument/2006/relationships/hyperlink" Target="https://app.wiz.io/settings/system-health#%7E%28filters%7E%28status%7E%28equals%7E%28%7E%27OPEN%29%29%7EdeploymentType%7E%28equals%7E%28%7E%27OUTPOST_CLUSTER%7E%27OUTPOST%29%29%7Eseverity%7E%28equals%7E%28%7E%27CRITICAL%7E%27HIGH%29%29%29%29" TargetMode="External"/><Relationship Id="rId21" Type="http://schemas.openxmlformats.org/officeDocument/2006/relationships/hyperlink" Target="https://app.wiz.io/settings/workload-scan-log#%7E%28filters%7E%28status%7E%28equals%7E%28%7E%27SKIPPED%29%29%7Etimestamp%7E%28%29%7EdataScan%7E%28equals%7Efalse%29%29%29" TargetMode="External"/><Relationship Id="rId24" Type="http://schemas.openxmlformats.org/officeDocument/2006/relationships/hyperlink" Target="https://app.wiz.io/settings/system-health#%7E%28filters%7E%28status%7E%28equals%7E%28%7E%27OPEN%29%29%7EdeploymentType%7E%28equals%7E%28%7E%27INTEGRATION%29%29%7Eseverity%7E%28equals%7E%28%7E%27CRITICAL%7E%27HIGH%29%29%29%29" TargetMode="External"/><Relationship Id="rId23" Type="http://schemas.openxmlformats.org/officeDocument/2006/relationships/hyperlink" Target="https://app.wiz.io/settings/system-health#%7E%28filters%7E%28status%7E%28equals%7E%28%7E%27OPEN%29%29%7EdeploymentType%7E%28equals%7E%28%7E%27REGISTRY_CONNECTOR%29%29%7Eseverity%7E%28equals%7E%28%7E%27CRITICAL%7E%27HIGH%29%29%29%29" TargetMode="External"/><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53.png"/><Relationship Id="rId4" Type="http://schemas.openxmlformats.org/officeDocument/2006/relationships/hyperlink" Target="https://app.wiz.io/settings/system-health#%7E%28filters%7E%28status%7E%28equals%7E%28%7E%27OPEN%29%29%7Eseverity%7E%28equals%7E%28%7E%27CRITICAL%29%29%29%7EgroupBy%7E%27none%29" TargetMode="External"/><Relationship Id="rId9"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6" Type="http://schemas.openxmlformats.org/officeDocument/2006/relationships/hyperlink" Target="https://app.wiz.io/settings/system-health#%7E%28filters%7E%28status%7E%28equals%7E%28%7E%27OPEN%29%29%7EdeploymentType%7E%28equals%7E%28%7E%27VERSION_CONTROL_CONNECTOR%29%29%7Eseverity%7E%28equals%7E%28%7E%27CRITICAL%7E%27HIGH%29%29%29%29" TargetMode="External"/><Relationship Id="rId25" Type="http://schemas.openxmlformats.org/officeDocument/2006/relationships/hyperlink" Target="https://app.wiz.io/settings/system-health#%7E%28filters%7E%28status%7E%28equals%7E%28%7E%27OPEN%29%29%7EdeploymentType%7E%28equals%7E%28%7E%27KUBERNETES_CONNECTOR%29%29%7Eseverity%7E%28equals%7E%28%7E%27CRITICAL%7E%27HIGH%29%29%29%29" TargetMode="External"/><Relationship Id="rId28" Type="http://schemas.openxmlformats.org/officeDocument/2006/relationships/hyperlink" Target="https://app.wiz.io/settings/system-health#%7E%28filters%7E%28status%7E%28equals%7E%28%7E%27OPEN%29%29%7EdeploymentType%7E%28equals%7E%28%7E%27CLOUD_CONNECTOR%29%29%7Eseverity%7E%28equals%7E%28%7E%27CRITICAL%7E%27HIGH%29%29%29%29" TargetMode="External"/><Relationship Id="rId27" Type="http://schemas.openxmlformats.org/officeDocument/2006/relationships/hyperlink" Target="https://app.wiz.io/settings/system-health#%7E%28filters%7E%28status%7E%28equals%7E%28%7E%27OPEN%29%29%7EdeploymentType%7E%28equals%7E%28%7E%27BROKER%29%29%7Eseverity%7E%28equals%7E%28%7E%27CRITICAL%7E%27HIGH%29%29%29%29" TargetMode="External"/><Relationship Id="rId5" Type="http://schemas.openxmlformats.org/officeDocument/2006/relationships/hyperlink" Target="https://app.wiz.io/settings/system-health#%7E%28filters%7E%28status%7E%28equals%7E%28%7E%27OPEN%29%29%7Eseverity%7E%28equals%7E%28%7E%27HIGH%29%29%29%7EgroupBy%7E%27none%29" TargetMode="External"/><Relationship Id="rId6" Type="http://schemas.openxmlformats.org/officeDocument/2006/relationships/hyperlink" Target="https://app.wiz.io/settings/system-health#%7E%28filters%7E%28status%7E%28equals%7E%28%7E%27RESOLVED%29%29%7Eseverity%7E%28equals%7E%28%7E%27CRITICAL%29%29%29%7EgroupBy%7E%27none%29" TargetMode="External"/><Relationship Id="rId29" Type="http://schemas.openxmlformats.org/officeDocument/2006/relationships/hyperlink" Target="https://app.wiz.io/explorer/graph#%7E%28query%7E%28select%7Etrue%7Etype%7E%28%7E%27SECURITY_TOOL_SCAN%29%7Ewhere%7E%28scannedResourceType%7E%28EQUALS%7E%28%7E%27SecurityToolScanScannedResourceTypeNonOSDisk%29%29%7Ename%7E%28CONTAINS%7E%28%7E%27workload%29%29%29%29%29" TargetMode="External"/><Relationship Id="rId7" Type="http://schemas.openxmlformats.org/officeDocument/2006/relationships/hyperlink" Target="https://app.wiz.io/settings/system-health#%7E%28filters%7E%28status%7E%28equals%7E%28%7E%27RESOLVED%29%29%7Eseverity%7E%28equals%7E%28%7E%27HIGH%29%29%29%7EgroupBy%7E%27none%29" TargetMode="External"/><Relationship Id="rId8" Type="http://schemas.openxmlformats.org/officeDocument/2006/relationships/image" Target="../media/image52.png"/><Relationship Id="rId31" Type="http://schemas.openxmlformats.org/officeDocument/2006/relationships/hyperlink" Target="https://app.wiz.io/explorer/graph#%7E%28query%7E%28select%7Etrue%7Etype%7E%28%7E%27SECURITY_TOOL_SCAN%29%7Ewhere%7E%28scannedResourceType%7E%28EQUALS%7E%28%7E%27SecurityToolScanScannedResourceTypeNonOSDisk%29%29%7Ename%7E%28CONTAINS%7E%28%7E%27workload%29%29%7Estatus%7E%28EQUALS%7E%28%7E%27ScanStatusSkipped%29%29%29%29%29" TargetMode="External"/><Relationship Id="rId30" Type="http://schemas.openxmlformats.org/officeDocument/2006/relationships/hyperlink" Target="https://app.wiz.io/explorer/graph#%7E%28query%7E%28select%7Etrue%7Etype%7E%28%7E%27SECURITY_TOOL_SCAN%29%7Ewhere%7E%28scannedResourceType%7E%28EQUALS%7E%28%7E%27SecurityToolScanScannedResourceTypeNonOSDisk%29%29%7Ename%7E%28CONTAINS%7E%28%7E%27workload%29%29%7Estatus%7E%28EQUALS%7E%28%7E%27ScanStatusError%29%29%29%29%29" TargetMode="External"/><Relationship Id="rId11"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Skipped%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33" Type="http://schemas.openxmlformats.org/officeDocument/2006/relationships/hyperlink" Target="https://app.wiz.io/explorer/graph#%7E%28query%7E%28select%7Etrue%7Etype%7E%28%7E%27SECURITY_TOOL_SCAN%29%7Ewhere%7E%28scannedResourceType%7E%28EQUALS%7E%28%7E%27SecurityToolScanScannedResourceTypeContainerImage%29%29%7Ename%7E%28CONTAINS%7E%28%7E%27workload%29%29%7Estatus%7E%28EQUALS%7E%28%7E%27ScanStatusError%29%29%29%29%29" TargetMode="External"/><Relationship Id="rId10"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Error%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32" Type="http://schemas.openxmlformats.org/officeDocument/2006/relationships/hyperlink" Target="https://app.wiz.io/explorer/graph#%7E%28query%7E%28select%7Etrue%7Etype%7E%28%7E%27SECURITY_TOOL_SCAN%29%7Ewhere%7E%28scannedResourceType%7E%28EQUALS%7E%28%7E%27SecurityToolScanScannedResourceTypeContainerImage%29%29%7Ename%7E%28CONTAINS%7E%28%7E%27workload%29%29%29%29%29" TargetMode="External"/><Relationship Id="rId13"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NOT_EQUALS%7E%28%7E%276961%7E%273032%7E%279899%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35" Type="http://schemas.openxmlformats.org/officeDocument/2006/relationships/hyperlink" Target="https://app.wiz.io/explorer/graph#%7E%28query%7E%28select%7Etrue%7Etype%7E%28%7E%27SECURITY_TOOL_SCAN%29%7Ewhere%7E%28scannedResourceType%7E%28EQUALS%7E%28%7E%27SecurityToolScanScannedResourceTypeVirtualMachineImage%29%29%7Ename%7E%28CONTAINS%7E%28%7E%27workload%29%29%29%29%29" TargetMode="External"/><Relationship Id="rId12" Type="http://schemas.openxmlformats.org/officeDocument/2006/relationships/hyperlink" Target="https://app.wiz.io/explorer/graph#%7E%28query%7E%28type%7E%28%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34" Type="http://schemas.openxmlformats.org/officeDocument/2006/relationships/hyperlink" Target="https://app.wiz.io/explorer/graph#%7E%28query%7E%28select%7Etrue%7Etype%7E%28%7E%27SECURITY_TOOL_SCAN%29%7Ewhere%7E%28scannedResourceType%7E%28EQUALS%7E%28%7E%27SecurityToolScanScannedResourceTypeContainerImage%29%29%7Ename%7E%28CONTAINS%7E%28%7E%27workload%29%29%7Estatus%7E%28EQUALS%7E%28%7E%27ScanStatusSkipped%29%29%29%29%29" TargetMode="External"/><Relationship Id="rId15"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EQUALS%7E%28%7E%273032%7E%279899%7E%276961%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37" Type="http://schemas.openxmlformats.org/officeDocument/2006/relationships/hyperlink" Target="https://app.wiz.io/explorer/graph#%7E%28query%7E%28select%7Etrue%7Etype%7E%28%7E%27SECURITY_TOOL_SCAN%29%7Ewhere%7E%28scannedResourceType%7E%28EQUALS%7E%28%7E%27SecurityToolScanScannedResourceTypeVirtualMachineImage%29%29%7Ename%7E%28CONTAINS%7E%28%7E%27workload%29%29%7Estatus%7E%28EQUALS%7E%28%7E%27ScanStatusSkipped%29%29%29%29%29" TargetMode="External"/><Relationship Id="rId14" Type="http://schemas.openxmlformats.org/officeDocument/2006/relationships/hyperlink" Target="https://app.wiz.io/explorer/graph#%7E%28query%7E%28type%7E%28%7E%27VIRTUAL_DRIV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VIRTUAL_DRIVE%7E%28%7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36" Type="http://schemas.openxmlformats.org/officeDocument/2006/relationships/hyperlink" Target="https://app.wiz.io/explorer/graph#%7E%28query%7E%28select%7Etrue%7Etype%7E%28%7E%27SECURITY_TOOL_SCAN%29%7Ewhere%7E%28scannedResourceType%7E%28EQUALS%7E%28%7E%27SecurityToolScanScannedResourceTypeVirtualMachineImage%29%29%7Ename%7E%28CONTAINS%7E%28%7E%27workload%29%29%7Estatus%7E%28EQUALS%7E%28%7E%27ScanStatusError%29%29%29%29%29" TargetMode="External"/><Relationship Id="rId17" Type="http://schemas.openxmlformats.org/officeDocument/2006/relationships/hyperlink" Target="https://app.wiz.io/explorer/graph#%7E%28query%7E%28type%7E%28%7E%27FILE_SYSTEM_SERVIC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FILE_SYSTEM_SERVICE%7E%28%7E%27cloudPlatform%7E%27atRestEncryption%7E%27inTransitEncryption%7E%27accessibleFrom.internet%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6" Type="http://schemas.openxmlformats.org/officeDocument/2006/relationships/hyperlink" Target="https://app.wiz.io/explorer/graph#%7E%28query%7E%28type%7E%28%7E%27AI_DATAS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AI_DATAS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9" Type="http://schemas.openxmlformats.org/officeDocument/2006/relationships/hyperlink" Target="https://app.wiz.io/settings/workload-scan-log#%7E%28filters%7E%28status%7E%28equals%7E%28%7E%27FAILED%29%29%7Etimestamp%7E%28%29%7EdataScan%7E%28equals%7Efalse%29%29%29" TargetMode="External"/><Relationship Id="rId18" Type="http://schemas.openxmlformats.org/officeDocument/2006/relationships/hyperlink" Target="https://app.wiz.io/settings/workload-scan-log#%7E%28filters%7E%28status%7E%28%29%7Etimestamp%7E%28%29%7EdataScan%7E%28equals%7Efalse%29%29%29" TargetMode="External"/></Relationships>
</file>

<file path=ppt/slides/_rels/slide6.xml.rels><?xml version="1.0" encoding="UTF-8" standalone="yes"?><Relationships xmlns="http://schemas.openxmlformats.org/package/2006/relationships"><Relationship Id="rId20" Type="http://schemas.openxmlformats.org/officeDocument/2006/relationships/image" Target="../media/image49.png"/><Relationship Id="rId22" Type="http://schemas.openxmlformats.org/officeDocument/2006/relationships/hyperlink" Target="https://app.wiz.io/policies/automation-rules" TargetMode="External"/><Relationship Id="rId21" Type="http://schemas.openxmlformats.org/officeDocument/2006/relationships/hyperlink" Target="https://app.wiz.io/policies/workflows" TargetMode="External"/><Relationship Id="rId23" Type="http://schemas.openxmlformats.org/officeDocument/2006/relationships/hyperlink" Target="https://app.wiz.io/settings/audit-log#%7E%28filters%7E%28clientType%7E%28equals%7E%28%7E%27MCP%29%29%29%7EgroupBy%7E%28%7E%27PERFORMER%29%29" TargetMode="External"/><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app.wiz.io/settings/users#%7E%28filters%7E%28status%7E%28notEquals%7E%28%7E%27DELETED%29%29%29%29" TargetMode="External"/><Relationship Id="rId4" Type="http://schemas.openxmlformats.org/officeDocument/2006/relationships/hyperlink" Target="https://app.wiz.io/settings/users#%7E%28filters%7E%28status%7E%28notEquals%7E%28%7E%27DELETED%29%29%7ElastLoginAt%7E%28inTheLast%7E%28amount%7E30%7Eunit%7E%27days%29%29%29%29" TargetMode="External"/><Relationship Id="rId9" Type="http://schemas.openxmlformats.org/officeDocument/2006/relationships/hyperlink" Target="https://app.wiz.io/settings/projects#%7E%28filters%7E%28businessImpact%7E%28equals%7E%28%7E%27LBI%29%29%29%29" TargetMode="External"/><Relationship Id="rId5" Type="http://schemas.openxmlformats.org/officeDocument/2006/relationships/hyperlink" Target="https://app.wiz.io/settings/deployments#%7E%28type%7E%27INTEGRATION%29" TargetMode="External"/><Relationship Id="rId6" Type="http://schemas.openxmlformats.org/officeDocument/2006/relationships/hyperlink" Target="https://app.wiz.io/inventory/unscanned-resources/unclassified" TargetMode="External"/><Relationship Id="rId7" Type="http://schemas.openxmlformats.org/officeDocument/2006/relationships/hyperlink" Target="https://app.wiz.io/settings/projects#%7E%28filters%7E%28businessImpact%7E%28equals%7E%28%7E%27HBI%29%29%29%29" TargetMode="External"/><Relationship Id="rId8" Type="http://schemas.openxmlformats.org/officeDocument/2006/relationships/hyperlink" Target="https://app.wiz.io/settings/projects#%7E%28filters%7E%28businessImpact%7E%28equals%7E%28%7E%27MBI%29%29%29%29" TargetMode="External"/><Relationship Id="rId11" Type="http://schemas.openxmlformats.org/officeDocument/2006/relationships/hyperlink" Target="https://app.wiz.io/policies/resource-tag-rules#%7E%28filters%7E%28type%7E%28equals%7E%28%7E%27TAG%29%29%7Estatus%7E%28equals%7E%27enabled%29%29%29" TargetMode="External"/><Relationship Id="rId10" Type="http://schemas.openxmlformats.org/officeDocument/2006/relationships/hyperlink" Target="https://app.wiz.io/reports/compliance/security-frameworks#%7E%28filters%7E%28createdBy%7E%28equals%7E%27USER%29%29%29" TargetMode="External"/><Relationship Id="rId13" Type="http://schemas.openxmlformats.org/officeDocument/2006/relationships/hyperlink" Target="https://app.wiz.io/policies/inventory-management-rules#%7E%28filters%7E%28createdBy%7E%28equals%7E%28%7E%27USER%29%29%29%29" TargetMode="External"/><Relationship Id="rId12" Type="http://schemas.openxmlformats.org/officeDocument/2006/relationships/hyperlink" Target="https://app.wiz.io/settings/services" TargetMode="External"/><Relationship Id="rId15" Type="http://schemas.openxmlformats.org/officeDocument/2006/relationships/hyperlink" Target="https://app.wiz.io/reports/monitored-metrics#%7E%28filters%7E%28builtin%7E%28equals%7E%28%7E%27false%29%29%29%29" TargetMode="External"/><Relationship Id="rId14" Type="http://schemas.openxmlformats.org/officeDocument/2006/relationships/hyperlink" Target="https://app.wiz.io/policies/posture#%7E%28filters%7E%28creator%7E%28equals%7E%28%7E%27USER%29%29%29%29" TargetMode="External"/><Relationship Id="rId17" Type="http://schemas.openxmlformats.org/officeDocument/2006/relationships/hyperlink" Target="https://app.wiz.io/settings/audit-log#%7E%28filters%7E%28action%7E%28equals%7E%28%7E%27AiAssistantSendMessage%29%29%7EclientType%7E%28notEquals%7E%28%7E%27UNKNOWN%29%29%7EuserType%7E%28equals%7E%28%7E%27USER_ACCOUNT%29%29%29%7EgroupBy%7E%28%7E%27CLIENT_TYPE%29%29" TargetMode="External"/><Relationship Id="rId16" Type="http://schemas.openxmlformats.org/officeDocument/2006/relationships/hyperlink" Target="https://app.wiz.io/boards/champion-center" TargetMode="External"/><Relationship Id="rId19" Type="http://schemas.openxmlformats.org/officeDocument/2006/relationships/image" Target="../media/image48.png"/><Relationship Id="rId18"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1.png"/><Relationship Id="rId4" Type="http://schemas.openxmlformats.org/officeDocument/2006/relationships/hyperlink" Target="https://app.wiz.io/settings/preview-and-migration-hub" TargetMode="External"/><Relationship Id="rId5" Type="http://schemas.openxmlformats.org/officeDocument/2006/relationships/hyperlink" Target="https://app.wiz.io/settings/preview-and-migration-hub" TargetMode="External"/><Relationship Id="rId6" Type="http://schemas.openxmlformats.org/officeDocument/2006/relationships/hyperlink" Target="https://app.wiz.io/settings/preview-and-migration-hub" TargetMode="External"/><Relationship Id="rId7" Type="http://schemas.openxmlformats.org/officeDocument/2006/relationships/hyperlink" Target="https://app.wiz.io/settings/preview-and-migration-hub"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1.png"/><Relationship Id="rId4" Type="http://schemas.openxmlformats.org/officeDocument/2006/relationships/hyperlink" Target="https://app.wiz.io/settings/preview-and-migration-hub" TargetMode="External"/><Relationship Id="rId5" Type="http://schemas.openxmlformats.org/officeDocument/2006/relationships/hyperlink" Target="https://app.wiz.io/settings/preview-and-migration-hub" TargetMode="External"/><Relationship Id="rId6" Type="http://schemas.openxmlformats.org/officeDocument/2006/relationships/hyperlink" Target="https://app.wiz.io/settings/preview-and-migration-hub" TargetMode="External"/><Relationship Id="rId7" Type="http://schemas.openxmlformats.org/officeDocument/2006/relationships/hyperlink" Target="https://app.wiz.io/settings/preview-and-migration-hub"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41.png"/><Relationship Id="rId4" Type="http://schemas.openxmlformats.org/officeDocument/2006/relationships/hyperlink" Target="https://app.wiz.io/roadmap?tab=TRACKED" TargetMode="External"/><Relationship Id="rId5" Type="http://schemas.openxmlformats.org/officeDocument/2006/relationships/hyperlink" Target="https://app.wiz.io/roadmap?tab=TRACKE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19.png"/><Relationship Id="rId5"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2.png"/><Relationship Id="rId6" Type="http://schemas.openxmlformats.org/officeDocument/2006/relationships/image" Target="../media/image34.png"/><Relationship Id="rId7" Type="http://schemas.openxmlformats.org/officeDocument/2006/relationships/image" Target="../media/image51.png"/><Relationship Id="rId8"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53.png"/><Relationship Id="rId4" Type="http://schemas.openxmlformats.org/officeDocument/2006/relationships/hyperlink" Target="https://app.wiz.io/issues#%7E%28filters%7E%28status%7E%28equals%7E%28%7E%27OPEN%7E%27IN_PROGRESS%29%29%7Eseverity%7E%28equals%7E%28%7E%27CRITICAL%29%29%29%7EgroupBy%7E%27none%29" TargetMode="External"/><Relationship Id="rId9" Type="http://schemas.openxmlformats.org/officeDocument/2006/relationships/hyperlink" Target="https://app.wiz.io/issues#%7E%28filters%7E%28status%7E%28equals%7E%28%7E%27RESOLVED%29%29%7Eseverity%7E%28equals%7E%28%7E%27HIGH%29%29%29%7EgroupBy%7E%27none%29" TargetMode="External"/><Relationship Id="rId5" Type="http://schemas.openxmlformats.org/officeDocument/2006/relationships/hyperlink" Target="https://app.wiz.io/issues#%7E%28filters%7E%28status%7E%28equals%7E%28%7E%27RESOLVED%29%29%7Eseverity%7E%28equals%7E%28%7E%27CRITICAL%29%29%29%7EgroupBy%7E%27none%29" TargetMode="External"/><Relationship Id="rId6" Type="http://schemas.openxmlformats.org/officeDocument/2006/relationships/hyperlink" Target="https://app.wiz.io/issues#%7E%28filters%7E%28status%7E%28equals%7E%28%7E%27RESOLVED%29%29%7Eseverity%7E%28equals%7E%28%7E%27CRITICAL%29%29%29%7EgroupBy%7E%27none%29" TargetMode="External"/><Relationship Id="rId7" Type="http://schemas.openxmlformats.org/officeDocument/2006/relationships/hyperlink" Target="https://app.wiz.io/issues#%7E%28filters%7E%28status%7E%28equals%7E%28%7E%27OPEN%7E%27IN_PROGRESS%29%29%7Eseverity%7E%28equals%7E%28%7E%27HIGH%29%29%29%7EgroupBy%7E%27none%29" TargetMode="External"/><Relationship Id="rId8" Type="http://schemas.openxmlformats.org/officeDocument/2006/relationships/hyperlink" Target="https://app.wiz.io/issues#%7E%28filters%7E%28status%7E%28equals%7E%28%7E%27RESOLVED%29%29%7Eseverity%7E%28equals%7E%28%7E%27HIGH%29%29%29%7EgroupBy%7E%27none%29" TargetMode="External"/><Relationship Id="rId11" Type="http://schemas.openxmlformats.org/officeDocument/2006/relationships/hyperlink" Target="https://app.wiz.io/boards/ai-security" TargetMode="External"/><Relationship Id="rId10" Type="http://schemas.openxmlformats.org/officeDocument/2006/relationships/hyperlink" Target="https://app.wiz.io/issues#%7E%28filters%7E%28status%7E%28equals%7E%28%7E%27REJECTED%29%29%29%7EgroupBy%7E%27none%29" TargetMode="External"/><Relationship Id="rId13" Type="http://schemas.openxmlformats.org/officeDocument/2006/relationships/hyperlink" Target="https://app.wiz.io/boards/security-operations#%7E%28filters%7E%28timestamp%7E%28dateRange%7E%28past%7E%28unit%7E%27day%7Eamount%7E30%29%29%29%29%29" TargetMode="External"/><Relationship Id="rId12" Type="http://schemas.openxmlformats.org/officeDocument/2006/relationships/image" Target="../media/image44.png"/><Relationship Id="rId15" Type="http://schemas.openxmlformats.org/officeDocument/2006/relationships/hyperlink" Target="https://app.wiz.io/threats#%7E%28filters%7E%28status%7E%28equals%7E%28%7E%27OPEN%7E%27IN_PROGRESS%29%29%7EcreatedAt%7E%28dateRange%7E%28past%7E%28amount%7E30%7Eunit%7E%27day%29%29%29%29%29" TargetMode="External"/><Relationship Id="rId14" Type="http://schemas.openxmlformats.org/officeDocument/2006/relationships/hyperlink" Target="https://app.wiz.io/boards/security-operations#%7E%28filters%7E%28timestamp%7E%28dateRange%7E%28past%7E%28unit%7E%27day%7Eamount%7E30%29%29%29%29%29" TargetMode="External"/><Relationship Id="rId17" Type="http://schemas.openxmlformats.org/officeDocument/2006/relationships/image" Target="../media/image64.png"/><Relationship Id="rId16" Type="http://schemas.openxmlformats.org/officeDocument/2006/relationships/image" Target="../media/image5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44.png"/><Relationship Id="rId4" Type="http://schemas.openxmlformats.org/officeDocument/2006/relationships/image" Target="../media/image50.png"/><Relationship Id="rId9" Type="http://schemas.openxmlformats.org/officeDocument/2006/relationships/hyperlink" Target="https://app.wiz.io/issues?filters=%7B%22status%22%3A%7B%22equals%22%3A%5B%22OPEN%22%2C%22IN_PROGRESS%22%5D%7D%2C%22severity%22%3A%7B%22equals%22%3A%5B%22HIGH%22%5D%7D%7D&amp;groupOrderBy=%5B%22SEVERITY%22%2C%22DESC%22%5D" TargetMode="External"/><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hyperlink" Target="https://app.wiz.io/issues?filters=%7B%22status%22%3A%7B%22equals%22%3A%5B%22OPEN%22%2C%22IN_PROGRESS%22%5D%7D%2C%22severity%22%3A%7B%22equals%22%3A%5B%22CRITICAL%22%5D%7D%7D&amp;groupOrderBy=%5B%22SEVERITY%22%2C%22DESC%22%5D" TargetMode="External"/><Relationship Id="rId8" Type="http://schemas.openxmlformats.org/officeDocument/2006/relationships/hyperlink" Target="https://app.wiz.io/inventory/kubernetes-clusters" TargetMode="External"/><Relationship Id="rId10" Type="http://schemas.openxmlformats.org/officeDocument/2006/relationships/hyperlink" Target="https://app.wiz.io/inventory/kubernetes-cluster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2.png"/><Relationship Id="rId4" Type="http://schemas.openxmlformats.org/officeDocument/2006/relationships/image" Target="../media/image19.png"/><Relationship Id="rId5" Type="http://schemas.openxmlformats.org/officeDocument/2006/relationships/image" Target="../media/image26.png"/></Relationships>
</file>

<file path=ppt/slides/_rels/slide15.xml.rels><?xml version="1.0" encoding="UTF-8" standalone="yes"?><Relationships xmlns="http://schemas.openxmlformats.org/package/2006/relationships"><Relationship Id="rId20" Type="http://schemas.openxmlformats.org/officeDocument/2006/relationships/hyperlink" Target="https://app.wiz.io/inventory/container-registries#%7E%28filters%7E%28connectionType%7E%28equals%7E%28%7E%27STANDALONE%29%29%29%29" TargetMode="External"/><Relationship Id="rId22" Type="http://schemas.openxmlformats.org/officeDocument/2006/relationships/hyperlink" Target="https://app.wiz.io/inventory/container-registries#%7E%28filters%7E%28scanningConfigurationType%7E%28equals%7E%28%7E%27CUSTOM%29%29%29%29" TargetMode="External"/><Relationship Id="rId21" Type="http://schemas.openxmlformats.org/officeDocument/2006/relationships/hyperlink" Target="https://app.wiz.io/inventory/container-registries#%7E%28filters%7E%28connectionType%7E%28equals%7E%28%7E%27AUTOMATIC%29%29%29%29" TargetMode="External"/><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hyperlink" Target="https://app.wiz.io/inventory/kubernetes-clusters" TargetMode="External"/><Relationship Id="rId4" Type="http://schemas.openxmlformats.org/officeDocument/2006/relationships/hyperlink" Target="https://app.wiz.io/inventory/kubernetes-clusters" TargetMode="External"/><Relationship Id="rId9" Type="http://schemas.openxmlformats.org/officeDocument/2006/relationships/hyperlink" Target="https://app.wiz.io/inventory/containers/images" TargetMode="External"/><Relationship Id="rId5" Type="http://schemas.openxmlformats.org/officeDocument/2006/relationships/hyperlink" Target="https://app.wiz.io/inventory/kubernetes-clusters" TargetMode="External"/><Relationship Id="rId6"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Installed%29%29%29%29" TargetMode="External"/><Relationship Id="rId7"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dmissionController_deploymentStatus%7E%28EQUALS%7E%28%7E%27Installed%29%29%29%29" TargetMode="External"/><Relationship Id="rId8" Type="http://schemas.openxmlformats.org/officeDocument/2006/relationships/hyperlink" Target="https://app.wiz.io/inventory/containers/images" TargetMode="External"/><Relationship Id="rId11" Type="http://schemas.openxmlformats.org/officeDocument/2006/relationships/hyperlink" Target="https://app.wiz.io/inventory/container-registries" TargetMode="External"/><Relationship Id="rId10" Type="http://schemas.openxmlformats.org/officeDocument/2006/relationships/hyperlink" Target="https://app.wiz.io/inventory/containers/images" TargetMode="External"/><Relationship Id="rId13"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Installed%29%29%29%29" TargetMode="External"/><Relationship Id="rId12" Type="http://schemas.openxmlformats.org/officeDocument/2006/relationships/hyperlink" Target="https://app.wiz.io/inventory/container-registries" TargetMode="External"/><Relationship Id="rId15" Type="http://schemas.openxmlformats.org/officeDocument/2006/relationships/hyperlink" Target="https://app.wiz.io/inventory/kubernetes-clusters#%7E%28filters%7E%28property*3aaccessibleFrom.internet%7E%28EQUALS%7Etrue%29%29%29" TargetMode="External"/><Relationship Id="rId14"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Installed%29%29%29%29" TargetMode="External"/><Relationship Id="rId17"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NotInstalled%29%29%29%29" TargetMode="External"/><Relationship Id="rId16"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NotInstalled%29%29%29%29" TargetMode="External"/><Relationship Id="rId19" Type="http://schemas.openxmlformats.org/officeDocument/2006/relationships/image" Target="../media/image63.png"/><Relationship Id="rId18"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NotInstalled%29%29%29%2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19.png"/><Relationship Id="rId5"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hyperlink" Target="https://app.wiz.io/settings/scanners/cloud-configuration" TargetMode="External"/><Relationship Id="rId4" Type="http://schemas.openxmlformats.org/officeDocument/2006/relationships/hyperlink" Target="https://app.wiz.io/settings/scanners/cloud-configuration" TargetMode="External"/><Relationship Id="rId9"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settings/scanners/file-integrity-monitoring" TargetMode="External"/><Relationship Id="rId6" Type="http://schemas.openxmlformats.org/officeDocument/2006/relationships/hyperlink" Target="https://app.wiz.io/settings/scanners/workload-scanner" TargetMode="External"/><Relationship Id="rId7" Type="http://schemas.openxmlformats.org/officeDocument/2006/relationships/hyperlink" Target="https://app.wiz.io/boards/security-operations#%7E%28filters%7E%28timestamp%7E%28dateRange%7E%28past%7E%28unit%7E%27day%7Eamount%7E30%29%29%29%29%29" TargetMode="External"/><Relationship Id="rId8" Type="http://schemas.openxmlformats.org/officeDocument/2006/relationships/hyperlink" Target="https://app.wiz.io/settings/scanners/attack-surface" TargetMode="External"/><Relationship Id="rId10" Type="http://schemas.openxmlformats.org/officeDocument/2006/relationships/image" Target="../media/image5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56.png"/><Relationship Id="rId4" Type="http://schemas.openxmlformats.org/officeDocument/2006/relationships/hyperlink" Target="https://app.wiz.io/settings/scanners/vulnerability-scanning" TargetMode="External"/><Relationship Id="rId5" Type="http://schemas.openxmlformats.org/officeDocument/2006/relationships/hyperlink" Target="https://app.wiz.io/boards/security-operations#%7E%28filters%7E%28timestamp%7E%28dateRange%7E%28past%7E%28unit%7E%27day%7Eamount%7E30%29%29%29%29%29" TargetMode="External"/><Relationship Id="rId6" Type="http://schemas.openxmlformats.org/officeDocument/2006/relationships/hyperlink" Target="https://app.wiz.io/settings/scanners/data-security" TargetMode="External"/><Relationship Id="rId7" Type="http://schemas.openxmlformats.org/officeDocument/2006/relationships/hyperlink" Target="https://app.wiz.io/boards/security-operations#%7E%28filters%7E%28timestamp%7E%28dateRange%7E%28past%7E%28unit%7E%27day%7Eamount%7E30%29%29%29%29%29"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4"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5"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 Id="rId6"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 Id="rId7"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 Id="rId8"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9.png"/><Relationship Id="rId4" Type="http://schemas.openxmlformats.org/officeDocument/2006/relationships/image" Target="../media/image45.png"/><Relationship Id="rId5" Type="http://schemas.openxmlformats.org/officeDocument/2006/relationships/image" Target="../media/image61.png"/><Relationship Id="rId6"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9.png"/><Relationship Id="rId4" Type="http://schemas.openxmlformats.org/officeDocument/2006/relationships/image" Target="../media/image60.png"/><Relationship Id="rId9" Type="http://schemas.openxmlformats.org/officeDocument/2006/relationships/image" Target="../media/image62.png"/><Relationship Id="rId5" Type="http://schemas.openxmlformats.org/officeDocument/2006/relationships/image" Target="../media/image67.png"/><Relationship Id="rId6" Type="http://schemas.openxmlformats.org/officeDocument/2006/relationships/image" Target="../media/image69.png"/><Relationship Id="rId7" Type="http://schemas.openxmlformats.org/officeDocument/2006/relationships/image" Target="../media/image68.png"/><Relationship Id="rId8" Type="http://schemas.openxmlformats.org/officeDocument/2006/relationships/image" Target="../media/image65.png"/><Relationship Id="rId10"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59.png"/><Relationship Id="rId4" Type="http://schemas.openxmlformats.org/officeDocument/2006/relationships/image" Target="../media/image45.png"/><Relationship Id="rId5" Type="http://schemas.openxmlformats.org/officeDocument/2006/relationships/image" Target="../media/image61.png"/><Relationship Id="rId6" Type="http://schemas.openxmlformats.org/officeDocument/2006/relationships/image" Target="../media/image5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7.png"/><Relationship Id="rId6" Type="http://schemas.openxmlformats.org/officeDocument/2006/relationships/image" Target="../media/image6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47"/>
          <p:cNvSpPr txBox="1"/>
          <p:nvPr/>
        </p:nvSpPr>
        <p:spPr>
          <a:xfrm>
            <a:off x="250594" y="1969767"/>
            <a:ext cx="3854969" cy="900216"/>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3200"/>
              <a:buFont typeface="Arial"/>
              <a:buNone/>
            </a:pPr>
            <a:r>
              <a:rPr b="0" i="0" lang="en" sz="2700" u="none" cap="none" strike="noStrike">
                <a:solidFill>
                  <a:schemeClr val="lt1"/>
                </a:solidFill>
                <a:latin typeface="Calibri"/>
                <a:ea typeface="Calibri"/>
                <a:cs typeface="Calibri"/>
                <a:sym typeface="Calibri"/>
              </a:rPr>
              <a:t>Tenant Health Assessment </a:t>
            </a:r>
            <a:br>
              <a:rPr b="0" i="0" lang="en" sz="2700" u="none" cap="none" strike="noStrike">
                <a:solidFill>
                  <a:schemeClr val="lt1"/>
                </a:solidFill>
                <a:latin typeface="Calibri"/>
                <a:ea typeface="Calibri"/>
                <a:cs typeface="Calibri"/>
                <a:sym typeface="Calibri"/>
              </a:rPr>
            </a:br>
            <a:r>
              <a:rPr b="0" i="0" lang="en" sz="2700" u="none" cap="none" strike="noStrike">
                <a:solidFill>
                  <a:schemeClr val="lt1"/>
                </a:solidFill>
                <a:latin typeface="Calibri"/>
                <a:ea typeface="Calibri"/>
                <a:cs typeface="Calibri"/>
                <a:sym typeface="Calibri"/>
              </a:rPr>
              <a:t>{{Customer}}</a:t>
            </a:r>
            <a:endParaRPr b="0" i="0" sz="2700" u="none" cap="none" strike="noStrike">
              <a:solidFill>
                <a:srgbClr val="000000"/>
              </a:solidFill>
              <a:latin typeface="Calibri"/>
              <a:ea typeface="Calibri"/>
              <a:cs typeface="Calibri"/>
              <a:sym typeface="Calibri"/>
            </a:endParaRPr>
          </a:p>
        </p:txBody>
      </p:sp>
      <p:sp>
        <p:nvSpPr>
          <p:cNvPr id="238" name="Google Shape;238;p47"/>
          <p:cNvSpPr txBox="1"/>
          <p:nvPr/>
        </p:nvSpPr>
        <p:spPr>
          <a:xfrm>
            <a:off x="318791" y="3217425"/>
            <a:ext cx="4026300" cy="5310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500" u="none" cap="none" strike="noStrike">
              <a:solidFill>
                <a:schemeClr val="lt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800"/>
              <a:buFont typeface="Arial"/>
              <a:buNone/>
            </a:pPr>
            <a:r>
              <a:rPr b="0" i="0" lang="en" sz="1500" u="none" cap="none" strike="noStrike">
                <a:solidFill>
                  <a:schemeClr val="lt1"/>
                </a:solidFill>
                <a:latin typeface="Calibri"/>
                <a:ea typeface="Calibri"/>
                <a:cs typeface="Calibri"/>
                <a:sym typeface="Calibri"/>
              </a:rPr>
              <a:t>{Date}</a:t>
            </a:r>
            <a:endParaRPr b="0" i="0" sz="1500" u="none" cap="none" strike="noStrike">
              <a:solidFill>
                <a:schemeClr val="lt1"/>
              </a:solidFill>
              <a:latin typeface="Calibri"/>
              <a:ea typeface="Calibri"/>
              <a:cs typeface="Calibri"/>
              <a:sym typeface="Calibri"/>
            </a:endParaRPr>
          </a:p>
        </p:txBody>
      </p:sp>
      <p:pic>
        <p:nvPicPr>
          <p:cNvPr id="239" name="Google Shape;239;p47" title="opening_photo.png"/>
          <p:cNvPicPr preferRelativeResize="0"/>
          <p:nvPr/>
        </p:nvPicPr>
        <p:blipFill rotWithShape="1">
          <a:blip r:embed="rId3">
            <a:alphaModFix/>
          </a:blip>
          <a:srcRect b="0" l="0" r="0" t="0"/>
          <a:stretch/>
        </p:blipFill>
        <p:spPr>
          <a:xfrm>
            <a:off x="4256533" y="1409675"/>
            <a:ext cx="4306800" cy="2143875"/>
          </a:xfrm>
          <a:prstGeom prst="rect">
            <a:avLst/>
          </a:prstGeom>
          <a:noFill/>
          <a:ln>
            <a:noFill/>
          </a:ln>
        </p:spPr>
      </p:pic>
      <p:pic>
        <p:nvPicPr>
          <p:cNvPr id="240" name="Google Shape;240;p47" title="cloud.png"/>
          <p:cNvPicPr preferRelativeResize="0"/>
          <p:nvPr/>
        </p:nvPicPr>
        <p:blipFill rotWithShape="1">
          <a:blip r:embed="rId4">
            <a:alphaModFix/>
          </a:blip>
          <a:srcRect b="0" l="0" r="0" t="0"/>
          <a:stretch/>
        </p:blipFill>
        <p:spPr>
          <a:xfrm>
            <a:off x="6699300" y="3318246"/>
            <a:ext cx="2444700" cy="1825254"/>
          </a:xfrm>
          <a:prstGeom prst="rect">
            <a:avLst/>
          </a:prstGeom>
          <a:noFill/>
          <a:ln>
            <a:noFill/>
          </a:ln>
        </p:spPr>
      </p:pic>
      <p:pic>
        <p:nvPicPr>
          <p:cNvPr id="241" name="Google Shape;241;p47" title="logo.png"/>
          <p:cNvPicPr preferRelativeResize="0"/>
          <p:nvPr/>
        </p:nvPicPr>
        <p:blipFill rotWithShape="1">
          <a:blip r:embed="rId5">
            <a:alphaModFix/>
          </a:blip>
          <a:srcRect b="0" l="0" r="0" t="0"/>
          <a:stretch/>
        </p:blipFill>
        <p:spPr>
          <a:xfrm>
            <a:off x="548202" y="1143475"/>
            <a:ext cx="637001" cy="304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48"/>
          <p:cNvSpPr txBox="1"/>
          <p:nvPr/>
        </p:nvSpPr>
        <p:spPr>
          <a:xfrm>
            <a:off x="6799450" y="3366600"/>
            <a:ext cx="2010300" cy="177538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248" name="Google Shape;248;p48"/>
          <p:cNvSpPr txBox="1"/>
          <p:nvPr/>
        </p:nvSpPr>
        <p:spPr>
          <a:xfrm>
            <a:off x="799800" y="4353432"/>
            <a:ext cx="2010300" cy="789941"/>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249" name="Google Shape;249;p48"/>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250" name="Google Shape;250;p48"/>
          <p:cNvSpPr txBox="1"/>
          <p:nvPr/>
        </p:nvSpPr>
        <p:spPr>
          <a:xfrm>
            <a:off x="2815700" y="4060176"/>
            <a:ext cx="1987500" cy="1083324"/>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cxnSp>
        <p:nvCxnSpPr>
          <p:cNvPr id="251" name="Google Shape;251;p48"/>
          <p:cNvCxnSpPr/>
          <p:nvPr/>
        </p:nvCxnSpPr>
        <p:spPr>
          <a:xfrm rot="10800000">
            <a:off x="2813100" y="2136400"/>
            <a:ext cx="7761" cy="3005580"/>
          </a:xfrm>
          <a:prstGeom prst="straightConnector1">
            <a:avLst/>
          </a:prstGeom>
          <a:noFill/>
          <a:ln cap="flat" cmpd="sng" w="9525">
            <a:solidFill>
              <a:srgbClr val="0254EC"/>
            </a:solidFill>
            <a:prstDash val="solid"/>
            <a:round/>
            <a:headEnd len="sm" w="sm" type="none"/>
            <a:tailEnd len="sm" w="sm" type="none"/>
          </a:ln>
        </p:spPr>
      </p:cxnSp>
      <p:cxnSp>
        <p:nvCxnSpPr>
          <p:cNvPr id="252" name="Google Shape;252;p48"/>
          <p:cNvCxnSpPr/>
          <p:nvPr/>
        </p:nvCxnSpPr>
        <p:spPr>
          <a:xfrm rot="10800000">
            <a:off x="4804975" y="1525650"/>
            <a:ext cx="0" cy="3616330"/>
          </a:xfrm>
          <a:prstGeom prst="straightConnector1">
            <a:avLst/>
          </a:prstGeom>
          <a:noFill/>
          <a:ln cap="flat" cmpd="sng" w="9525">
            <a:solidFill>
              <a:srgbClr val="0254EC"/>
            </a:solidFill>
            <a:prstDash val="solid"/>
            <a:round/>
            <a:headEnd len="sm" w="sm" type="none"/>
            <a:tailEnd len="sm" w="sm" type="none"/>
          </a:ln>
        </p:spPr>
      </p:cxnSp>
      <p:cxnSp>
        <p:nvCxnSpPr>
          <p:cNvPr id="253" name="Google Shape;253;p48"/>
          <p:cNvCxnSpPr/>
          <p:nvPr/>
        </p:nvCxnSpPr>
        <p:spPr>
          <a:xfrm rot="10800000">
            <a:off x="6804675" y="910700"/>
            <a:ext cx="7760" cy="4245462"/>
          </a:xfrm>
          <a:prstGeom prst="straightConnector1">
            <a:avLst/>
          </a:prstGeom>
          <a:noFill/>
          <a:ln cap="flat" cmpd="sng" w="9525">
            <a:solidFill>
              <a:srgbClr val="0254EC"/>
            </a:solidFill>
            <a:prstDash val="solid"/>
            <a:round/>
            <a:headEnd len="sm" w="sm" type="none"/>
            <a:tailEnd len="sm" w="sm" type="none"/>
          </a:ln>
        </p:spPr>
      </p:cxnSp>
      <p:cxnSp>
        <p:nvCxnSpPr>
          <p:cNvPr id="254" name="Google Shape;254;p48"/>
          <p:cNvCxnSpPr/>
          <p:nvPr/>
        </p:nvCxnSpPr>
        <p:spPr>
          <a:xfrm flipH="1" rot="10800000">
            <a:off x="983850" y="193650"/>
            <a:ext cx="8194200" cy="2507100"/>
          </a:xfrm>
          <a:prstGeom prst="straightConnector1">
            <a:avLst/>
          </a:prstGeom>
          <a:noFill/>
          <a:ln cap="flat" cmpd="sng" w="9525">
            <a:solidFill>
              <a:srgbClr val="0254EC"/>
            </a:solidFill>
            <a:prstDash val="lgDash"/>
            <a:round/>
            <a:headEnd len="sm" w="sm" type="none"/>
            <a:tailEnd len="sm" w="sm" type="none"/>
          </a:ln>
        </p:spPr>
      </p:cxnSp>
      <p:cxnSp>
        <p:nvCxnSpPr>
          <p:cNvPr id="255" name="Google Shape;255;p48"/>
          <p:cNvCxnSpPr/>
          <p:nvPr/>
        </p:nvCxnSpPr>
        <p:spPr>
          <a:xfrm rot="10800000">
            <a:off x="807946" y="2752144"/>
            <a:ext cx="0" cy="2399400"/>
          </a:xfrm>
          <a:prstGeom prst="straightConnector1">
            <a:avLst/>
          </a:prstGeom>
          <a:noFill/>
          <a:ln cap="flat" cmpd="sng" w="9525">
            <a:solidFill>
              <a:srgbClr val="0254EC"/>
            </a:solidFill>
            <a:prstDash val="solid"/>
            <a:round/>
            <a:headEnd len="sm" w="sm" type="none"/>
            <a:tailEnd len="sm" w="sm" type="none"/>
          </a:ln>
        </p:spPr>
      </p:cxnSp>
      <p:pic>
        <p:nvPicPr>
          <p:cNvPr id="256" name="Google Shape;256;p48" title="Hardening_infinity.png"/>
          <p:cNvPicPr preferRelativeResize="0"/>
          <p:nvPr/>
        </p:nvPicPr>
        <p:blipFill rotWithShape="1">
          <a:blip r:embed="rId3">
            <a:alphaModFix/>
          </a:blip>
          <a:srcRect b="0" l="0" r="0" t="0"/>
          <a:stretch/>
        </p:blipFill>
        <p:spPr>
          <a:xfrm rot="-964393">
            <a:off x="4764150" y="359985"/>
            <a:ext cx="2802000" cy="1505395"/>
          </a:xfrm>
          <a:prstGeom prst="rect">
            <a:avLst/>
          </a:prstGeom>
          <a:noFill/>
          <a:ln>
            <a:noFill/>
          </a:ln>
        </p:spPr>
      </p:pic>
      <p:sp>
        <p:nvSpPr>
          <p:cNvPr id="257" name="Google Shape;257;p48"/>
          <p:cNvSpPr txBox="1"/>
          <p:nvPr/>
        </p:nvSpPr>
        <p:spPr>
          <a:xfrm>
            <a:off x="6914847" y="1709849"/>
            <a:ext cx="1575300" cy="3462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rgbClr val="001741"/>
              </a:buClr>
              <a:buSzPts val="900"/>
              <a:buFont typeface="DM Sans Medium"/>
              <a:buNone/>
            </a:pPr>
            <a:r>
              <a:rPr b="0" i="0" lang="en" sz="900" u="none" cap="none" strike="noStrike">
                <a:solidFill>
                  <a:schemeClr val="dk1"/>
                </a:solidFill>
                <a:latin typeface="Calibri"/>
                <a:ea typeface="Calibri"/>
                <a:cs typeface="Calibri"/>
                <a:sym typeface="Calibri"/>
              </a:rPr>
              <a:t>EMBED AND AUTOMATE SECURITY</a:t>
            </a:r>
            <a:endParaRPr b="0" i="0" sz="900" u="none" cap="none" strike="noStrike">
              <a:solidFill>
                <a:schemeClr val="dk1"/>
              </a:solidFill>
              <a:latin typeface="Calibri"/>
              <a:ea typeface="Calibri"/>
              <a:cs typeface="Calibri"/>
              <a:sym typeface="Calibri"/>
            </a:endParaRPr>
          </a:p>
        </p:txBody>
      </p:sp>
      <p:sp>
        <p:nvSpPr>
          <p:cNvPr id="258" name="Google Shape;258;p48"/>
          <p:cNvSpPr txBox="1"/>
          <p:nvPr/>
        </p:nvSpPr>
        <p:spPr>
          <a:xfrm>
            <a:off x="6810800" y="2070322"/>
            <a:ext cx="1811700" cy="1320300"/>
          </a:xfrm>
          <a:prstGeom prst="rect">
            <a:avLst/>
          </a:prstGeom>
          <a:noFill/>
          <a:ln>
            <a:noFill/>
          </a:ln>
        </p:spPr>
        <p:txBody>
          <a:bodyPr anchorCtr="0" anchor="t" bIns="34275" lIns="68575" spcFirstLastPara="1" rIns="68575" wrap="square" tIns="34275">
            <a:normAutofit/>
          </a:bodyPr>
          <a:lstStyle/>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Enforce security policies consistently across cloud, code, and runtime</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Automate remediation and security lifecycle actions with automation rules</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Continuously reduce risk without manual intervention</a:t>
            </a:r>
            <a:endParaRPr b="0" i="0" sz="800" u="none" cap="none" strike="noStrike">
              <a:solidFill>
                <a:srgbClr val="01123F"/>
              </a:solidFill>
              <a:latin typeface="Calibri"/>
              <a:ea typeface="Calibri"/>
              <a:cs typeface="Calibri"/>
              <a:sym typeface="Calibri"/>
            </a:endParaRPr>
          </a:p>
        </p:txBody>
      </p:sp>
      <p:sp>
        <p:nvSpPr>
          <p:cNvPr id="259" name="Google Shape;259;p48"/>
          <p:cNvSpPr txBox="1"/>
          <p:nvPr/>
        </p:nvSpPr>
        <p:spPr>
          <a:xfrm>
            <a:off x="5006084" y="2154770"/>
            <a:ext cx="1575300" cy="3462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rgbClr val="001741"/>
              </a:buClr>
              <a:buSzPts val="900"/>
              <a:buFont typeface="DM Sans Medium"/>
              <a:buNone/>
            </a:pPr>
            <a:r>
              <a:rPr b="0" i="0" lang="en" sz="900" u="none" cap="none" strike="noStrike">
                <a:solidFill>
                  <a:schemeClr val="dk1"/>
                </a:solidFill>
                <a:latin typeface="Calibri"/>
                <a:ea typeface="Calibri"/>
                <a:cs typeface="Calibri"/>
                <a:sym typeface="Calibri"/>
              </a:rPr>
              <a:t>SELF SERVICE SECURITY FOR DEVELOPERS</a:t>
            </a:r>
            <a:endParaRPr b="0" i="0" sz="900" u="none" cap="none" strike="noStrike">
              <a:solidFill>
                <a:schemeClr val="dk1"/>
              </a:solidFill>
              <a:latin typeface="Calibri"/>
              <a:ea typeface="Calibri"/>
              <a:cs typeface="Calibri"/>
              <a:sym typeface="Calibri"/>
            </a:endParaRPr>
          </a:p>
        </p:txBody>
      </p:sp>
      <p:sp>
        <p:nvSpPr>
          <p:cNvPr id="260" name="Google Shape;260;p48"/>
          <p:cNvSpPr txBox="1"/>
          <p:nvPr/>
        </p:nvSpPr>
        <p:spPr>
          <a:xfrm>
            <a:off x="4902050" y="2498816"/>
            <a:ext cx="1811700" cy="1149900"/>
          </a:xfrm>
          <a:prstGeom prst="rect">
            <a:avLst/>
          </a:prstGeom>
          <a:noFill/>
          <a:ln>
            <a:noFill/>
          </a:ln>
        </p:spPr>
        <p:txBody>
          <a:bodyPr anchorCtr="0" anchor="t" bIns="34275" lIns="68575" spcFirstLastPara="1" rIns="68575" wrap="square" tIns="34275">
            <a:normAutofit/>
          </a:bodyPr>
          <a:lstStyle/>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Enable developers to identify  and remediate risk independently</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Deliver security context       directly into engineering processes with Workflows, integrations, and WizExtend</a:t>
            </a:r>
            <a:endParaRPr b="0" i="0" sz="800" u="none" cap="none" strike="noStrike">
              <a:solidFill>
                <a:srgbClr val="01123F"/>
              </a:solidFill>
              <a:latin typeface="Calibri"/>
              <a:ea typeface="Calibri"/>
              <a:cs typeface="Calibri"/>
              <a:sym typeface="Calibri"/>
            </a:endParaRPr>
          </a:p>
        </p:txBody>
      </p:sp>
      <p:sp>
        <p:nvSpPr>
          <p:cNvPr id="261" name="Google Shape;261;p48"/>
          <p:cNvSpPr txBox="1"/>
          <p:nvPr/>
        </p:nvSpPr>
        <p:spPr>
          <a:xfrm>
            <a:off x="3007225" y="2579120"/>
            <a:ext cx="1668300" cy="3462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chemeClr val="dk1"/>
              </a:buClr>
              <a:buSzPts val="1100"/>
              <a:buFont typeface="Arial"/>
              <a:buNone/>
            </a:pPr>
            <a:r>
              <a:rPr b="0" i="0" lang="en" sz="900" u="none" cap="none" strike="noStrike">
                <a:solidFill>
                  <a:schemeClr val="dk1"/>
                </a:solidFill>
                <a:latin typeface="Calibri"/>
                <a:ea typeface="Calibri"/>
                <a:cs typeface="Calibri"/>
                <a:sym typeface="Calibri"/>
              </a:rPr>
              <a:t>SHARED SECURITY CONTEXT WITH ENGINEERING</a:t>
            </a:r>
            <a:endParaRPr b="0" i="0" sz="900" u="none" cap="none" strike="noStrike">
              <a:solidFill>
                <a:schemeClr val="dk1"/>
              </a:solidFill>
              <a:latin typeface="Calibri"/>
              <a:ea typeface="Calibri"/>
              <a:cs typeface="Calibri"/>
              <a:sym typeface="Calibri"/>
            </a:endParaRPr>
          </a:p>
        </p:txBody>
      </p:sp>
      <p:sp>
        <p:nvSpPr>
          <p:cNvPr id="262" name="Google Shape;262;p48"/>
          <p:cNvSpPr txBox="1"/>
          <p:nvPr/>
        </p:nvSpPr>
        <p:spPr>
          <a:xfrm>
            <a:off x="2903200" y="2920169"/>
            <a:ext cx="1811700" cy="1149900"/>
          </a:xfrm>
          <a:prstGeom prst="rect">
            <a:avLst/>
          </a:prstGeom>
          <a:noFill/>
          <a:ln>
            <a:noFill/>
          </a:ln>
        </p:spPr>
        <p:txBody>
          <a:bodyPr anchorCtr="0" anchor="t" bIns="34275" lIns="68575" spcFirstLastPara="1" rIns="68575" wrap="square" tIns="34275">
            <a:normAutofit/>
          </a:bodyPr>
          <a:lstStyle/>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Map issues to an owner, application, or environment via Projects and Service Catalog</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Prioritize issues by business context and real exposure</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Align security and engineering on what matters most</a:t>
            </a:r>
            <a:endParaRPr b="0" i="0" sz="800" u="none" cap="none" strike="noStrike">
              <a:solidFill>
                <a:srgbClr val="01123F"/>
              </a:solidFill>
              <a:latin typeface="Calibri"/>
              <a:ea typeface="Calibri"/>
              <a:cs typeface="Calibri"/>
              <a:sym typeface="Calibri"/>
            </a:endParaRPr>
          </a:p>
        </p:txBody>
      </p:sp>
      <p:sp>
        <p:nvSpPr>
          <p:cNvPr id="263" name="Google Shape;263;p48"/>
          <p:cNvSpPr txBox="1"/>
          <p:nvPr/>
        </p:nvSpPr>
        <p:spPr>
          <a:xfrm>
            <a:off x="1008697" y="3181396"/>
            <a:ext cx="1575300" cy="3462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chemeClr val="dk1"/>
              </a:buClr>
              <a:buSzPts val="1100"/>
              <a:buFont typeface="Arial"/>
              <a:buNone/>
            </a:pPr>
            <a:r>
              <a:rPr b="0" i="0" lang="en" sz="900" u="none" cap="none" strike="noStrike">
                <a:solidFill>
                  <a:schemeClr val="dk1"/>
                </a:solidFill>
                <a:latin typeface="Calibri"/>
                <a:ea typeface="Calibri"/>
                <a:cs typeface="Calibri"/>
                <a:sym typeface="Calibri"/>
              </a:rPr>
              <a:t>CENTRALIZE SECURITY ACROSS SECURITY TEAMS</a:t>
            </a:r>
            <a:endParaRPr b="0" i="0" sz="900" u="none" cap="none" strike="noStrike">
              <a:solidFill>
                <a:schemeClr val="dk1"/>
              </a:solidFill>
              <a:latin typeface="Calibri"/>
              <a:ea typeface="Calibri"/>
              <a:cs typeface="Calibri"/>
              <a:sym typeface="Calibri"/>
            </a:endParaRPr>
          </a:p>
        </p:txBody>
      </p:sp>
      <p:sp>
        <p:nvSpPr>
          <p:cNvPr id="264" name="Google Shape;264;p48"/>
          <p:cNvSpPr txBox="1"/>
          <p:nvPr/>
        </p:nvSpPr>
        <p:spPr>
          <a:xfrm>
            <a:off x="904675" y="3518334"/>
            <a:ext cx="1890600" cy="1262400"/>
          </a:xfrm>
          <a:prstGeom prst="rect">
            <a:avLst/>
          </a:prstGeom>
          <a:noFill/>
          <a:ln>
            <a:noFill/>
          </a:ln>
        </p:spPr>
        <p:txBody>
          <a:bodyPr anchorCtr="0" anchor="t" bIns="34275" lIns="68575" spcFirstLastPara="1" rIns="68575" wrap="square" tIns="34275">
            <a:normAutofit/>
          </a:bodyPr>
          <a:lstStyle/>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Security ownership is centralized across security teams</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Standardize policies and prioritization across security teams</a:t>
            </a:r>
            <a:endParaRPr b="0" i="0" sz="800" u="none" cap="none" strike="noStrike">
              <a:solidFill>
                <a:srgbClr val="01123F"/>
              </a:solidFill>
              <a:latin typeface="Calibri"/>
              <a:ea typeface="Calibri"/>
              <a:cs typeface="Calibri"/>
              <a:sym typeface="Calibri"/>
            </a:endParaRPr>
          </a:p>
        </p:txBody>
      </p:sp>
      <p:cxnSp>
        <p:nvCxnSpPr>
          <p:cNvPr id="265" name="Google Shape;265;p48"/>
          <p:cNvCxnSpPr/>
          <p:nvPr/>
        </p:nvCxnSpPr>
        <p:spPr>
          <a:xfrm rot="10800000">
            <a:off x="8809850" y="306800"/>
            <a:ext cx="0" cy="4836700"/>
          </a:xfrm>
          <a:prstGeom prst="straightConnector1">
            <a:avLst/>
          </a:prstGeom>
          <a:noFill/>
          <a:ln cap="flat" cmpd="sng" w="9525">
            <a:solidFill>
              <a:srgbClr val="0254EC"/>
            </a:solidFill>
            <a:prstDash val="solid"/>
            <a:round/>
            <a:headEnd len="sm" w="sm" type="none"/>
            <a:tailEnd len="sm" w="sm" type="none"/>
          </a:ln>
        </p:spPr>
      </p:cxnSp>
      <p:sp>
        <p:nvSpPr>
          <p:cNvPr id="266" name="Google Shape;266;p48"/>
          <p:cNvSpPr txBox="1"/>
          <p:nvPr/>
        </p:nvSpPr>
        <p:spPr>
          <a:xfrm>
            <a:off x="6929000" y="3465890"/>
            <a:ext cx="1732800" cy="800189"/>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Goal: Risk is continuously mitigated and remediated by default </a:t>
            </a:r>
            <a:endParaRPr b="0" i="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cxnSp>
        <p:nvCxnSpPr>
          <p:cNvPr id="267" name="Google Shape;267;p48"/>
          <p:cNvCxnSpPr/>
          <p:nvPr/>
        </p:nvCxnSpPr>
        <p:spPr>
          <a:xfrm>
            <a:off x="6804671" y="3366612"/>
            <a:ext cx="2005500" cy="0"/>
          </a:xfrm>
          <a:prstGeom prst="straightConnector1">
            <a:avLst/>
          </a:prstGeom>
          <a:noFill/>
          <a:ln cap="flat" cmpd="sng" w="9525">
            <a:solidFill>
              <a:srgbClr val="0254EC"/>
            </a:solidFill>
            <a:prstDash val="solid"/>
            <a:round/>
            <a:headEnd len="sm" w="sm" type="none"/>
            <a:tailEnd len="sm" w="sm" type="none"/>
          </a:ln>
        </p:spPr>
      </p:cxnSp>
      <p:cxnSp>
        <p:nvCxnSpPr>
          <p:cNvPr id="268" name="Google Shape;268;p48"/>
          <p:cNvCxnSpPr/>
          <p:nvPr/>
        </p:nvCxnSpPr>
        <p:spPr>
          <a:xfrm>
            <a:off x="805008" y="4367296"/>
            <a:ext cx="2005500" cy="0"/>
          </a:xfrm>
          <a:prstGeom prst="straightConnector1">
            <a:avLst/>
          </a:prstGeom>
          <a:noFill/>
          <a:ln cap="flat" cmpd="sng" w="9525">
            <a:solidFill>
              <a:srgbClr val="0254EC"/>
            </a:solidFill>
            <a:prstDash val="solid"/>
            <a:round/>
            <a:headEnd len="sm" w="sm" type="none"/>
            <a:tailEnd len="sm" w="sm" type="none"/>
          </a:ln>
        </p:spPr>
      </p:cxnSp>
      <p:cxnSp>
        <p:nvCxnSpPr>
          <p:cNvPr id="269" name="Google Shape;269;p48"/>
          <p:cNvCxnSpPr/>
          <p:nvPr/>
        </p:nvCxnSpPr>
        <p:spPr>
          <a:xfrm>
            <a:off x="4808759" y="3675191"/>
            <a:ext cx="2000400" cy="0"/>
          </a:xfrm>
          <a:prstGeom prst="straightConnector1">
            <a:avLst/>
          </a:prstGeom>
          <a:noFill/>
          <a:ln cap="flat" cmpd="sng" w="9525">
            <a:solidFill>
              <a:srgbClr val="0254EC"/>
            </a:solidFill>
            <a:prstDash val="solid"/>
            <a:round/>
            <a:headEnd len="sm" w="sm" type="none"/>
            <a:tailEnd len="sm" w="sm" type="none"/>
          </a:ln>
        </p:spPr>
      </p:cxnSp>
      <p:cxnSp>
        <p:nvCxnSpPr>
          <p:cNvPr id="270" name="Google Shape;270;p48"/>
          <p:cNvCxnSpPr/>
          <p:nvPr/>
        </p:nvCxnSpPr>
        <p:spPr>
          <a:xfrm>
            <a:off x="2820861" y="4060188"/>
            <a:ext cx="1982700" cy="0"/>
          </a:xfrm>
          <a:prstGeom prst="straightConnector1">
            <a:avLst/>
          </a:prstGeom>
          <a:noFill/>
          <a:ln cap="flat" cmpd="sng" w="9525">
            <a:solidFill>
              <a:srgbClr val="0254EC"/>
            </a:solidFill>
            <a:prstDash val="solid"/>
            <a:round/>
            <a:headEnd len="sm" w="sm" type="none"/>
            <a:tailEnd len="sm" w="sm" type="none"/>
          </a:ln>
        </p:spPr>
      </p:cxnSp>
      <p:sp>
        <p:nvSpPr>
          <p:cNvPr id="271" name="Google Shape;271;p48"/>
          <p:cNvSpPr txBox="1"/>
          <p:nvPr/>
        </p:nvSpPr>
        <p:spPr>
          <a:xfrm>
            <a:off x="904675" y="4435122"/>
            <a:ext cx="1732800" cy="646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Goal: Full visibility into vulnerabilities across all environments</a:t>
            </a:r>
            <a:endParaRPr b="0" i="0" sz="1000" u="none" cap="none" strike="noStrike">
              <a:solidFill>
                <a:schemeClr val="dk1"/>
              </a:solidFill>
              <a:latin typeface="Calibri"/>
              <a:ea typeface="Calibri"/>
              <a:cs typeface="Calibri"/>
              <a:sym typeface="Calibri"/>
            </a:endParaRPr>
          </a:p>
        </p:txBody>
      </p:sp>
      <p:sp>
        <p:nvSpPr>
          <p:cNvPr id="272" name="Google Shape;272;p48"/>
          <p:cNvSpPr txBox="1"/>
          <p:nvPr/>
        </p:nvSpPr>
        <p:spPr>
          <a:xfrm>
            <a:off x="2942638" y="4164084"/>
            <a:ext cx="1732800" cy="492412"/>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Goal: Engineers have what they need to remediate </a:t>
            </a:r>
            <a:endParaRPr b="0" i="0" sz="1000" u="none" cap="none" strike="noStrike">
              <a:solidFill>
                <a:schemeClr val="dk1"/>
              </a:solidFill>
              <a:latin typeface="Calibri"/>
              <a:ea typeface="Calibri"/>
              <a:cs typeface="Calibri"/>
              <a:sym typeface="Calibri"/>
            </a:endParaRPr>
          </a:p>
        </p:txBody>
      </p:sp>
      <p:sp>
        <p:nvSpPr>
          <p:cNvPr id="273" name="Google Shape;273;p48"/>
          <p:cNvSpPr txBox="1"/>
          <p:nvPr/>
        </p:nvSpPr>
        <p:spPr>
          <a:xfrm>
            <a:off x="4934925" y="3774490"/>
            <a:ext cx="1732800" cy="492412"/>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Goal: Security is a natural part of development</a:t>
            </a:r>
            <a:endParaRPr b="0" i="0" sz="1000" u="none" cap="none" strike="noStrike">
              <a:solidFill>
                <a:schemeClr val="dk1"/>
              </a:solidFill>
              <a:latin typeface="Calibri"/>
              <a:ea typeface="Calibri"/>
              <a:cs typeface="Calibri"/>
              <a:sym typeface="Calibri"/>
            </a:endParaRPr>
          </a:p>
        </p:txBody>
      </p:sp>
      <p:sp>
        <p:nvSpPr>
          <p:cNvPr id="274" name="Google Shape;274;p48"/>
          <p:cNvSpPr/>
          <p:nvPr/>
        </p:nvSpPr>
        <p:spPr>
          <a:xfrm>
            <a:off x="3440152" y="629773"/>
            <a:ext cx="1453800" cy="252300"/>
          </a:xfrm>
          <a:prstGeom prst="roundRect">
            <a:avLst>
              <a:gd fmla="val 50000" name="adj"/>
            </a:avLst>
          </a:prstGeom>
          <a:solidFill>
            <a:srgbClr val="FFFFFF"/>
          </a:solidFill>
          <a:ln cap="flat" cmpd="sng" w="11350">
            <a:solidFill>
              <a:srgbClr val="CADAFF"/>
            </a:solidFill>
            <a:prstDash val="solid"/>
            <a:miter lim="0"/>
            <a:headEnd len="sm" w="sm" type="none"/>
            <a:tailEnd len="sm" w="sm" type="none"/>
          </a:ln>
        </p:spPr>
        <p:txBody>
          <a:bodyPr anchorCtr="0" anchor="t" bIns="30650" lIns="61300" spcFirstLastPara="1" rIns="61300" wrap="square" tIns="30650">
            <a:noAutofit/>
          </a:bodyPr>
          <a:lstStyle/>
          <a:p>
            <a:pPr indent="0" lvl="0" marL="0" marR="0" rtl="0" algn="ctr">
              <a:lnSpc>
                <a:spcPct val="100000"/>
              </a:lnSpc>
              <a:spcBef>
                <a:spcPts val="0"/>
              </a:spcBef>
              <a:spcAft>
                <a:spcPts val="0"/>
              </a:spcAft>
              <a:buClr>
                <a:srgbClr val="0153EB"/>
              </a:buClr>
              <a:buSzPts val="596"/>
              <a:buFont typeface="Calibri"/>
              <a:buNone/>
            </a:pPr>
            <a:r>
              <a:t/>
            </a:r>
            <a:endParaRPr b="1" i="0" sz="596" u="none" cap="none" strike="noStrike">
              <a:solidFill>
                <a:srgbClr val="000000"/>
              </a:solidFill>
              <a:latin typeface="Calibri"/>
              <a:ea typeface="Calibri"/>
              <a:cs typeface="Calibri"/>
              <a:sym typeface="Calibri"/>
            </a:endParaRPr>
          </a:p>
        </p:txBody>
      </p:sp>
      <p:sp>
        <p:nvSpPr>
          <p:cNvPr id="275" name="Google Shape;275;p48"/>
          <p:cNvSpPr txBox="1"/>
          <p:nvPr/>
        </p:nvSpPr>
        <p:spPr>
          <a:xfrm>
            <a:off x="3725258" y="635426"/>
            <a:ext cx="1289400" cy="247800"/>
          </a:xfrm>
          <a:prstGeom prst="rect">
            <a:avLst/>
          </a:prstGeom>
          <a:noFill/>
          <a:ln>
            <a:noFill/>
          </a:ln>
        </p:spPr>
        <p:txBody>
          <a:bodyPr anchorCtr="0" anchor="t" bIns="40875" lIns="0" spcFirstLastPara="1" rIns="81750" wrap="square" tIns="40875">
            <a:spAutoFit/>
          </a:bodyPr>
          <a:lstStyle/>
          <a:p>
            <a:pPr indent="0" lvl="0" marL="0" marR="0" rtl="0" algn="l">
              <a:lnSpc>
                <a:spcPct val="100000"/>
              </a:lnSpc>
              <a:spcBef>
                <a:spcPts val="0"/>
              </a:spcBef>
              <a:spcAft>
                <a:spcPts val="0"/>
              </a:spcAft>
              <a:buClr>
                <a:srgbClr val="0153EB"/>
              </a:buClr>
              <a:buSzPts val="1073"/>
              <a:buFont typeface="DM Sans Medium"/>
              <a:buNone/>
            </a:pPr>
            <a:r>
              <a:rPr b="0" i="0" lang="en" sz="1073" u="none" cap="none" strike="noStrike">
                <a:solidFill>
                  <a:srgbClr val="0153EB"/>
                </a:solidFill>
                <a:latin typeface="Calibri"/>
                <a:ea typeface="Calibri"/>
                <a:cs typeface="Calibri"/>
                <a:sym typeface="Calibri"/>
              </a:rPr>
              <a:t>Where are you?</a:t>
            </a:r>
            <a:endParaRPr b="0" i="0" sz="1311" u="none" cap="none" strike="noStrike">
              <a:solidFill>
                <a:srgbClr val="000000"/>
              </a:solidFill>
              <a:latin typeface="Calibri"/>
              <a:ea typeface="Calibri"/>
              <a:cs typeface="Calibri"/>
              <a:sym typeface="Calibri"/>
            </a:endParaRPr>
          </a:p>
        </p:txBody>
      </p:sp>
      <p:pic>
        <p:nvPicPr>
          <p:cNvPr id="276" name="Google Shape;276;p48" title="icon.png"/>
          <p:cNvPicPr preferRelativeResize="0"/>
          <p:nvPr/>
        </p:nvPicPr>
        <p:blipFill rotWithShape="1">
          <a:blip r:embed="rId4">
            <a:alphaModFix/>
          </a:blip>
          <a:srcRect b="0" l="0" r="0" t="0"/>
          <a:stretch/>
        </p:blipFill>
        <p:spPr>
          <a:xfrm>
            <a:off x="3377536" y="617823"/>
            <a:ext cx="272612" cy="272612"/>
          </a:xfrm>
          <a:prstGeom prst="rect">
            <a:avLst/>
          </a:prstGeom>
          <a:noFill/>
          <a:ln>
            <a:noFill/>
          </a:ln>
        </p:spPr>
      </p:pic>
      <p:pic>
        <p:nvPicPr>
          <p:cNvPr id="277" name="Google Shape;277;p48" title="Group 1000004543_1.png"/>
          <p:cNvPicPr preferRelativeResize="0"/>
          <p:nvPr/>
        </p:nvPicPr>
        <p:blipFill rotWithShape="1">
          <a:blip r:embed="rId5">
            <a:alphaModFix/>
          </a:blip>
          <a:srcRect b="0" l="0" r="0" t="0"/>
          <a:stretch/>
        </p:blipFill>
        <p:spPr>
          <a:xfrm>
            <a:off x="685650" y="2277531"/>
            <a:ext cx="883400" cy="883400"/>
          </a:xfrm>
          <a:prstGeom prst="rect">
            <a:avLst/>
          </a:prstGeom>
          <a:noFill/>
          <a:ln>
            <a:noFill/>
          </a:ln>
        </p:spPr>
      </p:pic>
      <p:pic>
        <p:nvPicPr>
          <p:cNvPr id="278" name="Google Shape;278;p48" title="Group 1000004545.png"/>
          <p:cNvPicPr preferRelativeResize="0"/>
          <p:nvPr/>
        </p:nvPicPr>
        <p:blipFill rotWithShape="1">
          <a:blip r:embed="rId6">
            <a:alphaModFix/>
          </a:blip>
          <a:srcRect b="0" l="0" r="0" t="0"/>
          <a:stretch/>
        </p:blipFill>
        <p:spPr>
          <a:xfrm>
            <a:off x="2702325" y="1693376"/>
            <a:ext cx="883400" cy="883400"/>
          </a:xfrm>
          <a:prstGeom prst="rect">
            <a:avLst/>
          </a:prstGeom>
          <a:noFill/>
          <a:ln>
            <a:noFill/>
          </a:ln>
        </p:spPr>
      </p:pic>
      <p:pic>
        <p:nvPicPr>
          <p:cNvPr id="279" name="Google Shape;279;p48" title="Group 1000004546.png"/>
          <p:cNvPicPr preferRelativeResize="0"/>
          <p:nvPr/>
        </p:nvPicPr>
        <p:blipFill rotWithShape="1">
          <a:blip r:embed="rId7">
            <a:alphaModFix/>
          </a:blip>
          <a:srcRect b="0" l="0" r="0" t="0"/>
          <a:stretch/>
        </p:blipFill>
        <p:spPr>
          <a:xfrm>
            <a:off x="4685600" y="1077600"/>
            <a:ext cx="883400" cy="883400"/>
          </a:xfrm>
          <a:prstGeom prst="rect">
            <a:avLst/>
          </a:prstGeom>
          <a:noFill/>
          <a:ln>
            <a:noFill/>
          </a:ln>
        </p:spPr>
      </p:pic>
      <p:grpSp>
        <p:nvGrpSpPr>
          <p:cNvPr id="280" name="Google Shape;280;p48"/>
          <p:cNvGrpSpPr/>
          <p:nvPr/>
        </p:nvGrpSpPr>
        <p:grpSpPr>
          <a:xfrm>
            <a:off x="6717625" y="465775"/>
            <a:ext cx="883400" cy="883400"/>
            <a:chOff x="6717625" y="465775"/>
            <a:chExt cx="883400" cy="883400"/>
          </a:xfrm>
        </p:grpSpPr>
        <p:pic>
          <p:nvPicPr>
            <p:cNvPr id="281" name="Google Shape;281;p48" title="Group 1000004546.png"/>
            <p:cNvPicPr preferRelativeResize="0"/>
            <p:nvPr/>
          </p:nvPicPr>
          <p:blipFill rotWithShape="1">
            <a:blip r:embed="rId7">
              <a:alphaModFix/>
            </a:blip>
            <a:srcRect b="0" l="0" r="0" t="0"/>
            <a:stretch/>
          </p:blipFill>
          <p:spPr>
            <a:xfrm>
              <a:off x="6717625" y="465775"/>
              <a:ext cx="883400" cy="883400"/>
            </a:xfrm>
            <a:prstGeom prst="rect">
              <a:avLst/>
            </a:prstGeom>
            <a:noFill/>
            <a:ln>
              <a:noFill/>
            </a:ln>
          </p:spPr>
        </p:pic>
        <p:sp>
          <p:nvSpPr>
            <p:cNvPr id="282" name="Google Shape;282;p48"/>
            <p:cNvSpPr/>
            <p:nvPr/>
          </p:nvSpPr>
          <p:spPr>
            <a:xfrm>
              <a:off x="6911825" y="635000"/>
              <a:ext cx="495000" cy="495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pic>
          <p:nvPicPr>
            <p:cNvPr descr="A blue and pink logo&#10;&#10;AI-generated content may be incorrect." id="283" name="Google Shape;283;p48"/>
            <p:cNvPicPr preferRelativeResize="0"/>
            <p:nvPr/>
          </p:nvPicPr>
          <p:blipFill rotWithShape="1">
            <a:blip r:embed="rId8">
              <a:alphaModFix/>
            </a:blip>
            <a:srcRect b="0" l="0" r="0" t="0"/>
            <a:stretch/>
          </p:blipFill>
          <p:spPr>
            <a:xfrm>
              <a:off x="6913025" y="617974"/>
              <a:ext cx="492600" cy="492600"/>
            </a:xfrm>
            <a:prstGeom prst="rect">
              <a:avLst/>
            </a:prstGeom>
            <a:noFill/>
            <a:ln>
              <a:noFill/>
            </a:ln>
          </p:spPr>
        </p:pic>
      </p:grpSp>
      <p:sp>
        <p:nvSpPr>
          <p:cNvPr id="284" name="Google Shape;284;p48"/>
          <p:cNvSpPr txBox="1"/>
          <p:nvPr>
            <p:ph idx="4294967295" type="title"/>
          </p:nvPr>
        </p:nvSpPr>
        <p:spPr>
          <a:xfrm>
            <a:off x="301950" y="201625"/>
            <a:ext cx="2915100" cy="8835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Clr>
                <a:schemeClr val="dk1"/>
              </a:buClr>
              <a:buSzPts val="1800"/>
              <a:buFont typeface="DM Sans"/>
              <a:buNone/>
            </a:pPr>
            <a:r>
              <a:rPr lang="en" sz="2420">
                <a:latin typeface="Calibri"/>
                <a:ea typeface="Calibri"/>
                <a:cs typeface="Calibri"/>
                <a:sym typeface="Calibri"/>
              </a:rPr>
              <a:t>Wiz Adoption &amp; Democratization</a:t>
            </a:r>
            <a:endParaRPr sz="2420">
              <a:latin typeface="Calibri"/>
              <a:ea typeface="Calibri"/>
              <a:cs typeface="Calibri"/>
              <a:sym typeface="Calibri"/>
            </a:endParaRPr>
          </a:p>
          <a:p>
            <a:pPr indent="0" lvl="0" marL="0" rtl="0" algn="l">
              <a:lnSpc>
                <a:spcPct val="100000"/>
              </a:lnSpc>
              <a:spcBef>
                <a:spcPts val="0"/>
              </a:spcBef>
              <a:spcAft>
                <a:spcPts val="0"/>
              </a:spcAft>
              <a:buSzPts val="2800"/>
              <a:buNone/>
            </a:pPr>
            <a:r>
              <a:rPr lang="en" sz="2420">
                <a:latin typeface="Calibri"/>
                <a:ea typeface="Calibri"/>
                <a:cs typeface="Calibri"/>
                <a:sym typeface="Calibri"/>
              </a:rPr>
              <a:t>Maturity Model </a:t>
            </a:r>
            <a:endParaRPr sz="2420">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pic>
        <p:nvPicPr>
          <p:cNvPr id="290" name="Google Shape;290;p49"/>
          <p:cNvPicPr preferRelativeResize="0"/>
          <p:nvPr/>
        </p:nvPicPr>
        <p:blipFill rotWithShape="1">
          <a:blip r:embed="rId3">
            <a:alphaModFix/>
          </a:blip>
          <a:srcRect b="0" l="0" r="0" t="0"/>
          <a:stretch/>
        </p:blipFill>
        <p:spPr>
          <a:xfrm>
            <a:off x="99275" y="814525"/>
            <a:ext cx="2694900" cy="4186399"/>
          </a:xfrm>
          <a:prstGeom prst="rect">
            <a:avLst/>
          </a:prstGeom>
          <a:noFill/>
          <a:ln cap="flat" cmpd="sng" w="9525">
            <a:solidFill>
              <a:schemeClr val="accent1"/>
            </a:solidFill>
            <a:prstDash val="solid"/>
            <a:round/>
            <a:headEnd len="sm" w="sm" type="none"/>
            <a:tailEnd len="sm" w="sm" type="none"/>
          </a:ln>
        </p:spPr>
      </p:pic>
      <p:sp>
        <p:nvSpPr>
          <p:cNvPr id="291" name="Google Shape;291;p49"/>
          <p:cNvSpPr txBox="1"/>
          <p:nvPr>
            <p:ph idx="4294967295" type="title"/>
          </p:nvPr>
        </p:nvSpPr>
        <p:spPr>
          <a:xfrm>
            <a:off x="0" y="221125"/>
            <a:ext cx="91443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Cloud and AI Visibility Snapshot</a:t>
            </a:r>
            <a:endParaRPr sz="2420">
              <a:latin typeface="Calibri"/>
              <a:ea typeface="Calibri"/>
              <a:cs typeface="Calibri"/>
              <a:sym typeface="Calibri"/>
            </a:endParaRPr>
          </a:p>
        </p:txBody>
      </p:sp>
      <p:pic>
        <p:nvPicPr>
          <p:cNvPr id="292" name="Google Shape;292;p49"/>
          <p:cNvPicPr preferRelativeResize="0"/>
          <p:nvPr/>
        </p:nvPicPr>
        <p:blipFill rotWithShape="1">
          <a:blip r:embed="rId4">
            <a:alphaModFix/>
          </a:blip>
          <a:srcRect b="0" l="0" r="0" t="0"/>
          <a:stretch/>
        </p:blipFill>
        <p:spPr>
          <a:xfrm>
            <a:off x="296060" y="1339164"/>
            <a:ext cx="216750" cy="132020"/>
          </a:xfrm>
          <a:prstGeom prst="rect">
            <a:avLst/>
          </a:prstGeom>
          <a:noFill/>
          <a:ln>
            <a:noFill/>
          </a:ln>
        </p:spPr>
      </p:pic>
      <p:sp>
        <p:nvSpPr>
          <p:cNvPr id="293" name="Google Shape;293;p49"/>
          <p:cNvSpPr txBox="1"/>
          <p:nvPr/>
        </p:nvSpPr>
        <p:spPr>
          <a:xfrm>
            <a:off x="594173" y="1306063"/>
            <a:ext cx="21201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900" u="none" cap="none" strike="noStrike">
                <a:solidFill>
                  <a:srgbClr val="00113E"/>
                </a:solidFill>
                <a:latin typeface="Calibri"/>
                <a:ea typeface="Calibri"/>
                <a:cs typeface="Calibri"/>
                <a:sym typeface="Calibri"/>
              </a:rPr>
              <a:t>{{C_AWS}} AWS Connectors</a:t>
            </a:r>
            <a:endParaRPr b="0" i="0" sz="900" u="none" cap="none" strike="noStrike">
              <a:solidFill>
                <a:srgbClr val="000000"/>
              </a:solidFill>
              <a:latin typeface="Calibri"/>
              <a:ea typeface="Calibri"/>
              <a:cs typeface="Calibri"/>
              <a:sym typeface="Calibri"/>
            </a:endParaRPr>
          </a:p>
        </p:txBody>
      </p:sp>
      <p:pic>
        <p:nvPicPr>
          <p:cNvPr descr="Kubernetes Logo transparent PNG - StickPNG" id="294" name="Google Shape;294;p49"/>
          <p:cNvPicPr preferRelativeResize="0"/>
          <p:nvPr/>
        </p:nvPicPr>
        <p:blipFill rotWithShape="1">
          <a:blip r:embed="rId5">
            <a:alphaModFix/>
          </a:blip>
          <a:srcRect b="0" l="0" r="0" t="0"/>
          <a:stretch/>
        </p:blipFill>
        <p:spPr>
          <a:xfrm>
            <a:off x="291295" y="2333701"/>
            <a:ext cx="214875" cy="211565"/>
          </a:xfrm>
          <a:prstGeom prst="rect">
            <a:avLst/>
          </a:prstGeom>
          <a:noFill/>
          <a:ln>
            <a:noFill/>
          </a:ln>
        </p:spPr>
      </p:pic>
      <p:sp>
        <p:nvSpPr>
          <p:cNvPr id="295" name="Google Shape;295;p49"/>
          <p:cNvSpPr txBox="1"/>
          <p:nvPr/>
        </p:nvSpPr>
        <p:spPr>
          <a:xfrm>
            <a:off x="594176" y="2267228"/>
            <a:ext cx="21582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900" u="none" cap="none" strike="noStrike">
                <a:solidFill>
                  <a:srgbClr val="00113E"/>
                </a:solidFill>
                <a:latin typeface="Calibri"/>
                <a:ea typeface="Calibri"/>
                <a:cs typeface="Calibri"/>
                <a:sym typeface="Calibri"/>
              </a:rPr>
              <a:t>{{K8S}} K8s Clusters</a:t>
            </a:r>
            <a:br>
              <a:rPr b="0" i="0" lang="en" sz="900" u="none" cap="none" strike="noStrike">
                <a:solidFill>
                  <a:srgbClr val="00113E"/>
                </a:solidFill>
                <a:latin typeface="Calibri"/>
                <a:ea typeface="Calibri"/>
                <a:cs typeface="Calibri"/>
                <a:sym typeface="Calibri"/>
              </a:rPr>
            </a:br>
            <a:r>
              <a:rPr b="0" i="0" lang="en" sz="900" u="none" cap="none" strike="noStrike">
                <a:solidFill>
                  <a:srgbClr val="00113E"/>
                </a:solidFill>
                <a:latin typeface="Calibri"/>
                <a:ea typeface="Calibri"/>
                <a:cs typeface="Calibri"/>
                <a:sym typeface="Calibri"/>
              </a:rPr>
              <a:t>{{KG_NC}} Not Connected via Connector</a:t>
            </a:r>
            <a:endParaRPr b="0" i="0" sz="900" u="none" cap="none" strike="noStrike">
              <a:solidFill>
                <a:srgbClr val="000000"/>
              </a:solidFill>
              <a:latin typeface="Calibri"/>
              <a:ea typeface="Calibri"/>
              <a:cs typeface="Calibri"/>
              <a:sym typeface="Calibri"/>
            </a:endParaRPr>
          </a:p>
        </p:txBody>
      </p:sp>
      <p:grpSp>
        <p:nvGrpSpPr>
          <p:cNvPr id="296" name="Google Shape;296;p49"/>
          <p:cNvGrpSpPr/>
          <p:nvPr/>
        </p:nvGrpSpPr>
        <p:grpSpPr>
          <a:xfrm>
            <a:off x="309832" y="2763999"/>
            <a:ext cx="189207" cy="194205"/>
            <a:chOff x="6171974" y="3205262"/>
            <a:chExt cx="189207" cy="191978"/>
          </a:xfrm>
        </p:grpSpPr>
        <p:sp>
          <p:nvSpPr>
            <p:cNvPr id="297" name="Google Shape;297;p49"/>
            <p:cNvSpPr/>
            <p:nvPr/>
          </p:nvSpPr>
          <p:spPr>
            <a:xfrm>
              <a:off x="6171974" y="3205262"/>
              <a:ext cx="107899" cy="107875"/>
            </a:xfrm>
            <a:custGeom>
              <a:rect b="b" l="l" r="r" t="t"/>
              <a:pathLst>
                <a:path extrusionOk="0" h="1078750" w="1078992">
                  <a:moveTo>
                    <a:pt x="71003" y="0"/>
                  </a:moveTo>
                  <a:lnTo>
                    <a:pt x="1007989" y="0"/>
                  </a:lnTo>
                  <a:cubicBezTo>
                    <a:pt x="1047203" y="0"/>
                    <a:pt x="1078992" y="31789"/>
                    <a:pt x="1078992" y="71003"/>
                  </a:cubicBezTo>
                  <a:lnTo>
                    <a:pt x="1078992" y="324079"/>
                  </a:lnTo>
                  <a:lnTo>
                    <a:pt x="377206" y="324079"/>
                  </a:lnTo>
                  <a:cubicBezTo>
                    <a:pt x="339490" y="324079"/>
                    <a:pt x="308916" y="354653"/>
                    <a:pt x="308916" y="392369"/>
                  </a:cubicBezTo>
                  <a:lnTo>
                    <a:pt x="308916"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anchorCtr="0" anchor="ctr" bIns="23800" lIns="47650" spcFirstLastPara="1" rIns="47650" wrap="square" tIns="23800">
              <a:noAutofit/>
            </a:bodyPr>
            <a:lstStyle/>
            <a:p>
              <a:pPr indent="0" lvl="0" marL="0" marR="0" rtl="0" algn="ctr">
                <a:lnSpc>
                  <a:spcPct val="100000"/>
                </a:lnSpc>
                <a:spcBef>
                  <a:spcPts val="0"/>
                </a:spcBef>
                <a:spcAft>
                  <a:spcPts val="0"/>
                </a:spcAft>
                <a:buClr>
                  <a:srgbClr val="FFFFFF"/>
                </a:buClr>
                <a:buSzPts val="938"/>
                <a:buFont typeface="Calibri"/>
                <a:buNone/>
              </a:pPr>
              <a:r>
                <a:t/>
              </a:r>
              <a:endParaRPr b="0" i="0" sz="938" u="none" cap="none" strike="noStrike">
                <a:solidFill>
                  <a:srgbClr val="00113E"/>
                </a:solidFill>
                <a:latin typeface="Calibri"/>
                <a:ea typeface="Calibri"/>
                <a:cs typeface="Calibri"/>
                <a:sym typeface="Calibri"/>
              </a:endParaRPr>
            </a:p>
          </p:txBody>
        </p:sp>
        <p:sp>
          <p:nvSpPr>
            <p:cNvPr id="298" name="Google Shape;298;p49"/>
            <p:cNvSpPr/>
            <p:nvPr/>
          </p:nvSpPr>
          <p:spPr>
            <a:xfrm>
              <a:off x="6212578" y="3247251"/>
              <a:ext cx="107899" cy="107875"/>
            </a:xfrm>
            <a:custGeom>
              <a:rect b="b" l="l" r="r" t="t"/>
              <a:pathLst>
                <a:path extrusionOk="0" h="1078750" w="1078992">
                  <a:moveTo>
                    <a:pt x="71003" y="0"/>
                  </a:moveTo>
                  <a:lnTo>
                    <a:pt x="1007989" y="0"/>
                  </a:lnTo>
                  <a:cubicBezTo>
                    <a:pt x="1047203" y="0"/>
                    <a:pt x="1078992" y="31789"/>
                    <a:pt x="1078992" y="71003"/>
                  </a:cubicBezTo>
                  <a:lnTo>
                    <a:pt x="1078992" y="324079"/>
                  </a:lnTo>
                  <a:lnTo>
                    <a:pt x="377205" y="324079"/>
                  </a:lnTo>
                  <a:cubicBezTo>
                    <a:pt x="339489" y="324079"/>
                    <a:pt x="308915" y="354653"/>
                    <a:pt x="308915" y="392369"/>
                  </a:cubicBezTo>
                  <a:lnTo>
                    <a:pt x="308915"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anchorCtr="0" anchor="ctr" bIns="23800" lIns="47650" spcFirstLastPara="1" rIns="47650" wrap="square" tIns="23800">
              <a:noAutofit/>
            </a:bodyPr>
            <a:lstStyle/>
            <a:p>
              <a:pPr indent="0" lvl="0" marL="0" marR="0" rtl="0" algn="ctr">
                <a:lnSpc>
                  <a:spcPct val="100000"/>
                </a:lnSpc>
                <a:spcBef>
                  <a:spcPts val="0"/>
                </a:spcBef>
                <a:spcAft>
                  <a:spcPts val="0"/>
                </a:spcAft>
                <a:buClr>
                  <a:srgbClr val="FFFFFF"/>
                </a:buClr>
                <a:buSzPts val="938"/>
                <a:buFont typeface="Calibri"/>
                <a:buNone/>
              </a:pPr>
              <a:r>
                <a:t/>
              </a:r>
              <a:endParaRPr b="0" i="0" sz="938" u="none" cap="none" strike="noStrike">
                <a:solidFill>
                  <a:srgbClr val="00113E"/>
                </a:solidFill>
                <a:latin typeface="Calibri"/>
                <a:ea typeface="Calibri"/>
                <a:cs typeface="Calibri"/>
                <a:sym typeface="Calibri"/>
              </a:endParaRPr>
            </a:p>
          </p:txBody>
        </p:sp>
        <p:sp>
          <p:nvSpPr>
            <p:cNvPr id="299" name="Google Shape;299;p49"/>
            <p:cNvSpPr/>
            <p:nvPr/>
          </p:nvSpPr>
          <p:spPr>
            <a:xfrm>
              <a:off x="6253181" y="3289240"/>
              <a:ext cx="108000" cy="108000"/>
            </a:xfrm>
            <a:prstGeom prst="roundRect">
              <a:avLst>
                <a:gd fmla="val 6582" name="adj"/>
              </a:avLst>
            </a:prstGeom>
            <a:solidFill>
              <a:srgbClr val="014FF7"/>
            </a:solidFill>
            <a:ln>
              <a:noFill/>
            </a:ln>
          </p:spPr>
          <p:txBody>
            <a:bodyPr anchorCtr="0" anchor="ctr" bIns="23800" lIns="47650" spcFirstLastPara="1" rIns="47650" wrap="square" tIns="23800">
              <a:noAutofit/>
            </a:bodyPr>
            <a:lstStyle/>
            <a:p>
              <a:pPr indent="0" lvl="0" marL="0" marR="0" rtl="0" algn="ctr">
                <a:lnSpc>
                  <a:spcPct val="100000"/>
                </a:lnSpc>
                <a:spcBef>
                  <a:spcPts val="0"/>
                </a:spcBef>
                <a:spcAft>
                  <a:spcPts val="0"/>
                </a:spcAft>
                <a:buClr>
                  <a:srgbClr val="FFFFFF"/>
                </a:buClr>
                <a:buSzPts val="938"/>
                <a:buFont typeface="Calibri"/>
                <a:buNone/>
              </a:pPr>
              <a:r>
                <a:t/>
              </a:r>
              <a:endParaRPr b="0" i="0" sz="938" u="none" cap="none" strike="noStrike">
                <a:solidFill>
                  <a:srgbClr val="00113E"/>
                </a:solidFill>
                <a:latin typeface="Calibri"/>
                <a:ea typeface="Calibri"/>
                <a:cs typeface="Calibri"/>
                <a:sym typeface="Calibri"/>
              </a:endParaRPr>
            </a:p>
          </p:txBody>
        </p:sp>
      </p:grpSp>
      <p:sp>
        <p:nvSpPr>
          <p:cNvPr id="300" name="Google Shape;300;p49"/>
          <p:cNvSpPr txBox="1"/>
          <p:nvPr/>
        </p:nvSpPr>
        <p:spPr>
          <a:xfrm>
            <a:off x="594175" y="2710232"/>
            <a:ext cx="20859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900" u="none" cap="none" strike="noStrike">
                <a:solidFill>
                  <a:schemeClr val="dk1"/>
                </a:solidFill>
                <a:latin typeface="Calibri"/>
                <a:ea typeface="Calibri"/>
                <a:cs typeface="Calibri"/>
                <a:sym typeface="Calibri"/>
              </a:rPr>
              <a:t>{{C_OTH}} Others</a:t>
            </a:r>
            <a:br>
              <a:rPr b="0" i="0" lang="en" sz="900" u="none" cap="none" strike="noStrike">
                <a:solidFill>
                  <a:schemeClr val="dk1"/>
                </a:solidFill>
                <a:latin typeface="Calibri"/>
                <a:ea typeface="Calibri"/>
                <a:cs typeface="Calibri"/>
                <a:sym typeface="Calibri"/>
              </a:rPr>
            </a:br>
            <a:r>
              <a:rPr b="0" i="0" lang="en" sz="800" u="none" cap="none" strike="noStrike">
                <a:solidFill>
                  <a:schemeClr val="dk1"/>
                </a:solidFill>
                <a:latin typeface="Calibri"/>
                <a:ea typeface="Calibri"/>
                <a:cs typeface="Calibri"/>
                <a:sym typeface="Calibri"/>
              </a:rPr>
              <a:t>{{C_OTH_NAMES}}</a:t>
            </a:r>
            <a:br>
              <a:rPr b="0" i="0" lang="en" sz="900" u="none" cap="none" strike="noStrike">
                <a:solidFill>
                  <a:schemeClr val="dk1"/>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p:txBody>
      </p:sp>
      <p:grpSp>
        <p:nvGrpSpPr>
          <p:cNvPr id="301" name="Google Shape;301;p49"/>
          <p:cNvGrpSpPr/>
          <p:nvPr/>
        </p:nvGrpSpPr>
        <p:grpSpPr>
          <a:xfrm>
            <a:off x="318778" y="3899121"/>
            <a:ext cx="171314" cy="178215"/>
            <a:chOff x="11835920" y="1617571"/>
            <a:chExt cx="5866906" cy="6041208"/>
          </a:xfrm>
        </p:grpSpPr>
        <p:sp>
          <p:nvSpPr>
            <p:cNvPr id="302" name="Google Shape;302;p49"/>
            <p:cNvSpPr/>
            <p:nvPr/>
          </p:nvSpPr>
          <p:spPr>
            <a:xfrm>
              <a:off x="13171525" y="1625031"/>
              <a:ext cx="1490700" cy="944700"/>
            </a:xfrm>
            <a:prstGeom prst="rect">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Calibri"/>
                <a:ea typeface="Calibri"/>
                <a:cs typeface="Calibri"/>
                <a:sym typeface="Calibri"/>
              </a:endParaRPr>
            </a:p>
          </p:txBody>
        </p:sp>
        <p:sp>
          <p:nvSpPr>
            <p:cNvPr id="303" name="Google Shape;303;p49"/>
            <p:cNvSpPr/>
            <p:nvPr/>
          </p:nvSpPr>
          <p:spPr>
            <a:xfrm rot="4145691">
              <a:off x="12227504" y="4096971"/>
              <a:ext cx="6050917" cy="1078706"/>
            </a:xfrm>
            <a:prstGeom prst="rect">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Calibri"/>
                <a:ea typeface="Calibri"/>
                <a:cs typeface="Calibri"/>
                <a:sym typeface="Calibri"/>
              </a:endParaRPr>
            </a:p>
          </p:txBody>
        </p:sp>
        <p:sp>
          <p:nvSpPr>
            <p:cNvPr id="304" name="Google Shape;304;p49"/>
            <p:cNvSpPr/>
            <p:nvPr/>
          </p:nvSpPr>
          <p:spPr>
            <a:xfrm rot="9723288">
              <a:off x="15609080" y="6301883"/>
              <a:ext cx="1975610" cy="1078787"/>
            </a:xfrm>
            <a:prstGeom prst="rect">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Calibri"/>
                <a:ea typeface="Calibri"/>
                <a:cs typeface="Calibri"/>
                <a:sym typeface="Calibri"/>
              </a:endParaRPr>
            </a:p>
          </p:txBody>
        </p:sp>
        <p:sp>
          <p:nvSpPr>
            <p:cNvPr id="305" name="Google Shape;305;p49"/>
            <p:cNvSpPr/>
            <p:nvPr/>
          </p:nvSpPr>
          <p:spPr>
            <a:xfrm rot="7393903">
              <a:off x="14175210" y="3530494"/>
              <a:ext cx="644860" cy="604337"/>
            </a:xfrm>
            <a:prstGeom prst="rect">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Calibri"/>
                <a:ea typeface="Calibri"/>
                <a:cs typeface="Calibri"/>
                <a:sym typeface="Calibri"/>
              </a:endParaRPr>
            </a:p>
          </p:txBody>
        </p:sp>
        <p:sp>
          <p:nvSpPr>
            <p:cNvPr id="306" name="Google Shape;306;p49"/>
            <p:cNvSpPr/>
            <p:nvPr/>
          </p:nvSpPr>
          <p:spPr>
            <a:xfrm>
              <a:off x="11835920" y="3725119"/>
              <a:ext cx="3579000" cy="3592200"/>
            </a:xfrm>
            <a:prstGeom prst="parallelogram">
              <a:avLst>
                <a:gd fmla="val 66161" name="adj"/>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Calibri"/>
                <a:ea typeface="Calibri"/>
                <a:cs typeface="Calibri"/>
                <a:sym typeface="Calibri"/>
              </a:endParaRPr>
            </a:p>
          </p:txBody>
        </p:sp>
      </p:grpSp>
      <p:sp>
        <p:nvSpPr>
          <p:cNvPr id="307" name="Google Shape;307;p49"/>
          <p:cNvSpPr txBox="1"/>
          <p:nvPr/>
        </p:nvSpPr>
        <p:spPr>
          <a:xfrm>
            <a:off x="594173" y="3867490"/>
            <a:ext cx="20859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900" u="none" cap="none" strike="noStrike">
                <a:solidFill>
                  <a:srgbClr val="00113E"/>
                </a:solidFill>
                <a:latin typeface="Calibri"/>
                <a:ea typeface="Calibri"/>
                <a:cs typeface="Calibri"/>
                <a:sym typeface="Calibri"/>
              </a:rPr>
              <a:t>{{SERVERLESS_FN_COUNT}} Serverless Functions</a:t>
            </a:r>
            <a:endParaRPr b="0" i="0" sz="900" u="none" cap="none" strike="noStrike">
              <a:solidFill>
                <a:srgbClr val="000000"/>
              </a:solidFill>
              <a:latin typeface="Calibri"/>
              <a:ea typeface="Calibri"/>
              <a:cs typeface="Calibri"/>
              <a:sym typeface="Calibri"/>
            </a:endParaRPr>
          </a:p>
        </p:txBody>
      </p:sp>
      <p:sp>
        <p:nvSpPr>
          <p:cNvPr id="308" name="Google Shape;308;p49"/>
          <p:cNvSpPr txBox="1"/>
          <p:nvPr/>
        </p:nvSpPr>
        <p:spPr>
          <a:xfrm>
            <a:off x="594173" y="1626385"/>
            <a:ext cx="21201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900" u="none" cap="none" strike="noStrike">
                <a:solidFill>
                  <a:srgbClr val="00113E"/>
                </a:solidFill>
                <a:latin typeface="Calibri"/>
                <a:ea typeface="Calibri"/>
                <a:cs typeface="Calibri"/>
                <a:sym typeface="Calibri"/>
              </a:rPr>
              <a:t>{{C_GCP}} GCP Connectors</a:t>
            </a:r>
            <a:endParaRPr b="0" i="0" sz="900" u="none" cap="none" strike="noStrike">
              <a:solidFill>
                <a:srgbClr val="000000"/>
              </a:solidFill>
              <a:latin typeface="Calibri"/>
              <a:ea typeface="Calibri"/>
              <a:cs typeface="Calibri"/>
              <a:sym typeface="Calibri"/>
            </a:endParaRPr>
          </a:p>
        </p:txBody>
      </p:sp>
      <p:pic>
        <p:nvPicPr>
          <p:cNvPr descr="Google Cloud Platform · GitHub" id="309" name="Google Shape;309;p49"/>
          <p:cNvPicPr preferRelativeResize="0"/>
          <p:nvPr/>
        </p:nvPicPr>
        <p:blipFill rotWithShape="1">
          <a:blip r:embed="rId6">
            <a:alphaModFix/>
          </a:blip>
          <a:srcRect b="0" l="0" r="0" t="0"/>
          <a:stretch/>
        </p:blipFill>
        <p:spPr>
          <a:xfrm>
            <a:off x="299754" y="1614903"/>
            <a:ext cx="209362" cy="211780"/>
          </a:xfrm>
          <a:prstGeom prst="rect">
            <a:avLst/>
          </a:prstGeom>
          <a:noFill/>
          <a:ln>
            <a:noFill/>
          </a:ln>
        </p:spPr>
      </p:pic>
      <p:sp>
        <p:nvSpPr>
          <p:cNvPr id="310" name="Google Shape;310;p49"/>
          <p:cNvSpPr txBox="1"/>
          <p:nvPr/>
        </p:nvSpPr>
        <p:spPr>
          <a:xfrm>
            <a:off x="594173" y="1958244"/>
            <a:ext cx="20517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900" u="none" cap="none" strike="noStrike">
                <a:solidFill>
                  <a:srgbClr val="00113E"/>
                </a:solidFill>
                <a:latin typeface="Calibri"/>
                <a:ea typeface="Calibri"/>
                <a:cs typeface="Calibri"/>
                <a:sym typeface="Calibri"/>
              </a:rPr>
              <a:t>{{C_AZ}} Azure Connectors</a:t>
            </a:r>
            <a:endParaRPr b="0" i="0" sz="900" u="none" cap="none" strike="noStrike">
              <a:solidFill>
                <a:srgbClr val="000000"/>
              </a:solidFill>
              <a:latin typeface="Calibri"/>
              <a:ea typeface="Calibri"/>
              <a:cs typeface="Calibri"/>
              <a:sym typeface="Calibri"/>
            </a:endParaRPr>
          </a:p>
        </p:txBody>
      </p:sp>
      <p:pic>
        <p:nvPicPr>
          <p:cNvPr id="311" name="Google Shape;311;p49"/>
          <p:cNvPicPr preferRelativeResize="0"/>
          <p:nvPr/>
        </p:nvPicPr>
        <p:blipFill rotWithShape="1">
          <a:blip r:embed="rId7">
            <a:alphaModFix/>
          </a:blip>
          <a:srcRect b="0" l="0" r="0" t="0"/>
          <a:stretch/>
        </p:blipFill>
        <p:spPr>
          <a:xfrm>
            <a:off x="299673" y="1970401"/>
            <a:ext cx="209525" cy="185367"/>
          </a:xfrm>
          <a:prstGeom prst="rect">
            <a:avLst/>
          </a:prstGeom>
          <a:noFill/>
          <a:ln>
            <a:noFill/>
          </a:ln>
        </p:spPr>
      </p:pic>
      <p:grpSp>
        <p:nvGrpSpPr>
          <p:cNvPr id="312" name="Google Shape;312;p49"/>
          <p:cNvGrpSpPr/>
          <p:nvPr/>
        </p:nvGrpSpPr>
        <p:grpSpPr>
          <a:xfrm>
            <a:off x="240579" y="3445870"/>
            <a:ext cx="327712" cy="372880"/>
            <a:chOff x="6153425" y="3541954"/>
            <a:chExt cx="540155" cy="607594"/>
          </a:xfrm>
        </p:grpSpPr>
        <p:grpSp>
          <p:nvGrpSpPr>
            <p:cNvPr id="313" name="Google Shape;313;p49"/>
            <p:cNvGrpSpPr/>
            <p:nvPr/>
          </p:nvGrpSpPr>
          <p:grpSpPr>
            <a:xfrm>
              <a:off x="6302419" y="3759933"/>
              <a:ext cx="246143" cy="246517"/>
              <a:chOff x="6996063" y="371043"/>
              <a:chExt cx="3423407" cy="3428610"/>
            </a:xfrm>
          </p:grpSpPr>
          <p:grpSp>
            <p:nvGrpSpPr>
              <p:cNvPr id="314" name="Google Shape;314;p49"/>
              <p:cNvGrpSpPr/>
              <p:nvPr/>
            </p:nvGrpSpPr>
            <p:grpSpPr>
              <a:xfrm>
                <a:off x="7365704" y="1326099"/>
                <a:ext cx="2559934" cy="2230430"/>
                <a:chOff x="7359949" y="1328909"/>
                <a:chExt cx="2559934" cy="2230430"/>
              </a:xfrm>
            </p:grpSpPr>
            <p:sp>
              <p:nvSpPr>
                <p:cNvPr id="315" name="Google Shape;315;p49"/>
                <p:cNvSpPr/>
                <p:nvPr/>
              </p:nvSpPr>
              <p:spPr>
                <a:xfrm rot="-1800156">
                  <a:off x="7697610" y="1838146"/>
                  <a:ext cx="901729" cy="1592176"/>
                </a:xfrm>
                <a:prstGeom prst="diamond">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b="0" i="0" sz="485" u="none" cap="none" strike="noStrike">
                    <a:solidFill>
                      <a:srgbClr val="00113E"/>
                    </a:solidFill>
                    <a:latin typeface="Calibri"/>
                    <a:ea typeface="Calibri"/>
                    <a:cs typeface="Calibri"/>
                    <a:sym typeface="Calibri"/>
                  </a:endParaRPr>
                </a:p>
              </p:txBody>
            </p:sp>
            <p:sp>
              <p:nvSpPr>
                <p:cNvPr id="316" name="Google Shape;316;p49"/>
                <p:cNvSpPr/>
                <p:nvPr/>
              </p:nvSpPr>
              <p:spPr>
                <a:xfrm rot="5400000">
                  <a:off x="8189014" y="983759"/>
                  <a:ext cx="901800" cy="1592100"/>
                </a:xfrm>
                <a:prstGeom prst="diamond">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b="0" i="0" sz="485" u="none" cap="none" strike="noStrike">
                    <a:solidFill>
                      <a:srgbClr val="00113E"/>
                    </a:solidFill>
                    <a:latin typeface="Calibri"/>
                    <a:ea typeface="Calibri"/>
                    <a:cs typeface="Calibri"/>
                    <a:sym typeface="Calibri"/>
                  </a:endParaRPr>
                </a:p>
              </p:txBody>
            </p:sp>
            <p:sp>
              <p:nvSpPr>
                <p:cNvPr id="317" name="Google Shape;317;p49"/>
                <p:cNvSpPr/>
                <p:nvPr/>
              </p:nvSpPr>
              <p:spPr>
                <a:xfrm rot="-8999844">
                  <a:off x="8680494" y="1848387"/>
                  <a:ext cx="901729" cy="1592176"/>
                </a:xfrm>
                <a:prstGeom prst="diamond">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b="0" i="0" sz="485" u="none" cap="none" strike="noStrike">
                    <a:solidFill>
                      <a:srgbClr val="00113E"/>
                    </a:solidFill>
                    <a:latin typeface="Calibri"/>
                    <a:ea typeface="Calibri"/>
                    <a:cs typeface="Calibri"/>
                    <a:sym typeface="Calibri"/>
                  </a:endParaRPr>
                </a:p>
              </p:txBody>
            </p:sp>
          </p:grpSp>
          <p:sp>
            <p:nvSpPr>
              <p:cNvPr id="318" name="Google Shape;318;p49"/>
              <p:cNvSpPr/>
              <p:nvPr/>
            </p:nvSpPr>
            <p:spPr>
              <a:xfrm rot="5400000">
                <a:off x="6993462" y="373644"/>
                <a:ext cx="3428610" cy="3423407"/>
              </a:xfrm>
              <a:custGeom>
                <a:rect b="b" l="l" r="r" t="t"/>
                <a:pathLst>
                  <a:path extrusionOk="0" h="3547572" w="4021830">
                    <a:moveTo>
                      <a:pt x="438870" y="1773786"/>
                    </a:moveTo>
                    <a:lnTo>
                      <a:pt x="1231625" y="3181575"/>
                    </a:lnTo>
                    <a:lnTo>
                      <a:pt x="2790205" y="3181575"/>
                    </a:lnTo>
                    <a:lnTo>
                      <a:pt x="3582960" y="1773786"/>
                    </a:lnTo>
                    <a:lnTo>
                      <a:pt x="2790205" y="365997"/>
                    </a:lnTo>
                    <a:lnTo>
                      <a:pt x="1231625" y="365997"/>
                    </a:lnTo>
                    <a:close/>
                    <a:moveTo>
                      <a:pt x="0" y="1773786"/>
                    </a:moveTo>
                    <a:lnTo>
                      <a:pt x="998855" y="0"/>
                    </a:lnTo>
                    <a:lnTo>
                      <a:pt x="3022975" y="0"/>
                    </a:lnTo>
                    <a:lnTo>
                      <a:pt x="4021830" y="1773786"/>
                    </a:lnTo>
                    <a:lnTo>
                      <a:pt x="3022975" y="3547572"/>
                    </a:lnTo>
                    <a:lnTo>
                      <a:pt x="998855" y="3547572"/>
                    </a:lnTo>
                    <a:close/>
                  </a:path>
                </a:pathLst>
              </a:cu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b="0" i="0" sz="485" u="none" cap="none" strike="noStrike">
                  <a:solidFill>
                    <a:srgbClr val="00113E"/>
                  </a:solidFill>
                  <a:latin typeface="Calibri"/>
                  <a:ea typeface="Calibri"/>
                  <a:cs typeface="Calibri"/>
                  <a:sym typeface="Calibri"/>
                </a:endParaRPr>
              </a:p>
            </p:txBody>
          </p:sp>
          <p:sp>
            <p:nvSpPr>
              <p:cNvPr id="319" name="Google Shape;319;p49"/>
              <p:cNvSpPr/>
              <p:nvPr/>
            </p:nvSpPr>
            <p:spPr>
              <a:xfrm>
                <a:off x="8550588" y="665584"/>
                <a:ext cx="190200" cy="854100"/>
              </a:xfrm>
              <a:prstGeom prst="rect">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b="0" i="0" sz="485" u="none" cap="none" strike="noStrike">
                  <a:solidFill>
                    <a:srgbClr val="00113E"/>
                  </a:solidFill>
                  <a:latin typeface="Calibri"/>
                  <a:ea typeface="Calibri"/>
                  <a:cs typeface="Calibri"/>
                  <a:sym typeface="Calibri"/>
                </a:endParaRPr>
              </a:p>
            </p:txBody>
          </p:sp>
          <p:sp>
            <p:nvSpPr>
              <p:cNvPr id="320" name="Google Shape;320;p49"/>
              <p:cNvSpPr/>
              <p:nvPr/>
            </p:nvSpPr>
            <p:spPr>
              <a:xfrm rot="7200163">
                <a:off x="9706081" y="2593755"/>
                <a:ext cx="190184" cy="853876"/>
              </a:xfrm>
              <a:prstGeom prst="rect">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b="0" i="0" sz="485" u="none" cap="none" strike="noStrike">
                  <a:solidFill>
                    <a:srgbClr val="00113E"/>
                  </a:solidFill>
                  <a:latin typeface="Calibri"/>
                  <a:ea typeface="Calibri"/>
                  <a:cs typeface="Calibri"/>
                  <a:sym typeface="Calibri"/>
                </a:endParaRPr>
              </a:p>
            </p:txBody>
          </p:sp>
          <p:sp>
            <p:nvSpPr>
              <p:cNvPr id="321" name="Google Shape;321;p49"/>
              <p:cNvSpPr/>
              <p:nvPr/>
            </p:nvSpPr>
            <p:spPr>
              <a:xfrm rot="-7200163">
                <a:off x="7397547" y="2579190"/>
                <a:ext cx="190184" cy="853876"/>
              </a:xfrm>
              <a:prstGeom prst="rect">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b="0" i="0" sz="485" u="none" cap="none" strike="noStrike">
                  <a:solidFill>
                    <a:srgbClr val="00113E"/>
                  </a:solidFill>
                  <a:latin typeface="Calibri"/>
                  <a:ea typeface="Calibri"/>
                  <a:cs typeface="Calibri"/>
                  <a:sym typeface="Calibri"/>
                </a:endParaRPr>
              </a:p>
            </p:txBody>
          </p:sp>
        </p:grpSp>
        <p:pic>
          <p:nvPicPr>
            <p:cNvPr descr="Serverless Containers | Scaleway" id="322" name="Google Shape;322;p49"/>
            <p:cNvPicPr preferRelativeResize="0"/>
            <p:nvPr/>
          </p:nvPicPr>
          <p:blipFill rotWithShape="1">
            <a:blip r:embed="rId8">
              <a:alphaModFix/>
            </a:blip>
            <a:srcRect b="0" l="0" r="0" t="0"/>
            <a:stretch/>
          </p:blipFill>
          <p:spPr>
            <a:xfrm>
              <a:off x="6153425" y="3541954"/>
              <a:ext cx="540155" cy="607594"/>
            </a:xfrm>
            <a:prstGeom prst="rect">
              <a:avLst/>
            </a:prstGeom>
            <a:noFill/>
            <a:ln>
              <a:noFill/>
            </a:ln>
          </p:spPr>
        </p:pic>
      </p:grpSp>
      <p:pic>
        <p:nvPicPr>
          <p:cNvPr descr="A blue hexagon with white text&#10;&#10;Description automatically generated" id="323" name="Google Shape;323;p49"/>
          <p:cNvPicPr preferRelativeResize="0"/>
          <p:nvPr/>
        </p:nvPicPr>
        <p:blipFill rotWithShape="1">
          <a:blip r:embed="rId9">
            <a:alphaModFix/>
          </a:blip>
          <a:srcRect b="0" l="0" r="0" t="0"/>
          <a:stretch/>
        </p:blipFill>
        <p:spPr>
          <a:xfrm>
            <a:off x="281180" y="3165533"/>
            <a:ext cx="246510" cy="211566"/>
          </a:xfrm>
          <a:prstGeom prst="rect">
            <a:avLst/>
          </a:prstGeom>
          <a:noFill/>
          <a:ln>
            <a:noFill/>
          </a:ln>
        </p:spPr>
      </p:pic>
      <p:sp>
        <p:nvSpPr>
          <p:cNvPr id="324" name="Google Shape;324;p49"/>
          <p:cNvSpPr txBox="1"/>
          <p:nvPr/>
        </p:nvSpPr>
        <p:spPr>
          <a:xfrm>
            <a:off x="602752" y="3174368"/>
            <a:ext cx="20859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FF0000"/>
              </a:buClr>
              <a:buSzPts val="855"/>
              <a:buFont typeface="DM Sans"/>
              <a:buNone/>
            </a:pPr>
            <a:r>
              <a:rPr b="0" i="0" lang="en" sz="900" u="none" cap="none" strike="noStrike">
                <a:solidFill>
                  <a:srgbClr val="00113E"/>
                </a:solidFill>
                <a:latin typeface="Calibri"/>
                <a:ea typeface="Calibri"/>
                <a:cs typeface="Calibri"/>
                <a:sym typeface="Calibri"/>
              </a:rPr>
              <a:t>{{R_TOT}} Container Registries</a:t>
            </a:r>
            <a:endParaRPr b="0" i="0" sz="900" u="none" cap="none" strike="noStrike">
              <a:solidFill>
                <a:srgbClr val="000000"/>
              </a:solidFill>
              <a:latin typeface="Calibri"/>
              <a:ea typeface="Calibri"/>
              <a:cs typeface="Calibri"/>
              <a:sym typeface="Calibri"/>
            </a:endParaRPr>
          </a:p>
        </p:txBody>
      </p:sp>
      <p:sp>
        <p:nvSpPr>
          <p:cNvPr id="325" name="Google Shape;325;p49"/>
          <p:cNvSpPr txBox="1"/>
          <p:nvPr/>
        </p:nvSpPr>
        <p:spPr>
          <a:xfrm>
            <a:off x="99325" y="902925"/>
            <a:ext cx="2694900" cy="3132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400" u="none" cap="none" strike="noStrike">
                <a:solidFill>
                  <a:schemeClr val="dk1"/>
                </a:solidFill>
                <a:latin typeface="Calibri"/>
                <a:ea typeface="Calibri"/>
                <a:cs typeface="Calibri"/>
                <a:sym typeface="Calibri"/>
              </a:rPr>
              <a:t>Cloud Visibility</a:t>
            </a:r>
            <a:endParaRPr b="0" i="0" sz="1400" u="none" cap="none" strike="noStrike">
              <a:solidFill>
                <a:schemeClr val="dk1"/>
              </a:solidFill>
              <a:latin typeface="Calibri"/>
              <a:ea typeface="Calibri"/>
              <a:cs typeface="Calibri"/>
              <a:sym typeface="Calibri"/>
            </a:endParaRPr>
          </a:p>
        </p:txBody>
      </p:sp>
      <p:sp>
        <p:nvSpPr>
          <p:cNvPr id="326" name="Google Shape;326;p49"/>
          <p:cNvSpPr txBox="1"/>
          <p:nvPr/>
        </p:nvSpPr>
        <p:spPr>
          <a:xfrm>
            <a:off x="594175" y="3523023"/>
            <a:ext cx="20859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900" u="none" cap="none" strike="noStrike">
                <a:solidFill>
                  <a:srgbClr val="00113E"/>
                </a:solidFill>
                <a:latin typeface="Calibri"/>
                <a:ea typeface="Calibri"/>
                <a:cs typeface="Calibri"/>
                <a:sym typeface="Calibri"/>
              </a:rPr>
              <a:t>{{SERVERLESS_CT_COUNT}} Serverless Containers</a:t>
            </a:r>
            <a:endParaRPr b="0" i="0" sz="900" u="none" cap="none" strike="noStrike">
              <a:solidFill>
                <a:srgbClr val="00113E"/>
              </a:solidFill>
              <a:latin typeface="Calibri"/>
              <a:ea typeface="Calibri"/>
              <a:cs typeface="Calibri"/>
              <a:sym typeface="Calibri"/>
            </a:endParaRPr>
          </a:p>
        </p:txBody>
      </p:sp>
      <p:sp>
        <p:nvSpPr>
          <p:cNvPr id="327" name="Google Shape;327;p49"/>
          <p:cNvSpPr txBox="1"/>
          <p:nvPr/>
        </p:nvSpPr>
        <p:spPr>
          <a:xfrm>
            <a:off x="593145" y="4603900"/>
            <a:ext cx="21477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900" u="none" cap="none" strike="noStrike">
                <a:solidFill>
                  <a:srgbClr val="00113E"/>
                </a:solidFill>
                <a:latin typeface="Calibri"/>
                <a:ea typeface="Calibri"/>
                <a:cs typeface="Calibri"/>
                <a:sym typeface="Calibri"/>
              </a:rPr>
              <a:t>{{L_SE}} </a:t>
            </a:r>
            <a:br>
              <a:rPr b="0" i="0" lang="en" sz="900" u="none" cap="none" strike="noStrike">
                <a:solidFill>
                  <a:srgbClr val="00113E"/>
                </a:solidFill>
                <a:latin typeface="Calibri"/>
                <a:ea typeface="Calibri"/>
                <a:cs typeface="Calibri"/>
                <a:sym typeface="Calibri"/>
              </a:rPr>
            </a:br>
            <a:r>
              <a:rPr b="0" i="0" lang="en" sz="900" u="none" cap="none" strike="noStrike">
                <a:solidFill>
                  <a:srgbClr val="00113E"/>
                </a:solidFill>
                <a:latin typeface="Calibri"/>
                <a:ea typeface="Calibri"/>
                <a:cs typeface="Calibri"/>
                <a:sym typeface="Calibri"/>
              </a:rPr>
              <a:t>Wiz Runtime Sensors Deployed</a:t>
            </a:r>
            <a:endParaRPr b="0" i="0" sz="900" u="none" cap="none" strike="noStrike">
              <a:solidFill>
                <a:srgbClr val="000000"/>
              </a:solidFill>
              <a:latin typeface="Calibri"/>
              <a:ea typeface="Calibri"/>
              <a:cs typeface="Calibri"/>
              <a:sym typeface="Calibri"/>
            </a:endParaRPr>
          </a:p>
        </p:txBody>
      </p:sp>
      <p:pic>
        <p:nvPicPr>
          <p:cNvPr id="328" name="Google Shape;328;p49"/>
          <p:cNvPicPr preferRelativeResize="0"/>
          <p:nvPr/>
        </p:nvPicPr>
        <p:blipFill rotWithShape="1">
          <a:blip r:embed="rId10">
            <a:alphaModFix/>
          </a:blip>
          <a:srcRect b="0" l="0" r="0" t="0"/>
          <a:stretch/>
        </p:blipFill>
        <p:spPr>
          <a:xfrm>
            <a:off x="285915" y="4606907"/>
            <a:ext cx="216750" cy="245654"/>
          </a:xfrm>
          <a:prstGeom prst="rect">
            <a:avLst/>
          </a:prstGeom>
          <a:noFill/>
          <a:ln>
            <a:noFill/>
          </a:ln>
        </p:spPr>
      </p:pic>
      <p:sp>
        <p:nvSpPr>
          <p:cNvPr id="329" name="Google Shape;329;p49"/>
          <p:cNvSpPr txBox="1"/>
          <p:nvPr/>
        </p:nvSpPr>
        <p:spPr>
          <a:xfrm>
            <a:off x="590675" y="4214860"/>
            <a:ext cx="22134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900" u="none" cap="none" strike="noStrike">
                <a:solidFill>
                  <a:srgbClr val="00113E"/>
                </a:solidFill>
                <a:latin typeface="Calibri"/>
                <a:ea typeface="Calibri"/>
                <a:cs typeface="Calibri"/>
                <a:sym typeface="Calibri"/>
              </a:rPr>
              <a:t>{{CON_WE}} Connectors With Cloud Events</a:t>
            </a:r>
            <a:br>
              <a:rPr b="0" i="0" lang="en" sz="900" u="none" cap="none" strike="noStrike">
                <a:solidFill>
                  <a:srgbClr val="00113E"/>
                </a:solidFill>
                <a:latin typeface="Calibri"/>
                <a:ea typeface="Calibri"/>
                <a:cs typeface="Calibri"/>
                <a:sym typeface="Calibri"/>
              </a:rPr>
            </a:br>
            <a:r>
              <a:rPr b="0" i="0" lang="en" sz="900" u="none" cap="none" strike="noStrike">
                <a:solidFill>
                  <a:srgbClr val="00113E"/>
                </a:solidFill>
                <a:latin typeface="Calibri"/>
                <a:ea typeface="Calibri"/>
                <a:cs typeface="Calibri"/>
                <a:sym typeface="Calibri"/>
              </a:rPr>
              <a:t>{{CON_NE}} Connectors Without</a:t>
            </a:r>
            <a:endParaRPr b="0" i="0" sz="900" u="none" cap="none" strike="noStrike">
              <a:solidFill>
                <a:srgbClr val="000000"/>
              </a:solidFill>
              <a:latin typeface="Calibri"/>
              <a:ea typeface="Calibri"/>
              <a:cs typeface="Calibri"/>
              <a:sym typeface="Calibri"/>
            </a:endParaRPr>
          </a:p>
        </p:txBody>
      </p:sp>
      <p:pic>
        <p:nvPicPr>
          <p:cNvPr id="330" name="Google Shape;330;p49"/>
          <p:cNvPicPr preferRelativeResize="0"/>
          <p:nvPr/>
        </p:nvPicPr>
        <p:blipFill rotWithShape="1">
          <a:blip r:embed="rId11">
            <a:alphaModFix/>
          </a:blip>
          <a:srcRect b="0" l="0" r="0" t="0"/>
          <a:stretch/>
        </p:blipFill>
        <p:spPr>
          <a:xfrm>
            <a:off x="260656" y="4232746"/>
            <a:ext cx="287558" cy="276456"/>
          </a:xfrm>
          <a:prstGeom prst="rect">
            <a:avLst/>
          </a:prstGeom>
          <a:noFill/>
          <a:ln>
            <a:noFill/>
          </a:ln>
        </p:spPr>
      </p:pic>
      <p:pic>
        <p:nvPicPr>
          <p:cNvPr id="331" name="Google Shape;331;p49"/>
          <p:cNvPicPr preferRelativeResize="0"/>
          <p:nvPr/>
        </p:nvPicPr>
        <p:blipFill rotWithShape="1">
          <a:blip r:embed="rId3">
            <a:alphaModFix/>
          </a:blip>
          <a:srcRect b="0" l="0" r="0" t="0"/>
          <a:stretch/>
        </p:blipFill>
        <p:spPr>
          <a:xfrm>
            <a:off x="2972000" y="820225"/>
            <a:ext cx="2879650" cy="2923377"/>
          </a:xfrm>
          <a:prstGeom prst="rect">
            <a:avLst/>
          </a:prstGeom>
          <a:noFill/>
          <a:ln cap="flat" cmpd="sng" w="9525">
            <a:solidFill>
              <a:schemeClr val="accent1"/>
            </a:solidFill>
            <a:prstDash val="solid"/>
            <a:round/>
            <a:headEnd len="sm" w="sm" type="none"/>
            <a:tailEnd len="sm" w="sm" type="none"/>
          </a:ln>
        </p:spPr>
      </p:pic>
      <p:sp>
        <p:nvSpPr>
          <p:cNvPr id="332" name="Google Shape;332;p49"/>
          <p:cNvSpPr txBox="1"/>
          <p:nvPr/>
        </p:nvSpPr>
        <p:spPr>
          <a:xfrm>
            <a:off x="2972075" y="829568"/>
            <a:ext cx="2879700" cy="3132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400" u="sng" cap="none" strike="noStrike">
                <a:solidFill>
                  <a:schemeClr val="hlink"/>
                </a:solidFill>
                <a:latin typeface="Calibri"/>
                <a:ea typeface="Calibri"/>
                <a:cs typeface="Calibri"/>
                <a:sym typeface="Calibri"/>
                <a:hlinkClick r:id="rId12"/>
              </a:rPr>
              <a:t>Deployments / Connectors</a:t>
            </a:r>
            <a:r>
              <a:rPr b="0" i="0" lang="en" sz="1400" u="none" cap="none" strike="noStrike">
                <a:solidFill>
                  <a:srgbClr val="0254EC"/>
                </a:solidFill>
                <a:latin typeface="Calibri"/>
                <a:ea typeface="Calibri"/>
                <a:cs typeface="Calibri"/>
                <a:sym typeface="Calibri"/>
              </a:rPr>
              <a:t> </a:t>
            </a:r>
            <a:r>
              <a:rPr b="0" i="0" lang="en" sz="1500" u="none" cap="none" strike="noStrike">
                <a:solidFill>
                  <a:schemeClr val="hlink"/>
                </a:solidFill>
                <a:uFill>
                  <a:noFill/>
                </a:uFill>
                <a:latin typeface="Calibri"/>
                <a:ea typeface="Calibri"/>
                <a:cs typeface="Calibri"/>
                <a:sym typeface="Calibri"/>
                <a:hlinkClick r:id="rId13"/>
              </a:rPr>
              <a:t>↗</a:t>
            </a:r>
            <a:endParaRPr b="0" i="0" sz="1400" u="none" cap="none" strike="noStrike">
              <a:solidFill>
                <a:srgbClr val="0254EC"/>
              </a:solidFill>
              <a:latin typeface="Calibri"/>
              <a:ea typeface="Calibri"/>
              <a:cs typeface="Calibri"/>
              <a:sym typeface="Calibri"/>
            </a:endParaRPr>
          </a:p>
        </p:txBody>
      </p:sp>
      <p:sp>
        <p:nvSpPr>
          <p:cNvPr id="333" name="Google Shape;333;p49"/>
          <p:cNvSpPr/>
          <p:nvPr/>
        </p:nvSpPr>
        <p:spPr>
          <a:xfrm>
            <a:off x="4494205" y="1157402"/>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{{CON_EN}}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Active Connectors</a:t>
            </a:r>
            <a:endParaRPr b="0" i="0" sz="700" u="none" cap="none" strike="noStrike">
              <a:solidFill>
                <a:srgbClr val="00113E"/>
              </a:solidFill>
              <a:latin typeface="Calibri"/>
              <a:ea typeface="Calibri"/>
              <a:cs typeface="Calibri"/>
              <a:sym typeface="Calibri"/>
            </a:endParaRPr>
          </a:p>
        </p:txBody>
      </p:sp>
      <p:sp>
        <p:nvSpPr>
          <p:cNvPr id="334" name="Google Shape;334;p49"/>
          <p:cNvSpPr/>
          <p:nvPr/>
        </p:nvSpPr>
        <p:spPr>
          <a:xfrm>
            <a:off x="4494205" y="1683395"/>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{{CON_VCS}}</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VCS Connectors</a:t>
            </a:r>
            <a:endParaRPr b="0" i="0" sz="700" u="none" cap="none" strike="noStrike">
              <a:solidFill>
                <a:srgbClr val="00113E"/>
              </a:solidFill>
              <a:latin typeface="Calibri"/>
              <a:ea typeface="Calibri"/>
              <a:cs typeface="Calibri"/>
              <a:sym typeface="Calibri"/>
            </a:endParaRPr>
          </a:p>
        </p:txBody>
      </p:sp>
      <p:sp>
        <p:nvSpPr>
          <p:cNvPr id="335" name="Google Shape;335;p49"/>
          <p:cNvSpPr/>
          <p:nvPr/>
        </p:nvSpPr>
        <p:spPr>
          <a:xfrm>
            <a:off x="3195369" y="1153399"/>
            <a:ext cx="1168200" cy="4278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{{CON_TOT}}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Total Connectors</a:t>
            </a:r>
            <a:endParaRPr b="0" i="0" sz="700" u="none" cap="none" strike="noStrike">
              <a:solidFill>
                <a:srgbClr val="00113E"/>
              </a:solidFill>
              <a:latin typeface="Calibri"/>
              <a:ea typeface="Calibri"/>
              <a:cs typeface="Calibri"/>
              <a:sym typeface="Calibri"/>
            </a:endParaRPr>
          </a:p>
        </p:txBody>
      </p:sp>
      <p:sp>
        <p:nvSpPr>
          <p:cNvPr id="336" name="Google Shape;336;p49"/>
          <p:cNvSpPr/>
          <p:nvPr/>
        </p:nvSpPr>
        <p:spPr>
          <a:xfrm>
            <a:off x="3195369" y="1681109"/>
            <a:ext cx="1168200" cy="4278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{{OUT_DEP}}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Outpost Deployments</a:t>
            </a:r>
            <a:endParaRPr b="0" i="0" sz="700" u="none" cap="none" strike="noStrike">
              <a:solidFill>
                <a:srgbClr val="00113E"/>
              </a:solidFill>
              <a:latin typeface="Calibri"/>
              <a:ea typeface="Calibri"/>
              <a:cs typeface="Calibri"/>
              <a:sym typeface="Calibri"/>
            </a:endParaRPr>
          </a:p>
        </p:txBody>
      </p:sp>
      <p:sp>
        <p:nvSpPr>
          <p:cNvPr id="337" name="Google Shape;337;p49"/>
          <p:cNvSpPr/>
          <p:nvPr/>
        </p:nvSpPr>
        <p:spPr>
          <a:xfrm>
            <a:off x="3201552" y="2208819"/>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{{CON_DIS}}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Inactive Connectors</a:t>
            </a:r>
            <a:endParaRPr b="0" i="0" sz="700" u="none" cap="none" strike="noStrike">
              <a:solidFill>
                <a:srgbClr val="00113E"/>
              </a:solidFill>
              <a:latin typeface="Calibri"/>
              <a:ea typeface="Calibri"/>
              <a:cs typeface="Calibri"/>
              <a:sym typeface="Calibri"/>
            </a:endParaRPr>
          </a:p>
        </p:txBody>
      </p:sp>
      <p:sp>
        <p:nvSpPr>
          <p:cNvPr id="338" name="Google Shape;338;p49"/>
          <p:cNvSpPr/>
          <p:nvPr/>
        </p:nvSpPr>
        <p:spPr>
          <a:xfrm>
            <a:off x="4500405" y="2209388"/>
            <a:ext cx="11703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175" lIns="91175" spcFirstLastPara="1" rIns="91175" wrap="square" tIns="91175">
            <a:noAutofit/>
          </a:bodyPr>
          <a:lstStyle/>
          <a:p>
            <a:pPr indent="0" lvl="0" marL="0" marR="0" rtl="0" algn="ctr">
              <a:lnSpc>
                <a:spcPct val="100000"/>
              </a:lnSpc>
              <a:spcBef>
                <a:spcPts val="0"/>
              </a:spcBef>
              <a:spcAft>
                <a:spcPts val="0"/>
              </a:spcAft>
              <a:buClr>
                <a:srgbClr val="000000"/>
              </a:buClr>
              <a:buSzPts val="698"/>
              <a:buFont typeface="Arial"/>
              <a:buNone/>
            </a:pPr>
            <a:r>
              <a:rPr b="0" i="0" lang="en" sz="698" u="none" cap="none" strike="noStrike">
                <a:solidFill>
                  <a:srgbClr val="00113E"/>
                </a:solidFill>
                <a:latin typeface="Calibri"/>
                <a:ea typeface="Calibri"/>
                <a:cs typeface="Calibri"/>
                <a:sym typeface="Calibri"/>
              </a:rPr>
              <a:t>{{CON_BRO}}</a:t>
            </a:r>
            <a:br>
              <a:rPr b="0" i="0" lang="en" sz="698" u="none" cap="none" strike="noStrike">
                <a:solidFill>
                  <a:srgbClr val="00113E"/>
                </a:solidFill>
                <a:latin typeface="Calibri"/>
                <a:ea typeface="Calibri"/>
                <a:cs typeface="Calibri"/>
                <a:sym typeface="Calibri"/>
              </a:rPr>
            </a:br>
            <a:r>
              <a:rPr b="0" i="0" lang="en" sz="698" u="none" cap="none" strike="noStrike">
                <a:solidFill>
                  <a:srgbClr val="00113E"/>
                </a:solidFill>
                <a:latin typeface="Calibri"/>
                <a:ea typeface="Calibri"/>
                <a:cs typeface="Calibri"/>
                <a:sym typeface="Calibri"/>
              </a:rPr>
              <a:t>Broker Deployments</a:t>
            </a:r>
            <a:endParaRPr b="0" i="0" sz="698" u="none" cap="none" strike="noStrike">
              <a:solidFill>
                <a:srgbClr val="00113E"/>
              </a:solidFill>
              <a:latin typeface="Calibri"/>
              <a:ea typeface="Calibri"/>
              <a:cs typeface="Calibri"/>
              <a:sym typeface="Calibri"/>
            </a:endParaRPr>
          </a:p>
        </p:txBody>
      </p:sp>
      <p:sp>
        <p:nvSpPr>
          <p:cNvPr id="339" name="Google Shape;339;p49"/>
          <p:cNvSpPr/>
          <p:nvPr/>
        </p:nvSpPr>
        <p:spPr>
          <a:xfrm>
            <a:off x="3201552" y="2738628"/>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{{CON_R}}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Registry Connectors</a:t>
            </a:r>
            <a:endParaRPr b="0" i="0" sz="700" u="none" cap="none" strike="noStrike">
              <a:solidFill>
                <a:srgbClr val="00113E"/>
              </a:solidFill>
              <a:latin typeface="Calibri"/>
              <a:ea typeface="Calibri"/>
              <a:cs typeface="Calibri"/>
              <a:sym typeface="Calibri"/>
            </a:endParaRPr>
          </a:p>
        </p:txBody>
      </p:sp>
      <p:sp>
        <p:nvSpPr>
          <p:cNvPr id="340" name="Google Shape;340;p49"/>
          <p:cNvSpPr/>
          <p:nvPr/>
        </p:nvSpPr>
        <p:spPr>
          <a:xfrm>
            <a:off x="4500395" y="2735381"/>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{{CON_K8S}}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Kubernetes Connectors</a:t>
            </a:r>
            <a:endParaRPr b="0" i="0" sz="700" u="none" cap="none" strike="noStrike">
              <a:solidFill>
                <a:srgbClr val="00113E"/>
              </a:solidFill>
              <a:latin typeface="Calibri"/>
              <a:ea typeface="Calibri"/>
              <a:cs typeface="Calibri"/>
              <a:sym typeface="Calibri"/>
            </a:endParaRPr>
          </a:p>
        </p:txBody>
      </p:sp>
      <p:pic>
        <p:nvPicPr>
          <p:cNvPr id="341" name="Google Shape;341;p49"/>
          <p:cNvPicPr preferRelativeResize="0"/>
          <p:nvPr/>
        </p:nvPicPr>
        <p:blipFill rotWithShape="1">
          <a:blip r:embed="rId3">
            <a:alphaModFix/>
          </a:blip>
          <a:srcRect b="0" l="0" r="0" t="0"/>
          <a:stretch/>
        </p:blipFill>
        <p:spPr>
          <a:xfrm>
            <a:off x="5999925" y="828800"/>
            <a:ext cx="2958424" cy="2914801"/>
          </a:xfrm>
          <a:prstGeom prst="rect">
            <a:avLst/>
          </a:prstGeom>
          <a:noFill/>
          <a:ln cap="flat" cmpd="sng" w="9525">
            <a:solidFill>
              <a:schemeClr val="accent1"/>
            </a:solidFill>
            <a:prstDash val="solid"/>
            <a:round/>
            <a:headEnd len="sm" w="sm" type="none"/>
            <a:tailEnd len="sm" w="sm" type="none"/>
          </a:ln>
        </p:spPr>
      </p:pic>
      <p:sp>
        <p:nvSpPr>
          <p:cNvPr id="342" name="Google Shape;342;p49"/>
          <p:cNvSpPr txBox="1"/>
          <p:nvPr/>
        </p:nvSpPr>
        <p:spPr>
          <a:xfrm>
            <a:off x="6027633" y="838143"/>
            <a:ext cx="2901413" cy="3132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400" u="sng" cap="none" strike="noStrike">
                <a:solidFill>
                  <a:schemeClr val="hlink"/>
                </a:solidFill>
                <a:latin typeface="Calibri"/>
                <a:ea typeface="Calibri"/>
                <a:cs typeface="Calibri"/>
                <a:sym typeface="Calibri"/>
                <a:hlinkClick r:id="rId14"/>
              </a:rPr>
              <a:t>Cloud Events</a:t>
            </a:r>
            <a:r>
              <a:rPr b="0" i="0" lang="en" sz="1400" u="none" cap="none" strike="noStrike">
                <a:solidFill>
                  <a:srgbClr val="0254EC"/>
                </a:solidFill>
                <a:latin typeface="Calibri"/>
                <a:ea typeface="Calibri"/>
                <a:cs typeface="Calibri"/>
                <a:sym typeface="Calibri"/>
              </a:rPr>
              <a:t> </a:t>
            </a:r>
            <a:r>
              <a:rPr b="0" i="0" lang="en" sz="1500" u="none" cap="none" strike="noStrike">
                <a:solidFill>
                  <a:schemeClr val="hlink"/>
                </a:solidFill>
                <a:uFill>
                  <a:noFill/>
                </a:uFill>
                <a:latin typeface="Calibri"/>
                <a:ea typeface="Calibri"/>
                <a:cs typeface="Calibri"/>
                <a:sym typeface="Calibri"/>
                <a:hlinkClick r:id="rId15"/>
              </a:rPr>
              <a:t>↗</a:t>
            </a:r>
            <a:endParaRPr b="0" i="0" sz="1400" u="none" cap="none" strike="noStrike">
              <a:solidFill>
                <a:srgbClr val="0254EC"/>
              </a:solidFill>
              <a:latin typeface="Calibri"/>
              <a:ea typeface="Calibri"/>
              <a:cs typeface="Calibri"/>
              <a:sym typeface="Calibri"/>
            </a:endParaRPr>
          </a:p>
        </p:txBody>
      </p:sp>
      <p:sp>
        <p:nvSpPr>
          <p:cNvPr id="343" name="Google Shape;343;p49"/>
          <p:cNvSpPr txBox="1"/>
          <p:nvPr/>
        </p:nvSpPr>
        <p:spPr>
          <a:xfrm>
            <a:off x="6015229" y="1319738"/>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{{CLOUD_EVENTS_2}}</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44" name="Google Shape;344;p49"/>
          <p:cNvSpPr txBox="1"/>
          <p:nvPr/>
        </p:nvSpPr>
        <p:spPr>
          <a:xfrm>
            <a:off x="6015229" y="1514580"/>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{{CLOUD_EVENTS_3}}</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45" name="Google Shape;345;p49"/>
          <p:cNvSpPr txBox="1"/>
          <p:nvPr/>
        </p:nvSpPr>
        <p:spPr>
          <a:xfrm>
            <a:off x="6015229" y="1709422"/>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{{CLOUD_EVENTS_4}}</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46" name="Google Shape;346;p49"/>
          <p:cNvSpPr txBox="1"/>
          <p:nvPr/>
        </p:nvSpPr>
        <p:spPr>
          <a:xfrm>
            <a:off x="6015229" y="1904264"/>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{{CLOUD_EVENTS_5}}</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47" name="Google Shape;347;p49"/>
          <p:cNvSpPr txBox="1"/>
          <p:nvPr/>
        </p:nvSpPr>
        <p:spPr>
          <a:xfrm>
            <a:off x="6015229" y="2099106"/>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{{CLOUD_EVENTS_6}}</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48" name="Google Shape;348;p49"/>
          <p:cNvSpPr txBox="1"/>
          <p:nvPr/>
        </p:nvSpPr>
        <p:spPr>
          <a:xfrm>
            <a:off x="6015229" y="2293948"/>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{{CLOUD_EVENTS_7}}</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49" name="Google Shape;349;p49"/>
          <p:cNvSpPr txBox="1"/>
          <p:nvPr/>
        </p:nvSpPr>
        <p:spPr>
          <a:xfrm>
            <a:off x="6015229" y="2488790"/>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{{CLOUD_EVENTS_8}}</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50" name="Google Shape;350;p49"/>
          <p:cNvSpPr txBox="1"/>
          <p:nvPr/>
        </p:nvSpPr>
        <p:spPr>
          <a:xfrm>
            <a:off x="6015229" y="2683632"/>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{{CLOUD_EVENTS_9}}</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51" name="Google Shape;351;p49"/>
          <p:cNvSpPr txBox="1"/>
          <p:nvPr/>
        </p:nvSpPr>
        <p:spPr>
          <a:xfrm>
            <a:off x="6015229" y="2878474"/>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{{CLOUD_EVENTS_10}}</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52" name="Google Shape;352;p49"/>
          <p:cNvSpPr txBox="1"/>
          <p:nvPr/>
        </p:nvSpPr>
        <p:spPr>
          <a:xfrm>
            <a:off x="6015229" y="3073316"/>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1100"/>
              <a:buFont typeface="Arial"/>
              <a:buNone/>
            </a:pPr>
            <a:r>
              <a:rPr b="0" i="0" lang="en" sz="800" u="none" cap="none" strike="noStrike">
                <a:solidFill>
                  <a:srgbClr val="333333"/>
                </a:solidFill>
                <a:latin typeface="Calibri"/>
                <a:ea typeface="Calibri"/>
                <a:cs typeface="Calibri"/>
                <a:sym typeface="Calibri"/>
              </a:rPr>
              <a:t>{{CLOUD_EVENTS_11}}</a:t>
            </a:r>
            <a:endParaRPr b="0" i="0" sz="8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333333"/>
              </a:solidFill>
              <a:latin typeface="Calibri"/>
              <a:ea typeface="Calibri"/>
              <a:cs typeface="Calibri"/>
              <a:sym typeface="Calibri"/>
            </a:endParaRPr>
          </a:p>
        </p:txBody>
      </p:sp>
      <p:sp>
        <p:nvSpPr>
          <p:cNvPr id="353" name="Google Shape;353;p49"/>
          <p:cNvSpPr txBox="1"/>
          <p:nvPr/>
        </p:nvSpPr>
        <p:spPr>
          <a:xfrm>
            <a:off x="6015229" y="3268158"/>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{{CLOUD_EVENTS_12}}</a:t>
            </a:r>
            <a:endParaRPr b="0" i="0" sz="800" u="none" cap="none" strike="noStrike">
              <a:solidFill>
                <a:srgbClr val="333333"/>
              </a:solidFill>
              <a:latin typeface="Calibri"/>
              <a:ea typeface="Calibri"/>
              <a:cs typeface="Calibri"/>
              <a:sym typeface="Calibri"/>
            </a:endParaRPr>
          </a:p>
        </p:txBody>
      </p:sp>
      <p:sp>
        <p:nvSpPr>
          <p:cNvPr id="354" name="Google Shape;354;p49"/>
          <p:cNvSpPr txBox="1"/>
          <p:nvPr/>
        </p:nvSpPr>
        <p:spPr>
          <a:xfrm>
            <a:off x="6015228" y="1122408"/>
            <a:ext cx="2287200" cy="1839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{{CLOUD_EVENTS_1}}</a:t>
            </a:r>
            <a:endParaRPr b="0" i="0" sz="800" u="none" cap="none" strike="noStrike">
              <a:solidFill>
                <a:srgbClr val="333333"/>
              </a:solidFill>
              <a:latin typeface="Calibri"/>
              <a:ea typeface="Calibri"/>
              <a:cs typeface="Calibri"/>
              <a:sym typeface="Calibri"/>
            </a:endParaRPr>
          </a:p>
        </p:txBody>
      </p:sp>
      <p:sp>
        <p:nvSpPr>
          <p:cNvPr id="355" name="Google Shape;355;p49"/>
          <p:cNvSpPr txBox="1"/>
          <p:nvPr/>
        </p:nvSpPr>
        <p:spPr>
          <a:xfrm>
            <a:off x="7985429" y="1105704"/>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{{CE_1}}</a:t>
            </a:r>
            <a:endParaRPr b="0" i="0" sz="800" u="none" cap="none" strike="noStrike">
              <a:solidFill>
                <a:srgbClr val="333333"/>
              </a:solidFill>
              <a:latin typeface="Calibri"/>
              <a:ea typeface="Calibri"/>
              <a:cs typeface="Calibri"/>
              <a:sym typeface="Calibri"/>
            </a:endParaRPr>
          </a:p>
        </p:txBody>
      </p:sp>
      <p:sp>
        <p:nvSpPr>
          <p:cNvPr id="356" name="Google Shape;356;p49"/>
          <p:cNvSpPr txBox="1"/>
          <p:nvPr/>
        </p:nvSpPr>
        <p:spPr>
          <a:xfrm>
            <a:off x="7985429" y="1300773"/>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{{CE_2}}</a:t>
            </a:r>
            <a:endParaRPr b="0" i="0" sz="800" u="none" cap="none" strike="noStrike">
              <a:solidFill>
                <a:srgbClr val="333333"/>
              </a:solidFill>
              <a:latin typeface="Calibri"/>
              <a:ea typeface="Calibri"/>
              <a:cs typeface="Calibri"/>
              <a:sym typeface="Calibri"/>
            </a:endParaRPr>
          </a:p>
        </p:txBody>
      </p:sp>
      <p:sp>
        <p:nvSpPr>
          <p:cNvPr id="357" name="Google Shape;357;p49"/>
          <p:cNvSpPr txBox="1"/>
          <p:nvPr/>
        </p:nvSpPr>
        <p:spPr>
          <a:xfrm>
            <a:off x="7985429" y="1495843"/>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{{CE_3}}</a:t>
            </a:r>
            <a:endParaRPr b="0" i="0" sz="800" u="none" cap="none" strike="noStrike">
              <a:solidFill>
                <a:srgbClr val="333333"/>
              </a:solidFill>
              <a:latin typeface="Calibri"/>
              <a:ea typeface="Calibri"/>
              <a:cs typeface="Calibri"/>
              <a:sym typeface="Calibri"/>
            </a:endParaRPr>
          </a:p>
        </p:txBody>
      </p:sp>
      <p:sp>
        <p:nvSpPr>
          <p:cNvPr id="358" name="Google Shape;358;p49"/>
          <p:cNvSpPr txBox="1"/>
          <p:nvPr/>
        </p:nvSpPr>
        <p:spPr>
          <a:xfrm>
            <a:off x="7985429" y="1690912"/>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{{CE_4}}</a:t>
            </a:r>
            <a:endParaRPr b="0" i="0" sz="800" u="none" cap="none" strike="noStrike">
              <a:solidFill>
                <a:srgbClr val="333333"/>
              </a:solidFill>
              <a:latin typeface="Calibri"/>
              <a:ea typeface="Calibri"/>
              <a:cs typeface="Calibri"/>
              <a:sym typeface="Calibri"/>
            </a:endParaRPr>
          </a:p>
        </p:txBody>
      </p:sp>
      <p:sp>
        <p:nvSpPr>
          <p:cNvPr id="359" name="Google Shape;359;p49"/>
          <p:cNvSpPr txBox="1"/>
          <p:nvPr/>
        </p:nvSpPr>
        <p:spPr>
          <a:xfrm>
            <a:off x="7985429" y="1885981"/>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{{CE_5}}</a:t>
            </a:r>
            <a:endParaRPr b="0" i="0" sz="800" u="none" cap="none" strike="noStrike">
              <a:solidFill>
                <a:srgbClr val="333333"/>
              </a:solidFill>
              <a:latin typeface="Calibri"/>
              <a:ea typeface="Calibri"/>
              <a:cs typeface="Calibri"/>
              <a:sym typeface="Calibri"/>
            </a:endParaRPr>
          </a:p>
        </p:txBody>
      </p:sp>
      <p:sp>
        <p:nvSpPr>
          <p:cNvPr id="360" name="Google Shape;360;p49"/>
          <p:cNvSpPr txBox="1"/>
          <p:nvPr/>
        </p:nvSpPr>
        <p:spPr>
          <a:xfrm>
            <a:off x="7985429" y="2081050"/>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{{CE_6}}</a:t>
            </a:r>
            <a:endParaRPr b="0" i="0" sz="800" u="none" cap="none" strike="noStrike">
              <a:solidFill>
                <a:srgbClr val="333333"/>
              </a:solidFill>
              <a:latin typeface="Calibri"/>
              <a:ea typeface="Calibri"/>
              <a:cs typeface="Calibri"/>
              <a:sym typeface="Calibri"/>
            </a:endParaRPr>
          </a:p>
        </p:txBody>
      </p:sp>
      <p:sp>
        <p:nvSpPr>
          <p:cNvPr id="361" name="Google Shape;361;p49"/>
          <p:cNvSpPr txBox="1"/>
          <p:nvPr/>
        </p:nvSpPr>
        <p:spPr>
          <a:xfrm>
            <a:off x="7985429" y="2276120"/>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{{CE_7}}</a:t>
            </a:r>
            <a:endParaRPr b="0" i="0" sz="800" u="none" cap="none" strike="noStrike">
              <a:solidFill>
                <a:srgbClr val="333333"/>
              </a:solidFill>
              <a:latin typeface="Calibri"/>
              <a:ea typeface="Calibri"/>
              <a:cs typeface="Calibri"/>
              <a:sym typeface="Calibri"/>
            </a:endParaRPr>
          </a:p>
        </p:txBody>
      </p:sp>
      <p:sp>
        <p:nvSpPr>
          <p:cNvPr id="362" name="Google Shape;362;p49"/>
          <p:cNvSpPr txBox="1"/>
          <p:nvPr/>
        </p:nvSpPr>
        <p:spPr>
          <a:xfrm>
            <a:off x="7985429" y="2471189"/>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{{CE_8}}</a:t>
            </a:r>
            <a:endParaRPr b="0" i="0" sz="800" u="none" cap="none" strike="noStrike">
              <a:solidFill>
                <a:srgbClr val="333333"/>
              </a:solidFill>
              <a:latin typeface="Calibri"/>
              <a:ea typeface="Calibri"/>
              <a:cs typeface="Calibri"/>
              <a:sym typeface="Calibri"/>
            </a:endParaRPr>
          </a:p>
        </p:txBody>
      </p:sp>
      <p:sp>
        <p:nvSpPr>
          <p:cNvPr id="363" name="Google Shape;363;p49"/>
          <p:cNvSpPr txBox="1"/>
          <p:nvPr/>
        </p:nvSpPr>
        <p:spPr>
          <a:xfrm>
            <a:off x="7985429" y="2666258"/>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{{CE_9}}</a:t>
            </a:r>
            <a:endParaRPr b="0" i="0" sz="800" u="none" cap="none" strike="noStrike">
              <a:solidFill>
                <a:srgbClr val="333333"/>
              </a:solidFill>
              <a:latin typeface="Calibri"/>
              <a:ea typeface="Calibri"/>
              <a:cs typeface="Calibri"/>
              <a:sym typeface="Calibri"/>
            </a:endParaRPr>
          </a:p>
        </p:txBody>
      </p:sp>
      <p:sp>
        <p:nvSpPr>
          <p:cNvPr id="364" name="Google Shape;364;p49"/>
          <p:cNvSpPr txBox="1"/>
          <p:nvPr/>
        </p:nvSpPr>
        <p:spPr>
          <a:xfrm>
            <a:off x="7985429" y="2861327"/>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{{CE_10}}</a:t>
            </a:r>
            <a:endParaRPr b="0" i="0" sz="800" u="none" cap="none" strike="noStrike">
              <a:solidFill>
                <a:srgbClr val="333333"/>
              </a:solidFill>
              <a:latin typeface="Calibri"/>
              <a:ea typeface="Calibri"/>
              <a:cs typeface="Calibri"/>
              <a:sym typeface="Calibri"/>
            </a:endParaRPr>
          </a:p>
        </p:txBody>
      </p:sp>
      <p:sp>
        <p:nvSpPr>
          <p:cNvPr id="365" name="Google Shape;365;p49"/>
          <p:cNvSpPr txBox="1"/>
          <p:nvPr/>
        </p:nvSpPr>
        <p:spPr>
          <a:xfrm>
            <a:off x="7990523" y="3056397"/>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{{CE_11}}</a:t>
            </a:r>
            <a:endParaRPr b="0" i="0" sz="800" u="none" cap="none" strike="noStrike">
              <a:solidFill>
                <a:srgbClr val="333333"/>
              </a:solidFill>
              <a:latin typeface="Calibri"/>
              <a:ea typeface="Calibri"/>
              <a:cs typeface="Calibri"/>
              <a:sym typeface="Calibri"/>
            </a:endParaRPr>
          </a:p>
        </p:txBody>
      </p:sp>
      <p:sp>
        <p:nvSpPr>
          <p:cNvPr id="366" name="Google Shape;366;p49"/>
          <p:cNvSpPr txBox="1"/>
          <p:nvPr/>
        </p:nvSpPr>
        <p:spPr>
          <a:xfrm>
            <a:off x="7985429" y="3251466"/>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{{CE_12}}</a:t>
            </a:r>
            <a:endParaRPr b="0" i="0" sz="800" u="none" cap="none" strike="noStrike">
              <a:solidFill>
                <a:srgbClr val="333333"/>
              </a:solidFill>
              <a:latin typeface="Calibri"/>
              <a:ea typeface="Calibri"/>
              <a:cs typeface="Calibri"/>
              <a:sym typeface="Calibri"/>
            </a:endParaRPr>
          </a:p>
        </p:txBody>
      </p:sp>
      <p:pic>
        <p:nvPicPr>
          <p:cNvPr id="367" name="Google Shape;367;p49"/>
          <p:cNvPicPr preferRelativeResize="0"/>
          <p:nvPr/>
        </p:nvPicPr>
        <p:blipFill rotWithShape="1">
          <a:blip r:embed="rId16">
            <a:alphaModFix/>
          </a:blip>
          <a:srcRect b="0" l="0" r="0" t="0"/>
          <a:stretch/>
        </p:blipFill>
        <p:spPr>
          <a:xfrm>
            <a:off x="2972000" y="3837150"/>
            <a:ext cx="5986350" cy="1180899"/>
          </a:xfrm>
          <a:prstGeom prst="rect">
            <a:avLst/>
          </a:prstGeom>
          <a:noFill/>
          <a:ln cap="flat" cmpd="sng" w="9525">
            <a:solidFill>
              <a:schemeClr val="accent1"/>
            </a:solidFill>
            <a:prstDash val="solid"/>
            <a:round/>
            <a:headEnd len="sm" w="sm" type="none"/>
            <a:tailEnd len="sm" w="sm" type="none"/>
          </a:ln>
        </p:spPr>
      </p:pic>
      <p:sp>
        <p:nvSpPr>
          <p:cNvPr id="368" name="Google Shape;368;p49"/>
          <p:cNvSpPr txBox="1"/>
          <p:nvPr/>
        </p:nvSpPr>
        <p:spPr>
          <a:xfrm>
            <a:off x="3107645" y="3877908"/>
            <a:ext cx="2630400" cy="309000"/>
          </a:xfrm>
          <a:prstGeom prst="rect">
            <a:avLst/>
          </a:prstGeom>
          <a:noFill/>
          <a:ln>
            <a:noFill/>
          </a:ln>
        </p:spPr>
        <p:txBody>
          <a:bodyPr anchorCtr="0" anchor="t" bIns="34275" lIns="68575" spcFirstLastPara="1" rIns="68575" wrap="square" tIns="34275">
            <a:normAutofit/>
          </a:bodyPr>
          <a:lstStyle/>
          <a:p>
            <a:pPr indent="0" lvl="0" marL="0" marR="0" rtl="0" algn="l">
              <a:lnSpc>
                <a:spcPct val="90000"/>
              </a:lnSpc>
              <a:spcBef>
                <a:spcPts val="0"/>
              </a:spcBef>
              <a:spcAft>
                <a:spcPts val="0"/>
              </a:spcAft>
              <a:buClr>
                <a:schemeClr val="dk2"/>
              </a:buClr>
              <a:buSzPts val="1500"/>
              <a:buFont typeface="Arial"/>
              <a:buNone/>
            </a:pPr>
            <a:r>
              <a:rPr b="0" i="0" lang="en" sz="1400" u="sng" cap="none" strike="noStrike">
                <a:solidFill>
                  <a:schemeClr val="hlink"/>
                </a:solidFill>
                <a:latin typeface="Calibri"/>
                <a:ea typeface="Calibri"/>
                <a:cs typeface="Calibri"/>
                <a:sym typeface="Calibri"/>
                <a:hlinkClick r:id="rId17"/>
              </a:rPr>
              <a:t>AI Visibility / Inventory</a:t>
            </a:r>
            <a:r>
              <a:rPr b="0" i="0" lang="en" sz="1400" u="none" cap="none" strike="noStrike">
                <a:solidFill>
                  <a:srgbClr val="0254EC"/>
                </a:solidFill>
                <a:latin typeface="Calibri"/>
                <a:ea typeface="Calibri"/>
                <a:cs typeface="Calibri"/>
                <a:sym typeface="Calibri"/>
              </a:rPr>
              <a:t> </a:t>
            </a:r>
            <a:r>
              <a:rPr b="0" i="0" lang="en" sz="1500" u="none" cap="none" strike="noStrike">
                <a:solidFill>
                  <a:schemeClr val="hlink"/>
                </a:solidFill>
                <a:uFill>
                  <a:noFill/>
                </a:uFill>
                <a:latin typeface="Calibri"/>
                <a:ea typeface="Calibri"/>
                <a:cs typeface="Calibri"/>
                <a:sym typeface="Calibri"/>
                <a:hlinkClick r:id="rId18"/>
              </a:rPr>
              <a:t>↗</a:t>
            </a:r>
            <a:endParaRPr b="0" i="0" sz="1400" u="none" cap="none" strike="noStrike">
              <a:solidFill>
                <a:srgbClr val="0254EC"/>
              </a:solidFill>
              <a:latin typeface="Calibri"/>
              <a:ea typeface="Calibri"/>
              <a:cs typeface="Calibri"/>
              <a:sym typeface="Calibri"/>
            </a:endParaRPr>
          </a:p>
        </p:txBody>
      </p:sp>
      <p:sp>
        <p:nvSpPr>
          <p:cNvPr id="369" name="Google Shape;369;p49"/>
          <p:cNvSpPr/>
          <p:nvPr/>
        </p:nvSpPr>
        <p:spPr>
          <a:xfrm>
            <a:off x="3139402" y="4279050"/>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{{AI_MODELS_COUNT}}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AI Models</a:t>
            </a:r>
            <a:endParaRPr b="0" i="0" sz="1200" u="none" cap="none" strike="noStrike">
              <a:solidFill>
                <a:srgbClr val="000000"/>
              </a:solidFill>
              <a:latin typeface="Calibri"/>
              <a:ea typeface="Calibri"/>
              <a:cs typeface="Calibri"/>
              <a:sym typeface="Calibri"/>
            </a:endParaRPr>
          </a:p>
        </p:txBody>
      </p:sp>
      <p:sp>
        <p:nvSpPr>
          <p:cNvPr id="370" name="Google Shape;370;p49"/>
          <p:cNvSpPr/>
          <p:nvPr/>
        </p:nvSpPr>
        <p:spPr>
          <a:xfrm>
            <a:off x="4314761" y="4279050"/>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{{AI_AGENTS_COUNT}}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AI Agents</a:t>
            </a:r>
            <a:endParaRPr b="0" i="0" sz="700" u="none" cap="none" strike="noStrike">
              <a:solidFill>
                <a:srgbClr val="00113E"/>
              </a:solidFill>
              <a:latin typeface="Calibri"/>
              <a:ea typeface="Calibri"/>
              <a:cs typeface="Calibri"/>
              <a:sym typeface="Calibri"/>
            </a:endParaRPr>
          </a:p>
        </p:txBody>
      </p:sp>
      <p:sp>
        <p:nvSpPr>
          <p:cNvPr id="371" name="Google Shape;371;p49"/>
          <p:cNvSpPr/>
          <p:nvPr/>
        </p:nvSpPr>
        <p:spPr>
          <a:xfrm>
            <a:off x="5490120" y="4279060"/>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{{AI_PIPELINES_COUNT}}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AI Pipelines</a:t>
            </a:r>
            <a:endParaRPr b="0" i="0" sz="700" u="none" cap="none" strike="noStrike">
              <a:solidFill>
                <a:srgbClr val="00113E"/>
              </a:solidFill>
              <a:latin typeface="Calibri"/>
              <a:ea typeface="Calibri"/>
              <a:cs typeface="Calibri"/>
              <a:sym typeface="Calibri"/>
            </a:endParaRPr>
          </a:p>
        </p:txBody>
      </p:sp>
      <p:sp>
        <p:nvSpPr>
          <p:cNvPr id="372" name="Google Shape;372;p49"/>
          <p:cNvSpPr/>
          <p:nvPr/>
        </p:nvSpPr>
        <p:spPr>
          <a:xfrm>
            <a:off x="6665479" y="4284759"/>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{{AI_WORKLOADS_COUNT}}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AI Workloads</a:t>
            </a:r>
            <a:endParaRPr b="0" i="0" sz="700" u="none" cap="none" strike="noStrike">
              <a:solidFill>
                <a:srgbClr val="00113E"/>
              </a:solidFill>
              <a:latin typeface="Calibri"/>
              <a:ea typeface="Calibri"/>
              <a:cs typeface="Calibri"/>
              <a:sym typeface="Calibri"/>
            </a:endParaRPr>
          </a:p>
        </p:txBody>
      </p:sp>
      <p:sp>
        <p:nvSpPr>
          <p:cNvPr id="373" name="Google Shape;373;p49"/>
          <p:cNvSpPr/>
          <p:nvPr/>
        </p:nvSpPr>
        <p:spPr>
          <a:xfrm>
            <a:off x="3145104" y="4656960"/>
            <a:ext cx="1060500" cy="2844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{{AI_GUARDRAILS_COUNT}}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AI Guardrails</a:t>
            </a:r>
            <a:endParaRPr b="0" i="0" sz="700" u="none" cap="none" strike="noStrike">
              <a:solidFill>
                <a:srgbClr val="00113E"/>
              </a:solidFill>
              <a:latin typeface="Calibri"/>
              <a:ea typeface="Calibri"/>
              <a:cs typeface="Calibri"/>
              <a:sym typeface="Calibri"/>
            </a:endParaRPr>
          </a:p>
        </p:txBody>
      </p:sp>
      <p:sp>
        <p:nvSpPr>
          <p:cNvPr id="374" name="Google Shape;374;p49"/>
          <p:cNvSpPr/>
          <p:nvPr/>
        </p:nvSpPr>
        <p:spPr>
          <a:xfrm>
            <a:off x="4319779" y="4664450"/>
            <a:ext cx="1060500" cy="2844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{{AI_MCP_SERVERS_COUNT}}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MCP Servers</a:t>
            </a:r>
            <a:endParaRPr b="0" i="0" sz="700" u="none" cap="none" strike="noStrike">
              <a:solidFill>
                <a:srgbClr val="00113E"/>
              </a:solidFill>
              <a:latin typeface="Calibri"/>
              <a:ea typeface="Calibri"/>
              <a:cs typeface="Calibri"/>
              <a:sym typeface="Calibri"/>
            </a:endParaRPr>
          </a:p>
        </p:txBody>
      </p:sp>
      <p:sp>
        <p:nvSpPr>
          <p:cNvPr id="375" name="Google Shape;375;p49"/>
          <p:cNvSpPr/>
          <p:nvPr/>
        </p:nvSpPr>
        <p:spPr>
          <a:xfrm>
            <a:off x="5494453" y="4657061"/>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{{AI_TECHNOLOGIES_COUNT}}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AI Technologies</a:t>
            </a:r>
            <a:endParaRPr b="0" i="0" sz="700" u="none" cap="none" strike="noStrike">
              <a:solidFill>
                <a:srgbClr val="00113E"/>
              </a:solidFill>
              <a:latin typeface="Calibri"/>
              <a:ea typeface="Calibri"/>
              <a:cs typeface="Calibri"/>
              <a:sym typeface="Calibri"/>
            </a:endParaRPr>
          </a:p>
        </p:txBody>
      </p:sp>
      <p:sp>
        <p:nvSpPr>
          <p:cNvPr id="376" name="Google Shape;376;p49"/>
          <p:cNvSpPr/>
          <p:nvPr/>
        </p:nvSpPr>
        <p:spPr>
          <a:xfrm>
            <a:off x="6669128" y="4655787"/>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{{AI_CODE_REPOS_COUNT}}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Code Repos with AI</a:t>
            </a:r>
            <a:endParaRPr b="0" i="0" sz="700" u="none" cap="none" strike="noStrike">
              <a:solidFill>
                <a:srgbClr val="00113E"/>
              </a:solidFill>
              <a:latin typeface="Calibri"/>
              <a:ea typeface="Calibri"/>
              <a:cs typeface="Calibri"/>
              <a:sym typeface="Calibri"/>
            </a:endParaRPr>
          </a:p>
        </p:txBody>
      </p:sp>
      <p:sp>
        <p:nvSpPr>
          <p:cNvPr id="377" name="Google Shape;377;p49"/>
          <p:cNvSpPr txBox="1"/>
          <p:nvPr/>
        </p:nvSpPr>
        <p:spPr>
          <a:xfrm>
            <a:off x="6013666" y="3460474"/>
            <a:ext cx="2287200" cy="181200"/>
          </a:xfrm>
          <a:prstGeom prst="rect">
            <a:avLst/>
          </a:prstGeom>
          <a:noFill/>
          <a:ln>
            <a:noFill/>
          </a:ln>
        </p:spPr>
        <p:txBody>
          <a:bodyPr anchorCtr="0" anchor="t" bIns="91225" lIns="91225" spcFirstLastPara="1" rIns="91225" wrap="square" tIns="91225">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{{CLOUD_EVENTS_13}}</a:t>
            </a:r>
            <a:endParaRPr b="0" i="0" sz="800" u="none" cap="none" strike="noStrike">
              <a:solidFill>
                <a:srgbClr val="333333"/>
              </a:solidFill>
              <a:latin typeface="Calibri"/>
              <a:ea typeface="Calibri"/>
              <a:cs typeface="Calibri"/>
              <a:sym typeface="Calibri"/>
            </a:endParaRPr>
          </a:p>
        </p:txBody>
      </p:sp>
      <p:sp>
        <p:nvSpPr>
          <p:cNvPr id="378" name="Google Shape;378;p49"/>
          <p:cNvSpPr txBox="1"/>
          <p:nvPr/>
        </p:nvSpPr>
        <p:spPr>
          <a:xfrm>
            <a:off x="7983866" y="3443782"/>
            <a:ext cx="798300" cy="183900"/>
          </a:xfrm>
          <a:prstGeom prst="rect">
            <a:avLst/>
          </a:prstGeom>
          <a:noFill/>
          <a:ln>
            <a:noFill/>
          </a:ln>
        </p:spPr>
        <p:txBody>
          <a:bodyPr anchorCtr="0" anchor="t" bIns="91225" lIns="91225" spcFirstLastPara="1" rIns="91225" wrap="square" tIns="91225">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{{CE_13}}</a:t>
            </a:r>
            <a:endParaRPr b="0" i="0" sz="800" u="none" cap="none" strike="noStrike">
              <a:solidFill>
                <a:srgbClr val="333333"/>
              </a:solidFill>
              <a:latin typeface="Calibri"/>
              <a:ea typeface="Calibri"/>
              <a:cs typeface="Calibri"/>
              <a:sym typeface="Calibri"/>
            </a:endParaRPr>
          </a:p>
        </p:txBody>
      </p:sp>
      <p:sp>
        <p:nvSpPr>
          <p:cNvPr id="379" name="Google Shape;379;p49"/>
          <p:cNvSpPr/>
          <p:nvPr/>
        </p:nvSpPr>
        <p:spPr>
          <a:xfrm>
            <a:off x="3190949" y="3268438"/>
            <a:ext cx="11787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{{CON_R}}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Admission Controllers</a:t>
            </a:r>
            <a:endParaRPr b="0" i="0" sz="700" u="none" cap="none" strike="noStrike">
              <a:solidFill>
                <a:srgbClr val="00113E"/>
              </a:solidFill>
              <a:latin typeface="Calibri"/>
              <a:ea typeface="Calibri"/>
              <a:cs typeface="Calibri"/>
              <a:sym typeface="Calibri"/>
            </a:endParaRPr>
          </a:p>
        </p:txBody>
      </p:sp>
      <p:sp>
        <p:nvSpPr>
          <p:cNvPr id="380" name="Google Shape;380;p49"/>
          <p:cNvSpPr/>
          <p:nvPr/>
        </p:nvSpPr>
        <p:spPr>
          <a:xfrm>
            <a:off x="7840838" y="4284759"/>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{{AI_DATASETS_COUNT}}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AI Datastores</a:t>
            </a:r>
            <a:endParaRPr b="0" i="0" sz="700" u="none" cap="none" strike="noStrike">
              <a:solidFill>
                <a:srgbClr val="00113E"/>
              </a:solidFill>
              <a:latin typeface="Calibri"/>
              <a:ea typeface="Calibri"/>
              <a:cs typeface="Calibri"/>
              <a:sym typeface="Calibri"/>
            </a:endParaRPr>
          </a:p>
        </p:txBody>
      </p:sp>
      <p:sp>
        <p:nvSpPr>
          <p:cNvPr id="381" name="Google Shape;381;p49"/>
          <p:cNvSpPr/>
          <p:nvPr/>
        </p:nvSpPr>
        <p:spPr>
          <a:xfrm>
            <a:off x="7843803" y="4655787"/>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{{AI_CA_COUNT}}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Coding Agents (IDE)</a:t>
            </a:r>
            <a:endParaRPr b="0" i="0" sz="700" u="none" cap="none" strike="noStrike">
              <a:solidFill>
                <a:srgbClr val="00113E"/>
              </a:solidFill>
              <a:latin typeface="Calibri"/>
              <a:ea typeface="Calibri"/>
              <a:cs typeface="Calibri"/>
              <a:sym typeface="Calibri"/>
            </a:endParaRPr>
          </a:p>
        </p:txBody>
      </p:sp>
      <p:sp>
        <p:nvSpPr>
          <p:cNvPr id="382" name="Google Shape;382;p49"/>
          <p:cNvSpPr/>
          <p:nvPr/>
        </p:nvSpPr>
        <p:spPr>
          <a:xfrm>
            <a:off x="4488949" y="3261374"/>
            <a:ext cx="11787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113E"/>
                </a:solidFill>
                <a:latin typeface="Calibri"/>
                <a:ea typeface="Calibri"/>
                <a:cs typeface="Calibri"/>
                <a:sym typeface="Calibri"/>
              </a:rPr>
              <a:t>{{CON_WOS}} </a:t>
            </a:r>
            <a:br>
              <a:rPr b="0" i="0" lang="en" sz="700" u="none" cap="none" strike="noStrike">
                <a:solidFill>
                  <a:srgbClr val="00113E"/>
                </a:solidFill>
                <a:latin typeface="Calibri"/>
                <a:ea typeface="Calibri"/>
                <a:cs typeface="Calibri"/>
                <a:sym typeface="Calibri"/>
              </a:rPr>
            </a:br>
            <a:r>
              <a:rPr b="0" i="0" lang="en" sz="700" u="none" cap="none" strike="noStrike">
                <a:solidFill>
                  <a:srgbClr val="00113E"/>
                </a:solidFill>
                <a:latin typeface="Calibri"/>
                <a:ea typeface="Calibri"/>
                <a:cs typeface="Calibri"/>
                <a:sym typeface="Calibri"/>
              </a:rPr>
              <a:t>WizOS Workloads</a:t>
            </a:r>
            <a:endParaRPr b="0" i="0" sz="700" u="none" cap="none" strike="noStrike">
              <a:solidFill>
                <a:srgbClr val="00113E"/>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pic>
        <p:nvPicPr>
          <p:cNvPr id="388" name="Google Shape;388;p50"/>
          <p:cNvPicPr preferRelativeResize="0"/>
          <p:nvPr/>
        </p:nvPicPr>
        <p:blipFill rotWithShape="1">
          <a:blip r:embed="rId3">
            <a:alphaModFix/>
          </a:blip>
          <a:srcRect b="0" l="0" r="0" t="0"/>
          <a:stretch/>
        </p:blipFill>
        <p:spPr>
          <a:xfrm>
            <a:off x="169678" y="971143"/>
            <a:ext cx="2848816" cy="3509202"/>
          </a:xfrm>
          <a:prstGeom prst="rect">
            <a:avLst/>
          </a:prstGeom>
          <a:noFill/>
          <a:ln cap="flat" cmpd="sng" w="9525">
            <a:solidFill>
              <a:schemeClr val="accent1"/>
            </a:solidFill>
            <a:prstDash val="solid"/>
            <a:round/>
            <a:headEnd len="sm" w="sm" type="none"/>
            <a:tailEnd len="sm" w="sm" type="none"/>
          </a:ln>
        </p:spPr>
      </p:pic>
      <p:sp>
        <p:nvSpPr>
          <p:cNvPr id="389" name="Google Shape;389;p50"/>
          <p:cNvSpPr txBox="1"/>
          <p:nvPr>
            <p:ph idx="4294967295" type="title"/>
          </p:nvPr>
        </p:nvSpPr>
        <p:spPr>
          <a:xfrm>
            <a:off x="150" y="249625"/>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Wiz Adoption &amp; Usage Snapshot</a:t>
            </a:r>
            <a:endParaRPr sz="2420">
              <a:latin typeface="Calibri"/>
              <a:ea typeface="Calibri"/>
              <a:cs typeface="Calibri"/>
              <a:sym typeface="Calibri"/>
            </a:endParaRPr>
          </a:p>
        </p:txBody>
      </p:sp>
      <p:sp>
        <p:nvSpPr>
          <p:cNvPr id="390" name="Google Shape;390;p50"/>
          <p:cNvSpPr txBox="1"/>
          <p:nvPr/>
        </p:nvSpPr>
        <p:spPr>
          <a:xfrm>
            <a:off x="558756" y="1438781"/>
            <a:ext cx="2432700" cy="2058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1200" u="none" cap="none" strike="noStrike">
                <a:solidFill>
                  <a:srgbClr val="38761D"/>
                </a:solidFill>
                <a:latin typeface="Calibri"/>
                <a:ea typeface="Calibri"/>
                <a:cs typeface="Calibri"/>
                <a:sym typeface="Calibri"/>
              </a:rPr>
              <a:t>{{L_CL_PCT}}</a:t>
            </a:r>
            <a:r>
              <a:rPr b="0" i="0" lang="en" sz="1100" u="none" cap="none" strike="noStrike">
                <a:solidFill>
                  <a:srgbClr val="00113E"/>
                </a:solidFill>
                <a:latin typeface="Calibri"/>
                <a:ea typeface="Calibri"/>
                <a:cs typeface="Calibri"/>
                <a:sym typeface="Calibri"/>
              </a:rPr>
              <a:t> Cloud Advanced</a:t>
            </a:r>
            <a:endParaRPr b="0" i="0" sz="1100" u="none" cap="none" strike="noStrike">
              <a:solidFill>
                <a:srgbClr val="000000"/>
              </a:solidFill>
              <a:latin typeface="Calibri"/>
              <a:ea typeface="Calibri"/>
              <a:cs typeface="Calibri"/>
              <a:sym typeface="Calibri"/>
            </a:endParaRPr>
          </a:p>
        </p:txBody>
      </p:sp>
      <p:sp>
        <p:nvSpPr>
          <p:cNvPr id="391" name="Google Shape;391;p50"/>
          <p:cNvSpPr txBox="1"/>
          <p:nvPr/>
        </p:nvSpPr>
        <p:spPr>
          <a:xfrm>
            <a:off x="612468" y="1693344"/>
            <a:ext cx="2538600" cy="987600"/>
          </a:xfrm>
          <a:prstGeom prst="rect">
            <a:avLst/>
          </a:prstGeom>
          <a:noFill/>
          <a:ln>
            <a:noFill/>
          </a:ln>
        </p:spPr>
        <p:txBody>
          <a:bodyPr anchorCtr="0" anchor="t" bIns="27925" lIns="55875" spcFirstLastPara="1" rIns="55875" wrap="square" tIns="27925">
            <a:noAutofit/>
          </a:bodyPr>
          <a:lstStyle/>
          <a:p>
            <a:pPr indent="0" lvl="0" marL="0" marR="0" rtl="0" algn="l">
              <a:lnSpc>
                <a:spcPct val="115000"/>
              </a:lnSpc>
              <a:spcBef>
                <a:spcPts val="0"/>
              </a:spcBef>
              <a:spcAft>
                <a:spcPts val="0"/>
              </a:spcAft>
              <a:buClr>
                <a:srgbClr val="000000"/>
              </a:buClr>
              <a:buSzPts val="800"/>
              <a:buFont typeface="Arial"/>
              <a:buNone/>
            </a:pPr>
            <a:r>
              <a:rPr b="0" i="0" lang="en" sz="800" u="none" cap="none" strike="noStrike">
                <a:solidFill>
                  <a:srgbClr val="00113E"/>
                </a:solidFill>
                <a:latin typeface="Calibri"/>
                <a:ea typeface="Calibri"/>
                <a:cs typeface="Calibri"/>
                <a:sym typeface="Calibri"/>
              </a:rPr>
              <a:t>- Compute </a:t>
            </a:r>
            <a:br>
              <a:rPr b="0" i="0" lang="en" sz="800" u="none" cap="none" strike="noStrike">
                <a:solidFill>
                  <a:srgbClr val="00113E"/>
                </a:solidFill>
                <a:latin typeface="Calibri"/>
                <a:ea typeface="Calibri"/>
                <a:cs typeface="Calibri"/>
                <a:sym typeface="Calibri"/>
              </a:rPr>
            </a:br>
            <a:r>
              <a:rPr b="0" i="0" lang="en" sz="800" u="none" cap="none" strike="noStrike">
                <a:solidFill>
                  <a:srgbClr val="00113E"/>
                </a:solidFill>
                <a:latin typeface="Calibri"/>
                <a:ea typeface="Calibri"/>
                <a:cs typeface="Calibri"/>
                <a:sym typeface="Calibri"/>
              </a:rPr>
              <a:t>- Data </a:t>
            </a:r>
            <a:endParaRPr b="0" i="0" sz="800" u="none" cap="none" strike="noStrike">
              <a:solidFill>
                <a:srgbClr val="00113E"/>
              </a:solidFill>
              <a:latin typeface="Calibri"/>
              <a:ea typeface="Calibri"/>
              <a:cs typeface="Calibri"/>
              <a:sym typeface="Calibri"/>
            </a:endParaRPr>
          </a:p>
          <a:p>
            <a:pPr indent="0" lvl="0" marL="0" marR="0" rtl="0" algn="l">
              <a:lnSpc>
                <a:spcPct val="115000"/>
              </a:lnSpc>
              <a:spcBef>
                <a:spcPts val="0"/>
              </a:spcBef>
              <a:spcAft>
                <a:spcPts val="0"/>
              </a:spcAft>
              <a:buClr>
                <a:srgbClr val="000000"/>
              </a:buClr>
              <a:buSzPts val="800"/>
              <a:buFont typeface="Arial"/>
              <a:buNone/>
            </a:pPr>
            <a:r>
              <a:rPr b="0" i="0" lang="en" sz="800" u="none" cap="none" strike="noStrike">
                <a:solidFill>
                  <a:srgbClr val="00113E"/>
                </a:solidFill>
                <a:latin typeface="Calibri"/>
                <a:ea typeface="Calibri"/>
                <a:cs typeface="Calibri"/>
                <a:sym typeface="Calibri"/>
              </a:rPr>
              <a:t>- Non-OS / Registry / VM Image</a:t>
            </a:r>
            <a:endParaRPr b="0" i="0" sz="800" u="none" cap="none" strike="noStrike">
              <a:solidFill>
                <a:srgbClr val="00113E"/>
              </a:solidFill>
              <a:latin typeface="Calibri"/>
              <a:ea typeface="Calibri"/>
              <a:cs typeface="Calibri"/>
              <a:sym typeface="Calibri"/>
            </a:endParaRPr>
          </a:p>
          <a:p>
            <a:pPr indent="0" lvl="0" marL="0" marR="0" rtl="0" algn="l">
              <a:lnSpc>
                <a:spcPct val="115000"/>
              </a:lnSpc>
              <a:spcBef>
                <a:spcPts val="0"/>
              </a:spcBef>
              <a:spcAft>
                <a:spcPts val="0"/>
              </a:spcAft>
              <a:buClr>
                <a:srgbClr val="000000"/>
              </a:buClr>
              <a:buSzPts val="800"/>
              <a:buFont typeface="Arial"/>
              <a:buNone/>
            </a:pPr>
            <a:r>
              <a:rPr b="0" i="0" lang="en" sz="800" u="none" cap="none" strike="noStrike">
                <a:solidFill>
                  <a:srgbClr val="00113E"/>
                </a:solidFill>
                <a:latin typeface="Calibri"/>
                <a:ea typeface="Calibri"/>
                <a:cs typeface="Calibri"/>
                <a:sym typeface="Calibri"/>
              </a:rPr>
              <a:t>- WizOS </a:t>
            </a:r>
            <a:endParaRPr b="0" i="0" sz="800" u="none" cap="none" strike="noStrike">
              <a:solidFill>
                <a:srgbClr val="00113E"/>
              </a:solidFill>
              <a:latin typeface="Calibri"/>
              <a:ea typeface="Calibri"/>
              <a:cs typeface="Calibri"/>
              <a:sym typeface="Calibri"/>
            </a:endParaRPr>
          </a:p>
          <a:p>
            <a:pPr indent="0" lvl="0" marL="0" marR="0" rtl="0" algn="l">
              <a:lnSpc>
                <a:spcPct val="115000"/>
              </a:lnSpc>
              <a:spcBef>
                <a:spcPts val="0"/>
              </a:spcBef>
              <a:spcAft>
                <a:spcPts val="0"/>
              </a:spcAft>
              <a:buClr>
                <a:srgbClr val="000000"/>
              </a:buClr>
              <a:buSzPts val="800"/>
              <a:buFont typeface="Arial"/>
              <a:buNone/>
            </a:pPr>
            <a:r>
              <a:rPr b="0" i="0" lang="en" sz="800" u="none" cap="none" strike="noStrike">
                <a:solidFill>
                  <a:srgbClr val="00113E"/>
                </a:solidFill>
                <a:latin typeface="Calibri"/>
                <a:ea typeface="Calibri"/>
                <a:cs typeface="Calibri"/>
                <a:sym typeface="Calibri"/>
              </a:rPr>
              <a:t>- Unified Vulnerability Mgmt</a:t>
            </a:r>
            <a:endParaRPr b="0" i="0" sz="800" u="none" cap="none" strike="noStrike">
              <a:solidFill>
                <a:srgbClr val="00113E"/>
              </a:solidFill>
              <a:latin typeface="Calibri"/>
              <a:ea typeface="Calibri"/>
              <a:cs typeface="Calibri"/>
              <a:sym typeface="Calibri"/>
            </a:endParaRPr>
          </a:p>
          <a:p>
            <a:pPr indent="0" lvl="0" marL="0" marR="0" rtl="0" algn="l">
              <a:lnSpc>
                <a:spcPct val="115000"/>
              </a:lnSpc>
              <a:spcBef>
                <a:spcPts val="0"/>
              </a:spcBef>
              <a:spcAft>
                <a:spcPts val="0"/>
              </a:spcAft>
              <a:buClr>
                <a:srgbClr val="000000"/>
              </a:buClr>
              <a:buSzPts val="800"/>
              <a:buFont typeface="Arial"/>
              <a:buNone/>
            </a:pPr>
            <a:r>
              <a:rPr b="0" i="0" lang="en" sz="800" u="none" cap="none" strike="noStrike">
                <a:solidFill>
                  <a:srgbClr val="00113E"/>
                </a:solidFill>
                <a:latin typeface="Calibri"/>
                <a:ea typeface="Calibri"/>
                <a:cs typeface="Calibri"/>
                <a:sym typeface="Calibri"/>
              </a:rPr>
              <a:t>- Advanced ASM</a:t>
            </a:r>
            <a:endParaRPr b="0" i="0" sz="800" u="none" cap="none" strike="noStrike">
              <a:solidFill>
                <a:srgbClr val="00113E"/>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100"/>
              <a:buFont typeface="Arial"/>
              <a:buNone/>
            </a:pPr>
            <a:r>
              <a:rPr b="0" i="0" lang="en" sz="800" u="none" cap="none" strike="noStrike">
                <a:solidFill>
                  <a:srgbClr val="00113E"/>
                </a:solidFill>
                <a:latin typeface="Calibri"/>
                <a:ea typeface="Calibri"/>
                <a:cs typeface="Calibri"/>
                <a:sym typeface="Calibri"/>
              </a:rPr>
              <a:t>- Red Agent</a:t>
            </a:r>
            <a:endParaRPr b="0" i="0" sz="800" u="none" cap="none" strike="noStrike">
              <a:solidFill>
                <a:srgbClr val="00113E"/>
              </a:solidFill>
              <a:latin typeface="Calibri"/>
              <a:ea typeface="Calibri"/>
              <a:cs typeface="Calibri"/>
              <a:sym typeface="Calibri"/>
            </a:endParaRPr>
          </a:p>
          <a:p>
            <a:pPr indent="0" lvl="0" marL="0" marR="0" rtl="0" algn="l">
              <a:lnSpc>
                <a:spcPct val="115000"/>
              </a:lnSpc>
              <a:spcBef>
                <a:spcPts val="0"/>
              </a:spcBef>
              <a:spcAft>
                <a:spcPts val="0"/>
              </a:spcAft>
              <a:buClr>
                <a:srgbClr val="000000"/>
              </a:buClr>
              <a:buSzPts val="800"/>
              <a:buFont typeface="Arial"/>
              <a:buNone/>
            </a:pPr>
            <a:r>
              <a:rPr b="0" i="0" lang="en" sz="800" u="none" cap="none" strike="noStrike">
                <a:solidFill>
                  <a:srgbClr val="00113E"/>
                </a:solidFill>
                <a:latin typeface="Calibri"/>
                <a:ea typeface="Calibri"/>
                <a:cs typeface="Calibri"/>
                <a:sym typeface="Calibri"/>
              </a:rPr>
              <a:t>- SaaS Users</a:t>
            </a:r>
            <a:endParaRPr b="0" i="0" sz="800" u="none" cap="none" strike="noStrike">
              <a:solidFill>
                <a:srgbClr val="00113E"/>
              </a:solidFill>
              <a:latin typeface="Calibri"/>
              <a:ea typeface="Calibri"/>
              <a:cs typeface="Calibri"/>
              <a:sym typeface="Calibri"/>
            </a:endParaRPr>
          </a:p>
          <a:p>
            <a:pPr indent="0" lvl="0" marL="0" marR="0" rtl="0" algn="l">
              <a:lnSpc>
                <a:spcPct val="115000"/>
              </a:lnSpc>
              <a:spcBef>
                <a:spcPts val="0"/>
              </a:spcBef>
              <a:spcAft>
                <a:spcPts val="0"/>
              </a:spcAft>
              <a:buClr>
                <a:srgbClr val="000000"/>
              </a:buClr>
              <a:buSzPts val="800"/>
              <a:buFont typeface="Arial"/>
              <a:buNone/>
            </a:pPr>
            <a:r>
              <a:t/>
            </a:r>
            <a:endParaRPr b="0" i="0" sz="800" u="none" cap="none" strike="noStrike">
              <a:solidFill>
                <a:srgbClr val="00113E"/>
              </a:solidFill>
              <a:latin typeface="Calibri"/>
              <a:ea typeface="Calibri"/>
              <a:cs typeface="Calibri"/>
              <a:sym typeface="Calibri"/>
            </a:endParaRPr>
          </a:p>
          <a:p>
            <a:pPr indent="0" lvl="0" marL="0" marR="0" rtl="0" algn="l">
              <a:lnSpc>
                <a:spcPct val="115000"/>
              </a:lnSpc>
              <a:spcBef>
                <a:spcPts val="0"/>
              </a:spcBef>
              <a:spcAft>
                <a:spcPts val="0"/>
              </a:spcAft>
              <a:buClr>
                <a:srgbClr val="000000"/>
              </a:buClr>
              <a:buSzPts val="800"/>
              <a:buFont typeface="Arial"/>
              <a:buNone/>
            </a:pPr>
            <a:r>
              <a:t/>
            </a:r>
            <a:endParaRPr b="0" i="0" sz="800" u="none" cap="none" strike="noStrike">
              <a:solidFill>
                <a:srgbClr val="00113E"/>
              </a:solidFill>
              <a:latin typeface="Calibri"/>
              <a:ea typeface="Calibri"/>
              <a:cs typeface="Calibri"/>
              <a:sym typeface="Calibri"/>
            </a:endParaRPr>
          </a:p>
        </p:txBody>
      </p:sp>
      <p:sp>
        <p:nvSpPr>
          <p:cNvPr id="392" name="Google Shape;392;p50"/>
          <p:cNvSpPr txBox="1"/>
          <p:nvPr/>
        </p:nvSpPr>
        <p:spPr>
          <a:xfrm>
            <a:off x="169678" y="1008122"/>
            <a:ext cx="2843100" cy="3876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600" u="none" cap="none" strike="noStrike">
                <a:solidFill>
                  <a:schemeClr val="dk1"/>
                </a:solidFill>
                <a:latin typeface="Calibri"/>
                <a:ea typeface="Calibri"/>
                <a:cs typeface="Calibri"/>
                <a:sym typeface="Calibri"/>
              </a:rPr>
              <a:t>Product Usage</a:t>
            </a:r>
            <a:endParaRPr b="0" i="0" sz="1600" u="none" cap="none" strike="noStrike">
              <a:solidFill>
                <a:schemeClr val="dk1"/>
              </a:solidFill>
              <a:latin typeface="Calibri"/>
              <a:ea typeface="Calibri"/>
              <a:cs typeface="Calibri"/>
              <a:sym typeface="Calibri"/>
            </a:endParaRPr>
          </a:p>
        </p:txBody>
      </p:sp>
      <p:sp>
        <p:nvSpPr>
          <p:cNvPr id="393" name="Google Shape;393;p50"/>
          <p:cNvSpPr txBox="1"/>
          <p:nvPr/>
        </p:nvSpPr>
        <p:spPr>
          <a:xfrm>
            <a:off x="613618" y="2992819"/>
            <a:ext cx="2120100" cy="2058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1100" u="none" cap="none" strike="noStrike">
                <a:solidFill>
                  <a:srgbClr val="00113E"/>
                </a:solidFill>
                <a:latin typeface="Calibri"/>
                <a:ea typeface="Calibri"/>
                <a:cs typeface="Calibri"/>
                <a:sym typeface="Calibri"/>
              </a:rPr>
              <a:t>Runtime Sensor</a:t>
            </a:r>
            <a:br>
              <a:rPr b="0" i="0" lang="en" sz="1100" u="none" cap="none" strike="noStrike">
                <a:solidFill>
                  <a:srgbClr val="00113E"/>
                </a:solidFill>
                <a:latin typeface="Calibri"/>
                <a:ea typeface="Calibri"/>
                <a:cs typeface="Calibri"/>
                <a:sym typeface="Calibri"/>
              </a:rPr>
            </a:br>
            <a:r>
              <a:rPr b="0" i="0" lang="en" sz="1200" u="none" cap="none" strike="noStrike">
                <a:solidFill>
                  <a:srgbClr val="38761D"/>
                </a:solidFill>
                <a:latin typeface="Calibri"/>
                <a:ea typeface="Calibri"/>
                <a:cs typeface="Calibri"/>
                <a:sym typeface="Calibri"/>
              </a:rPr>
              <a:t>{{L_SE}}</a:t>
            </a:r>
            <a:endParaRPr b="0" i="0" sz="1300" u="none" cap="none" strike="noStrike">
              <a:solidFill>
                <a:srgbClr val="38761D"/>
              </a:solidFill>
              <a:latin typeface="Calibri"/>
              <a:ea typeface="Calibri"/>
              <a:cs typeface="Calibri"/>
              <a:sym typeface="Calibri"/>
            </a:endParaRPr>
          </a:p>
        </p:txBody>
      </p:sp>
      <p:pic>
        <p:nvPicPr>
          <p:cNvPr id="394" name="Google Shape;394;p50" title="Screenshot 2025-07-09 at 19.45.30.png"/>
          <p:cNvPicPr preferRelativeResize="0"/>
          <p:nvPr/>
        </p:nvPicPr>
        <p:blipFill rotWithShape="1">
          <a:blip r:embed="rId4">
            <a:alphaModFix/>
          </a:blip>
          <a:srcRect b="0" l="0" r="0" t="0"/>
          <a:stretch/>
        </p:blipFill>
        <p:spPr>
          <a:xfrm>
            <a:off x="212175" y="3021565"/>
            <a:ext cx="384944" cy="394315"/>
          </a:xfrm>
          <a:prstGeom prst="rect">
            <a:avLst/>
          </a:prstGeom>
          <a:noFill/>
          <a:ln>
            <a:noFill/>
          </a:ln>
        </p:spPr>
      </p:pic>
      <p:sp>
        <p:nvSpPr>
          <p:cNvPr id="395" name="Google Shape;395;p50"/>
          <p:cNvSpPr txBox="1"/>
          <p:nvPr/>
        </p:nvSpPr>
        <p:spPr>
          <a:xfrm>
            <a:off x="618387" y="3495619"/>
            <a:ext cx="2120100" cy="2058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1100" u="none" cap="none" strike="noStrike">
                <a:solidFill>
                  <a:srgbClr val="00113E"/>
                </a:solidFill>
                <a:latin typeface="Calibri"/>
                <a:ea typeface="Calibri"/>
                <a:cs typeface="Calibri"/>
                <a:sym typeface="Calibri"/>
              </a:rPr>
              <a:t>Wiz Defend Ingestion</a:t>
            </a:r>
            <a:br>
              <a:rPr b="0" i="0" lang="en" sz="1100" u="none" cap="none" strike="noStrike">
                <a:solidFill>
                  <a:srgbClr val="00113E"/>
                </a:solidFill>
                <a:latin typeface="Calibri"/>
                <a:ea typeface="Calibri"/>
                <a:cs typeface="Calibri"/>
                <a:sym typeface="Calibri"/>
              </a:rPr>
            </a:br>
            <a:r>
              <a:rPr b="0" i="0" lang="en" sz="1200" u="none" cap="none" strike="noStrike">
                <a:solidFill>
                  <a:srgbClr val="38761D"/>
                </a:solidFill>
                <a:latin typeface="Calibri"/>
                <a:ea typeface="Calibri"/>
                <a:cs typeface="Calibri"/>
                <a:sym typeface="Calibri"/>
              </a:rPr>
              <a:t>{{L_DE}} Units</a:t>
            </a:r>
            <a:endParaRPr b="0" i="0" sz="1300" u="none" cap="none" strike="noStrike">
              <a:solidFill>
                <a:srgbClr val="38761D"/>
              </a:solidFill>
              <a:latin typeface="Calibri"/>
              <a:ea typeface="Calibri"/>
              <a:cs typeface="Calibri"/>
              <a:sym typeface="Calibri"/>
            </a:endParaRPr>
          </a:p>
        </p:txBody>
      </p:sp>
      <p:pic>
        <p:nvPicPr>
          <p:cNvPr id="396" name="Google Shape;396;p50" title="Screenshot 2025-07-09 at 19.46.40.png"/>
          <p:cNvPicPr preferRelativeResize="0"/>
          <p:nvPr/>
        </p:nvPicPr>
        <p:blipFill rotWithShape="1">
          <a:blip r:embed="rId5">
            <a:alphaModFix/>
          </a:blip>
          <a:srcRect b="0" l="0" r="0" t="0"/>
          <a:stretch/>
        </p:blipFill>
        <p:spPr>
          <a:xfrm>
            <a:off x="194378" y="3538892"/>
            <a:ext cx="403072" cy="394315"/>
          </a:xfrm>
          <a:prstGeom prst="rect">
            <a:avLst/>
          </a:prstGeom>
          <a:noFill/>
          <a:ln>
            <a:noFill/>
          </a:ln>
        </p:spPr>
      </p:pic>
      <p:pic>
        <p:nvPicPr>
          <p:cNvPr id="397" name="Google Shape;397;p50" title="Screenshot 2025-07-09 at 19.46.06.png"/>
          <p:cNvPicPr preferRelativeResize="0"/>
          <p:nvPr/>
        </p:nvPicPr>
        <p:blipFill rotWithShape="1">
          <a:blip r:embed="rId6">
            <a:alphaModFix/>
          </a:blip>
          <a:srcRect b="0" l="0" r="0" t="0"/>
          <a:stretch/>
        </p:blipFill>
        <p:spPr>
          <a:xfrm>
            <a:off x="217005" y="4027677"/>
            <a:ext cx="385851" cy="388893"/>
          </a:xfrm>
          <a:prstGeom prst="rect">
            <a:avLst/>
          </a:prstGeom>
          <a:noFill/>
          <a:ln>
            <a:noFill/>
          </a:ln>
        </p:spPr>
      </p:pic>
      <p:sp>
        <p:nvSpPr>
          <p:cNvPr id="398" name="Google Shape;398;p50"/>
          <p:cNvSpPr txBox="1"/>
          <p:nvPr/>
        </p:nvSpPr>
        <p:spPr>
          <a:xfrm>
            <a:off x="621949" y="3980673"/>
            <a:ext cx="2120100" cy="2058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b="0" i="0" lang="en" sz="1100" u="none" cap="none" strike="noStrike">
                <a:solidFill>
                  <a:srgbClr val="00113E"/>
                </a:solidFill>
                <a:latin typeface="Calibri"/>
                <a:ea typeface="Calibri"/>
                <a:cs typeface="Calibri"/>
                <a:sym typeface="Calibri"/>
              </a:rPr>
              <a:t>Wiz Code</a:t>
            </a:r>
            <a:br>
              <a:rPr b="0" i="0" lang="en" sz="1100" u="none" cap="none" strike="noStrike">
                <a:solidFill>
                  <a:srgbClr val="00113E"/>
                </a:solidFill>
                <a:latin typeface="Calibri"/>
                <a:ea typeface="Calibri"/>
                <a:cs typeface="Calibri"/>
                <a:sym typeface="Calibri"/>
              </a:rPr>
            </a:br>
            <a:r>
              <a:rPr b="0" i="0" lang="en" sz="1200" u="none" cap="none" strike="noStrike">
                <a:solidFill>
                  <a:srgbClr val="38761D"/>
                </a:solidFill>
                <a:latin typeface="Calibri"/>
                <a:ea typeface="Calibri"/>
                <a:cs typeface="Calibri"/>
                <a:sym typeface="Calibri"/>
              </a:rPr>
              <a:t>{{L_CO}} Developers</a:t>
            </a:r>
            <a:endParaRPr b="0" i="0" sz="1300" u="none" cap="none" strike="noStrike">
              <a:solidFill>
                <a:srgbClr val="38761D"/>
              </a:solidFill>
              <a:latin typeface="Calibri"/>
              <a:ea typeface="Calibri"/>
              <a:cs typeface="Calibri"/>
              <a:sym typeface="Calibri"/>
            </a:endParaRPr>
          </a:p>
        </p:txBody>
      </p:sp>
      <p:pic>
        <p:nvPicPr>
          <p:cNvPr id="399" name="Google Shape;399;p50"/>
          <p:cNvPicPr preferRelativeResize="0"/>
          <p:nvPr/>
        </p:nvPicPr>
        <p:blipFill rotWithShape="1">
          <a:blip r:embed="rId7">
            <a:alphaModFix/>
          </a:blip>
          <a:srcRect b="0" l="0" r="0" t="0"/>
          <a:stretch/>
        </p:blipFill>
        <p:spPr>
          <a:xfrm>
            <a:off x="3171345" y="971143"/>
            <a:ext cx="2838298" cy="1109701"/>
          </a:xfrm>
          <a:prstGeom prst="rect">
            <a:avLst/>
          </a:prstGeom>
          <a:noFill/>
          <a:ln cap="flat" cmpd="sng" w="9525">
            <a:solidFill>
              <a:schemeClr val="accent1"/>
            </a:solidFill>
            <a:prstDash val="solid"/>
            <a:round/>
            <a:headEnd len="sm" w="sm" type="none"/>
            <a:tailEnd len="sm" w="sm" type="none"/>
          </a:ln>
        </p:spPr>
      </p:pic>
      <p:sp>
        <p:nvSpPr>
          <p:cNvPr id="400" name="Google Shape;400;p50"/>
          <p:cNvSpPr txBox="1"/>
          <p:nvPr/>
        </p:nvSpPr>
        <p:spPr>
          <a:xfrm>
            <a:off x="3171351" y="997628"/>
            <a:ext cx="2836200" cy="2853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500" u="none" cap="none" strike="noStrike">
                <a:solidFill>
                  <a:schemeClr val="dk1"/>
                </a:solidFill>
                <a:latin typeface="Calibri"/>
                <a:ea typeface="Calibri"/>
                <a:cs typeface="Calibri"/>
                <a:sym typeface="Calibri"/>
              </a:rPr>
              <a:t>Time With Wiz</a:t>
            </a:r>
            <a:endParaRPr b="0" i="0" sz="1500" u="none" cap="none" strike="noStrike">
              <a:solidFill>
                <a:schemeClr val="dk1"/>
              </a:solidFill>
              <a:latin typeface="Calibri"/>
              <a:ea typeface="Calibri"/>
              <a:cs typeface="Calibri"/>
              <a:sym typeface="Calibri"/>
            </a:endParaRPr>
          </a:p>
        </p:txBody>
      </p:sp>
      <p:sp>
        <p:nvSpPr>
          <p:cNvPr id="401" name="Google Shape;401;p50"/>
          <p:cNvSpPr txBox="1"/>
          <p:nvPr/>
        </p:nvSpPr>
        <p:spPr>
          <a:xfrm>
            <a:off x="3310069" y="1492406"/>
            <a:ext cx="2556900" cy="306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sp>
        <p:nvSpPr>
          <p:cNvPr id="402" name="Google Shape;402;p50"/>
          <p:cNvSpPr txBox="1"/>
          <p:nvPr/>
        </p:nvSpPr>
        <p:spPr>
          <a:xfrm>
            <a:off x="3249786" y="1239364"/>
            <a:ext cx="2683500" cy="260700"/>
          </a:xfrm>
          <a:prstGeom prst="rect">
            <a:avLst/>
          </a:prstGeom>
          <a:noFill/>
          <a:ln>
            <a:noFill/>
          </a:ln>
          <a:effectLst>
            <a:outerShdw blurRad="57150" rotWithShape="0" algn="bl" dir="5400000" dist="19050">
              <a:srgbClr val="674EA7">
                <a:alpha val="5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rgbClr val="1155CC"/>
              </a:solidFill>
              <a:latin typeface="Calibri"/>
              <a:ea typeface="Calibri"/>
              <a:cs typeface="Calibri"/>
              <a:sym typeface="Calibri"/>
            </a:endParaRPr>
          </a:p>
        </p:txBody>
      </p:sp>
      <p:pic>
        <p:nvPicPr>
          <p:cNvPr id="403" name="Google Shape;403;p50"/>
          <p:cNvPicPr preferRelativeResize="0"/>
          <p:nvPr/>
        </p:nvPicPr>
        <p:blipFill rotWithShape="1">
          <a:blip r:embed="rId7">
            <a:alphaModFix/>
          </a:blip>
          <a:srcRect b="0" l="0" r="0" t="0"/>
          <a:stretch/>
        </p:blipFill>
        <p:spPr>
          <a:xfrm>
            <a:off x="3167109" y="2242540"/>
            <a:ext cx="2841027" cy="2534151"/>
          </a:xfrm>
          <a:prstGeom prst="rect">
            <a:avLst/>
          </a:prstGeom>
          <a:noFill/>
          <a:ln cap="flat" cmpd="sng" w="9525">
            <a:solidFill>
              <a:schemeClr val="accent1"/>
            </a:solidFill>
            <a:prstDash val="solid"/>
            <a:round/>
            <a:headEnd len="sm" w="sm" type="none"/>
            <a:tailEnd len="sm" w="sm" type="none"/>
          </a:ln>
        </p:spPr>
      </p:pic>
      <p:sp>
        <p:nvSpPr>
          <p:cNvPr id="404" name="Google Shape;404;p50"/>
          <p:cNvSpPr txBox="1"/>
          <p:nvPr/>
        </p:nvSpPr>
        <p:spPr>
          <a:xfrm>
            <a:off x="3167119" y="2314275"/>
            <a:ext cx="2838900" cy="6675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600" u="none" cap="none" strike="noStrike">
                <a:solidFill>
                  <a:schemeClr val="dk1"/>
                </a:solidFill>
                <a:latin typeface="Calibri"/>
                <a:ea typeface="Calibri"/>
                <a:cs typeface="Calibri"/>
                <a:sym typeface="Calibri"/>
              </a:rPr>
              <a:t>Kubernetes / Containers</a:t>
            </a:r>
            <a:br>
              <a:rPr b="0" i="0" lang="en" sz="1600" u="none" cap="none" strike="noStrike">
                <a:solidFill>
                  <a:schemeClr val="dk1"/>
                </a:solidFill>
                <a:latin typeface="Calibri"/>
                <a:ea typeface="Calibri"/>
                <a:cs typeface="Calibri"/>
                <a:sym typeface="Calibri"/>
              </a:rPr>
            </a:br>
            <a:r>
              <a:rPr b="0" i="0" lang="en" sz="1600" u="none" cap="none" strike="noStrike">
                <a:solidFill>
                  <a:schemeClr val="dk1"/>
                </a:solidFill>
                <a:latin typeface="Calibri"/>
                <a:ea typeface="Calibri"/>
                <a:cs typeface="Calibri"/>
                <a:sym typeface="Calibri"/>
              </a:rPr>
              <a:t>&amp; Wiz CLI</a:t>
            </a:r>
            <a:endParaRPr b="0" i="0" sz="1600" u="none" cap="none" strike="noStrike">
              <a:solidFill>
                <a:schemeClr val="dk1"/>
              </a:solidFill>
              <a:latin typeface="Calibri"/>
              <a:ea typeface="Calibri"/>
              <a:cs typeface="Calibri"/>
              <a:sym typeface="Calibri"/>
            </a:endParaRPr>
          </a:p>
        </p:txBody>
      </p:sp>
      <p:sp>
        <p:nvSpPr>
          <p:cNvPr id="405" name="Google Shape;405;p50"/>
          <p:cNvSpPr txBox="1"/>
          <p:nvPr/>
        </p:nvSpPr>
        <p:spPr>
          <a:xfrm>
            <a:off x="3271520" y="3472107"/>
            <a:ext cx="2592000" cy="716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sp>
        <p:nvSpPr>
          <p:cNvPr id="406" name="Google Shape;406;p50"/>
          <p:cNvSpPr txBox="1"/>
          <p:nvPr/>
        </p:nvSpPr>
        <p:spPr>
          <a:xfrm>
            <a:off x="3210410" y="2880241"/>
            <a:ext cx="2720400" cy="609600"/>
          </a:xfrm>
          <a:prstGeom prst="rect">
            <a:avLst/>
          </a:prstGeom>
          <a:noFill/>
          <a:ln>
            <a:noFill/>
          </a:ln>
          <a:effectLst>
            <a:outerShdw blurRad="57150" rotWithShape="0" algn="bl" dir="5400000" dist="19050">
              <a:srgbClr val="674EA7">
                <a:alpha val="5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rgbClr val="1155CC"/>
              </a:solidFill>
              <a:latin typeface="Calibri"/>
              <a:ea typeface="Calibri"/>
              <a:cs typeface="Calibri"/>
              <a:sym typeface="Calibri"/>
            </a:endParaRPr>
          </a:p>
        </p:txBody>
      </p:sp>
      <p:sp>
        <p:nvSpPr>
          <p:cNvPr id="407" name="Google Shape;407;p50"/>
          <p:cNvSpPr txBox="1"/>
          <p:nvPr/>
        </p:nvSpPr>
        <p:spPr>
          <a:xfrm>
            <a:off x="3302811" y="3024161"/>
            <a:ext cx="1695900" cy="2094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8"/>
              </a:rPr>
              <a:t>K8s Clusters</a:t>
            </a:r>
            <a:endParaRPr b="0" i="0" sz="1000" u="none" cap="none" strike="noStrike">
              <a:solidFill>
                <a:srgbClr val="0254EC"/>
              </a:solidFill>
              <a:latin typeface="Calibri"/>
              <a:ea typeface="Calibri"/>
              <a:cs typeface="Calibri"/>
              <a:sym typeface="Calibri"/>
            </a:endParaRPr>
          </a:p>
        </p:txBody>
      </p:sp>
      <p:sp>
        <p:nvSpPr>
          <p:cNvPr id="408" name="Google Shape;408;p50"/>
          <p:cNvSpPr txBox="1"/>
          <p:nvPr/>
        </p:nvSpPr>
        <p:spPr>
          <a:xfrm>
            <a:off x="4789108" y="3024161"/>
            <a:ext cx="1059900" cy="2094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1000"/>
              <a:buFont typeface="Arial"/>
              <a:buNone/>
            </a:pPr>
            <a:r>
              <a:rPr b="0" i="0" lang="en" sz="1000" u="none" cap="none" strike="noStrike">
                <a:solidFill>
                  <a:srgbClr val="333333"/>
                </a:solidFill>
                <a:latin typeface="Calibri"/>
                <a:ea typeface="Calibri"/>
                <a:cs typeface="Calibri"/>
                <a:sym typeface="Calibri"/>
              </a:rPr>
              <a:t>{{K8S}}</a:t>
            </a:r>
            <a:endParaRPr b="0" i="0" sz="1000" u="none" cap="none" strike="noStrike">
              <a:solidFill>
                <a:srgbClr val="333333"/>
              </a:solidFill>
              <a:latin typeface="Calibri"/>
              <a:ea typeface="Calibri"/>
              <a:cs typeface="Calibri"/>
              <a:sym typeface="Calibri"/>
            </a:endParaRPr>
          </a:p>
        </p:txBody>
      </p:sp>
      <p:sp>
        <p:nvSpPr>
          <p:cNvPr id="409" name="Google Shape;409;p50"/>
          <p:cNvSpPr txBox="1"/>
          <p:nvPr/>
        </p:nvSpPr>
        <p:spPr>
          <a:xfrm>
            <a:off x="4789108" y="3245522"/>
            <a:ext cx="1059900" cy="2094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1000"/>
              <a:buFont typeface="Arial"/>
              <a:buNone/>
            </a:pPr>
            <a:r>
              <a:rPr b="0" i="0" lang="en" sz="1000" u="none" cap="none" strike="noStrike">
                <a:solidFill>
                  <a:srgbClr val="333333"/>
                </a:solidFill>
                <a:latin typeface="Calibri"/>
                <a:ea typeface="Calibri"/>
                <a:cs typeface="Calibri"/>
                <a:sym typeface="Calibri"/>
              </a:rPr>
              <a:t>{{TI}}</a:t>
            </a:r>
            <a:endParaRPr b="0" i="0" sz="1000" u="none" cap="none" strike="noStrike">
              <a:solidFill>
                <a:srgbClr val="333333"/>
              </a:solidFill>
              <a:latin typeface="Calibri"/>
              <a:ea typeface="Calibri"/>
              <a:cs typeface="Calibri"/>
              <a:sym typeface="Calibri"/>
            </a:endParaRPr>
          </a:p>
        </p:txBody>
      </p:sp>
      <p:sp>
        <p:nvSpPr>
          <p:cNvPr id="410" name="Google Shape;410;p50"/>
          <p:cNvSpPr txBox="1"/>
          <p:nvPr/>
        </p:nvSpPr>
        <p:spPr>
          <a:xfrm>
            <a:off x="3167108" y="3808871"/>
            <a:ext cx="2838900" cy="270300"/>
          </a:xfrm>
          <a:prstGeom prst="rect">
            <a:avLst/>
          </a:prstGeom>
          <a:noFill/>
          <a:ln>
            <a:noFill/>
          </a:ln>
        </p:spPr>
        <p:txBody>
          <a:bodyPr anchorCtr="0" anchor="t" bIns="91225" lIns="91225" spcFirstLastPara="1" rIns="91225" wrap="square" tIns="91225">
            <a:noAutofit/>
          </a:bodyPr>
          <a:lstStyle/>
          <a:p>
            <a:pPr indent="0" lvl="0" marL="0" marR="0" rtl="0" algn="ctr">
              <a:lnSpc>
                <a:spcPct val="150000"/>
              </a:lnSpc>
              <a:spcBef>
                <a:spcPts val="0"/>
              </a:spcBef>
              <a:spcAft>
                <a:spcPts val="0"/>
              </a:spcAft>
              <a:buClr>
                <a:srgbClr val="000000"/>
              </a:buClr>
              <a:buSzPts val="1100"/>
              <a:buFont typeface="Arial"/>
              <a:buNone/>
            </a:pPr>
            <a:r>
              <a:rPr b="0" i="0" lang="en" sz="1100" u="sng" cap="none" strike="noStrike">
                <a:solidFill>
                  <a:schemeClr val="hlink"/>
                </a:solidFill>
                <a:latin typeface="Calibri"/>
                <a:ea typeface="Calibri"/>
                <a:cs typeface="Calibri"/>
                <a:sym typeface="Calibri"/>
                <a:hlinkClick r:id="rId9"/>
              </a:rPr>
              <a:t>Wiz CLI SCANS (30d) </a:t>
            </a:r>
            <a:r>
              <a:rPr b="0" i="0" lang="en" sz="1400" u="none" cap="none" strike="noStrike">
                <a:solidFill>
                  <a:schemeClr val="hlink"/>
                </a:solidFill>
                <a:uFill>
                  <a:noFill/>
                </a:uFill>
                <a:latin typeface="Calibri"/>
                <a:ea typeface="Calibri"/>
                <a:cs typeface="Calibri"/>
                <a:sym typeface="Calibri"/>
                <a:hlinkClick r:id="rId10"/>
              </a:rPr>
              <a:t>↗</a:t>
            </a:r>
            <a:endParaRPr b="0" i="0" sz="1100" u="none" cap="none" strike="noStrike">
              <a:solidFill>
                <a:srgbClr val="0254EC"/>
              </a:solidFill>
              <a:latin typeface="Calibri"/>
              <a:ea typeface="Calibri"/>
              <a:cs typeface="Calibri"/>
              <a:sym typeface="Calibri"/>
            </a:endParaRPr>
          </a:p>
        </p:txBody>
      </p:sp>
      <p:sp>
        <p:nvSpPr>
          <p:cNvPr id="411" name="Google Shape;411;p50"/>
          <p:cNvSpPr txBox="1"/>
          <p:nvPr/>
        </p:nvSpPr>
        <p:spPr>
          <a:xfrm>
            <a:off x="3167108" y="4128246"/>
            <a:ext cx="2838900" cy="492000"/>
          </a:xfrm>
          <a:prstGeom prst="rect">
            <a:avLst/>
          </a:prstGeom>
          <a:noFill/>
          <a:ln>
            <a:noFill/>
          </a:ln>
        </p:spPr>
        <p:txBody>
          <a:bodyPr anchorCtr="0" anchor="t" bIns="91225" lIns="91225" spcFirstLastPara="1" rIns="91225" wrap="square" tIns="91225">
            <a:noAutofit/>
          </a:bodyPr>
          <a:lstStyle/>
          <a:p>
            <a:pPr indent="0" lvl="0" marL="0" marR="0" rtl="0" algn="ctr">
              <a:lnSpc>
                <a:spcPct val="150000"/>
              </a:lnSpc>
              <a:spcBef>
                <a:spcPts val="0"/>
              </a:spcBef>
              <a:spcAft>
                <a:spcPts val="0"/>
              </a:spcAft>
              <a:buClr>
                <a:srgbClr val="000000"/>
              </a:buClr>
              <a:buSzPts val="2000"/>
              <a:buFont typeface="Arial"/>
              <a:buNone/>
            </a:pPr>
            <a:r>
              <a:rPr b="0" i="0" lang="en" sz="2000" u="none" cap="none" strike="noStrike">
                <a:solidFill>
                  <a:srgbClr val="333333"/>
                </a:solidFill>
                <a:latin typeface="Calibri"/>
                <a:ea typeface="Calibri"/>
                <a:cs typeface="Calibri"/>
                <a:sym typeface="Calibri"/>
              </a:rPr>
              <a:t>{{CLI}}</a:t>
            </a:r>
            <a:endParaRPr b="0" i="0" sz="2000" u="none" cap="none" strike="noStrike">
              <a:solidFill>
                <a:srgbClr val="333333"/>
              </a:solidFill>
              <a:latin typeface="Calibri"/>
              <a:ea typeface="Calibri"/>
              <a:cs typeface="Calibri"/>
              <a:sym typeface="Calibri"/>
            </a:endParaRPr>
          </a:p>
        </p:txBody>
      </p:sp>
      <p:sp>
        <p:nvSpPr>
          <p:cNvPr id="412" name="Google Shape;412;p50"/>
          <p:cNvSpPr txBox="1"/>
          <p:nvPr/>
        </p:nvSpPr>
        <p:spPr>
          <a:xfrm>
            <a:off x="3306330" y="3466201"/>
            <a:ext cx="1695900" cy="2094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1"/>
              </a:rPr>
              <a:t>Container Registries</a:t>
            </a:r>
            <a:endParaRPr b="0" i="0" sz="1000" u="none" cap="none" strike="noStrike">
              <a:solidFill>
                <a:srgbClr val="0254EC"/>
              </a:solidFill>
              <a:latin typeface="Calibri"/>
              <a:ea typeface="Calibri"/>
              <a:cs typeface="Calibri"/>
              <a:sym typeface="Calibri"/>
            </a:endParaRPr>
          </a:p>
        </p:txBody>
      </p:sp>
      <p:sp>
        <p:nvSpPr>
          <p:cNvPr id="413" name="Google Shape;413;p50"/>
          <p:cNvSpPr txBox="1"/>
          <p:nvPr/>
        </p:nvSpPr>
        <p:spPr>
          <a:xfrm>
            <a:off x="4792628" y="3466201"/>
            <a:ext cx="1059900" cy="2094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1000"/>
              <a:buFont typeface="Arial"/>
              <a:buNone/>
            </a:pPr>
            <a:r>
              <a:rPr b="0" i="0" lang="en" sz="1000" u="none" cap="none" strike="noStrike">
                <a:solidFill>
                  <a:srgbClr val="333333"/>
                </a:solidFill>
                <a:latin typeface="Calibri"/>
                <a:ea typeface="Calibri"/>
                <a:cs typeface="Calibri"/>
                <a:sym typeface="Calibri"/>
              </a:rPr>
              <a:t>{{R_TOT}}</a:t>
            </a:r>
            <a:endParaRPr b="0" i="0" sz="1000" u="none" cap="none" strike="noStrike">
              <a:solidFill>
                <a:srgbClr val="333333"/>
              </a:solidFill>
              <a:latin typeface="Calibri"/>
              <a:ea typeface="Calibri"/>
              <a:cs typeface="Calibri"/>
              <a:sym typeface="Calibri"/>
            </a:endParaRPr>
          </a:p>
        </p:txBody>
      </p:sp>
      <p:sp>
        <p:nvSpPr>
          <p:cNvPr id="414" name="Google Shape;414;p50"/>
          <p:cNvSpPr txBox="1"/>
          <p:nvPr/>
        </p:nvSpPr>
        <p:spPr>
          <a:xfrm>
            <a:off x="3293611" y="3244616"/>
            <a:ext cx="1784700" cy="2094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2"/>
              </a:rPr>
              <a:t>Container Images</a:t>
            </a:r>
            <a:endParaRPr b="0" i="0" sz="1000" u="none" cap="none" strike="noStrike">
              <a:solidFill>
                <a:srgbClr val="0254EC"/>
              </a:solidFill>
              <a:latin typeface="Calibri"/>
              <a:ea typeface="Calibri"/>
              <a:cs typeface="Calibri"/>
              <a:sym typeface="Calibri"/>
            </a:endParaRPr>
          </a:p>
        </p:txBody>
      </p:sp>
      <p:sp>
        <p:nvSpPr>
          <p:cNvPr id="415" name="Google Shape;415;p50"/>
          <p:cNvSpPr txBox="1"/>
          <p:nvPr/>
        </p:nvSpPr>
        <p:spPr>
          <a:xfrm>
            <a:off x="1817806" y="1627601"/>
            <a:ext cx="1225800" cy="1248900"/>
          </a:xfrm>
          <a:prstGeom prst="rect">
            <a:avLst/>
          </a:prstGeom>
          <a:noFill/>
          <a:ln>
            <a:noFill/>
          </a:ln>
        </p:spPr>
        <p:txBody>
          <a:bodyPr anchorCtr="0" anchor="ctr" bIns="91225" lIns="91225" spcFirstLastPara="1" rIns="91225" wrap="square" tIns="91225">
            <a:noAutofit/>
          </a:bodyPr>
          <a:lstStyle/>
          <a:p>
            <a:pPr indent="0" lvl="0" marL="0" marR="0" rtl="0" algn="r">
              <a:lnSpc>
                <a:spcPct val="115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{{CL_CP}}%</a:t>
            </a:r>
            <a:br>
              <a:rPr b="0" i="0" lang="en" sz="800" u="none" cap="none" strike="noStrike">
                <a:solidFill>
                  <a:srgbClr val="333333"/>
                </a:solidFill>
                <a:latin typeface="Calibri"/>
                <a:ea typeface="Calibri"/>
                <a:cs typeface="Calibri"/>
                <a:sym typeface="Calibri"/>
              </a:rPr>
            </a:br>
            <a:r>
              <a:rPr b="0" i="0" lang="en" sz="800" u="none" cap="none" strike="noStrike">
                <a:solidFill>
                  <a:srgbClr val="333333"/>
                </a:solidFill>
                <a:latin typeface="Calibri"/>
                <a:ea typeface="Calibri"/>
                <a:cs typeface="Calibri"/>
                <a:sym typeface="Calibri"/>
              </a:rPr>
              <a:t>{{CL_DP}}%</a:t>
            </a:r>
            <a:br>
              <a:rPr b="0" i="0" lang="en" sz="800" u="none" cap="none" strike="noStrike">
                <a:solidFill>
                  <a:srgbClr val="333333"/>
                </a:solidFill>
                <a:latin typeface="Calibri"/>
                <a:ea typeface="Calibri"/>
                <a:cs typeface="Calibri"/>
                <a:sym typeface="Calibri"/>
              </a:rPr>
            </a:br>
            <a:r>
              <a:rPr b="0" i="0" lang="en" sz="800" u="none" cap="none" strike="noStrike">
                <a:solidFill>
                  <a:srgbClr val="333333"/>
                </a:solidFill>
                <a:latin typeface="Calibri"/>
                <a:ea typeface="Calibri"/>
                <a:cs typeface="Calibri"/>
                <a:sym typeface="Calibri"/>
              </a:rPr>
              <a:t>{{CL_NRVP}}%</a:t>
            </a:r>
            <a:br>
              <a:rPr b="0" i="0" lang="en" sz="800" u="none" cap="none" strike="noStrike">
                <a:solidFill>
                  <a:srgbClr val="333333"/>
                </a:solidFill>
                <a:latin typeface="Calibri"/>
                <a:ea typeface="Calibri"/>
                <a:cs typeface="Calibri"/>
                <a:sym typeface="Calibri"/>
              </a:rPr>
            </a:br>
            <a:r>
              <a:rPr b="0" i="0" lang="en" sz="800" u="none" cap="none" strike="noStrike">
                <a:solidFill>
                  <a:srgbClr val="333333"/>
                </a:solidFill>
                <a:latin typeface="Calibri"/>
                <a:ea typeface="Calibri"/>
                <a:cs typeface="Calibri"/>
                <a:sym typeface="Calibri"/>
              </a:rPr>
              <a:t>{{CL_WOP}}%</a:t>
            </a:r>
            <a:br>
              <a:rPr b="0" i="0" lang="en" sz="800" u="none" cap="none" strike="noStrike">
                <a:solidFill>
                  <a:srgbClr val="333333"/>
                </a:solidFill>
                <a:latin typeface="Calibri"/>
                <a:ea typeface="Calibri"/>
                <a:cs typeface="Calibri"/>
                <a:sym typeface="Calibri"/>
              </a:rPr>
            </a:br>
            <a:r>
              <a:rPr b="0" i="0" lang="en" sz="800" u="none" cap="none" strike="noStrike">
                <a:solidFill>
                  <a:srgbClr val="333333"/>
                </a:solidFill>
                <a:latin typeface="Calibri"/>
                <a:ea typeface="Calibri"/>
                <a:cs typeface="Calibri"/>
                <a:sym typeface="Calibri"/>
              </a:rPr>
              <a:t>{{CL_UVMP}}%</a:t>
            </a:r>
            <a:br>
              <a:rPr b="0" i="0" lang="en" sz="800" u="none" cap="none" strike="noStrike">
                <a:solidFill>
                  <a:srgbClr val="333333"/>
                </a:solidFill>
                <a:latin typeface="Calibri"/>
                <a:ea typeface="Calibri"/>
                <a:cs typeface="Calibri"/>
                <a:sym typeface="Calibri"/>
              </a:rPr>
            </a:br>
            <a:r>
              <a:rPr b="0" i="0" lang="en" sz="800" u="none" cap="none" strike="noStrike">
                <a:solidFill>
                  <a:srgbClr val="333333"/>
                </a:solidFill>
                <a:latin typeface="Calibri"/>
                <a:ea typeface="Calibri"/>
                <a:cs typeface="Calibri"/>
                <a:sym typeface="Calibri"/>
              </a:rPr>
              <a:t>{{CL_ASMP}}%</a:t>
            </a:r>
            <a:endParaRPr b="0" i="0" sz="800" u="none" cap="none" strike="noStrike">
              <a:solidFill>
                <a:srgbClr val="333333"/>
              </a:solidFill>
              <a:latin typeface="Calibri"/>
              <a:ea typeface="Calibri"/>
              <a:cs typeface="Calibri"/>
              <a:sym typeface="Calibri"/>
            </a:endParaRPr>
          </a:p>
          <a:p>
            <a:pPr indent="0" lvl="0" marL="0" marR="0" rtl="0" algn="r">
              <a:lnSpc>
                <a:spcPct val="115000"/>
              </a:lnSpc>
              <a:spcBef>
                <a:spcPts val="0"/>
              </a:spcBef>
              <a:spcAft>
                <a:spcPts val="0"/>
              </a:spcAft>
              <a:buClr>
                <a:srgbClr val="000000"/>
              </a:buClr>
              <a:buSzPts val="800"/>
              <a:buFont typeface="Arial"/>
              <a:buNone/>
            </a:pPr>
            <a:r>
              <a:rPr b="0" i="0" lang="en" sz="800" u="none" cap="none" strike="noStrike">
                <a:solidFill>
                  <a:srgbClr val="333333"/>
                </a:solidFill>
                <a:latin typeface="Calibri"/>
                <a:ea typeface="Calibri"/>
                <a:cs typeface="Calibri"/>
                <a:sym typeface="Calibri"/>
              </a:rPr>
              <a:t>{{CL_REDA}}%</a:t>
            </a:r>
            <a:br>
              <a:rPr b="0" i="0" lang="en" sz="800" u="none" cap="none" strike="noStrike">
                <a:solidFill>
                  <a:srgbClr val="333333"/>
                </a:solidFill>
                <a:latin typeface="Calibri"/>
                <a:ea typeface="Calibri"/>
                <a:cs typeface="Calibri"/>
                <a:sym typeface="Calibri"/>
              </a:rPr>
            </a:br>
            <a:r>
              <a:rPr b="0" i="0" lang="en" sz="800" u="none" cap="none" strike="noStrike">
                <a:solidFill>
                  <a:srgbClr val="333333"/>
                </a:solidFill>
                <a:latin typeface="Calibri"/>
                <a:ea typeface="Calibri"/>
                <a:cs typeface="Calibri"/>
                <a:sym typeface="Calibri"/>
              </a:rPr>
              <a:t>{{CL_SUP}}%</a:t>
            </a:r>
            <a:endParaRPr b="0" i="0" sz="800" u="none" cap="none" strike="noStrike">
              <a:solidFill>
                <a:srgbClr val="333333"/>
              </a:solidFill>
              <a:latin typeface="Calibri"/>
              <a:ea typeface="Calibri"/>
              <a:cs typeface="Calibri"/>
              <a:sym typeface="Calibri"/>
            </a:endParaRPr>
          </a:p>
        </p:txBody>
      </p:sp>
      <p:sp>
        <p:nvSpPr>
          <p:cNvPr id="416" name="Google Shape;416;p50"/>
          <p:cNvSpPr txBox="1"/>
          <p:nvPr/>
        </p:nvSpPr>
        <p:spPr>
          <a:xfrm>
            <a:off x="3295309" y="1456043"/>
            <a:ext cx="2528700" cy="33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Current Contract End</a:t>
            </a:r>
            <a:br>
              <a:rPr b="0" i="0" lang="en" sz="1000" u="none" cap="none" strike="noStrike">
                <a:solidFill>
                  <a:schemeClr val="dk1"/>
                </a:solidFill>
                <a:latin typeface="Calibri"/>
                <a:ea typeface="Calibri"/>
                <a:cs typeface="Calibri"/>
                <a:sym typeface="Calibri"/>
              </a:rPr>
            </a:br>
            <a:r>
              <a:rPr b="0" i="0" lang="en" sz="1000" u="none" cap="none" strike="noStrike">
                <a:solidFill>
                  <a:schemeClr val="dk1"/>
                </a:solidFill>
                <a:latin typeface="Calibri"/>
                <a:ea typeface="Calibri"/>
                <a:cs typeface="Calibri"/>
                <a:sym typeface="Calibri"/>
              </a:rPr>
              <a:t>{{CONTRACT_END_FMT}}</a:t>
            </a:r>
            <a:endParaRPr b="0" i="0" sz="1000" u="none" cap="none" strike="noStrike">
              <a:solidFill>
                <a:schemeClr val="dk1"/>
              </a:solidFill>
              <a:latin typeface="Calibri"/>
              <a:ea typeface="Calibri"/>
              <a:cs typeface="Calibri"/>
              <a:sym typeface="Calibri"/>
            </a:endParaRPr>
          </a:p>
        </p:txBody>
      </p:sp>
      <p:sp>
        <p:nvSpPr>
          <p:cNvPr id="417" name="Google Shape;417;p50"/>
          <p:cNvSpPr txBox="1"/>
          <p:nvPr/>
        </p:nvSpPr>
        <p:spPr>
          <a:xfrm>
            <a:off x="3266555" y="1275483"/>
            <a:ext cx="2683500" cy="2853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1155CC"/>
                </a:solidFill>
                <a:latin typeface="Calibri"/>
                <a:ea typeface="Calibri"/>
                <a:cs typeface="Calibri"/>
                <a:sym typeface="Calibri"/>
              </a:rPr>
              <a:t>{{CUS_NOD}} Days as Wiz Customer</a:t>
            </a:r>
            <a:endParaRPr b="0" i="0" sz="1100" u="none" cap="none" strike="noStrike">
              <a:solidFill>
                <a:srgbClr val="1155CC"/>
              </a:solidFill>
              <a:latin typeface="Calibri"/>
              <a:ea typeface="Calibri"/>
              <a:cs typeface="Calibri"/>
              <a:sym typeface="Calibri"/>
            </a:endParaRPr>
          </a:p>
        </p:txBody>
      </p:sp>
      <p:sp>
        <p:nvSpPr>
          <p:cNvPr id="418" name="Google Shape;418;p50"/>
          <p:cNvSpPr txBox="1"/>
          <p:nvPr/>
        </p:nvSpPr>
        <p:spPr>
          <a:xfrm>
            <a:off x="3293159" y="1891557"/>
            <a:ext cx="2683500" cy="153888"/>
          </a:xfrm>
          <a:prstGeom prst="rect">
            <a:avLst/>
          </a:prstGeom>
          <a:noFill/>
          <a:ln>
            <a:noFill/>
          </a:ln>
        </p:spPr>
        <p:txBody>
          <a:bodyPr anchorCtr="0" anchor="t" bIns="0" lIns="91425" spcFirstLastPara="1" rIns="91425" wrap="square" tIns="0">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{{D_U_R}} Days Until Renewal</a:t>
            </a:r>
            <a:endParaRPr b="0" i="0" sz="1000" u="none" cap="none" strike="noStrike">
              <a:solidFill>
                <a:schemeClr val="dk1"/>
              </a:solidFill>
              <a:latin typeface="Calibri"/>
              <a:ea typeface="Calibri"/>
              <a:cs typeface="Calibri"/>
              <a:sym typeface="Calibri"/>
            </a:endParaRPr>
          </a:p>
        </p:txBody>
      </p:sp>
      <p:pic>
        <p:nvPicPr>
          <p:cNvPr id="419" name="Google Shape;419;p50"/>
          <p:cNvPicPr preferRelativeResize="0"/>
          <p:nvPr/>
        </p:nvPicPr>
        <p:blipFill rotWithShape="1">
          <a:blip r:embed="rId13">
            <a:alphaModFix/>
          </a:blip>
          <a:srcRect b="0" l="0" r="0" t="0"/>
          <a:stretch/>
        </p:blipFill>
        <p:spPr>
          <a:xfrm>
            <a:off x="231234" y="1394102"/>
            <a:ext cx="338330" cy="357132"/>
          </a:xfrm>
          <a:prstGeom prst="rect">
            <a:avLst/>
          </a:prstGeom>
          <a:noFill/>
          <a:ln>
            <a:noFill/>
          </a:ln>
        </p:spPr>
      </p:pic>
      <p:pic>
        <p:nvPicPr>
          <p:cNvPr id="420" name="Google Shape;420;p50"/>
          <p:cNvPicPr preferRelativeResize="0"/>
          <p:nvPr/>
        </p:nvPicPr>
        <p:blipFill rotWithShape="1">
          <a:blip r:embed="rId7">
            <a:alphaModFix/>
          </a:blip>
          <a:srcRect b="0" l="0" r="0" t="0"/>
          <a:stretch/>
        </p:blipFill>
        <p:spPr>
          <a:xfrm>
            <a:off x="6189553" y="976375"/>
            <a:ext cx="2780923" cy="1385452"/>
          </a:xfrm>
          <a:prstGeom prst="rect">
            <a:avLst/>
          </a:prstGeom>
          <a:noFill/>
          <a:ln cap="flat" cmpd="sng" w="9525">
            <a:solidFill>
              <a:schemeClr val="accent1"/>
            </a:solidFill>
            <a:prstDash val="solid"/>
            <a:round/>
            <a:headEnd len="sm" w="sm" type="none"/>
            <a:tailEnd len="sm" w="sm" type="none"/>
          </a:ln>
        </p:spPr>
      </p:pic>
      <p:sp>
        <p:nvSpPr>
          <p:cNvPr id="421" name="Google Shape;421;p50"/>
          <p:cNvSpPr txBox="1"/>
          <p:nvPr/>
        </p:nvSpPr>
        <p:spPr>
          <a:xfrm>
            <a:off x="6189557" y="997040"/>
            <a:ext cx="2781000" cy="3765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rgbClr val="595959"/>
              </a:buClr>
              <a:buSzPts val="1500"/>
              <a:buFont typeface="Arial"/>
              <a:buNone/>
            </a:pPr>
            <a:r>
              <a:rPr b="0" i="0" lang="en" sz="1500" u="sng" cap="none" strike="noStrike">
                <a:solidFill>
                  <a:schemeClr val="hlink"/>
                </a:solidFill>
                <a:latin typeface="Calibri"/>
                <a:ea typeface="Calibri"/>
                <a:cs typeface="Calibri"/>
                <a:sym typeface="Calibri"/>
                <a:hlinkClick r:id="rId14"/>
              </a:rPr>
              <a:t>Unscanned Resources </a:t>
            </a:r>
            <a:r>
              <a:rPr b="0" i="0" lang="en" sz="1500" u="none" cap="none" strike="noStrike">
                <a:solidFill>
                  <a:schemeClr val="hlink"/>
                </a:solidFill>
                <a:uFill>
                  <a:noFill/>
                </a:uFill>
                <a:latin typeface="Calibri"/>
                <a:ea typeface="Calibri"/>
                <a:cs typeface="Calibri"/>
                <a:sym typeface="Calibri"/>
                <a:hlinkClick r:id="rId15"/>
              </a:rPr>
              <a:t>↗</a:t>
            </a:r>
            <a:endParaRPr b="0" i="0" sz="1500" u="none" cap="none" strike="noStrike">
              <a:solidFill>
                <a:srgbClr val="0254EC"/>
              </a:solidFill>
              <a:latin typeface="Calibri"/>
              <a:ea typeface="Calibri"/>
              <a:cs typeface="Calibri"/>
              <a:sym typeface="Calibri"/>
            </a:endParaRPr>
          </a:p>
        </p:txBody>
      </p:sp>
      <p:sp>
        <p:nvSpPr>
          <p:cNvPr id="422" name="Google Shape;422;p50"/>
          <p:cNvSpPr txBox="1"/>
          <p:nvPr/>
        </p:nvSpPr>
        <p:spPr>
          <a:xfrm>
            <a:off x="6189565" y="1395307"/>
            <a:ext cx="2781000" cy="940800"/>
          </a:xfrm>
          <a:prstGeom prst="rect">
            <a:avLst/>
          </a:prstGeom>
          <a:noFill/>
          <a:ln>
            <a:noFill/>
          </a:ln>
        </p:spPr>
        <p:txBody>
          <a:bodyPr anchorCtr="0" anchor="t" bIns="92600" lIns="92600" spcFirstLastPara="1" rIns="92600" wrap="square" tIns="92600">
            <a:noAutofit/>
          </a:bodyPr>
          <a:lstStyle/>
          <a:p>
            <a:pPr indent="0" lvl="0" marL="0" marR="0" rtl="0" algn="ctr">
              <a:lnSpc>
                <a:spcPct val="115000"/>
              </a:lnSpc>
              <a:spcBef>
                <a:spcPts val="0"/>
              </a:spcBef>
              <a:spcAft>
                <a:spcPts val="0"/>
              </a:spcAft>
              <a:buClr>
                <a:srgbClr val="000000"/>
              </a:buClr>
              <a:buSzPts val="1200"/>
              <a:buFont typeface="Arial"/>
              <a:buNone/>
            </a:pPr>
            <a:r>
              <a:rPr b="0" i="0" lang="en" sz="1200" u="none" cap="none" strike="noStrike">
                <a:solidFill>
                  <a:srgbClr val="333333"/>
                </a:solidFill>
                <a:latin typeface="Calibri"/>
                <a:ea typeface="Calibri"/>
                <a:cs typeface="Calibri"/>
                <a:sym typeface="Calibri"/>
              </a:rPr>
              <a:t>{{U_RES}} Unscanned Resources</a:t>
            </a:r>
            <a:br>
              <a:rPr b="0" i="0" lang="en" sz="1200" u="none" cap="none" strike="noStrike">
                <a:solidFill>
                  <a:srgbClr val="333333"/>
                </a:solidFill>
                <a:latin typeface="Calibri"/>
                <a:ea typeface="Calibri"/>
                <a:cs typeface="Calibri"/>
                <a:sym typeface="Calibri"/>
              </a:rPr>
            </a:br>
            <a:r>
              <a:rPr b="0" i="0" lang="en" sz="800" u="none" cap="none" strike="noStrike">
                <a:solidFill>
                  <a:srgbClr val="333333"/>
                </a:solidFill>
                <a:latin typeface="Calibri"/>
                <a:ea typeface="Calibri"/>
                <a:cs typeface="Calibri"/>
                <a:sym typeface="Calibri"/>
              </a:rPr>
              <a:t>Cloud Organizations, Code Repositories &amp; Subscriptions</a:t>
            </a:r>
            <a:endParaRPr b="0" i="0" sz="800" u="none" cap="none" strike="noStrike">
              <a:solidFill>
                <a:srgbClr val="333333"/>
              </a:solidFill>
              <a:latin typeface="Calibri"/>
              <a:ea typeface="Calibri"/>
              <a:cs typeface="Calibri"/>
              <a:sym typeface="Calibri"/>
            </a:endParaRPr>
          </a:p>
        </p:txBody>
      </p:sp>
      <p:pic>
        <p:nvPicPr>
          <p:cNvPr id="423" name="Google Shape;423;p50"/>
          <p:cNvPicPr preferRelativeResize="0"/>
          <p:nvPr/>
        </p:nvPicPr>
        <p:blipFill rotWithShape="1">
          <a:blip r:embed="rId7">
            <a:alphaModFix/>
          </a:blip>
          <a:srcRect b="0" l="0" r="0" t="0"/>
          <a:stretch/>
        </p:blipFill>
        <p:spPr>
          <a:xfrm>
            <a:off x="6194229" y="2518124"/>
            <a:ext cx="2769198" cy="1385452"/>
          </a:xfrm>
          <a:prstGeom prst="rect">
            <a:avLst/>
          </a:prstGeom>
          <a:noFill/>
          <a:ln cap="flat" cmpd="sng" w="9525">
            <a:solidFill>
              <a:schemeClr val="accent1"/>
            </a:solidFill>
            <a:prstDash val="solid"/>
            <a:round/>
            <a:headEnd len="sm" w="sm" type="none"/>
            <a:tailEnd len="sm" w="sm" type="none"/>
          </a:ln>
        </p:spPr>
      </p:pic>
      <p:sp>
        <p:nvSpPr>
          <p:cNvPr id="424" name="Google Shape;424;p50"/>
          <p:cNvSpPr txBox="1"/>
          <p:nvPr/>
        </p:nvSpPr>
        <p:spPr>
          <a:xfrm>
            <a:off x="6194230" y="2538228"/>
            <a:ext cx="2767200" cy="4047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500" u="sng" cap="none" strike="noStrike">
                <a:solidFill>
                  <a:schemeClr val="hlink"/>
                </a:solidFill>
                <a:latin typeface="Calibri"/>
                <a:ea typeface="Calibri"/>
                <a:cs typeface="Calibri"/>
                <a:sym typeface="Calibri"/>
                <a:hlinkClick r:id="rId16"/>
              </a:rPr>
              <a:t>Red Agent Scans</a:t>
            </a:r>
            <a:r>
              <a:rPr b="0" i="0" lang="en" sz="1500" u="none" cap="none" strike="noStrike">
                <a:solidFill>
                  <a:srgbClr val="0254EC"/>
                </a:solidFill>
                <a:latin typeface="Calibri"/>
                <a:ea typeface="Calibri"/>
                <a:cs typeface="Calibri"/>
                <a:sym typeface="Calibri"/>
              </a:rPr>
              <a:t> </a:t>
            </a:r>
            <a:r>
              <a:rPr b="0" i="0" lang="en" sz="1500" u="none" cap="none" strike="noStrike">
                <a:solidFill>
                  <a:schemeClr val="hlink"/>
                </a:solidFill>
                <a:uFill>
                  <a:noFill/>
                </a:uFill>
                <a:latin typeface="Calibri"/>
                <a:ea typeface="Calibri"/>
                <a:cs typeface="Calibri"/>
                <a:sym typeface="Calibri"/>
                <a:hlinkClick r:id="rId17"/>
              </a:rPr>
              <a:t>↗</a:t>
            </a:r>
            <a:endParaRPr b="0" i="0" sz="1500" u="none" cap="none" strike="noStrike">
              <a:solidFill>
                <a:srgbClr val="0254EC"/>
              </a:solidFill>
              <a:latin typeface="Calibri"/>
              <a:ea typeface="Calibri"/>
              <a:cs typeface="Calibri"/>
              <a:sym typeface="Calibri"/>
            </a:endParaRPr>
          </a:p>
        </p:txBody>
      </p:sp>
      <p:sp>
        <p:nvSpPr>
          <p:cNvPr id="425" name="Google Shape;425;p50"/>
          <p:cNvSpPr txBox="1"/>
          <p:nvPr/>
        </p:nvSpPr>
        <p:spPr>
          <a:xfrm>
            <a:off x="6296001" y="3150231"/>
            <a:ext cx="2526300" cy="371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sp>
        <p:nvSpPr>
          <p:cNvPr id="426" name="Google Shape;426;p50"/>
          <p:cNvSpPr txBox="1"/>
          <p:nvPr/>
        </p:nvSpPr>
        <p:spPr>
          <a:xfrm>
            <a:off x="6236436" y="2843382"/>
            <a:ext cx="2651700" cy="316200"/>
          </a:xfrm>
          <a:prstGeom prst="rect">
            <a:avLst/>
          </a:prstGeom>
          <a:noFill/>
          <a:ln>
            <a:noFill/>
          </a:ln>
          <a:effectLst>
            <a:outerShdw blurRad="57150" rotWithShape="0" algn="bl" dir="5400000" dist="19050">
              <a:srgbClr val="674EA7">
                <a:alpha val="5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rgbClr val="1155CC"/>
              </a:solidFill>
              <a:latin typeface="Calibri"/>
              <a:ea typeface="Calibri"/>
              <a:cs typeface="Calibri"/>
              <a:sym typeface="Calibri"/>
            </a:endParaRPr>
          </a:p>
        </p:txBody>
      </p:sp>
      <p:sp>
        <p:nvSpPr>
          <p:cNvPr id="427" name="Google Shape;427;p50"/>
          <p:cNvSpPr txBox="1"/>
          <p:nvPr/>
        </p:nvSpPr>
        <p:spPr>
          <a:xfrm>
            <a:off x="6203356" y="2861350"/>
            <a:ext cx="2764500" cy="2427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DAST Attacker: {{RA_DAST}}</a:t>
            </a:r>
            <a:endParaRPr b="0" i="0" sz="900" u="none" cap="none" strike="noStrike">
              <a:solidFill>
                <a:srgbClr val="333333"/>
              </a:solidFill>
              <a:latin typeface="Calibri"/>
              <a:ea typeface="Calibri"/>
              <a:cs typeface="Calibri"/>
              <a:sym typeface="Calibri"/>
            </a:endParaRPr>
          </a:p>
        </p:txBody>
      </p:sp>
      <p:sp>
        <p:nvSpPr>
          <p:cNvPr id="428" name="Google Shape;428;p50"/>
          <p:cNvSpPr txBox="1"/>
          <p:nvPr/>
        </p:nvSpPr>
        <p:spPr>
          <a:xfrm>
            <a:off x="6202885" y="3097036"/>
            <a:ext cx="2764500" cy="2427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Web Crawler: {{RA_WC}}</a:t>
            </a:r>
            <a:endParaRPr b="0" i="0" sz="900" u="none" cap="none" strike="noStrike">
              <a:solidFill>
                <a:srgbClr val="333333"/>
              </a:solidFill>
              <a:latin typeface="Calibri"/>
              <a:ea typeface="Calibri"/>
              <a:cs typeface="Calibri"/>
              <a:sym typeface="Calibri"/>
            </a:endParaRPr>
          </a:p>
        </p:txBody>
      </p:sp>
      <p:sp>
        <p:nvSpPr>
          <p:cNvPr id="429" name="Google Shape;429;p50"/>
          <p:cNvSpPr txBox="1"/>
          <p:nvPr/>
        </p:nvSpPr>
        <p:spPr>
          <a:xfrm>
            <a:off x="6202728" y="3332721"/>
            <a:ext cx="2764500" cy="2427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Secret Impact: {{RA_SI}}</a:t>
            </a:r>
            <a:endParaRPr b="0" i="0" sz="900" u="none" cap="none" strike="noStrike">
              <a:solidFill>
                <a:srgbClr val="333333"/>
              </a:solidFill>
              <a:latin typeface="Calibri"/>
              <a:ea typeface="Calibri"/>
              <a:cs typeface="Calibri"/>
              <a:sym typeface="Calibri"/>
            </a:endParaRPr>
          </a:p>
        </p:txBody>
      </p:sp>
      <p:sp>
        <p:nvSpPr>
          <p:cNvPr id="430" name="Google Shape;430;p50"/>
          <p:cNvSpPr txBox="1"/>
          <p:nvPr/>
        </p:nvSpPr>
        <p:spPr>
          <a:xfrm>
            <a:off x="6192125" y="3519610"/>
            <a:ext cx="2764500" cy="2427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1100"/>
              <a:buFont typeface="Arial"/>
              <a:buNone/>
            </a:pPr>
            <a:r>
              <a:rPr b="0" i="0" lang="en" sz="1100" u="none" cap="none" strike="noStrike">
                <a:solidFill>
                  <a:srgbClr val="333333"/>
                </a:solidFill>
                <a:latin typeface="Calibri"/>
                <a:ea typeface="Calibri"/>
                <a:cs typeface="Calibri"/>
                <a:sym typeface="Calibri"/>
              </a:rPr>
              <a:t>Total Monthly Scans: {{RA_TOTS}}</a:t>
            </a:r>
            <a:endParaRPr b="0" i="0" sz="1100" u="none" cap="none" strike="noStrike">
              <a:solidFill>
                <a:srgbClr val="333333"/>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5" name="Shape 435"/>
        <p:cNvGrpSpPr/>
        <p:nvPr/>
      </p:nvGrpSpPr>
      <p:grpSpPr>
        <a:xfrm>
          <a:off x="0" y="0"/>
          <a:ext cx="0" cy="0"/>
          <a:chOff x="0" y="0"/>
          <a:chExt cx="0" cy="0"/>
        </a:xfrm>
      </p:grpSpPr>
      <p:sp>
        <p:nvSpPr>
          <p:cNvPr id="436" name="Google Shape;436;p51"/>
          <p:cNvSpPr txBox="1"/>
          <p:nvPr>
            <p:ph idx="4294967295" type="title"/>
          </p:nvPr>
        </p:nvSpPr>
        <p:spPr>
          <a:xfrm>
            <a:off x="150" y="249625"/>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Wiz System Health &amp; Scans Snapshot</a:t>
            </a:r>
            <a:endParaRPr sz="2420">
              <a:latin typeface="Calibri"/>
              <a:ea typeface="Calibri"/>
              <a:cs typeface="Calibri"/>
              <a:sym typeface="Calibri"/>
            </a:endParaRPr>
          </a:p>
        </p:txBody>
      </p:sp>
      <p:pic>
        <p:nvPicPr>
          <p:cNvPr id="437" name="Google Shape;437;p51"/>
          <p:cNvPicPr preferRelativeResize="0"/>
          <p:nvPr/>
        </p:nvPicPr>
        <p:blipFill rotWithShape="1">
          <a:blip r:embed="rId3">
            <a:alphaModFix/>
          </a:blip>
          <a:srcRect b="0" l="0" r="0" t="0"/>
          <a:stretch/>
        </p:blipFill>
        <p:spPr>
          <a:xfrm>
            <a:off x="119827" y="933590"/>
            <a:ext cx="2755502" cy="1594700"/>
          </a:xfrm>
          <a:prstGeom prst="rect">
            <a:avLst/>
          </a:prstGeom>
          <a:noFill/>
          <a:ln cap="flat" cmpd="sng" w="9525">
            <a:solidFill>
              <a:schemeClr val="accent1"/>
            </a:solidFill>
            <a:prstDash val="solid"/>
            <a:round/>
            <a:headEnd len="sm" w="sm" type="none"/>
            <a:tailEnd len="sm" w="sm" type="none"/>
          </a:ln>
        </p:spPr>
      </p:pic>
      <p:sp>
        <p:nvSpPr>
          <p:cNvPr id="438" name="Google Shape;438;p51"/>
          <p:cNvSpPr txBox="1"/>
          <p:nvPr/>
        </p:nvSpPr>
        <p:spPr>
          <a:xfrm>
            <a:off x="119827" y="1028050"/>
            <a:ext cx="2838300" cy="2259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500" u="none" cap="none" strike="noStrike">
                <a:solidFill>
                  <a:schemeClr val="dk1"/>
                </a:solidFill>
                <a:latin typeface="Calibri"/>
                <a:ea typeface="Calibri"/>
                <a:cs typeface="Calibri"/>
                <a:sym typeface="Calibri"/>
              </a:rPr>
              <a:t>System Health Issues</a:t>
            </a:r>
            <a:endParaRPr b="0" i="0" sz="1500" u="none" cap="none" strike="noStrike">
              <a:solidFill>
                <a:schemeClr val="dk1"/>
              </a:solidFill>
              <a:latin typeface="Calibri"/>
              <a:ea typeface="Calibri"/>
              <a:cs typeface="Calibri"/>
              <a:sym typeface="Calibri"/>
            </a:endParaRPr>
          </a:p>
        </p:txBody>
      </p:sp>
      <p:sp>
        <p:nvSpPr>
          <p:cNvPr id="439" name="Google Shape;439;p51"/>
          <p:cNvSpPr txBox="1"/>
          <p:nvPr/>
        </p:nvSpPr>
        <p:spPr>
          <a:xfrm>
            <a:off x="224233" y="1475155"/>
            <a:ext cx="2591700" cy="336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sp>
        <p:nvSpPr>
          <p:cNvPr id="440" name="Google Shape;440;p51"/>
          <p:cNvSpPr txBox="1"/>
          <p:nvPr/>
        </p:nvSpPr>
        <p:spPr>
          <a:xfrm>
            <a:off x="163134" y="1196871"/>
            <a:ext cx="2720100" cy="286800"/>
          </a:xfrm>
          <a:prstGeom prst="rect">
            <a:avLst/>
          </a:prstGeom>
          <a:noFill/>
          <a:ln>
            <a:noFill/>
          </a:ln>
          <a:effectLst>
            <a:outerShdw blurRad="57150" rotWithShape="0" algn="bl" dir="5400000" dist="19050">
              <a:srgbClr val="674EA7">
                <a:alpha val="5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rgbClr val="1155CC"/>
              </a:solidFill>
              <a:latin typeface="Calibri"/>
              <a:ea typeface="Calibri"/>
              <a:cs typeface="Calibri"/>
              <a:sym typeface="Calibri"/>
            </a:endParaRPr>
          </a:p>
        </p:txBody>
      </p:sp>
      <p:sp>
        <p:nvSpPr>
          <p:cNvPr id="441" name="Google Shape;441;p51"/>
          <p:cNvSpPr txBox="1"/>
          <p:nvPr/>
        </p:nvSpPr>
        <p:spPr>
          <a:xfrm>
            <a:off x="256245" y="1350741"/>
            <a:ext cx="1785000" cy="169800"/>
          </a:xfrm>
          <a:prstGeom prst="rect">
            <a:avLst/>
          </a:prstGeom>
          <a:noFill/>
          <a:ln>
            <a:noFill/>
          </a:ln>
        </p:spPr>
        <p:txBody>
          <a:bodyPr anchorCtr="0" anchor="t" bIns="91250" lIns="91250" spcFirstLastPara="1" rIns="91250" wrap="square" tIns="91250">
            <a:noAutofit/>
          </a:bodyPr>
          <a:lstStyle/>
          <a:p>
            <a:pPr indent="0" lvl="0" marL="0" marR="0" rtl="0" algn="l">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4"/>
              </a:rPr>
              <a:t>Critical SHIs</a:t>
            </a:r>
            <a:endParaRPr b="0" i="0" sz="1000" u="none" cap="none" strike="noStrike">
              <a:solidFill>
                <a:srgbClr val="0254EC"/>
              </a:solidFill>
              <a:latin typeface="Calibri"/>
              <a:ea typeface="Calibri"/>
              <a:cs typeface="Calibri"/>
              <a:sym typeface="Calibri"/>
            </a:endParaRPr>
          </a:p>
        </p:txBody>
      </p:sp>
      <p:sp>
        <p:nvSpPr>
          <p:cNvPr id="442" name="Google Shape;442;p51"/>
          <p:cNvSpPr txBox="1"/>
          <p:nvPr/>
        </p:nvSpPr>
        <p:spPr>
          <a:xfrm>
            <a:off x="1713244" y="1340109"/>
            <a:ext cx="1115700" cy="169800"/>
          </a:xfrm>
          <a:prstGeom prst="rect">
            <a:avLst/>
          </a:prstGeom>
          <a:noFill/>
          <a:ln>
            <a:noFill/>
          </a:ln>
        </p:spPr>
        <p:txBody>
          <a:bodyPr anchorCtr="0" anchor="t" bIns="91250" lIns="91250" spcFirstLastPara="1" rIns="91250" wrap="square" tIns="91250">
            <a:noAutofit/>
          </a:bodyPr>
          <a:lstStyle/>
          <a:p>
            <a:pPr indent="0" lvl="0" marL="0" marR="0" rtl="0" algn="r">
              <a:lnSpc>
                <a:spcPct val="150000"/>
              </a:lnSpc>
              <a:spcBef>
                <a:spcPts val="0"/>
              </a:spcBef>
              <a:spcAft>
                <a:spcPts val="0"/>
              </a:spcAft>
              <a:buClr>
                <a:srgbClr val="000000"/>
              </a:buClr>
              <a:buSzPts val="1000"/>
              <a:buFont typeface="Arial"/>
              <a:buNone/>
            </a:pPr>
            <a:r>
              <a:rPr b="0" i="0" lang="en" sz="1000" u="none" cap="none" strike="noStrike">
                <a:solidFill>
                  <a:srgbClr val="333333"/>
                </a:solidFill>
                <a:latin typeface="Calibri"/>
                <a:ea typeface="Calibri"/>
                <a:cs typeface="Calibri"/>
                <a:sym typeface="Calibri"/>
              </a:rPr>
              <a:t>{{SHI_C}}</a:t>
            </a:r>
            <a:endParaRPr b="0" i="0" sz="1000" u="none" cap="none" strike="noStrike">
              <a:solidFill>
                <a:srgbClr val="333333"/>
              </a:solidFill>
              <a:latin typeface="Calibri"/>
              <a:ea typeface="Calibri"/>
              <a:cs typeface="Calibri"/>
              <a:sym typeface="Calibri"/>
            </a:endParaRPr>
          </a:p>
        </p:txBody>
      </p:sp>
      <p:sp>
        <p:nvSpPr>
          <p:cNvPr id="443" name="Google Shape;443;p51"/>
          <p:cNvSpPr txBox="1"/>
          <p:nvPr/>
        </p:nvSpPr>
        <p:spPr>
          <a:xfrm>
            <a:off x="256245" y="1525050"/>
            <a:ext cx="1785000" cy="169800"/>
          </a:xfrm>
          <a:prstGeom prst="rect">
            <a:avLst/>
          </a:prstGeom>
          <a:noFill/>
          <a:ln>
            <a:noFill/>
          </a:ln>
        </p:spPr>
        <p:txBody>
          <a:bodyPr anchorCtr="0" anchor="t" bIns="91250" lIns="91250" spcFirstLastPara="1" rIns="91250" wrap="square" tIns="91250">
            <a:noAutofit/>
          </a:bodyPr>
          <a:lstStyle/>
          <a:p>
            <a:pPr indent="0" lvl="0" marL="0" marR="0" rtl="0" algn="l">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5"/>
              </a:rPr>
              <a:t>High SHIs</a:t>
            </a:r>
            <a:endParaRPr b="0" i="0" sz="1000" u="none" cap="none" strike="noStrike">
              <a:solidFill>
                <a:srgbClr val="0254EC"/>
              </a:solidFill>
              <a:latin typeface="Calibri"/>
              <a:ea typeface="Calibri"/>
              <a:cs typeface="Calibri"/>
              <a:sym typeface="Calibri"/>
            </a:endParaRPr>
          </a:p>
        </p:txBody>
      </p:sp>
      <p:sp>
        <p:nvSpPr>
          <p:cNvPr id="444" name="Google Shape;444;p51"/>
          <p:cNvSpPr txBox="1"/>
          <p:nvPr/>
        </p:nvSpPr>
        <p:spPr>
          <a:xfrm>
            <a:off x="1712251" y="1519655"/>
            <a:ext cx="1115700" cy="169800"/>
          </a:xfrm>
          <a:prstGeom prst="rect">
            <a:avLst/>
          </a:prstGeom>
          <a:noFill/>
          <a:ln>
            <a:noFill/>
          </a:ln>
        </p:spPr>
        <p:txBody>
          <a:bodyPr anchorCtr="0" anchor="t" bIns="91250" lIns="91250" spcFirstLastPara="1" rIns="91250" wrap="square" tIns="91250">
            <a:noAutofit/>
          </a:bodyPr>
          <a:lstStyle/>
          <a:p>
            <a:pPr indent="0" lvl="0" marL="0" marR="0" rtl="0" algn="r">
              <a:lnSpc>
                <a:spcPct val="150000"/>
              </a:lnSpc>
              <a:spcBef>
                <a:spcPts val="0"/>
              </a:spcBef>
              <a:spcAft>
                <a:spcPts val="0"/>
              </a:spcAft>
              <a:buClr>
                <a:srgbClr val="000000"/>
              </a:buClr>
              <a:buSzPts val="1000"/>
              <a:buFont typeface="Arial"/>
              <a:buNone/>
            </a:pPr>
            <a:r>
              <a:rPr b="0" i="0" lang="en" sz="1000" u="none" cap="none" strike="noStrike">
                <a:solidFill>
                  <a:srgbClr val="333333"/>
                </a:solidFill>
                <a:latin typeface="Calibri"/>
                <a:ea typeface="Calibri"/>
                <a:cs typeface="Calibri"/>
                <a:sym typeface="Calibri"/>
              </a:rPr>
              <a:t>{{SHI_H}}</a:t>
            </a:r>
            <a:endParaRPr b="0" i="0" sz="1000" u="none" cap="none" strike="noStrike">
              <a:solidFill>
                <a:srgbClr val="333333"/>
              </a:solidFill>
              <a:latin typeface="Calibri"/>
              <a:ea typeface="Calibri"/>
              <a:cs typeface="Calibri"/>
              <a:sym typeface="Calibri"/>
            </a:endParaRPr>
          </a:p>
        </p:txBody>
      </p:sp>
      <p:sp>
        <p:nvSpPr>
          <p:cNvPr id="445" name="Google Shape;445;p51"/>
          <p:cNvSpPr txBox="1"/>
          <p:nvPr/>
        </p:nvSpPr>
        <p:spPr>
          <a:xfrm>
            <a:off x="256528" y="1974033"/>
            <a:ext cx="1785000" cy="169800"/>
          </a:xfrm>
          <a:prstGeom prst="rect">
            <a:avLst/>
          </a:prstGeom>
          <a:noFill/>
          <a:ln>
            <a:noFill/>
          </a:ln>
        </p:spPr>
        <p:txBody>
          <a:bodyPr anchorCtr="0" anchor="t" bIns="91250" lIns="91250" spcFirstLastPara="1" rIns="91250" wrap="square" tIns="91250">
            <a:noAutofit/>
          </a:bodyPr>
          <a:lstStyle/>
          <a:p>
            <a:pPr indent="0" lvl="0" marL="0" marR="0" rtl="0" algn="l">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6"/>
              </a:rPr>
              <a:t>Resolved Critical SHIs</a:t>
            </a:r>
            <a:endParaRPr b="0" i="0" sz="1000" u="none" cap="none" strike="noStrike">
              <a:solidFill>
                <a:srgbClr val="0254EC"/>
              </a:solidFill>
              <a:latin typeface="Calibri"/>
              <a:ea typeface="Calibri"/>
              <a:cs typeface="Calibri"/>
              <a:sym typeface="Calibri"/>
            </a:endParaRPr>
          </a:p>
        </p:txBody>
      </p:sp>
      <p:sp>
        <p:nvSpPr>
          <p:cNvPr id="446" name="Google Shape;446;p51"/>
          <p:cNvSpPr txBox="1"/>
          <p:nvPr/>
        </p:nvSpPr>
        <p:spPr>
          <a:xfrm>
            <a:off x="1735851" y="1974033"/>
            <a:ext cx="1115700" cy="169800"/>
          </a:xfrm>
          <a:prstGeom prst="rect">
            <a:avLst/>
          </a:prstGeom>
          <a:noFill/>
          <a:ln>
            <a:noFill/>
          </a:ln>
        </p:spPr>
        <p:txBody>
          <a:bodyPr anchorCtr="0" anchor="t" bIns="91250" lIns="91250" spcFirstLastPara="1" rIns="91250" wrap="square" tIns="91250">
            <a:noAutofit/>
          </a:bodyPr>
          <a:lstStyle/>
          <a:p>
            <a:pPr indent="0" lvl="0" marL="0" marR="0" rtl="0" algn="r">
              <a:lnSpc>
                <a:spcPct val="150000"/>
              </a:lnSpc>
              <a:spcBef>
                <a:spcPts val="0"/>
              </a:spcBef>
              <a:spcAft>
                <a:spcPts val="0"/>
              </a:spcAft>
              <a:buClr>
                <a:srgbClr val="000000"/>
              </a:buClr>
              <a:buSzPts val="1000"/>
              <a:buFont typeface="Arial"/>
              <a:buNone/>
            </a:pPr>
            <a:r>
              <a:rPr b="0" i="0" lang="en" sz="1000" u="none" cap="none" strike="noStrike">
                <a:solidFill>
                  <a:srgbClr val="333333"/>
                </a:solidFill>
                <a:latin typeface="Calibri"/>
                <a:ea typeface="Calibri"/>
                <a:cs typeface="Calibri"/>
                <a:sym typeface="Calibri"/>
              </a:rPr>
              <a:t>{{SHI_R_C}}</a:t>
            </a:r>
            <a:endParaRPr b="0" i="0" sz="1000" u="none" cap="none" strike="noStrike">
              <a:solidFill>
                <a:srgbClr val="333333"/>
              </a:solidFill>
              <a:latin typeface="Calibri"/>
              <a:ea typeface="Calibri"/>
              <a:cs typeface="Calibri"/>
              <a:sym typeface="Calibri"/>
            </a:endParaRPr>
          </a:p>
        </p:txBody>
      </p:sp>
      <p:sp>
        <p:nvSpPr>
          <p:cNvPr id="447" name="Google Shape;447;p51"/>
          <p:cNvSpPr txBox="1"/>
          <p:nvPr/>
        </p:nvSpPr>
        <p:spPr>
          <a:xfrm>
            <a:off x="256528" y="2153659"/>
            <a:ext cx="1785000" cy="169800"/>
          </a:xfrm>
          <a:prstGeom prst="rect">
            <a:avLst/>
          </a:prstGeom>
          <a:noFill/>
          <a:ln>
            <a:noFill/>
          </a:ln>
        </p:spPr>
        <p:txBody>
          <a:bodyPr anchorCtr="0" anchor="t" bIns="91250" lIns="91250" spcFirstLastPara="1" rIns="91250" wrap="square" tIns="91250">
            <a:noAutofit/>
          </a:bodyPr>
          <a:lstStyle/>
          <a:p>
            <a:pPr indent="0" lvl="0" marL="0" marR="0" rtl="0" algn="l">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7"/>
              </a:rPr>
              <a:t>Resolved High SHIs</a:t>
            </a:r>
            <a:endParaRPr b="0" i="0" sz="1000" u="none" cap="none" strike="noStrike">
              <a:solidFill>
                <a:srgbClr val="0254EC"/>
              </a:solidFill>
              <a:latin typeface="Calibri"/>
              <a:ea typeface="Calibri"/>
              <a:cs typeface="Calibri"/>
              <a:sym typeface="Calibri"/>
            </a:endParaRPr>
          </a:p>
        </p:txBody>
      </p:sp>
      <p:sp>
        <p:nvSpPr>
          <p:cNvPr id="448" name="Google Shape;448;p51"/>
          <p:cNvSpPr txBox="1"/>
          <p:nvPr/>
        </p:nvSpPr>
        <p:spPr>
          <a:xfrm>
            <a:off x="1735851" y="2153659"/>
            <a:ext cx="1115700" cy="169800"/>
          </a:xfrm>
          <a:prstGeom prst="rect">
            <a:avLst/>
          </a:prstGeom>
          <a:noFill/>
          <a:ln>
            <a:noFill/>
          </a:ln>
        </p:spPr>
        <p:txBody>
          <a:bodyPr anchorCtr="0" anchor="t" bIns="91250" lIns="91250" spcFirstLastPara="1" rIns="91250" wrap="square" tIns="91250">
            <a:noAutofit/>
          </a:bodyPr>
          <a:lstStyle/>
          <a:p>
            <a:pPr indent="0" lvl="0" marL="0" marR="0" rtl="0" algn="r">
              <a:lnSpc>
                <a:spcPct val="150000"/>
              </a:lnSpc>
              <a:spcBef>
                <a:spcPts val="0"/>
              </a:spcBef>
              <a:spcAft>
                <a:spcPts val="0"/>
              </a:spcAft>
              <a:buClr>
                <a:srgbClr val="000000"/>
              </a:buClr>
              <a:buSzPts val="1000"/>
              <a:buFont typeface="Arial"/>
              <a:buNone/>
            </a:pPr>
            <a:r>
              <a:rPr b="0" i="0" lang="en" sz="1000" u="none" cap="none" strike="noStrike">
                <a:solidFill>
                  <a:srgbClr val="333333"/>
                </a:solidFill>
                <a:latin typeface="Calibri"/>
                <a:ea typeface="Calibri"/>
                <a:cs typeface="Calibri"/>
                <a:sym typeface="Calibri"/>
              </a:rPr>
              <a:t>{{SHI_R_H}}</a:t>
            </a:r>
            <a:endParaRPr b="0" i="0" sz="1000" u="none" cap="none" strike="noStrike">
              <a:solidFill>
                <a:srgbClr val="333333"/>
              </a:solidFill>
              <a:latin typeface="Calibri"/>
              <a:ea typeface="Calibri"/>
              <a:cs typeface="Calibri"/>
              <a:sym typeface="Calibri"/>
            </a:endParaRPr>
          </a:p>
        </p:txBody>
      </p:sp>
      <p:sp>
        <p:nvSpPr>
          <p:cNvPr id="449" name="Google Shape;449;p51"/>
          <p:cNvSpPr txBox="1"/>
          <p:nvPr/>
        </p:nvSpPr>
        <p:spPr>
          <a:xfrm>
            <a:off x="244065" y="1774709"/>
            <a:ext cx="2655300" cy="219900"/>
          </a:xfrm>
          <a:prstGeom prst="rect">
            <a:avLst/>
          </a:prstGeom>
          <a:noFill/>
          <a:ln>
            <a:noFill/>
          </a:ln>
        </p:spPr>
        <p:txBody>
          <a:bodyPr anchorCtr="0" anchor="t" bIns="91250" lIns="91250" spcFirstLastPara="1" rIns="91250" wrap="square" tIns="91250">
            <a:noAutofit/>
          </a:bodyPr>
          <a:lstStyle/>
          <a:p>
            <a:pPr indent="0" lvl="0" marL="0" marR="0" rtl="0" algn="l">
              <a:lnSpc>
                <a:spcPct val="150000"/>
              </a:lnSpc>
              <a:spcBef>
                <a:spcPts val="0"/>
              </a:spcBef>
              <a:spcAft>
                <a:spcPts val="0"/>
              </a:spcAft>
              <a:buClr>
                <a:srgbClr val="000000"/>
              </a:buClr>
              <a:buSzPts val="1000"/>
              <a:buFont typeface="Arial"/>
              <a:buNone/>
            </a:pPr>
            <a:r>
              <a:rPr b="0" i="0" lang="en" sz="1000" u="none" cap="none" strike="noStrike">
                <a:solidFill>
                  <a:srgbClr val="333333"/>
                </a:solidFill>
                <a:latin typeface="Calibri"/>
                <a:ea typeface="Calibri"/>
                <a:cs typeface="Calibri"/>
                <a:sym typeface="Calibri"/>
              </a:rPr>
              <a:t>Resolved SHIs in Past 30 Days</a:t>
            </a:r>
            <a:endParaRPr b="0" i="0" sz="1000" u="none" cap="none" strike="noStrike">
              <a:solidFill>
                <a:srgbClr val="333333"/>
              </a:solidFill>
              <a:latin typeface="Calibri"/>
              <a:ea typeface="Calibri"/>
              <a:cs typeface="Calibri"/>
              <a:sym typeface="Calibri"/>
            </a:endParaRPr>
          </a:p>
        </p:txBody>
      </p:sp>
      <p:pic>
        <p:nvPicPr>
          <p:cNvPr id="450" name="Google Shape;450;p51"/>
          <p:cNvPicPr preferRelativeResize="0"/>
          <p:nvPr/>
        </p:nvPicPr>
        <p:blipFill rotWithShape="1">
          <a:blip r:embed="rId8">
            <a:alphaModFix amt="79000"/>
          </a:blip>
          <a:srcRect b="0" l="0" r="0" t="0"/>
          <a:stretch/>
        </p:blipFill>
        <p:spPr>
          <a:xfrm>
            <a:off x="3091600" y="2638250"/>
            <a:ext cx="2755502" cy="2427451"/>
          </a:xfrm>
          <a:prstGeom prst="rect">
            <a:avLst/>
          </a:prstGeom>
          <a:noFill/>
          <a:ln cap="flat" cmpd="sng" w="9525">
            <a:solidFill>
              <a:schemeClr val="accent1"/>
            </a:solidFill>
            <a:prstDash val="solid"/>
            <a:round/>
            <a:headEnd len="sm" w="sm" type="none"/>
            <a:tailEnd len="sm" w="sm" type="none"/>
          </a:ln>
        </p:spPr>
      </p:pic>
      <p:sp>
        <p:nvSpPr>
          <p:cNvPr id="451" name="Google Shape;451;p51"/>
          <p:cNvSpPr txBox="1"/>
          <p:nvPr/>
        </p:nvSpPr>
        <p:spPr>
          <a:xfrm>
            <a:off x="3091590" y="2718202"/>
            <a:ext cx="2753400" cy="3456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500" u="none" cap="none" strike="noStrike">
                <a:solidFill>
                  <a:schemeClr val="dk1"/>
                </a:solidFill>
                <a:latin typeface="Calibri"/>
                <a:ea typeface="Calibri"/>
                <a:cs typeface="Calibri"/>
                <a:sym typeface="Calibri"/>
              </a:rPr>
              <a:t>Non-OS, Registry &amp; VM Image Scans</a:t>
            </a:r>
            <a:endParaRPr b="0" i="0" sz="1500" u="none" cap="none" strike="noStrike">
              <a:solidFill>
                <a:schemeClr val="dk1"/>
              </a:solidFill>
              <a:latin typeface="Calibri"/>
              <a:ea typeface="Calibri"/>
              <a:cs typeface="Calibri"/>
              <a:sym typeface="Calibri"/>
            </a:endParaRPr>
          </a:p>
        </p:txBody>
      </p:sp>
      <p:pic>
        <p:nvPicPr>
          <p:cNvPr id="452" name="Google Shape;452;p51"/>
          <p:cNvPicPr preferRelativeResize="0"/>
          <p:nvPr/>
        </p:nvPicPr>
        <p:blipFill rotWithShape="1">
          <a:blip r:embed="rId3">
            <a:alphaModFix/>
          </a:blip>
          <a:srcRect b="0" l="0" r="0" t="0"/>
          <a:stretch/>
        </p:blipFill>
        <p:spPr>
          <a:xfrm>
            <a:off x="6074877" y="933600"/>
            <a:ext cx="2941998" cy="1594700"/>
          </a:xfrm>
          <a:prstGeom prst="rect">
            <a:avLst/>
          </a:prstGeom>
          <a:noFill/>
          <a:ln cap="flat" cmpd="sng" w="9525">
            <a:solidFill>
              <a:schemeClr val="accent1"/>
            </a:solidFill>
            <a:prstDash val="solid"/>
            <a:round/>
            <a:headEnd len="sm" w="sm" type="none"/>
            <a:tailEnd len="sm" w="sm" type="none"/>
          </a:ln>
        </p:spPr>
      </p:pic>
      <p:sp>
        <p:nvSpPr>
          <p:cNvPr id="453" name="Google Shape;453;p51"/>
          <p:cNvSpPr txBox="1"/>
          <p:nvPr/>
        </p:nvSpPr>
        <p:spPr>
          <a:xfrm>
            <a:off x="6074879" y="1016199"/>
            <a:ext cx="2939700" cy="3456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500" u="none" cap="none" strike="noStrike">
                <a:solidFill>
                  <a:schemeClr val="dk1"/>
                </a:solidFill>
                <a:latin typeface="Calibri"/>
                <a:ea typeface="Calibri"/>
                <a:cs typeface="Calibri"/>
                <a:sym typeface="Calibri"/>
              </a:rPr>
              <a:t>Data Security (DSPM) Scans</a:t>
            </a:r>
            <a:endParaRPr b="0" i="0" sz="1500" u="none" cap="none" strike="noStrike">
              <a:solidFill>
                <a:schemeClr val="dk1"/>
              </a:solidFill>
              <a:latin typeface="Calibri"/>
              <a:ea typeface="Calibri"/>
              <a:cs typeface="Calibri"/>
              <a:sym typeface="Calibri"/>
            </a:endParaRPr>
          </a:p>
        </p:txBody>
      </p:sp>
      <p:sp>
        <p:nvSpPr>
          <p:cNvPr id="454" name="Google Shape;454;p51"/>
          <p:cNvSpPr txBox="1"/>
          <p:nvPr/>
        </p:nvSpPr>
        <p:spPr>
          <a:xfrm>
            <a:off x="6183001" y="1483537"/>
            <a:ext cx="2684100" cy="317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sp>
        <p:nvSpPr>
          <p:cNvPr id="455" name="Google Shape;455;p51"/>
          <p:cNvSpPr txBox="1"/>
          <p:nvPr/>
        </p:nvSpPr>
        <p:spPr>
          <a:xfrm>
            <a:off x="6119719" y="1221521"/>
            <a:ext cx="2817300" cy="270000"/>
          </a:xfrm>
          <a:prstGeom prst="rect">
            <a:avLst/>
          </a:prstGeom>
          <a:noFill/>
          <a:ln>
            <a:noFill/>
          </a:ln>
          <a:effectLst>
            <a:outerShdw blurRad="57150" rotWithShape="0" algn="bl" dir="5400000" dist="19050">
              <a:srgbClr val="674EA7">
                <a:alpha val="56078"/>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rgbClr val="1155CC"/>
              </a:solidFill>
              <a:latin typeface="Calibri"/>
              <a:ea typeface="Calibri"/>
              <a:cs typeface="Calibri"/>
              <a:sym typeface="Calibri"/>
            </a:endParaRPr>
          </a:p>
        </p:txBody>
      </p:sp>
      <p:sp>
        <p:nvSpPr>
          <p:cNvPr id="456" name="Google Shape;456;p51"/>
          <p:cNvSpPr txBox="1"/>
          <p:nvPr/>
        </p:nvSpPr>
        <p:spPr>
          <a:xfrm>
            <a:off x="6255252" y="1350465"/>
            <a:ext cx="2643900" cy="2343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9"/>
              </a:rPr>
              <a:t>Total</a:t>
            </a:r>
            <a:r>
              <a:rPr b="0" i="0" lang="en" sz="1000" u="none" cap="none" strike="noStrike">
                <a:solidFill>
                  <a:srgbClr val="333333"/>
                </a:solidFill>
                <a:latin typeface="Calibri"/>
                <a:ea typeface="Calibri"/>
                <a:cs typeface="Calibri"/>
                <a:sym typeface="Calibri"/>
              </a:rPr>
              <a:t>: {{DS_T}}</a:t>
            </a:r>
            <a:endParaRPr b="0" i="0" sz="1000" u="none" cap="none" strike="noStrike">
              <a:solidFill>
                <a:srgbClr val="333333"/>
              </a:solidFill>
              <a:latin typeface="Calibri"/>
              <a:ea typeface="Calibri"/>
              <a:cs typeface="Calibri"/>
              <a:sym typeface="Calibri"/>
            </a:endParaRPr>
          </a:p>
        </p:txBody>
      </p:sp>
      <p:sp>
        <p:nvSpPr>
          <p:cNvPr id="457" name="Google Shape;457;p51"/>
          <p:cNvSpPr txBox="1"/>
          <p:nvPr/>
        </p:nvSpPr>
        <p:spPr>
          <a:xfrm>
            <a:off x="6254802" y="1603626"/>
            <a:ext cx="2643900" cy="2343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0"/>
              </a:rPr>
              <a:t>Failed</a:t>
            </a:r>
            <a:r>
              <a:rPr b="0" i="0" lang="en" sz="1000" u="none" cap="none" strike="noStrike">
                <a:solidFill>
                  <a:srgbClr val="333333"/>
                </a:solidFill>
                <a:latin typeface="Calibri"/>
                <a:ea typeface="Calibri"/>
                <a:cs typeface="Calibri"/>
                <a:sym typeface="Calibri"/>
              </a:rPr>
              <a:t>: {{DS_F}}</a:t>
            </a:r>
            <a:endParaRPr b="0" i="0" sz="1000" u="none" cap="none" strike="noStrike">
              <a:solidFill>
                <a:srgbClr val="333333"/>
              </a:solidFill>
              <a:latin typeface="Calibri"/>
              <a:ea typeface="Calibri"/>
              <a:cs typeface="Calibri"/>
              <a:sym typeface="Calibri"/>
            </a:endParaRPr>
          </a:p>
        </p:txBody>
      </p:sp>
      <p:sp>
        <p:nvSpPr>
          <p:cNvPr id="458" name="Google Shape;458;p51"/>
          <p:cNvSpPr txBox="1"/>
          <p:nvPr/>
        </p:nvSpPr>
        <p:spPr>
          <a:xfrm>
            <a:off x="6088076" y="2109948"/>
            <a:ext cx="2928300" cy="2343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1000"/>
              <a:buFont typeface="Arial"/>
              <a:buNone/>
            </a:pPr>
            <a:r>
              <a:rPr b="0" i="0" lang="en" sz="1000" u="none" cap="none" strike="noStrike">
                <a:solidFill>
                  <a:srgbClr val="000000"/>
                </a:solidFill>
                <a:latin typeface="Calibri"/>
                <a:ea typeface="Calibri"/>
                <a:cs typeface="Calibri"/>
                <a:sym typeface="Calibri"/>
              </a:rPr>
              <a:t>Data Scan Coverage:</a:t>
            </a:r>
            <a:r>
              <a:rPr b="0" i="0" lang="en" sz="1000" u="none" cap="none" strike="noStrike">
                <a:solidFill>
                  <a:srgbClr val="333333"/>
                </a:solidFill>
                <a:latin typeface="Calibri"/>
                <a:ea typeface="Calibri"/>
                <a:cs typeface="Calibri"/>
                <a:sym typeface="Calibri"/>
              </a:rPr>
              <a:t> {{DS_P}}</a:t>
            </a:r>
            <a:endParaRPr b="0" i="0" sz="1000" u="none" cap="none" strike="noStrike">
              <a:solidFill>
                <a:srgbClr val="333333"/>
              </a:solidFill>
              <a:latin typeface="Calibri"/>
              <a:ea typeface="Calibri"/>
              <a:cs typeface="Calibri"/>
              <a:sym typeface="Calibri"/>
            </a:endParaRPr>
          </a:p>
        </p:txBody>
      </p:sp>
      <p:sp>
        <p:nvSpPr>
          <p:cNvPr id="459" name="Google Shape;459;p51"/>
          <p:cNvSpPr txBox="1"/>
          <p:nvPr/>
        </p:nvSpPr>
        <p:spPr>
          <a:xfrm>
            <a:off x="6248593" y="1856787"/>
            <a:ext cx="2643900" cy="2343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1"/>
              </a:rPr>
              <a:t>Skipped</a:t>
            </a:r>
            <a:r>
              <a:rPr b="0" i="0" lang="en" sz="1000" u="none" cap="none" strike="noStrike">
                <a:solidFill>
                  <a:srgbClr val="333333"/>
                </a:solidFill>
                <a:latin typeface="Calibri"/>
                <a:ea typeface="Calibri"/>
                <a:cs typeface="Calibri"/>
                <a:sym typeface="Calibri"/>
              </a:rPr>
              <a:t>: {{DS_SK}}</a:t>
            </a:r>
            <a:endParaRPr b="0" i="0" sz="1000" u="none" cap="none" strike="noStrike">
              <a:solidFill>
                <a:srgbClr val="333333"/>
              </a:solidFill>
              <a:latin typeface="Calibri"/>
              <a:ea typeface="Calibri"/>
              <a:cs typeface="Calibri"/>
              <a:sym typeface="Calibri"/>
            </a:endParaRPr>
          </a:p>
        </p:txBody>
      </p:sp>
      <p:pic>
        <p:nvPicPr>
          <p:cNvPr id="460" name="Google Shape;460;p51"/>
          <p:cNvPicPr preferRelativeResize="0"/>
          <p:nvPr/>
        </p:nvPicPr>
        <p:blipFill rotWithShape="1">
          <a:blip r:embed="rId3">
            <a:alphaModFix/>
          </a:blip>
          <a:srcRect b="0" l="0" r="0" t="0"/>
          <a:stretch/>
        </p:blipFill>
        <p:spPr>
          <a:xfrm>
            <a:off x="6071616" y="2962656"/>
            <a:ext cx="2939187" cy="2033900"/>
          </a:xfrm>
          <a:prstGeom prst="rect">
            <a:avLst/>
          </a:prstGeom>
          <a:noFill/>
          <a:ln cap="flat" cmpd="sng" w="9525">
            <a:solidFill>
              <a:schemeClr val="accent1"/>
            </a:solidFill>
            <a:prstDash val="solid"/>
            <a:round/>
            <a:headEnd len="sm" w="sm" type="none"/>
            <a:tailEnd len="sm" w="sm" type="none"/>
          </a:ln>
        </p:spPr>
      </p:pic>
      <p:sp>
        <p:nvSpPr>
          <p:cNvPr id="461" name="Google Shape;461;p51"/>
          <p:cNvSpPr txBox="1"/>
          <p:nvPr/>
        </p:nvSpPr>
        <p:spPr>
          <a:xfrm>
            <a:off x="6074177" y="3001318"/>
            <a:ext cx="2937000" cy="5361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500" u="none" cap="none" strike="noStrike">
                <a:solidFill>
                  <a:schemeClr val="dk1"/>
                </a:solidFill>
                <a:latin typeface="Calibri"/>
                <a:ea typeface="Calibri"/>
                <a:cs typeface="Calibri"/>
                <a:sym typeface="Calibri"/>
              </a:rPr>
              <a:t>Data Security Scans</a:t>
            </a:r>
            <a:br>
              <a:rPr b="0" i="0" lang="en" sz="1500" u="none" cap="none" strike="noStrike">
                <a:solidFill>
                  <a:schemeClr val="dk1"/>
                </a:solidFill>
                <a:latin typeface="Calibri"/>
                <a:ea typeface="Calibri"/>
                <a:cs typeface="Calibri"/>
                <a:sym typeface="Calibri"/>
              </a:rPr>
            </a:br>
            <a:r>
              <a:rPr b="0" i="0" lang="en" sz="1300" u="none" cap="none" strike="noStrike">
                <a:solidFill>
                  <a:schemeClr val="dk1"/>
                </a:solidFill>
                <a:latin typeface="Calibri"/>
                <a:ea typeface="Calibri"/>
                <a:cs typeface="Calibri"/>
                <a:sym typeface="Calibri"/>
              </a:rPr>
              <a:t>Counts by Resource Type</a:t>
            </a:r>
            <a:r>
              <a:rPr b="0" i="0" lang="en" sz="1500" u="none" cap="none" strike="noStrike">
                <a:solidFill>
                  <a:schemeClr val="dk1"/>
                </a:solidFill>
                <a:latin typeface="Calibri"/>
                <a:ea typeface="Calibri"/>
                <a:cs typeface="Calibri"/>
                <a:sym typeface="Calibri"/>
              </a:rPr>
              <a:t> </a:t>
            </a:r>
            <a:endParaRPr b="0" i="0" sz="1500" u="none" cap="none" strike="noStrike">
              <a:solidFill>
                <a:schemeClr val="dk1"/>
              </a:solidFill>
              <a:latin typeface="Calibri"/>
              <a:ea typeface="Calibri"/>
              <a:cs typeface="Calibri"/>
              <a:sym typeface="Calibri"/>
            </a:endParaRPr>
          </a:p>
        </p:txBody>
      </p:sp>
      <p:sp>
        <p:nvSpPr>
          <p:cNvPr id="462" name="Google Shape;462;p51"/>
          <p:cNvSpPr txBox="1"/>
          <p:nvPr/>
        </p:nvSpPr>
        <p:spPr>
          <a:xfrm>
            <a:off x="6182195" y="3512872"/>
            <a:ext cx="2681400" cy="317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sp>
        <p:nvSpPr>
          <p:cNvPr id="463" name="Google Shape;463;p51"/>
          <p:cNvSpPr txBox="1"/>
          <p:nvPr/>
        </p:nvSpPr>
        <p:spPr>
          <a:xfrm>
            <a:off x="6080958" y="3553677"/>
            <a:ext cx="2925600" cy="207300"/>
          </a:xfrm>
          <a:prstGeom prst="rect">
            <a:avLst/>
          </a:prstGeom>
          <a:solidFill>
            <a:schemeClr val="lt1"/>
          </a:solid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2"/>
              </a:rPr>
              <a:t>Buckets</a:t>
            </a:r>
            <a:r>
              <a:rPr b="0" i="0" lang="en" sz="1000" u="none" cap="none" strike="noStrike">
                <a:solidFill>
                  <a:srgbClr val="333333"/>
                </a:solidFill>
                <a:latin typeface="Calibri"/>
                <a:ea typeface="Calibri"/>
                <a:cs typeface="Calibri"/>
                <a:sym typeface="Calibri"/>
              </a:rPr>
              <a:t>: {{DS_B}}</a:t>
            </a:r>
            <a:endParaRPr b="0" i="0" sz="1000" u="none" cap="none" strike="noStrike">
              <a:solidFill>
                <a:srgbClr val="333333"/>
              </a:solidFill>
              <a:latin typeface="Calibri"/>
              <a:ea typeface="Calibri"/>
              <a:cs typeface="Calibri"/>
              <a:sym typeface="Calibri"/>
            </a:endParaRPr>
          </a:p>
        </p:txBody>
      </p:sp>
      <p:sp>
        <p:nvSpPr>
          <p:cNvPr id="464" name="Google Shape;464;p51"/>
          <p:cNvSpPr txBox="1"/>
          <p:nvPr/>
        </p:nvSpPr>
        <p:spPr>
          <a:xfrm>
            <a:off x="6076847" y="3787606"/>
            <a:ext cx="2939400" cy="2073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3"/>
              </a:rPr>
              <a:t>PaaS Databases</a:t>
            </a:r>
            <a:r>
              <a:rPr b="0" i="0" lang="en" sz="1000" u="none" cap="none" strike="noStrike">
                <a:solidFill>
                  <a:srgbClr val="333333"/>
                </a:solidFill>
                <a:latin typeface="Calibri"/>
                <a:ea typeface="Calibri"/>
                <a:cs typeface="Calibri"/>
                <a:sym typeface="Calibri"/>
              </a:rPr>
              <a:t>: {{DS_PD}}</a:t>
            </a:r>
            <a:endParaRPr b="0" i="0" sz="1000" u="none" cap="none" strike="noStrike">
              <a:solidFill>
                <a:srgbClr val="333333"/>
              </a:solidFill>
              <a:latin typeface="Calibri"/>
              <a:ea typeface="Calibri"/>
              <a:cs typeface="Calibri"/>
              <a:sym typeface="Calibri"/>
            </a:endParaRPr>
          </a:p>
        </p:txBody>
      </p:sp>
      <p:sp>
        <p:nvSpPr>
          <p:cNvPr id="465" name="Google Shape;465;p51"/>
          <p:cNvSpPr txBox="1"/>
          <p:nvPr/>
        </p:nvSpPr>
        <p:spPr>
          <a:xfrm>
            <a:off x="6087369" y="4266098"/>
            <a:ext cx="2925600" cy="2073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4"/>
              </a:rPr>
              <a:t>Virtual Drives</a:t>
            </a:r>
            <a:r>
              <a:rPr b="0" i="0" lang="en" sz="1000" u="none" cap="none" strike="noStrike">
                <a:solidFill>
                  <a:srgbClr val="333333"/>
                </a:solidFill>
                <a:latin typeface="Calibri"/>
                <a:ea typeface="Calibri"/>
                <a:cs typeface="Calibri"/>
                <a:sym typeface="Calibri"/>
              </a:rPr>
              <a:t>: {{DS_VD}}</a:t>
            </a:r>
            <a:endParaRPr b="0" i="0" sz="1000" u="none" cap="none" strike="noStrike">
              <a:solidFill>
                <a:srgbClr val="333333"/>
              </a:solidFill>
              <a:latin typeface="Calibri"/>
              <a:ea typeface="Calibri"/>
              <a:cs typeface="Calibri"/>
              <a:sym typeface="Calibri"/>
            </a:endParaRPr>
          </a:p>
        </p:txBody>
      </p:sp>
      <p:sp>
        <p:nvSpPr>
          <p:cNvPr id="466" name="Google Shape;466;p51"/>
          <p:cNvSpPr txBox="1"/>
          <p:nvPr/>
        </p:nvSpPr>
        <p:spPr>
          <a:xfrm>
            <a:off x="6084243" y="4026852"/>
            <a:ext cx="2925600" cy="2073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5"/>
              </a:rPr>
              <a:t>Data Warehouses</a:t>
            </a:r>
            <a:r>
              <a:rPr b="0" i="0" lang="en" sz="1000" u="none" cap="none" strike="noStrike">
                <a:solidFill>
                  <a:srgbClr val="333333"/>
                </a:solidFill>
                <a:latin typeface="Calibri"/>
                <a:ea typeface="Calibri"/>
                <a:cs typeface="Calibri"/>
                <a:sym typeface="Calibri"/>
              </a:rPr>
              <a:t>: {{DS_DW}}</a:t>
            </a:r>
            <a:endParaRPr b="0" i="0" sz="1000" u="none" cap="none" strike="noStrike">
              <a:solidFill>
                <a:srgbClr val="333333"/>
              </a:solidFill>
              <a:latin typeface="Calibri"/>
              <a:ea typeface="Calibri"/>
              <a:cs typeface="Calibri"/>
              <a:sym typeface="Calibri"/>
            </a:endParaRPr>
          </a:p>
        </p:txBody>
      </p:sp>
      <p:sp>
        <p:nvSpPr>
          <p:cNvPr id="467" name="Google Shape;467;p51"/>
          <p:cNvSpPr txBox="1"/>
          <p:nvPr/>
        </p:nvSpPr>
        <p:spPr>
          <a:xfrm>
            <a:off x="6085707" y="4505344"/>
            <a:ext cx="2925600" cy="2073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6"/>
              </a:rPr>
              <a:t>AI Datastores</a:t>
            </a:r>
            <a:r>
              <a:rPr b="0" i="0" lang="en" sz="1000" u="none" cap="none" strike="noStrike">
                <a:solidFill>
                  <a:srgbClr val="333333"/>
                </a:solidFill>
                <a:latin typeface="Calibri"/>
                <a:ea typeface="Calibri"/>
                <a:cs typeface="Calibri"/>
                <a:sym typeface="Calibri"/>
              </a:rPr>
              <a:t>: {{DS_AI}}</a:t>
            </a:r>
            <a:endParaRPr b="0" i="0" sz="1000" u="none" cap="none" strike="noStrike">
              <a:solidFill>
                <a:srgbClr val="333333"/>
              </a:solidFill>
              <a:latin typeface="Calibri"/>
              <a:ea typeface="Calibri"/>
              <a:cs typeface="Calibri"/>
              <a:sym typeface="Calibri"/>
            </a:endParaRPr>
          </a:p>
        </p:txBody>
      </p:sp>
      <p:sp>
        <p:nvSpPr>
          <p:cNvPr id="468" name="Google Shape;468;p51"/>
          <p:cNvSpPr txBox="1"/>
          <p:nvPr/>
        </p:nvSpPr>
        <p:spPr>
          <a:xfrm>
            <a:off x="6085192" y="4744589"/>
            <a:ext cx="2925600" cy="2073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7"/>
              </a:rPr>
              <a:t>File System Services</a:t>
            </a:r>
            <a:r>
              <a:rPr b="0" i="0" lang="en" sz="1000" u="none" cap="none" strike="noStrike">
                <a:solidFill>
                  <a:srgbClr val="333333"/>
                </a:solidFill>
                <a:latin typeface="Calibri"/>
                <a:ea typeface="Calibri"/>
                <a:cs typeface="Calibri"/>
                <a:sym typeface="Calibri"/>
              </a:rPr>
              <a:t>: {{DS_FSS}}</a:t>
            </a:r>
            <a:endParaRPr b="0" i="0" sz="1000" u="none" cap="none" strike="noStrike">
              <a:solidFill>
                <a:srgbClr val="333333"/>
              </a:solidFill>
              <a:latin typeface="Calibri"/>
              <a:ea typeface="Calibri"/>
              <a:cs typeface="Calibri"/>
              <a:sym typeface="Calibri"/>
            </a:endParaRPr>
          </a:p>
        </p:txBody>
      </p:sp>
      <p:pic>
        <p:nvPicPr>
          <p:cNvPr id="469" name="Google Shape;469;p51"/>
          <p:cNvPicPr preferRelativeResize="0"/>
          <p:nvPr/>
        </p:nvPicPr>
        <p:blipFill rotWithShape="1">
          <a:blip r:embed="rId3">
            <a:alphaModFix/>
          </a:blip>
          <a:srcRect b="0" l="0" r="0" t="0"/>
          <a:stretch/>
        </p:blipFill>
        <p:spPr>
          <a:xfrm>
            <a:off x="3080275" y="933600"/>
            <a:ext cx="2789652" cy="1542625"/>
          </a:xfrm>
          <a:prstGeom prst="rect">
            <a:avLst/>
          </a:prstGeom>
          <a:noFill/>
          <a:ln cap="flat" cmpd="sng" w="9525">
            <a:solidFill>
              <a:schemeClr val="accent1"/>
            </a:solidFill>
            <a:prstDash val="solid"/>
            <a:round/>
            <a:headEnd len="sm" w="sm" type="none"/>
            <a:tailEnd len="sm" w="sm" type="none"/>
          </a:ln>
        </p:spPr>
      </p:pic>
      <p:sp>
        <p:nvSpPr>
          <p:cNvPr id="470" name="Google Shape;470;p51"/>
          <p:cNvSpPr txBox="1"/>
          <p:nvPr/>
        </p:nvSpPr>
        <p:spPr>
          <a:xfrm>
            <a:off x="3080277" y="1001134"/>
            <a:ext cx="2782200" cy="3456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500" u="none" cap="none" strike="noStrike">
                <a:solidFill>
                  <a:schemeClr val="dk1"/>
                </a:solidFill>
                <a:latin typeface="Calibri"/>
                <a:ea typeface="Calibri"/>
                <a:cs typeface="Calibri"/>
                <a:sym typeface="Calibri"/>
              </a:rPr>
              <a:t>Workload Scans</a:t>
            </a:r>
            <a:endParaRPr b="0" i="0" sz="1500" u="none" cap="none" strike="noStrike">
              <a:solidFill>
                <a:schemeClr val="dk1"/>
              </a:solidFill>
              <a:latin typeface="Calibri"/>
              <a:ea typeface="Calibri"/>
              <a:cs typeface="Calibri"/>
              <a:sym typeface="Calibri"/>
            </a:endParaRPr>
          </a:p>
        </p:txBody>
      </p:sp>
      <p:sp>
        <p:nvSpPr>
          <p:cNvPr id="471" name="Google Shape;471;p51"/>
          <p:cNvSpPr txBox="1"/>
          <p:nvPr/>
        </p:nvSpPr>
        <p:spPr>
          <a:xfrm>
            <a:off x="3158346" y="1578966"/>
            <a:ext cx="2540400" cy="317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chemeClr val="dk1"/>
              </a:solidFill>
              <a:latin typeface="Calibri"/>
              <a:ea typeface="Calibri"/>
              <a:cs typeface="Calibri"/>
              <a:sym typeface="Calibri"/>
            </a:endParaRPr>
          </a:p>
        </p:txBody>
      </p:sp>
      <p:sp>
        <p:nvSpPr>
          <p:cNvPr id="472" name="Google Shape;472;p51"/>
          <p:cNvSpPr txBox="1"/>
          <p:nvPr/>
        </p:nvSpPr>
        <p:spPr>
          <a:xfrm>
            <a:off x="3226732" y="1361234"/>
            <a:ext cx="2502000" cy="2073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8"/>
              </a:rPr>
              <a:t>Total</a:t>
            </a:r>
            <a:r>
              <a:rPr b="0" i="0" lang="en" sz="1000" u="none" cap="none" strike="noStrike">
                <a:solidFill>
                  <a:srgbClr val="333333"/>
                </a:solidFill>
                <a:latin typeface="Calibri"/>
                <a:ea typeface="Calibri"/>
                <a:cs typeface="Calibri"/>
                <a:sym typeface="Calibri"/>
              </a:rPr>
              <a:t>: {{WS_T}}</a:t>
            </a:r>
            <a:endParaRPr b="0" i="0" sz="1000" u="none" cap="none" strike="noStrike">
              <a:solidFill>
                <a:srgbClr val="333333"/>
              </a:solidFill>
              <a:latin typeface="Calibri"/>
              <a:ea typeface="Calibri"/>
              <a:cs typeface="Calibri"/>
              <a:sym typeface="Calibri"/>
            </a:endParaRPr>
          </a:p>
        </p:txBody>
      </p:sp>
      <p:sp>
        <p:nvSpPr>
          <p:cNvPr id="473" name="Google Shape;473;p51"/>
          <p:cNvSpPr txBox="1"/>
          <p:nvPr/>
        </p:nvSpPr>
        <p:spPr>
          <a:xfrm>
            <a:off x="3226306" y="1591491"/>
            <a:ext cx="2502000" cy="2073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9"/>
              </a:rPr>
              <a:t>Failed</a:t>
            </a:r>
            <a:r>
              <a:rPr b="0" i="0" lang="en" sz="1000" u="none" cap="none" strike="noStrike">
                <a:solidFill>
                  <a:srgbClr val="333333"/>
                </a:solidFill>
                <a:latin typeface="Calibri"/>
                <a:ea typeface="Calibri"/>
                <a:cs typeface="Calibri"/>
                <a:sym typeface="Calibri"/>
              </a:rPr>
              <a:t>: {{WS_F}}</a:t>
            </a:r>
            <a:endParaRPr b="0" i="0" sz="1000" u="none" cap="none" strike="noStrike">
              <a:solidFill>
                <a:srgbClr val="333333"/>
              </a:solidFill>
              <a:latin typeface="Calibri"/>
              <a:ea typeface="Calibri"/>
              <a:cs typeface="Calibri"/>
              <a:sym typeface="Calibri"/>
            </a:endParaRPr>
          </a:p>
        </p:txBody>
      </p:sp>
      <p:sp>
        <p:nvSpPr>
          <p:cNvPr id="474" name="Google Shape;474;p51"/>
          <p:cNvSpPr txBox="1"/>
          <p:nvPr/>
        </p:nvSpPr>
        <p:spPr>
          <a:xfrm>
            <a:off x="3231506" y="2052005"/>
            <a:ext cx="2502000" cy="2073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20"/>
              </a:rPr>
              <a:t>Scan Coverage</a:t>
            </a:r>
            <a:r>
              <a:rPr b="0" i="0" lang="en" sz="1000" u="none" cap="none" strike="noStrike">
                <a:solidFill>
                  <a:srgbClr val="333333"/>
                </a:solidFill>
                <a:latin typeface="Calibri"/>
                <a:ea typeface="Calibri"/>
                <a:cs typeface="Calibri"/>
                <a:sym typeface="Calibri"/>
              </a:rPr>
              <a:t>: {{WS_P}}</a:t>
            </a:r>
            <a:endParaRPr b="0" i="0" sz="1000" u="none" cap="none" strike="noStrike">
              <a:solidFill>
                <a:srgbClr val="333333"/>
              </a:solidFill>
              <a:latin typeface="Calibri"/>
              <a:ea typeface="Calibri"/>
              <a:cs typeface="Calibri"/>
              <a:sym typeface="Calibri"/>
            </a:endParaRPr>
          </a:p>
        </p:txBody>
      </p:sp>
      <p:sp>
        <p:nvSpPr>
          <p:cNvPr id="475" name="Google Shape;475;p51"/>
          <p:cNvSpPr txBox="1"/>
          <p:nvPr/>
        </p:nvSpPr>
        <p:spPr>
          <a:xfrm>
            <a:off x="3231499" y="1821748"/>
            <a:ext cx="2502000" cy="207300"/>
          </a:xfrm>
          <a:prstGeom prst="rect">
            <a:avLst/>
          </a:prstGeom>
          <a:noFill/>
          <a:ln>
            <a:noFill/>
          </a:ln>
        </p:spPr>
        <p:txBody>
          <a:bodyPr anchorCtr="0" anchor="t" bIns="91250" lIns="91250" spcFirstLastPara="1" rIns="91250" wrap="square" tIns="91250">
            <a:noAutofit/>
          </a:bodyPr>
          <a:lstStyle/>
          <a:p>
            <a:pPr indent="0" lvl="0" marL="0" marR="0" rtl="0" algn="ctr">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21"/>
              </a:rPr>
              <a:t>Skipped</a:t>
            </a:r>
            <a:r>
              <a:rPr b="0" i="0" lang="en" sz="1000" u="none" cap="none" strike="noStrike">
                <a:solidFill>
                  <a:srgbClr val="333333"/>
                </a:solidFill>
                <a:latin typeface="Calibri"/>
                <a:ea typeface="Calibri"/>
                <a:cs typeface="Calibri"/>
                <a:sym typeface="Calibri"/>
              </a:rPr>
              <a:t>: {{WS_SK}}</a:t>
            </a:r>
            <a:endParaRPr b="0" i="0" sz="1000" u="none" cap="none" strike="noStrike">
              <a:solidFill>
                <a:srgbClr val="333333"/>
              </a:solidFill>
              <a:latin typeface="Calibri"/>
              <a:ea typeface="Calibri"/>
              <a:cs typeface="Calibri"/>
              <a:sym typeface="Calibri"/>
            </a:endParaRPr>
          </a:p>
        </p:txBody>
      </p:sp>
      <p:sp>
        <p:nvSpPr>
          <p:cNvPr id="476" name="Google Shape;476;p51"/>
          <p:cNvSpPr/>
          <p:nvPr/>
        </p:nvSpPr>
        <p:spPr>
          <a:xfrm>
            <a:off x="1335452" y="2575004"/>
            <a:ext cx="269400" cy="345600"/>
          </a:xfrm>
          <a:prstGeom prst="downArrow">
            <a:avLst>
              <a:gd fmla="val 50000" name="adj1"/>
              <a:gd fmla="val 50000" name="adj2"/>
            </a:avLst>
          </a:prstGeom>
          <a:solidFill>
            <a:srgbClr val="014FF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pic>
        <p:nvPicPr>
          <p:cNvPr id="477" name="Google Shape;477;p51"/>
          <p:cNvPicPr preferRelativeResize="0"/>
          <p:nvPr/>
        </p:nvPicPr>
        <p:blipFill rotWithShape="1">
          <a:blip r:embed="rId3">
            <a:alphaModFix/>
          </a:blip>
          <a:srcRect b="0" l="0" r="0" t="0"/>
          <a:stretch/>
        </p:blipFill>
        <p:spPr>
          <a:xfrm>
            <a:off x="119827" y="2962925"/>
            <a:ext cx="2755502" cy="2126475"/>
          </a:xfrm>
          <a:prstGeom prst="rect">
            <a:avLst/>
          </a:prstGeom>
          <a:noFill/>
          <a:ln cap="flat" cmpd="sng" w="9525">
            <a:solidFill>
              <a:schemeClr val="accent1"/>
            </a:solidFill>
            <a:prstDash val="solid"/>
            <a:round/>
            <a:headEnd len="sm" w="sm" type="none"/>
            <a:tailEnd len="sm" w="sm" type="none"/>
          </a:ln>
        </p:spPr>
      </p:pic>
      <p:sp>
        <p:nvSpPr>
          <p:cNvPr id="478" name="Google Shape;478;p51"/>
          <p:cNvSpPr txBox="1"/>
          <p:nvPr/>
        </p:nvSpPr>
        <p:spPr>
          <a:xfrm>
            <a:off x="119827" y="2984749"/>
            <a:ext cx="2753400" cy="5361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500" u="none" cap="none" strike="noStrike">
                <a:solidFill>
                  <a:schemeClr val="dk1"/>
                </a:solidFill>
                <a:latin typeface="Calibri"/>
                <a:ea typeface="Calibri"/>
                <a:cs typeface="Calibri"/>
                <a:sym typeface="Calibri"/>
              </a:rPr>
              <a:t>System Health Issues</a:t>
            </a:r>
            <a:br>
              <a:rPr b="0" i="0" lang="en" sz="1500" u="none" cap="none" strike="noStrike">
                <a:solidFill>
                  <a:schemeClr val="dk1"/>
                </a:solidFill>
                <a:latin typeface="Calibri"/>
                <a:ea typeface="Calibri"/>
                <a:cs typeface="Calibri"/>
                <a:sym typeface="Calibri"/>
              </a:rPr>
            </a:br>
            <a:r>
              <a:rPr b="0" i="0" lang="en" sz="1300" u="none" cap="none" strike="noStrike">
                <a:solidFill>
                  <a:schemeClr val="dk1"/>
                </a:solidFill>
                <a:latin typeface="Calibri"/>
                <a:ea typeface="Calibri"/>
                <a:cs typeface="Calibri"/>
                <a:sym typeface="Calibri"/>
              </a:rPr>
              <a:t>Counts by Resource Type</a:t>
            </a:r>
            <a:r>
              <a:rPr b="0" i="0" lang="en" sz="1500" u="none" cap="none" strike="noStrike">
                <a:solidFill>
                  <a:schemeClr val="dk1"/>
                </a:solidFill>
                <a:latin typeface="Calibri"/>
                <a:ea typeface="Calibri"/>
                <a:cs typeface="Calibri"/>
                <a:sym typeface="Calibri"/>
              </a:rPr>
              <a:t> </a:t>
            </a:r>
            <a:endParaRPr b="0" i="0" sz="1500" u="none" cap="none" strike="noStrike">
              <a:solidFill>
                <a:schemeClr val="dk1"/>
              </a:solidFill>
              <a:latin typeface="Calibri"/>
              <a:ea typeface="Calibri"/>
              <a:cs typeface="Calibri"/>
              <a:sym typeface="Calibri"/>
            </a:endParaRPr>
          </a:p>
        </p:txBody>
      </p:sp>
      <p:sp>
        <p:nvSpPr>
          <p:cNvPr id="479" name="Google Shape;479;p51"/>
          <p:cNvSpPr txBox="1"/>
          <p:nvPr/>
        </p:nvSpPr>
        <p:spPr>
          <a:xfrm>
            <a:off x="157649" y="3766713"/>
            <a:ext cx="2690181" cy="188771"/>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22"/>
              </a:rPr>
              <a:t>Outposts</a:t>
            </a:r>
            <a:r>
              <a:rPr b="0" i="0" lang="en" sz="1000" u="none" cap="none" strike="noStrike">
                <a:solidFill>
                  <a:srgbClr val="333333"/>
                </a:solidFill>
                <a:latin typeface="Calibri"/>
                <a:ea typeface="Calibri"/>
                <a:cs typeface="Calibri"/>
                <a:sym typeface="Calibri"/>
              </a:rPr>
              <a:t>: {{SHI_O}}</a:t>
            </a:r>
            <a:endParaRPr b="0" i="0" sz="1000" u="none" cap="none" strike="noStrike">
              <a:solidFill>
                <a:srgbClr val="333333"/>
              </a:solidFill>
              <a:latin typeface="Calibri"/>
              <a:ea typeface="Calibri"/>
              <a:cs typeface="Calibri"/>
              <a:sym typeface="Calibri"/>
            </a:endParaRPr>
          </a:p>
        </p:txBody>
      </p:sp>
      <p:sp>
        <p:nvSpPr>
          <p:cNvPr id="480" name="Google Shape;480;p51"/>
          <p:cNvSpPr txBox="1"/>
          <p:nvPr/>
        </p:nvSpPr>
        <p:spPr>
          <a:xfrm>
            <a:off x="142826" y="4203392"/>
            <a:ext cx="2695757" cy="2235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23"/>
              </a:rPr>
              <a:t>Registry Connectors</a:t>
            </a:r>
            <a:r>
              <a:rPr b="0" i="0" lang="en" sz="1000" u="none" cap="none" strike="noStrike">
                <a:solidFill>
                  <a:srgbClr val="333333"/>
                </a:solidFill>
                <a:latin typeface="Calibri"/>
                <a:ea typeface="Calibri"/>
                <a:cs typeface="Calibri"/>
                <a:sym typeface="Calibri"/>
              </a:rPr>
              <a:t>: {{SHI_RC}}</a:t>
            </a:r>
            <a:endParaRPr b="0" i="0" sz="1000" u="none" cap="none" strike="noStrike">
              <a:solidFill>
                <a:srgbClr val="333333"/>
              </a:solidFill>
              <a:latin typeface="Calibri"/>
              <a:ea typeface="Calibri"/>
              <a:cs typeface="Calibri"/>
              <a:sym typeface="Calibri"/>
            </a:endParaRPr>
          </a:p>
        </p:txBody>
      </p:sp>
      <p:sp>
        <p:nvSpPr>
          <p:cNvPr id="481" name="Google Shape;481;p51"/>
          <p:cNvSpPr txBox="1"/>
          <p:nvPr/>
        </p:nvSpPr>
        <p:spPr>
          <a:xfrm>
            <a:off x="147275" y="3985053"/>
            <a:ext cx="2696624" cy="19981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24"/>
              </a:rPr>
              <a:t>Integrations</a:t>
            </a:r>
            <a:r>
              <a:rPr b="0" i="0" lang="en" sz="1000" u="none" cap="none" strike="noStrike">
                <a:solidFill>
                  <a:srgbClr val="333333"/>
                </a:solidFill>
                <a:latin typeface="Calibri"/>
                <a:ea typeface="Calibri"/>
                <a:cs typeface="Calibri"/>
                <a:sym typeface="Calibri"/>
              </a:rPr>
              <a:t>: {{SHI_I}}</a:t>
            </a:r>
            <a:endParaRPr b="0" i="0" sz="1000" u="none" cap="none" strike="noStrike">
              <a:solidFill>
                <a:srgbClr val="333333"/>
              </a:solidFill>
              <a:latin typeface="Calibri"/>
              <a:ea typeface="Calibri"/>
              <a:cs typeface="Calibri"/>
              <a:sym typeface="Calibri"/>
            </a:endParaRPr>
          </a:p>
        </p:txBody>
      </p:sp>
      <p:sp>
        <p:nvSpPr>
          <p:cNvPr id="482" name="Google Shape;482;p51"/>
          <p:cNvSpPr txBox="1"/>
          <p:nvPr/>
        </p:nvSpPr>
        <p:spPr>
          <a:xfrm>
            <a:off x="157216" y="4421732"/>
            <a:ext cx="2685297" cy="202588"/>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25"/>
              </a:rPr>
              <a:t>K8S Connectors</a:t>
            </a:r>
            <a:r>
              <a:rPr b="0" i="0" lang="en" sz="1000" u="none" cap="none" strike="noStrike">
                <a:solidFill>
                  <a:srgbClr val="333333"/>
                </a:solidFill>
                <a:latin typeface="Calibri"/>
                <a:ea typeface="Calibri"/>
                <a:cs typeface="Calibri"/>
                <a:sym typeface="Calibri"/>
              </a:rPr>
              <a:t>: {{SHI_KC}}</a:t>
            </a:r>
            <a:endParaRPr b="0" i="0" sz="1000" u="none" cap="none" strike="noStrike">
              <a:solidFill>
                <a:srgbClr val="333333"/>
              </a:solidFill>
              <a:latin typeface="Calibri"/>
              <a:ea typeface="Calibri"/>
              <a:cs typeface="Calibri"/>
              <a:sym typeface="Calibri"/>
            </a:endParaRPr>
          </a:p>
        </p:txBody>
      </p:sp>
      <p:sp>
        <p:nvSpPr>
          <p:cNvPr id="483" name="Google Shape;483;p51"/>
          <p:cNvSpPr txBox="1"/>
          <p:nvPr/>
        </p:nvSpPr>
        <p:spPr>
          <a:xfrm>
            <a:off x="140785" y="4640071"/>
            <a:ext cx="2695757" cy="21834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26"/>
              </a:rPr>
              <a:t>VCS Connectors</a:t>
            </a:r>
            <a:r>
              <a:rPr b="0" i="0" lang="en" sz="1000" u="none" cap="none" strike="noStrike">
                <a:solidFill>
                  <a:srgbClr val="333333"/>
                </a:solidFill>
                <a:latin typeface="Calibri"/>
                <a:ea typeface="Calibri"/>
                <a:cs typeface="Calibri"/>
                <a:sym typeface="Calibri"/>
              </a:rPr>
              <a:t>: {{SHI_VCS}}</a:t>
            </a:r>
            <a:endParaRPr b="0" i="0" sz="1000" u="none" cap="none" strike="noStrike">
              <a:solidFill>
                <a:srgbClr val="333333"/>
              </a:solidFill>
              <a:latin typeface="Calibri"/>
              <a:ea typeface="Calibri"/>
              <a:cs typeface="Calibri"/>
              <a:sym typeface="Calibri"/>
            </a:endParaRPr>
          </a:p>
        </p:txBody>
      </p:sp>
      <p:sp>
        <p:nvSpPr>
          <p:cNvPr id="484" name="Google Shape;484;p51"/>
          <p:cNvSpPr txBox="1"/>
          <p:nvPr/>
        </p:nvSpPr>
        <p:spPr>
          <a:xfrm>
            <a:off x="154650" y="4858411"/>
            <a:ext cx="2682547" cy="19465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27"/>
              </a:rPr>
              <a:t>Brokers</a:t>
            </a:r>
            <a:r>
              <a:rPr b="0" i="0" lang="en" sz="1000" u="none" cap="none" strike="noStrike">
                <a:solidFill>
                  <a:srgbClr val="333333"/>
                </a:solidFill>
                <a:latin typeface="Calibri"/>
                <a:ea typeface="Calibri"/>
                <a:cs typeface="Calibri"/>
                <a:sym typeface="Calibri"/>
              </a:rPr>
              <a:t>: {{SHI_B}}</a:t>
            </a:r>
            <a:endParaRPr b="0" i="0" sz="1000" u="none" cap="none" strike="noStrike">
              <a:solidFill>
                <a:srgbClr val="333333"/>
              </a:solidFill>
              <a:latin typeface="Calibri"/>
              <a:ea typeface="Calibri"/>
              <a:cs typeface="Calibri"/>
              <a:sym typeface="Calibri"/>
            </a:endParaRPr>
          </a:p>
        </p:txBody>
      </p:sp>
      <p:sp>
        <p:nvSpPr>
          <p:cNvPr id="485" name="Google Shape;485;p51"/>
          <p:cNvSpPr txBox="1"/>
          <p:nvPr/>
        </p:nvSpPr>
        <p:spPr>
          <a:xfrm>
            <a:off x="136809" y="3548374"/>
            <a:ext cx="2725374" cy="194650"/>
          </a:xfrm>
          <a:prstGeom prst="rect">
            <a:avLst/>
          </a:prstGeom>
          <a:solidFill>
            <a:schemeClr val="lt1"/>
          </a:solid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28"/>
              </a:rPr>
              <a:t>Cloud Connectors</a:t>
            </a:r>
            <a:r>
              <a:rPr b="0" i="0" lang="en" sz="1000" u="none" cap="none" strike="noStrike">
                <a:solidFill>
                  <a:srgbClr val="333333"/>
                </a:solidFill>
                <a:latin typeface="Calibri"/>
                <a:ea typeface="Calibri"/>
                <a:cs typeface="Calibri"/>
                <a:sym typeface="Calibri"/>
              </a:rPr>
              <a:t>: {{SHI_CC}}</a:t>
            </a:r>
            <a:endParaRPr b="0" i="0" sz="1000" u="none" cap="none" strike="noStrike">
              <a:solidFill>
                <a:srgbClr val="333333"/>
              </a:solidFill>
              <a:latin typeface="Calibri"/>
              <a:ea typeface="Calibri"/>
              <a:cs typeface="Calibri"/>
              <a:sym typeface="Calibri"/>
            </a:endParaRPr>
          </a:p>
        </p:txBody>
      </p:sp>
      <p:sp>
        <p:nvSpPr>
          <p:cNvPr id="486" name="Google Shape;486;p51"/>
          <p:cNvSpPr/>
          <p:nvPr/>
        </p:nvSpPr>
        <p:spPr>
          <a:xfrm>
            <a:off x="7428227" y="2578608"/>
            <a:ext cx="269400" cy="345600"/>
          </a:xfrm>
          <a:prstGeom prst="downArrow">
            <a:avLst>
              <a:gd fmla="val 50000" name="adj1"/>
              <a:gd fmla="val 50000" name="adj2"/>
            </a:avLst>
          </a:prstGeom>
          <a:solidFill>
            <a:srgbClr val="014FF7"/>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487" name="Google Shape;487;p51"/>
          <p:cNvSpPr txBox="1"/>
          <p:nvPr/>
        </p:nvSpPr>
        <p:spPr>
          <a:xfrm>
            <a:off x="3097638" y="3166433"/>
            <a:ext cx="2742900" cy="207300"/>
          </a:xfrm>
          <a:prstGeom prst="rect">
            <a:avLst/>
          </a:prstGeom>
          <a:solidFill>
            <a:srgbClr val="FFFFFF"/>
          </a:solid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rgbClr val="0097A7"/>
                </a:solidFill>
                <a:latin typeface="Calibri"/>
                <a:ea typeface="Calibri"/>
                <a:cs typeface="Calibri"/>
                <a:sym typeface="Calibri"/>
                <a:hlinkClick r:id="rId29">
                  <a:extLst>
                    <a:ext uri="{A12FA001-AC4F-418D-AE19-62706E023703}">
                      <ahyp:hlinkClr val="tx"/>
                    </a:ext>
                  </a:extLst>
                </a:hlinkClick>
              </a:rPr>
              <a:t>Non-OS Disk Scans</a:t>
            </a:r>
            <a:r>
              <a:rPr b="0" i="0" lang="en" sz="1000" u="none" cap="none" strike="noStrike">
                <a:solidFill>
                  <a:srgbClr val="333333"/>
                </a:solidFill>
                <a:latin typeface="Calibri"/>
                <a:ea typeface="Calibri"/>
                <a:cs typeface="Calibri"/>
                <a:sym typeface="Calibri"/>
              </a:rPr>
              <a:t>: {{NON_T}}</a:t>
            </a:r>
            <a:endParaRPr b="0" i="0" sz="1000" u="none" cap="none" strike="noStrike">
              <a:solidFill>
                <a:srgbClr val="333333"/>
              </a:solidFill>
              <a:latin typeface="Calibri"/>
              <a:ea typeface="Calibri"/>
              <a:cs typeface="Calibri"/>
              <a:sym typeface="Calibri"/>
            </a:endParaRPr>
          </a:p>
        </p:txBody>
      </p:sp>
      <p:sp>
        <p:nvSpPr>
          <p:cNvPr id="488" name="Google Shape;488;p51"/>
          <p:cNvSpPr txBox="1"/>
          <p:nvPr/>
        </p:nvSpPr>
        <p:spPr>
          <a:xfrm>
            <a:off x="3116051" y="3365306"/>
            <a:ext cx="2715900" cy="176700"/>
          </a:xfrm>
          <a:prstGeom prst="rect">
            <a:avLst/>
          </a:prstGeom>
          <a:solidFill>
            <a:srgbClr val="FFFFFF"/>
          </a:solid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900"/>
              <a:buFont typeface="Arial"/>
              <a:buNone/>
            </a:pPr>
            <a:r>
              <a:rPr b="0" i="0" lang="en" sz="900" u="sng" cap="none" strike="noStrike">
                <a:solidFill>
                  <a:srgbClr val="0097A7"/>
                </a:solidFill>
                <a:latin typeface="Calibri"/>
                <a:ea typeface="Calibri"/>
                <a:cs typeface="Calibri"/>
                <a:sym typeface="Calibri"/>
                <a:hlinkClick r:id="rId30">
                  <a:extLst>
                    <a:ext uri="{A12FA001-AC4F-418D-AE19-62706E023703}">
                      <ahyp:hlinkClr val="tx"/>
                    </a:ext>
                  </a:extLst>
                </a:hlinkClick>
              </a:rPr>
              <a:t>Failed</a:t>
            </a:r>
            <a:r>
              <a:rPr b="0" i="0" lang="en" sz="900" u="none" cap="none" strike="noStrike">
                <a:solidFill>
                  <a:srgbClr val="333333"/>
                </a:solidFill>
                <a:latin typeface="Calibri"/>
                <a:ea typeface="Calibri"/>
                <a:cs typeface="Calibri"/>
                <a:sym typeface="Calibri"/>
              </a:rPr>
              <a:t>: {{NON_F}} / </a:t>
            </a:r>
            <a:r>
              <a:rPr b="0" i="0" lang="en" sz="900" u="sng" cap="none" strike="noStrike">
                <a:solidFill>
                  <a:srgbClr val="0097A7"/>
                </a:solidFill>
                <a:latin typeface="Calibri"/>
                <a:ea typeface="Calibri"/>
                <a:cs typeface="Calibri"/>
                <a:sym typeface="Calibri"/>
                <a:hlinkClick r:id="rId31">
                  <a:extLst>
                    <a:ext uri="{A12FA001-AC4F-418D-AE19-62706E023703}">
                      <ahyp:hlinkClr val="tx"/>
                    </a:ext>
                  </a:extLst>
                </a:hlinkClick>
              </a:rPr>
              <a:t>Skipped</a:t>
            </a:r>
            <a:r>
              <a:rPr b="0" i="0" lang="en" sz="900" u="none" cap="none" strike="noStrike">
                <a:solidFill>
                  <a:srgbClr val="333333"/>
                </a:solidFill>
                <a:latin typeface="Calibri"/>
                <a:ea typeface="Calibri"/>
                <a:cs typeface="Calibri"/>
                <a:sym typeface="Calibri"/>
              </a:rPr>
              <a:t>: {{NON_S}}</a:t>
            </a:r>
            <a:endParaRPr b="0" i="0" sz="900" u="none" cap="none" strike="noStrike">
              <a:solidFill>
                <a:srgbClr val="333333"/>
              </a:solidFill>
              <a:latin typeface="Calibri"/>
              <a:ea typeface="Calibri"/>
              <a:cs typeface="Calibri"/>
              <a:sym typeface="Calibri"/>
            </a:endParaRPr>
          </a:p>
        </p:txBody>
      </p:sp>
      <p:sp>
        <p:nvSpPr>
          <p:cNvPr id="489" name="Google Shape;489;p51"/>
          <p:cNvSpPr txBox="1"/>
          <p:nvPr/>
        </p:nvSpPr>
        <p:spPr>
          <a:xfrm>
            <a:off x="3125493" y="3816773"/>
            <a:ext cx="2684100" cy="1926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rgbClr val="0097A7"/>
                </a:solidFill>
                <a:latin typeface="Calibri"/>
                <a:ea typeface="Calibri"/>
                <a:cs typeface="Calibri"/>
                <a:sym typeface="Calibri"/>
                <a:hlinkClick r:id="rId32">
                  <a:extLst>
                    <a:ext uri="{A12FA001-AC4F-418D-AE19-62706E023703}">
                      <ahyp:hlinkClr val="tx"/>
                    </a:ext>
                  </a:extLst>
                </a:hlinkClick>
              </a:rPr>
              <a:t>Container Image Scans</a:t>
            </a:r>
            <a:r>
              <a:rPr b="0" i="0" lang="en" sz="1000" u="none" cap="none" strike="noStrike">
                <a:solidFill>
                  <a:srgbClr val="333333"/>
                </a:solidFill>
                <a:latin typeface="Calibri"/>
                <a:ea typeface="Calibri"/>
                <a:cs typeface="Calibri"/>
                <a:sym typeface="Calibri"/>
              </a:rPr>
              <a:t>: {{RCI_T}}</a:t>
            </a:r>
            <a:endParaRPr b="0" i="0" sz="1000" u="none" cap="none" strike="noStrike">
              <a:solidFill>
                <a:srgbClr val="333333"/>
              </a:solidFill>
              <a:latin typeface="Calibri"/>
              <a:ea typeface="Calibri"/>
              <a:cs typeface="Calibri"/>
              <a:sym typeface="Calibri"/>
            </a:endParaRPr>
          </a:p>
        </p:txBody>
      </p:sp>
      <p:sp>
        <p:nvSpPr>
          <p:cNvPr id="490" name="Google Shape;490;p51"/>
          <p:cNvSpPr txBox="1"/>
          <p:nvPr/>
        </p:nvSpPr>
        <p:spPr>
          <a:xfrm>
            <a:off x="3121350" y="3994034"/>
            <a:ext cx="2684100" cy="2073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900"/>
              <a:buFont typeface="Arial"/>
              <a:buNone/>
            </a:pPr>
            <a:r>
              <a:rPr b="0" i="0" lang="en" sz="900" u="sng" cap="none" strike="noStrike">
                <a:solidFill>
                  <a:srgbClr val="0097A7"/>
                </a:solidFill>
                <a:latin typeface="Calibri"/>
                <a:ea typeface="Calibri"/>
                <a:cs typeface="Calibri"/>
                <a:sym typeface="Calibri"/>
                <a:hlinkClick r:id="rId33">
                  <a:extLst>
                    <a:ext uri="{A12FA001-AC4F-418D-AE19-62706E023703}">
                      <ahyp:hlinkClr val="tx"/>
                    </a:ext>
                  </a:extLst>
                </a:hlinkClick>
              </a:rPr>
              <a:t>Failed</a:t>
            </a:r>
            <a:r>
              <a:rPr b="0" i="0" lang="en" sz="900" u="none" cap="none" strike="noStrike">
                <a:solidFill>
                  <a:srgbClr val="333333"/>
                </a:solidFill>
                <a:latin typeface="Calibri"/>
                <a:ea typeface="Calibri"/>
                <a:cs typeface="Calibri"/>
                <a:sym typeface="Calibri"/>
              </a:rPr>
              <a:t>: {{RCI_F}} / </a:t>
            </a:r>
            <a:r>
              <a:rPr b="0" i="0" lang="en" sz="900" u="sng" cap="none" strike="noStrike">
                <a:solidFill>
                  <a:srgbClr val="0097A7"/>
                </a:solidFill>
                <a:latin typeface="Calibri"/>
                <a:ea typeface="Calibri"/>
                <a:cs typeface="Calibri"/>
                <a:sym typeface="Calibri"/>
                <a:hlinkClick r:id="rId34">
                  <a:extLst>
                    <a:ext uri="{A12FA001-AC4F-418D-AE19-62706E023703}">
                      <ahyp:hlinkClr val="tx"/>
                    </a:ext>
                  </a:extLst>
                </a:hlinkClick>
              </a:rPr>
              <a:t>Skipped</a:t>
            </a:r>
            <a:r>
              <a:rPr b="0" i="0" lang="en" sz="900" u="none" cap="none" strike="noStrike">
                <a:solidFill>
                  <a:srgbClr val="333333"/>
                </a:solidFill>
                <a:latin typeface="Calibri"/>
                <a:ea typeface="Calibri"/>
                <a:cs typeface="Calibri"/>
                <a:sym typeface="Calibri"/>
              </a:rPr>
              <a:t>: {{RCI_S}}</a:t>
            </a:r>
            <a:endParaRPr b="0" i="0" sz="900" u="none" cap="none" strike="noStrike">
              <a:solidFill>
                <a:srgbClr val="333333"/>
              </a:solidFill>
              <a:latin typeface="Calibri"/>
              <a:ea typeface="Calibri"/>
              <a:cs typeface="Calibri"/>
              <a:sym typeface="Calibri"/>
            </a:endParaRPr>
          </a:p>
        </p:txBody>
      </p:sp>
      <p:sp>
        <p:nvSpPr>
          <p:cNvPr id="491" name="Google Shape;491;p51"/>
          <p:cNvSpPr txBox="1"/>
          <p:nvPr/>
        </p:nvSpPr>
        <p:spPr>
          <a:xfrm>
            <a:off x="3115085" y="4449820"/>
            <a:ext cx="2715900" cy="2016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rgbClr val="0097A7"/>
                </a:solidFill>
                <a:latin typeface="Calibri"/>
                <a:ea typeface="Calibri"/>
                <a:cs typeface="Calibri"/>
                <a:sym typeface="Calibri"/>
                <a:hlinkClick r:id="rId35">
                  <a:extLst>
                    <a:ext uri="{A12FA001-AC4F-418D-AE19-62706E023703}">
                      <ahyp:hlinkClr val="tx"/>
                    </a:ext>
                  </a:extLst>
                </a:hlinkClick>
              </a:rPr>
              <a:t>VM Image Scans</a:t>
            </a:r>
            <a:r>
              <a:rPr b="0" i="0" lang="en" sz="1000" u="none" cap="none" strike="noStrike">
                <a:solidFill>
                  <a:srgbClr val="333333"/>
                </a:solidFill>
                <a:latin typeface="Calibri"/>
                <a:ea typeface="Calibri"/>
                <a:cs typeface="Calibri"/>
                <a:sym typeface="Calibri"/>
              </a:rPr>
              <a:t>: {{VMI_T}}</a:t>
            </a:r>
            <a:endParaRPr b="0" i="0" sz="1000" u="none" cap="none" strike="noStrike">
              <a:solidFill>
                <a:srgbClr val="333333"/>
              </a:solidFill>
              <a:latin typeface="Calibri"/>
              <a:ea typeface="Calibri"/>
              <a:cs typeface="Calibri"/>
              <a:sym typeface="Calibri"/>
            </a:endParaRPr>
          </a:p>
        </p:txBody>
      </p:sp>
      <p:sp>
        <p:nvSpPr>
          <p:cNvPr id="492" name="Google Shape;492;p51"/>
          <p:cNvSpPr txBox="1"/>
          <p:nvPr/>
        </p:nvSpPr>
        <p:spPr>
          <a:xfrm>
            <a:off x="3132188" y="4624320"/>
            <a:ext cx="2684100" cy="2073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900"/>
              <a:buFont typeface="Arial"/>
              <a:buNone/>
            </a:pPr>
            <a:r>
              <a:rPr b="0" i="0" lang="en" sz="900" u="sng" cap="none" strike="noStrike">
                <a:solidFill>
                  <a:srgbClr val="0097A7"/>
                </a:solidFill>
                <a:latin typeface="Calibri"/>
                <a:ea typeface="Calibri"/>
                <a:cs typeface="Calibri"/>
                <a:sym typeface="Calibri"/>
                <a:hlinkClick r:id="rId36">
                  <a:extLst>
                    <a:ext uri="{A12FA001-AC4F-418D-AE19-62706E023703}">
                      <ahyp:hlinkClr val="tx"/>
                    </a:ext>
                  </a:extLst>
                </a:hlinkClick>
              </a:rPr>
              <a:t>Failed</a:t>
            </a:r>
            <a:r>
              <a:rPr b="0" i="0" lang="en" sz="900" u="none" cap="none" strike="noStrike">
                <a:solidFill>
                  <a:srgbClr val="333333"/>
                </a:solidFill>
                <a:latin typeface="Calibri"/>
                <a:ea typeface="Calibri"/>
                <a:cs typeface="Calibri"/>
                <a:sym typeface="Calibri"/>
              </a:rPr>
              <a:t>: {{VMI_F}} / </a:t>
            </a:r>
            <a:r>
              <a:rPr b="0" i="0" lang="en" sz="900" u="sng" cap="none" strike="noStrike">
                <a:solidFill>
                  <a:srgbClr val="0097A7"/>
                </a:solidFill>
                <a:latin typeface="Calibri"/>
                <a:ea typeface="Calibri"/>
                <a:cs typeface="Calibri"/>
                <a:sym typeface="Calibri"/>
                <a:hlinkClick r:id="rId37">
                  <a:extLst>
                    <a:ext uri="{A12FA001-AC4F-418D-AE19-62706E023703}">
                      <ahyp:hlinkClr val="tx"/>
                    </a:ext>
                  </a:extLst>
                </a:hlinkClick>
              </a:rPr>
              <a:t>Skipped</a:t>
            </a:r>
            <a:r>
              <a:rPr b="0" i="0" lang="en" sz="900" u="none" cap="none" strike="noStrike">
                <a:solidFill>
                  <a:srgbClr val="333333"/>
                </a:solidFill>
                <a:latin typeface="Calibri"/>
                <a:ea typeface="Calibri"/>
                <a:cs typeface="Calibri"/>
                <a:sym typeface="Calibri"/>
              </a:rPr>
              <a:t>: {{VMI_S}}</a:t>
            </a:r>
            <a:endParaRPr b="0" i="0" sz="900" u="none" cap="none" strike="noStrike">
              <a:solidFill>
                <a:srgbClr val="333333"/>
              </a:solidFill>
              <a:latin typeface="Calibri"/>
              <a:ea typeface="Calibri"/>
              <a:cs typeface="Calibri"/>
              <a:sym typeface="Calibri"/>
            </a:endParaRPr>
          </a:p>
        </p:txBody>
      </p:sp>
      <p:sp>
        <p:nvSpPr>
          <p:cNvPr id="493" name="Google Shape;493;p51"/>
          <p:cNvSpPr txBox="1"/>
          <p:nvPr/>
        </p:nvSpPr>
        <p:spPr>
          <a:xfrm>
            <a:off x="3121555" y="3532304"/>
            <a:ext cx="2701800" cy="2073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Non-OS Disk Scan Coverage: {{NON_C}}</a:t>
            </a:r>
            <a:endParaRPr b="0" i="0" sz="900" u="none" cap="none" strike="noStrike">
              <a:solidFill>
                <a:srgbClr val="333333"/>
              </a:solidFill>
              <a:latin typeface="Calibri"/>
              <a:ea typeface="Calibri"/>
              <a:cs typeface="Calibri"/>
              <a:sym typeface="Calibri"/>
            </a:endParaRPr>
          </a:p>
        </p:txBody>
      </p:sp>
      <p:sp>
        <p:nvSpPr>
          <p:cNvPr id="494" name="Google Shape;494;p51"/>
          <p:cNvSpPr txBox="1"/>
          <p:nvPr/>
        </p:nvSpPr>
        <p:spPr>
          <a:xfrm>
            <a:off x="3116240" y="4171296"/>
            <a:ext cx="2715900" cy="201600"/>
          </a:xfrm>
          <a:prstGeom prst="rect">
            <a:avLst/>
          </a:prstGeom>
          <a:noFill/>
          <a:ln>
            <a:noFill/>
          </a:ln>
        </p:spPr>
        <p:txBody>
          <a:bodyPr anchorCtr="0" anchor="ctr" bIns="91250" lIns="0" spcFirstLastPara="1" rIns="0" wrap="square" tIns="9125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Container Image Scan Coverage: {{RCI_C}}</a:t>
            </a:r>
            <a:endParaRPr b="0" i="0" sz="900" u="none" cap="none" strike="noStrike">
              <a:solidFill>
                <a:srgbClr val="333333"/>
              </a:solidFill>
              <a:latin typeface="Calibri"/>
              <a:ea typeface="Calibri"/>
              <a:cs typeface="Calibri"/>
              <a:sym typeface="Calibri"/>
            </a:endParaRPr>
          </a:p>
        </p:txBody>
      </p:sp>
      <p:sp>
        <p:nvSpPr>
          <p:cNvPr id="495" name="Google Shape;495;p51"/>
          <p:cNvSpPr txBox="1"/>
          <p:nvPr/>
        </p:nvSpPr>
        <p:spPr>
          <a:xfrm>
            <a:off x="3114023" y="4798820"/>
            <a:ext cx="2742900" cy="207300"/>
          </a:xfrm>
          <a:prstGeom prst="rect">
            <a:avLst/>
          </a:prstGeom>
          <a:noFill/>
          <a:ln>
            <a:noFill/>
          </a:ln>
        </p:spPr>
        <p:txBody>
          <a:bodyPr anchorCtr="0" anchor="ctr" bIns="91250" lIns="91250" spcFirstLastPara="1" rIns="91250" wrap="square" tIns="9125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VM Image Scan Coverage: {{VMI_C}}</a:t>
            </a:r>
            <a:endParaRPr b="0" i="0" sz="900" u="none" cap="none" strike="noStrike">
              <a:solidFill>
                <a:srgbClr val="333333"/>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sp>
        <p:nvSpPr>
          <p:cNvPr id="501" name="Google Shape;501;p52"/>
          <p:cNvSpPr txBox="1"/>
          <p:nvPr>
            <p:ph idx="4294967295" type="title"/>
          </p:nvPr>
        </p:nvSpPr>
        <p:spPr>
          <a:xfrm>
            <a:off x="150" y="266150"/>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Democratization Snapshot</a:t>
            </a:r>
            <a:endParaRPr sz="2420">
              <a:latin typeface="Calibri"/>
              <a:ea typeface="Calibri"/>
              <a:cs typeface="Calibri"/>
              <a:sym typeface="Calibri"/>
            </a:endParaRPr>
          </a:p>
        </p:txBody>
      </p:sp>
      <p:sp>
        <p:nvSpPr>
          <p:cNvPr id="502" name="Google Shape;502;p52"/>
          <p:cNvSpPr/>
          <p:nvPr/>
        </p:nvSpPr>
        <p:spPr>
          <a:xfrm>
            <a:off x="145225" y="1212546"/>
            <a:ext cx="2401200" cy="953400"/>
          </a:xfrm>
          <a:prstGeom prst="roundRect">
            <a:avLst>
              <a:gd fmla="val 16667" name="adj"/>
            </a:avLst>
          </a:prstGeom>
          <a:noFill/>
          <a:ln cap="sq" cmpd="sng" w="9650">
            <a:solidFill>
              <a:schemeClr val="accent1"/>
            </a:solidFill>
            <a:prstDash val="solid"/>
            <a:round/>
            <a:headEnd len="sm" w="sm" type="none"/>
            <a:tailEnd len="sm" w="sm" type="none"/>
          </a:ln>
        </p:spPr>
        <p:txBody>
          <a:bodyPr anchorCtr="0" anchor="ctr" bIns="92600" lIns="92600" spcFirstLastPara="1" rIns="92600" wrap="square" tIns="926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503" name="Google Shape;503;p52"/>
          <p:cNvSpPr txBox="1"/>
          <p:nvPr/>
        </p:nvSpPr>
        <p:spPr>
          <a:xfrm>
            <a:off x="145225" y="914076"/>
            <a:ext cx="2401200" cy="303900"/>
          </a:xfrm>
          <a:prstGeom prst="rect">
            <a:avLst/>
          </a:prstGeom>
          <a:noFill/>
          <a:ln>
            <a:noFill/>
          </a:ln>
        </p:spPr>
        <p:txBody>
          <a:bodyPr anchorCtr="0" anchor="ctr" bIns="92600" lIns="92600" spcFirstLastPara="1" rIns="92600" wrap="square" tIns="92600">
            <a:no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rgbClr val="333333"/>
                </a:solidFill>
                <a:latin typeface="Calibri"/>
                <a:ea typeface="Calibri"/>
                <a:cs typeface="Calibri"/>
                <a:sym typeface="Calibri"/>
              </a:rPr>
              <a:t>Users &amp; Engagement</a:t>
            </a:r>
            <a:endParaRPr b="0" i="0" sz="1300" u="none" cap="none" strike="noStrike">
              <a:solidFill>
                <a:srgbClr val="333333"/>
              </a:solidFill>
              <a:latin typeface="Calibri"/>
              <a:ea typeface="Calibri"/>
              <a:cs typeface="Calibri"/>
              <a:sym typeface="Calibri"/>
            </a:endParaRPr>
          </a:p>
        </p:txBody>
      </p:sp>
      <p:sp>
        <p:nvSpPr>
          <p:cNvPr id="504" name="Google Shape;504;p52"/>
          <p:cNvSpPr txBox="1"/>
          <p:nvPr/>
        </p:nvSpPr>
        <p:spPr>
          <a:xfrm>
            <a:off x="178750" y="1248140"/>
            <a:ext cx="1723200" cy="172500"/>
          </a:xfrm>
          <a:prstGeom prst="rect">
            <a:avLst/>
          </a:prstGeom>
          <a:noFill/>
          <a:ln>
            <a:noFill/>
          </a:ln>
        </p:spPr>
        <p:txBody>
          <a:bodyPr anchorCtr="0" anchor="t" bIns="92600" lIns="92600" spcFirstLastPara="1" rIns="92600" wrap="square" tIns="92600">
            <a:noAutofit/>
          </a:bodyPr>
          <a:lstStyle/>
          <a:p>
            <a:pPr indent="0" lvl="0" marL="0" marR="0" rtl="0" algn="l">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3"/>
              </a:rPr>
              <a:t>Total Users</a:t>
            </a:r>
            <a:endParaRPr b="0" i="0" sz="1000" u="none" cap="none" strike="noStrike">
              <a:solidFill>
                <a:srgbClr val="0254EC"/>
              </a:solidFill>
              <a:latin typeface="Calibri"/>
              <a:ea typeface="Calibri"/>
              <a:cs typeface="Calibri"/>
              <a:sym typeface="Calibri"/>
            </a:endParaRPr>
          </a:p>
        </p:txBody>
      </p:sp>
      <p:sp>
        <p:nvSpPr>
          <p:cNvPr id="505" name="Google Shape;505;p52"/>
          <p:cNvSpPr txBox="1"/>
          <p:nvPr/>
        </p:nvSpPr>
        <p:spPr>
          <a:xfrm>
            <a:off x="1496720" y="1248135"/>
            <a:ext cx="953400" cy="172500"/>
          </a:xfrm>
          <a:prstGeom prst="rect">
            <a:avLst/>
          </a:prstGeom>
          <a:noFill/>
          <a:ln>
            <a:noFill/>
          </a:ln>
        </p:spPr>
        <p:txBody>
          <a:bodyPr anchorCtr="0" anchor="t" bIns="92600" lIns="92600" spcFirstLastPara="1" rIns="92600" wrap="square" tIns="92600">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{{U_TOT}}</a:t>
            </a:r>
            <a:endParaRPr b="1" i="0" sz="1000" u="none" cap="none" strike="noStrike">
              <a:solidFill>
                <a:srgbClr val="333333"/>
              </a:solidFill>
              <a:latin typeface="Calibri"/>
              <a:ea typeface="Calibri"/>
              <a:cs typeface="Calibri"/>
              <a:sym typeface="Calibri"/>
            </a:endParaRPr>
          </a:p>
        </p:txBody>
      </p:sp>
      <p:sp>
        <p:nvSpPr>
          <p:cNvPr id="506" name="Google Shape;506;p52"/>
          <p:cNvSpPr txBox="1"/>
          <p:nvPr/>
        </p:nvSpPr>
        <p:spPr>
          <a:xfrm>
            <a:off x="178750" y="1430476"/>
            <a:ext cx="1723200" cy="172500"/>
          </a:xfrm>
          <a:prstGeom prst="rect">
            <a:avLst/>
          </a:prstGeom>
          <a:noFill/>
          <a:ln>
            <a:noFill/>
          </a:ln>
        </p:spPr>
        <p:txBody>
          <a:bodyPr anchorCtr="0" anchor="t" bIns="92600" lIns="92600" spcFirstLastPara="1" rIns="92600" wrap="square" tIns="92600">
            <a:noAutofit/>
          </a:bodyPr>
          <a:lstStyle/>
          <a:p>
            <a:pPr indent="0" lvl="0" marL="0" marR="0" rtl="0" algn="l">
              <a:lnSpc>
                <a:spcPct val="15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4"/>
              </a:rPr>
              <a:t>Active (Last 30 Days)</a:t>
            </a:r>
            <a:endParaRPr b="0" i="0" sz="1000" u="none" cap="none" strike="noStrike">
              <a:solidFill>
                <a:srgbClr val="0254EC"/>
              </a:solidFill>
              <a:latin typeface="Calibri"/>
              <a:ea typeface="Calibri"/>
              <a:cs typeface="Calibri"/>
              <a:sym typeface="Calibri"/>
            </a:endParaRPr>
          </a:p>
        </p:txBody>
      </p:sp>
      <p:sp>
        <p:nvSpPr>
          <p:cNvPr id="507" name="Google Shape;507;p52"/>
          <p:cNvSpPr txBox="1"/>
          <p:nvPr/>
        </p:nvSpPr>
        <p:spPr>
          <a:xfrm>
            <a:off x="1496720" y="1430472"/>
            <a:ext cx="953400" cy="172500"/>
          </a:xfrm>
          <a:prstGeom prst="rect">
            <a:avLst/>
          </a:prstGeom>
          <a:noFill/>
          <a:ln>
            <a:noFill/>
          </a:ln>
        </p:spPr>
        <p:txBody>
          <a:bodyPr anchorCtr="0" anchor="t" bIns="92600" lIns="92600" spcFirstLastPara="1" rIns="92600" wrap="square" tIns="92600">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{{U_ACT}}</a:t>
            </a:r>
            <a:endParaRPr b="1" i="0" sz="1000" u="none" cap="none" strike="noStrike">
              <a:solidFill>
                <a:srgbClr val="333333"/>
              </a:solidFill>
              <a:latin typeface="Calibri"/>
              <a:ea typeface="Calibri"/>
              <a:cs typeface="Calibri"/>
              <a:sym typeface="Calibri"/>
            </a:endParaRPr>
          </a:p>
        </p:txBody>
      </p:sp>
      <p:sp>
        <p:nvSpPr>
          <p:cNvPr id="508" name="Google Shape;508;p52"/>
          <p:cNvSpPr txBox="1"/>
          <p:nvPr/>
        </p:nvSpPr>
        <p:spPr>
          <a:xfrm>
            <a:off x="178750" y="1612811"/>
            <a:ext cx="1723200" cy="172500"/>
          </a:xfrm>
          <a:prstGeom prst="rect">
            <a:avLst/>
          </a:prstGeom>
          <a:noFill/>
          <a:ln>
            <a:noFill/>
          </a:ln>
        </p:spPr>
        <p:txBody>
          <a:bodyPr anchorCtr="0" anchor="t" bIns="92600" lIns="92600" spcFirstLastPara="1" rIns="92600" wrap="square" tIns="92600">
            <a:noAutofit/>
          </a:bodyPr>
          <a:lstStyle/>
          <a:p>
            <a:pPr indent="0" lvl="0" marL="0" marR="0" rtl="0" algn="l">
              <a:lnSpc>
                <a:spcPct val="150000"/>
              </a:lnSpc>
              <a:spcBef>
                <a:spcPts val="0"/>
              </a:spcBef>
              <a:spcAft>
                <a:spcPts val="0"/>
              </a:spcAft>
              <a:buClr>
                <a:srgbClr val="000000"/>
              </a:buClr>
              <a:buSzPts val="1000"/>
              <a:buFont typeface="Arial"/>
              <a:buNone/>
            </a:pPr>
            <a:r>
              <a:rPr b="0" i="0" lang="en" sz="1000" u="none" cap="none" strike="noStrike">
                <a:solidFill>
                  <a:srgbClr val="0254EC"/>
                </a:solidFill>
                <a:latin typeface="Calibri"/>
                <a:ea typeface="Calibri"/>
                <a:cs typeface="Calibri"/>
                <a:sym typeface="Calibri"/>
              </a:rPr>
              <a:t>Engagement Rate</a:t>
            </a:r>
            <a:endParaRPr b="0" i="0" sz="1000" u="none" cap="none" strike="noStrike">
              <a:solidFill>
                <a:srgbClr val="0254EC"/>
              </a:solidFill>
              <a:latin typeface="Calibri"/>
              <a:ea typeface="Calibri"/>
              <a:cs typeface="Calibri"/>
              <a:sym typeface="Calibri"/>
            </a:endParaRPr>
          </a:p>
        </p:txBody>
      </p:sp>
      <p:sp>
        <p:nvSpPr>
          <p:cNvPr id="509" name="Google Shape;509;p52"/>
          <p:cNvSpPr txBox="1"/>
          <p:nvPr/>
        </p:nvSpPr>
        <p:spPr>
          <a:xfrm>
            <a:off x="1496720" y="1612810"/>
            <a:ext cx="953400" cy="172500"/>
          </a:xfrm>
          <a:prstGeom prst="rect">
            <a:avLst/>
          </a:prstGeom>
          <a:noFill/>
          <a:ln>
            <a:noFill/>
          </a:ln>
        </p:spPr>
        <p:txBody>
          <a:bodyPr anchorCtr="0" anchor="t" bIns="92600" lIns="92600" spcFirstLastPara="1" rIns="92600" wrap="square" tIns="92600">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{{U_ENG}}</a:t>
            </a:r>
            <a:endParaRPr b="1" i="0" sz="1000" u="none" cap="none" strike="noStrike">
              <a:solidFill>
                <a:srgbClr val="333333"/>
              </a:solidFill>
              <a:latin typeface="Calibri"/>
              <a:ea typeface="Calibri"/>
              <a:cs typeface="Calibri"/>
              <a:sym typeface="Calibri"/>
            </a:endParaRPr>
          </a:p>
        </p:txBody>
      </p:sp>
      <p:sp>
        <p:nvSpPr>
          <p:cNvPr id="510" name="Google Shape;510;p52"/>
          <p:cNvSpPr/>
          <p:nvPr/>
        </p:nvSpPr>
        <p:spPr>
          <a:xfrm>
            <a:off x="2714774" y="1111825"/>
            <a:ext cx="3290529" cy="2203950"/>
          </a:xfrm>
          <a:prstGeom prst="roundRect">
            <a:avLst>
              <a:gd fmla="val 16667" name="adj"/>
            </a:avLst>
          </a:prstGeom>
          <a:noFill/>
          <a:ln cap="flat" cmpd="sng" w="9525">
            <a:solidFill>
              <a:schemeClr val="accent1"/>
            </a:solidFill>
            <a:prstDash val="solid"/>
            <a:round/>
            <a:headEnd len="sm" w="sm" type="none"/>
            <a:tailEnd len="sm" w="sm" type="none"/>
          </a:ln>
        </p:spPr>
        <p:txBody>
          <a:bodyPr anchorCtr="0" anchor="ctr"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1319"/>
              <a:buFont typeface="Arial"/>
              <a:buNone/>
            </a:pPr>
            <a:r>
              <a:t/>
            </a:r>
            <a:endParaRPr b="0" i="0" sz="1319" u="none" cap="none" strike="noStrike">
              <a:solidFill>
                <a:srgbClr val="000000"/>
              </a:solidFill>
              <a:latin typeface="Calibri"/>
              <a:ea typeface="Calibri"/>
              <a:cs typeface="Calibri"/>
              <a:sym typeface="Calibri"/>
            </a:endParaRPr>
          </a:p>
        </p:txBody>
      </p:sp>
      <p:sp>
        <p:nvSpPr>
          <p:cNvPr id="511" name="Google Shape;511;p52"/>
          <p:cNvSpPr txBox="1"/>
          <p:nvPr/>
        </p:nvSpPr>
        <p:spPr>
          <a:xfrm>
            <a:off x="2828728" y="1492318"/>
            <a:ext cx="2338694" cy="172562"/>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{{IA_2}}</a:t>
            </a:r>
            <a:endParaRPr b="0" i="0" sz="848" u="none" cap="none" strike="noStrike">
              <a:solidFill>
                <a:srgbClr val="333333"/>
              </a:solidFill>
              <a:latin typeface="Calibri"/>
              <a:ea typeface="Calibri"/>
              <a:cs typeface="Calibri"/>
              <a:sym typeface="Calibri"/>
            </a:endParaRPr>
          </a:p>
        </p:txBody>
      </p:sp>
      <p:sp>
        <p:nvSpPr>
          <p:cNvPr id="512" name="Google Shape;512;p52"/>
          <p:cNvSpPr txBox="1"/>
          <p:nvPr/>
        </p:nvSpPr>
        <p:spPr>
          <a:xfrm>
            <a:off x="2828728" y="1667642"/>
            <a:ext cx="2338694" cy="172562"/>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{{IA_3}}</a:t>
            </a:r>
            <a:endParaRPr b="0" i="0" sz="848" u="none" cap="none" strike="noStrike">
              <a:solidFill>
                <a:srgbClr val="333333"/>
              </a:solidFill>
              <a:latin typeface="Calibri"/>
              <a:ea typeface="Calibri"/>
              <a:cs typeface="Calibri"/>
              <a:sym typeface="Calibri"/>
            </a:endParaRPr>
          </a:p>
        </p:txBody>
      </p:sp>
      <p:sp>
        <p:nvSpPr>
          <p:cNvPr id="513" name="Google Shape;513;p52"/>
          <p:cNvSpPr txBox="1"/>
          <p:nvPr/>
        </p:nvSpPr>
        <p:spPr>
          <a:xfrm>
            <a:off x="2828726" y="1839906"/>
            <a:ext cx="2338694" cy="192051"/>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{{IA_4}}</a:t>
            </a:r>
            <a:endParaRPr b="0" i="0" sz="848" u="none" cap="none" strike="noStrike">
              <a:solidFill>
                <a:srgbClr val="333333"/>
              </a:solidFill>
              <a:latin typeface="Calibri"/>
              <a:ea typeface="Calibri"/>
              <a:cs typeface="Calibri"/>
              <a:sym typeface="Calibri"/>
            </a:endParaRPr>
          </a:p>
        </p:txBody>
      </p:sp>
      <p:sp>
        <p:nvSpPr>
          <p:cNvPr id="514" name="Google Shape;514;p52"/>
          <p:cNvSpPr txBox="1"/>
          <p:nvPr/>
        </p:nvSpPr>
        <p:spPr>
          <a:xfrm>
            <a:off x="2828728" y="2018325"/>
            <a:ext cx="2338694" cy="172562"/>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{{IA_5}}</a:t>
            </a:r>
            <a:endParaRPr b="0" i="0" sz="848" u="none" cap="none" strike="noStrike">
              <a:solidFill>
                <a:srgbClr val="333333"/>
              </a:solidFill>
              <a:latin typeface="Calibri"/>
              <a:ea typeface="Calibri"/>
              <a:cs typeface="Calibri"/>
              <a:sym typeface="Calibri"/>
            </a:endParaRPr>
          </a:p>
        </p:txBody>
      </p:sp>
      <p:sp>
        <p:nvSpPr>
          <p:cNvPr id="515" name="Google Shape;515;p52"/>
          <p:cNvSpPr txBox="1"/>
          <p:nvPr/>
        </p:nvSpPr>
        <p:spPr>
          <a:xfrm>
            <a:off x="2828728" y="2193660"/>
            <a:ext cx="2338694" cy="172562"/>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{{IA_6}}</a:t>
            </a:r>
            <a:endParaRPr b="0" i="0" sz="848" u="none" cap="none" strike="noStrike">
              <a:solidFill>
                <a:srgbClr val="333333"/>
              </a:solidFill>
              <a:latin typeface="Calibri"/>
              <a:ea typeface="Calibri"/>
              <a:cs typeface="Calibri"/>
              <a:sym typeface="Calibri"/>
            </a:endParaRPr>
          </a:p>
        </p:txBody>
      </p:sp>
      <p:sp>
        <p:nvSpPr>
          <p:cNvPr id="516" name="Google Shape;516;p52"/>
          <p:cNvSpPr txBox="1"/>
          <p:nvPr/>
        </p:nvSpPr>
        <p:spPr>
          <a:xfrm>
            <a:off x="2828728" y="2368996"/>
            <a:ext cx="2338694" cy="172562"/>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{{IA_7}}</a:t>
            </a:r>
            <a:endParaRPr b="0" i="0" sz="848" u="none" cap="none" strike="noStrike">
              <a:solidFill>
                <a:srgbClr val="333333"/>
              </a:solidFill>
              <a:latin typeface="Calibri"/>
              <a:ea typeface="Calibri"/>
              <a:cs typeface="Calibri"/>
              <a:sym typeface="Calibri"/>
            </a:endParaRPr>
          </a:p>
        </p:txBody>
      </p:sp>
      <p:sp>
        <p:nvSpPr>
          <p:cNvPr id="517" name="Google Shape;517;p52"/>
          <p:cNvSpPr txBox="1"/>
          <p:nvPr/>
        </p:nvSpPr>
        <p:spPr>
          <a:xfrm>
            <a:off x="2828728" y="2544332"/>
            <a:ext cx="2338694" cy="172562"/>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{{IA_8}}</a:t>
            </a:r>
            <a:endParaRPr b="0" i="0" sz="848" u="none" cap="none" strike="noStrike">
              <a:solidFill>
                <a:srgbClr val="333333"/>
              </a:solidFill>
              <a:latin typeface="Calibri"/>
              <a:ea typeface="Calibri"/>
              <a:cs typeface="Calibri"/>
              <a:sym typeface="Calibri"/>
            </a:endParaRPr>
          </a:p>
        </p:txBody>
      </p:sp>
      <p:sp>
        <p:nvSpPr>
          <p:cNvPr id="518" name="Google Shape;518;p52"/>
          <p:cNvSpPr txBox="1"/>
          <p:nvPr/>
        </p:nvSpPr>
        <p:spPr>
          <a:xfrm>
            <a:off x="2828728" y="2719667"/>
            <a:ext cx="2338694" cy="172562"/>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{{IA_9}}</a:t>
            </a:r>
            <a:endParaRPr b="0" i="0" sz="848" u="none" cap="none" strike="noStrike">
              <a:solidFill>
                <a:srgbClr val="333333"/>
              </a:solidFill>
              <a:latin typeface="Calibri"/>
              <a:ea typeface="Calibri"/>
              <a:cs typeface="Calibri"/>
              <a:sym typeface="Calibri"/>
            </a:endParaRPr>
          </a:p>
        </p:txBody>
      </p:sp>
      <p:sp>
        <p:nvSpPr>
          <p:cNvPr id="519" name="Google Shape;519;p52"/>
          <p:cNvSpPr txBox="1"/>
          <p:nvPr/>
        </p:nvSpPr>
        <p:spPr>
          <a:xfrm>
            <a:off x="2823192" y="2895003"/>
            <a:ext cx="2338694" cy="172562"/>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{{IA_10}}</a:t>
            </a:r>
            <a:endParaRPr b="0" i="0" sz="848" u="none" cap="none" strike="noStrike">
              <a:solidFill>
                <a:srgbClr val="333333"/>
              </a:solidFill>
              <a:latin typeface="Calibri"/>
              <a:ea typeface="Calibri"/>
              <a:cs typeface="Calibri"/>
              <a:sym typeface="Calibri"/>
            </a:endParaRPr>
          </a:p>
        </p:txBody>
      </p:sp>
      <p:sp>
        <p:nvSpPr>
          <p:cNvPr id="520" name="Google Shape;520;p52"/>
          <p:cNvSpPr txBox="1"/>
          <p:nvPr/>
        </p:nvSpPr>
        <p:spPr>
          <a:xfrm>
            <a:off x="2828726" y="1314586"/>
            <a:ext cx="2338694" cy="175042"/>
          </a:xfrm>
          <a:prstGeom prst="rect">
            <a:avLst/>
          </a:prstGeom>
          <a:noFill/>
          <a:ln>
            <a:noFill/>
          </a:ln>
        </p:spPr>
        <p:txBody>
          <a:bodyPr anchorCtr="0" anchor="t" bIns="87225" lIns="87225" spcFirstLastPara="1" rIns="87225" wrap="square" tIns="87225">
            <a:noAutofit/>
          </a:bodyPr>
          <a:lstStyle/>
          <a:p>
            <a:pPr indent="0" lvl="0" marL="0" marR="0" rtl="0" algn="l">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{{IA_1}}</a:t>
            </a:r>
            <a:endParaRPr b="0" i="0" sz="848" u="none" cap="none" strike="noStrike">
              <a:solidFill>
                <a:srgbClr val="333333"/>
              </a:solidFill>
              <a:latin typeface="Calibri"/>
              <a:ea typeface="Calibri"/>
              <a:cs typeface="Calibri"/>
              <a:sym typeface="Calibri"/>
            </a:endParaRPr>
          </a:p>
        </p:txBody>
      </p:sp>
      <p:sp>
        <p:nvSpPr>
          <p:cNvPr id="521" name="Google Shape;521;p52"/>
          <p:cNvSpPr txBox="1"/>
          <p:nvPr/>
        </p:nvSpPr>
        <p:spPr>
          <a:xfrm>
            <a:off x="4962307" y="1343525"/>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{{IR_1}}</a:t>
            </a:r>
            <a:endParaRPr b="0" i="0" sz="848" u="none" cap="none" strike="noStrike">
              <a:solidFill>
                <a:srgbClr val="333333"/>
              </a:solidFill>
              <a:latin typeface="Calibri"/>
              <a:ea typeface="Calibri"/>
              <a:cs typeface="Calibri"/>
              <a:sym typeface="Calibri"/>
            </a:endParaRPr>
          </a:p>
        </p:txBody>
      </p:sp>
      <p:sp>
        <p:nvSpPr>
          <p:cNvPr id="522" name="Google Shape;522;p52"/>
          <p:cNvSpPr txBox="1"/>
          <p:nvPr/>
        </p:nvSpPr>
        <p:spPr>
          <a:xfrm>
            <a:off x="4962307" y="1519058"/>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{{IR_2}}</a:t>
            </a:r>
            <a:endParaRPr b="0" i="0" sz="848" u="none" cap="none" strike="noStrike">
              <a:solidFill>
                <a:srgbClr val="333333"/>
              </a:solidFill>
              <a:latin typeface="Calibri"/>
              <a:ea typeface="Calibri"/>
              <a:cs typeface="Calibri"/>
              <a:sym typeface="Calibri"/>
            </a:endParaRPr>
          </a:p>
        </p:txBody>
      </p:sp>
      <p:sp>
        <p:nvSpPr>
          <p:cNvPr id="523" name="Google Shape;523;p52"/>
          <p:cNvSpPr txBox="1"/>
          <p:nvPr/>
        </p:nvSpPr>
        <p:spPr>
          <a:xfrm>
            <a:off x="4962307" y="1694592"/>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{{IR_3}}</a:t>
            </a:r>
            <a:endParaRPr b="0" i="0" sz="848" u="none" cap="none" strike="noStrike">
              <a:solidFill>
                <a:srgbClr val="333333"/>
              </a:solidFill>
              <a:latin typeface="Calibri"/>
              <a:ea typeface="Calibri"/>
              <a:cs typeface="Calibri"/>
              <a:sym typeface="Calibri"/>
            </a:endParaRPr>
          </a:p>
        </p:txBody>
      </p:sp>
      <p:sp>
        <p:nvSpPr>
          <p:cNvPr id="524" name="Google Shape;524;p52"/>
          <p:cNvSpPr txBox="1"/>
          <p:nvPr/>
        </p:nvSpPr>
        <p:spPr>
          <a:xfrm>
            <a:off x="4962307" y="1870125"/>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{{IR_4}}</a:t>
            </a:r>
            <a:endParaRPr b="0" i="0" sz="848" u="none" cap="none" strike="noStrike">
              <a:solidFill>
                <a:srgbClr val="333333"/>
              </a:solidFill>
              <a:latin typeface="Calibri"/>
              <a:ea typeface="Calibri"/>
              <a:cs typeface="Calibri"/>
              <a:sym typeface="Calibri"/>
            </a:endParaRPr>
          </a:p>
        </p:txBody>
      </p:sp>
      <p:sp>
        <p:nvSpPr>
          <p:cNvPr id="525" name="Google Shape;525;p52"/>
          <p:cNvSpPr txBox="1"/>
          <p:nvPr/>
        </p:nvSpPr>
        <p:spPr>
          <a:xfrm>
            <a:off x="4962307" y="2045659"/>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{{IR_5}}</a:t>
            </a:r>
            <a:endParaRPr b="0" i="0" sz="848" u="none" cap="none" strike="noStrike">
              <a:solidFill>
                <a:srgbClr val="333333"/>
              </a:solidFill>
              <a:latin typeface="Calibri"/>
              <a:ea typeface="Calibri"/>
              <a:cs typeface="Calibri"/>
              <a:sym typeface="Calibri"/>
            </a:endParaRPr>
          </a:p>
        </p:txBody>
      </p:sp>
      <p:sp>
        <p:nvSpPr>
          <p:cNvPr id="526" name="Google Shape;526;p52"/>
          <p:cNvSpPr txBox="1"/>
          <p:nvPr/>
        </p:nvSpPr>
        <p:spPr>
          <a:xfrm>
            <a:off x="4962307" y="2221192"/>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{{IR_6}}</a:t>
            </a:r>
            <a:endParaRPr b="0" i="0" sz="848" u="none" cap="none" strike="noStrike">
              <a:solidFill>
                <a:srgbClr val="333333"/>
              </a:solidFill>
              <a:latin typeface="Calibri"/>
              <a:ea typeface="Calibri"/>
              <a:cs typeface="Calibri"/>
              <a:sym typeface="Calibri"/>
            </a:endParaRPr>
          </a:p>
        </p:txBody>
      </p:sp>
      <p:sp>
        <p:nvSpPr>
          <p:cNvPr id="527" name="Google Shape;527;p52"/>
          <p:cNvSpPr txBox="1"/>
          <p:nvPr/>
        </p:nvSpPr>
        <p:spPr>
          <a:xfrm>
            <a:off x="4962307" y="2396725"/>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{{IR_7}}</a:t>
            </a:r>
            <a:endParaRPr b="0" i="0" sz="848" u="none" cap="none" strike="noStrike">
              <a:solidFill>
                <a:srgbClr val="333333"/>
              </a:solidFill>
              <a:latin typeface="Calibri"/>
              <a:ea typeface="Calibri"/>
              <a:cs typeface="Calibri"/>
              <a:sym typeface="Calibri"/>
            </a:endParaRPr>
          </a:p>
        </p:txBody>
      </p:sp>
      <p:sp>
        <p:nvSpPr>
          <p:cNvPr id="528" name="Google Shape;528;p52"/>
          <p:cNvSpPr txBox="1"/>
          <p:nvPr/>
        </p:nvSpPr>
        <p:spPr>
          <a:xfrm>
            <a:off x="4962307" y="2572259"/>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{{IR_8}}</a:t>
            </a:r>
            <a:endParaRPr b="0" i="0" sz="848" u="none" cap="none" strike="noStrike">
              <a:solidFill>
                <a:srgbClr val="333333"/>
              </a:solidFill>
              <a:latin typeface="Calibri"/>
              <a:ea typeface="Calibri"/>
              <a:cs typeface="Calibri"/>
              <a:sym typeface="Calibri"/>
            </a:endParaRPr>
          </a:p>
        </p:txBody>
      </p:sp>
      <p:sp>
        <p:nvSpPr>
          <p:cNvPr id="529" name="Google Shape;529;p52"/>
          <p:cNvSpPr txBox="1"/>
          <p:nvPr/>
        </p:nvSpPr>
        <p:spPr>
          <a:xfrm>
            <a:off x="4962307" y="2747792"/>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{{IR_9}}</a:t>
            </a:r>
            <a:endParaRPr b="0" i="0" sz="848" u="none" cap="none" strike="noStrike">
              <a:solidFill>
                <a:srgbClr val="333333"/>
              </a:solidFill>
              <a:latin typeface="Calibri"/>
              <a:ea typeface="Calibri"/>
              <a:cs typeface="Calibri"/>
              <a:sym typeface="Calibri"/>
            </a:endParaRPr>
          </a:p>
        </p:txBody>
      </p:sp>
      <p:sp>
        <p:nvSpPr>
          <p:cNvPr id="530" name="Google Shape;530;p52"/>
          <p:cNvSpPr txBox="1"/>
          <p:nvPr/>
        </p:nvSpPr>
        <p:spPr>
          <a:xfrm>
            <a:off x="4972718" y="2923326"/>
            <a:ext cx="912300" cy="148200"/>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847"/>
              <a:buFont typeface="Arial"/>
              <a:buNone/>
            </a:pPr>
            <a:r>
              <a:rPr b="0" i="0" lang="en" sz="848" u="none" cap="none" strike="noStrike">
                <a:solidFill>
                  <a:srgbClr val="333333"/>
                </a:solidFill>
                <a:latin typeface="Calibri"/>
                <a:ea typeface="Calibri"/>
                <a:cs typeface="Calibri"/>
                <a:sym typeface="Calibri"/>
              </a:rPr>
              <a:t>{{IR_10}}</a:t>
            </a:r>
            <a:endParaRPr b="0" i="0" sz="848" u="none" cap="none" strike="noStrike">
              <a:solidFill>
                <a:srgbClr val="333333"/>
              </a:solidFill>
              <a:latin typeface="Calibri"/>
              <a:ea typeface="Calibri"/>
              <a:cs typeface="Calibri"/>
              <a:sym typeface="Calibri"/>
            </a:endParaRPr>
          </a:p>
        </p:txBody>
      </p:sp>
      <p:sp>
        <p:nvSpPr>
          <p:cNvPr id="531" name="Google Shape;531;p52"/>
          <p:cNvSpPr txBox="1"/>
          <p:nvPr/>
        </p:nvSpPr>
        <p:spPr>
          <a:xfrm>
            <a:off x="2714775" y="792813"/>
            <a:ext cx="3290528" cy="301800"/>
          </a:xfrm>
          <a:prstGeom prst="rect">
            <a:avLst/>
          </a:prstGeom>
          <a:noFill/>
          <a:ln>
            <a:noFill/>
          </a:ln>
        </p:spPr>
        <p:txBody>
          <a:bodyPr anchorCtr="0" anchor="ctr"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1300"/>
              <a:buFont typeface="Arial"/>
              <a:buNone/>
            </a:pPr>
            <a:r>
              <a:rPr b="0" i="0" lang="en" sz="1300" u="sng" cap="none" strike="noStrike">
                <a:solidFill>
                  <a:schemeClr val="hlink"/>
                </a:solidFill>
                <a:latin typeface="Calibri"/>
                <a:ea typeface="Calibri"/>
                <a:cs typeface="Calibri"/>
                <a:sym typeface="Calibri"/>
                <a:hlinkClick r:id="rId5"/>
              </a:rPr>
              <a:t>Active Integrations</a:t>
            </a:r>
            <a:r>
              <a:rPr b="0" i="0" lang="en" sz="1300" u="none" cap="none" strike="noStrike">
                <a:solidFill>
                  <a:srgbClr val="0254EC"/>
                </a:solidFill>
                <a:latin typeface="Calibri"/>
                <a:ea typeface="Calibri"/>
                <a:cs typeface="Calibri"/>
                <a:sym typeface="Calibri"/>
              </a:rPr>
              <a:t> </a:t>
            </a:r>
            <a:r>
              <a:rPr b="0" i="0" lang="en" sz="1500" u="none" cap="none" strike="noStrike">
                <a:solidFill>
                  <a:schemeClr val="hlink"/>
                </a:solidFill>
                <a:uFill>
                  <a:noFill/>
                </a:uFill>
                <a:latin typeface="Calibri"/>
                <a:ea typeface="Calibri"/>
                <a:cs typeface="Calibri"/>
                <a:sym typeface="Calibri"/>
                <a:hlinkClick r:id="rId6"/>
              </a:rPr>
              <a:t>↗</a:t>
            </a:r>
            <a:endParaRPr b="0" i="0" sz="1300" u="none" cap="none" strike="noStrike">
              <a:solidFill>
                <a:srgbClr val="0254EC"/>
              </a:solidFill>
              <a:latin typeface="Calibri"/>
              <a:ea typeface="Calibri"/>
              <a:cs typeface="Calibri"/>
              <a:sym typeface="Calibri"/>
            </a:endParaRPr>
          </a:p>
        </p:txBody>
      </p:sp>
      <p:sp>
        <p:nvSpPr>
          <p:cNvPr id="532" name="Google Shape;532;p52"/>
          <p:cNvSpPr txBox="1"/>
          <p:nvPr/>
        </p:nvSpPr>
        <p:spPr>
          <a:xfrm>
            <a:off x="2714750" y="1108842"/>
            <a:ext cx="3159552" cy="240862"/>
          </a:xfrm>
          <a:prstGeom prst="rect">
            <a:avLst/>
          </a:prstGeom>
          <a:noFill/>
          <a:ln>
            <a:noFill/>
          </a:ln>
        </p:spPr>
        <p:txBody>
          <a:bodyPr anchorCtr="0" anchor="t"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1136"/>
              <a:buFont typeface="Arial"/>
              <a:buNone/>
            </a:pPr>
            <a:r>
              <a:rPr b="0" i="0" lang="en" sz="1136" u="none" cap="none" strike="noStrike">
                <a:solidFill>
                  <a:srgbClr val="333333"/>
                </a:solidFill>
                <a:latin typeface="Calibri"/>
                <a:ea typeface="Calibri"/>
                <a:cs typeface="Calibri"/>
                <a:sym typeface="Calibri"/>
              </a:rPr>
              <a:t>Integration                                               Last Seen</a:t>
            </a:r>
            <a:endParaRPr b="0" i="0" sz="1136" u="none" cap="none" strike="noStrike">
              <a:solidFill>
                <a:srgbClr val="333333"/>
              </a:solidFill>
              <a:latin typeface="Calibri"/>
              <a:ea typeface="Calibri"/>
              <a:cs typeface="Calibri"/>
              <a:sym typeface="Calibri"/>
            </a:endParaRPr>
          </a:p>
        </p:txBody>
      </p:sp>
      <p:sp>
        <p:nvSpPr>
          <p:cNvPr id="533" name="Google Shape;533;p52"/>
          <p:cNvSpPr/>
          <p:nvPr/>
        </p:nvSpPr>
        <p:spPr>
          <a:xfrm>
            <a:off x="145250" y="2537551"/>
            <a:ext cx="2401200" cy="1159200"/>
          </a:xfrm>
          <a:prstGeom prst="roundRect">
            <a:avLst>
              <a:gd fmla="val 16667" name="adj"/>
            </a:avLst>
          </a:prstGeom>
          <a:noFill/>
          <a:ln cap="flat" cmpd="sng" w="9525">
            <a:solidFill>
              <a:schemeClr val="accent1"/>
            </a:solidFill>
            <a:prstDash val="solid"/>
            <a:round/>
            <a:headEnd len="sm" w="sm" type="none"/>
            <a:tailEnd len="sm" w="sm" type="none"/>
          </a:ln>
        </p:spPr>
        <p:txBody>
          <a:bodyPr anchorCtr="0" anchor="ctr" bIns="83375" lIns="83375" spcFirstLastPara="1" rIns="83375" wrap="square" tIns="83375">
            <a:noAutofit/>
          </a:bodyPr>
          <a:lstStyle/>
          <a:p>
            <a:pPr indent="0" lvl="0" marL="0" marR="0" rtl="0" algn="ctr">
              <a:lnSpc>
                <a:spcPct val="100000"/>
              </a:lnSpc>
              <a:spcBef>
                <a:spcPts val="0"/>
              </a:spcBef>
              <a:spcAft>
                <a:spcPts val="0"/>
              </a:spcAft>
              <a:buClr>
                <a:srgbClr val="000000"/>
              </a:buClr>
              <a:buSzPts val="1261"/>
              <a:buFont typeface="Arial"/>
              <a:buNone/>
            </a:pPr>
            <a:r>
              <a:t/>
            </a:r>
            <a:endParaRPr b="0" i="0" sz="1261" u="none" cap="none" strike="noStrike">
              <a:solidFill>
                <a:srgbClr val="000000"/>
              </a:solidFill>
              <a:latin typeface="Calibri"/>
              <a:ea typeface="Calibri"/>
              <a:cs typeface="Calibri"/>
              <a:sym typeface="Calibri"/>
            </a:endParaRPr>
          </a:p>
        </p:txBody>
      </p:sp>
      <p:sp>
        <p:nvSpPr>
          <p:cNvPr id="534" name="Google Shape;534;p52"/>
          <p:cNvSpPr txBox="1"/>
          <p:nvPr/>
        </p:nvSpPr>
        <p:spPr>
          <a:xfrm>
            <a:off x="178755" y="3027738"/>
            <a:ext cx="1609200" cy="155400"/>
          </a:xfrm>
          <a:prstGeom prst="rect">
            <a:avLst/>
          </a:prstGeom>
          <a:noFill/>
          <a:ln>
            <a:noFill/>
          </a:ln>
        </p:spPr>
        <p:txBody>
          <a:bodyPr anchorCtr="0" anchor="t" bIns="83375" lIns="83375" spcFirstLastPara="1" rIns="83375" wrap="square" tIns="83375">
            <a:noAutofit/>
          </a:bodyPr>
          <a:lstStyle/>
          <a:p>
            <a:pPr indent="0" lvl="0" marL="0" marR="0" rtl="0" algn="l">
              <a:lnSpc>
                <a:spcPct val="150000"/>
              </a:lnSpc>
              <a:spcBef>
                <a:spcPts val="0"/>
              </a:spcBef>
              <a:spcAft>
                <a:spcPts val="0"/>
              </a:spcAft>
              <a:buClr>
                <a:srgbClr val="000000"/>
              </a:buClr>
              <a:buSzPts val="810"/>
              <a:buFont typeface="Arial"/>
              <a:buNone/>
            </a:pPr>
            <a:r>
              <a:rPr b="0" i="0" lang="en" sz="810" u="sng" cap="none" strike="noStrike">
                <a:solidFill>
                  <a:schemeClr val="hlink"/>
                </a:solidFill>
                <a:latin typeface="Calibri"/>
                <a:ea typeface="Calibri"/>
                <a:cs typeface="Calibri"/>
                <a:sym typeface="Calibri"/>
                <a:hlinkClick r:id="rId7"/>
              </a:rPr>
              <a:t>HBI</a:t>
            </a:r>
            <a:r>
              <a:rPr b="0" i="0" lang="en" sz="810" u="none" cap="none" strike="noStrike">
                <a:solidFill>
                  <a:srgbClr val="333333"/>
                </a:solidFill>
                <a:latin typeface="Calibri"/>
                <a:ea typeface="Calibri"/>
                <a:cs typeface="Calibri"/>
                <a:sym typeface="Calibri"/>
              </a:rPr>
              <a:t> (High Business Impact)</a:t>
            </a:r>
            <a:endParaRPr b="0" i="0" sz="810" u="none" cap="none" strike="noStrike">
              <a:solidFill>
                <a:srgbClr val="333333"/>
              </a:solidFill>
              <a:latin typeface="Calibri"/>
              <a:ea typeface="Calibri"/>
              <a:cs typeface="Calibri"/>
              <a:sym typeface="Calibri"/>
            </a:endParaRPr>
          </a:p>
        </p:txBody>
      </p:sp>
      <p:sp>
        <p:nvSpPr>
          <p:cNvPr id="535" name="Google Shape;535;p52"/>
          <p:cNvSpPr txBox="1"/>
          <p:nvPr/>
        </p:nvSpPr>
        <p:spPr>
          <a:xfrm>
            <a:off x="1499205" y="3036972"/>
            <a:ext cx="912300" cy="155400"/>
          </a:xfrm>
          <a:prstGeom prst="rect">
            <a:avLst/>
          </a:prstGeom>
          <a:noFill/>
          <a:ln>
            <a:noFill/>
          </a:ln>
        </p:spPr>
        <p:txBody>
          <a:bodyPr anchorCtr="0" anchor="t" bIns="83375" lIns="83375" spcFirstLastPara="1" rIns="83375" wrap="square" tIns="83375">
            <a:noAutofit/>
          </a:bodyPr>
          <a:lstStyle/>
          <a:p>
            <a:pPr indent="0" lvl="0" marL="0" marR="0" rtl="0" algn="r">
              <a:lnSpc>
                <a:spcPct val="150000"/>
              </a:lnSpc>
              <a:spcBef>
                <a:spcPts val="0"/>
              </a:spcBef>
              <a:spcAft>
                <a:spcPts val="0"/>
              </a:spcAft>
              <a:buClr>
                <a:srgbClr val="000000"/>
              </a:buClr>
              <a:buSzPts val="810"/>
              <a:buFont typeface="Arial"/>
              <a:buNone/>
            </a:pPr>
            <a:r>
              <a:rPr b="1" i="0" lang="en" sz="810" u="none" cap="none" strike="noStrike">
                <a:solidFill>
                  <a:srgbClr val="333333"/>
                </a:solidFill>
                <a:latin typeface="Calibri"/>
                <a:ea typeface="Calibri"/>
                <a:cs typeface="Calibri"/>
                <a:sym typeface="Calibri"/>
              </a:rPr>
              <a:t>{{P_HBI}}</a:t>
            </a:r>
            <a:endParaRPr b="1" i="0" sz="810" u="none" cap="none" strike="noStrike">
              <a:solidFill>
                <a:srgbClr val="333333"/>
              </a:solidFill>
              <a:latin typeface="Calibri"/>
              <a:ea typeface="Calibri"/>
              <a:cs typeface="Calibri"/>
              <a:sym typeface="Calibri"/>
            </a:endParaRPr>
          </a:p>
        </p:txBody>
      </p:sp>
      <p:sp>
        <p:nvSpPr>
          <p:cNvPr id="536" name="Google Shape;536;p52"/>
          <p:cNvSpPr txBox="1"/>
          <p:nvPr/>
        </p:nvSpPr>
        <p:spPr>
          <a:xfrm>
            <a:off x="178763" y="3191899"/>
            <a:ext cx="1650000" cy="164100"/>
          </a:xfrm>
          <a:prstGeom prst="rect">
            <a:avLst/>
          </a:prstGeom>
          <a:noFill/>
          <a:ln>
            <a:noFill/>
          </a:ln>
        </p:spPr>
        <p:txBody>
          <a:bodyPr anchorCtr="0" anchor="t" bIns="83375" lIns="83375" spcFirstLastPara="1" rIns="83375" wrap="square" tIns="83375">
            <a:noAutofit/>
          </a:bodyPr>
          <a:lstStyle/>
          <a:p>
            <a:pPr indent="0" lvl="0" marL="0" marR="0" rtl="0" algn="l">
              <a:lnSpc>
                <a:spcPct val="150000"/>
              </a:lnSpc>
              <a:spcBef>
                <a:spcPts val="0"/>
              </a:spcBef>
              <a:spcAft>
                <a:spcPts val="0"/>
              </a:spcAft>
              <a:buClr>
                <a:srgbClr val="000000"/>
              </a:buClr>
              <a:buSzPts val="810"/>
              <a:buFont typeface="Arial"/>
              <a:buNone/>
            </a:pPr>
            <a:r>
              <a:rPr b="0" i="0" lang="en" sz="810" u="sng" cap="none" strike="noStrike">
                <a:solidFill>
                  <a:schemeClr val="hlink"/>
                </a:solidFill>
                <a:latin typeface="Calibri"/>
                <a:ea typeface="Calibri"/>
                <a:cs typeface="Calibri"/>
                <a:sym typeface="Calibri"/>
                <a:hlinkClick r:id="rId8"/>
              </a:rPr>
              <a:t>MBI</a:t>
            </a:r>
            <a:r>
              <a:rPr b="0" i="0" lang="en" sz="810" u="none" cap="none" strike="noStrike">
                <a:solidFill>
                  <a:srgbClr val="333333"/>
                </a:solidFill>
                <a:latin typeface="Calibri"/>
                <a:ea typeface="Calibri"/>
                <a:cs typeface="Calibri"/>
                <a:sym typeface="Calibri"/>
              </a:rPr>
              <a:t> (Medium Business Impact)</a:t>
            </a:r>
            <a:endParaRPr b="0" i="0" sz="810" u="none" cap="none" strike="noStrike">
              <a:solidFill>
                <a:srgbClr val="333333"/>
              </a:solidFill>
              <a:latin typeface="Calibri"/>
              <a:ea typeface="Calibri"/>
              <a:cs typeface="Calibri"/>
              <a:sym typeface="Calibri"/>
            </a:endParaRPr>
          </a:p>
        </p:txBody>
      </p:sp>
      <p:sp>
        <p:nvSpPr>
          <p:cNvPr id="537" name="Google Shape;537;p52"/>
          <p:cNvSpPr txBox="1"/>
          <p:nvPr/>
        </p:nvSpPr>
        <p:spPr>
          <a:xfrm>
            <a:off x="1499205" y="3194673"/>
            <a:ext cx="912300" cy="155400"/>
          </a:xfrm>
          <a:prstGeom prst="rect">
            <a:avLst/>
          </a:prstGeom>
          <a:noFill/>
          <a:ln>
            <a:noFill/>
          </a:ln>
        </p:spPr>
        <p:txBody>
          <a:bodyPr anchorCtr="0" anchor="t" bIns="83375" lIns="83375" spcFirstLastPara="1" rIns="83375" wrap="square" tIns="83375">
            <a:noAutofit/>
          </a:bodyPr>
          <a:lstStyle/>
          <a:p>
            <a:pPr indent="0" lvl="0" marL="0" marR="0" rtl="0" algn="r">
              <a:lnSpc>
                <a:spcPct val="150000"/>
              </a:lnSpc>
              <a:spcBef>
                <a:spcPts val="0"/>
              </a:spcBef>
              <a:spcAft>
                <a:spcPts val="0"/>
              </a:spcAft>
              <a:buClr>
                <a:srgbClr val="000000"/>
              </a:buClr>
              <a:buSzPts val="810"/>
              <a:buFont typeface="Arial"/>
              <a:buNone/>
            </a:pPr>
            <a:r>
              <a:rPr b="1" i="0" lang="en" sz="810" u="none" cap="none" strike="noStrike">
                <a:solidFill>
                  <a:srgbClr val="333333"/>
                </a:solidFill>
                <a:latin typeface="Calibri"/>
                <a:ea typeface="Calibri"/>
                <a:cs typeface="Calibri"/>
                <a:sym typeface="Calibri"/>
              </a:rPr>
              <a:t>{{P_MBI}}</a:t>
            </a:r>
            <a:endParaRPr b="1" i="0" sz="810" u="none" cap="none" strike="noStrike">
              <a:solidFill>
                <a:srgbClr val="333333"/>
              </a:solidFill>
              <a:latin typeface="Calibri"/>
              <a:ea typeface="Calibri"/>
              <a:cs typeface="Calibri"/>
              <a:sym typeface="Calibri"/>
            </a:endParaRPr>
          </a:p>
        </p:txBody>
      </p:sp>
      <p:sp>
        <p:nvSpPr>
          <p:cNvPr id="538" name="Google Shape;538;p52"/>
          <p:cNvSpPr txBox="1"/>
          <p:nvPr/>
        </p:nvSpPr>
        <p:spPr>
          <a:xfrm>
            <a:off x="103249" y="2268903"/>
            <a:ext cx="2443200" cy="273600"/>
          </a:xfrm>
          <a:prstGeom prst="rect">
            <a:avLst/>
          </a:prstGeom>
          <a:noFill/>
          <a:ln>
            <a:noFill/>
          </a:ln>
        </p:spPr>
        <p:txBody>
          <a:bodyPr anchorCtr="0" anchor="ctr" bIns="83375" lIns="83375" spcFirstLastPara="1" rIns="83375" wrap="square" tIns="83375">
            <a:no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rgbClr val="333333"/>
                </a:solidFill>
                <a:latin typeface="Calibri"/>
                <a:ea typeface="Calibri"/>
                <a:cs typeface="Calibri"/>
                <a:sym typeface="Calibri"/>
              </a:rPr>
              <a:t>Projects</a:t>
            </a:r>
            <a:endParaRPr b="0" i="0" sz="1300" u="none" cap="none" strike="noStrike">
              <a:solidFill>
                <a:srgbClr val="333333"/>
              </a:solidFill>
              <a:latin typeface="Calibri"/>
              <a:ea typeface="Calibri"/>
              <a:cs typeface="Calibri"/>
              <a:sym typeface="Calibri"/>
            </a:endParaRPr>
          </a:p>
        </p:txBody>
      </p:sp>
      <p:sp>
        <p:nvSpPr>
          <p:cNvPr id="539" name="Google Shape;539;p52"/>
          <p:cNvSpPr txBox="1"/>
          <p:nvPr/>
        </p:nvSpPr>
        <p:spPr>
          <a:xfrm>
            <a:off x="201255" y="2589298"/>
            <a:ext cx="1550400" cy="141600"/>
          </a:xfrm>
          <a:prstGeom prst="rect">
            <a:avLst/>
          </a:prstGeom>
          <a:noFill/>
          <a:ln>
            <a:noFill/>
          </a:ln>
        </p:spPr>
        <p:txBody>
          <a:bodyPr anchorCtr="0" anchor="t" bIns="83375" lIns="83375" spcFirstLastPara="1" rIns="83375" wrap="square" tIns="83375">
            <a:noAutofit/>
          </a:bodyPr>
          <a:lstStyle/>
          <a:p>
            <a:pPr indent="0" lvl="0" marL="0" marR="0" rtl="0" algn="l">
              <a:lnSpc>
                <a:spcPct val="15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Total Parent</a:t>
            </a:r>
            <a:endParaRPr b="0" i="0" sz="1000" u="none" cap="none" strike="noStrike">
              <a:solidFill>
                <a:schemeClr val="dk1"/>
              </a:solidFill>
              <a:latin typeface="Calibri"/>
              <a:ea typeface="Calibri"/>
              <a:cs typeface="Calibri"/>
              <a:sym typeface="Calibri"/>
            </a:endParaRPr>
          </a:p>
        </p:txBody>
      </p:sp>
      <p:sp>
        <p:nvSpPr>
          <p:cNvPr id="540" name="Google Shape;540;p52"/>
          <p:cNvSpPr txBox="1"/>
          <p:nvPr/>
        </p:nvSpPr>
        <p:spPr>
          <a:xfrm>
            <a:off x="1401337" y="2571721"/>
            <a:ext cx="1003500" cy="141600"/>
          </a:xfrm>
          <a:prstGeom prst="rect">
            <a:avLst/>
          </a:prstGeom>
          <a:noFill/>
          <a:ln>
            <a:noFill/>
          </a:ln>
        </p:spPr>
        <p:txBody>
          <a:bodyPr anchorCtr="0" anchor="t" bIns="83375" lIns="83375" spcFirstLastPara="1" rIns="83375" wrap="square" tIns="83375">
            <a:noAutofit/>
          </a:bodyPr>
          <a:lstStyle/>
          <a:p>
            <a:pPr indent="0" lvl="0" marL="0" marR="0" rtl="0" algn="r">
              <a:lnSpc>
                <a:spcPct val="150000"/>
              </a:lnSpc>
              <a:spcBef>
                <a:spcPts val="0"/>
              </a:spcBef>
              <a:spcAft>
                <a:spcPts val="0"/>
              </a:spcAft>
              <a:buClr>
                <a:srgbClr val="000000"/>
              </a:buClr>
              <a:buSzPts val="989"/>
              <a:buFont typeface="Arial"/>
              <a:buNone/>
            </a:pPr>
            <a:r>
              <a:rPr b="1" i="0" lang="en" sz="990" u="none" cap="none" strike="noStrike">
                <a:solidFill>
                  <a:srgbClr val="333333"/>
                </a:solidFill>
                <a:latin typeface="Calibri"/>
                <a:ea typeface="Calibri"/>
                <a:cs typeface="Calibri"/>
                <a:sym typeface="Calibri"/>
              </a:rPr>
              <a:t>{{P_TOT}}</a:t>
            </a:r>
            <a:endParaRPr b="1" i="0" sz="990" u="none" cap="none" strike="noStrike">
              <a:solidFill>
                <a:srgbClr val="333333"/>
              </a:solidFill>
              <a:latin typeface="Calibri"/>
              <a:ea typeface="Calibri"/>
              <a:cs typeface="Calibri"/>
              <a:sym typeface="Calibri"/>
            </a:endParaRPr>
          </a:p>
        </p:txBody>
      </p:sp>
      <p:sp>
        <p:nvSpPr>
          <p:cNvPr id="541" name="Google Shape;541;p52"/>
          <p:cNvSpPr txBox="1"/>
          <p:nvPr/>
        </p:nvSpPr>
        <p:spPr>
          <a:xfrm>
            <a:off x="181215" y="3356084"/>
            <a:ext cx="1459200" cy="155400"/>
          </a:xfrm>
          <a:prstGeom prst="rect">
            <a:avLst/>
          </a:prstGeom>
          <a:noFill/>
          <a:ln>
            <a:noFill/>
          </a:ln>
        </p:spPr>
        <p:txBody>
          <a:bodyPr anchorCtr="0" anchor="t" bIns="83375" lIns="83375" spcFirstLastPara="1" rIns="83375" wrap="square" tIns="83375">
            <a:noAutofit/>
          </a:bodyPr>
          <a:lstStyle/>
          <a:p>
            <a:pPr indent="0" lvl="0" marL="0" marR="0" rtl="0" algn="l">
              <a:lnSpc>
                <a:spcPct val="150000"/>
              </a:lnSpc>
              <a:spcBef>
                <a:spcPts val="0"/>
              </a:spcBef>
              <a:spcAft>
                <a:spcPts val="0"/>
              </a:spcAft>
              <a:buClr>
                <a:srgbClr val="000000"/>
              </a:buClr>
              <a:buSzPts val="810"/>
              <a:buFont typeface="Arial"/>
              <a:buNone/>
            </a:pPr>
            <a:r>
              <a:rPr b="0" i="0" lang="en" sz="810" u="sng" cap="none" strike="noStrike">
                <a:solidFill>
                  <a:schemeClr val="hlink"/>
                </a:solidFill>
                <a:latin typeface="Calibri"/>
                <a:ea typeface="Calibri"/>
                <a:cs typeface="Calibri"/>
                <a:sym typeface="Calibri"/>
                <a:hlinkClick r:id="rId9"/>
              </a:rPr>
              <a:t>LBI</a:t>
            </a:r>
            <a:r>
              <a:rPr b="0" i="0" lang="en" sz="810" u="none" cap="none" strike="noStrike">
                <a:solidFill>
                  <a:srgbClr val="333333"/>
                </a:solidFill>
                <a:latin typeface="Calibri"/>
                <a:ea typeface="Calibri"/>
                <a:cs typeface="Calibri"/>
                <a:sym typeface="Calibri"/>
              </a:rPr>
              <a:t> (Low Business Impact)</a:t>
            </a:r>
            <a:endParaRPr b="0" i="0" sz="810" u="none" cap="none" strike="noStrike">
              <a:solidFill>
                <a:srgbClr val="333333"/>
              </a:solidFill>
              <a:latin typeface="Calibri"/>
              <a:ea typeface="Calibri"/>
              <a:cs typeface="Calibri"/>
              <a:sym typeface="Calibri"/>
            </a:endParaRPr>
          </a:p>
        </p:txBody>
      </p:sp>
      <p:sp>
        <p:nvSpPr>
          <p:cNvPr id="542" name="Google Shape;542;p52"/>
          <p:cNvSpPr txBox="1"/>
          <p:nvPr/>
        </p:nvSpPr>
        <p:spPr>
          <a:xfrm>
            <a:off x="1500450" y="3352374"/>
            <a:ext cx="912300" cy="155400"/>
          </a:xfrm>
          <a:prstGeom prst="rect">
            <a:avLst/>
          </a:prstGeom>
          <a:noFill/>
          <a:ln>
            <a:noFill/>
          </a:ln>
        </p:spPr>
        <p:txBody>
          <a:bodyPr anchorCtr="0" anchor="t" bIns="83375" lIns="83375" spcFirstLastPara="1" rIns="83375" wrap="square" tIns="83375">
            <a:noAutofit/>
          </a:bodyPr>
          <a:lstStyle/>
          <a:p>
            <a:pPr indent="0" lvl="0" marL="0" marR="0" rtl="0" algn="r">
              <a:lnSpc>
                <a:spcPct val="150000"/>
              </a:lnSpc>
              <a:spcBef>
                <a:spcPts val="0"/>
              </a:spcBef>
              <a:spcAft>
                <a:spcPts val="0"/>
              </a:spcAft>
              <a:buClr>
                <a:srgbClr val="000000"/>
              </a:buClr>
              <a:buSzPts val="810"/>
              <a:buFont typeface="Arial"/>
              <a:buNone/>
            </a:pPr>
            <a:r>
              <a:rPr b="1" i="0" lang="en" sz="810" u="none" cap="none" strike="noStrike">
                <a:solidFill>
                  <a:srgbClr val="333333"/>
                </a:solidFill>
                <a:latin typeface="Calibri"/>
                <a:ea typeface="Calibri"/>
                <a:cs typeface="Calibri"/>
                <a:sym typeface="Calibri"/>
              </a:rPr>
              <a:t>{{P_LBI}}</a:t>
            </a:r>
            <a:endParaRPr b="1" i="0" sz="810" u="none" cap="none" strike="noStrike">
              <a:solidFill>
                <a:srgbClr val="333333"/>
              </a:solidFill>
              <a:latin typeface="Calibri"/>
              <a:ea typeface="Calibri"/>
              <a:cs typeface="Calibri"/>
              <a:sym typeface="Calibri"/>
            </a:endParaRPr>
          </a:p>
        </p:txBody>
      </p:sp>
      <p:sp>
        <p:nvSpPr>
          <p:cNvPr id="543" name="Google Shape;543;p52"/>
          <p:cNvSpPr txBox="1"/>
          <p:nvPr/>
        </p:nvSpPr>
        <p:spPr>
          <a:xfrm>
            <a:off x="200888" y="2781549"/>
            <a:ext cx="1550400" cy="141600"/>
          </a:xfrm>
          <a:prstGeom prst="rect">
            <a:avLst/>
          </a:prstGeom>
          <a:noFill/>
          <a:ln>
            <a:noFill/>
          </a:ln>
        </p:spPr>
        <p:txBody>
          <a:bodyPr anchorCtr="0" anchor="t" bIns="83375" lIns="83375" spcFirstLastPara="1" rIns="83375" wrap="square" tIns="83375">
            <a:noAutofit/>
          </a:bodyPr>
          <a:lstStyle/>
          <a:p>
            <a:pPr indent="0" lvl="0" marL="0" marR="0" rtl="0" algn="l">
              <a:lnSpc>
                <a:spcPct val="15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Total Child</a:t>
            </a:r>
            <a:endParaRPr b="0" i="0" sz="1000" u="none" cap="none" strike="noStrike">
              <a:solidFill>
                <a:schemeClr val="dk1"/>
              </a:solidFill>
              <a:latin typeface="Calibri"/>
              <a:ea typeface="Calibri"/>
              <a:cs typeface="Calibri"/>
              <a:sym typeface="Calibri"/>
            </a:endParaRPr>
          </a:p>
        </p:txBody>
      </p:sp>
      <p:sp>
        <p:nvSpPr>
          <p:cNvPr id="544" name="Google Shape;544;p52"/>
          <p:cNvSpPr txBox="1"/>
          <p:nvPr/>
        </p:nvSpPr>
        <p:spPr>
          <a:xfrm>
            <a:off x="1400970" y="2763973"/>
            <a:ext cx="1003500" cy="141600"/>
          </a:xfrm>
          <a:prstGeom prst="rect">
            <a:avLst/>
          </a:prstGeom>
          <a:noFill/>
          <a:ln>
            <a:noFill/>
          </a:ln>
        </p:spPr>
        <p:txBody>
          <a:bodyPr anchorCtr="0" anchor="t" bIns="83375" lIns="83375" spcFirstLastPara="1" rIns="83375" wrap="square" tIns="83375">
            <a:noAutofit/>
          </a:bodyPr>
          <a:lstStyle/>
          <a:p>
            <a:pPr indent="0" lvl="0" marL="0" marR="0" rtl="0" algn="r">
              <a:lnSpc>
                <a:spcPct val="150000"/>
              </a:lnSpc>
              <a:spcBef>
                <a:spcPts val="0"/>
              </a:spcBef>
              <a:spcAft>
                <a:spcPts val="0"/>
              </a:spcAft>
              <a:buClr>
                <a:srgbClr val="000000"/>
              </a:buClr>
              <a:buSzPts val="989"/>
              <a:buFont typeface="Arial"/>
              <a:buNone/>
            </a:pPr>
            <a:r>
              <a:rPr b="1" i="0" lang="en" sz="990" u="none" cap="none" strike="noStrike">
                <a:solidFill>
                  <a:srgbClr val="333333"/>
                </a:solidFill>
                <a:latin typeface="Calibri"/>
                <a:ea typeface="Calibri"/>
                <a:cs typeface="Calibri"/>
                <a:sym typeface="Calibri"/>
              </a:rPr>
              <a:t>{{PC_TOT}}</a:t>
            </a:r>
            <a:endParaRPr b="1" i="0" sz="990" u="none" cap="none" strike="noStrike">
              <a:solidFill>
                <a:srgbClr val="333333"/>
              </a:solidFill>
              <a:latin typeface="Calibri"/>
              <a:ea typeface="Calibri"/>
              <a:cs typeface="Calibri"/>
              <a:sym typeface="Calibri"/>
            </a:endParaRPr>
          </a:p>
        </p:txBody>
      </p:sp>
      <p:sp>
        <p:nvSpPr>
          <p:cNvPr id="545" name="Google Shape;545;p52"/>
          <p:cNvSpPr txBox="1"/>
          <p:nvPr/>
        </p:nvSpPr>
        <p:spPr>
          <a:xfrm>
            <a:off x="6163222" y="792816"/>
            <a:ext cx="2835527" cy="301800"/>
          </a:xfrm>
          <a:prstGeom prst="rect">
            <a:avLst/>
          </a:prstGeom>
          <a:noFill/>
          <a:ln>
            <a:noFill/>
          </a:ln>
        </p:spPr>
        <p:txBody>
          <a:bodyPr anchorCtr="0" anchor="ctr"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rgbClr val="333333"/>
                </a:solidFill>
                <a:latin typeface="Calibri"/>
                <a:ea typeface="Calibri"/>
                <a:cs typeface="Calibri"/>
                <a:sym typeface="Calibri"/>
              </a:rPr>
              <a:t>Features / Functionality Usage</a:t>
            </a:r>
            <a:endParaRPr b="0" i="0" sz="1300" u="none" cap="none" strike="noStrike">
              <a:solidFill>
                <a:srgbClr val="333333"/>
              </a:solidFill>
              <a:latin typeface="Calibri"/>
              <a:ea typeface="Calibri"/>
              <a:cs typeface="Calibri"/>
              <a:sym typeface="Calibri"/>
            </a:endParaRPr>
          </a:p>
        </p:txBody>
      </p:sp>
      <p:sp>
        <p:nvSpPr>
          <p:cNvPr id="546" name="Google Shape;546;p52"/>
          <p:cNvSpPr/>
          <p:nvPr/>
        </p:nvSpPr>
        <p:spPr>
          <a:xfrm>
            <a:off x="6163222" y="1119161"/>
            <a:ext cx="2835527" cy="2041333"/>
          </a:xfrm>
          <a:prstGeom prst="roundRect">
            <a:avLst>
              <a:gd fmla="val 16667" name="adj"/>
            </a:avLst>
          </a:prstGeom>
          <a:noFill/>
          <a:ln cap="flat" cmpd="sng" w="9525">
            <a:solidFill>
              <a:schemeClr val="accent1"/>
            </a:solidFill>
            <a:prstDash val="solid"/>
            <a:round/>
            <a:headEnd len="sm" w="sm" type="none"/>
            <a:tailEnd len="sm" w="sm" type="none"/>
          </a:ln>
        </p:spPr>
        <p:txBody>
          <a:bodyPr anchorCtr="0" anchor="ctr" bIns="91225" lIns="91225" spcFirstLastPara="1" rIns="91225" wrap="square" tIns="912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547" name="Google Shape;547;p52"/>
          <p:cNvSpPr txBox="1"/>
          <p:nvPr/>
        </p:nvSpPr>
        <p:spPr>
          <a:xfrm>
            <a:off x="6322754" y="1134652"/>
            <a:ext cx="32676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0"/>
              </a:rPr>
              <a:t>Custom Compliance Frameworks</a:t>
            </a:r>
            <a:endParaRPr b="0" i="0" sz="900" u="none" cap="none" strike="noStrike">
              <a:solidFill>
                <a:srgbClr val="0254EC"/>
              </a:solidFill>
              <a:latin typeface="Calibri"/>
              <a:ea typeface="Calibri"/>
              <a:cs typeface="Calibri"/>
              <a:sym typeface="Calibri"/>
            </a:endParaRPr>
          </a:p>
        </p:txBody>
      </p:sp>
      <p:sp>
        <p:nvSpPr>
          <p:cNvPr id="548" name="Google Shape;548;p52"/>
          <p:cNvSpPr txBox="1"/>
          <p:nvPr/>
        </p:nvSpPr>
        <p:spPr>
          <a:xfrm>
            <a:off x="7250324" y="1133123"/>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{{F_FW}}</a:t>
            </a:r>
            <a:endParaRPr b="1" i="0" sz="900" u="none" cap="none" strike="noStrike">
              <a:solidFill>
                <a:srgbClr val="333333"/>
              </a:solidFill>
              <a:latin typeface="Calibri"/>
              <a:ea typeface="Calibri"/>
              <a:cs typeface="Calibri"/>
              <a:sym typeface="Calibri"/>
            </a:endParaRPr>
          </a:p>
        </p:txBody>
      </p:sp>
      <p:sp>
        <p:nvSpPr>
          <p:cNvPr id="549" name="Google Shape;549;p52"/>
          <p:cNvSpPr txBox="1"/>
          <p:nvPr/>
        </p:nvSpPr>
        <p:spPr>
          <a:xfrm>
            <a:off x="6322754" y="1334180"/>
            <a:ext cx="32676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1"/>
              </a:rPr>
              <a:t>Resource Tag Rules (On / Off)</a:t>
            </a:r>
            <a:endParaRPr b="0" i="0" sz="900" u="none" cap="none" strike="noStrike">
              <a:solidFill>
                <a:srgbClr val="0254EC"/>
              </a:solidFill>
              <a:latin typeface="Calibri"/>
              <a:ea typeface="Calibri"/>
              <a:cs typeface="Calibri"/>
              <a:sym typeface="Calibri"/>
            </a:endParaRPr>
          </a:p>
        </p:txBody>
      </p:sp>
      <p:sp>
        <p:nvSpPr>
          <p:cNvPr id="550" name="Google Shape;550;p52"/>
          <p:cNvSpPr txBox="1"/>
          <p:nvPr/>
        </p:nvSpPr>
        <p:spPr>
          <a:xfrm>
            <a:off x="7250324" y="1332651"/>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{{F_TR}}</a:t>
            </a:r>
            <a:endParaRPr b="1" i="0" sz="900" u="none" cap="none" strike="noStrike">
              <a:solidFill>
                <a:srgbClr val="333333"/>
              </a:solidFill>
              <a:latin typeface="Calibri"/>
              <a:ea typeface="Calibri"/>
              <a:cs typeface="Calibri"/>
              <a:sym typeface="Calibri"/>
            </a:endParaRPr>
          </a:p>
        </p:txBody>
      </p:sp>
      <p:sp>
        <p:nvSpPr>
          <p:cNvPr id="551" name="Google Shape;551;p52"/>
          <p:cNvSpPr txBox="1"/>
          <p:nvPr/>
        </p:nvSpPr>
        <p:spPr>
          <a:xfrm>
            <a:off x="6322754" y="1533709"/>
            <a:ext cx="32676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2"/>
              </a:rPr>
              <a:t>Service Catalog Discovery Rules</a:t>
            </a:r>
            <a:endParaRPr b="0" i="0" sz="900" u="none" cap="none" strike="noStrike">
              <a:solidFill>
                <a:srgbClr val="0254EC"/>
              </a:solidFill>
              <a:latin typeface="Calibri"/>
              <a:ea typeface="Calibri"/>
              <a:cs typeface="Calibri"/>
              <a:sym typeface="Calibri"/>
            </a:endParaRPr>
          </a:p>
        </p:txBody>
      </p:sp>
      <p:sp>
        <p:nvSpPr>
          <p:cNvPr id="552" name="Google Shape;552;p52"/>
          <p:cNvSpPr txBox="1"/>
          <p:nvPr/>
        </p:nvSpPr>
        <p:spPr>
          <a:xfrm>
            <a:off x="7250324" y="1532180"/>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{{F_DR}}</a:t>
            </a:r>
            <a:endParaRPr b="1" i="0" sz="900" u="none" cap="none" strike="noStrike">
              <a:solidFill>
                <a:srgbClr val="333333"/>
              </a:solidFill>
              <a:latin typeface="Calibri"/>
              <a:ea typeface="Calibri"/>
              <a:cs typeface="Calibri"/>
              <a:sym typeface="Calibri"/>
            </a:endParaRPr>
          </a:p>
        </p:txBody>
      </p:sp>
      <p:sp>
        <p:nvSpPr>
          <p:cNvPr id="553" name="Google Shape;553;p52"/>
          <p:cNvSpPr txBox="1"/>
          <p:nvPr/>
        </p:nvSpPr>
        <p:spPr>
          <a:xfrm>
            <a:off x="6322754" y="1726496"/>
            <a:ext cx="32676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3"/>
              </a:rPr>
              <a:t>Inventory Management Rules</a:t>
            </a:r>
            <a:endParaRPr b="0" i="0" sz="900" u="none" cap="none" strike="noStrike">
              <a:solidFill>
                <a:srgbClr val="0254EC"/>
              </a:solidFill>
              <a:latin typeface="Calibri"/>
              <a:ea typeface="Calibri"/>
              <a:cs typeface="Calibri"/>
              <a:sym typeface="Calibri"/>
            </a:endParaRPr>
          </a:p>
        </p:txBody>
      </p:sp>
      <p:sp>
        <p:nvSpPr>
          <p:cNvPr id="554" name="Google Shape;554;p52"/>
          <p:cNvSpPr txBox="1"/>
          <p:nvPr/>
        </p:nvSpPr>
        <p:spPr>
          <a:xfrm>
            <a:off x="7250324" y="1724967"/>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{{F_IR}}</a:t>
            </a:r>
            <a:endParaRPr b="1" i="0" sz="900" u="none" cap="none" strike="noStrike">
              <a:solidFill>
                <a:srgbClr val="333333"/>
              </a:solidFill>
              <a:latin typeface="Calibri"/>
              <a:ea typeface="Calibri"/>
              <a:cs typeface="Calibri"/>
              <a:sym typeface="Calibri"/>
            </a:endParaRPr>
          </a:p>
        </p:txBody>
      </p:sp>
      <p:sp>
        <p:nvSpPr>
          <p:cNvPr id="555" name="Google Shape;555;p52"/>
          <p:cNvSpPr txBox="1"/>
          <p:nvPr/>
        </p:nvSpPr>
        <p:spPr>
          <a:xfrm>
            <a:off x="6322754" y="1926024"/>
            <a:ext cx="32676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4"/>
              </a:rPr>
              <a:t>User Created Posture Policies</a:t>
            </a:r>
            <a:endParaRPr b="0" i="0" sz="900" u="none" cap="none" strike="noStrike">
              <a:solidFill>
                <a:srgbClr val="0254EC"/>
              </a:solidFill>
              <a:latin typeface="Calibri"/>
              <a:ea typeface="Calibri"/>
              <a:cs typeface="Calibri"/>
              <a:sym typeface="Calibri"/>
            </a:endParaRPr>
          </a:p>
        </p:txBody>
      </p:sp>
      <p:sp>
        <p:nvSpPr>
          <p:cNvPr id="556" name="Google Shape;556;p52"/>
          <p:cNvSpPr txBox="1"/>
          <p:nvPr/>
        </p:nvSpPr>
        <p:spPr>
          <a:xfrm>
            <a:off x="7250324" y="1924495"/>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{{F_PP}}</a:t>
            </a:r>
            <a:endParaRPr b="1" i="0" sz="900" u="none" cap="none" strike="noStrike">
              <a:solidFill>
                <a:srgbClr val="333333"/>
              </a:solidFill>
              <a:latin typeface="Calibri"/>
              <a:ea typeface="Calibri"/>
              <a:cs typeface="Calibri"/>
              <a:sym typeface="Calibri"/>
            </a:endParaRPr>
          </a:p>
        </p:txBody>
      </p:sp>
      <p:sp>
        <p:nvSpPr>
          <p:cNvPr id="557" name="Google Shape;557;p52"/>
          <p:cNvSpPr txBox="1"/>
          <p:nvPr/>
        </p:nvSpPr>
        <p:spPr>
          <a:xfrm>
            <a:off x="6322754" y="2125553"/>
            <a:ext cx="32676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5"/>
              </a:rPr>
              <a:t>User Created Monitored Metrics</a:t>
            </a:r>
            <a:endParaRPr b="0" i="0" sz="900" u="none" cap="none" strike="noStrike">
              <a:solidFill>
                <a:srgbClr val="0254EC"/>
              </a:solidFill>
              <a:latin typeface="Calibri"/>
              <a:ea typeface="Calibri"/>
              <a:cs typeface="Calibri"/>
              <a:sym typeface="Calibri"/>
            </a:endParaRPr>
          </a:p>
        </p:txBody>
      </p:sp>
      <p:sp>
        <p:nvSpPr>
          <p:cNvPr id="558" name="Google Shape;558;p52"/>
          <p:cNvSpPr txBox="1"/>
          <p:nvPr/>
        </p:nvSpPr>
        <p:spPr>
          <a:xfrm>
            <a:off x="7250324" y="2124024"/>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{{F_MM}}</a:t>
            </a:r>
            <a:endParaRPr b="1" i="0" sz="900" u="none" cap="none" strike="noStrike">
              <a:solidFill>
                <a:srgbClr val="333333"/>
              </a:solidFill>
              <a:latin typeface="Calibri"/>
              <a:ea typeface="Calibri"/>
              <a:cs typeface="Calibri"/>
              <a:sym typeface="Calibri"/>
            </a:endParaRPr>
          </a:p>
        </p:txBody>
      </p:sp>
      <p:sp>
        <p:nvSpPr>
          <p:cNvPr id="559" name="Google Shape;559;p52"/>
          <p:cNvSpPr txBox="1"/>
          <p:nvPr/>
        </p:nvSpPr>
        <p:spPr>
          <a:xfrm>
            <a:off x="6315488" y="2322082"/>
            <a:ext cx="32676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6"/>
              </a:rPr>
              <a:t>Champion Center Owners</a:t>
            </a:r>
            <a:endParaRPr b="0" i="0" sz="900" u="none" cap="none" strike="noStrike">
              <a:solidFill>
                <a:srgbClr val="0254EC"/>
              </a:solidFill>
              <a:latin typeface="Calibri"/>
              <a:ea typeface="Calibri"/>
              <a:cs typeface="Calibri"/>
              <a:sym typeface="Calibri"/>
            </a:endParaRPr>
          </a:p>
        </p:txBody>
      </p:sp>
      <p:sp>
        <p:nvSpPr>
          <p:cNvPr id="560" name="Google Shape;560;p52"/>
          <p:cNvSpPr txBox="1"/>
          <p:nvPr/>
        </p:nvSpPr>
        <p:spPr>
          <a:xfrm>
            <a:off x="7243057" y="2309149"/>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{{CC_TOT}}</a:t>
            </a:r>
            <a:endParaRPr b="1" i="0" sz="900" u="none" cap="none" strike="noStrike">
              <a:solidFill>
                <a:srgbClr val="333333"/>
              </a:solidFill>
              <a:latin typeface="Calibri"/>
              <a:ea typeface="Calibri"/>
              <a:cs typeface="Calibri"/>
              <a:sym typeface="Calibri"/>
            </a:endParaRPr>
          </a:p>
        </p:txBody>
      </p:sp>
      <p:sp>
        <p:nvSpPr>
          <p:cNvPr id="561" name="Google Shape;561;p52"/>
          <p:cNvSpPr txBox="1"/>
          <p:nvPr/>
        </p:nvSpPr>
        <p:spPr>
          <a:xfrm>
            <a:off x="6319629" y="2508697"/>
            <a:ext cx="22236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7"/>
              </a:rPr>
              <a:t>Using Wiz Browser Extension</a:t>
            </a:r>
            <a:endParaRPr b="0" i="0" sz="900" u="none" cap="none" strike="noStrike">
              <a:solidFill>
                <a:srgbClr val="0254EC"/>
              </a:solidFill>
              <a:latin typeface="Calibri"/>
              <a:ea typeface="Calibri"/>
              <a:cs typeface="Calibri"/>
              <a:sym typeface="Calibri"/>
            </a:endParaRPr>
          </a:p>
        </p:txBody>
      </p:sp>
      <p:sp>
        <p:nvSpPr>
          <p:cNvPr id="562" name="Google Shape;562;p52"/>
          <p:cNvSpPr txBox="1"/>
          <p:nvPr/>
        </p:nvSpPr>
        <p:spPr>
          <a:xfrm>
            <a:off x="7247197" y="2495763"/>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{{F_BE}}</a:t>
            </a:r>
            <a:endParaRPr b="1" i="0" sz="900" u="none" cap="none" strike="noStrike">
              <a:solidFill>
                <a:srgbClr val="333333"/>
              </a:solidFill>
              <a:latin typeface="Calibri"/>
              <a:ea typeface="Calibri"/>
              <a:cs typeface="Calibri"/>
              <a:sym typeface="Calibri"/>
            </a:endParaRPr>
          </a:p>
        </p:txBody>
      </p:sp>
      <p:pic>
        <p:nvPicPr>
          <p:cNvPr id="563" name="Google Shape;563;p52" title="Group 1000004640.png"/>
          <p:cNvPicPr preferRelativeResize="0"/>
          <p:nvPr/>
        </p:nvPicPr>
        <p:blipFill rotWithShape="1">
          <a:blip r:embed="rId18">
            <a:alphaModFix/>
          </a:blip>
          <a:srcRect b="0" l="0" r="0" t="0"/>
          <a:stretch/>
        </p:blipFill>
        <p:spPr>
          <a:xfrm>
            <a:off x="6701399" y="3945838"/>
            <a:ext cx="1202026" cy="1216270"/>
          </a:xfrm>
          <a:prstGeom prst="rect">
            <a:avLst/>
          </a:prstGeom>
          <a:noFill/>
          <a:ln>
            <a:noFill/>
          </a:ln>
        </p:spPr>
      </p:pic>
      <p:pic>
        <p:nvPicPr>
          <p:cNvPr id="564" name="Google Shape;564;p52" title="Group 1000004641.png"/>
          <p:cNvPicPr preferRelativeResize="0"/>
          <p:nvPr/>
        </p:nvPicPr>
        <p:blipFill rotWithShape="1">
          <a:blip r:embed="rId19">
            <a:alphaModFix/>
          </a:blip>
          <a:srcRect b="0" l="0" r="0" t="0"/>
          <a:stretch/>
        </p:blipFill>
        <p:spPr>
          <a:xfrm>
            <a:off x="4245479" y="3945838"/>
            <a:ext cx="1202026" cy="1216270"/>
          </a:xfrm>
          <a:prstGeom prst="rect">
            <a:avLst/>
          </a:prstGeom>
          <a:noFill/>
          <a:ln>
            <a:noFill/>
          </a:ln>
        </p:spPr>
      </p:pic>
      <p:pic>
        <p:nvPicPr>
          <p:cNvPr id="565" name="Google Shape;565;p52" title="Group 1000004639.png"/>
          <p:cNvPicPr preferRelativeResize="0"/>
          <p:nvPr/>
        </p:nvPicPr>
        <p:blipFill rotWithShape="1">
          <a:blip r:embed="rId20">
            <a:alphaModFix/>
          </a:blip>
          <a:srcRect b="0" l="0" r="0" t="0"/>
          <a:stretch/>
        </p:blipFill>
        <p:spPr>
          <a:xfrm>
            <a:off x="1789559" y="3945838"/>
            <a:ext cx="1202026" cy="1216270"/>
          </a:xfrm>
          <a:prstGeom prst="rect">
            <a:avLst/>
          </a:prstGeom>
          <a:noFill/>
          <a:ln>
            <a:noFill/>
          </a:ln>
        </p:spPr>
      </p:pic>
      <p:sp>
        <p:nvSpPr>
          <p:cNvPr id="566" name="Google Shape;566;p52"/>
          <p:cNvSpPr/>
          <p:nvPr/>
        </p:nvSpPr>
        <p:spPr>
          <a:xfrm>
            <a:off x="1826818" y="4593453"/>
            <a:ext cx="1115100" cy="1203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736"/>
              <a:buFont typeface="DM Sans"/>
              <a:buNone/>
            </a:pPr>
            <a:r>
              <a:rPr b="1" i="0" lang="en" sz="800" u="none" cap="none" strike="noStrike">
                <a:solidFill>
                  <a:srgbClr val="0254EC"/>
                </a:solidFill>
                <a:latin typeface="Calibri"/>
                <a:ea typeface="Calibri"/>
                <a:cs typeface="Calibri"/>
                <a:sym typeface="Calibri"/>
              </a:rPr>
              <a:t>Green Agent</a:t>
            </a:r>
            <a:endParaRPr b="1" i="0" sz="800" u="none" cap="none" strike="noStrike">
              <a:solidFill>
                <a:srgbClr val="000000"/>
              </a:solidFill>
              <a:latin typeface="Calibri"/>
              <a:ea typeface="Calibri"/>
              <a:cs typeface="Calibri"/>
              <a:sym typeface="Calibri"/>
            </a:endParaRPr>
          </a:p>
        </p:txBody>
      </p:sp>
      <p:sp>
        <p:nvSpPr>
          <p:cNvPr id="567" name="Google Shape;567;p52"/>
          <p:cNvSpPr/>
          <p:nvPr/>
        </p:nvSpPr>
        <p:spPr>
          <a:xfrm>
            <a:off x="1837294" y="4876841"/>
            <a:ext cx="1093200" cy="176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1741"/>
              </a:buClr>
              <a:buSzPts val="631"/>
              <a:buFont typeface="DM Sans"/>
              <a:buNone/>
            </a:pPr>
            <a:r>
              <a:rPr b="0" i="0" lang="en" sz="1021" u="none" cap="none" strike="noStrike">
                <a:solidFill>
                  <a:srgbClr val="000000"/>
                </a:solidFill>
                <a:latin typeface="Calibri"/>
                <a:ea typeface="Calibri"/>
                <a:cs typeface="Calibri"/>
                <a:sym typeface="Calibri"/>
              </a:rPr>
              <a:t>Enabled</a:t>
            </a:r>
            <a:br>
              <a:rPr b="0" i="0" lang="en" sz="1021" u="none" cap="none" strike="noStrike">
                <a:solidFill>
                  <a:srgbClr val="000000"/>
                </a:solidFill>
                <a:latin typeface="Calibri"/>
                <a:ea typeface="Calibri"/>
                <a:cs typeface="Calibri"/>
                <a:sym typeface="Calibri"/>
              </a:rPr>
            </a:br>
            <a:r>
              <a:rPr b="0" i="0" lang="en" sz="1021" u="none" cap="none" strike="noStrike">
                <a:solidFill>
                  <a:srgbClr val="000000"/>
                </a:solidFill>
                <a:latin typeface="Calibri"/>
                <a:ea typeface="Calibri"/>
                <a:cs typeface="Calibri"/>
                <a:sym typeface="Calibri"/>
              </a:rPr>
              <a:t>{{F_GA}}</a:t>
            </a:r>
            <a:br>
              <a:rPr b="0" i="0" lang="en" sz="1021" u="none" cap="none" strike="noStrike">
                <a:solidFill>
                  <a:srgbClr val="000000"/>
                </a:solidFill>
                <a:latin typeface="Calibri"/>
                <a:ea typeface="Calibri"/>
                <a:cs typeface="Calibri"/>
                <a:sym typeface="Calibri"/>
              </a:rPr>
            </a:br>
            <a:endParaRPr b="0" i="0" sz="1021" u="none" cap="none" strike="noStrike">
              <a:solidFill>
                <a:srgbClr val="000000"/>
              </a:solidFill>
              <a:latin typeface="Calibri"/>
              <a:ea typeface="Calibri"/>
              <a:cs typeface="Calibri"/>
              <a:sym typeface="Calibri"/>
            </a:endParaRPr>
          </a:p>
        </p:txBody>
      </p:sp>
      <p:sp>
        <p:nvSpPr>
          <p:cNvPr id="568" name="Google Shape;568;p52"/>
          <p:cNvSpPr/>
          <p:nvPr/>
        </p:nvSpPr>
        <p:spPr>
          <a:xfrm>
            <a:off x="792658" y="4465733"/>
            <a:ext cx="9384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i="0" lang="en" sz="900" u="none" cap="none" strike="noStrike">
                <a:solidFill>
                  <a:srgbClr val="0254EC"/>
                </a:solidFill>
                <a:latin typeface="Calibri"/>
                <a:ea typeface="Calibri"/>
                <a:cs typeface="Calibri"/>
                <a:sym typeface="Calibri"/>
              </a:rPr>
              <a:t>Preventive Security</a:t>
            </a:r>
            <a:endParaRPr b="1" i="0" sz="900" u="none" cap="none" strike="noStrike">
              <a:solidFill>
                <a:srgbClr val="000000"/>
              </a:solidFill>
              <a:latin typeface="Calibri"/>
              <a:ea typeface="Calibri"/>
              <a:cs typeface="Calibri"/>
              <a:sym typeface="Calibri"/>
            </a:endParaRPr>
          </a:p>
        </p:txBody>
      </p:sp>
      <p:sp>
        <p:nvSpPr>
          <p:cNvPr id="569" name="Google Shape;569;p52"/>
          <p:cNvSpPr/>
          <p:nvPr/>
        </p:nvSpPr>
        <p:spPr>
          <a:xfrm>
            <a:off x="746564" y="4637698"/>
            <a:ext cx="1029300" cy="314700"/>
          </a:xfrm>
          <a:prstGeom prst="rect">
            <a:avLst/>
          </a:prstGeom>
          <a:noFill/>
          <a:ln>
            <a:noFill/>
          </a:ln>
        </p:spPr>
        <p:txBody>
          <a:bodyPr anchorCtr="0" anchor="b"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b="0" i="0" lang="en" sz="730" u="none" cap="none" strike="noStrike">
                <a:solidFill>
                  <a:srgbClr val="001741"/>
                </a:solidFill>
                <a:latin typeface="Calibri"/>
                <a:ea typeface="Calibri"/>
                <a:cs typeface="Calibri"/>
                <a:sym typeface="Calibri"/>
              </a:rPr>
              <a:t>Build securely and </a:t>
            </a:r>
            <a:br>
              <a:rPr b="0" i="0" lang="en" sz="730" u="none" cap="none" strike="noStrike">
                <a:solidFill>
                  <a:srgbClr val="001741"/>
                </a:solidFill>
                <a:latin typeface="Calibri"/>
                <a:ea typeface="Calibri"/>
                <a:cs typeface="Calibri"/>
                <a:sym typeface="Calibri"/>
              </a:rPr>
            </a:br>
            <a:r>
              <a:rPr b="0" i="0" lang="en" sz="730" u="none" cap="none" strike="noStrike">
                <a:solidFill>
                  <a:srgbClr val="001741"/>
                </a:solidFill>
                <a:latin typeface="Calibri"/>
                <a:ea typeface="Calibri"/>
                <a:cs typeface="Calibri"/>
                <a:sym typeface="Calibri"/>
              </a:rPr>
              <a:t>remediate at the source</a:t>
            </a:r>
            <a:endParaRPr b="0" i="0" sz="730" u="none" cap="none" strike="noStrike">
              <a:solidFill>
                <a:srgbClr val="000000"/>
              </a:solidFill>
              <a:latin typeface="Calibri"/>
              <a:ea typeface="Calibri"/>
              <a:cs typeface="Calibri"/>
              <a:sym typeface="Calibri"/>
            </a:endParaRPr>
          </a:p>
        </p:txBody>
      </p:sp>
      <p:sp>
        <p:nvSpPr>
          <p:cNvPr id="570" name="Google Shape;570;p52"/>
          <p:cNvSpPr/>
          <p:nvPr/>
        </p:nvSpPr>
        <p:spPr>
          <a:xfrm>
            <a:off x="3258006" y="4471049"/>
            <a:ext cx="9384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i="0" lang="en" sz="900" u="none" cap="none" strike="noStrike">
                <a:solidFill>
                  <a:srgbClr val="0254EC"/>
                </a:solidFill>
                <a:latin typeface="Calibri"/>
                <a:ea typeface="Calibri"/>
                <a:cs typeface="Calibri"/>
                <a:sym typeface="Calibri"/>
              </a:rPr>
              <a:t>Reactive Security</a:t>
            </a:r>
            <a:endParaRPr b="1" i="0" sz="900" u="none" cap="none" strike="noStrike">
              <a:solidFill>
                <a:srgbClr val="000000"/>
              </a:solidFill>
              <a:latin typeface="Calibri"/>
              <a:ea typeface="Calibri"/>
              <a:cs typeface="Calibri"/>
              <a:sym typeface="Calibri"/>
            </a:endParaRPr>
          </a:p>
        </p:txBody>
      </p:sp>
      <p:sp>
        <p:nvSpPr>
          <p:cNvPr id="571" name="Google Shape;571;p52"/>
          <p:cNvSpPr/>
          <p:nvPr/>
        </p:nvSpPr>
        <p:spPr>
          <a:xfrm>
            <a:off x="3173074" y="4650643"/>
            <a:ext cx="1117800" cy="3147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b="0" i="0" lang="en" sz="730" u="none" cap="none" strike="noStrike">
                <a:solidFill>
                  <a:srgbClr val="001741"/>
                </a:solidFill>
                <a:latin typeface="Calibri"/>
                <a:ea typeface="Calibri"/>
                <a:cs typeface="Calibri"/>
                <a:sym typeface="Calibri"/>
              </a:rPr>
              <a:t>Investigate and </a:t>
            </a:r>
            <a:br>
              <a:rPr b="0" i="0" lang="en" sz="730" u="none" cap="none" strike="noStrike">
                <a:solidFill>
                  <a:srgbClr val="001741"/>
                </a:solidFill>
                <a:latin typeface="Calibri"/>
                <a:ea typeface="Calibri"/>
                <a:cs typeface="Calibri"/>
                <a:sym typeface="Calibri"/>
              </a:rPr>
            </a:br>
            <a:r>
              <a:rPr b="0" i="0" lang="en" sz="730" u="none" cap="none" strike="noStrike">
                <a:solidFill>
                  <a:srgbClr val="001741"/>
                </a:solidFill>
                <a:latin typeface="Calibri"/>
                <a:ea typeface="Calibri"/>
                <a:cs typeface="Calibri"/>
                <a:sym typeface="Calibri"/>
              </a:rPr>
              <a:t>triage high-fidelity threats</a:t>
            </a:r>
            <a:endParaRPr b="0" i="0" sz="730" u="none" cap="none" strike="noStrike">
              <a:solidFill>
                <a:srgbClr val="000000"/>
              </a:solidFill>
              <a:latin typeface="Calibri"/>
              <a:ea typeface="Calibri"/>
              <a:cs typeface="Calibri"/>
              <a:sym typeface="Calibri"/>
            </a:endParaRPr>
          </a:p>
        </p:txBody>
      </p:sp>
      <p:sp>
        <p:nvSpPr>
          <p:cNvPr id="572" name="Google Shape;572;p52"/>
          <p:cNvSpPr/>
          <p:nvPr/>
        </p:nvSpPr>
        <p:spPr>
          <a:xfrm>
            <a:off x="5714491" y="4471049"/>
            <a:ext cx="9384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i="0" lang="en" sz="900" u="none" cap="none" strike="noStrike">
                <a:solidFill>
                  <a:srgbClr val="0254EC"/>
                </a:solidFill>
                <a:latin typeface="Calibri"/>
                <a:ea typeface="Calibri"/>
                <a:cs typeface="Calibri"/>
                <a:sym typeface="Calibri"/>
              </a:rPr>
              <a:t>Proactive Security</a:t>
            </a:r>
            <a:endParaRPr b="1" i="0" sz="900" u="none" cap="none" strike="noStrike">
              <a:solidFill>
                <a:srgbClr val="000000"/>
              </a:solidFill>
              <a:latin typeface="Calibri"/>
              <a:ea typeface="Calibri"/>
              <a:cs typeface="Calibri"/>
              <a:sym typeface="Calibri"/>
            </a:endParaRPr>
          </a:p>
        </p:txBody>
      </p:sp>
      <p:sp>
        <p:nvSpPr>
          <p:cNvPr id="573" name="Google Shape;573;p52"/>
          <p:cNvSpPr/>
          <p:nvPr/>
        </p:nvSpPr>
        <p:spPr>
          <a:xfrm>
            <a:off x="5629558" y="4738385"/>
            <a:ext cx="1117800" cy="314700"/>
          </a:xfrm>
          <a:prstGeom prst="rect">
            <a:avLst/>
          </a:prstGeom>
          <a:noFill/>
          <a:ln>
            <a:noFill/>
          </a:ln>
        </p:spPr>
        <p:txBody>
          <a:bodyPr anchorCtr="0" anchor="b"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b="0" i="0" lang="en" sz="730" u="none" cap="none" strike="noStrike">
                <a:solidFill>
                  <a:srgbClr val="001741"/>
                </a:solidFill>
                <a:latin typeface="Calibri"/>
                <a:ea typeface="Calibri"/>
                <a:cs typeface="Calibri"/>
                <a:sym typeface="Calibri"/>
              </a:rPr>
              <a:t>Identify high-risk </a:t>
            </a:r>
            <a:br>
              <a:rPr b="0" i="0" lang="en" sz="730" u="none" cap="none" strike="noStrike">
                <a:solidFill>
                  <a:srgbClr val="001741"/>
                </a:solidFill>
                <a:latin typeface="Calibri"/>
                <a:ea typeface="Calibri"/>
                <a:cs typeface="Calibri"/>
                <a:sym typeface="Calibri"/>
              </a:rPr>
            </a:br>
            <a:r>
              <a:rPr b="0" i="0" lang="en" sz="730" u="none" cap="none" strike="noStrike">
                <a:solidFill>
                  <a:srgbClr val="001741"/>
                </a:solidFill>
                <a:latin typeface="Calibri"/>
                <a:ea typeface="Calibri"/>
                <a:cs typeface="Calibri"/>
                <a:sym typeface="Calibri"/>
              </a:rPr>
              <a:t>issues before they </a:t>
            </a:r>
            <a:br>
              <a:rPr b="0" i="0" lang="en" sz="730" u="none" cap="none" strike="noStrike">
                <a:solidFill>
                  <a:srgbClr val="001741"/>
                </a:solidFill>
                <a:latin typeface="Calibri"/>
                <a:ea typeface="Calibri"/>
                <a:cs typeface="Calibri"/>
                <a:sym typeface="Calibri"/>
              </a:rPr>
            </a:br>
            <a:r>
              <a:rPr b="0" i="0" lang="en" sz="730" u="none" cap="none" strike="noStrike">
                <a:solidFill>
                  <a:srgbClr val="001741"/>
                </a:solidFill>
                <a:latin typeface="Calibri"/>
                <a:ea typeface="Calibri"/>
                <a:cs typeface="Calibri"/>
                <a:sym typeface="Calibri"/>
              </a:rPr>
              <a:t>can be exploited</a:t>
            </a:r>
            <a:endParaRPr b="0" i="0" sz="730" u="none" cap="none" strike="noStrike">
              <a:solidFill>
                <a:srgbClr val="000000"/>
              </a:solidFill>
              <a:latin typeface="Calibri"/>
              <a:ea typeface="Calibri"/>
              <a:cs typeface="Calibri"/>
              <a:sym typeface="Calibri"/>
            </a:endParaRPr>
          </a:p>
        </p:txBody>
      </p:sp>
      <p:sp>
        <p:nvSpPr>
          <p:cNvPr id="574" name="Google Shape;574;p52"/>
          <p:cNvSpPr/>
          <p:nvPr/>
        </p:nvSpPr>
        <p:spPr>
          <a:xfrm>
            <a:off x="4293866" y="4602589"/>
            <a:ext cx="1115100" cy="1203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736"/>
              <a:buFont typeface="DM Sans"/>
              <a:buNone/>
            </a:pPr>
            <a:r>
              <a:rPr b="1" i="0" lang="en" sz="800" u="none" cap="none" strike="noStrike">
                <a:solidFill>
                  <a:srgbClr val="0254EC"/>
                </a:solidFill>
                <a:latin typeface="Calibri"/>
                <a:ea typeface="Calibri"/>
                <a:cs typeface="Calibri"/>
                <a:sym typeface="Calibri"/>
              </a:rPr>
              <a:t>Blue Agent</a:t>
            </a:r>
            <a:endParaRPr b="1" i="0" sz="800" u="none" cap="none" strike="noStrike">
              <a:solidFill>
                <a:srgbClr val="000000"/>
              </a:solidFill>
              <a:latin typeface="Calibri"/>
              <a:ea typeface="Calibri"/>
              <a:cs typeface="Calibri"/>
              <a:sym typeface="Calibri"/>
            </a:endParaRPr>
          </a:p>
        </p:txBody>
      </p:sp>
      <p:sp>
        <p:nvSpPr>
          <p:cNvPr id="575" name="Google Shape;575;p52"/>
          <p:cNvSpPr/>
          <p:nvPr/>
        </p:nvSpPr>
        <p:spPr>
          <a:xfrm>
            <a:off x="4304342" y="4885978"/>
            <a:ext cx="1093200" cy="176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1741"/>
              </a:buClr>
              <a:buSzPts val="631"/>
              <a:buFont typeface="DM Sans"/>
              <a:buNone/>
            </a:pPr>
            <a:r>
              <a:rPr b="0" i="0" lang="en" sz="1021" u="none" cap="none" strike="noStrike">
                <a:solidFill>
                  <a:srgbClr val="000000"/>
                </a:solidFill>
                <a:latin typeface="Calibri"/>
                <a:ea typeface="Calibri"/>
                <a:cs typeface="Calibri"/>
                <a:sym typeface="Calibri"/>
              </a:rPr>
              <a:t>Enabled</a:t>
            </a:r>
            <a:br>
              <a:rPr b="0" i="0" lang="en" sz="1021" u="none" cap="none" strike="noStrike">
                <a:solidFill>
                  <a:srgbClr val="000000"/>
                </a:solidFill>
                <a:latin typeface="Calibri"/>
                <a:ea typeface="Calibri"/>
                <a:cs typeface="Calibri"/>
                <a:sym typeface="Calibri"/>
              </a:rPr>
            </a:br>
            <a:r>
              <a:rPr b="0" i="0" lang="en" sz="1021" u="none" cap="none" strike="noStrike">
                <a:solidFill>
                  <a:srgbClr val="000000"/>
                </a:solidFill>
                <a:latin typeface="Calibri"/>
                <a:ea typeface="Calibri"/>
                <a:cs typeface="Calibri"/>
                <a:sym typeface="Calibri"/>
              </a:rPr>
              <a:t>{{F_BA}}</a:t>
            </a:r>
            <a:br>
              <a:rPr b="0" i="0" lang="en" sz="1021" u="none" cap="none" strike="noStrike">
                <a:solidFill>
                  <a:srgbClr val="000000"/>
                </a:solidFill>
                <a:latin typeface="Calibri"/>
                <a:ea typeface="Calibri"/>
                <a:cs typeface="Calibri"/>
                <a:sym typeface="Calibri"/>
              </a:rPr>
            </a:br>
            <a:endParaRPr b="0" i="0" sz="1021" u="none" cap="none" strike="noStrike">
              <a:solidFill>
                <a:srgbClr val="000000"/>
              </a:solidFill>
              <a:latin typeface="Calibri"/>
              <a:ea typeface="Calibri"/>
              <a:cs typeface="Calibri"/>
              <a:sym typeface="Calibri"/>
            </a:endParaRPr>
          </a:p>
        </p:txBody>
      </p:sp>
      <p:sp>
        <p:nvSpPr>
          <p:cNvPr id="576" name="Google Shape;576;p52"/>
          <p:cNvSpPr/>
          <p:nvPr/>
        </p:nvSpPr>
        <p:spPr>
          <a:xfrm>
            <a:off x="6751047" y="4611991"/>
            <a:ext cx="1115100" cy="1203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736"/>
              <a:buFont typeface="DM Sans"/>
              <a:buNone/>
            </a:pPr>
            <a:r>
              <a:rPr b="1" i="0" lang="en" sz="800" u="none" cap="none" strike="noStrike">
                <a:solidFill>
                  <a:srgbClr val="0254EC"/>
                </a:solidFill>
                <a:latin typeface="Calibri"/>
                <a:ea typeface="Calibri"/>
                <a:cs typeface="Calibri"/>
                <a:sym typeface="Calibri"/>
              </a:rPr>
              <a:t>Red Agent</a:t>
            </a:r>
            <a:endParaRPr b="1" i="0" sz="800" u="none" cap="none" strike="noStrike">
              <a:solidFill>
                <a:srgbClr val="000000"/>
              </a:solidFill>
              <a:latin typeface="Calibri"/>
              <a:ea typeface="Calibri"/>
              <a:cs typeface="Calibri"/>
              <a:sym typeface="Calibri"/>
            </a:endParaRPr>
          </a:p>
        </p:txBody>
      </p:sp>
      <p:sp>
        <p:nvSpPr>
          <p:cNvPr id="577" name="Google Shape;577;p52"/>
          <p:cNvSpPr/>
          <p:nvPr/>
        </p:nvSpPr>
        <p:spPr>
          <a:xfrm>
            <a:off x="6766839" y="4895379"/>
            <a:ext cx="1093200" cy="176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1741"/>
              </a:buClr>
              <a:buSzPts val="631"/>
              <a:buFont typeface="DM Sans"/>
              <a:buNone/>
            </a:pPr>
            <a:r>
              <a:rPr b="0" i="0" lang="en" sz="1021" u="none" cap="none" strike="noStrike">
                <a:solidFill>
                  <a:srgbClr val="000000"/>
                </a:solidFill>
                <a:latin typeface="Calibri"/>
                <a:ea typeface="Calibri"/>
                <a:cs typeface="Calibri"/>
                <a:sym typeface="Calibri"/>
              </a:rPr>
              <a:t>Enabled</a:t>
            </a:r>
            <a:br>
              <a:rPr b="0" i="0" lang="en" sz="1021" u="none" cap="none" strike="noStrike">
                <a:solidFill>
                  <a:srgbClr val="000000"/>
                </a:solidFill>
                <a:latin typeface="Calibri"/>
                <a:ea typeface="Calibri"/>
                <a:cs typeface="Calibri"/>
                <a:sym typeface="Calibri"/>
              </a:rPr>
            </a:br>
            <a:r>
              <a:rPr b="0" i="0" lang="en" sz="1021" u="none" cap="none" strike="noStrike">
                <a:solidFill>
                  <a:srgbClr val="000000"/>
                </a:solidFill>
                <a:latin typeface="Calibri"/>
                <a:ea typeface="Calibri"/>
                <a:cs typeface="Calibri"/>
                <a:sym typeface="Calibri"/>
              </a:rPr>
              <a:t>{{F_RA}}</a:t>
            </a:r>
            <a:br>
              <a:rPr b="0" i="0" lang="en" sz="1021" u="none" cap="none" strike="noStrike">
                <a:solidFill>
                  <a:srgbClr val="000000"/>
                </a:solidFill>
                <a:latin typeface="Calibri"/>
                <a:ea typeface="Calibri"/>
                <a:cs typeface="Calibri"/>
                <a:sym typeface="Calibri"/>
              </a:rPr>
            </a:br>
            <a:endParaRPr b="0" i="0" sz="1021" u="none" cap="none" strike="noStrike">
              <a:solidFill>
                <a:srgbClr val="000000"/>
              </a:solidFill>
              <a:latin typeface="Calibri"/>
              <a:ea typeface="Calibri"/>
              <a:cs typeface="Calibri"/>
              <a:sym typeface="Calibri"/>
            </a:endParaRPr>
          </a:p>
        </p:txBody>
      </p:sp>
      <p:sp>
        <p:nvSpPr>
          <p:cNvPr id="578" name="Google Shape;578;p52"/>
          <p:cNvSpPr/>
          <p:nvPr/>
        </p:nvSpPr>
        <p:spPr>
          <a:xfrm>
            <a:off x="6241955" y="3251123"/>
            <a:ext cx="2673777" cy="563100"/>
          </a:xfrm>
          <a:prstGeom prst="roundRect">
            <a:avLst>
              <a:gd fmla="val 16667" name="adj"/>
            </a:avLst>
          </a:prstGeom>
          <a:noFill/>
          <a:ln cap="flat" cmpd="sng" w="9525">
            <a:solidFill>
              <a:schemeClr val="accent1"/>
            </a:solidFill>
            <a:prstDash val="solid"/>
            <a:round/>
            <a:headEnd len="sm" w="sm" type="none"/>
            <a:tailEnd len="sm" w="sm" type="none"/>
          </a:ln>
        </p:spPr>
        <p:txBody>
          <a:bodyPr anchorCtr="0" anchor="ctr" bIns="87225" lIns="87225" spcFirstLastPara="1" rIns="87225" wrap="square" tIns="87225">
            <a:noAutofit/>
          </a:bodyPr>
          <a:lstStyle/>
          <a:p>
            <a:pPr indent="0" lvl="0" marL="0" marR="0" rtl="0" algn="ctr">
              <a:lnSpc>
                <a:spcPct val="100000"/>
              </a:lnSpc>
              <a:spcBef>
                <a:spcPts val="0"/>
              </a:spcBef>
              <a:spcAft>
                <a:spcPts val="0"/>
              </a:spcAft>
              <a:buClr>
                <a:srgbClr val="000000"/>
              </a:buClr>
              <a:buSzPts val="1319"/>
              <a:buFont typeface="Arial"/>
              <a:buNone/>
            </a:pPr>
            <a:r>
              <a:t/>
            </a:r>
            <a:endParaRPr b="0" i="0" sz="1319" u="none" cap="none" strike="noStrike">
              <a:solidFill>
                <a:srgbClr val="000000"/>
              </a:solidFill>
              <a:latin typeface="Calibri"/>
              <a:ea typeface="Calibri"/>
              <a:cs typeface="Calibri"/>
              <a:sym typeface="Calibri"/>
            </a:endParaRPr>
          </a:p>
        </p:txBody>
      </p:sp>
      <p:sp>
        <p:nvSpPr>
          <p:cNvPr id="579" name="Google Shape;579;p52"/>
          <p:cNvSpPr txBox="1"/>
          <p:nvPr/>
        </p:nvSpPr>
        <p:spPr>
          <a:xfrm>
            <a:off x="6286917" y="3218322"/>
            <a:ext cx="26364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21"/>
              </a:rPr>
              <a:t>Automation Workflows</a:t>
            </a:r>
            <a:endParaRPr b="0" i="0" sz="900" u="none" cap="none" strike="noStrike">
              <a:solidFill>
                <a:srgbClr val="0254EC"/>
              </a:solidFill>
              <a:latin typeface="Calibri"/>
              <a:ea typeface="Calibri"/>
              <a:cs typeface="Calibri"/>
              <a:sym typeface="Calibri"/>
            </a:endParaRPr>
          </a:p>
        </p:txBody>
      </p:sp>
      <p:sp>
        <p:nvSpPr>
          <p:cNvPr id="580" name="Google Shape;580;p52"/>
          <p:cNvSpPr txBox="1"/>
          <p:nvPr/>
        </p:nvSpPr>
        <p:spPr>
          <a:xfrm>
            <a:off x="7177159" y="3232731"/>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{{F_WF}}</a:t>
            </a:r>
            <a:endParaRPr b="1" i="0" sz="900" u="none" cap="none" strike="noStrike">
              <a:solidFill>
                <a:srgbClr val="333333"/>
              </a:solidFill>
              <a:latin typeface="Calibri"/>
              <a:ea typeface="Calibri"/>
              <a:cs typeface="Calibri"/>
              <a:sym typeface="Calibri"/>
            </a:endParaRPr>
          </a:p>
        </p:txBody>
      </p:sp>
      <p:sp>
        <p:nvSpPr>
          <p:cNvPr id="581" name="Google Shape;581;p52"/>
          <p:cNvSpPr txBox="1"/>
          <p:nvPr/>
        </p:nvSpPr>
        <p:spPr>
          <a:xfrm>
            <a:off x="6286917" y="3417847"/>
            <a:ext cx="21714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22"/>
              </a:rPr>
              <a:t>Automation Rules (On / Off)</a:t>
            </a:r>
            <a:endParaRPr b="0" i="0" sz="900" u="none" cap="none" strike="noStrike">
              <a:solidFill>
                <a:srgbClr val="0254EC"/>
              </a:solidFill>
              <a:latin typeface="Calibri"/>
              <a:ea typeface="Calibri"/>
              <a:cs typeface="Calibri"/>
              <a:sym typeface="Calibri"/>
            </a:endParaRPr>
          </a:p>
        </p:txBody>
      </p:sp>
      <p:sp>
        <p:nvSpPr>
          <p:cNvPr id="582" name="Google Shape;582;p52"/>
          <p:cNvSpPr txBox="1"/>
          <p:nvPr/>
        </p:nvSpPr>
        <p:spPr>
          <a:xfrm>
            <a:off x="7177159" y="3432260"/>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{{F_AR}}</a:t>
            </a:r>
            <a:endParaRPr b="1" i="0" sz="900" u="none" cap="none" strike="noStrike">
              <a:solidFill>
                <a:srgbClr val="333333"/>
              </a:solidFill>
              <a:latin typeface="Calibri"/>
              <a:ea typeface="Calibri"/>
              <a:cs typeface="Calibri"/>
              <a:sym typeface="Calibri"/>
            </a:endParaRPr>
          </a:p>
        </p:txBody>
      </p:sp>
      <p:sp>
        <p:nvSpPr>
          <p:cNvPr id="583" name="Google Shape;583;p52"/>
          <p:cNvSpPr txBox="1"/>
          <p:nvPr/>
        </p:nvSpPr>
        <p:spPr>
          <a:xfrm>
            <a:off x="6326261" y="2702745"/>
            <a:ext cx="2223600" cy="1797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23"/>
              </a:rPr>
              <a:t>Wiz MCP Users</a:t>
            </a:r>
            <a:endParaRPr b="0" i="0" sz="900" u="none" cap="none" strike="noStrike">
              <a:solidFill>
                <a:srgbClr val="0254EC"/>
              </a:solidFill>
              <a:latin typeface="Calibri"/>
              <a:ea typeface="Calibri"/>
              <a:cs typeface="Calibri"/>
              <a:sym typeface="Calibri"/>
            </a:endParaRPr>
          </a:p>
        </p:txBody>
      </p:sp>
      <p:sp>
        <p:nvSpPr>
          <p:cNvPr id="584" name="Google Shape;584;p52"/>
          <p:cNvSpPr txBox="1"/>
          <p:nvPr/>
        </p:nvSpPr>
        <p:spPr>
          <a:xfrm>
            <a:off x="7253830" y="2689810"/>
            <a:ext cx="1596300" cy="1797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{{F_WMCP}}</a:t>
            </a:r>
            <a:endParaRPr b="1" i="0" sz="900" u="none" cap="none" strike="noStrike">
              <a:solidFill>
                <a:srgbClr val="333333"/>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9" name="Shape 589"/>
        <p:cNvGrpSpPr/>
        <p:nvPr/>
      </p:nvGrpSpPr>
      <p:grpSpPr>
        <a:xfrm>
          <a:off x="0" y="0"/>
          <a:ext cx="0" cy="0"/>
          <a:chOff x="0" y="0"/>
          <a:chExt cx="0" cy="0"/>
        </a:xfrm>
      </p:grpSpPr>
      <p:pic>
        <p:nvPicPr>
          <p:cNvPr id="590" name="Google Shape;590;p53"/>
          <p:cNvPicPr preferRelativeResize="0"/>
          <p:nvPr/>
        </p:nvPicPr>
        <p:blipFill rotWithShape="1">
          <a:blip r:embed="rId3">
            <a:alphaModFix/>
          </a:blip>
          <a:srcRect b="0" l="0" r="0" t="0"/>
          <a:stretch/>
        </p:blipFill>
        <p:spPr>
          <a:xfrm>
            <a:off x="110700" y="514955"/>
            <a:ext cx="4359173" cy="4230574"/>
          </a:xfrm>
          <a:prstGeom prst="rect">
            <a:avLst/>
          </a:prstGeom>
          <a:noFill/>
          <a:ln cap="flat" cmpd="sng" w="9525">
            <a:solidFill>
              <a:schemeClr val="accent1"/>
            </a:solidFill>
            <a:prstDash val="solid"/>
            <a:round/>
            <a:headEnd len="sm" w="sm" type="none"/>
            <a:tailEnd len="sm" w="sm" type="none"/>
          </a:ln>
        </p:spPr>
      </p:pic>
      <p:sp>
        <p:nvSpPr>
          <p:cNvPr id="591" name="Google Shape;591;p53"/>
          <p:cNvSpPr txBox="1"/>
          <p:nvPr>
            <p:ph idx="4294967295" type="title"/>
          </p:nvPr>
        </p:nvSpPr>
        <p:spPr>
          <a:xfrm>
            <a:off x="150" y="112783"/>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Preview Hub Availability vs Usage</a:t>
            </a:r>
            <a:endParaRPr sz="2420">
              <a:latin typeface="Calibri"/>
              <a:ea typeface="Calibri"/>
              <a:cs typeface="Calibri"/>
              <a:sym typeface="Calibri"/>
            </a:endParaRPr>
          </a:p>
        </p:txBody>
      </p:sp>
      <p:sp>
        <p:nvSpPr>
          <p:cNvPr id="592" name="Google Shape;592;p53"/>
          <p:cNvSpPr txBox="1"/>
          <p:nvPr/>
        </p:nvSpPr>
        <p:spPr>
          <a:xfrm>
            <a:off x="110700" y="583584"/>
            <a:ext cx="4359000" cy="3462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600" u="sng" cap="none" strike="noStrike">
                <a:solidFill>
                  <a:schemeClr val="hlink"/>
                </a:solidFill>
                <a:latin typeface="Calibri"/>
                <a:ea typeface="Calibri"/>
                <a:cs typeface="Calibri"/>
                <a:sym typeface="Calibri"/>
                <a:hlinkClick r:id="rId4"/>
              </a:rPr>
              <a:t>Public Future-Billable Previews</a:t>
            </a:r>
            <a:r>
              <a:rPr b="0" i="0" lang="en" sz="1600" u="none" cap="none" strike="noStrike">
                <a:solidFill>
                  <a:schemeClr val="hlink"/>
                </a:solidFill>
                <a:uFill>
                  <a:noFill/>
                </a:uFill>
                <a:latin typeface="Calibri"/>
                <a:ea typeface="Calibri"/>
                <a:cs typeface="Calibri"/>
                <a:sym typeface="Calibri"/>
                <a:hlinkClick r:id="rId5"/>
              </a:rPr>
              <a:t> ↗</a:t>
            </a:r>
            <a:endParaRPr b="0" i="0" sz="1600" u="none" cap="none" strike="noStrike">
              <a:solidFill>
                <a:srgbClr val="0254EC"/>
              </a:solidFill>
              <a:latin typeface="Calibri"/>
              <a:ea typeface="Calibri"/>
              <a:cs typeface="Calibri"/>
              <a:sym typeface="Calibri"/>
            </a:endParaRPr>
          </a:p>
        </p:txBody>
      </p:sp>
      <p:sp>
        <p:nvSpPr>
          <p:cNvPr id="593" name="Google Shape;593;p53"/>
          <p:cNvSpPr/>
          <p:nvPr/>
        </p:nvSpPr>
        <p:spPr>
          <a:xfrm>
            <a:off x="165200" y="983157"/>
            <a:ext cx="4313400" cy="209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4A4A"/>
              </a:buClr>
              <a:buSzPts val="1100"/>
              <a:buFont typeface="Arial"/>
              <a:buNone/>
            </a:pPr>
            <a:r>
              <a:rPr b="0" i="0" lang="en" sz="1100" u="none" cap="none" strike="noStrike">
                <a:solidFill>
                  <a:srgbClr val="4A4A4A"/>
                </a:solidFill>
                <a:latin typeface="Calibri"/>
                <a:ea typeface="Calibri"/>
                <a:cs typeface="Calibri"/>
                <a:sym typeface="Calibri"/>
              </a:rPr>
              <a:t>Advanced License:</a:t>
            </a:r>
            <a:br>
              <a:rPr b="0" i="0" lang="en" sz="1100" u="none" cap="none" strike="noStrike">
                <a:solidFill>
                  <a:srgbClr val="4A4A4A"/>
                </a:solidFill>
                <a:latin typeface="Calibri"/>
                <a:ea typeface="Calibri"/>
                <a:cs typeface="Calibri"/>
                <a:sym typeface="Calibri"/>
              </a:rPr>
            </a:br>
            <a:r>
              <a:rPr b="0" i="0" lang="en" sz="900" u="none" cap="none" strike="noStrike">
                <a:solidFill>
                  <a:srgbClr val="4A4A4A"/>
                </a:solidFill>
                <a:latin typeface="Calibri"/>
                <a:ea typeface="Calibri"/>
                <a:cs typeface="Calibri"/>
                <a:sym typeface="Calibri"/>
              </a:rPr>
              <a:t>{{BILLABLE_ADVANCED}}</a:t>
            </a:r>
            <a:br>
              <a:rPr b="0" i="0" lang="en" sz="1100" u="none" cap="none" strike="noStrike">
                <a:solidFill>
                  <a:srgbClr val="4A4A4A"/>
                </a:solidFill>
                <a:latin typeface="Calibri"/>
                <a:ea typeface="Calibri"/>
                <a:cs typeface="Calibri"/>
                <a:sym typeface="Calibri"/>
              </a:rPr>
            </a:br>
            <a:br>
              <a:rPr b="0" i="0" lang="en" sz="1100" u="none" cap="none" strike="noStrike">
                <a:solidFill>
                  <a:srgbClr val="4A4A4A"/>
                </a:solidFill>
                <a:latin typeface="Calibri"/>
                <a:ea typeface="Calibri"/>
                <a:cs typeface="Calibri"/>
                <a:sym typeface="Calibri"/>
              </a:rPr>
            </a:br>
            <a:r>
              <a:rPr b="0" i="0" lang="en" sz="1100" u="none" cap="none" strike="noStrike">
                <a:solidFill>
                  <a:srgbClr val="4A4A4A"/>
                </a:solidFill>
                <a:latin typeface="Calibri"/>
                <a:ea typeface="Calibri"/>
                <a:cs typeface="Calibri"/>
                <a:sym typeface="Calibri"/>
              </a:rPr>
              <a:t>Sensor / Defend License:</a:t>
            </a:r>
            <a:br>
              <a:rPr b="0" i="0" lang="en" sz="1100" u="none" cap="none" strike="noStrike">
                <a:solidFill>
                  <a:srgbClr val="4A4A4A"/>
                </a:solidFill>
                <a:latin typeface="Calibri"/>
                <a:ea typeface="Calibri"/>
                <a:cs typeface="Calibri"/>
                <a:sym typeface="Calibri"/>
              </a:rPr>
            </a:br>
            <a:r>
              <a:rPr b="0" i="0" lang="en" sz="900" u="none" cap="none" strike="noStrike">
                <a:solidFill>
                  <a:srgbClr val="4A4A4A"/>
                </a:solidFill>
                <a:latin typeface="Calibri"/>
                <a:ea typeface="Calibri"/>
                <a:cs typeface="Calibri"/>
                <a:sym typeface="Calibri"/>
              </a:rPr>
              <a:t>{{BILLABLE_SENSOR}}</a:t>
            </a:r>
            <a:br>
              <a:rPr b="0" i="0" lang="en" sz="900" u="none" cap="none" strike="noStrike">
                <a:solidFill>
                  <a:srgbClr val="4A4A4A"/>
                </a:solidFill>
                <a:latin typeface="Calibri"/>
                <a:ea typeface="Calibri"/>
                <a:cs typeface="Calibri"/>
                <a:sym typeface="Calibri"/>
              </a:rPr>
            </a:br>
            <a:r>
              <a:rPr b="0" i="0" lang="en" sz="900" u="none" cap="none" strike="noStrike">
                <a:solidFill>
                  <a:srgbClr val="4A4A4A"/>
                </a:solidFill>
                <a:latin typeface="Calibri"/>
                <a:ea typeface="Calibri"/>
                <a:cs typeface="Calibri"/>
                <a:sym typeface="Calibri"/>
              </a:rPr>
              <a:t>{{BILLABLE_DEFEND}}</a:t>
            </a:r>
            <a:endParaRPr b="0" i="0" sz="900" u="none" cap="none" strike="noStrike">
              <a:solidFill>
                <a:srgbClr val="4A4A4A"/>
              </a:solidFill>
              <a:latin typeface="Calibri"/>
              <a:ea typeface="Calibri"/>
              <a:cs typeface="Calibri"/>
              <a:sym typeface="Calibri"/>
            </a:endParaRPr>
          </a:p>
          <a:p>
            <a:pPr indent="0" lvl="0" marL="0" marR="0" rtl="0" algn="l">
              <a:lnSpc>
                <a:spcPct val="100000"/>
              </a:lnSpc>
              <a:spcBef>
                <a:spcPts val="0"/>
              </a:spcBef>
              <a:spcAft>
                <a:spcPts val="0"/>
              </a:spcAft>
              <a:buClr>
                <a:srgbClr val="4A4A4A"/>
              </a:buClr>
              <a:buSzPts val="1100"/>
              <a:buFont typeface="Arial"/>
              <a:buNone/>
            </a:pPr>
            <a:r>
              <a:t/>
            </a:r>
            <a:endParaRPr b="0" i="0" sz="1100" u="none" cap="none" strike="noStrike">
              <a:solidFill>
                <a:srgbClr val="4A4A4A"/>
              </a:solidFill>
              <a:latin typeface="Calibri"/>
              <a:ea typeface="Calibri"/>
              <a:cs typeface="Calibri"/>
              <a:sym typeface="Calibri"/>
            </a:endParaRPr>
          </a:p>
          <a:p>
            <a:pPr indent="0" lvl="0" marL="0" marR="0" rtl="0" algn="l">
              <a:lnSpc>
                <a:spcPct val="100000"/>
              </a:lnSpc>
              <a:spcBef>
                <a:spcPts val="0"/>
              </a:spcBef>
              <a:spcAft>
                <a:spcPts val="0"/>
              </a:spcAft>
              <a:buClr>
                <a:srgbClr val="4A4A4A"/>
              </a:buClr>
              <a:buSzPts val="1100"/>
              <a:buFont typeface="Arial"/>
              <a:buNone/>
            </a:pPr>
            <a:r>
              <a:rPr b="0" i="0" lang="en" sz="1100" u="none" cap="none" strike="noStrike">
                <a:solidFill>
                  <a:srgbClr val="4A4A4A"/>
                </a:solidFill>
                <a:latin typeface="Calibri"/>
                <a:ea typeface="Calibri"/>
                <a:cs typeface="Calibri"/>
                <a:sym typeface="Calibri"/>
              </a:rPr>
              <a:t>Wiz Code License:</a:t>
            </a:r>
            <a:br>
              <a:rPr b="0" i="0" lang="en" sz="1100" u="none" cap="none" strike="noStrike">
                <a:solidFill>
                  <a:srgbClr val="4A4A4A"/>
                </a:solidFill>
                <a:latin typeface="Calibri"/>
                <a:ea typeface="Calibri"/>
                <a:cs typeface="Calibri"/>
                <a:sym typeface="Calibri"/>
              </a:rPr>
            </a:br>
            <a:r>
              <a:rPr b="0" i="0" lang="en" sz="900" u="none" cap="none" strike="noStrike">
                <a:solidFill>
                  <a:srgbClr val="4A4A4A"/>
                </a:solidFill>
                <a:latin typeface="Calibri"/>
                <a:ea typeface="Calibri"/>
                <a:cs typeface="Calibri"/>
                <a:sym typeface="Calibri"/>
              </a:rPr>
              <a:t>{{BILLABLE_CODE}}</a:t>
            </a:r>
            <a:endParaRPr b="0" i="0" sz="900" u="none" cap="none" strike="noStrike">
              <a:solidFill>
                <a:srgbClr val="4A4A4A"/>
              </a:solidFill>
              <a:latin typeface="Calibri"/>
              <a:ea typeface="Calibri"/>
              <a:cs typeface="Calibri"/>
              <a:sym typeface="Calibri"/>
            </a:endParaRPr>
          </a:p>
        </p:txBody>
      </p:sp>
      <p:pic>
        <p:nvPicPr>
          <p:cNvPr id="594" name="Google Shape;594;p53"/>
          <p:cNvPicPr preferRelativeResize="0"/>
          <p:nvPr/>
        </p:nvPicPr>
        <p:blipFill rotWithShape="1">
          <a:blip r:embed="rId3">
            <a:alphaModFix/>
          </a:blip>
          <a:srcRect b="0" l="0" r="0" t="0"/>
          <a:stretch/>
        </p:blipFill>
        <p:spPr>
          <a:xfrm>
            <a:off x="4636225" y="519525"/>
            <a:ext cx="4359173" cy="4230574"/>
          </a:xfrm>
          <a:prstGeom prst="rect">
            <a:avLst/>
          </a:prstGeom>
          <a:noFill/>
          <a:ln cap="flat" cmpd="sng" w="9525">
            <a:solidFill>
              <a:schemeClr val="accent1"/>
            </a:solidFill>
            <a:prstDash val="solid"/>
            <a:round/>
            <a:headEnd len="sm" w="sm" type="none"/>
            <a:tailEnd len="sm" w="sm" type="none"/>
          </a:ln>
        </p:spPr>
      </p:pic>
      <p:sp>
        <p:nvSpPr>
          <p:cNvPr id="595" name="Google Shape;595;p53"/>
          <p:cNvSpPr txBox="1"/>
          <p:nvPr/>
        </p:nvSpPr>
        <p:spPr>
          <a:xfrm>
            <a:off x="4636222" y="584617"/>
            <a:ext cx="4359000" cy="3579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600" u="sng" cap="none" strike="noStrike">
                <a:solidFill>
                  <a:schemeClr val="hlink"/>
                </a:solidFill>
                <a:latin typeface="Calibri"/>
                <a:ea typeface="Calibri"/>
                <a:cs typeface="Calibri"/>
                <a:sym typeface="Calibri"/>
                <a:hlinkClick r:id="rId6"/>
              </a:rPr>
              <a:t>Public Non-Billable Previews</a:t>
            </a:r>
            <a:r>
              <a:rPr b="0" i="0" lang="en" sz="1600" u="none" cap="none" strike="noStrike">
                <a:solidFill>
                  <a:schemeClr val="hlink"/>
                </a:solidFill>
                <a:uFill>
                  <a:noFill/>
                </a:uFill>
                <a:latin typeface="Calibri"/>
                <a:ea typeface="Calibri"/>
                <a:cs typeface="Calibri"/>
                <a:sym typeface="Calibri"/>
                <a:hlinkClick r:id="rId7"/>
              </a:rPr>
              <a:t> ↗</a:t>
            </a:r>
            <a:endParaRPr b="0" i="0" sz="1600" u="none" cap="none" strike="noStrike">
              <a:solidFill>
                <a:srgbClr val="0254EC"/>
              </a:solidFill>
              <a:latin typeface="Calibri"/>
              <a:ea typeface="Calibri"/>
              <a:cs typeface="Calibri"/>
              <a:sym typeface="Calibri"/>
            </a:endParaRPr>
          </a:p>
        </p:txBody>
      </p:sp>
      <p:sp>
        <p:nvSpPr>
          <p:cNvPr id="596" name="Google Shape;596;p53"/>
          <p:cNvSpPr/>
          <p:nvPr/>
        </p:nvSpPr>
        <p:spPr>
          <a:xfrm>
            <a:off x="4690701" y="997376"/>
            <a:ext cx="4313400" cy="2213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4A4A"/>
              </a:buClr>
              <a:buSzPts val="1100"/>
              <a:buFont typeface="Arial"/>
              <a:buNone/>
            </a:pPr>
            <a:r>
              <a:rPr b="0" i="0" lang="en" sz="900" u="none" cap="none" strike="noStrike">
                <a:solidFill>
                  <a:srgbClr val="4A4A4A"/>
                </a:solidFill>
                <a:latin typeface="Calibri"/>
                <a:ea typeface="Calibri"/>
                <a:cs typeface="Calibri"/>
                <a:sym typeface="Calibri"/>
              </a:rPr>
              <a:t>{{ALL_NON_BILLABLE_PREVIEW}}</a:t>
            </a:r>
            <a:br>
              <a:rPr b="0" i="0" lang="en" sz="1000" u="none" cap="none" strike="noStrike">
                <a:solidFill>
                  <a:srgbClr val="4A4A4A"/>
                </a:solidFill>
                <a:latin typeface="Calibri"/>
                <a:ea typeface="Calibri"/>
                <a:cs typeface="Calibri"/>
                <a:sym typeface="Calibri"/>
              </a:rPr>
            </a:br>
            <a:endParaRPr b="0" i="0" sz="1000" u="none" cap="none" strike="noStrike">
              <a:solidFill>
                <a:srgbClr val="4A4A4A"/>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pic>
        <p:nvPicPr>
          <p:cNvPr id="602" name="Google Shape;602;p54"/>
          <p:cNvPicPr preferRelativeResize="0"/>
          <p:nvPr/>
        </p:nvPicPr>
        <p:blipFill rotWithShape="1">
          <a:blip r:embed="rId3">
            <a:alphaModFix/>
          </a:blip>
          <a:srcRect b="0" l="0" r="0" t="0"/>
          <a:stretch/>
        </p:blipFill>
        <p:spPr>
          <a:xfrm>
            <a:off x="110700" y="514953"/>
            <a:ext cx="4359173" cy="3657923"/>
          </a:xfrm>
          <a:prstGeom prst="rect">
            <a:avLst/>
          </a:prstGeom>
          <a:noFill/>
          <a:ln cap="flat" cmpd="sng" w="9525">
            <a:solidFill>
              <a:schemeClr val="accent1"/>
            </a:solidFill>
            <a:prstDash val="solid"/>
            <a:round/>
            <a:headEnd len="sm" w="sm" type="none"/>
            <a:tailEnd len="sm" w="sm" type="none"/>
          </a:ln>
        </p:spPr>
      </p:pic>
      <p:sp>
        <p:nvSpPr>
          <p:cNvPr id="603" name="Google Shape;603;p54"/>
          <p:cNvSpPr txBox="1"/>
          <p:nvPr>
            <p:ph idx="4294967295" type="title"/>
          </p:nvPr>
        </p:nvSpPr>
        <p:spPr>
          <a:xfrm>
            <a:off x="150" y="112783"/>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Preview Hub Availability vs Usage</a:t>
            </a:r>
            <a:endParaRPr sz="2420">
              <a:latin typeface="Calibri"/>
              <a:ea typeface="Calibri"/>
              <a:cs typeface="Calibri"/>
              <a:sym typeface="Calibri"/>
            </a:endParaRPr>
          </a:p>
        </p:txBody>
      </p:sp>
      <p:sp>
        <p:nvSpPr>
          <p:cNvPr id="604" name="Google Shape;604;p54"/>
          <p:cNvSpPr txBox="1"/>
          <p:nvPr/>
        </p:nvSpPr>
        <p:spPr>
          <a:xfrm>
            <a:off x="110700" y="573172"/>
            <a:ext cx="4359000" cy="3462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600" u="sng" cap="none" strike="noStrike">
                <a:solidFill>
                  <a:schemeClr val="hlink"/>
                </a:solidFill>
                <a:latin typeface="Calibri"/>
                <a:ea typeface="Calibri"/>
                <a:cs typeface="Calibri"/>
                <a:sym typeface="Calibri"/>
                <a:hlinkClick r:id="rId4"/>
              </a:rPr>
              <a:t>Private Future-Billable Previews</a:t>
            </a:r>
            <a:r>
              <a:rPr b="0" i="0" lang="en" sz="1600" u="none" cap="none" strike="noStrike">
                <a:solidFill>
                  <a:schemeClr val="hlink"/>
                </a:solidFill>
                <a:uFill>
                  <a:noFill/>
                </a:uFill>
                <a:latin typeface="Calibri"/>
                <a:ea typeface="Calibri"/>
                <a:cs typeface="Calibri"/>
                <a:sym typeface="Calibri"/>
                <a:hlinkClick r:id="rId5"/>
              </a:rPr>
              <a:t> ↗</a:t>
            </a:r>
            <a:endParaRPr b="0" i="0" sz="1600" u="none" cap="none" strike="noStrike">
              <a:solidFill>
                <a:srgbClr val="0254EC"/>
              </a:solidFill>
              <a:latin typeface="Calibri"/>
              <a:ea typeface="Calibri"/>
              <a:cs typeface="Calibri"/>
              <a:sym typeface="Calibri"/>
            </a:endParaRPr>
          </a:p>
        </p:txBody>
      </p:sp>
      <p:sp>
        <p:nvSpPr>
          <p:cNvPr id="605" name="Google Shape;605;p54"/>
          <p:cNvSpPr/>
          <p:nvPr/>
        </p:nvSpPr>
        <p:spPr>
          <a:xfrm>
            <a:off x="165200" y="979468"/>
            <a:ext cx="4313400" cy="212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4A4A"/>
              </a:buClr>
              <a:buSzPts val="1100"/>
              <a:buFont typeface="Arial"/>
              <a:buNone/>
            </a:pPr>
            <a:r>
              <a:rPr b="0" i="0" lang="en" sz="1000" u="none" cap="none" strike="noStrike">
                <a:solidFill>
                  <a:srgbClr val="4A4A4A"/>
                </a:solidFill>
                <a:latin typeface="Calibri"/>
                <a:ea typeface="Calibri"/>
                <a:cs typeface="Calibri"/>
                <a:sym typeface="Calibri"/>
              </a:rPr>
              <a:t>{{PRIVATE_BILLABLE}}</a:t>
            </a:r>
            <a:endParaRPr b="0" i="0" sz="1000" u="none" cap="none" strike="noStrike">
              <a:solidFill>
                <a:srgbClr val="4A4A4A"/>
              </a:solidFill>
              <a:latin typeface="Calibri"/>
              <a:ea typeface="Calibri"/>
              <a:cs typeface="Calibri"/>
              <a:sym typeface="Calibri"/>
            </a:endParaRPr>
          </a:p>
          <a:p>
            <a:pPr indent="0" lvl="0" marL="0" marR="0" rtl="0" algn="l">
              <a:lnSpc>
                <a:spcPct val="100000"/>
              </a:lnSpc>
              <a:spcBef>
                <a:spcPts val="0"/>
              </a:spcBef>
              <a:spcAft>
                <a:spcPts val="0"/>
              </a:spcAft>
              <a:buClr>
                <a:srgbClr val="4A4A4A"/>
              </a:buClr>
              <a:buSzPts val="1100"/>
              <a:buFont typeface="Arial"/>
              <a:buNone/>
            </a:pPr>
            <a:r>
              <a:t/>
            </a:r>
            <a:endParaRPr b="0" i="0" sz="1200" u="none" cap="none" strike="noStrike">
              <a:solidFill>
                <a:srgbClr val="4A4A4A"/>
              </a:solidFill>
              <a:latin typeface="Calibri"/>
              <a:ea typeface="Calibri"/>
              <a:cs typeface="Calibri"/>
              <a:sym typeface="Calibri"/>
            </a:endParaRPr>
          </a:p>
        </p:txBody>
      </p:sp>
      <p:pic>
        <p:nvPicPr>
          <p:cNvPr id="606" name="Google Shape;606;p54"/>
          <p:cNvPicPr preferRelativeResize="0"/>
          <p:nvPr/>
        </p:nvPicPr>
        <p:blipFill rotWithShape="1">
          <a:blip r:embed="rId3">
            <a:alphaModFix/>
          </a:blip>
          <a:srcRect b="0" l="0" r="0" t="0"/>
          <a:stretch/>
        </p:blipFill>
        <p:spPr>
          <a:xfrm>
            <a:off x="4636225" y="519525"/>
            <a:ext cx="4359173" cy="3657923"/>
          </a:xfrm>
          <a:prstGeom prst="rect">
            <a:avLst/>
          </a:prstGeom>
          <a:noFill/>
          <a:ln cap="flat" cmpd="sng" w="9525">
            <a:solidFill>
              <a:schemeClr val="accent1"/>
            </a:solidFill>
            <a:prstDash val="solid"/>
            <a:round/>
            <a:headEnd len="sm" w="sm" type="none"/>
            <a:tailEnd len="sm" w="sm" type="none"/>
          </a:ln>
        </p:spPr>
      </p:pic>
      <p:sp>
        <p:nvSpPr>
          <p:cNvPr id="607" name="Google Shape;607;p54"/>
          <p:cNvSpPr txBox="1"/>
          <p:nvPr/>
        </p:nvSpPr>
        <p:spPr>
          <a:xfrm>
            <a:off x="4636222" y="574205"/>
            <a:ext cx="4359000" cy="3579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600" u="sng" cap="none" strike="noStrike">
                <a:solidFill>
                  <a:schemeClr val="hlink"/>
                </a:solidFill>
                <a:latin typeface="Calibri"/>
                <a:ea typeface="Calibri"/>
                <a:cs typeface="Calibri"/>
                <a:sym typeface="Calibri"/>
                <a:hlinkClick r:id="rId6"/>
              </a:rPr>
              <a:t>Private Non-Billable Previews</a:t>
            </a:r>
            <a:r>
              <a:rPr b="0" i="0" lang="en" sz="1600" u="none" cap="none" strike="noStrike">
                <a:solidFill>
                  <a:schemeClr val="hlink"/>
                </a:solidFill>
                <a:uFill>
                  <a:noFill/>
                </a:uFill>
                <a:latin typeface="Calibri"/>
                <a:ea typeface="Calibri"/>
                <a:cs typeface="Calibri"/>
                <a:sym typeface="Calibri"/>
                <a:hlinkClick r:id="rId7"/>
              </a:rPr>
              <a:t> ↗</a:t>
            </a:r>
            <a:endParaRPr b="0" i="0" sz="1600" u="none" cap="none" strike="noStrike">
              <a:solidFill>
                <a:srgbClr val="0254EC"/>
              </a:solidFill>
              <a:latin typeface="Calibri"/>
              <a:ea typeface="Calibri"/>
              <a:cs typeface="Calibri"/>
              <a:sym typeface="Calibri"/>
            </a:endParaRPr>
          </a:p>
        </p:txBody>
      </p:sp>
      <p:sp>
        <p:nvSpPr>
          <p:cNvPr id="608" name="Google Shape;608;p54"/>
          <p:cNvSpPr/>
          <p:nvPr/>
        </p:nvSpPr>
        <p:spPr>
          <a:xfrm>
            <a:off x="4690701" y="972864"/>
            <a:ext cx="4313400" cy="2213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4A4A"/>
              </a:buClr>
              <a:buSzPts val="1100"/>
              <a:buFont typeface="Arial"/>
              <a:buNone/>
            </a:pPr>
            <a:r>
              <a:rPr b="0" i="0" lang="en" sz="1000" u="none" cap="none" strike="noStrike">
                <a:solidFill>
                  <a:srgbClr val="4A4A4A"/>
                </a:solidFill>
                <a:latin typeface="Calibri"/>
                <a:ea typeface="Calibri"/>
                <a:cs typeface="Calibri"/>
                <a:sym typeface="Calibri"/>
              </a:rPr>
              <a:t>{{PRIVATE_NON_BILLABLE}}</a:t>
            </a:r>
            <a:endParaRPr b="0" i="0" sz="1000" u="none" cap="none" strike="noStrike">
              <a:solidFill>
                <a:srgbClr val="4A4A4A"/>
              </a:solidFill>
              <a:latin typeface="Calibri"/>
              <a:ea typeface="Calibri"/>
              <a:cs typeface="Calibri"/>
              <a:sym typeface="Calibri"/>
            </a:endParaRPr>
          </a:p>
          <a:p>
            <a:pPr indent="0" lvl="0" marL="0" marR="0" rtl="0" algn="l">
              <a:lnSpc>
                <a:spcPct val="100000"/>
              </a:lnSpc>
              <a:spcBef>
                <a:spcPts val="0"/>
              </a:spcBef>
              <a:spcAft>
                <a:spcPts val="0"/>
              </a:spcAft>
              <a:buClr>
                <a:srgbClr val="4A4A4A"/>
              </a:buClr>
              <a:buSzPts val="1100"/>
              <a:buFont typeface="Arial"/>
              <a:buNone/>
            </a:pPr>
            <a:r>
              <a:t/>
            </a:r>
            <a:endParaRPr b="0" i="0" sz="1000" u="none" cap="none" strike="noStrike">
              <a:solidFill>
                <a:srgbClr val="4A4A4A"/>
              </a:solidFill>
              <a:latin typeface="Calibri"/>
              <a:ea typeface="Calibri"/>
              <a:cs typeface="Calibri"/>
              <a:sym typeface="Calibri"/>
            </a:endParaRPr>
          </a:p>
        </p:txBody>
      </p:sp>
      <p:sp>
        <p:nvSpPr>
          <p:cNvPr id="609" name="Google Shape;609;p54"/>
          <p:cNvSpPr txBox="1"/>
          <p:nvPr/>
        </p:nvSpPr>
        <p:spPr>
          <a:xfrm>
            <a:off x="-100" y="4435475"/>
            <a:ext cx="9144000" cy="1899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1" i="0" lang="en" sz="1100" u="none" cap="none" strike="noStrike">
                <a:solidFill>
                  <a:schemeClr val="dk1"/>
                </a:solidFill>
                <a:latin typeface="Calibri"/>
                <a:ea typeface="Calibri"/>
                <a:cs typeface="Calibri"/>
                <a:sym typeface="Calibri"/>
              </a:rPr>
              <a:t>**Private Features are typically only available upon request and approval</a:t>
            </a:r>
            <a:endParaRPr b="1" i="0" sz="11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pic>
        <p:nvPicPr>
          <p:cNvPr id="615" name="Google Shape;615;p55"/>
          <p:cNvPicPr preferRelativeResize="0"/>
          <p:nvPr/>
        </p:nvPicPr>
        <p:blipFill rotWithShape="1">
          <a:blip r:embed="rId3">
            <a:alphaModFix/>
          </a:blip>
          <a:srcRect b="0" l="0" r="0" t="0"/>
          <a:stretch/>
        </p:blipFill>
        <p:spPr>
          <a:xfrm>
            <a:off x="329350" y="1194925"/>
            <a:ext cx="8466125" cy="3904599"/>
          </a:xfrm>
          <a:prstGeom prst="rect">
            <a:avLst/>
          </a:prstGeom>
          <a:noFill/>
          <a:ln cap="flat" cmpd="sng" w="9525">
            <a:solidFill>
              <a:schemeClr val="accent1"/>
            </a:solidFill>
            <a:prstDash val="solid"/>
            <a:round/>
            <a:headEnd len="sm" w="sm" type="none"/>
            <a:tailEnd len="sm" w="sm" type="none"/>
          </a:ln>
        </p:spPr>
      </p:pic>
      <p:sp>
        <p:nvSpPr>
          <p:cNvPr id="616" name="Google Shape;616;p55"/>
          <p:cNvSpPr txBox="1"/>
          <p:nvPr>
            <p:ph idx="4294967295" type="title"/>
          </p:nvPr>
        </p:nvSpPr>
        <p:spPr>
          <a:xfrm>
            <a:off x="150" y="112783"/>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Roadmap Tracker Usage</a:t>
            </a:r>
            <a:endParaRPr sz="2420">
              <a:latin typeface="Calibri"/>
              <a:ea typeface="Calibri"/>
              <a:cs typeface="Calibri"/>
              <a:sym typeface="Calibri"/>
            </a:endParaRPr>
          </a:p>
        </p:txBody>
      </p:sp>
      <p:sp>
        <p:nvSpPr>
          <p:cNvPr id="617" name="Google Shape;617;p55"/>
          <p:cNvSpPr txBox="1"/>
          <p:nvPr/>
        </p:nvSpPr>
        <p:spPr>
          <a:xfrm>
            <a:off x="406975" y="1231821"/>
            <a:ext cx="8306406" cy="3756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0" i="0" lang="en" sz="1800" u="sng" cap="none" strike="noStrike">
                <a:solidFill>
                  <a:schemeClr val="hlink"/>
                </a:solidFill>
                <a:latin typeface="Calibri"/>
                <a:ea typeface="Calibri"/>
                <a:cs typeface="Calibri"/>
                <a:sym typeface="Calibri"/>
                <a:hlinkClick r:id="rId4"/>
              </a:rPr>
              <a:t>Tracked Roadmap Items</a:t>
            </a:r>
            <a:r>
              <a:rPr b="0" i="0" lang="en" sz="1800" u="none" cap="none" strike="noStrike">
                <a:solidFill>
                  <a:schemeClr val="hlink"/>
                </a:solidFill>
                <a:uFill>
                  <a:noFill/>
                </a:uFill>
                <a:latin typeface="Calibri"/>
                <a:ea typeface="Calibri"/>
                <a:cs typeface="Calibri"/>
                <a:sym typeface="Calibri"/>
                <a:hlinkClick r:id="rId5"/>
              </a:rPr>
              <a:t> ↗</a:t>
            </a:r>
            <a:endParaRPr b="0" i="0" sz="1800" u="none" cap="none" strike="noStrike">
              <a:solidFill>
                <a:srgbClr val="0254EC"/>
              </a:solidFill>
              <a:latin typeface="Calibri"/>
              <a:ea typeface="Calibri"/>
              <a:cs typeface="Calibri"/>
              <a:sym typeface="Calibri"/>
            </a:endParaRPr>
          </a:p>
        </p:txBody>
      </p:sp>
      <p:sp>
        <p:nvSpPr>
          <p:cNvPr id="618" name="Google Shape;618;p55"/>
          <p:cNvSpPr/>
          <p:nvPr/>
        </p:nvSpPr>
        <p:spPr>
          <a:xfrm>
            <a:off x="435197" y="1658861"/>
            <a:ext cx="8377200" cy="2010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4A4A"/>
              </a:buClr>
              <a:buSzPts val="1100"/>
              <a:buFont typeface="Arial"/>
              <a:buNone/>
            </a:pPr>
            <a:r>
              <a:rPr b="0" i="0" lang="en" sz="1100" u="none" cap="none" strike="noStrike">
                <a:solidFill>
                  <a:srgbClr val="4A4A4A"/>
                </a:solidFill>
                <a:latin typeface="Calibri"/>
                <a:ea typeface="Calibri"/>
                <a:cs typeface="Calibri"/>
                <a:sym typeface="Calibri"/>
              </a:rPr>
              <a:t>{{ROADMAP_TRACKER}}</a:t>
            </a:r>
            <a:endParaRPr b="0" i="0" sz="1100" u="none" cap="none" strike="noStrike">
              <a:solidFill>
                <a:srgbClr val="4A4A4A"/>
              </a:solidFill>
              <a:latin typeface="Calibri"/>
              <a:ea typeface="Calibri"/>
              <a:cs typeface="Calibri"/>
              <a:sym typeface="Calibri"/>
            </a:endParaRPr>
          </a:p>
          <a:p>
            <a:pPr indent="0" lvl="0" marL="0" marR="0" rtl="0" algn="l">
              <a:lnSpc>
                <a:spcPct val="100000"/>
              </a:lnSpc>
              <a:spcBef>
                <a:spcPts val="0"/>
              </a:spcBef>
              <a:spcAft>
                <a:spcPts val="0"/>
              </a:spcAft>
              <a:buClr>
                <a:srgbClr val="4A4A4A"/>
              </a:buClr>
              <a:buSzPts val="1100"/>
              <a:buFont typeface="Arial"/>
              <a:buNone/>
            </a:pPr>
            <a:r>
              <a:t/>
            </a:r>
            <a:endParaRPr b="0" i="0" sz="1300" u="none" cap="none" strike="noStrike">
              <a:solidFill>
                <a:srgbClr val="4A4A4A"/>
              </a:solidFill>
              <a:latin typeface="Calibri"/>
              <a:ea typeface="Calibri"/>
              <a:cs typeface="Calibri"/>
              <a:sym typeface="Calibri"/>
            </a:endParaRPr>
          </a:p>
        </p:txBody>
      </p:sp>
      <p:sp>
        <p:nvSpPr>
          <p:cNvPr id="619" name="Google Shape;619;p55"/>
          <p:cNvSpPr txBox="1"/>
          <p:nvPr/>
        </p:nvSpPr>
        <p:spPr>
          <a:xfrm>
            <a:off x="150" y="498025"/>
            <a:ext cx="9144000" cy="696900"/>
          </a:xfrm>
          <a:prstGeom prst="rect">
            <a:avLst/>
          </a:prstGeom>
          <a:noFill/>
          <a:ln>
            <a:noFill/>
          </a:ln>
        </p:spPr>
        <p:txBody>
          <a:bodyPr anchorCtr="0" anchor="t" bIns="34275" lIns="68575" spcFirstLastPara="1" rIns="68575" wrap="square" tIns="34275">
            <a:noAutofit/>
          </a:bodyPr>
          <a:lstStyle/>
          <a:p>
            <a:pPr indent="0" lvl="0" marL="0" marR="0" rtl="0" algn="ctr">
              <a:lnSpc>
                <a:spcPct val="115000"/>
              </a:lnSpc>
              <a:spcBef>
                <a:spcPts val="0"/>
              </a:spcBef>
              <a:spcAft>
                <a:spcPts val="0"/>
              </a:spcAft>
              <a:buClr>
                <a:schemeClr val="dk1"/>
              </a:buClr>
              <a:buSzPts val="1100"/>
              <a:buFont typeface="Arial"/>
              <a:buNone/>
            </a:pPr>
            <a:r>
              <a:rPr b="0" i="0" lang="en" sz="800" u="none" cap="none" strike="noStrike">
                <a:solidFill>
                  <a:srgbClr val="60646C"/>
                </a:solidFill>
                <a:latin typeface="Calibri"/>
                <a:ea typeface="Calibri"/>
                <a:cs typeface="Calibri"/>
                <a:sym typeface="Calibri"/>
              </a:rPr>
              <a:t>Discover, track, and monitor roadmap features. All quarters listed refer to the calendar year, and represent Wiz goals,  meaning some features will be pushed to later quarters. Also, the quarters listed may reflect when features become available to preview, with general availability (GA) following. Some support tiers allow you to track up to 20 non-highlight features, of which 5 can be marked high priority. Product managers review the most popular features when deciding what to work on next, so your votes really count. Features remain trackable until one quarter after release. Some features may not have a timeline. A planned timeline is added once available.</a:t>
            </a:r>
            <a:endParaRPr b="0" i="0" sz="800" u="none" cap="none" strike="noStrike">
              <a:solidFill>
                <a:srgbClr val="60646C"/>
              </a:solidFill>
              <a:latin typeface="Calibri"/>
              <a:ea typeface="Calibri"/>
              <a:cs typeface="Calibri"/>
              <a:sym typeface="Calibri"/>
            </a:endParaRPr>
          </a:p>
          <a:p>
            <a:pPr indent="0" lvl="0" marL="0" marR="0" rtl="0" algn="ctr">
              <a:lnSpc>
                <a:spcPct val="90000"/>
              </a:lnSpc>
              <a:spcBef>
                <a:spcPts val="600"/>
              </a:spcBef>
              <a:spcAft>
                <a:spcPts val="0"/>
              </a:spcAft>
              <a:buClr>
                <a:schemeClr val="dk2"/>
              </a:buClr>
              <a:buSzPts val="1500"/>
              <a:buFont typeface="Arial"/>
              <a:buNone/>
            </a:pPr>
            <a:r>
              <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4" name="Shape 624"/>
        <p:cNvGrpSpPr/>
        <p:nvPr/>
      </p:nvGrpSpPr>
      <p:grpSpPr>
        <a:xfrm>
          <a:off x="0" y="0"/>
          <a:ext cx="0" cy="0"/>
          <a:chOff x="0" y="0"/>
          <a:chExt cx="0" cy="0"/>
        </a:xfrm>
      </p:grpSpPr>
      <p:sp>
        <p:nvSpPr>
          <p:cNvPr id="625" name="Google Shape;625;p56"/>
          <p:cNvSpPr txBox="1"/>
          <p:nvPr/>
        </p:nvSpPr>
        <p:spPr>
          <a:xfrm>
            <a:off x="468449" y="2215800"/>
            <a:ext cx="3273600" cy="9003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chemeClr val="dk1"/>
              </a:buClr>
              <a:buSzPts val="1100"/>
              <a:buFont typeface="Arial"/>
              <a:buNone/>
            </a:pPr>
            <a:r>
              <a:rPr b="0" i="0" lang="en" sz="2700" u="none" cap="none" strike="noStrike">
                <a:solidFill>
                  <a:schemeClr val="lt1"/>
                </a:solidFill>
                <a:latin typeface="Calibri"/>
                <a:ea typeface="Calibri"/>
                <a:cs typeface="Calibri"/>
                <a:sym typeface="Calibri"/>
              </a:rPr>
              <a:t>Reducing Critical Risk and Beyond</a:t>
            </a:r>
            <a:endParaRPr b="0" i="0" sz="2700" u="none" cap="none" strike="noStrike">
              <a:solidFill>
                <a:schemeClr val="lt1"/>
              </a:solidFill>
              <a:latin typeface="Calibri"/>
              <a:ea typeface="Calibri"/>
              <a:cs typeface="Calibri"/>
              <a:sym typeface="Calibri"/>
            </a:endParaRPr>
          </a:p>
        </p:txBody>
      </p:sp>
      <p:pic>
        <p:nvPicPr>
          <p:cNvPr id="626" name="Google Shape;626;p56" title="opening_photo.png"/>
          <p:cNvPicPr preferRelativeResize="0"/>
          <p:nvPr/>
        </p:nvPicPr>
        <p:blipFill rotWithShape="1">
          <a:blip r:embed="rId3">
            <a:alphaModFix/>
          </a:blip>
          <a:srcRect b="0" l="0" r="0" t="0"/>
          <a:stretch/>
        </p:blipFill>
        <p:spPr>
          <a:xfrm>
            <a:off x="4256533" y="1409675"/>
            <a:ext cx="4306800" cy="2143875"/>
          </a:xfrm>
          <a:prstGeom prst="rect">
            <a:avLst/>
          </a:prstGeom>
          <a:noFill/>
          <a:ln>
            <a:noFill/>
          </a:ln>
        </p:spPr>
      </p:pic>
      <p:pic>
        <p:nvPicPr>
          <p:cNvPr id="627" name="Google Shape;627;p56" title="cloud.png"/>
          <p:cNvPicPr preferRelativeResize="0"/>
          <p:nvPr/>
        </p:nvPicPr>
        <p:blipFill rotWithShape="1">
          <a:blip r:embed="rId4">
            <a:alphaModFix/>
          </a:blip>
          <a:srcRect b="0" l="0" r="0" t="0"/>
          <a:stretch/>
        </p:blipFill>
        <p:spPr>
          <a:xfrm>
            <a:off x="6699300" y="3318246"/>
            <a:ext cx="2444700" cy="1825254"/>
          </a:xfrm>
          <a:prstGeom prst="rect">
            <a:avLst/>
          </a:prstGeom>
          <a:noFill/>
          <a:ln>
            <a:noFill/>
          </a:ln>
        </p:spPr>
      </p:pic>
      <p:pic>
        <p:nvPicPr>
          <p:cNvPr id="628" name="Google Shape;628;p56" title="logo.png"/>
          <p:cNvPicPr preferRelativeResize="0"/>
          <p:nvPr/>
        </p:nvPicPr>
        <p:blipFill rotWithShape="1">
          <a:blip r:embed="rId5">
            <a:alphaModFix/>
          </a:blip>
          <a:srcRect b="0" l="0" r="0" t="0"/>
          <a:stretch/>
        </p:blipFill>
        <p:spPr>
          <a:xfrm>
            <a:off x="553277" y="1726800"/>
            <a:ext cx="637001" cy="3041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3" name="Shape 633"/>
        <p:cNvGrpSpPr/>
        <p:nvPr/>
      </p:nvGrpSpPr>
      <p:grpSpPr>
        <a:xfrm>
          <a:off x="0" y="0"/>
          <a:ext cx="0" cy="0"/>
          <a:chOff x="0" y="0"/>
          <a:chExt cx="0" cy="0"/>
        </a:xfrm>
      </p:grpSpPr>
      <p:sp>
        <p:nvSpPr>
          <p:cNvPr id="634" name="Google Shape;634;p57"/>
          <p:cNvSpPr txBox="1"/>
          <p:nvPr/>
        </p:nvSpPr>
        <p:spPr>
          <a:xfrm>
            <a:off x="6799450" y="3138000"/>
            <a:ext cx="2010300" cy="2018161"/>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635" name="Google Shape;635;p57"/>
          <p:cNvSpPr txBox="1"/>
          <p:nvPr/>
        </p:nvSpPr>
        <p:spPr>
          <a:xfrm>
            <a:off x="799800" y="4324999"/>
            <a:ext cx="2010300" cy="8313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636" name="Google Shape;636;p57"/>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sp>
        <p:nvSpPr>
          <p:cNvPr id="637" name="Google Shape;637;p57"/>
          <p:cNvSpPr txBox="1"/>
          <p:nvPr/>
        </p:nvSpPr>
        <p:spPr>
          <a:xfrm>
            <a:off x="2815700" y="3916475"/>
            <a:ext cx="1987500" cy="1227025"/>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Calibri"/>
              <a:ea typeface="Calibri"/>
              <a:cs typeface="Calibri"/>
              <a:sym typeface="Calibri"/>
            </a:endParaRPr>
          </a:p>
        </p:txBody>
      </p:sp>
      <p:cxnSp>
        <p:nvCxnSpPr>
          <p:cNvPr id="638" name="Google Shape;638;p57"/>
          <p:cNvCxnSpPr/>
          <p:nvPr/>
        </p:nvCxnSpPr>
        <p:spPr>
          <a:xfrm rot="10800000">
            <a:off x="2813100" y="2136400"/>
            <a:ext cx="0" cy="3019761"/>
          </a:xfrm>
          <a:prstGeom prst="straightConnector1">
            <a:avLst/>
          </a:prstGeom>
          <a:noFill/>
          <a:ln cap="flat" cmpd="sng" w="9525">
            <a:solidFill>
              <a:srgbClr val="0254EC"/>
            </a:solidFill>
            <a:prstDash val="solid"/>
            <a:round/>
            <a:headEnd len="sm" w="sm" type="none"/>
            <a:tailEnd len="sm" w="sm" type="none"/>
          </a:ln>
        </p:spPr>
      </p:cxnSp>
      <p:cxnSp>
        <p:nvCxnSpPr>
          <p:cNvPr id="639" name="Google Shape;639;p57"/>
          <p:cNvCxnSpPr/>
          <p:nvPr/>
        </p:nvCxnSpPr>
        <p:spPr>
          <a:xfrm rot="10800000">
            <a:off x="4804975" y="1525650"/>
            <a:ext cx="0" cy="3617850"/>
          </a:xfrm>
          <a:prstGeom prst="straightConnector1">
            <a:avLst/>
          </a:prstGeom>
          <a:noFill/>
          <a:ln cap="flat" cmpd="sng" w="9525">
            <a:solidFill>
              <a:srgbClr val="0254EC"/>
            </a:solidFill>
            <a:prstDash val="solid"/>
            <a:round/>
            <a:headEnd len="sm" w="sm" type="none"/>
            <a:tailEnd len="sm" w="sm" type="none"/>
          </a:ln>
        </p:spPr>
      </p:cxnSp>
      <p:cxnSp>
        <p:nvCxnSpPr>
          <p:cNvPr id="640" name="Google Shape;640;p57"/>
          <p:cNvCxnSpPr/>
          <p:nvPr/>
        </p:nvCxnSpPr>
        <p:spPr>
          <a:xfrm flipH="1" rot="10800000">
            <a:off x="6799450" y="910700"/>
            <a:ext cx="5225" cy="4232800"/>
          </a:xfrm>
          <a:prstGeom prst="straightConnector1">
            <a:avLst/>
          </a:prstGeom>
          <a:noFill/>
          <a:ln cap="flat" cmpd="sng" w="9525">
            <a:solidFill>
              <a:srgbClr val="0254EC"/>
            </a:solidFill>
            <a:prstDash val="solid"/>
            <a:round/>
            <a:headEnd len="sm" w="sm" type="none"/>
            <a:tailEnd len="sm" w="sm" type="none"/>
          </a:ln>
        </p:spPr>
      </p:cxnSp>
      <p:cxnSp>
        <p:nvCxnSpPr>
          <p:cNvPr id="641" name="Google Shape;641;p57"/>
          <p:cNvCxnSpPr/>
          <p:nvPr/>
        </p:nvCxnSpPr>
        <p:spPr>
          <a:xfrm flipH="1" rot="10800000">
            <a:off x="983850" y="193650"/>
            <a:ext cx="8194200" cy="2507100"/>
          </a:xfrm>
          <a:prstGeom prst="straightConnector1">
            <a:avLst/>
          </a:prstGeom>
          <a:noFill/>
          <a:ln cap="flat" cmpd="sng" w="9525">
            <a:solidFill>
              <a:srgbClr val="0254EC"/>
            </a:solidFill>
            <a:prstDash val="lgDash"/>
            <a:round/>
            <a:headEnd len="sm" w="sm" type="none"/>
            <a:tailEnd len="sm" w="sm" type="none"/>
          </a:ln>
        </p:spPr>
      </p:cxnSp>
      <p:cxnSp>
        <p:nvCxnSpPr>
          <p:cNvPr id="642" name="Google Shape;642;p57"/>
          <p:cNvCxnSpPr/>
          <p:nvPr/>
        </p:nvCxnSpPr>
        <p:spPr>
          <a:xfrm rot="10800000">
            <a:off x="807946" y="2756762"/>
            <a:ext cx="0" cy="2399400"/>
          </a:xfrm>
          <a:prstGeom prst="straightConnector1">
            <a:avLst/>
          </a:prstGeom>
          <a:noFill/>
          <a:ln cap="flat" cmpd="sng" w="9525">
            <a:solidFill>
              <a:srgbClr val="0254EC"/>
            </a:solidFill>
            <a:prstDash val="solid"/>
            <a:round/>
            <a:headEnd len="sm" w="sm" type="none"/>
            <a:tailEnd len="sm" w="sm" type="none"/>
          </a:ln>
        </p:spPr>
      </p:cxnSp>
      <p:pic>
        <p:nvPicPr>
          <p:cNvPr id="643" name="Google Shape;643;p57" title="Hardening_infinity.png"/>
          <p:cNvPicPr preferRelativeResize="0"/>
          <p:nvPr/>
        </p:nvPicPr>
        <p:blipFill rotWithShape="1">
          <a:blip r:embed="rId3">
            <a:alphaModFix/>
          </a:blip>
          <a:srcRect b="0" l="0" r="0" t="0"/>
          <a:stretch/>
        </p:blipFill>
        <p:spPr>
          <a:xfrm rot="-964393">
            <a:off x="4764150" y="359985"/>
            <a:ext cx="2802000" cy="1505395"/>
          </a:xfrm>
          <a:prstGeom prst="rect">
            <a:avLst/>
          </a:prstGeom>
          <a:noFill/>
          <a:ln>
            <a:noFill/>
          </a:ln>
        </p:spPr>
      </p:pic>
      <p:sp>
        <p:nvSpPr>
          <p:cNvPr id="644" name="Google Shape;644;p57"/>
          <p:cNvSpPr txBox="1"/>
          <p:nvPr>
            <p:ph idx="4294967295" type="title"/>
          </p:nvPr>
        </p:nvSpPr>
        <p:spPr>
          <a:xfrm>
            <a:off x="304850" y="182250"/>
            <a:ext cx="7550100" cy="6465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Clr>
                <a:schemeClr val="dk1"/>
              </a:buClr>
              <a:buSzPts val="1800"/>
              <a:buFont typeface="DM Sans"/>
              <a:buNone/>
            </a:pPr>
            <a:r>
              <a:rPr lang="en" sz="2420">
                <a:latin typeface="Calibri"/>
                <a:ea typeface="Calibri"/>
                <a:cs typeface="Calibri"/>
                <a:sym typeface="Calibri"/>
              </a:rPr>
              <a:t>Wiz Security</a:t>
            </a:r>
            <a:endParaRPr sz="2420">
              <a:latin typeface="Calibri"/>
              <a:ea typeface="Calibri"/>
              <a:cs typeface="Calibri"/>
              <a:sym typeface="Calibri"/>
            </a:endParaRPr>
          </a:p>
          <a:p>
            <a:pPr indent="0" lvl="0" marL="0" rtl="0" algn="l">
              <a:lnSpc>
                <a:spcPct val="100000"/>
              </a:lnSpc>
              <a:spcBef>
                <a:spcPts val="0"/>
              </a:spcBef>
              <a:spcAft>
                <a:spcPts val="0"/>
              </a:spcAft>
              <a:buClr>
                <a:schemeClr val="dk1"/>
              </a:buClr>
              <a:buSzPts val="1800"/>
              <a:buFont typeface="DM Sans"/>
              <a:buNone/>
            </a:pPr>
            <a:r>
              <a:rPr lang="en" sz="2420">
                <a:latin typeface="Calibri"/>
                <a:ea typeface="Calibri"/>
                <a:cs typeface="Calibri"/>
                <a:sym typeface="Calibri"/>
              </a:rPr>
              <a:t>Maturity Model </a:t>
            </a:r>
            <a:endParaRPr sz="2420">
              <a:latin typeface="Calibri"/>
              <a:ea typeface="Calibri"/>
              <a:cs typeface="Calibri"/>
              <a:sym typeface="Calibri"/>
            </a:endParaRPr>
          </a:p>
        </p:txBody>
      </p:sp>
      <p:sp>
        <p:nvSpPr>
          <p:cNvPr id="645" name="Google Shape;645;p57"/>
          <p:cNvSpPr txBox="1"/>
          <p:nvPr/>
        </p:nvSpPr>
        <p:spPr>
          <a:xfrm>
            <a:off x="6914847" y="1709849"/>
            <a:ext cx="1575300" cy="3462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rgbClr val="001741"/>
              </a:buClr>
              <a:buSzPts val="900"/>
              <a:buFont typeface="DM Sans Medium"/>
              <a:buNone/>
            </a:pPr>
            <a:r>
              <a:rPr b="0" i="0" lang="en" sz="900" u="none" cap="none" strike="noStrike">
                <a:solidFill>
                  <a:schemeClr val="dk1"/>
                </a:solidFill>
                <a:latin typeface="Calibri"/>
                <a:ea typeface="Calibri"/>
                <a:cs typeface="Calibri"/>
                <a:sym typeface="Calibri"/>
              </a:rPr>
              <a:t>BACKLOG PREVENTION - DEVELOP SECURELY</a:t>
            </a:r>
            <a:endParaRPr b="0" i="0" sz="900" u="none" cap="none" strike="noStrike">
              <a:solidFill>
                <a:schemeClr val="dk1"/>
              </a:solidFill>
              <a:latin typeface="Calibri"/>
              <a:ea typeface="Calibri"/>
              <a:cs typeface="Calibri"/>
              <a:sym typeface="Calibri"/>
            </a:endParaRPr>
          </a:p>
        </p:txBody>
      </p:sp>
      <p:sp>
        <p:nvSpPr>
          <p:cNvPr id="646" name="Google Shape;646;p57"/>
          <p:cNvSpPr txBox="1"/>
          <p:nvPr/>
        </p:nvSpPr>
        <p:spPr>
          <a:xfrm>
            <a:off x="6810807" y="2070332"/>
            <a:ext cx="1811700" cy="972300"/>
          </a:xfrm>
          <a:prstGeom prst="rect">
            <a:avLst/>
          </a:prstGeom>
          <a:noFill/>
          <a:ln>
            <a:noFill/>
          </a:ln>
        </p:spPr>
        <p:txBody>
          <a:bodyPr anchorCtr="0" anchor="t" bIns="34275" lIns="68575" spcFirstLastPara="1" rIns="68575" wrap="square" tIns="34275">
            <a:normAutofit/>
          </a:bodyPr>
          <a:lstStyle/>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Enforce code-to-cloud guardrails to prevent issues from ever being deployed with Wiz Code</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Give devs cloud context directly in IDEs and code for secure by design</a:t>
            </a:r>
            <a:endParaRPr b="0" i="0" sz="800" u="none" cap="none" strike="noStrike">
              <a:solidFill>
                <a:srgbClr val="01123F"/>
              </a:solidFill>
              <a:latin typeface="Calibri"/>
              <a:ea typeface="Calibri"/>
              <a:cs typeface="Calibri"/>
              <a:sym typeface="Calibri"/>
            </a:endParaRPr>
          </a:p>
        </p:txBody>
      </p:sp>
      <p:sp>
        <p:nvSpPr>
          <p:cNvPr id="647" name="Google Shape;647;p57"/>
          <p:cNvSpPr txBox="1"/>
          <p:nvPr/>
        </p:nvSpPr>
        <p:spPr>
          <a:xfrm>
            <a:off x="5006084" y="2154770"/>
            <a:ext cx="1575300" cy="2079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rgbClr val="001741"/>
              </a:buClr>
              <a:buSzPts val="900"/>
              <a:buFont typeface="DM Sans Medium"/>
              <a:buNone/>
            </a:pPr>
            <a:r>
              <a:rPr b="0" i="0" lang="en" sz="900" u="none" cap="none" strike="noStrike">
                <a:solidFill>
                  <a:schemeClr val="dk1"/>
                </a:solidFill>
                <a:latin typeface="Calibri"/>
                <a:ea typeface="Calibri"/>
                <a:cs typeface="Calibri"/>
                <a:sym typeface="Calibri"/>
              </a:rPr>
              <a:t>POSTURE HARDENING</a:t>
            </a:r>
            <a:endParaRPr b="0" i="0" sz="900" u="none" cap="none" strike="noStrike">
              <a:solidFill>
                <a:schemeClr val="dk1"/>
              </a:solidFill>
              <a:latin typeface="Calibri"/>
              <a:ea typeface="Calibri"/>
              <a:cs typeface="Calibri"/>
              <a:sym typeface="Calibri"/>
            </a:endParaRPr>
          </a:p>
        </p:txBody>
      </p:sp>
      <p:sp>
        <p:nvSpPr>
          <p:cNvPr id="648" name="Google Shape;648;p57"/>
          <p:cNvSpPr txBox="1"/>
          <p:nvPr/>
        </p:nvSpPr>
        <p:spPr>
          <a:xfrm>
            <a:off x="4902050" y="2387075"/>
            <a:ext cx="1811700" cy="1149900"/>
          </a:xfrm>
          <a:prstGeom prst="rect">
            <a:avLst/>
          </a:prstGeom>
          <a:noFill/>
          <a:ln>
            <a:noFill/>
          </a:ln>
        </p:spPr>
        <p:txBody>
          <a:bodyPr anchorCtr="0" anchor="t" bIns="34275" lIns="68575" spcFirstLastPara="1" rIns="68575" wrap="square" tIns="34275">
            <a:normAutofit/>
          </a:bodyPr>
          <a:lstStyle/>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Address non-urgent findings impacting overall security posture, including Posture Issues</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Manage exposures in the environment with Wiz XM</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Consolidate remediation for greater impact in a shorter      time frame</a:t>
            </a:r>
            <a:endParaRPr b="0" i="0" sz="800" u="none" cap="none" strike="noStrike">
              <a:solidFill>
                <a:srgbClr val="01123F"/>
              </a:solidFill>
              <a:latin typeface="Calibri"/>
              <a:ea typeface="Calibri"/>
              <a:cs typeface="Calibri"/>
              <a:sym typeface="Calibri"/>
            </a:endParaRPr>
          </a:p>
        </p:txBody>
      </p:sp>
      <p:sp>
        <p:nvSpPr>
          <p:cNvPr id="649" name="Google Shape;649;p57"/>
          <p:cNvSpPr txBox="1"/>
          <p:nvPr/>
        </p:nvSpPr>
        <p:spPr>
          <a:xfrm>
            <a:off x="3007222" y="2625304"/>
            <a:ext cx="1575300" cy="2079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chemeClr val="dk1"/>
              </a:buClr>
              <a:buSzPts val="1100"/>
              <a:buFont typeface="Arial"/>
              <a:buNone/>
            </a:pPr>
            <a:r>
              <a:rPr b="0" i="0" lang="en" sz="900" u="none" cap="none" strike="noStrike">
                <a:solidFill>
                  <a:schemeClr val="dk1"/>
                </a:solidFill>
                <a:latin typeface="Calibri"/>
                <a:ea typeface="Calibri"/>
                <a:cs typeface="Calibri"/>
                <a:sym typeface="Calibri"/>
              </a:rPr>
              <a:t>REDUCE CRITICAL RISK</a:t>
            </a:r>
            <a:endParaRPr b="0" i="0" sz="900" u="none" cap="none" strike="noStrike">
              <a:solidFill>
                <a:schemeClr val="dk1"/>
              </a:solidFill>
              <a:latin typeface="Calibri"/>
              <a:ea typeface="Calibri"/>
              <a:cs typeface="Calibri"/>
              <a:sym typeface="Calibri"/>
            </a:endParaRPr>
          </a:p>
        </p:txBody>
      </p:sp>
      <p:sp>
        <p:nvSpPr>
          <p:cNvPr id="650" name="Google Shape;650;p57"/>
          <p:cNvSpPr txBox="1"/>
          <p:nvPr/>
        </p:nvSpPr>
        <p:spPr>
          <a:xfrm>
            <a:off x="2903188" y="2857610"/>
            <a:ext cx="1811700" cy="1262400"/>
          </a:xfrm>
          <a:prstGeom prst="rect">
            <a:avLst/>
          </a:prstGeom>
          <a:noFill/>
          <a:ln>
            <a:noFill/>
          </a:ln>
        </p:spPr>
        <p:txBody>
          <a:bodyPr anchorCtr="0" anchor="t" bIns="34275" lIns="68575" spcFirstLastPara="1" rIns="68575" wrap="square" tIns="34275">
            <a:normAutofit/>
          </a:bodyPr>
          <a:lstStyle/>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Prioritize immediately  exploitable attack paths   (validate with Wiz ASM)</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Achieve Zero Critical Risk Issues</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Prioritize external findings (UVM) with Wiz context</a:t>
            </a:r>
            <a:endParaRPr b="0" i="0" sz="800" u="none" cap="none" strike="noStrike">
              <a:solidFill>
                <a:srgbClr val="01123F"/>
              </a:solidFill>
              <a:latin typeface="Calibri"/>
              <a:ea typeface="Calibri"/>
              <a:cs typeface="Calibri"/>
              <a:sym typeface="Calibri"/>
            </a:endParaRPr>
          </a:p>
        </p:txBody>
      </p:sp>
      <p:sp>
        <p:nvSpPr>
          <p:cNvPr id="651" name="Google Shape;651;p57"/>
          <p:cNvSpPr txBox="1"/>
          <p:nvPr/>
        </p:nvSpPr>
        <p:spPr>
          <a:xfrm>
            <a:off x="1008697" y="3209104"/>
            <a:ext cx="1575300" cy="2079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chemeClr val="dk1"/>
              </a:buClr>
              <a:buSzPts val="1100"/>
              <a:buFont typeface="Arial"/>
              <a:buNone/>
            </a:pPr>
            <a:r>
              <a:rPr b="0" i="0" lang="en" sz="900" u="none" cap="none" strike="noStrike">
                <a:solidFill>
                  <a:schemeClr val="dk1"/>
                </a:solidFill>
                <a:latin typeface="Calibri"/>
                <a:ea typeface="Calibri"/>
                <a:cs typeface="Calibri"/>
                <a:sym typeface="Calibri"/>
              </a:rPr>
              <a:t>GAIN VISIBILITY</a:t>
            </a:r>
            <a:endParaRPr b="0" i="0" sz="900" u="none" cap="none" strike="noStrike">
              <a:solidFill>
                <a:schemeClr val="dk1"/>
              </a:solidFill>
              <a:latin typeface="Calibri"/>
              <a:ea typeface="Calibri"/>
              <a:cs typeface="Calibri"/>
              <a:sym typeface="Calibri"/>
            </a:endParaRPr>
          </a:p>
        </p:txBody>
      </p:sp>
      <p:sp>
        <p:nvSpPr>
          <p:cNvPr id="652" name="Google Shape;652;p57"/>
          <p:cNvSpPr txBox="1"/>
          <p:nvPr/>
        </p:nvSpPr>
        <p:spPr>
          <a:xfrm>
            <a:off x="904663" y="3441410"/>
            <a:ext cx="1811700" cy="1262400"/>
          </a:xfrm>
          <a:prstGeom prst="rect">
            <a:avLst/>
          </a:prstGeom>
          <a:noFill/>
          <a:ln>
            <a:noFill/>
          </a:ln>
        </p:spPr>
        <p:txBody>
          <a:bodyPr anchorCtr="0" anchor="t" bIns="34275" lIns="68575" spcFirstLastPara="1" rIns="68575" wrap="square" tIns="34275">
            <a:normAutofit/>
          </a:bodyPr>
          <a:lstStyle/>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100% code-to-cloud visibility into any repo, pipeline, or cloud</a:t>
            </a:r>
            <a:endParaRPr b="0" i="0" sz="800" u="none" cap="none" strike="noStrike">
              <a:solidFill>
                <a:srgbClr val="01123F"/>
              </a:solidFill>
              <a:latin typeface="Calibri"/>
              <a:ea typeface="Calibri"/>
              <a:cs typeface="Calibri"/>
              <a:sym typeface="Calibri"/>
            </a:endParaRPr>
          </a:p>
          <a:p>
            <a:pPr indent="0" lvl="0" marL="0" marR="0" rtl="0" algn="l">
              <a:lnSpc>
                <a:spcPct val="92000"/>
              </a:lnSpc>
              <a:spcBef>
                <a:spcPts val="0"/>
              </a:spcBef>
              <a:spcAft>
                <a:spcPts val="0"/>
              </a:spcAft>
              <a:buClr>
                <a:srgbClr val="000000"/>
              </a:buClr>
              <a:buSzPts val="500"/>
              <a:buFont typeface="Arial"/>
              <a:buNone/>
            </a:pPr>
            <a:r>
              <a:t/>
            </a:r>
            <a:endParaRPr b="0" i="0" sz="500" u="none" cap="none" strike="noStrike">
              <a:solidFill>
                <a:srgbClr val="01123F"/>
              </a:solidFill>
              <a:latin typeface="Calibri"/>
              <a:ea typeface="Calibri"/>
              <a:cs typeface="Calibri"/>
              <a:sym typeface="Calibri"/>
            </a:endParaRPr>
          </a:p>
          <a:p>
            <a:pPr indent="-88900" lvl="0" marL="114300" marR="0" rtl="0" algn="l">
              <a:lnSpc>
                <a:spcPct val="92000"/>
              </a:lnSpc>
              <a:spcBef>
                <a:spcPts val="0"/>
              </a:spcBef>
              <a:spcAft>
                <a:spcPts val="0"/>
              </a:spcAft>
              <a:buClr>
                <a:srgbClr val="01123F"/>
              </a:buClr>
              <a:buSzPts val="500"/>
              <a:buFont typeface="Poppins Light"/>
              <a:buChar char="●"/>
            </a:pPr>
            <a:r>
              <a:rPr b="0" i="0" lang="en" sz="800" u="none" cap="none" strike="noStrike">
                <a:solidFill>
                  <a:srgbClr val="01123F"/>
                </a:solidFill>
                <a:latin typeface="Calibri"/>
                <a:ea typeface="Calibri"/>
                <a:cs typeface="Calibri"/>
                <a:sym typeface="Calibri"/>
              </a:rPr>
              <a:t>Centralize visibility across on-prem, hybrid, cloud, code with UVM</a:t>
            </a:r>
            <a:endParaRPr b="0" i="0" sz="800" u="none" cap="none" strike="noStrike">
              <a:solidFill>
                <a:srgbClr val="01123F"/>
              </a:solidFill>
              <a:latin typeface="Calibri"/>
              <a:ea typeface="Calibri"/>
              <a:cs typeface="Calibri"/>
              <a:sym typeface="Calibri"/>
            </a:endParaRPr>
          </a:p>
        </p:txBody>
      </p:sp>
      <p:cxnSp>
        <p:nvCxnSpPr>
          <p:cNvPr id="653" name="Google Shape;653;p57"/>
          <p:cNvCxnSpPr/>
          <p:nvPr/>
        </p:nvCxnSpPr>
        <p:spPr>
          <a:xfrm flipH="1" rot="10800000">
            <a:off x="8809750" y="306800"/>
            <a:ext cx="100" cy="4836700"/>
          </a:xfrm>
          <a:prstGeom prst="straightConnector1">
            <a:avLst/>
          </a:prstGeom>
          <a:noFill/>
          <a:ln cap="flat" cmpd="sng" w="9525">
            <a:solidFill>
              <a:srgbClr val="0254EC"/>
            </a:solidFill>
            <a:prstDash val="solid"/>
            <a:round/>
            <a:headEnd len="sm" w="sm" type="none"/>
            <a:tailEnd len="sm" w="sm" type="none"/>
          </a:ln>
        </p:spPr>
      </p:cxnSp>
      <p:sp>
        <p:nvSpPr>
          <p:cNvPr id="654" name="Google Shape;654;p57"/>
          <p:cNvSpPr txBox="1"/>
          <p:nvPr/>
        </p:nvSpPr>
        <p:spPr>
          <a:xfrm>
            <a:off x="6929000" y="3214200"/>
            <a:ext cx="1732800" cy="800189"/>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Goal: Harden the SDLC while maintaining “Zero Criticals” and SLA compliance requirements</a:t>
            </a:r>
            <a:endParaRPr b="0" i="0" sz="1000" u="none" cap="none" strike="noStrike">
              <a:solidFill>
                <a:schemeClr val="dk1"/>
              </a:solidFill>
              <a:latin typeface="Calibri"/>
              <a:ea typeface="Calibri"/>
              <a:cs typeface="Calibri"/>
              <a:sym typeface="Calibri"/>
            </a:endParaRPr>
          </a:p>
        </p:txBody>
      </p:sp>
      <p:cxnSp>
        <p:nvCxnSpPr>
          <p:cNvPr id="655" name="Google Shape;655;p57"/>
          <p:cNvCxnSpPr/>
          <p:nvPr/>
        </p:nvCxnSpPr>
        <p:spPr>
          <a:xfrm>
            <a:off x="6804671" y="3138012"/>
            <a:ext cx="2005500" cy="0"/>
          </a:xfrm>
          <a:prstGeom prst="straightConnector1">
            <a:avLst/>
          </a:prstGeom>
          <a:noFill/>
          <a:ln cap="flat" cmpd="sng" w="9525">
            <a:solidFill>
              <a:srgbClr val="0254EC"/>
            </a:solidFill>
            <a:prstDash val="solid"/>
            <a:round/>
            <a:headEnd len="sm" w="sm" type="none"/>
            <a:tailEnd len="sm" w="sm" type="none"/>
          </a:ln>
        </p:spPr>
      </p:cxnSp>
      <p:cxnSp>
        <p:nvCxnSpPr>
          <p:cNvPr id="656" name="Google Shape;656;p57"/>
          <p:cNvCxnSpPr/>
          <p:nvPr/>
        </p:nvCxnSpPr>
        <p:spPr>
          <a:xfrm>
            <a:off x="805008" y="4325009"/>
            <a:ext cx="2005500" cy="0"/>
          </a:xfrm>
          <a:prstGeom prst="straightConnector1">
            <a:avLst/>
          </a:prstGeom>
          <a:noFill/>
          <a:ln cap="flat" cmpd="sng" w="9525">
            <a:solidFill>
              <a:srgbClr val="0254EC"/>
            </a:solidFill>
            <a:prstDash val="solid"/>
            <a:round/>
            <a:headEnd len="sm" w="sm" type="none"/>
            <a:tailEnd len="sm" w="sm" type="none"/>
          </a:ln>
        </p:spPr>
      </p:cxnSp>
      <p:cxnSp>
        <p:nvCxnSpPr>
          <p:cNvPr id="657" name="Google Shape;657;p57"/>
          <p:cNvCxnSpPr/>
          <p:nvPr/>
        </p:nvCxnSpPr>
        <p:spPr>
          <a:xfrm>
            <a:off x="4808759" y="3675191"/>
            <a:ext cx="2000400" cy="0"/>
          </a:xfrm>
          <a:prstGeom prst="straightConnector1">
            <a:avLst/>
          </a:prstGeom>
          <a:noFill/>
          <a:ln cap="flat" cmpd="sng" w="9525">
            <a:solidFill>
              <a:srgbClr val="0254EC"/>
            </a:solidFill>
            <a:prstDash val="solid"/>
            <a:round/>
            <a:headEnd len="sm" w="sm" type="none"/>
            <a:tailEnd len="sm" w="sm" type="none"/>
          </a:ln>
        </p:spPr>
      </p:cxnSp>
      <p:cxnSp>
        <p:nvCxnSpPr>
          <p:cNvPr id="658" name="Google Shape;658;p57"/>
          <p:cNvCxnSpPr/>
          <p:nvPr/>
        </p:nvCxnSpPr>
        <p:spPr>
          <a:xfrm>
            <a:off x="2820861" y="3916487"/>
            <a:ext cx="1982700" cy="0"/>
          </a:xfrm>
          <a:prstGeom prst="straightConnector1">
            <a:avLst/>
          </a:prstGeom>
          <a:noFill/>
          <a:ln cap="flat" cmpd="sng" w="9525">
            <a:solidFill>
              <a:srgbClr val="0254EC"/>
            </a:solidFill>
            <a:prstDash val="solid"/>
            <a:round/>
            <a:headEnd len="sm" w="sm" type="none"/>
            <a:tailEnd len="sm" w="sm" type="none"/>
          </a:ln>
        </p:spPr>
      </p:cxnSp>
      <p:sp>
        <p:nvSpPr>
          <p:cNvPr id="659" name="Google Shape;659;p57"/>
          <p:cNvSpPr txBox="1"/>
          <p:nvPr/>
        </p:nvSpPr>
        <p:spPr>
          <a:xfrm>
            <a:off x="904675" y="4416650"/>
            <a:ext cx="1732800" cy="646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Goal: Full visibility into vulnerabilities across all environments</a:t>
            </a:r>
            <a:endParaRPr b="0" i="0" sz="1000" u="none" cap="none" strike="noStrike">
              <a:solidFill>
                <a:schemeClr val="dk1"/>
              </a:solidFill>
              <a:latin typeface="Calibri"/>
              <a:ea typeface="Calibri"/>
              <a:cs typeface="Calibri"/>
              <a:sym typeface="Calibri"/>
            </a:endParaRPr>
          </a:p>
        </p:txBody>
      </p:sp>
      <p:sp>
        <p:nvSpPr>
          <p:cNvPr id="660" name="Google Shape;660;p57"/>
          <p:cNvSpPr txBox="1"/>
          <p:nvPr/>
        </p:nvSpPr>
        <p:spPr>
          <a:xfrm>
            <a:off x="2942638" y="3992675"/>
            <a:ext cx="1732800" cy="492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Goal: Achieve “Zero Critical” Risk Issues</a:t>
            </a:r>
            <a:endParaRPr b="0" i="0" sz="1000" u="none" cap="none" strike="noStrike">
              <a:solidFill>
                <a:schemeClr val="dk1"/>
              </a:solidFill>
              <a:latin typeface="Calibri"/>
              <a:ea typeface="Calibri"/>
              <a:cs typeface="Calibri"/>
              <a:sym typeface="Calibri"/>
            </a:endParaRPr>
          </a:p>
        </p:txBody>
      </p:sp>
      <p:sp>
        <p:nvSpPr>
          <p:cNvPr id="661" name="Google Shape;661;p57"/>
          <p:cNvSpPr txBox="1"/>
          <p:nvPr/>
        </p:nvSpPr>
        <p:spPr>
          <a:xfrm>
            <a:off x="4934925" y="3751400"/>
            <a:ext cx="1732800" cy="492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Goal: Meet all SLAs for Posture Issues</a:t>
            </a:r>
            <a:endParaRPr b="0" i="0" sz="1000" u="none" cap="none" strike="noStrike">
              <a:solidFill>
                <a:schemeClr val="dk1"/>
              </a:solidFill>
              <a:latin typeface="Calibri"/>
              <a:ea typeface="Calibri"/>
              <a:cs typeface="Calibri"/>
              <a:sym typeface="Calibri"/>
            </a:endParaRPr>
          </a:p>
        </p:txBody>
      </p:sp>
      <p:pic>
        <p:nvPicPr>
          <p:cNvPr id="662" name="Google Shape;662;p57" title="Group 1000004546.png"/>
          <p:cNvPicPr preferRelativeResize="0"/>
          <p:nvPr/>
        </p:nvPicPr>
        <p:blipFill rotWithShape="1">
          <a:blip r:embed="rId4">
            <a:alphaModFix/>
          </a:blip>
          <a:srcRect b="0" l="0" r="0" t="0"/>
          <a:stretch/>
        </p:blipFill>
        <p:spPr>
          <a:xfrm>
            <a:off x="6717625" y="465775"/>
            <a:ext cx="883400" cy="883400"/>
          </a:xfrm>
          <a:prstGeom prst="rect">
            <a:avLst/>
          </a:prstGeom>
          <a:noFill/>
          <a:ln>
            <a:noFill/>
          </a:ln>
        </p:spPr>
      </p:pic>
      <p:pic>
        <p:nvPicPr>
          <p:cNvPr id="663" name="Google Shape;663;p57" title="Group 1000004545.png"/>
          <p:cNvPicPr preferRelativeResize="0"/>
          <p:nvPr/>
        </p:nvPicPr>
        <p:blipFill rotWithShape="1">
          <a:blip r:embed="rId5">
            <a:alphaModFix/>
          </a:blip>
          <a:srcRect b="0" l="0" r="0" t="0"/>
          <a:stretch/>
        </p:blipFill>
        <p:spPr>
          <a:xfrm>
            <a:off x="4685600" y="1077601"/>
            <a:ext cx="883400" cy="883400"/>
          </a:xfrm>
          <a:prstGeom prst="rect">
            <a:avLst/>
          </a:prstGeom>
          <a:noFill/>
          <a:ln>
            <a:noFill/>
          </a:ln>
        </p:spPr>
      </p:pic>
      <p:pic>
        <p:nvPicPr>
          <p:cNvPr id="664" name="Google Shape;664;p57" title="Group 1000004543_1.png"/>
          <p:cNvPicPr preferRelativeResize="0"/>
          <p:nvPr/>
        </p:nvPicPr>
        <p:blipFill rotWithShape="1">
          <a:blip r:embed="rId6">
            <a:alphaModFix/>
          </a:blip>
          <a:srcRect b="0" l="0" r="0" t="0"/>
          <a:stretch/>
        </p:blipFill>
        <p:spPr>
          <a:xfrm>
            <a:off x="685650" y="2277531"/>
            <a:ext cx="883400" cy="883400"/>
          </a:xfrm>
          <a:prstGeom prst="rect">
            <a:avLst/>
          </a:prstGeom>
          <a:noFill/>
          <a:ln>
            <a:noFill/>
          </a:ln>
        </p:spPr>
      </p:pic>
      <p:pic>
        <p:nvPicPr>
          <p:cNvPr id="665" name="Google Shape;665;p57" title="Group 1000004544.png"/>
          <p:cNvPicPr preferRelativeResize="0"/>
          <p:nvPr/>
        </p:nvPicPr>
        <p:blipFill rotWithShape="1">
          <a:blip r:embed="rId7">
            <a:alphaModFix/>
          </a:blip>
          <a:srcRect b="0" l="0" r="0" t="0"/>
          <a:stretch/>
        </p:blipFill>
        <p:spPr>
          <a:xfrm>
            <a:off x="2698497" y="1693375"/>
            <a:ext cx="883400" cy="883400"/>
          </a:xfrm>
          <a:prstGeom prst="rect">
            <a:avLst/>
          </a:prstGeom>
          <a:noFill/>
          <a:ln>
            <a:noFill/>
          </a:ln>
        </p:spPr>
      </p:pic>
      <p:sp>
        <p:nvSpPr>
          <p:cNvPr id="666" name="Google Shape;666;p57"/>
          <p:cNvSpPr/>
          <p:nvPr/>
        </p:nvSpPr>
        <p:spPr>
          <a:xfrm>
            <a:off x="3212396" y="629773"/>
            <a:ext cx="1453800" cy="252300"/>
          </a:xfrm>
          <a:prstGeom prst="roundRect">
            <a:avLst>
              <a:gd fmla="val 50000" name="adj"/>
            </a:avLst>
          </a:prstGeom>
          <a:solidFill>
            <a:srgbClr val="FFFFFF"/>
          </a:solidFill>
          <a:ln cap="flat" cmpd="sng" w="11350">
            <a:solidFill>
              <a:srgbClr val="CADAFF"/>
            </a:solidFill>
            <a:prstDash val="solid"/>
            <a:miter lim="0"/>
            <a:headEnd len="sm" w="sm" type="none"/>
            <a:tailEnd len="sm" w="sm" type="none"/>
          </a:ln>
        </p:spPr>
        <p:txBody>
          <a:bodyPr anchorCtr="0" anchor="t" bIns="30650" lIns="61300" spcFirstLastPara="1" rIns="61300" wrap="square" tIns="30650">
            <a:noAutofit/>
          </a:bodyPr>
          <a:lstStyle/>
          <a:p>
            <a:pPr indent="0" lvl="0" marL="0" marR="0" rtl="0" algn="ctr">
              <a:lnSpc>
                <a:spcPct val="100000"/>
              </a:lnSpc>
              <a:spcBef>
                <a:spcPts val="0"/>
              </a:spcBef>
              <a:spcAft>
                <a:spcPts val="0"/>
              </a:spcAft>
              <a:buClr>
                <a:srgbClr val="0153EB"/>
              </a:buClr>
              <a:buSzPts val="596"/>
              <a:buFont typeface="Calibri"/>
              <a:buNone/>
            </a:pPr>
            <a:r>
              <a:t/>
            </a:r>
            <a:endParaRPr b="1" i="0" sz="596" u="none" cap="none" strike="noStrike">
              <a:solidFill>
                <a:srgbClr val="000000"/>
              </a:solidFill>
              <a:latin typeface="Calibri"/>
              <a:ea typeface="Calibri"/>
              <a:cs typeface="Calibri"/>
              <a:sym typeface="Calibri"/>
            </a:endParaRPr>
          </a:p>
        </p:txBody>
      </p:sp>
      <p:sp>
        <p:nvSpPr>
          <p:cNvPr id="667" name="Google Shape;667;p57"/>
          <p:cNvSpPr txBox="1"/>
          <p:nvPr/>
        </p:nvSpPr>
        <p:spPr>
          <a:xfrm>
            <a:off x="3497502" y="635426"/>
            <a:ext cx="1289400" cy="247800"/>
          </a:xfrm>
          <a:prstGeom prst="rect">
            <a:avLst/>
          </a:prstGeom>
          <a:noFill/>
          <a:ln>
            <a:noFill/>
          </a:ln>
        </p:spPr>
        <p:txBody>
          <a:bodyPr anchorCtr="0" anchor="t" bIns="40875" lIns="0" spcFirstLastPara="1" rIns="81750" wrap="square" tIns="40875">
            <a:spAutoFit/>
          </a:bodyPr>
          <a:lstStyle/>
          <a:p>
            <a:pPr indent="0" lvl="0" marL="0" marR="0" rtl="0" algn="l">
              <a:lnSpc>
                <a:spcPct val="100000"/>
              </a:lnSpc>
              <a:spcBef>
                <a:spcPts val="0"/>
              </a:spcBef>
              <a:spcAft>
                <a:spcPts val="0"/>
              </a:spcAft>
              <a:buClr>
                <a:srgbClr val="0153EB"/>
              </a:buClr>
              <a:buSzPts val="1073"/>
              <a:buFont typeface="DM Sans Medium"/>
              <a:buNone/>
            </a:pPr>
            <a:r>
              <a:rPr b="0" i="0" lang="en" sz="1073" u="none" cap="none" strike="noStrike">
                <a:solidFill>
                  <a:srgbClr val="0153EB"/>
                </a:solidFill>
                <a:latin typeface="Calibri"/>
                <a:ea typeface="Calibri"/>
                <a:cs typeface="Calibri"/>
                <a:sym typeface="Calibri"/>
              </a:rPr>
              <a:t>Where are you?</a:t>
            </a:r>
            <a:endParaRPr b="0" i="0" sz="1311" u="none" cap="none" strike="noStrike">
              <a:solidFill>
                <a:srgbClr val="000000"/>
              </a:solidFill>
              <a:latin typeface="Calibri"/>
              <a:ea typeface="Calibri"/>
              <a:cs typeface="Calibri"/>
              <a:sym typeface="Calibri"/>
            </a:endParaRPr>
          </a:p>
        </p:txBody>
      </p:sp>
      <p:pic>
        <p:nvPicPr>
          <p:cNvPr id="668" name="Google Shape;668;p57" title="icon.png"/>
          <p:cNvPicPr preferRelativeResize="0"/>
          <p:nvPr/>
        </p:nvPicPr>
        <p:blipFill rotWithShape="1">
          <a:blip r:embed="rId8">
            <a:alphaModFix/>
          </a:blip>
          <a:srcRect b="0" l="0" r="0" t="0"/>
          <a:stretch/>
        </p:blipFill>
        <p:spPr>
          <a:xfrm>
            <a:off x="3149780" y="617823"/>
            <a:ext cx="272612" cy="27261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3" name="Shape 673"/>
        <p:cNvGrpSpPr/>
        <p:nvPr/>
      </p:nvGrpSpPr>
      <p:grpSpPr>
        <a:xfrm>
          <a:off x="0" y="0"/>
          <a:ext cx="0" cy="0"/>
          <a:chOff x="0" y="0"/>
          <a:chExt cx="0" cy="0"/>
        </a:xfrm>
      </p:grpSpPr>
      <p:sp>
        <p:nvSpPr>
          <p:cNvPr id="674" name="Google Shape;674;p58"/>
          <p:cNvSpPr txBox="1"/>
          <p:nvPr>
            <p:ph idx="4294967295" type="title"/>
          </p:nvPr>
        </p:nvSpPr>
        <p:spPr>
          <a:xfrm>
            <a:off x="150" y="166650"/>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Cloud Security Posture Snapshot</a:t>
            </a:r>
            <a:endParaRPr sz="2420">
              <a:latin typeface="Calibri"/>
              <a:ea typeface="Calibri"/>
              <a:cs typeface="Calibri"/>
              <a:sym typeface="Calibri"/>
            </a:endParaRPr>
          </a:p>
        </p:txBody>
      </p:sp>
      <p:pic>
        <p:nvPicPr>
          <p:cNvPr id="675" name="Google Shape;675;p58"/>
          <p:cNvPicPr preferRelativeResize="0"/>
          <p:nvPr/>
        </p:nvPicPr>
        <p:blipFill rotWithShape="1">
          <a:blip r:embed="rId3">
            <a:alphaModFix/>
          </a:blip>
          <a:srcRect b="0" l="0" r="0" t="0"/>
          <a:stretch/>
        </p:blipFill>
        <p:spPr>
          <a:xfrm>
            <a:off x="328386" y="891625"/>
            <a:ext cx="2104822" cy="1177356"/>
          </a:xfrm>
          <a:prstGeom prst="rect">
            <a:avLst/>
          </a:prstGeom>
          <a:noFill/>
          <a:ln cap="flat" cmpd="sng" w="9525">
            <a:solidFill>
              <a:schemeClr val="accent1"/>
            </a:solidFill>
            <a:prstDash val="solid"/>
            <a:round/>
            <a:headEnd len="sm" w="sm" type="none"/>
            <a:tailEnd len="sm" w="sm" type="none"/>
          </a:ln>
        </p:spPr>
      </p:pic>
      <p:sp>
        <p:nvSpPr>
          <p:cNvPr id="676" name="Google Shape;676;p58"/>
          <p:cNvSpPr txBox="1"/>
          <p:nvPr/>
        </p:nvSpPr>
        <p:spPr>
          <a:xfrm>
            <a:off x="328224" y="961165"/>
            <a:ext cx="2105100" cy="2691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200" u="none" cap="none" strike="noStrike">
                <a:solidFill>
                  <a:schemeClr val="dk1"/>
                </a:solidFill>
                <a:latin typeface="Calibri"/>
                <a:ea typeface="Calibri"/>
                <a:cs typeface="Calibri"/>
                <a:sym typeface="Calibri"/>
              </a:rPr>
              <a:t>Current Security Score</a:t>
            </a:r>
            <a:endParaRPr b="0" i="0" sz="1200" u="none" cap="none" strike="noStrike">
              <a:solidFill>
                <a:schemeClr val="dk1"/>
              </a:solidFill>
              <a:latin typeface="Calibri"/>
              <a:ea typeface="Calibri"/>
              <a:cs typeface="Calibri"/>
              <a:sym typeface="Calibri"/>
            </a:endParaRPr>
          </a:p>
        </p:txBody>
      </p:sp>
      <p:sp>
        <p:nvSpPr>
          <p:cNvPr id="677" name="Google Shape;677;p58"/>
          <p:cNvSpPr txBox="1"/>
          <p:nvPr/>
        </p:nvSpPr>
        <p:spPr>
          <a:xfrm>
            <a:off x="328682" y="1709240"/>
            <a:ext cx="2104800" cy="401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90 Day Trend {{s1d}}</a:t>
            </a:r>
            <a:endParaRPr b="0" i="0" sz="1000" u="none" cap="none" strike="noStrike">
              <a:solidFill>
                <a:schemeClr val="dk1"/>
              </a:solidFill>
              <a:latin typeface="Calibri"/>
              <a:ea typeface="Calibri"/>
              <a:cs typeface="Calibri"/>
              <a:sym typeface="Calibri"/>
            </a:endParaRPr>
          </a:p>
        </p:txBody>
      </p:sp>
      <p:sp>
        <p:nvSpPr>
          <p:cNvPr id="678" name="Google Shape;678;p58"/>
          <p:cNvSpPr txBox="1"/>
          <p:nvPr/>
        </p:nvSpPr>
        <p:spPr>
          <a:xfrm>
            <a:off x="325825" y="1275254"/>
            <a:ext cx="2104800" cy="342300"/>
          </a:xfrm>
          <a:prstGeom prst="rect">
            <a:avLst/>
          </a:prstGeom>
          <a:noFill/>
          <a:ln>
            <a:noFill/>
          </a:ln>
          <a:effectLst>
            <a:outerShdw blurRad="57150" rotWithShape="0" algn="bl" dir="5400000" dist="19050">
              <a:srgbClr val="674EA7">
                <a:alpha val="56078"/>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100"/>
              <a:buFont typeface="Arial"/>
              <a:buNone/>
            </a:pPr>
            <a:r>
              <a:rPr b="0" i="0" lang="en" sz="2100" u="none" cap="none" strike="noStrike">
                <a:solidFill>
                  <a:srgbClr val="1155CC"/>
                </a:solidFill>
                <a:latin typeface="Calibri"/>
                <a:ea typeface="Calibri"/>
                <a:cs typeface="Calibri"/>
                <a:sym typeface="Calibri"/>
              </a:rPr>
              <a:t>{{SS}}%</a:t>
            </a:r>
            <a:endParaRPr b="0" i="0" sz="2100" u="none" cap="none" strike="noStrike">
              <a:solidFill>
                <a:srgbClr val="1155CC"/>
              </a:solidFill>
              <a:latin typeface="Calibri"/>
              <a:ea typeface="Calibri"/>
              <a:cs typeface="Calibri"/>
              <a:sym typeface="Calibri"/>
            </a:endParaRPr>
          </a:p>
        </p:txBody>
      </p:sp>
      <p:pic>
        <p:nvPicPr>
          <p:cNvPr id="679" name="Google Shape;679;p58"/>
          <p:cNvPicPr preferRelativeResize="0"/>
          <p:nvPr/>
        </p:nvPicPr>
        <p:blipFill rotWithShape="1">
          <a:blip r:embed="rId3">
            <a:alphaModFix/>
          </a:blip>
          <a:srcRect b="0" l="0" r="0" t="0"/>
          <a:stretch/>
        </p:blipFill>
        <p:spPr>
          <a:xfrm>
            <a:off x="2581991" y="897686"/>
            <a:ext cx="2072709" cy="1177356"/>
          </a:xfrm>
          <a:prstGeom prst="rect">
            <a:avLst/>
          </a:prstGeom>
          <a:noFill/>
          <a:ln cap="flat" cmpd="sng" w="9525">
            <a:solidFill>
              <a:schemeClr val="accent1"/>
            </a:solidFill>
            <a:prstDash val="solid"/>
            <a:round/>
            <a:headEnd len="sm" w="sm" type="none"/>
            <a:tailEnd len="sm" w="sm" type="none"/>
          </a:ln>
        </p:spPr>
      </p:pic>
      <p:sp>
        <p:nvSpPr>
          <p:cNvPr id="680" name="Google Shape;680;p58"/>
          <p:cNvSpPr txBox="1"/>
          <p:nvPr/>
        </p:nvSpPr>
        <p:spPr>
          <a:xfrm>
            <a:off x="2581870" y="966862"/>
            <a:ext cx="2067300" cy="2610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200" u="none" cap="none" strike="noStrike">
                <a:solidFill>
                  <a:schemeClr val="dk1"/>
                </a:solidFill>
                <a:latin typeface="Calibri"/>
                <a:ea typeface="Calibri"/>
                <a:cs typeface="Calibri"/>
                <a:sym typeface="Calibri"/>
              </a:rPr>
              <a:t>Industry Benchmark</a:t>
            </a:r>
            <a:endParaRPr b="0" i="0" sz="1200" u="none" cap="none" strike="noStrike">
              <a:solidFill>
                <a:schemeClr val="dk1"/>
              </a:solidFill>
              <a:latin typeface="Calibri"/>
              <a:ea typeface="Calibri"/>
              <a:cs typeface="Calibri"/>
              <a:sym typeface="Calibri"/>
            </a:endParaRPr>
          </a:p>
        </p:txBody>
      </p:sp>
      <p:sp>
        <p:nvSpPr>
          <p:cNvPr id="681" name="Google Shape;681;p58"/>
          <p:cNvSpPr txBox="1"/>
          <p:nvPr/>
        </p:nvSpPr>
        <p:spPr>
          <a:xfrm>
            <a:off x="2582409" y="1756556"/>
            <a:ext cx="2065500" cy="389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chemeClr val="dk1"/>
                </a:solidFill>
                <a:latin typeface="Calibri"/>
                <a:ea typeface="Calibri"/>
                <a:cs typeface="Calibri"/>
                <a:sym typeface="Calibri"/>
              </a:rPr>
              <a:t>Security Score Gap {{SG}}%</a:t>
            </a:r>
            <a:endParaRPr b="0" i="0" sz="900" u="none" cap="none" strike="noStrike">
              <a:solidFill>
                <a:schemeClr val="dk1"/>
              </a:solidFill>
              <a:latin typeface="Calibri"/>
              <a:ea typeface="Calibri"/>
              <a:cs typeface="Calibri"/>
              <a:sym typeface="Calibri"/>
            </a:endParaRPr>
          </a:p>
        </p:txBody>
      </p:sp>
      <p:sp>
        <p:nvSpPr>
          <p:cNvPr id="682" name="Google Shape;682;p58"/>
          <p:cNvSpPr txBox="1"/>
          <p:nvPr/>
        </p:nvSpPr>
        <p:spPr>
          <a:xfrm>
            <a:off x="2580848" y="1468922"/>
            <a:ext cx="2065500" cy="331800"/>
          </a:xfrm>
          <a:prstGeom prst="rect">
            <a:avLst/>
          </a:prstGeom>
          <a:noFill/>
          <a:ln>
            <a:noFill/>
          </a:ln>
          <a:effectLst>
            <a:outerShdw blurRad="57150" rotWithShape="0" algn="bl" dir="5400000" dist="19050">
              <a:srgbClr val="674EA7">
                <a:alpha val="56078"/>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700"/>
              <a:buFont typeface="Arial"/>
              <a:buNone/>
            </a:pPr>
            <a:r>
              <a:rPr b="0" i="0" lang="en" sz="1700" u="none" cap="none" strike="noStrike">
                <a:solidFill>
                  <a:srgbClr val="1155CC"/>
                </a:solidFill>
                <a:latin typeface="Calibri"/>
                <a:ea typeface="Calibri"/>
                <a:cs typeface="Calibri"/>
                <a:sym typeface="Calibri"/>
              </a:rPr>
              <a:t>{{SP}}%</a:t>
            </a:r>
            <a:endParaRPr b="0" i="0" sz="1700" u="none" cap="none" strike="noStrike">
              <a:solidFill>
                <a:srgbClr val="1155CC"/>
              </a:solidFill>
              <a:latin typeface="Calibri"/>
              <a:ea typeface="Calibri"/>
              <a:cs typeface="Calibri"/>
              <a:sym typeface="Calibri"/>
            </a:endParaRPr>
          </a:p>
        </p:txBody>
      </p:sp>
      <p:pic>
        <p:nvPicPr>
          <p:cNvPr id="683" name="Google Shape;683;p58"/>
          <p:cNvPicPr preferRelativeResize="0"/>
          <p:nvPr/>
        </p:nvPicPr>
        <p:blipFill rotWithShape="1">
          <a:blip r:embed="rId3">
            <a:alphaModFix/>
          </a:blip>
          <a:srcRect b="0" l="0" r="0" t="0"/>
          <a:stretch/>
        </p:blipFill>
        <p:spPr>
          <a:xfrm>
            <a:off x="4776020" y="897687"/>
            <a:ext cx="1951974" cy="1177356"/>
          </a:xfrm>
          <a:prstGeom prst="rect">
            <a:avLst/>
          </a:prstGeom>
          <a:noFill/>
          <a:ln cap="flat" cmpd="sng" w="9525">
            <a:solidFill>
              <a:schemeClr val="accent1"/>
            </a:solidFill>
            <a:prstDash val="solid"/>
            <a:round/>
            <a:headEnd len="sm" w="sm" type="none"/>
            <a:tailEnd len="sm" w="sm" type="none"/>
          </a:ln>
        </p:spPr>
      </p:pic>
      <p:sp>
        <p:nvSpPr>
          <p:cNvPr id="684" name="Google Shape;684;p58"/>
          <p:cNvSpPr txBox="1"/>
          <p:nvPr/>
        </p:nvSpPr>
        <p:spPr>
          <a:xfrm>
            <a:off x="4775870" y="955658"/>
            <a:ext cx="1952100" cy="2691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200" u="sng" cap="none" strike="noStrike">
                <a:solidFill>
                  <a:schemeClr val="hlink"/>
                </a:solidFill>
                <a:latin typeface="Calibri"/>
                <a:ea typeface="Calibri"/>
                <a:cs typeface="Calibri"/>
                <a:sym typeface="Calibri"/>
                <a:hlinkClick r:id="rId4"/>
              </a:rPr>
              <a:t>Open Critical Issues</a:t>
            </a:r>
            <a:r>
              <a:rPr b="0" i="0" lang="en" sz="1200" u="none" cap="none" strike="noStrike">
                <a:solidFill>
                  <a:srgbClr val="0254EC"/>
                </a:solidFill>
                <a:latin typeface="Calibri"/>
                <a:ea typeface="Calibri"/>
                <a:cs typeface="Calibri"/>
                <a:sym typeface="Calibri"/>
              </a:rPr>
              <a:t> ↗</a:t>
            </a:r>
            <a:endParaRPr b="0" i="0" sz="1200" u="none" cap="none" strike="noStrike">
              <a:solidFill>
                <a:srgbClr val="0254EC"/>
              </a:solidFill>
              <a:latin typeface="Calibri"/>
              <a:ea typeface="Calibri"/>
              <a:cs typeface="Calibri"/>
              <a:sym typeface="Calibri"/>
            </a:endParaRPr>
          </a:p>
        </p:txBody>
      </p:sp>
      <p:sp>
        <p:nvSpPr>
          <p:cNvPr id="685" name="Google Shape;685;p58"/>
          <p:cNvSpPr txBox="1"/>
          <p:nvPr/>
        </p:nvSpPr>
        <p:spPr>
          <a:xfrm>
            <a:off x="4775970" y="1697930"/>
            <a:ext cx="1952100" cy="401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5"/>
              </a:rPr>
              <a:t>Resolved Criticals </a:t>
            </a:r>
            <a:r>
              <a:rPr b="0" i="0" lang="en" sz="1100" u="none" cap="none" strike="noStrike">
                <a:solidFill>
                  <a:schemeClr val="hlink"/>
                </a:solidFill>
                <a:uFill>
                  <a:noFill/>
                </a:uFill>
                <a:latin typeface="Calibri"/>
                <a:ea typeface="Calibri"/>
                <a:cs typeface="Calibri"/>
                <a:sym typeface="Calibri"/>
                <a:hlinkClick r:id="rId6"/>
              </a:rPr>
              <a:t>↗</a:t>
            </a:r>
            <a:r>
              <a:rPr b="0" i="0" lang="en" sz="1000" u="none" cap="none" strike="noStrike">
                <a:solidFill>
                  <a:srgbClr val="0254EC"/>
                </a:solidFill>
                <a:latin typeface="Calibri"/>
                <a:ea typeface="Calibri"/>
                <a:cs typeface="Calibri"/>
                <a:sym typeface="Calibri"/>
              </a:rPr>
              <a:t> </a:t>
            </a:r>
            <a:r>
              <a:rPr b="1" i="0" lang="en" sz="1000" u="none" cap="none" strike="noStrike">
                <a:solidFill>
                  <a:srgbClr val="0254EC"/>
                </a:solidFill>
                <a:latin typeface="Calibri"/>
                <a:ea typeface="Calibri"/>
                <a:cs typeface="Calibri"/>
                <a:sym typeface="Calibri"/>
              </a:rPr>
              <a:t>{{RC}}</a:t>
            </a:r>
            <a:endParaRPr b="1" i="0" sz="1000" u="none" cap="none" strike="noStrike">
              <a:solidFill>
                <a:srgbClr val="0254EC"/>
              </a:solidFill>
              <a:latin typeface="Calibri"/>
              <a:ea typeface="Calibri"/>
              <a:cs typeface="Calibri"/>
              <a:sym typeface="Calibri"/>
            </a:endParaRPr>
          </a:p>
        </p:txBody>
      </p:sp>
      <p:sp>
        <p:nvSpPr>
          <p:cNvPr id="686" name="Google Shape;686;p58"/>
          <p:cNvSpPr txBox="1"/>
          <p:nvPr/>
        </p:nvSpPr>
        <p:spPr>
          <a:xfrm>
            <a:off x="4773495" y="1274373"/>
            <a:ext cx="1951800" cy="342300"/>
          </a:xfrm>
          <a:prstGeom prst="rect">
            <a:avLst/>
          </a:prstGeom>
          <a:noFill/>
          <a:ln>
            <a:noFill/>
          </a:ln>
          <a:effectLst>
            <a:outerShdw blurRad="57150" rotWithShape="0" algn="bl" dir="5400000" dist="19050">
              <a:srgbClr val="674EA7">
                <a:alpha val="56078"/>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100"/>
              <a:buFont typeface="Arial"/>
              <a:buNone/>
            </a:pPr>
            <a:r>
              <a:rPr b="0" i="0" lang="en" sz="2100" u="none" cap="none" strike="noStrike">
                <a:solidFill>
                  <a:srgbClr val="1155CC"/>
                </a:solidFill>
                <a:latin typeface="Calibri"/>
                <a:ea typeface="Calibri"/>
                <a:cs typeface="Calibri"/>
                <a:sym typeface="Calibri"/>
              </a:rPr>
              <a:t>{{OC}}</a:t>
            </a:r>
            <a:endParaRPr b="0" i="0" sz="2100" u="none" cap="none" strike="noStrike">
              <a:solidFill>
                <a:srgbClr val="1155CC"/>
              </a:solidFill>
              <a:latin typeface="Calibri"/>
              <a:ea typeface="Calibri"/>
              <a:cs typeface="Calibri"/>
              <a:sym typeface="Calibri"/>
            </a:endParaRPr>
          </a:p>
        </p:txBody>
      </p:sp>
      <p:pic>
        <p:nvPicPr>
          <p:cNvPr id="687" name="Google Shape;687;p58"/>
          <p:cNvPicPr preferRelativeResize="0"/>
          <p:nvPr/>
        </p:nvPicPr>
        <p:blipFill rotWithShape="1">
          <a:blip r:embed="rId3">
            <a:alphaModFix/>
          </a:blip>
          <a:srcRect b="0" l="0" r="0" t="0"/>
          <a:stretch/>
        </p:blipFill>
        <p:spPr>
          <a:xfrm>
            <a:off x="6866110" y="897687"/>
            <a:ext cx="1951974" cy="1177356"/>
          </a:xfrm>
          <a:prstGeom prst="rect">
            <a:avLst/>
          </a:prstGeom>
          <a:noFill/>
          <a:ln cap="flat" cmpd="sng" w="9525">
            <a:solidFill>
              <a:schemeClr val="accent1"/>
            </a:solidFill>
            <a:prstDash val="solid"/>
            <a:round/>
            <a:headEnd len="sm" w="sm" type="none"/>
            <a:tailEnd len="sm" w="sm" type="none"/>
          </a:ln>
        </p:spPr>
      </p:pic>
      <p:sp>
        <p:nvSpPr>
          <p:cNvPr id="688" name="Google Shape;688;p58"/>
          <p:cNvSpPr txBox="1"/>
          <p:nvPr/>
        </p:nvSpPr>
        <p:spPr>
          <a:xfrm>
            <a:off x="6865973" y="948265"/>
            <a:ext cx="1952100" cy="2577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200" u="sng" cap="none" strike="noStrike">
                <a:solidFill>
                  <a:schemeClr val="hlink"/>
                </a:solidFill>
                <a:latin typeface="Calibri"/>
                <a:ea typeface="Calibri"/>
                <a:cs typeface="Calibri"/>
                <a:sym typeface="Calibri"/>
                <a:hlinkClick r:id="rId7"/>
              </a:rPr>
              <a:t>Open High Issues</a:t>
            </a:r>
            <a:r>
              <a:rPr b="0" i="0" lang="en" sz="1200" u="none" cap="none" strike="noStrike">
                <a:solidFill>
                  <a:srgbClr val="0254EC"/>
                </a:solidFill>
                <a:latin typeface="Calibri"/>
                <a:ea typeface="Calibri"/>
                <a:cs typeface="Calibri"/>
                <a:sym typeface="Calibri"/>
              </a:rPr>
              <a:t> ↗</a:t>
            </a:r>
            <a:endParaRPr b="0" i="0" sz="1200" u="none" cap="none" strike="noStrike">
              <a:solidFill>
                <a:srgbClr val="0254EC"/>
              </a:solidFill>
              <a:latin typeface="Calibri"/>
              <a:ea typeface="Calibri"/>
              <a:cs typeface="Calibri"/>
              <a:sym typeface="Calibri"/>
            </a:endParaRPr>
          </a:p>
        </p:txBody>
      </p:sp>
      <p:sp>
        <p:nvSpPr>
          <p:cNvPr id="689" name="Google Shape;689;p58"/>
          <p:cNvSpPr txBox="1"/>
          <p:nvPr/>
        </p:nvSpPr>
        <p:spPr>
          <a:xfrm>
            <a:off x="6866072" y="1682413"/>
            <a:ext cx="1952100" cy="384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8"/>
              </a:rPr>
              <a:t>Resolved Highs</a:t>
            </a:r>
            <a:r>
              <a:rPr b="0" i="0" lang="en" sz="1000" u="none" cap="none" strike="noStrike">
                <a:solidFill>
                  <a:srgbClr val="0254EC"/>
                </a:solidFill>
                <a:latin typeface="Calibri"/>
                <a:ea typeface="Calibri"/>
                <a:cs typeface="Calibri"/>
                <a:sym typeface="Calibri"/>
              </a:rPr>
              <a:t> </a:t>
            </a:r>
            <a:r>
              <a:rPr b="0" i="0" lang="en" sz="1100" u="none" cap="none" strike="noStrike">
                <a:solidFill>
                  <a:schemeClr val="hlink"/>
                </a:solidFill>
                <a:uFill>
                  <a:noFill/>
                </a:uFill>
                <a:latin typeface="Calibri"/>
                <a:ea typeface="Calibri"/>
                <a:cs typeface="Calibri"/>
                <a:sym typeface="Calibri"/>
                <a:hlinkClick r:id="rId9"/>
              </a:rPr>
              <a:t>↗</a:t>
            </a:r>
            <a:r>
              <a:rPr b="0" i="0" lang="en" sz="1000" u="none" cap="none" strike="noStrike">
                <a:solidFill>
                  <a:srgbClr val="0254EC"/>
                </a:solidFill>
                <a:latin typeface="Calibri"/>
                <a:ea typeface="Calibri"/>
                <a:cs typeface="Calibri"/>
                <a:sym typeface="Calibri"/>
              </a:rPr>
              <a:t> </a:t>
            </a:r>
            <a:r>
              <a:rPr b="1" i="0" lang="en" sz="1000" u="none" cap="none" strike="noStrike">
                <a:solidFill>
                  <a:srgbClr val="0254EC"/>
                </a:solidFill>
                <a:latin typeface="Calibri"/>
                <a:ea typeface="Calibri"/>
                <a:cs typeface="Calibri"/>
                <a:sym typeface="Calibri"/>
              </a:rPr>
              <a:t>{{RH}}</a:t>
            </a:r>
            <a:endParaRPr b="1" i="0" sz="900" u="none" cap="none" strike="noStrike">
              <a:solidFill>
                <a:srgbClr val="0254EC"/>
              </a:solidFill>
              <a:latin typeface="Calibri"/>
              <a:ea typeface="Calibri"/>
              <a:cs typeface="Calibri"/>
              <a:sym typeface="Calibri"/>
            </a:endParaRPr>
          </a:p>
        </p:txBody>
      </p:sp>
      <p:sp>
        <p:nvSpPr>
          <p:cNvPr id="690" name="Google Shape;690;p58"/>
          <p:cNvSpPr txBox="1"/>
          <p:nvPr/>
        </p:nvSpPr>
        <p:spPr>
          <a:xfrm>
            <a:off x="6863397" y="1267303"/>
            <a:ext cx="1952100" cy="327300"/>
          </a:xfrm>
          <a:prstGeom prst="rect">
            <a:avLst/>
          </a:prstGeom>
          <a:noFill/>
          <a:ln>
            <a:noFill/>
          </a:ln>
          <a:effectLst>
            <a:outerShdw blurRad="57150" rotWithShape="0" algn="bl" dir="5400000" dist="19050">
              <a:srgbClr val="674EA7">
                <a:alpha val="56078"/>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100"/>
              <a:buFont typeface="Arial"/>
              <a:buNone/>
            </a:pPr>
            <a:r>
              <a:rPr b="0" i="0" lang="en" sz="2100" u="none" cap="none" strike="noStrike">
                <a:solidFill>
                  <a:srgbClr val="1155CC"/>
                </a:solidFill>
                <a:latin typeface="Calibri"/>
                <a:ea typeface="Calibri"/>
                <a:cs typeface="Calibri"/>
                <a:sym typeface="Calibri"/>
              </a:rPr>
              <a:t>{{OH}}</a:t>
            </a:r>
            <a:endParaRPr b="0" i="0" sz="2100" u="none" cap="none" strike="noStrike">
              <a:solidFill>
                <a:srgbClr val="1155CC"/>
              </a:solidFill>
              <a:latin typeface="Calibri"/>
              <a:ea typeface="Calibri"/>
              <a:cs typeface="Calibri"/>
              <a:sym typeface="Calibri"/>
            </a:endParaRPr>
          </a:p>
        </p:txBody>
      </p:sp>
      <p:pic>
        <p:nvPicPr>
          <p:cNvPr id="691" name="Google Shape;691;p58"/>
          <p:cNvPicPr preferRelativeResize="0"/>
          <p:nvPr/>
        </p:nvPicPr>
        <p:blipFill rotWithShape="1">
          <a:blip r:embed="rId3">
            <a:alphaModFix/>
          </a:blip>
          <a:srcRect b="0" l="0" r="0" t="0"/>
          <a:stretch/>
        </p:blipFill>
        <p:spPr>
          <a:xfrm>
            <a:off x="331250" y="2224649"/>
            <a:ext cx="2100500" cy="1268051"/>
          </a:xfrm>
          <a:prstGeom prst="rect">
            <a:avLst/>
          </a:prstGeom>
          <a:noFill/>
          <a:ln cap="flat" cmpd="sng" w="9525">
            <a:solidFill>
              <a:schemeClr val="accent1"/>
            </a:solidFill>
            <a:prstDash val="solid"/>
            <a:round/>
            <a:headEnd len="sm" w="sm" type="none"/>
            <a:tailEnd len="sm" w="sm" type="none"/>
          </a:ln>
        </p:spPr>
      </p:pic>
      <p:sp>
        <p:nvSpPr>
          <p:cNvPr id="692" name="Google Shape;692;p58"/>
          <p:cNvSpPr txBox="1"/>
          <p:nvPr/>
        </p:nvSpPr>
        <p:spPr>
          <a:xfrm>
            <a:off x="331089" y="2303994"/>
            <a:ext cx="2100600" cy="2691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200" u="none" cap="none" strike="noStrike">
                <a:solidFill>
                  <a:schemeClr val="dk1"/>
                </a:solidFill>
                <a:latin typeface="Calibri"/>
                <a:ea typeface="Calibri"/>
                <a:cs typeface="Calibri"/>
                <a:sym typeface="Calibri"/>
              </a:rPr>
              <a:t>Ignored Issues</a:t>
            </a:r>
            <a:endParaRPr b="0" i="0" sz="1200" u="none" cap="none" strike="noStrike">
              <a:solidFill>
                <a:schemeClr val="dk1"/>
              </a:solidFill>
              <a:latin typeface="Calibri"/>
              <a:ea typeface="Calibri"/>
              <a:cs typeface="Calibri"/>
              <a:sym typeface="Calibri"/>
            </a:endParaRPr>
          </a:p>
        </p:txBody>
      </p:sp>
      <p:sp>
        <p:nvSpPr>
          <p:cNvPr id="693" name="Google Shape;693;p58"/>
          <p:cNvSpPr txBox="1"/>
          <p:nvPr/>
        </p:nvSpPr>
        <p:spPr>
          <a:xfrm>
            <a:off x="331546" y="3000634"/>
            <a:ext cx="2100300" cy="401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sng" cap="none" strike="noStrike">
                <a:solidFill>
                  <a:schemeClr val="hlink"/>
                </a:solidFill>
                <a:latin typeface="Calibri"/>
                <a:ea typeface="Calibri"/>
                <a:cs typeface="Calibri"/>
                <a:sym typeface="Calibri"/>
                <a:hlinkClick r:id="rId10"/>
              </a:rPr>
              <a:t>Total Ignored Issues</a:t>
            </a:r>
            <a:endParaRPr b="0" i="0" sz="1000" u="none" cap="none" strike="noStrike">
              <a:solidFill>
                <a:srgbClr val="0254EC"/>
              </a:solidFill>
              <a:latin typeface="Calibri"/>
              <a:ea typeface="Calibri"/>
              <a:cs typeface="Calibri"/>
              <a:sym typeface="Calibri"/>
            </a:endParaRPr>
          </a:p>
        </p:txBody>
      </p:sp>
      <p:sp>
        <p:nvSpPr>
          <p:cNvPr id="694" name="Google Shape;694;p58"/>
          <p:cNvSpPr txBox="1"/>
          <p:nvPr/>
        </p:nvSpPr>
        <p:spPr>
          <a:xfrm>
            <a:off x="328694" y="2629117"/>
            <a:ext cx="2100300" cy="342300"/>
          </a:xfrm>
          <a:prstGeom prst="rect">
            <a:avLst/>
          </a:prstGeom>
          <a:noFill/>
          <a:ln>
            <a:noFill/>
          </a:ln>
          <a:effectLst>
            <a:outerShdw blurRad="57150" rotWithShape="0" algn="bl" dir="5400000" dist="19050">
              <a:srgbClr val="674EA7">
                <a:alpha val="56078"/>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100"/>
              <a:buFont typeface="Arial"/>
              <a:buNone/>
            </a:pPr>
            <a:r>
              <a:rPr b="0" i="0" lang="en" sz="2100" u="none" cap="none" strike="noStrike">
                <a:solidFill>
                  <a:srgbClr val="1155CC"/>
                </a:solidFill>
                <a:latin typeface="Calibri"/>
                <a:ea typeface="Calibri"/>
                <a:cs typeface="Calibri"/>
                <a:sym typeface="Calibri"/>
              </a:rPr>
              <a:t>{{RJ}}</a:t>
            </a:r>
            <a:endParaRPr b="0" i="0" sz="2100" u="none" cap="none" strike="noStrike">
              <a:solidFill>
                <a:srgbClr val="1155CC"/>
              </a:solidFill>
              <a:latin typeface="Calibri"/>
              <a:ea typeface="Calibri"/>
              <a:cs typeface="Calibri"/>
              <a:sym typeface="Calibri"/>
            </a:endParaRPr>
          </a:p>
        </p:txBody>
      </p:sp>
      <p:pic>
        <p:nvPicPr>
          <p:cNvPr id="695" name="Google Shape;695;p58"/>
          <p:cNvPicPr preferRelativeResize="0"/>
          <p:nvPr/>
        </p:nvPicPr>
        <p:blipFill rotWithShape="1">
          <a:blip r:embed="rId3">
            <a:alphaModFix/>
          </a:blip>
          <a:srcRect b="0" l="0" r="0" t="0"/>
          <a:stretch/>
        </p:blipFill>
        <p:spPr>
          <a:xfrm>
            <a:off x="2586575" y="2230725"/>
            <a:ext cx="2100372" cy="1268051"/>
          </a:xfrm>
          <a:prstGeom prst="rect">
            <a:avLst/>
          </a:prstGeom>
          <a:noFill/>
          <a:ln cap="flat" cmpd="sng" w="9525">
            <a:solidFill>
              <a:schemeClr val="accent1"/>
            </a:solidFill>
            <a:prstDash val="solid"/>
            <a:round/>
            <a:headEnd len="sm" w="sm" type="none"/>
            <a:tailEnd len="sm" w="sm" type="none"/>
          </a:ln>
        </p:spPr>
      </p:pic>
      <p:sp>
        <p:nvSpPr>
          <p:cNvPr id="696" name="Google Shape;696;p58"/>
          <p:cNvSpPr txBox="1"/>
          <p:nvPr/>
        </p:nvSpPr>
        <p:spPr>
          <a:xfrm>
            <a:off x="2586459" y="2311150"/>
            <a:ext cx="2100300" cy="2772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200" u="sng" cap="none" strike="noStrike">
                <a:solidFill>
                  <a:schemeClr val="hlink"/>
                </a:solidFill>
                <a:latin typeface="Calibri"/>
                <a:ea typeface="Calibri"/>
                <a:cs typeface="Calibri"/>
                <a:sym typeface="Calibri"/>
                <a:hlinkClick r:id="rId11"/>
              </a:rPr>
              <a:t>AI Findings</a:t>
            </a:r>
            <a:r>
              <a:rPr b="0" i="0" lang="en" sz="1200" u="none" cap="none" strike="noStrike">
                <a:solidFill>
                  <a:srgbClr val="0254EC"/>
                </a:solidFill>
                <a:latin typeface="Calibri"/>
                <a:ea typeface="Calibri"/>
                <a:cs typeface="Calibri"/>
                <a:sym typeface="Calibri"/>
              </a:rPr>
              <a:t> ↗</a:t>
            </a:r>
            <a:endParaRPr b="0" i="0" sz="1200" u="none" cap="none" strike="noStrike">
              <a:solidFill>
                <a:srgbClr val="0254EC"/>
              </a:solidFill>
              <a:latin typeface="Calibri"/>
              <a:ea typeface="Calibri"/>
              <a:cs typeface="Calibri"/>
              <a:sym typeface="Calibri"/>
            </a:endParaRPr>
          </a:p>
        </p:txBody>
      </p:sp>
      <p:sp>
        <p:nvSpPr>
          <p:cNvPr id="697" name="Google Shape;697;p58"/>
          <p:cNvSpPr txBox="1"/>
          <p:nvPr/>
        </p:nvSpPr>
        <p:spPr>
          <a:xfrm>
            <a:off x="2583825" y="2603552"/>
            <a:ext cx="2100300" cy="1018800"/>
          </a:xfrm>
          <a:prstGeom prst="rect">
            <a:avLst/>
          </a:prstGeom>
          <a:noFill/>
          <a:ln>
            <a:noFill/>
          </a:ln>
        </p:spPr>
        <p:txBody>
          <a:bodyPr anchorCtr="0" anchor="t" bIns="91425" lIns="91425" spcFirstLastPara="1" rIns="91425" wrap="square" tIns="91425">
            <a:noAutofit/>
          </a:bodyPr>
          <a:lstStyle/>
          <a:p>
            <a:pPr indent="0" lvl="0" marL="0" marR="0" rtl="0" algn="l">
              <a:lnSpc>
                <a:spcPct val="150000"/>
              </a:lnSpc>
              <a:spcBef>
                <a:spcPts val="0"/>
              </a:spcBef>
              <a:spcAft>
                <a:spcPts val="0"/>
              </a:spcAft>
              <a:buClr>
                <a:srgbClr val="000000"/>
              </a:buClr>
              <a:buSzPts val="1000"/>
              <a:buFont typeface="Arial"/>
              <a:buNone/>
            </a:pPr>
            <a:r>
              <a:rPr b="0" i="0" lang="en" sz="1000" u="none" cap="none" strike="noStrike">
                <a:solidFill>
                  <a:srgbClr val="1155CC"/>
                </a:solidFill>
                <a:latin typeface="Calibri"/>
                <a:ea typeface="Calibri"/>
                <a:cs typeface="Calibri"/>
                <a:sym typeface="Calibri"/>
              </a:rPr>
              <a:t>Security Findings: {{AI_SF}}</a:t>
            </a:r>
            <a:br>
              <a:rPr b="0" i="0" lang="en" sz="1000" u="none" cap="none" strike="noStrike">
                <a:solidFill>
                  <a:srgbClr val="1155CC"/>
                </a:solidFill>
                <a:latin typeface="Calibri"/>
                <a:ea typeface="Calibri"/>
                <a:cs typeface="Calibri"/>
                <a:sym typeface="Calibri"/>
              </a:rPr>
            </a:br>
            <a:r>
              <a:rPr b="0" i="0" lang="en" sz="1000" u="none" cap="none" strike="noStrike">
                <a:solidFill>
                  <a:srgbClr val="1155CC"/>
                </a:solidFill>
                <a:latin typeface="Calibri"/>
                <a:ea typeface="Calibri"/>
                <a:cs typeface="Calibri"/>
                <a:sym typeface="Calibri"/>
              </a:rPr>
              <a:t>Configuration Findings: {{AI_MF}}</a:t>
            </a:r>
            <a:endParaRPr b="0" i="0" sz="1000" u="none" cap="none" strike="noStrike">
              <a:solidFill>
                <a:srgbClr val="1155CC"/>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1000"/>
              <a:buFont typeface="Arial"/>
              <a:buNone/>
            </a:pPr>
            <a:r>
              <a:rPr b="0" i="0" lang="en" sz="1000" u="none" cap="none" strike="noStrike">
                <a:solidFill>
                  <a:srgbClr val="1155CC"/>
                </a:solidFill>
                <a:latin typeface="Calibri"/>
                <a:ea typeface="Calibri"/>
                <a:cs typeface="Calibri"/>
                <a:sym typeface="Calibri"/>
              </a:rPr>
              <a:t>AI Inventory Findings: {{AI_IF}}</a:t>
            </a:r>
            <a:endParaRPr b="0" i="0" sz="1000" u="none" cap="none" strike="noStrike">
              <a:solidFill>
                <a:srgbClr val="1155CC"/>
              </a:solidFill>
              <a:latin typeface="Calibri"/>
              <a:ea typeface="Calibri"/>
              <a:cs typeface="Calibri"/>
              <a:sym typeface="Calibri"/>
            </a:endParaRPr>
          </a:p>
        </p:txBody>
      </p:sp>
      <p:pic>
        <p:nvPicPr>
          <p:cNvPr id="698" name="Google Shape;698;p58"/>
          <p:cNvPicPr preferRelativeResize="0"/>
          <p:nvPr/>
        </p:nvPicPr>
        <p:blipFill rotWithShape="1">
          <a:blip r:embed="rId12">
            <a:alphaModFix/>
          </a:blip>
          <a:srcRect b="0" l="0" r="0" t="0"/>
          <a:stretch/>
        </p:blipFill>
        <p:spPr>
          <a:xfrm>
            <a:off x="334850" y="3601610"/>
            <a:ext cx="2100726" cy="1404216"/>
          </a:xfrm>
          <a:prstGeom prst="rect">
            <a:avLst/>
          </a:prstGeom>
          <a:noFill/>
          <a:ln cap="flat" cmpd="sng" w="9525">
            <a:solidFill>
              <a:schemeClr val="accent1"/>
            </a:solidFill>
            <a:prstDash val="solid"/>
            <a:round/>
            <a:headEnd len="sm" w="sm" type="none"/>
            <a:tailEnd len="sm" w="sm" type="none"/>
          </a:ln>
        </p:spPr>
      </p:pic>
      <p:sp>
        <p:nvSpPr>
          <p:cNvPr id="699" name="Google Shape;699;p58"/>
          <p:cNvSpPr txBox="1"/>
          <p:nvPr/>
        </p:nvSpPr>
        <p:spPr>
          <a:xfrm>
            <a:off x="377423" y="3721314"/>
            <a:ext cx="2028884" cy="3846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300" u="sng" cap="none" strike="noStrike">
                <a:solidFill>
                  <a:schemeClr val="hlink"/>
                </a:solidFill>
                <a:latin typeface="Calibri"/>
                <a:ea typeface="Calibri"/>
                <a:cs typeface="Calibri"/>
                <a:sym typeface="Calibri"/>
                <a:hlinkClick r:id="rId13"/>
              </a:rPr>
              <a:t>Threats MTTR </a:t>
            </a:r>
            <a:r>
              <a:rPr b="0" i="0" lang="en" sz="1300" u="none" cap="none" strike="noStrike">
                <a:solidFill>
                  <a:schemeClr val="hlink"/>
                </a:solidFill>
                <a:uFill>
                  <a:noFill/>
                </a:uFill>
                <a:latin typeface="Calibri"/>
                <a:ea typeface="Calibri"/>
                <a:cs typeface="Calibri"/>
                <a:sym typeface="Calibri"/>
                <a:hlinkClick r:id="rId14"/>
              </a:rPr>
              <a:t>↗</a:t>
            </a:r>
            <a:endParaRPr b="0" i="0" sz="1300" u="none" cap="none" strike="noStrike">
              <a:solidFill>
                <a:srgbClr val="0254EC"/>
              </a:solidFill>
              <a:latin typeface="Calibri"/>
              <a:ea typeface="Calibri"/>
              <a:cs typeface="Calibri"/>
              <a:sym typeface="Calibri"/>
            </a:endParaRPr>
          </a:p>
        </p:txBody>
      </p:sp>
      <p:sp>
        <p:nvSpPr>
          <p:cNvPr id="700" name="Google Shape;700;p58"/>
          <p:cNvSpPr txBox="1"/>
          <p:nvPr/>
        </p:nvSpPr>
        <p:spPr>
          <a:xfrm>
            <a:off x="368756" y="4062355"/>
            <a:ext cx="2028884" cy="382200"/>
          </a:xfrm>
          <a:prstGeom prst="rect">
            <a:avLst/>
          </a:prstGeom>
          <a:noFill/>
          <a:ln>
            <a:noFill/>
          </a:ln>
          <a:effectLst>
            <a:outerShdw blurRad="57150" rotWithShape="0" algn="bl" dir="5400000" dist="19050">
              <a:srgbClr val="674EA7">
                <a:alpha val="56078"/>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100"/>
              <a:buFont typeface="Arial"/>
              <a:buNone/>
            </a:pPr>
            <a:r>
              <a:rPr b="0" i="0" lang="en" sz="2100" u="none" cap="none" strike="noStrike">
                <a:solidFill>
                  <a:srgbClr val="1155CC"/>
                </a:solidFill>
                <a:latin typeface="Calibri"/>
                <a:ea typeface="Calibri"/>
                <a:cs typeface="Calibri"/>
                <a:sym typeface="Calibri"/>
              </a:rPr>
              <a:t>{{MTTR_O}}</a:t>
            </a:r>
            <a:endParaRPr b="0" i="0" sz="2100" u="none" cap="none" strike="noStrike">
              <a:solidFill>
                <a:srgbClr val="1155CC"/>
              </a:solidFill>
              <a:latin typeface="Calibri"/>
              <a:ea typeface="Calibri"/>
              <a:cs typeface="Calibri"/>
              <a:sym typeface="Calibri"/>
            </a:endParaRPr>
          </a:p>
        </p:txBody>
      </p:sp>
      <p:sp>
        <p:nvSpPr>
          <p:cNvPr id="701" name="Google Shape;701;p58"/>
          <p:cNvSpPr txBox="1"/>
          <p:nvPr/>
        </p:nvSpPr>
        <p:spPr>
          <a:xfrm>
            <a:off x="368756" y="4505977"/>
            <a:ext cx="2028884" cy="23013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Calibri"/>
                <a:ea typeface="Calibri"/>
                <a:cs typeface="Calibri"/>
                <a:sym typeface="Calibri"/>
              </a:rPr>
              <a:t>Days</a:t>
            </a:r>
            <a:endParaRPr b="0" i="0" sz="1200" u="none" cap="none" strike="noStrike">
              <a:solidFill>
                <a:schemeClr val="dk1"/>
              </a:solidFill>
              <a:latin typeface="Calibri"/>
              <a:ea typeface="Calibri"/>
              <a:cs typeface="Calibri"/>
              <a:sym typeface="Calibri"/>
            </a:endParaRPr>
          </a:p>
        </p:txBody>
      </p:sp>
      <p:pic>
        <p:nvPicPr>
          <p:cNvPr id="702" name="Google Shape;702;p58"/>
          <p:cNvPicPr preferRelativeResize="0"/>
          <p:nvPr/>
        </p:nvPicPr>
        <p:blipFill rotWithShape="1">
          <a:blip r:embed="rId12">
            <a:alphaModFix/>
          </a:blip>
          <a:srcRect b="0" l="0" r="0" t="0"/>
          <a:stretch/>
        </p:blipFill>
        <p:spPr>
          <a:xfrm>
            <a:off x="2585906" y="3601600"/>
            <a:ext cx="2100895" cy="1404216"/>
          </a:xfrm>
          <a:prstGeom prst="rect">
            <a:avLst/>
          </a:prstGeom>
          <a:noFill/>
          <a:ln cap="flat" cmpd="sng" w="9525">
            <a:solidFill>
              <a:schemeClr val="accent1"/>
            </a:solidFill>
            <a:prstDash val="solid"/>
            <a:round/>
            <a:headEnd len="sm" w="sm" type="none"/>
            <a:tailEnd len="sm" w="sm" type="none"/>
          </a:ln>
        </p:spPr>
      </p:pic>
      <p:sp>
        <p:nvSpPr>
          <p:cNvPr id="703" name="Google Shape;703;p58"/>
          <p:cNvSpPr txBox="1"/>
          <p:nvPr/>
        </p:nvSpPr>
        <p:spPr>
          <a:xfrm>
            <a:off x="2644411" y="3707460"/>
            <a:ext cx="1986065" cy="3846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b="0" i="0" lang="en" sz="1300" u="sng" cap="none" strike="noStrike">
                <a:solidFill>
                  <a:schemeClr val="hlink"/>
                </a:solidFill>
                <a:latin typeface="Calibri"/>
                <a:ea typeface="Calibri"/>
                <a:cs typeface="Calibri"/>
                <a:sym typeface="Calibri"/>
                <a:hlinkClick r:id="rId15"/>
              </a:rPr>
              <a:t>Open Threats</a:t>
            </a:r>
            <a:r>
              <a:rPr b="0" i="0" lang="en" sz="1300" u="none" cap="none" strike="noStrike">
                <a:solidFill>
                  <a:srgbClr val="0254EC"/>
                </a:solidFill>
                <a:latin typeface="Calibri"/>
                <a:ea typeface="Calibri"/>
                <a:cs typeface="Calibri"/>
                <a:sym typeface="Calibri"/>
              </a:rPr>
              <a:t> ↗</a:t>
            </a:r>
            <a:endParaRPr b="0" i="0" sz="1300" u="none" cap="none" strike="noStrike">
              <a:solidFill>
                <a:srgbClr val="0254EC"/>
              </a:solidFill>
              <a:latin typeface="Calibri"/>
              <a:ea typeface="Calibri"/>
              <a:cs typeface="Calibri"/>
              <a:sym typeface="Calibri"/>
            </a:endParaRPr>
          </a:p>
        </p:txBody>
      </p:sp>
      <p:sp>
        <p:nvSpPr>
          <p:cNvPr id="704" name="Google Shape;704;p58"/>
          <p:cNvSpPr txBox="1"/>
          <p:nvPr/>
        </p:nvSpPr>
        <p:spPr>
          <a:xfrm>
            <a:off x="2609187" y="4107445"/>
            <a:ext cx="2047876" cy="382200"/>
          </a:xfrm>
          <a:prstGeom prst="rect">
            <a:avLst/>
          </a:prstGeom>
          <a:noFill/>
          <a:ln>
            <a:noFill/>
          </a:ln>
          <a:effectLst>
            <a:outerShdw blurRad="57150" rotWithShape="0" algn="bl" dir="5400000" dist="19050">
              <a:srgbClr val="674EA7">
                <a:alpha val="56078"/>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100"/>
              <a:buFont typeface="Arial"/>
              <a:buNone/>
            </a:pPr>
            <a:r>
              <a:rPr b="0" i="0" lang="en" sz="2100" u="none" cap="none" strike="noStrike">
                <a:solidFill>
                  <a:srgbClr val="1155CC"/>
                </a:solidFill>
                <a:latin typeface="Calibri"/>
                <a:ea typeface="Calibri"/>
                <a:cs typeface="Calibri"/>
                <a:sym typeface="Calibri"/>
              </a:rPr>
              <a:t>{{OT}}</a:t>
            </a:r>
            <a:endParaRPr b="0" i="0" sz="2100" u="none" cap="none" strike="noStrike">
              <a:solidFill>
                <a:srgbClr val="1155CC"/>
              </a:solidFill>
              <a:latin typeface="Calibri"/>
              <a:ea typeface="Calibri"/>
              <a:cs typeface="Calibri"/>
              <a:sym typeface="Calibri"/>
            </a:endParaRPr>
          </a:p>
        </p:txBody>
      </p:sp>
      <p:sp>
        <p:nvSpPr>
          <p:cNvPr id="705" name="Google Shape;705;p58"/>
          <p:cNvSpPr txBox="1"/>
          <p:nvPr/>
        </p:nvSpPr>
        <p:spPr>
          <a:xfrm>
            <a:off x="2609180" y="4597077"/>
            <a:ext cx="2047876" cy="3273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Calibri"/>
                <a:ea typeface="Calibri"/>
                <a:cs typeface="Calibri"/>
                <a:sym typeface="Calibri"/>
              </a:rPr>
              <a:t>Resolved Threats: {{RT}}</a:t>
            </a:r>
            <a:br>
              <a:rPr b="0" i="0" lang="en" sz="1200" u="none" cap="none" strike="noStrike">
                <a:solidFill>
                  <a:schemeClr val="dk1"/>
                </a:solidFill>
                <a:latin typeface="Calibri"/>
                <a:ea typeface="Calibri"/>
                <a:cs typeface="Calibri"/>
                <a:sym typeface="Calibri"/>
              </a:rPr>
            </a:br>
            <a:r>
              <a:rPr b="0" i="0" lang="en" sz="1200" u="none" cap="none" strike="noStrike">
                <a:solidFill>
                  <a:schemeClr val="dk1"/>
                </a:solidFill>
                <a:latin typeface="Calibri"/>
                <a:ea typeface="Calibri"/>
                <a:cs typeface="Calibri"/>
                <a:sym typeface="Calibri"/>
              </a:rPr>
              <a:t>Past 90 Days</a:t>
            </a:r>
            <a:endParaRPr b="0" i="0" sz="1200" u="none" cap="none" strike="noStrike">
              <a:solidFill>
                <a:schemeClr val="dk1"/>
              </a:solidFill>
              <a:latin typeface="Calibri"/>
              <a:ea typeface="Calibri"/>
              <a:cs typeface="Calibri"/>
              <a:sym typeface="Calibri"/>
            </a:endParaRPr>
          </a:p>
        </p:txBody>
      </p:sp>
      <p:sp>
        <p:nvSpPr>
          <p:cNvPr id="706" name="Google Shape;706;p58"/>
          <p:cNvSpPr txBox="1"/>
          <p:nvPr/>
        </p:nvSpPr>
        <p:spPr>
          <a:xfrm>
            <a:off x="2587908" y="1206673"/>
            <a:ext cx="2067000" cy="3318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chemeClr val="dk1"/>
                </a:solidFill>
                <a:latin typeface="Calibri"/>
                <a:ea typeface="Calibri"/>
                <a:cs typeface="Calibri"/>
                <a:sym typeface="Calibri"/>
              </a:rPr>
              <a:t>Industry: {{SS_I}}</a:t>
            </a:r>
            <a:endParaRPr b="0" i="0" sz="800" u="none" cap="none" strike="noStrike">
              <a:solidFill>
                <a:schemeClr val="dk1"/>
              </a:solidFill>
              <a:latin typeface="Calibri"/>
              <a:ea typeface="Calibri"/>
              <a:cs typeface="Calibri"/>
              <a:sym typeface="Calibri"/>
            </a:endParaRPr>
          </a:p>
        </p:txBody>
      </p:sp>
      <p:pic>
        <p:nvPicPr>
          <p:cNvPr id="707" name="Google Shape;707;p58"/>
          <p:cNvPicPr preferRelativeResize="0"/>
          <p:nvPr/>
        </p:nvPicPr>
        <p:blipFill rotWithShape="1">
          <a:blip r:embed="rId16">
            <a:alphaModFix/>
          </a:blip>
          <a:srcRect b="0" l="0" r="0" t="0"/>
          <a:stretch/>
        </p:blipFill>
        <p:spPr>
          <a:xfrm>
            <a:off x="4848909" y="2345935"/>
            <a:ext cx="3994750" cy="1755250"/>
          </a:xfrm>
          <a:prstGeom prst="rect">
            <a:avLst/>
          </a:prstGeom>
          <a:noFill/>
          <a:ln cap="flat" cmpd="sng" w="9525">
            <a:solidFill>
              <a:schemeClr val="accent1"/>
            </a:solidFill>
            <a:prstDash val="solid"/>
            <a:round/>
            <a:headEnd len="sm" w="sm" type="none"/>
            <a:tailEnd len="sm" w="sm" type="none"/>
          </a:ln>
        </p:spPr>
      </p:pic>
      <p:pic>
        <p:nvPicPr>
          <p:cNvPr id="708" name="Google Shape;708;p58"/>
          <p:cNvPicPr preferRelativeResize="0"/>
          <p:nvPr/>
        </p:nvPicPr>
        <p:blipFill rotWithShape="1">
          <a:blip r:embed="rId17">
            <a:alphaModFix/>
          </a:blip>
          <a:srcRect b="0" l="0" r="0" t="0"/>
          <a:stretch/>
        </p:blipFill>
        <p:spPr>
          <a:xfrm>
            <a:off x="5470184" y="3177785"/>
            <a:ext cx="687200" cy="382200"/>
          </a:xfrm>
          <a:prstGeom prst="rect">
            <a:avLst/>
          </a:prstGeom>
          <a:noFill/>
          <a:ln>
            <a:noFill/>
          </a:ln>
        </p:spPr>
      </p:pic>
      <p:sp>
        <p:nvSpPr>
          <p:cNvPr id="709" name="Google Shape;709;p58"/>
          <p:cNvSpPr txBox="1"/>
          <p:nvPr/>
        </p:nvSpPr>
        <p:spPr>
          <a:xfrm>
            <a:off x="5161247" y="2989098"/>
            <a:ext cx="1306500" cy="363900"/>
          </a:xfrm>
          <a:prstGeom prst="rect">
            <a:avLst/>
          </a:prstGeom>
          <a:noFill/>
          <a:ln>
            <a:noFill/>
          </a:ln>
        </p:spPr>
        <p:txBody>
          <a:bodyPr anchorCtr="0" anchor="t" bIns="101700" lIns="101700" spcFirstLastPara="1" rIns="101700" wrap="square" tIns="101700">
            <a:noAutofit/>
          </a:bodyPr>
          <a:lstStyle/>
          <a:p>
            <a:pPr indent="0" lvl="0" marL="0" marR="0" rtl="0" algn="ctr">
              <a:lnSpc>
                <a:spcPct val="100000"/>
              </a:lnSpc>
              <a:spcBef>
                <a:spcPts val="0"/>
              </a:spcBef>
              <a:spcAft>
                <a:spcPts val="0"/>
              </a:spcAft>
              <a:buClr>
                <a:srgbClr val="000000"/>
              </a:buClr>
              <a:buSzPts val="1600"/>
              <a:buFont typeface="Arial"/>
              <a:buNone/>
            </a:pPr>
            <a:r>
              <a:rPr b="1" i="0" lang="en" sz="1600" u="none" cap="none" strike="noStrike">
                <a:solidFill>
                  <a:schemeClr val="dk1"/>
                </a:solidFill>
                <a:latin typeface="Calibri"/>
                <a:ea typeface="Calibri"/>
                <a:cs typeface="Calibri"/>
                <a:sym typeface="Calibri"/>
              </a:rPr>
              <a:t>{{AVG_AGEC}}</a:t>
            </a:r>
            <a:r>
              <a:rPr b="1" i="0" lang="en" sz="1200" u="none" cap="none" strike="noStrike">
                <a:solidFill>
                  <a:schemeClr val="dk1"/>
                </a:solidFill>
                <a:latin typeface="Calibri"/>
                <a:ea typeface="Calibri"/>
                <a:cs typeface="Calibri"/>
                <a:sym typeface="Calibri"/>
              </a:rPr>
              <a:t> </a:t>
            </a:r>
            <a:br>
              <a:rPr b="1" i="0" lang="en" sz="1200" u="none" cap="none" strike="noStrike">
                <a:solidFill>
                  <a:schemeClr val="dk1"/>
                </a:solidFill>
                <a:latin typeface="Calibri"/>
                <a:ea typeface="Calibri"/>
                <a:cs typeface="Calibri"/>
                <a:sym typeface="Calibri"/>
              </a:rPr>
            </a:br>
            <a:r>
              <a:rPr b="1" i="0" lang="en" sz="1300" u="none" cap="none" strike="noStrike">
                <a:solidFill>
                  <a:schemeClr val="dk1"/>
                </a:solidFill>
                <a:latin typeface="Calibri"/>
                <a:ea typeface="Calibri"/>
                <a:cs typeface="Calibri"/>
                <a:sym typeface="Calibri"/>
              </a:rPr>
              <a:t>Days</a:t>
            </a:r>
            <a:endParaRPr b="1" i="0" sz="1101" u="none" cap="none" strike="noStrike">
              <a:solidFill>
                <a:srgbClr val="1155CC"/>
              </a:solidFill>
              <a:latin typeface="Calibri"/>
              <a:ea typeface="Calibri"/>
              <a:cs typeface="Calibri"/>
              <a:sym typeface="Calibri"/>
            </a:endParaRPr>
          </a:p>
        </p:txBody>
      </p:sp>
      <p:pic>
        <p:nvPicPr>
          <p:cNvPr id="710" name="Google Shape;710;p58"/>
          <p:cNvPicPr preferRelativeResize="0"/>
          <p:nvPr/>
        </p:nvPicPr>
        <p:blipFill rotWithShape="1">
          <a:blip r:embed="rId17">
            <a:alphaModFix/>
          </a:blip>
          <a:srcRect b="0" l="0" r="0" t="0"/>
          <a:stretch/>
        </p:blipFill>
        <p:spPr>
          <a:xfrm>
            <a:off x="7458900" y="3219400"/>
            <a:ext cx="760050" cy="382200"/>
          </a:xfrm>
          <a:prstGeom prst="rect">
            <a:avLst/>
          </a:prstGeom>
          <a:noFill/>
          <a:ln>
            <a:noFill/>
          </a:ln>
        </p:spPr>
      </p:pic>
      <p:sp>
        <p:nvSpPr>
          <p:cNvPr id="711" name="Google Shape;711;p58"/>
          <p:cNvSpPr txBox="1"/>
          <p:nvPr/>
        </p:nvSpPr>
        <p:spPr>
          <a:xfrm>
            <a:off x="7188866" y="2990088"/>
            <a:ext cx="1306500" cy="363900"/>
          </a:xfrm>
          <a:prstGeom prst="rect">
            <a:avLst/>
          </a:prstGeom>
          <a:noFill/>
          <a:ln>
            <a:noFill/>
          </a:ln>
        </p:spPr>
        <p:txBody>
          <a:bodyPr anchorCtr="0" anchor="t" bIns="101700" lIns="101700" spcFirstLastPara="1" rIns="101700" wrap="square" tIns="101700">
            <a:noAutofit/>
          </a:bodyPr>
          <a:lstStyle/>
          <a:p>
            <a:pPr indent="0" lvl="0" marL="0" marR="0" rtl="0" algn="ctr">
              <a:lnSpc>
                <a:spcPct val="100000"/>
              </a:lnSpc>
              <a:spcBef>
                <a:spcPts val="0"/>
              </a:spcBef>
              <a:spcAft>
                <a:spcPts val="0"/>
              </a:spcAft>
              <a:buClr>
                <a:srgbClr val="000000"/>
              </a:buClr>
              <a:buSzPts val="1600"/>
              <a:buFont typeface="Arial"/>
              <a:buNone/>
            </a:pPr>
            <a:r>
              <a:rPr b="1" i="0" lang="en" sz="1600" u="none" cap="none" strike="noStrike">
                <a:solidFill>
                  <a:schemeClr val="dk1"/>
                </a:solidFill>
                <a:latin typeface="Calibri"/>
                <a:ea typeface="Calibri"/>
                <a:cs typeface="Calibri"/>
                <a:sym typeface="Calibri"/>
              </a:rPr>
              <a:t>{{AVG_AGEH}} </a:t>
            </a:r>
            <a:br>
              <a:rPr b="1" i="0" lang="en" sz="1212" u="none" cap="none" strike="noStrike">
                <a:solidFill>
                  <a:schemeClr val="dk1"/>
                </a:solidFill>
                <a:latin typeface="Calibri"/>
                <a:ea typeface="Calibri"/>
                <a:cs typeface="Calibri"/>
                <a:sym typeface="Calibri"/>
              </a:rPr>
            </a:br>
            <a:r>
              <a:rPr b="1" i="0" lang="en" sz="1324" u="none" cap="none" strike="noStrike">
                <a:solidFill>
                  <a:schemeClr val="dk1"/>
                </a:solidFill>
                <a:latin typeface="Calibri"/>
                <a:ea typeface="Calibri"/>
                <a:cs typeface="Calibri"/>
                <a:sym typeface="Calibri"/>
              </a:rPr>
              <a:t>Days</a:t>
            </a:r>
            <a:endParaRPr b="1" i="0" sz="1101" u="none" cap="none" strike="noStrike">
              <a:solidFill>
                <a:srgbClr val="1155CC"/>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p59"/>
          <p:cNvSpPr txBox="1"/>
          <p:nvPr>
            <p:ph idx="4294967295" type="title"/>
          </p:nvPr>
        </p:nvSpPr>
        <p:spPr>
          <a:xfrm>
            <a:off x="150" y="166650"/>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Cloud Security Risk Snapshot</a:t>
            </a:r>
            <a:endParaRPr sz="2420">
              <a:latin typeface="Calibri"/>
              <a:ea typeface="Calibri"/>
              <a:cs typeface="Calibri"/>
              <a:sym typeface="Calibri"/>
            </a:endParaRPr>
          </a:p>
        </p:txBody>
      </p:sp>
      <p:pic>
        <p:nvPicPr>
          <p:cNvPr id="718" name="Google Shape;718;p59"/>
          <p:cNvPicPr preferRelativeResize="0"/>
          <p:nvPr/>
        </p:nvPicPr>
        <p:blipFill rotWithShape="1">
          <a:blip r:embed="rId3">
            <a:alphaModFix/>
          </a:blip>
          <a:srcRect b="0" l="0" r="0" t="0"/>
          <a:stretch/>
        </p:blipFill>
        <p:spPr>
          <a:xfrm>
            <a:off x="107950" y="673900"/>
            <a:ext cx="7440046" cy="1064875"/>
          </a:xfrm>
          <a:prstGeom prst="rect">
            <a:avLst/>
          </a:prstGeom>
          <a:noFill/>
          <a:ln cap="flat" cmpd="sng" w="9525">
            <a:solidFill>
              <a:schemeClr val="accent1"/>
            </a:solidFill>
            <a:prstDash val="solid"/>
            <a:round/>
            <a:headEnd len="sm" w="sm" type="none"/>
            <a:tailEnd len="sm" w="sm" type="none"/>
          </a:ln>
        </p:spPr>
      </p:pic>
      <p:sp>
        <p:nvSpPr>
          <p:cNvPr id="719" name="Google Shape;719;p59"/>
          <p:cNvSpPr txBox="1"/>
          <p:nvPr/>
        </p:nvSpPr>
        <p:spPr>
          <a:xfrm>
            <a:off x="259724" y="709330"/>
            <a:ext cx="1928400" cy="361500"/>
          </a:xfrm>
          <a:prstGeom prst="rect">
            <a:avLst/>
          </a:prstGeom>
          <a:noFill/>
          <a:ln>
            <a:noFill/>
          </a:ln>
        </p:spPr>
        <p:txBody>
          <a:bodyPr anchorCtr="0" anchor="t" bIns="34275" lIns="68575" spcFirstLastPara="1" rIns="68575" wrap="square" tIns="34275">
            <a:normAutofit/>
          </a:bodyPr>
          <a:lstStyle/>
          <a:p>
            <a:pPr indent="0" lvl="0" marL="0" marR="0" rtl="0" algn="l">
              <a:lnSpc>
                <a:spcPct val="90000"/>
              </a:lnSpc>
              <a:spcBef>
                <a:spcPts val="0"/>
              </a:spcBef>
              <a:spcAft>
                <a:spcPts val="0"/>
              </a:spcAft>
              <a:buClr>
                <a:schemeClr val="dk2"/>
              </a:buClr>
              <a:buSzPts val="1500"/>
              <a:buFont typeface="Arial"/>
              <a:buNone/>
            </a:pPr>
            <a:r>
              <a:rPr b="0" i="0" lang="en" sz="1600" u="none" cap="none" strike="noStrike">
                <a:solidFill>
                  <a:schemeClr val="dk1"/>
                </a:solidFill>
                <a:latin typeface="Calibri"/>
                <a:ea typeface="Calibri"/>
                <a:cs typeface="Calibri"/>
                <a:sym typeface="Calibri"/>
              </a:rPr>
              <a:t>External Exposure</a:t>
            </a:r>
            <a:endParaRPr b="0" i="0" sz="1600" u="none" cap="none" strike="noStrike">
              <a:solidFill>
                <a:schemeClr val="dk1"/>
              </a:solidFill>
              <a:latin typeface="Calibri"/>
              <a:ea typeface="Calibri"/>
              <a:cs typeface="Calibri"/>
              <a:sym typeface="Calibri"/>
            </a:endParaRPr>
          </a:p>
        </p:txBody>
      </p:sp>
      <p:sp>
        <p:nvSpPr>
          <p:cNvPr id="720" name="Google Shape;720;p59"/>
          <p:cNvSpPr txBox="1"/>
          <p:nvPr/>
        </p:nvSpPr>
        <p:spPr>
          <a:xfrm>
            <a:off x="269504" y="1081747"/>
            <a:ext cx="3964500" cy="359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rgbClr val="1155CC"/>
                </a:solidFill>
                <a:latin typeface="Calibri"/>
                <a:ea typeface="Calibri"/>
                <a:cs typeface="Calibri"/>
                <a:sym typeface="Calibri"/>
              </a:rPr>
              <a:t>HTTP Application Endpoints  {{AE_HTTP}}</a:t>
            </a:r>
            <a:endParaRPr b="0" i="0" sz="1000" u="none" cap="none" strike="noStrike">
              <a:solidFill>
                <a:srgbClr val="1155CC"/>
              </a:solidFill>
              <a:latin typeface="Calibri"/>
              <a:ea typeface="Calibri"/>
              <a:cs typeface="Calibri"/>
              <a:sym typeface="Calibri"/>
            </a:endParaRPr>
          </a:p>
        </p:txBody>
      </p:sp>
      <p:sp>
        <p:nvSpPr>
          <p:cNvPr id="721" name="Google Shape;721;p59"/>
          <p:cNvSpPr txBox="1"/>
          <p:nvPr/>
        </p:nvSpPr>
        <p:spPr>
          <a:xfrm>
            <a:off x="273692" y="1374797"/>
            <a:ext cx="3964500" cy="359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rgbClr val="1155CC"/>
                </a:solidFill>
                <a:latin typeface="Calibri"/>
                <a:ea typeface="Calibri"/>
                <a:cs typeface="Calibri"/>
                <a:sym typeface="Calibri"/>
              </a:rPr>
              <a:t>Non-HTTP Application Endpoints  {{AE_NHTTP}}</a:t>
            </a:r>
            <a:endParaRPr b="0" i="0" sz="1000" u="none" cap="none" strike="noStrike">
              <a:solidFill>
                <a:srgbClr val="1155CC"/>
              </a:solidFill>
              <a:latin typeface="Calibri"/>
              <a:ea typeface="Calibri"/>
              <a:cs typeface="Calibri"/>
              <a:sym typeface="Calibri"/>
            </a:endParaRPr>
          </a:p>
        </p:txBody>
      </p:sp>
      <p:sp>
        <p:nvSpPr>
          <p:cNvPr id="722" name="Google Shape;722;p59"/>
          <p:cNvSpPr txBox="1"/>
          <p:nvPr/>
        </p:nvSpPr>
        <p:spPr>
          <a:xfrm>
            <a:off x="3083442" y="1130944"/>
            <a:ext cx="2183325" cy="4623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Calibri"/>
                <a:ea typeface="Calibri"/>
                <a:cs typeface="Calibri"/>
                <a:sym typeface="Calibri"/>
              </a:rPr>
              <a:t>Estimated # of Additional Workloads to Scan via Advanced ASM</a:t>
            </a:r>
            <a:endParaRPr b="0" i="0" sz="1000" u="none" cap="none" strike="noStrike">
              <a:solidFill>
                <a:schemeClr val="dk1"/>
              </a:solidFill>
              <a:latin typeface="Calibri"/>
              <a:ea typeface="Calibri"/>
              <a:cs typeface="Calibri"/>
              <a:sym typeface="Calibri"/>
            </a:endParaRPr>
          </a:p>
        </p:txBody>
      </p:sp>
      <p:sp>
        <p:nvSpPr>
          <p:cNvPr id="723" name="Google Shape;723;p59"/>
          <p:cNvSpPr txBox="1"/>
          <p:nvPr/>
        </p:nvSpPr>
        <p:spPr>
          <a:xfrm>
            <a:off x="5446564" y="1141854"/>
            <a:ext cx="2395200" cy="407700"/>
          </a:xfrm>
          <a:prstGeom prst="rect">
            <a:avLst/>
          </a:prstGeom>
          <a:noFill/>
          <a:ln>
            <a:noFill/>
          </a:ln>
        </p:spPr>
        <p:txBody>
          <a:bodyPr anchorCtr="0" anchor="ctr" bIns="0" lIns="0" spcFirstLastPara="1" rIns="0" wrap="square" tIns="0">
            <a:noAutofit/>
          </a:bodyPr>
          <a:lstStyle/>
          <a:p>
            <a:pPr indent="0" lvl="0" marL="0" marR="0" rtl="0" algn="l">
              <a:lnSpc>
                <a:spcPct val="150000"/>
              </a:lnSpc>
              <a:spcBef>
                <a:spcPts val="0"/>
              </a:spcBef>
              <a:spcAft>
                <a:spcPts val="0"/>
              </a:spcAft>
              <a:buClr>
                <a:schemeClr val="dk1"/>
              </a:buClr>
              <a:buSzPts val="1100"/>
              <a:buFont typeface="Arial"/>
              <a:buNone/>
            </a:pPr>
            <a:r>
              <a:rPr b="0" i="0" lang="en" sz="1300" u="none" cap="none" strike="noStrike">
                <a:solidFill>
                  <a:schemeClr val="dk1"/>
                </a:solidFill>
                <a:latin typeface="Calibri"/>
                <a:ea typeface="Calibri"/>
                <a:cs typeface="Calibri"/>
                <a:sym typeface="Calibri"/>
              </a:rPr>
              <a:t>=  </a:t>
            </a:r>
            <a:r>
              <a:rPr b="0" i="0" lang="en" sz="1300" u="none" cap="none" strike="noStrike">
                <a:solidFill>
                  <a:srgbClr val="333333"/>
                </a:solidFill>
                <a:latin typeface="Calibri"/>
                <a:ea typeface="Calibri"/>
                <a:cs typeface="Calibri"/>
                <a:sym typeface="Calibri"/>
              </a:rPr>
              <a:t>{{AE_TOT}} Workloads</a:t>
            </a:r>
            <a:endParaRPr b="0" i="0" sz="1400" u="none" cap="none" strike="noStrike">
              <a:solidFill>
                <a:schemeClr val="dk1"/>
              </a:solidFill>
              <a:latin typeface="Calibri"/>
              <a:ea typeface="Calibri"/>
              <a:cs typeface="Calibri"/>
              <a:sym typeface="Calibri"/>
            </a:endParaRPr>
          </a:p>
        </p:txBody>
      </p:sp>
      <p:pic>
        <p:nvPicPr>
          <p:cNvPr id="724" name="Google Shape;724;p59" title="Group 1000004640.png"/>
          <p:cNvPicPr preferRelativeResize="0"/>
          <p:nvPr/>
        </p:nvPicPr>
        <p:blipFill rotWithShape="1">
          <a:blip r:embed="rId4">
            <a:alphaModFix/>
          </a:blip>
          <a:srcRect b="0" l="0" r="0" t="0"/>
          <a:stretch/>
        </p:blipFill>
        <p:spPr>
          <a:xfrm>
            <a:off x="7961878" y="1035264"/>
            <a:ext cx="923544" cy="950976"/>
          </a:xfrm>
          <a:prstGeom prst="rect">
            <a:avLst/>
          </a:prstGeom>
          <a:noFill/>
          <a:ln>
            <a:noFill/>
          </a:ln>
        </p:spPr>
      </p:pic>
      <p:pic>
        <p:nvPicPr>
          <p:cNvPr id="725" name="Google Shape;725;p59" title="Group 1000004641.png"/>
          <p:cNvPicPr preferRelativeResize="0"/>
          <p:nvPr/>
        </p:nvPicPr>
        <p:blipFill rotWithShape="1">
          <a:blip r:embed="rId5">
            <a:alphaModFix/>
          </a:blip>
          <a:srcRect b="0" l="0" r="0" t="0"/>
          <a:stretch/>
        </p:blipFill>
        <p:spPr>
          <a:xfrm>
            <a:off x="7964424" y="4118017"/>
            <a:ext cx="923544" cy="950976"/>
          </a:xfrm>
          <a:prstGeom prst="rect">
            <a:avLst/>
          </a:prstGeom>
          <a:noFill/>
          <a:ln>
            <a:noFill/>
          </a:ln>
        </p:spPr>
      </p:pic>
      <p:pic>
        <p:nvPicPr>
          <p:cNvPr id="726" name="Google Shape;726;p59" title="Group 1000004639.png"/>
          <p:cNvPicPr preferRelativeResize="0"/>
          <p:nvPr/>
        </p:nvPicPr>
        <p:blipFill rotWithShape="1">
          <a:blip r:embed="rId6">
            <a:alphaModFix/>
          </a:blip>
          <a:srcRect b="0" l="0" r="0" t="0"/>
          <a:stretch/>
        </p:blipFill>
        <p:spPr>
          <a:xfrm>
            <a:off x="7964424" y="2520408"/>
            <a:ext cx="924766" cy="946984"/>
          </a:xfrm>
          <a:prstGeom prst="rect">
            <a:avLst/>
          </a:prstGeom>
          <a:noFill/>
          <a:ln>
            <a:noFill/>
          </a:ln>
        </p:spPr>
      </p:pic>
      <p:sp>
        <p:nvSpPr>
          <p:cNvPr id="727" name="Google Shape;727;p59"/>
          <p:cNvSpPr/>
          <p:nvPr/>
        </p:nvSpPr>
        <p:spPr>
          <a:xfrm>
            <a:off x="7955120" y="3041698"/>
            <a:ext cx="963600" cy="939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574"/>
              <a:buFont typeface="DM Sans"/>
              <a:buNone/>
            </a:pPr>
            <a:r>
              <a:rPr b="1" i="0" lang="en" sz="700" u="none" cap="none" strike="noStrike">
                <a:solidFill>
                  <a:srgbClr val="0254EC"/>
                </a:solidFill>
                <a:latin typeface="Calibri"/>
                <a:ea typeface="Calibri"/>
                <a:cs typeface="Calibri"/>
                <a:sym typeface="Calibri"/>
              </a:rPr>
              <a:t>Green Agent</a:t>
            </a:r>
            <a:endParaRPr b="1" i="0" sz="700" u="none" cap="none" strike="noStrike">
              <a:solidFill>
                <a:srgbClr val="000000"/>
              </a:solidFill>
              <a:latin typeface="Calibri"/>
              <a:ea typeface="Calibri"/>
              <a:cs typeface="Calibri"/>
              <a:sym typeface="Calibri"/>
            </a:endParaRPr>
          </a:p>
        </p:txBody>
      </p:sp>
      <p:sp>
        <p:nvSpPr>
          <p:cNvPr id="728" name="Google Shape;728;p59"/>
          <p:cNvSpPr/>
          <p:nvPr/>
        </p:nvSpPr>
        <p:spPr>
          <a:xfrm>
            <a:off x="7954004" y="3191175"/>
            <a:ext cx="944700" cy="137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1741"/>
              </a:buClr>
              <a:buSzPts val="492"/>
              <a:buFont typeface="DM Sans"/>
              <a:buNone/>
            </a:pPr>
            <a:r>
              <a:rPr b="0" i="0" lang="en" sz="800" u="none" cap="none" strike="noStrike">
                <a:solidFill>
                  <a:srgbClr val="000000"/>
                </a:solidFill>
                <a:latin typeface="Calibri"/>
                <a:ea typeface="Calibri"/>
                <a:cs typeface="Calibri"/>
                <a:sym typeface="Calibri"/>
              </a:rPr>
              <a:t>Enabled</a:t>
            </a:r>
            <a:br>
              <a:rPr b="0" i="0" lang="en" sz="800" u="none" cap="none" strike="noStrike">
                <a:solidFill>
                  <a:srgbClr val="000000"/>
                </a:solidFill>
                <a:latin typeface="Calibri"/>
                <a:ea typeface="Calibri"/>
                <a:cs typeface="Calibri"/>
                <a:sym typeface="Calibri"/>
              </a:rPr>
            </a:br>
            <a:r>
              <a:rPr b="0" i="0" lang="en" sz="800" u="none" cap="none" strike="noStrike">
                <a:solidFill>
                  <a:srgbClr val="000000"/>
                </a:solidFill>
                <a:latin typeface="Calibri"/>
                <a:ea typeface="Calibri"/>
                <a:cs typeface="Calibri"/>
                <a:sym typeface="Calibri"/>
              </a:rPr>
              <a:t>{{F_GA}}</a:t>
            </a:r>
            <a:endParaRPr b="0" i="0" sz="800" u="none" cap="none" strike="noStrike">
              <a:solidFill>
                <a:srgbClr val="000000"/>
              </a:solidFill>
              <a:latin typeface="Calibri"/>
              <a:ea typeface="Calibri"/>
              <a:cs typeface="Calibri"/>
              <a:sym typeface="Calibri"/>
            </a:endParaRPr>
          </a:p>
        </p:txBody>
      </p:sp>
      <p:sp>
        <p:nvSpPr>
          <p:cNvPr id="729" name="Google Shape;729;p59"/>
          <p:cNvSpPr/>
          <p:nvPr/>
        </p:nvSpPr>
        <p:spPr>
          <a:xfrm>
            <a:off x="7906406" y="2038924"/>
            <a:ext cx="10389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i="0" lang="en" sz="900" u="none" cap="none" strike="noStrike">
                <a:solidFill>
                  <a:srgbClr val="0254EC"/>
                </a:solidFill>
                <a:latin typeface="Calibri"/>
                <a:ea typeface="Calibri"/>
                <a:cs typeface="Calibri"/>
                <a:sym typeface="Calibri"/>
              </a:rPr>
              <a:t>Preventive Security</a:t>
            </a:r>
            <a:endParaRPr b="1" i="0" sz="900" u="none" cap="none" strike="noStrike">
              <a:solidFill>
                <a:srgbClr val="000000"/>
              </a:solidFill>
              <a:latin typeface="Calibri"/>
              <a:ea typeface="Calibri"/>
              <a:cs typeface="Calibri"/>
              <a:sym typeface="Calibri"/>
            </a:endParaRPr>
          </a:p>
        </p:txBody>
      </p:sp>
      <p:sp>
        <p:nvSpPr>
          <p:cNvPr id="730" name="Google Shape;730;p59"/>
          <p:cNvSpPr/>
          <p:nvPr/>
        </p:nvSpPr>
        <p:spPr>
          <a:xfrm>
            <a:off x="7719100" y="2144544"/>
            <a:ext cx="1425000" cy="314700"/>
          </a:xfrm>
          <a:prstGeom prst="rect">
            <a:avLst/>
          </a:prstGeom>
          <a:noFill/>
          <a:ln>
            <a:noFill/>
          </a:ln>
        </p:spPr>
        <p:txBody>
          <a:bodyPr anchorCtr="0" anchor="b"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b="0" i="0" lang="en" sz="726" u="none" cap="none" strike="noStrike">
                <a:solidFill>
                  <a:srgbClr val="001741"/>
                </a:solidFill>
                <a:latin typeface="Calibri"/>
                <a:ea typeface="Calibri"/>
                <a:cs typeface="Calibri"/>
                <a:sym typeface="Calibri"/>
              </a:rPr>
              <a:t>Build securely and </a:t>
            </a:r>
            <a:br>
              <a:rPr b="0" i="0" lang="en" sz="726" u="none" cap="none" strike="noStrike">
                <a:solidFill>
                  <a:srgbClr val="001741"/>
                </a:solidFill>
                <a:latin typeface="Calibri"/>
                <a:ea typeface="Calibri"/>
                <a:cs typeface="Calibri"/>
                <a:sym typeface="Calibri"/>
              </a:rPr>
            </a:br>
            <a:r>
              <a:rPr b="0" i="0" lang="en" sz="726" u="none" cap="none" strike="noStrike">
                <a:solidFill>
                  <a:srgbClr val="001741"/>
                </a:solidFill>
                <a:latin typeface="Calibri"/>
                <a:ea typeface="Calibri"/>
                <a:cs typeface="Calibri"/>
                <a:sym typeface="Calibri"/>
              </a:rPr>
              <a:t>remediate at the source</a:t>
            </a:r>
            <a:endParaRPr b="0" i="0" sz="621" u="none" cap="none" strike="noStrike">
              <a:solidFill>
                <a:srgbClr val="000000"/>
              </a:solidFill>
              <a:latin typeface="Calibri"/>
              <a:ea typeface="Calibri"/>
              <a:cs typeface="Calibri"/>
              <a:sym typeface="Calibri"/>
            </a:endParaRPr>
          </a:p>
        </p:txBody>
      </p:sp>
      <p:sp>
        <p:nvSpPr>
          <p:cNvPr id="731" name="Google Shape;731;p59"/>
          <p:cNvSpPr/>
          <p:nvPr/>
        </p:nvSpPr>
        <p:spPr>
          <a:xfrm>
            <a:off x="7936234" y="3618692"/>
            <a:ext cx="10389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i="0" lang="en" sz="900" u="none" cap="none" strike="noStrike">
                <a:solidFill>
                  <a:srgbClr val="0254EC"/>
                </a:solidFill>
                <a:latin typeface="Calibri"/>
                <a:ea typeface="Calibri"/>
                <a:cs typeface="Calibri"/>
                <a:sym typeface="Calibri"/>
              </a:rPr>
              <a:t>Reactive Security</a:t>
            </a:r>
            <a:endParaRPr b="1" i="0" sz="900" u="none" cap="none" strike="noStrike">
              <a:solidFill>
                <a:srgbClr val="000000"/>
              </a:solidFill>
              <a:latin typeface="Calibri"/>
              <a:ea typeface="Calibri"/>
              <a:cs typeface="Calibri"/>
              <a:sym typeface="Calibri"/>
            </a:endParaRPr>
          </a:p>
        </p:txBody>
      </p:sp>
      <p:sp>
        <p:nvSpPr>
          <p:cNvPr id="732" name="Google Shape;732;p59"/>
          <p:cNvSpPr/>
          <p:nvPr/>
        </p:nvSpPr>
        <p:spPr>
          <a:xfrm>
            <a:off x="7718900" y="3785755"/>
            <a:ext cx="1425000" cy="3147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b="0" i="0" lang="en" sz="726" u="none" cap="none" strike="noStrike">
                <a:solidFill>
                  <a:srgbClr val="001741"/>
                </a:solidFill>
                <a:latin typeface="Calibri"/>
                <a:ea typeface="Calibri"/>
                <a:cs typeface="Calibri"/>
                <a:sym typeface="Calibri"/>
              </a:rPr>
              <a:t>Investigate and triage high-fidelity threats</a:t>
            </a:r>
            <a:endParaRPr b="0" i="0" sz="621" u="none" cap="none" strike="noStrike">
              <a:solidFill>
                <a:srgbClr val="000000"/>
              </a:solidFill>
              <a:latin typeface="Calibri"/>
              <a:ea typeface="Calibri"/>
              <a:cs typeface="Calibri"/>
              <a:sym typeface="Calibri"/>
            </a:endParaRPr>
          </a:p>
        </p:txBody>
      </p:sp>
      <p:sp>
        <p:nvSpPr>
          <p:cNvPr id="733" name="Google Shape;733;p59"/>
          <p:cNvSpPr/>
          <p:nvPr/>
        </p:nvSpPr>
        <p:spPr>
          <a:xfrm>
            <a:off x="7916398" y="550119"/>
            <a:ext cx="10389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i="0" lang="en" sz="900" u="none" cap="none" strike="noStrike">
                <a:solidFill>
                  <a:srgbClr val="0254EC"/>
                </a:solidFill>
                <a:latin typeface="Calibri"/>
                <a:ea typeface="Calibri"/>
                <a:cs typeface="Calibri"/>
                <a:sym typeface="Calibri"/>
              </a:rPr>
              <a:t>Proactive Security</a:t>
            </a:r>
            <a:endParaRPr b="1" i="0" sz="900" u="none" cap="none" strike="noStrike">
              <a:solidFill>
                <a:srgbClr val="000000"/>
              </a:solidFill>
              <a:latin typeface="Calibri"/>
              <a:ea typeface="Calibri"/>
              <a:cs typeface="Calibri"/>
              <a:sym typeface="Calibri"/>
            </a:endParaRPr>
          </a:p>
        </p:txBody>
      </p:sp>
      <p:sp>
        <p:nvSpPr>
          <p:cNvPr id="734" name="Google Shape;734;p59"/>
          <p:cNvSpPr/>
          <p:nvPr/>
        </p:nvSpPr>
        <p:spPr>
          <a:xfrm>
            <a:off x="7661455" y="656976"/>
            <a:ext cx="1425000" cy="314700"/>
          </a:xfrm>
          <a:prstGeom prst="rect">
            <a:avLst/>
          </a:prstGeom>
          <a:noFill/>
          <a:ln>
            <a:noFill/>
          </a:ln>
        </p:spPr>
        <p:txBody>
          <a:bodyPr anchorCtr="0" anchor="b"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b="0" i="0" lang="en" sz="726" u="none" cap="none" strike="noStrike">
                <a:solidFill>
                  <a:srgbClr val="001741"/>
                </a:solidFill>
                <a:latin typeface="Calibri"/>
                <a:ea typeface="Calibri"/>
                <a:cs typeface="Calibri"/>
                <a:sym typeface="Calibri"/>
              </a:rPr>
              <a:t>Identify high-risk issues before they </a:t>
            </a:r>
            <a:br>
              <a:rPr b="0" i="0" lang="en" sz="726" u="none" cap="none" strike="noStrike">
                <a:solidFill>
                  <a:srgbClr val="001741"/>
                </a:solidFill>
                <a:latin typeface="Calibri"/>
                <a:ea typeface="Calibri"/>
                <a:cs typeface="Calibri"/>
                <a:sym typeface="Calibri"/>
              </a:rPr>
            </a:br>
            <a:r>
              <a:rPr b="0" i="0" lang="en" sz="726" u="none" cap="none" strike="noStrike">
                <a:solidFill>
                  <a:srgbClr val="001741"/>
                </a:solidFill>
                <a:latin typeface="Calibri"/>
                <a:ea typeface="Calibri"/>
                <a:cs typeface="Calibri"/>
                <a:sym typeface="Calibri"/>
              </a:rPr>
              <a:t>can be exploited</a:t>
            </a:r>
            <a:endParaRPr b="0" i="0" sz="621" u="none" cap="none" strike="noStrike">
              <a:solidFill>
                <a:srgbClr val="000000"/>
              </a:solidFill>
              <a:latin typeface="Calibri"/>
              <a:ea typeface="Calibri"/>
              <a:cs typeface="Calibri"/>
              <a:sym typeface="Calibri"/>
            </a:endParaRPr>
          </a:p>
        </p:txBody>
      </p:sp>
      <p:sp>
        <p:nvSpPr>
          <p:cNvPr id="735" name="Google Shape;735;p59"/>
          <p:cNvSpPr/>
          <p:nvPr/>
        </p:nvSpPr>
        <p:spPr>
          <a:xfrm>
            <a:off x="7961878" y="4624264"/>
            <a:ext cx="966900" cy="945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736"/>
              <a:buFont typeface="DM Sans"/>
              <a:buNone/>
            </a:pPr>
            <a:r>
              <a:rPr b="1" i="0" lang="en" sz="731" u="none" cap="none" strike="noStrike">
                <a:solidFill>
                  <a:srgbClr val="0254EC"/>
                </a:solidFill>
                <a:latin typeface="Calibri"/>
                <a:ea typeface="Calibri"/>
                <a:cs typeface="Calibri"/>
                <a:sym typeface="Calibri"/>
              </a:rPr>
              <a:t>Blue Agent</a:t>
            </a:r>
            <a:endParaRPr b="1" i="0" sz="626" u="none" cap="none" strike="noStrike">
              <a:solidFill>
                <a:srgbClr val="000000"/>
              </a:solidFill>
              <a:latin typeface="Calibri"/>
              <a:ea typeface="Calibri"/>
              <a:cs typeface="Calibri"/>
              <a:sym typeface="Calibri"/>
            </a:endParaRPr>
          </a:p>
        </p:txBody>
      </p:sp>
      <p:sp>
        <p:nvSpPr>
          <p:cNvPr id="736" name="Google Shape;736;p59"/>
          <p:cNvSpPr/>
          <p:nvPr/>
        </p:nvSpPr>
        <p:spPr>
          <a:xfrm>
            <a:off x="7965161" y="4851627"/>
            <a:ext cx="948000" cy="13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1741"/>
              </a:buClr>
              <a:buSzPts val="631"/>
              <a:buFont typeface="DM Sans"/>
              <a:buNone/>
            </a:pPr>
            <a:r>
              <a:rPr b="0" i="0" lang="en" sz="800" u="none" cap="none" strike="noStrike">
                <a:solidFill>
                  <a:srgbClr val="000000"/>
                </a:solidFill>
                <a:latin typeface="Calibri"/>
                <a:ea typeface="Calibri"/>
                <a:cs typeface="Calibri"/>
                <a:sym typeface="Calibri"/>
              </a:rPr>
              <a:t>Enabled</a:t>
            </a:r>
            <a:br>
              <a:rPr b="0" i="0" lang="en" sz="800" u="none" cap="none" strike="noStrike">
                <a:solidFill>
                  <a:srgbClr val="000000"/>
                </a:solidFill>
                <a:latin typeface="Calibri"/>
                <a:ea typeface="Calibri"/>
                <a:cs typeface="Calibri"/>
                <a:sym typeface="Calibri"/>
              </a:rPr>
            </a:br>
            <a:r>
              <a:rPr b="0" i="0" lang="en" sz="800" u="none" cap="none" strike="noStrike">
                <a:solidFill>
                  <a:srgbClr val="000000"/>
                </a:solidFill>
                <a:latin typeface="Calibri"/>
                <a:ea typeface="Calibri"/>
                <a:cs typeface="Calibri"/>
                <a:sym typeface="Calibri"/>
              </a:rPr>
              <a:t>{{F_BA}}</a:t>
            </a:r>
            <a:br>
              <a:rPr b="0" i="0" lang="en" sz="800" u="none" cap="none" strike="noStrike">
                <a:solidFill>
                  <a:srgbClr val="000000"/>
                </a:solidFill>
                <a:latin typeface="Calibri"/>
                <a:ea typeface="Calibri"/>
                <a:cs typeface="Calibri"/>
                <a:sym typeface="Calibri"/>
              </a:rPr>
            </a:br>
            <a:endParaRPr b="0" i="0" sz="800" u="none" cap="none" strike="noStrike">
              <a:solidFill>
                <a:srgbClr val="000000"/>
              </a:solidFill>
              <a:latin typeface="Calibri"/>
              <a:ea typeface="Calibri"/>
              <a:cs typeface="Calibri"/>
              <a:sym typeface="Calibri"/>
            </a:endParaRPr>
          </a:p>
        </p:txBody>
      </p:sp>
      <p:sp>
        <p:nvSpPr>
          <p:cNvPr id="737" name="Google Shape;737;p59"/>
          <p:cNvSpPr/>
          <p:nvPr/>
        </p:nvSpPr>
        <p:spPr>
          <a:xfrm>
            <a:off x="7964150" y="1548816"/>
            <a:ext cx="948000" cy="969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592"/>
              <a:buFont typeface="DM Sans"/>
              <a:buNone/>
            </a:pPr>
            <a:r>
              <a:rPr b="1" i="0" lang="en" sz="700" u="none" cap="none" strike="noStrike">
                <a:solidFill>
                  <a:srgbClr val="0254EC"/>
                </a:solidFill>
                <a:latin typeface="Calibri"/>
                <a:ea typeface="Calibri"/>
                <a:cs typeface="Calibri"/>
                <a:sym typeface="Calibri"/>
              </a:rPr>
              <a:t>Red Agent</a:t>
            </a:r>
            <a:endParaRPr b="1" i="0" sz="700" u="none" cap="none" strike="noStrike">
              <a:solidFill>
                <a:srgbClr val="000000"/>
              </a:solidFill>
              <a:latin typeface="Calibri"/>
              <a:ea typeface="Calibri"/>
              <a:cs typeface="Calibri"/>
              <a:sym typeface="Calibri"/>
            </a:endParaRPr>
          </a:p>
        </p:txBody>
      </p:sp>
      <p:sp>
        <p:nvSpPr>
          <p:cNvPr id="738" name="Google Shape;738;p59"/>
          <p:cNvSpPr/>
          <p:nvPr/>
        </p:nvSpPr>
        <p:spPr>
          <a:xfrm>
            <a:off x="7968735" y="1766529"/>
            <a:ext cx="944700" cy="141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1741"/>
              </a:buClr>
              <a:buSzPts val="508"/>
              <a:buFont typeface="DM Sans"/>
              <a:buNone/>
            </a:pPr>
            <a:r>
              <a:rPr b="0" i="0" lang="en" sz="821" u="none" cap="none" strike="noStrike">
                <a:solidFill>
                  <a:srgbClr val="000000"/>
                </a:solidFill>
                <a:latin typeface="Calibri"/>
                <a:ea typeface="Calibri"/>
                <a:cs typeface="Calibri"/>
                <a:sym typeface="Calibri"/>
              </a:rPr>
              <a:t>Enabled</a:t>
            </a:r>
            <a:br>
              <a:rPr b="0" i="0" lang="en" sz="821" u="none" cap="none" strike="noStrike">
                <a:solidFill>
                  <a:srgbClr val="000000"/>
                </a:solidFill>
                <a:latin typeface="Calibri"/>
                <a:ea typeface="Calibri"/>
                <a:cs typeface="Calibri"/>
                <a:sym typeface="Calibri"/>
              </a:rPr>
            </a:br>
            <a:r>
              <a:rPr b="0" i="0" lang="en" sz="821" u="none" cap="none" strike="noStrike">
                <a:solidFill>
                  <a:srgbClr val="000000"/>
                </a:solidFill>
                <a:latin typeface="Calibri"/>
                <a:ea typeface="Calibri"/>
                <a:cs typeface="Calibri"/>
                <a:sym typeface="Calibri"/>
              </a:rPr>
              <a:t>{{F_RA}}</a:t>
            </a:r>
            <a:br>
              <a:rPr b="0" i="0" lang="en" sz="821" u="none" cap="none" strike="noStrike">
                <a:solidFill>
                  <a:srgbClr val="000000"/>
                </a:solidFill>
                <a:latin typeface="Calibri"/>
                <a:ea typeface="Calibri"/>
                <a:cs typeface="Calibri"/>
                <a:sym typeface="Calibri"/>
              </a:rPr>
            </a:br>
            <a:endParaRPr b="0" i="0" sz="821" u="none" cap="none" strike="noStrike">
              <a:solidFill>
                <a:srgbClr val="000000"/>
              </a:solidFill>
              <a:latin typeface="Calibri"/>
              <a:ea typeface="Calibri"/>
              <a:cs typeface="Calibri"/>
              <a:sym typeface="Calibri"/>
            </a:endParaRPr>
          </a:p>
        </p:txBody>
      </p:sp>
      <p:pic>
        <p:nvPicPr>
          <p:cNvPr id="739" name="Google Shape;739;p59"/>
          <p:cNvPicPr preferRelativeResize="0"/>
          <p:nvPr/>
        </p:nvPicPr>
        <p:blipFill rotWithShape="1">
          <a:blip r:embed="rId3">
            <a:alphaModFix/>
          </a:blip>
          <a:srcRect b="0" l="0" r="0" t="0"/>
          <a:stretch/>
        </p:blipFill>
        <p:spPr>
          <a:xfrm>
            <a:off x="107954" y="1893191"/>
            <a:ext cx="7613696" cy="1578100"/>
          </a:xfrm>
          <a:prstGeom prst="rect">
            <a:avLst/>
          </a:prstGeom>
          <a:noFill/>
          <a:ln cap="flat" cmpd="sng" w="9525">
            <a:solidFill>
              <a:schemeClr val="accent1"/>
            </a:solidFill>
            <a:prstDash val="solid"/>
            <a:round/>
            <a:headEnd len="sm" w="sm" type="none"/>
            <a:tailEnd len="sm" w="sm" type="none"/>
          </a:ln>
        </p:spPr>
      </p:pic>
      <p:sp>
        <p:nvSpPr>
          <p:cNvPr id="740" name="Google Shape;740;p59"/>
          <p:cNvSpPr txBox="1"/>
          <p:nvPr/>
        </p:nvSpPr>
        <p:spPr>
          <a:xfrm>
            <a:off x="155254" y="2004575"/>
            <a:ext cx="4782900" cy="361500"/>
          </a:xfrm>
          <a:prstGeom prst="rect">
            <a:avLst/>
          </a:prstGeom>
          <a:noFill/>
          <a:ln>
            <a:noFill/>
          </a:ln>
        </p:spPr>
        <p:txBody>
          <a:bodyPr anchorCtr="0" anchor="t" bIns="34275" lIns="68575" spcFirstLastPara="1" rIns="68575" wrap="square" tIns="34275">
            <a:noAutofit/>
          </a:bodyPr>
          <a:lstStyle/>
          <a:p>
            <a:pPr indent="0" lvl="0" marL="0" marR="0" rtl="0" algn="l">
              <a:lnSpc>
                <a:spcPct val="90000"/>
              </a:lnSpc>
              <a:spcBef>
                <a:spcPts val="0"/>
              </a:spcBef>
              <a:spcAft>
                <a:spcPts val="0"/>
              </a:spcAft>
              <a:buClr>
                <a:schemeClr val="dk2"/>
              </a:buClr>
              <a:buSzPts val="1500"/>
              <a:buFont typeface="Arial"/>
              <a:buNone/>
            </a:pPr>
            <a:r>
              <a:rPr b="0" i="0" lang="en" sz="1500" u="sng" cap="none" strike="noStrike">
                <a:solidFill>
                  <a:schemeClr val="hlink"/>
                </a:solidFill>
                <a:latin typeface="Calibri"/>
                <a:ea typeface="Calibri"/>
                <a:cs typeface="Calibri"/>
                <a:sym typeface="Calibri"/>
                <a:hlinkClick r:id="rId7"/>
              </a:rPr>
              <a:t>Top 3 Wiz Critical Risk Issues by Count</a:t>
            </a:r>
            <a:r>
              <a:rPr b="0" i="0" lang="en" sz="1500" u="none" cap="none" strike="noStrike">
                <a:solidFill>
                  <a:srgbClr val="0254EC"/>
                </a:solidFill>
                <a:latin typeface="Calibri"/>
                <a:ea typeface="Calibri"/>
                <a:cs typeface="Calibri"/>
                <a:sym typeface="Calibri"/>
              </a:rPr>
              <a:t> </a:t>
            </a:r>
            <a:r>
              <a:rPr b="0" i="0" lang="en" sz="1500" u="none" cap="none" strike="noStrike">
                <a:solidFill>
                  <a:schemeClr val="hlink"/>
                </a:solidFill>
                <a:uFill>
                  <a:noFill/>
                </a:uFill>
                <a:latin typeface="Calibri"/>
                <a:ea typeface="Calibri"/>
                <a:cs typeface="Calibri"/>
                <a:sym typeface="Calibri"/>
                <a:hlinkClick r:id="rId8"/>
              </a:rPr>
              <a:t>↗</a:t>
            </a:r>
            <a:endParaRPr b="0" i="0" sz="1500" u="none" cap="none" strike="noStrike">
              <a:solidFill>
                <a:srgbClr val="0254EC"/>
              </a:solidFill>
              <a:latin typeface="Calibri"/>
              <a:ea typeface="Calibri"/>
              <a:cs typeface="Calibri"/>
              <a:sym typeface="Calibri"/>
            </a:endParaRPr>
          </a:p>
        </p:txBody>
      </p:sp>
      <p:sp>
        <p:nvSpPr>
          <p:cNvPr id="741" name="Google Shape;741;p59"/>
          <p:cNvSpPr txBox="1"/>
          <p:nvPr/>
        </p:nvSpPr>
        <p:spPr>
          <a:xfrm>
            <a:off x="112373" y="2363761"/>
            <a:ext cx="6979500" cy="1244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0" i="0" lang="en" sz="900" u="sng" cap="none" strike="noStrike">
                <a:solidFill>
                  <a:srgbClr val="0254EC"/>
                </a:solidFill>
                <a:highlight>
                  <a:srgbClr val="F9FAFB"/>
                </a:highlight>
                <a:latin typeface="Calibri"/>
                <a:ea typeface="Calibri"/>
                <a:cs typeface="Calibri"/>
                <a:sym typeface="Calibri"/>
              </a:rPr>
              <a:t>{{CI_CONTROL_1}}</a:t>
            </a:r>
            <a:endParaRPr b="0" i="0" sz="900" u="sng" cap="none" strike="noStrike">
              <a:solidFill>
                <a:srgbClr val="0254EC"/>
              </a:solidFill>
              <a:highlight>
                <a:srgbClr val="F9FAFB"/>
              </a:highlight>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rPr b="0" i="0" lang="en" sz="800" u="none" cap="none" strike="noStrike">
                <a:solidFill>
                  <a:srgbClr val="991B1B"/>
                </a:solidFill>
                <a:highlight>
                  <a:srgbClr val="FEE2E2"/>
                </a:highlight>
                <a:latin typeface="Calibri"/>
                <a:ea typeface="Calibri"/>
                <a:cs typeface="Calibri"/>
                <a:sym typeface="Calibri"/>
              </a:rPr>
              <a:t>CRITICAL</a:t>
            </a:r>
            <a:endParaRPr b="0" i="0" sz="800" u="none" cap="none" strike="noStrike">
              <a:solidFill>
                <a:srgbClr val="991B1B"/>
              </a:solidFill>
              <a:highlight>
                <a:srgbClr val="FEE2E2"/>
              </a:highlight>
              <a:latin typeface="Calibri"/>
              <a:ea typeface="Calibri"/>
              <a:cs typeface="Calibri"/>
              <a:sym typeface="Calibri"/>
            </a:endParaRPr>
          </a:p>
          <a:p>
            <a:pPr indent="0" lvl="0" marL="0" marR="0" rtl="0" algn="l">
              <a:lnSpc>
                <a:spcPct val="100000"/>
              </a:lnSpc>
              <a:spcBef>
                <a:spcPts val="700"/>
              </a:spcBef>
              <a:spcAft>
                <a:spcPts val="0"/>
              </a:spcAft>
              <a:buClr>
                <a:schemeClr val="dk1"/>
              </a:buClr>
              <a:buSzPts val="1100"/>
              <a:buFont typeface="Arial"/>
              <a:buNone/>
            </a:pPr>
            <a:r>
              <a:rPr b="0" i="0" lang="en" sz="900" u="sng" cap="none" strike="noStrike">
                <a:solidFill>
                  <a:srgbClr val="0254EC"/>
                </a:solidFill>
                <a:highlight>
                  <a:srgbClr val="F9FAFB"/>
                </a:highlight>
                <a:latin typeface="Calibri"/>
                <a:ea typeface="Calibri"/>
                <a:cs typeface="Calibri"/>
                <a:sym typeface="Calibri"/>
              </a:rPr>
              <a:t>{{CI_CONTROL_2}}</a:t>
            </a:r>
            <a:br>
              <a:rPr b="0" i="0" lang="en" sz="800" u="sng" cap="none" strike="noStrike">
                <a:solidFill>
                  <a:schemeClr val="hlink"/>
                </a:solidFill>
                <a:highlight>
                  <a:srgbClr val="FFFFFF"/>
                </a:highlight>
                <a:latin typeface="Calibri"/>
                <a:ea typeface="Calibri"/>
                <a:cs typeface="Calibri"/>
                <a:sym typeface="Calibri"/>
              </a:rPr>
            </a:br>
            <a:r>
              <a:rPr b="0" i="0" lang="en" sz="800" u="none" cap="none" strike="noStrike">
                <a:solidFill>
                  <a:srgbClr val="991B1B"/>
                </a:solidFill>
                <a:highlight>
                  <a:srgbClr val="FEE2E2"/>
                </a:highlight>
                <a:latin typeface="Calibri"/>
                <a:ea typeface="Calibri"/>
                <a:cs typeface="Calibri"/>
                <a:sym typeface="Calibri"/>
              </a:rPr>
              <a:t>CRITICAL</a:t>
            </a:r>
            <a:endParaRPr b="0" i="0" sz="800" u="none" cap="none" strike="noStrike">
              <a:solidFill>
                <a:srgbClr val="991B1B"/>
              </a:solidFill>
              <a:highlight>
                <a:srgbClr val="FEE2E2"/>
              </a:highlight>
              <a:latin typeface="Calibri"/>
              <a:ea typeface="Calibri"/>
              <a:cs typeface="Calibri"/>
              <a:sym typeface="Calibri"/>
            </a:endParaRPr>
          </a:p>
          <a:p>
            <a:pPr indent="0" lvl="0" marL="0" marR="0" rtl="0" algn="l">
              <a:lnSpc>
                <a:spcPct val="100000"/>
              </a:lnSpc>
              <a:spcBef>
                <a:spcPts val="700"/>
              </a:spcBef>
              <a:spcAft>
                <a:spcPts val="0"/>
              </a:spcAft>
              <a:buClr>
                <a:schemeClr val="dk1"/>
              </a:buClr>
              <a:buSzPts val="1100"/>
              <a:buFont typeface="Arial"/>
              <a:buNone/>
            </a:pPr>
            <a:r>
              <a:rPr b="0" i="0" lang="en" sz="900" u="sng" cap="none" strike="noStrike">
                <a:solidFill>
                  <a:srgbClr val="0254EC"/>
                </a:solidFill>
                <a:highlight>
                  <a:srgbClr val="F9FAFB"/>
                </a:highlight>
                <a:latin typeface="Calibri"/>
                <a:ea typeface="Calibri"/>
                <a:cs typeface="Calibri"/>
                <a:sym typeface="Calibri"/>
              </a:rPr>
              <a:t>{{CI_CONTROL_3}}</a:t>
            </a:r>
            <a:br>
              <a:rPr b="0" i="0" lang="en" sz="800" u="sng" cap="none" strike="noStrike">
                <a:solidFill>
                  <a:schemeClr val="hlink"/>
                </a:solidFill>
                <a:highlight>
                  <a:srgbClr val="FFFFFF"/>
                </a:highlight>
                <a:latin typeface="Calibri"/>
                <a:ea typeface="Calibri"/>
                <a:cs typeface="Calibri"/>
                <a:sym typeface="Calibri"/>
              </a:rPr>
            </a:br>
            <a:r>
              <a:rPr b="0" i="0" lang="en" sz="800" u="none" cap="none" strike="noStrike">
                <a:solidFill>
                  <a:srgbClr val="991B1B"/>
                </a:solidFill>
                <a:highlight>
                  <a:srgbClr val="FEE2E2"/>
                </a:highlight>
                <a:latin typeface="Calibri"/>
                <a:ea typeface="Calibri"/>
                <a:cs typeface="Calibri"/>
                <a:sym typeface="Calibri"/>
              </a:rPr>
              <a:t>CRITICAL</a:t>
            </a:r>
            <a:endParaRPr b="0" i="0" sz="800" u="none" cap="none" strike="noStrike">
              <a:solidFill>
                <a:srgbClr val="991B1B"/>
              </a:solidFill>
              <a:highlight>
                <a:srgbClr val="FEE2E2"/>
              </a:highlight>
              <a:latin typeface="Calibri"/>
              <a:ea typeface="Calibri"/>
              <a:cs typeface="Calibri"/>
              <a:sym typeface="Calibri"/>
            </a:endParaRPr>
          </a:p>
          <a:p>
            <a:pPr indent="0" lvl="0" marL="0" marR="0" rtl="0" algn="r">
              <a:lnSpc>
                <a:spcPct val="115000"/>
              </a:lnSpc>
              <a:spcBef>
                <a:spcPts val="700"/>
              </a:spcBef>
              <a:spcAft>
                <a:spcPts val="0"/>
              </a:spcAft>
              <a:buClr>
                <a:srgbClr val="000000"/>
              </a:buClr>
              <a:buSzPts val="200"/>
              <a:buFont typeface="Arial"/>
              <a:buNone/>
            </a:pPr>
            <a:r>
              <a:t/>
            </a:r>
            <a:endParaRPr b="0" i="0" sz="200" u="none" cap="none" strike="noStrike">
              <a:solidFill>
                <a:srgbClr val="1155CC"/>
              </a:solidFill>
              <a:latin typeface="Calibri"/>
              <a:ea typeface="Calibri"/>
              <a:cs typeface="Calibri"/>
              <a:sym typeface="Calibri"/>
            </a:endParaRPr>
          </a:p>
        </p:txBody>
      </p:sp>
      <p:pic>
        <p:nvPicPr>
          <p:cNvPr id="742" name="Google Shape;742;p59"/>
          <p:cNvPicPr preferRelativeResize="0"/>
          <p:nvPr/>
        </p:nvPicPr>
        <p:blipFill rotWithShape="1">
          <a:blip r:embed="rId3">
            <a:alphaModFix/>
          </a:blip>
          <a:srcRect b="0" l="0" r="0" t="0"/>
          <a:stretch/>
        </p:blipFill>
        <p:spPr>
          <a:xfrm>
            <a:off x="107950" y="3625724"/>
            <a:ext cx="7613696" cy="1474550"/>
          </a:xfrm>
          <a:prstGeom prst="rect">
            <a:avLst/>
          </a:prstGeom>
          <a:noFill/>
          <a:ln cap="flat" cmpd="sng" w="9525">
            <a:solidFill>
              <a:schemeClr val="accent1"/>
            </a:solidFill>
            <a:prstDash val="solid"/>
            <a:round/>
            <a:headEnd len="sm" w="sm" type="none"/>
            <a:tailEnd len="sm" w="sm" type="none"/>
          </a:ln>
        </p:spPr>
      </p:pic>
      <p:sp>
        <p:nvSpPr>
          <p:cNvPr id="743" name="Google Shape;743;p59"/>
          <p:cNvSpPr txBox="1"/>
          <p:nvPr/>
        </p:nvSpPr>
        <p:spPr>
          <a:xfrm>
            <a:off x="192197" y="3700461"/>
            <a:ext cx="4735500" cy="314700"/>
          </a:xfrm>
          <a:prstGeom prst="rect">
            <a:avLst/>
          </a:prstGeom>
          <a:noFill/>
          <a:ln>
            <a:noFill/>
          </a:ln>
        </p:spPr>
        <p:txBody>
          <a:bodyPr anchorCtr="0" anchor="t" bIns="34275" lIns="68575" spcFirstLastPara="1" rIns="68575" wrap="square" tIns="34275">
            <a:noAutofit/>
          </a:bodyPr>
          <a:lstStyle/>
          <a:p>
            <a:pPr indent="0" lvl="0" marL="0" marR="0" rtl="0" algn="l">
              <a:lnSpc>
                <a:spcPct val="90000"/>
              </a:lnSpc>
              <a:spcBef>
                <a:spcPts val="0"/>
              </a:spcBef>
              <a:spcAft>
                <a:spcPts val="0"/>
              </a:spcAft>
              <a:buClr>
                <a:schemeClr val="dk2"/>
              </a:buClr>
              <a:buSzPts val="1500"/>
              <a:buFont typeface="Arial"/>
              <a:buNone/>
            </a:pPr>
            <a:r>
              <a:rPr b="0" i="0" lang="en" sz="1500" u="sng" cap="none" strike="noStrike">
                <a:solidFill>
                  <a:schemeClr val="hlink"/>
                </a:solidFill>
                <a:latin typeface="Calibri"/>
                <a:ea typeface="Calibri"/>
                <a:cs typeface="Calibri"/>
                <a:sym typeface="Calibri"/>
                <a:hlinkClick r:id="rId9"/>
              </a:rPr>
              <a:t>Top 3 Wiz High Risk Issues by Count</a:t>
            </a:r>
            <a:r>
              <a:rPr b="0" i="0" lang="en" sz="1500" u="none" cap="none" strike="noStrike">
                <a:solidFill>
                  <a:srgbClr val="0254EC"/>
                </a:solidFill>
                <a:latin typeface="Calibri"/>
                <a:ea typeface="Calibri"/>
                <a:cs typeface="Calibri"/>
                <a:sym typeface="Calibri"/>
              </a:rPr>
              <a:t> </a:t>
            </a:r>
            <a:r>
              <a:rPr b="0" i="0" lang="en" sz="1500" u="none" cap="none" strike="noStrike">
                <a:solidFill>
                  <a:schemeClr val="hlink"/>
                </a:solidFill>
                <a:uFill>
                  <a:noFill/>
                </a:uFill>
                <a:latin typeface="Calibri"/>
                <a:ea typeface="Calibri"/>
                <a:cs typeface="Calibri"/>
                <a:sym typeface="Calibri"/>
                <a:hlinkClick r:id="rId10"/>
              </a:rPr>
              <a:t>↗</a:t>
            </a:r>
            <a:endParaRPr b="0" i="0" sz="1700" u="none" cap="none" strike="noStrike">
              <a:solidFill>
                <a:srgbClr val="0254EC"/>
              </a:solidFill>
              <a:latin typeface="Calibri"/>
              <a:ea typeface="Calibri"/>
              <a:cs typeface="Calibri"/>
              <a:sym typeface="Calibri"/>
            </a:endParaRPr>
          </a:p>
        </p:txBody>
      </p:sp>
      <p:sp>
        <p:nvSpPr>
          <p:cNvPr id="744" name="Google Shape;744;p59"/>
          <p:cNvSpPr txBox="1"/>
          <p:nvPr/>
        </p:nvSpPr>
        <p:spPr>
          <a:xfrm>
            <a:off x="6213626" y="3912215"/>
            <a:ext cx="1425000" cy="1368000"/>
          </a:xfrm>
          <a:prstGeom prst="rect">
            <a:avLst/>
          </a:prstGeom>
          <a:noFill/>
          <a:ln>
            <a:noFill/>
          </a:ln>
        </p:spPr>
        <p:txBody>
          <a:bodyPr anchorCtr="0" anchor="ctr" bIns="91425" lIns="0" spcFirstLastPara="1" rIns="0" wrap="square" tIns="91425">
            <a:noAutofit/>
          </a:bodyPr>
          <a:lstStyle/>
          <a:p>
            <a:pPr indent="0" lvl="0" marL="0" marR="0" rtl="0" algn="r">
              <a:lnSpc>
                <a:spcPct val="100000"/>
              </a:lnSpc>
              <a:spcBef>
                <a:spcPts val="0"/>
              </a:spcBef>
              <a:spcAft>
                <a:spcPts val="0"/>
              </a:spcAft>
              <a:buClr>
                <a:schemeClr val="dk1"/>
              </a:buClr>
              <a:buSzPts val="1100"/>
              <a:buFont typeface="Arial"/>
              <a:buNone/>
            </a:pPr>
            <a:r>
              <a:rPr b="0" i="0" lang="en" sz="900" u="none" cap="none" strike="noStrike">
                <a:solidFill>
                  <a:schemeClr val="dk1"/>
                </a:solidFill>
                <a:latin typeface="Calibri"/>
                <a:ea typeface="Calibri"/>
                <a:cs typeface="Calibri"/>
                <a:sym typeface="Calibri"/>
              </a:rPr>
              <a:t>{{HI_CBC_1}} Issues</a:t>
            </a:r>
            <a:endParaRPr b="0" i="0" sz="900" u="none" cap="none" strike="noStrike">
              <a:solidFill>
                <a:schemeClr val="dk1"/>
              </a:solidFill>
              <a:latin typeface="Calibri"/>
              <a:ea typeface="Calibri"/>
              <a:cs typeface="Calibri"/>
              <a:sym typeface="Calibri"/>
            </a:endParaRPr>
          </a:p>
          <a:p>
            <a:pPr indent="0" lvl="0" marL="0" marR="0" rtl="0" algn="r">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Calibri"/>
              <a:ea typeface="Calibri"/>
              <a:cs typeface="Calibri"/>
              <a:sym typeface="Calibri"/>
            </a:endParaRPr>
          </a:p>
          <a:p>
            <a:pPr indent="0" lvl="0" marL="0" marR="0" rtl="0" algn="r">
              <a:lnSpc>
                <a:spcPct val="100000"/>
              </a:lnSpc>
              <a:spcBef>
                <a:spcPts val="0"/>
              </a:spcBef>
              <a:spcAft>
                <a:spcPts val="0"/>
              </a:spcAft>
              <a:buClr>
                <a:srgbClr val="000000"/>
              </a:buClr>
              <a:buSzPts val="900"/>
              <a:buFont typeface="Arial"/>
              <a:buNone/>
            </a:pPr>
            <a:r>
              <a:rPr b="0" i="0" lang="en" sz="900" u="none" cap="none" strike="noStrike">
                <a:solidFill>
                  <a:schemeClr val="dk1"/>
                </a:solidFill>
                <a:latin typeface="Calibri"/>
                <a:ea typeface="Calibri"/>
                <a:cs typeface="Calibri"/>
                <a:sym typeface="Calibri"/>
              </a:rPr>
              <a:t>{{HI_CBC_2}} Issues</a:t>
            </a:r>
            <a:endParaRPr b="0" i="0" sz="900" u="none" cap="none" strike="noStrike">
              <a:solidFill>
                <a:schemeClr val="dk1"/>
              </a:solidFill>
              <a:latin typeface="Calibri"/>
              <a:ea typeface="Calibri"/>
              <a:cs typeface="Calibri"/>
              <a:sym typeface="Calibri"/>
            </a:endParaRPr>
          </a:p>
          <a:p>
            <a:pPr indent="0" lvl="0" marL="0" marR="0" rtl="0" algn="r">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Calibri"/>
              <a:ea typeface="Calibri"/>
              <a:cs typeface="Calibri"/>
              <a:sym typeface="Calibri"/>
            </a:endParaRPr>
          </a:p>
          <a:p>
            <a:pPr indent="0" lvl="0" marL="0" marR="0" rtl="0" algn="r">
              <a:lnSpc>
                <a:spcPct val="100000"/>
              </a:lnSpc>
              <a:spcBef>
                <a:spcPts val="0"/>
              </a:spcBef>
              <a:spcAft>
                <a:spcPts val="0"/>
              </a:spcAft>
              <a:buClr>
                <a:srgbClr val="000000"/>
              </a:buClr>
              <a:buSzPts val="900"/>
              <a:buFont typeface="Arial"/>
              <a:buNone/>
            </a:pPr>
            <a:r>
              <a:rPr b="0" i="0" lang="en" sz="900" u="none" cap="none" strike="noStrike">
                <a:solidFill>
                  <a:schemeClr val="dk1"/>
                </a:solidFill>
                <a:latin typeface="Calibri"/>
                <a:ea typeface="Calibri"/>
                <a:cs typeface="Calibri"/>
                <a:sym typeface="Calibri"/>
              </a:rPr>
              <a:t>{{HI_CBC_3}} Issues</a:t>
            </a:r>
            <a:endParaRPr b="0" i="0" sz="900" u="none" cap="none" strike="noStrike">
              <a:solidFill>
                <a:schemeClr val="dk1"/>
              </a:solidFill>
              <a:latin typeface="Calibri"/>
              <a:ea typeface="Calibri"/>
              <a:cs typeface="Calibri"/>
              <a:sym typeface="Calibri"/>
            </a:endParaRPr>
          </a:p>
        </p:txBody>
      </p:sp>
      <p:sp>
        <p:nvSpPr>
          <p:cNvPr id="745" name="Google Shape;745;p59"/>
          <p:cNvSpPr txBox="1"/>
          <p:nvPr/>
        </p:nvSpPr>
        <p:spPr>
          <a:xfrm>
            <a:off x="6198064" y="2230298"/>
            <a:ext cx="1425000" cy="1368000"/>
          </a:xfrm>
          <a:prstGeom prst="rect">
            <a:avLst/>
          </a:prstGeom>
          <a:noFill/>
          <a:ln>
            <a:noFill/>
          </a:ln>
        </p:spPr>
        <p:txBody>
          <a:bodyPr anchorCtr="0" anchor="ctr" bIns="91425" lIns="0" spcFirstLastPara="1" rIns="0" wrap="square" tIns="91425">
            <a:noAutofit/>
          </a:bodyPr>
          <a:lstStyle/>
          <a:p>
            <a:pPr indent="0" lvl="0" marL="0" marR="0" rtl="0" algn="r">
              <a:lnSpc>
                <a:spcPct val="100000"/>
              </a:lnSpc>
              <a:spcBef>
                <a:spcPts val="0"/>
              </a:spcBef>
              <a:spcAft>
                <a:spcPts val="0"/>
              </a:spcAft>
              <a:buClr>
                <a:srgbClr val="000000"/>
              </a:buClr>
              <a:buSzPts val="900"/>
              <a:buFont typeface="Arial"/>
              <a:buNone/>
            </a:pPr>
            <a:r>
              <a:rPr b="0" i="0" lang="en" sz="900" u="none" cap="none" strike="noStrike">
                <a:solidFill>
                  <a:schemeClr val="dk1"/>
                </a:solidFill>
                <a:latin typeface="Calibri"/>
                <a:ea typeface="Calibri"/>
                <a:cs typeface="Calibri"/>
                <a:sym typeface="Calibri"/>
              </a:rPr>
              <a:t>{{CI_CBC_1}} Issues</a:t>
            </a:r>
            <a:endParaRPr b="0" i="0" sz="900" u="none" cap="none" strike="noStrike">
              <a:solidFill>
                <a:schemeClr val="dk1"/>
              </a:solidFill>
              <a:latin typeface="Calibri"/>
              <a:ea typeface="Calibri"/>
              <a:cs typeface="Calibri"/>
              <a:sym typeface="Calibri"/>
            </a:endParaRPr>
          </a:p>
          <a:p>
            <a:pPr indent="0" lvl="0" marL="0" marR="0" rtl="0" algn="r">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Calibri"/>
              <a:ea typeface="Calibri"/>
              <a:cs typeface="Calibri"/>
              <a:sym typeface="Calibri"/>
            </a:endParaRPr>
          </a:p>
          <a:p>
            <a:pPr indent="0" lvl="0" marL="0" marR="0" rtl="0" algn="r">
              <a:lnSpc>
                <a:spcPct val="100000"/>
              </a:lnSpc>
              <a:spcBef>
                <a:spcPts val="0"/>
              </a:spcBef>
              <a:spcAft>
                <a:spcPts val="0"/>
              </a:spcAft>
              <a:buClr>
                <a:srgbClr val="000000"/>
              </a:buClr>
              <a:buSzPts val="900"/>
              <a:buFont typeface="Arial"/>
              <a:buNone/>
            </a:pPr>
            <a:r>
              <a:rPr b="0" i="0" lang="en" sz="900" u="none" cap="none" strike="noStrike">
                <a:solidFill>
                  <a:schemeClr val="dk1"/>
                </a:solidFill>
                <a:latin typeface="Calibri"/>
                <a:ea typeface="Calibri"/>
                <a:cs typeface="Calibri"/>
                <a:sym typeface="Calibri"/>
              </a:rPr>
              <a:t>{{CI_CBC_2}} Issues</a:t>
            </a:r>
            <a:endParaRPr b="0" i="0" sz="900" u="none" cap="none" strike="noStrike">
              <a:solidFill>
                <a:schemeClr val="dk1"/>
              </a:solidFill>
              <a:latin typeface="Calibri"/>
              <a:ea typeface="Calibri"/>
              <a:cs typeface="Calibri"/>
              <a:sym typeface="Calibri"/>
            </a:endParaRPr>
          </a:p>
          <a:p>
            <a:pPr indent="0" lvl="0" marL="0" marR="0" rtl="0" algn="r">
              <a:lnSpc>
                <a:spcPct val="100000"/>
              </a:lnSpc>
              <a:spcBef>
                <a:spcPts val="0"/>
              </a:spcBef>
              <a:spcAft>
                <a:spcPts val="0"/>
              </a:spcAft>
              <a:buClr>
                <a:srgbClr val="000000"/>
              </a:buClr>
              <a:buSzPts val="1500"/>
              <a:buFont typeface="Arial"/>
              <a:buNone/>
            </a:pPr>
            <a:r>
              <a:t/>
            </a:r>
            <a:endParaRPr b="0" i="0" sz="1500" u="none" cap="none" strike="noStrike">
              <a:solidFill>
                <a:schemeClr val="dk1"/>
              </a:solidFill>
              <a:latin typeface="Calibri"/>
              <a:ea typeface="Calibri"/>
              <a:cs typeface="Calibri"/>
              <a:sym typeface="Calibri"/>
            </a:endParaRPr>
          </a:p>
          <a:p>
            <a:pPr indent="0" lvl="0" marL="0" marR="0" rtl="0" algn="r">
              <a:lnSpc>
                <a:spcPct val="100000"/>
              </a:lnSpc>
              <a:spcBef>
                <a:spcPts val="0"/>
              </a:spcBef>
              <a:spcAft>
                <a:spcPts val="0"/>
              </a:spcAft>
              <a:buClr>
                <a:srgbClr val="000000"/>
              </a:buClr>
              <a:buSzPts val="900"/>
              <a:buFont typeface="Arial"/>
              <a:buNone/>
            </a:pPr>
            <a:r>
              <a:rPr b="0" i="0" lang="en" sz="900" u="none" cap="none" strike="noStrike">
                <a:solidFill>
                  <a:schemeClr val="dk1"/>
                </a:solidFill>
                <a:latin typeface="Calibri"/>
                <a:ea typeface="Calibri"/>
                <a:cs typeface="Calibri"/>
                <a:sym typeface="Calibri"/>
              </a:rPr>
              <a:t>{{CI_CBC_3}} Issues</a:t>
            </a:r>
            <a:endParaRPr b="0" i="0" sz="900" u="none" cap="none" strike="noStrike">
              <a:solidFill>
                <a:schemeClr val="dk1"/>
              </a:solidFill>
              <a:latin typeface="Calibri"/>
              <a:ea typeface="Calibri"/>
              <a:cs typeface="Calibri"/>
              <a:sym typeface="Calibri"/>
            </a:endParaRPr>
          </a:p>
        </p:txBody>
      </p:sp>
      <p:sp>
        <p:nvSpPr>
          <p:cNvPr id="746" name="Google Shape;746;p59"/>
          <p:cNvSpPr txBox="1"/>
          <p:nvPr/>
        </p:nvSpPr>
        <p:spPr>
          <a:xfrm>
            <a:off x="112748" y="4015785"/>
            <a:ext cx="6979500" cy="1273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1100"/>
              <a:buFont typeface="Arial"/>
              <a:buNone/>
            </a:pPr>
            <a:r>
              <a:rPr b="0" i="0" lang="en" sz="900" u="sng" cap="none" strike="noStrike">
                <a:solidFill>
                  <a:srgbClr val="0254EC"/>
                </a:solidFill>
                <a:highlight>
                  <a:srgbClr val="F9FAFB"/>
                </a:highlight>
                <a:latin typeface="Calibri"/>
                <a:ea typeface="Calibri"/>
                <a:cs typeface="Calibri"/>
                <a:sym typeface="Calibri"/>
              </a:rPr>
              <a:t>{{HI_CONTROL_1}}</a:t>
            </a:r>
            <a:endParaRPr b="0" i="0" sz="900" u="sng" cap="none" strike="noStrike">
              <a:solidFill>
                <a:srgbClr val="0254EC"/>
              </a:solidFill>
              <a:highlight>
                <a:srgbClr val="F9FAFB"/>
              </a:highlight>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rPr b="0" i="0" lang="en" sz="800" u="none" cap="none" strike="noStrike">
                <a:solidFill>
                  <a:srgbClr val="D97706"/>
                </a:solidFill>
                <a:highlight>
                  <a:srgbClr val="F9CB9C"/>
                </a:highlight>
                <a:latin typeface="Calibri"/>
                <a:ea typeface="Calibri"/>
                <a:cs typeface="Calibri"/>
                <a:sym typeface="Calibri"/>
              </a:rPr>
              <a:t>HIGH</a:t>
            </a:r>
            <a:endParaRPr b="0" i="0" sz="800" u="none" cap="none" strike="noStrike">
              <a:solidFill>
                <a:srgbClr val="D97706"/>
              </a:solidFill>
              <a:highlight>
                <a:srgbClr val="F9CB9C"/>
              </a:highlight>
              <a:latin typeface="Calibri"/>
              <a:ea typeface="Calibri"/>
              <a:cs typeface="Calibri"/>
              <a:sym typeface="Calibri"/>
            </a:endParaRPr>
          </a:p>
          <a:p>
            <a:pPr indent="0" lvl="0" marL="0" marR="0" rtl="0" algn="l">
              <a:lnSpc>
                <a:spcPct val="100000"/>
              </a:lnSpc>
              <a:spcBef>
                <a:spcPts val="700"/>
              </a:spcBef>
              <a:spcAft>
                <a:spcPts val="0"/>
              </a:spcAft>
              <a:buClr>
                <a:schemeClr val="dk1"/>
              </a:buClr>
              <a:buSzPts val="1100"/>
              <a:buFont typeface="Arial"/>
              <a:buNone/>
            </a:pPr>
            <a:r>
              <a:rPr b="0" i="0" lang="en" sz="900" u="sng" cap="none" strike="noStrike">
                <a:solidFill>
                  <a:srgbClr val="0254EC"/>
                </a:solidFill>
                <a:highlight>
                  <a:srgbClr val="F9FAFB"/>
                </a:highlight>
                <a:latin typeface="Calibri"/>
                <a:ea typeface="Calibri"/>
                <a:cs typeface="Calibri"/>
                <a:sym typeface="Calibri"/>
              </a:rPr>
              <a:t>{{HI_CONTROL_2}}</a:t>
            </a:r>
            <a:br>
              <a:rPr b="0" i="0" lang="en" sz="800" u="sng" cap="none" strike="noStrike">
                <a:solidFill>
                  <a:schemeClr val="hlink"/>
                </a:solidFill>
                <a:highlight>
                  <a:srgbClr val="FFFFFF"/>
                </a:highlight>
                <a:latin typeface="Calibri"/>
                <a:ea typeface="Calibri"/>
                <a:cs typeface="Calibri"/>
                <a:sym typeface="Calibri"/>
              </a:rPr>
            </a:br>
            <a:r>
              <a:rPr b="0" i="0" lang="en" sz="800" u="none" cap="none" strike="noStrike">
                <a:solidFill>
                  <a:srgbClr val="D97706"/>
                </a:solidFill>
                <a:highlight>
                  <a:srgbClr val="F9CB9C"/>
                </a:highlight>
                <a:latin typeface="Calibri"/>
                <a:ea typeface="Calibri"/>
                <a:cs typeface="Calibri"/>
                <a:sym typeface="Calibri"/>
              </a:rPr>
              <a:t>HIGH</a:t>
            </a:r>
            <a:endParaRPr b="0" i="0" sz="800" u="none" cap="none" strike="noStrike">
              <a:solidFill>
                <a:srgbClr val="991B1B"/>
              </a:solidFill>
              <a:highlight>
                <a:srgbClr val="FEE2E2"/>
              </a:highlight>
              <a:latin typeface="Calibri"/>
              <a:ea typeface="Calibri"/>
              <a:cs typeface="Calibri"/>
              <a:sym typeface="Calibri"/>
            </a:endParaRPr>
          </a:p>
          <a:p>
            <a:pPr indent="0" lvl="0" marL="0" marR="0" rtl="0" algn="l">
              <a:lnSpc>
                <a:spcPct val="100000"/>
              </a:lnSpc>
              <a:spcBef>
                <a:spcPts val="700"/>
              </a:spcBef>
              <a:spcAft>
                <a:spcPts val="0"/>
              </a:spcAft>
              <a:buClr>
                <a:schemeClr val="dk1"/>
              </a:buClr>
              <a:buSzPts val="1100"/>
              <a:buFont typeface="Arial"/>
              <a:buNone/>
            </a:pPr>
            <a:r>
              <a:rPr b="0" i="0" lang="en" sz="900" u="sng" cap="none" strike="noStrike">
                <a:solidFill>
                  <a:srgbClr val="0254EC"/>
                </a:solidFill>
                <a:highlight>
                  <a:srgbClr val="F9FAFB"/>
                </a:highlight>
                <a:latin typeface="Calibri"/>
                <a:ea typeface="Calibri"/>
                <a:cs typeface="Calibri"/>
                <a:sym typeface="Calibri"/>
              </a:rPr>
              <a:t>{{HI_CONTROL_3}}</a:t>
            </a:r>
            <a:br>
              <a:rPr b="0" i="0" lang="en" sz="800" u="sng" cap="none" strike="noStrike">
                <a:solidFill>
                  <a:schemeClr val="hlink"/>
                </a:solidFill>
                <a:highlight>
                  <a:srgbClr val="FFFFFF"/>
                </a:highlight>
                <a:latin typeface="Calibri"/>
                <a:ea typeface="Calibri"/>
                <a:cs typeface="Calibri"/>
                <a:sym typeface="Calibri"/>
              </a:rPr>
            </a:br>
            <a:r>
              <a:rPr b="0" i="0" lang="en" sz="800" u="none" cap="none" strike="noStrike">
                <a:solidFill>
                  <a:srgbClr val="D97706"/>
                </a:solidFill>
                <a:highlight>
                  <a:srgbClr val="F9CB9C"/>
                </a:highlight>
                <a:latin typeface="Calibri"/>
                <a:ea typeface="Calibri"/>
                <a:cs typeface="Calibri"/>
                <a:sym typeface="Calibri"/>
              </a:rPr>
              <a:t>HIGH</a:t>
            </a:r>
            <a:endParaRPr b="0" i="0" sz="800" u="none" cap="none" strike="noStrike">
              <a:solidFill>
                <a:srgbClr val="991B1B"/>
              </a:solidFill>
              <a:highlight>
                <a:srgbClr val="FEE2E2"/>
              </a:highlight>
              <a:latin typeface="Calibri"/>
              <a:ea typeface="Calibri"/>
              <a:cs typeface="Calibri"/>
              <a:sym typeface="Calibri"/>
            </a:endParaRPr>
          </a:p>
          <a:p>
            <a:pPr indent="0" lvl="0" marL="0" marR="0" rtl="0" algn="r">
              <a:lnSpc>
                <a:spcPct val="115000"/>
              </a:lnSpc>
              <a:spcBef>
                <a:spcPts val="700"/>
              </a:spcBef>
              <a:spcAft>
                <a:spcPts val="0"/>
              </a:spcAft>
              <a:buClr>
                <a:srgbClr val="000000"/>
              </a:buClr>
              <a:buSzPts val="200"/>
              <a:buFont typeface="Arial"/>
              <a:buNone/>
            </a:pPr>
            <a:r>
              <a:t/>
            </a:r>
            <a:endParaRPr b="0" i="0" sz="200" u="none" cap="none" strike="noStrike">
              <a:solidFill>
                <a:srgbClr val="1155CC"/>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1" name="Shape 751"/>
        <p:cNvGrpSpPr/>
        <p:nvPr/>
      </p:nvGrpSpPr>
      <p:grpSpPr>
        <a:xfrm>
          <a:off x="0" y="0"/>
          <a:ext cx="0" cy="0"/>
          <a:chOff x="0" y="0"/>
          <a:chExt cx="0" cy="0"/>
        </a:xfrm>
      </p:grpSpPr>
      <p:sp>
        <p:nvSpPr>
          <p:cNvPr id="752" name="Google Shape;752;p60"/>
          <p:cNvSpPr txBox="1"/>
          <p:nvPr/>
        </p:nvSpPr>
        <p:spPr>
          <a:xfrm>
            <a:off x="468449" y="2483713"/>
            <a:ext cx="32736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chemeClr val="dk1"/>
              </a:buClr>
              <a:buSzPts val="1100"/>
              <a:buFont typeface="Arial"/>
              <a:buNone/>
            </a:pPr>
            <a:r>
              <a:rPr b="0" i="0" lang="en" sz="2700" u="none" cap="none" strike="noStrike">
                <a:solidFill>
                  <a:schemeClr val="lt1"/>
                </a:solidFill>
                <a:latin typeface="Calibri"/>
                <a:ea typeface="Calibri"/>
                <a:cs typeface="Calibri"/>
                <a:sym typeface="Calibri"/>
              </a:rPr>
              <a:t>Develop Securely</a:t>
            </a:r>
            <a:endParaRPr b="0" i="0" sz="2700" u="none" cap="none" strike="noStrike">
              <a:solidFill>
                <a:schemeClr val="lt1"/>
              </a:solidFill>
              <a:latin typeface="Calibri"/>
              <a:ea typeface="Calibri"/>
              <a:cs typeface="Calibri"/>
              <a:sym typeface="Calibri"/>
            </a:endParaRPr>
          </a:p>
        </p:txBody>
      </p:sp>
      <p:pic>
        <p:nvPicPr>
          <p:cNvPr id="753" name="Google Shape;753;p60" title="opening_photo.png"/>
          <p:cNvPicPr preferRelativeResize="0"/>
          <p:nvPr/>
        </p:nvPicPr>
        <p:blipFill rotWithShape="1">
          <a:blip r:embed="rId3">
            <a:alphaModFix/>
          </a:blip>
          <a:srcRect b="0" l="0" r="0" t="0"/>
          <a:stretch/>
        </p:blipFill>
        <p:spPr>
          <a:xfrm>
            <a:off x="4256533" y="1409675"/>
            <a:ext cx="4306800" cy="2143875"/>
          </a:xfrm>
          <a:prstGeom prst="rect">
            <a:avLst/>
          </a:prstGeom>
          <a:noFill/>
          <a:ln>
            <a:noFill/>
          </a:ln>
        </p:spPr>
      </p:pic>
      <p:pic>
        <p:nvPicPr>
          <p:cNvPr id="754" name="Google Shape;754;p60" title="cloud.png"/>
          <p:cNvPicPr preferRelativeResize="0"/>
          <p:nvPr/>
        </p:nvPicPr>
        <p:blipFill rotWithShape="1">
          <a:blip r:embed="rId4">
            <a:alphaModFix/>
          </a:blip>
          <a:srcRect b="0" l="0" r="0" t="0"/>
          <a:stretch/>
        </p:blipFill>
        <p:spPr>
          <a:xfrm>
            <a:off x="6699300" y="3318246"/>
            <a:ext cx="2444700" cy="1825254"/>
          </a:xfrm>
          <a:prstGeom prst="rect">
            <a:avLst/>
          </a:prstGeom>
          <a:noFill/>
          <a:ln>
            <a:noFill/>
          </a:ln>
        </p:spPr>
      </p:pic>
      <p:pic>
        <p:nvPicPr>
          <p:cNvPr id="755" name="Google Shape;755;p60" title="logo.png"/>
          <p:cNvPicPr preferRelativeResize="0"/>
          <p:nvPr/>
        </p:nvPicPr>
        <p:blipFill rotWithShape="1">
          <a:blip r:embed="rId5">
            <a:alphaModFix/>
          </a:blip>
          <a:srcRect b="0" l="0" r="0" t="0"/>
          <a:stretch/>
        </p:blipFill>
        <p:spPr>
          <a:xfrm>
            <a:off x="553277" y="1994713"/>
            <a:ext cx="637001" cy="3041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0" name="Shape 760"/>
        <p:cNvGrpSpPr/>
        <p:nvPr/>
      </p:nvGrpSpPr>
      <p:grpSpPr>
        <a:xfrm>
          <a:off x="0" y="0"/>
          <a:ext cx="0" cy="0"/>
          <a:chOff x="0" y="0"/>
          <a:chExt cx="0" cy="0"/>
        </a:xfrm>
      </p:grpSpPr>
      <p:sp>
        <p:nvSpPr>
          <p:cNvPr id="761" name="Google Shape;761;p61"/>
          <p:cNvSpPr txBox="1"/>
          <p:nvPr>
            <p:ph idx="4294967295" type="title"/>
          </p:nvPr>
        </p:nvSpPr>
        <p:spPr>
          <a:xfrm>
            <a:off x="150" y="122125"/>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Secure Development Snapshot</a:t>
            </a:r>
            <a:endParaRPr sz="2420">
              <a:latin typeface="Calibri"/>
              <a:ea typeface="Calibri"/>
              <a:cs typeface="Calibri"/>
              <a:sym typeface="Calibri"/>
            </a:endParaRPr>
          </a:p>
        </p:txBody>
      </p:sp>
      <p:sp>
        <p:nvSpPr>
          <p:cNvPr id="762" name="Google Shape;762;p61"/>
          <p:cNvSpPr/>
          <p:nvPr/>
        </p:nvSpPr>
        <p:spPr>
          <a:xfrm>
            <a:off x="219075" y="2736094"/>
            <a:ext cx="3229200" cy="2316300"/>
          </a:xfrm>
          <a:prstGeom prst="roundRect">
            <a:avLst>
              <a:gd fmla="val 16667" name="adj"/>
            </a:avLst>
          </a:prstGeom>
          <a:noFill/>
          <a:ln cap="flat" cmpd="sng" w="9575">
            <a:solidFill>
              <a:schemeClr val="accent1"/>
            </a:solidFill>
            <a:prstDash val="solid"/>
            <a:round/>
            <a:headEnd len="sm" w="sm" type="none"/>
            <a:tailEnd len="sm" w="sm" type="none"/>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763" name="Google Shape;763;p61"/>
          <p:cNvSpPr/>
          <p:nvPr/>
        </p:nvSpPr>
        <p:spPr>
          <a:xfrm>
            <a:off x="6193748" y="909833"/>
            <a:ext cx="2688900" cy="1410900"/>
          </a:xfrm>
          <a:prstGeom prst="roundRect">
            <a:avLst>
              <a:gd fmla="val 16667" name="adj"/>
            </a:avLst>
          </a:prstGeom>
          <a:noFill/>
          <a:ln cap="flat" cmpd="sng" w="9575">
            <a:solidFill>
              <a:schemeClr val="accent1"/>
            </a:solidFill>
            <a:prstDash val="solid"/>
            <a:round/>
            <a:headEnd len="sm" w="sm" type="none"/>
            <a:tailEnd len="sm" w="sm" type="none"/>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764" name="Google Shape;764;p61"/>
          <p:cNvSpPr/>
          <p:nvPr/>
        </p:nvSpPr>
        <p:spPr>
          <a:xfrm>
            <a:off x="3199649" y="894648"/>
            <a:ext cx="2688900" cy="1410900"/>
          </a:xfrm>
          <a:prstGeom prst="roundRect">
            <a:avLst>
              <a:gd fmla="val 16667" name="adj"/>
            </a:avLst>
          </a:prstGeom>
          <a:noFill/>
          <a:ln cap="flat" cmpd="sng" w="9575">
            <a:solidFill>
              <a:schemeClr val="accent1"/>
            </a:solidFill>
            <a:prstDash val="solid"/>
            <a:round/>
            <a:headEnd len="sm" w="sm" type="none"/>
            <a:tailEnd len="sm" w="sm" type="none"/>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765" name="Google Shape;765;p61"/>
          <p:cNvSpPr/>
          <p:nvPr/>
        </p:nvSpPr>
        <p:spPr>
          <a:xfrm>
            <a:off x="205550" y="886120"/>
            <a:ext cx="2688900" cy="1410900"/>
          </a:xfrm>
          <a:prstGeom prst="roundRect">
            <a:avLst>
              <a:gd fmla="val 16667" name="adj"/>
            </a:avLst>
          </a:prstGeom>
          <a:noFill/>
          <a:ln cap="flat" cmpd="sng" w="9575">
            <a:solidFill>
              <a:schemeClr val="accent1"/>
            </a:solidFill>
            <a:prstDash val="solid"/>
            <a:round/>
            <a:headEnd len="sm" w="sm" type="none"/>
            <a:tailEnd len="sm" w="sm" type="none"/>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766" name="Google Shape;766;p61"/>
          <p:cNvSpPr txBox="1"/>
          <p:nvPr/>
        </p:nvSpPr>
        <p:spPr>
          <a:xfrm>
            <a:off x="205550" y="635739"/>
            <a:ext cx="2688900" cy="279000"/>
          </a:xfrm>
          <a:prstGeom prst="rect">
            <a:avLst/>
          </a:prstGeom>
          <a:noFill/>
          <a:ln>
            <a:noFill/>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sng" cap="none" strike="noStrike">
                <a:solidFill>
                  <a:schemeClr val="hlink"/>
                </a:solidFill>
                <a:latin typeface="Calibri"/>
                <a:ea typeface="Calibri"/>
                <a:cs typeface="Calibri"/>
                <a:sym typeface="Calibri"/>
                <a:hlinkClick r:id="rId3"/>
              </a:rPr>
              <a:t>Kubernetes Clusters </a:t>
            </a:r>
            <a:r>
              <a:rPr b="0" i="0" lang="en" sz="1300" u="none" cap="none" strike="noStrike">
                <a:solidFill>
                  <a:schemeClr val="hlink"/>
                </a:solidFill>
                <a:uFill>
                  <a:noFill/>
                </a:uFill>
                <a:latin typeface="Calibri"/>
                <a:ea typeface="Calibri"/>
                <a:cs typeface="Calibri"/>
                <a:sym typeface="Calibri"/>
                <a:hlinkClick r:id="rId4"/>
              </a:rPr>
              <a:t>↗</a:t>
            </a:r>
            <a:r>
              <a:rPr b="0" i="0" lang="en" sz="1300" u="sng" cap="none" strike="noStrike">
                <a:solidFill>
                  <a:schemeClr val="hlink"/>
                </a:solidFill>
                <a:latin typeface="Calibri"/>
                <a:ea typeface="Calibri"/>
                <a:cs typeface="Calibri"/>
                <a:sym typeface="Calibri"/>
                <a:hlinkClick r:id="rId5"/>
              </a:rPr>
              <a:t> </a:t>
            </a:r>
            <a:endParaRPr b="0" i="0" sz="1100" u="none" cap="none" strike="noStrike">
              <a:solidFill>
                <a:srgbClr val="0254EC"/>
              </a:solidFill>
              <a:latin typeface="Calibri"/>
              <a:ea typeface="Calibri"/>
              <a:cs typeface="Calibri"/>
              <a:sym typeface="Calibri"/>
            </a:endParaRPr>
          </a:p>
        </p:txBody>
      </p:sp>
      <p:sp>
        <p:nvSpPr>
          <p:cNvPr id="767" name="Google Shape;767;p61"/>
          <p:cNvSpPr txBox="1"/>
          <p:nvPr/>
        </p:nvSpPr>
        <p:spPr>
          <a:xfrm>
            <a:off x="385090" y="909480"/>
            <a:ext cx="1605900" cy="1581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{{K8S_1}}</a:t>
            </a:r>
            <a:endParaRPr b="0" i="0" sz="900" u="none" cap="none" strike="noStrike">
              <a:solidFill>
                <a:srgbClr val="333333"/>
              </a:solidFill>
              <a:latin typeface="Calibri"/>
              <a:ea typeface="Calibri"/>
              <a:cs typeface="Calibri"/>
              <a:sym typeface="Calibri"/>
            </a:endParaRPr>
          </a:p>
        </p:txBody>
      </p:sp>
      <p:sp>
        <p:nvSpPr>
          <p:cNvPr id="768" name="Google Shape;768;p61"/>
          <p:cNvSpPr txBox="1"/>
          <p:nvPr/>
        </p:nvSpPr>
        <p:spPr>
          <a:xfrm>
            <a:off x="1633470" y="909480"/>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{{K8C_1}}</a:t>
            </a:r>
            <a:endParaRPr b="1" i="0" sz="900" u="none" cap="none" strike="noStrike">
              <a:solidFill>
                <a:srgbClr val="333333"/>
              </a:solidFill>
              <a:latin typeface="Calibri"/>
              <a:ea typeface="Calibri"/>
              <a:cs typeface="Calibri"/>
              <a:sym typeface="Calibri"/>
            </a:endParaRPr>
          </a:p>
        </p:txBody>
      </p:sp>
      <p:sp>
        <p:nvSpPr>
          <p:cNvPr id="769" name="Google Shape;769;p61"/>
          <p:cNvSpPr txBox="1"/>
          <p:nvPr/>
        </p:nvSpPr>
        <p:spPr>
          <a:xfrm>
            <a:off x="385090" y="1075974"/>
            <a:ext cx="1605900" cy="1581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1100"/>
              <a:buFont typeface="Arial"/>
              <a:buNone/>
            </a:pPr>
            <a:r>
              <a:rPr b="0" i="0" lang="en" sz="900" u="none" cap="none" strike="noStrike">
                <a:solidFill>
                  <a:srgbClr val="333333"/>
                </a:solidFill>
                <a:latin typeface="Calibri"/>
                <a:ea typeface="Calibri"/>
                <a:cs typeface="Calibri"/>
                <a:sym typeface="Calibri"/>
              </a:rPr>
              <a:t>{{K8S_2}}</a:t>
            </a:r>
            <a:endParaRPr b="0" i="0" sz="900" u="none" cap="none" strike="noStrike">
              <a:solidFill>
                <a:srgbClr val="333333"/>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900"/>
              <a:buFont typeface="Arial"/>
              <a:buNone/>
            </a:pPr>
            <a:r>
              <a:t/>
            </a:r>
            <a:endParaRPr b="0" i="0" sz="900" u="none" cap="none" strike="noStrike">
              <a:solidFill>
                <a:srgbClr val="333333"/>
              </a:solidFill>
              <a:latin typeface="Calibri"/>
              <a:ea typeface="Calibri"/>
              <a:cs typeface="Calibri"/>
              <a:sym typeface="Calibri"/>
            </a:endParaRPr>
          </a:p>
        </p:txBody>
      </p:sp>
      <p:sp>
        <p:nvSpPr>
          <p:cNvPr id="770" name="Google Shape;770;p61"/>
          <p:cNvSpPr txBox="1"/>
          <p:nvPr/>
        </p:nvSpPr>
        <p:spPr>
          <a:xfrm>
            <a:off x="1633470" y="1073429"/>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{{K8C_2}}</a:t>
            </a:r>
            <a:endParaRPr b="1" i="0" sz="900" u="none" cap="none" strike="noStrike">
              <a:solidFill>
                <a:srgbClr val="333333"/>
              </a:solidFill>
              <a:latin typeface="Calibri"/>
              <a:ea typeface="Calibri"/>
              <a:cs typeface="Calibri"/>
              <a:sym typeface="Calibri"/>
            </a:endParaRPr>
          </a:p>
        </p:txBody>
      </p:sp>
      <p:sp>
        <p:nvSpPr>
          <p:cNvPr id="771" name="Google Shape;771;p61"/>
          <p:cNvSpPr txBox="1"/>
          <p:nvPr/>
        </p:nvSpPr>
        <p:spPr>
          <a:xfrm>
            <a:off x="385090" y="1242467"/>
            <a:ext cx="1605900" cy="1581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1100"/>
              <a:buFont typeface="Arial"/>
              <a:buNone/>
            </a:pPr>
            <a:r>
              <a:rPr b="0" i="0" lang="en" sz="900" u="none" cap="none" strike="noStrike">
                <a:solidFill>
                  <a:srgbClr val="333333"/>
                </a:solidFill>
                <a:latin typeface="Calibri"/>
                <a:ea typeface="Calibri"/>
                <a:cs typeface="Calibri"/>
                <a:sym typeface="Calibri"/>
              </a:rPr>
              <a:t>{{K8S_3}}</a:t>
            </a:r>
            <a:endParaRPr b="0" i="0" sz="900" u="none" cap="none" strike="noStrike">
              <a:solidFill>
                <a:srgbClr val="333333"/>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900"/>
              <a:buFont typeface="Arial"/>
              <a:buNone/>
            </a:pPr>
            <a:r>
              <a:t/>
            </a:r>
            <a:endParaRPr b="0" i="0" sz="900" u="none" cap="none" strike="noStrike">
              <a:solidFill>
                <a:srgbClr val="333333"/>
              </a:solidFill>
              <a:latin typeface="Calibri"/>
              <a:ea typeface="Calibri"/>
              <a:cs typeface="Calibri"/>
              <a:sym typeface="Calibri"/>
            </a:endParaRPr>
          </a:p>
        </p:txBody>
      </p:sp>
      <p:sp>
        <p:nvSpPr>
          <p:cNvPr id="772" name="Google Shape;772;p61"/>
          <p:cNvSpPr txBox="1"/>
          <p:nvPr/>
        </p:nvSpPr>
        <p:spPr>
          <a:xfrm>
            <a:off x="1633470" y="1237378"/>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{{K8C_3}}</a:t>
            </a:r>
            <a:endParaRPr b="1" i="0" sz="900" u="none" cap="none" strike="noStrike">
              <a:solidFill>
                <a:srgbClr val="333333"/>
              </a:solidFill>
              <a:latin typeface="Calibri"/>
              <a:ea typeface="Calibri"/>
              <a:cs typeface="Calibri"/>
              <a:sym typeface="Calibri"/>
            </a:endParaRPr>
          </a:p>
        </p:txBody>
      </p:sp>
      <p:sp>
        <p:nvSpPr>
          <p:cNvPr id="773" name="Google Shape;773;p61"/>
          <p:cNvSpPr txBox="1"/>
          <p:nvPr/>
        </p:nvSpPr>
        <p:spPr>
          <a:xfrm>
            <a:off x="385090" y="1408961"/>
            <a:ext cx="1605900" cy="1581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1100"/>
              <a:buFont typeface="Arial"/>
              <a:buNone/>
            </a:pPr>
            <a:r>
              <a:rPr b="0" i="0" lang="en" sz="900" u="none" cap="none" strike="noStrike">
                <a:solidFill>
                  <a:srgbClr val="333333"/>
                </a:solidFill>
                <a:latin typeface="Calibri"/>
                <a:ea typeface="Calibri"/>
                <a:cs typeface="Calibri"/>
                <a:sym typeface="Calibri"/>
              </a:rPr>
              <a:t>{{K8S_4}}</a:t>
            </a:r>
            <a:endParaRPr b="0" i="0" sz="900" u="none" cap="none" strike="noStrike">
              <a:solidFill>
                <a:srgbClr val="333333"/>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900"/>
              <a:buFont typeface="Arial"/>
              <a:buNone/>
            </a:pPr>
            <a:r>
              <a:t/>
            </a:r>
            <a:endParaRPr b="0" i="0" sz="900" u="none" cap="none" strike="noStrike">
              <a:solidFill>
                <a:srgbClr val="333333"/>
              </a:solidFill>
              <a:latin typeface="Calibri"/>
              <a:ea typeface="Calibri"/>
              <a:cs typeface="Calibri"/>
              <a:sym typeface="Calibri"/>
            </a:endParaRPr>
          </a:p>
        </p:txBody>
      </p:sp>
      <p:sp>
        <p:nvSpPr>
          <p:cNvPr id="774" name="Google Shape;774;p61"/>
          <p:cNvSpPr txBox="1"/>
          <p:nvPr/>
        </p:nvSpPr>
        <p:spPr>
          <a:xfrm>
            <a:off x="1633470" y="1401326"/>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{{K8C_4}}</a:t>
            </a:r>
            <a:endParaRPr b="1" i="0" sz="900" u="none" cap="none" strike="noStrike">
              <a:solidFill>
                <a:srgbClr val="333333"/>
              </a:solidFill>
              <a:latin typeface="Calibri"/>
              <a:ea typeface="Calibri"/>
              <a:cs typeface="Calibri"/>
              <a:sym typeface="Calibri"/>
            </a:endParaRPr>
          </a:p>
        </p:txBody>
      </p:sp>
      <p:sp>
        <p:nvSpPr>
          <p:cNvPr id="775" name="Google Shape;775;p61"/>
          <p:cNvSpPr txBox="1"/>
          <p:nvPr/>
        </p:nvSpPr>
        <p:spPr>
          <a:xfrm>
            <a:off x="385090" y="1575455"/>
            <a:ext cx="2113800" cy="1581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1100"/>
              <a:buFont typeface="Arial"/>
              <a:buNone/>
            </a:pPr>
            <a:r>
              <a:rPr b="0" i="0" lang="en" sz="900" u="none" cap="none" strike="noStrike">
                <a:solidFill>
                  <a:srgbClr val="333333"/>
                </a:solidFill>
                <a:latin typeface="Calibri"/>
                <a:ea typeface="Calibri"/>
                <a:cs typeface="Calibri"/>
                <a:sym typeface="Calibri"/>
              </a:rPr>
              <a:t>{{K8S_5}}</a:t>
            </a:r>
            <a:endParaRPr b="0" i="0" sz="9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333333"/>
              </a:solidFill>
              <a:latin typeface="Calibri"/>
              <a:ea typeface="Calibri"/>
              <a:cs typeface="Calibri"/>
              <a:sym typeface="Calibri"/>
            </a:endParaRPr>
          </a:p>
        </p:txBody>
      </p:sp>
      <p:sp>
        <p:nvSpPr>
          <p:cNvPr id="776" name="Google Shape;776;p61"/>
          <p:cNvSpPr txBox="1"/>
          <p:nvPr/>
        </p:nvSpPr>
        <p:spPr>
          <a:xfrm>
            <a:off x="1633470" y="1565275"/>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{{K8C_5}}</a:t>
            </a:r>
            <a:endParaRPr b="1" i="0" sz="900" u="none" cap="none" strike="noStrike">
              <a:solidFill>
                <a:srgbClr val="333333"/>
              </a:solidFill>
              <a:latin typeface="Calibri"/>
              <a:ea typeface="Calibri"/>
              <a:cs typeface="Calibri"/>
              <a:sym typeface="Calibri"/>
            </a:endParaRPr>
          </a:p>
        </p:txBody>
      </p:sp>
      <p:sp>
        <p:nvSpPr>
          <p:cNvPr id="777" name="Google Shape;777;p61"/>
          <p:cNvSpPr txBox="1"/>
          <p:nvPr/>
        </p:nvSpPr>
        <p:spPr>
          <a:xfrm>
            <a:off x="217670" y="1937845"/>
            <a:ext cx="2676900" cy="158100"/>
          </a:xfrm>
          <a:prstGeom prst="rect">
            <a:avLst/>
          </a:prstGeom>
          <a:noFill/>
          <a:ln>
            <a:noFill/>
          </a:ln>
        </p:spPr>
        <p:txBody>
          <a:bodyPr anchorCtr="0" anchor="t"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1100"/>
              <a:buFont typeface="Arial"/>
              <a:buNone/>
            </a:pPr>
            <a:r>
              <a:rPr b="0" i="0" lang="en" sz="1100" u="none" cap="none" strike="noStrike">
                <a:solidFill>
                  <a:srgbClr val="333333"/>
                </a:solidFill>
                <a:latin typeface="Calibri"/>
                <a:ea typeface="Calibri"/>
                <a:cs typeface="Calibri"/>
                <a:sym typeface="Calibri"/>
              </a:rPr>
              <a:t>Total {{K8C_TOT}}</a:t>
            </a:r>
            <a:endParaRPr b="0" i="0" sz="1100" u="none" cap="none" strike="noStrike">
              <a:solidFill>
                <a:srgbClr val="333333"/>
              </a:solidFill>
              <a:latin typeface="Calibri"/>
              <a:ea typeface="Calibri"/>
              <a:cs typeface="Calibri"/>
              <a:sym typeface="Calibri"/>
            </a:endParaRPr>
          </a:p>
        </p:txBody>
      </p:sp>
      <p:sp>
        <p:nvSpPr>
          <p:cNvPr id="778" name="Google Shape;778;p61"/>
          <p:cNvSpPr txBox="1"/>
          <p:nvPr/>
        </p:nvSpPr>
        <p:spPr>
          <a:xfrm>
            <a:off x="3238087" y="1038052"/>
            <a:ext cx="1680900" cy="1530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6"/>
              </a:rPr>
              <a:t>Wiz Connector Deployed</a:t>
            </a:r>
            <a:endParaRPr b="0" i="0" sz="900" u="none" cap="none" strike="noStrike">
              <a:solidFill>
                <a:srgbClr val="0254EC"/>
              </a:solidFill>
              <a:latin typeface="Calibri"/>
              <a:ea typeface="Calibri"/>
              <a:cs typeface="Calibri"/>
              <a:sym typeface="Calibri"/>
            </a:endParaRPr>
          </a:p>
        </p:txBody>
      </p:sp>
      <p:sp>
        <p:nvSpPr>
          <p:cNvPr id="779" name="Google Shape;779;p61"/>
          <p:cNvSpPr txBox="1"/>
          <p:nvPr/>
        </p:nvSpPr>
        <p:spPr>
          <a:xfrm>
            <a:off x="4766331" y="1038062"/>
            <a:ext cx="1003500" cy="1530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{{KC_WC}}</a:t>
            </a:r>
            <a:endParaRPr b="1" i="0" sz="1000" u="none" cap="none" strike="noStrike">
              <a:solidFill>
                <a:srgbClr val="333333"/>
              </a:solidFill>
              <a:latin typeface="Calibri"/>
              <a:ea typeface="Calibri"/>
              <a:cs typeface="Calibri"/>
              <a:sym typeface="Calibri"/>
            </a:endParaRPr>
          </a:p>
        </p:txBody>
      </p:sp>
      <p:sp>
        <p:nvSpPr>
          <p:cNvPr id="780" name="Google Shape;780;p61"/>
          <p:cNvSpPr txBox="1"/>
          <p:nvPr/>
        </p:nvSpPr>
        <p:spPr>
          <a:xfrm>
            <a:off x="3238089" y="1213479"/>
            <a:ext cx="1909200" cy="1548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7"/>
              </a:rPr>
              <a:t>Admission Controller</a:t>
            </a:r>
            <a:endParaRPr b="0" i="0" sz="900" u="none" cap="none" strike="noStrike">
              <a:solidFill>
                <a:srgbClr val="0254EC"/>
              </a:solidFill>
              <a:latin typeface="Calibri"/>
              <a:ea typeface="Calibri"/>
              <a:cs typeface="Calibri"/>
              <a:sym typeface="Calibri"/>
            </a:endParaRPr>
          </a:p>
        </p:txBody>
      </p:sp>
      <p:sp>
        <p:nvSpPr>
          <p:cNvPr id="781" name="Google Shape;781;p61"/>
          <p:cNvSpPr txBox="1"/>
          <p:nvPr/>
        </p:nvSpPr>
        <p:spPr>
          <a:xfrm>
            <a:off x="4764913" y="1211115"/>
            <a:ext cx="1003500" cy="1530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{{KC_AC}}</a:t>
            </a:r>
            <a:endParaRPr b="1" i="0" sz="1000" u="none" cap="none" strike="noStrike">
              <a:solidFill>
                <a:srgbClr val="333333"/>
              </a:solidFill>
              <a:latin typeface="Calibri"/>
              <a:ea typeface="Calibri"/>
              <a:cs typeface="Calibri"/>
              <a:sym typeface="Calibri"/>
            </a:endParaRPr>
          </a:p>
        </p:txBody>
      </p:sp>
      <p:cxnSp>
        <p:nvCxnSpPr>
          <p:cNvPr id="782" name="Google Shape;782;p61"/>
          <p:cNvCxnSpPr/>
          <p:nvPr/>
        </p:nvCxnSpPr>
        <p:spPr>
          <a:xfrm>
            <a:off x="150000" y="2399129"/>
            <a:ext cx="8776500" cy="0"/>
          </a:xfrm>
          <a:prstGeom prst="straightConnector1">
            <a:avLst/>
          </a:prstGeom>
          <a:noFill/>
          <a:ln cap="flat" cmpd="sng" w="14300">
            <a:solidFill>
              <a:srgbClr val="0054EC"/>
            </a:solidFill>
            <a:prstDash val="solid"/>
            <a:round/>
            <a:headEnd len="sm" w="sm" type="none"/>
            <a:tailEnd len="sm" w="sm" type="none"/>
          </a:ln>
        </p:spPr>
      </p:cxnSp>
      <p:sp>
        <p:nvSpPr>
          <p:cNvPr id="783" name="Google Shape;783;p61"/>
          <p:cNvSpPr txBox="1"/>
          <p:nvPr/>
        </p:nvSpPr>
        <p:spPr>
          <a:xfrm>
            <a:off x="300000" y="2950479"/>
            <a:ext cx="3287400" cy="1806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Cloud (Workload/K8s)</a:t>
            </a:r>
            <a:endParaRPr b="0" i="0" sz="900" u="none" cap="none" strike="noStrike">
              <a:solidFill>
                <a:srgbClr val="333333"/>
              </a:solidFill>
              <a:latin typeface="Calibri"/>
              <a:ea typeface="Calibri"/>
              <a:cs typeface="Calibri"/>
              <a:sym typeface="Calibri"/>
            </a:endParaRPr>
          </a:p>
        </p:txBody>
      </p:sp>
      <p:sp>
        <p:nvSpPr>
          <p:cNvPr id="784" name="Google Shape;784;p61"/>
          <p:cNvSpPr txBox="1"/>
          <p:nvPr/>
        </p:nvSpPr>
        <p:spPr>
          <a:xfrm>
            <a:off x="1751486" y="2964986"/>
            <a:ext cx="1605900" cy="1806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{{CL_CLD}}</a:t>
            </a:r>
            <a:endParaRPr b="1" i="0" sz="900" u="none" cap="none" strike="noStrike">
              <a:solidFill>
                <a:srgbClr val="333333"/>
              </a:solidFill>
              <a:latin typeface="Calibri"/>
              <a:ea typeface="Calibri"/>
              <a:cs typeface="Calibri"/>
              <a:sym typeface="Calibri"/>
            </a:endParaRPr>
          </a:p>
        </p:txBody>
      </p:sp>
      <p:sp>
        <p:nvSpPr>
          <p:cNvPr id="785" name="Google Shape;785;p61"/>
          <p:cNvSpPr txBox="1"/>
          <p:nvPr/>
        </p:nvSpPr>
        <p:spPr>
          <a:xfrm>
            <a:off x="300000" y="3152930"/>
            <a:ext cx="3287400" cy="1806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Store (Registry Scans)</a:t>
            </a:r>
            <a:endParaRPr b="0" i="0" sz="900" u="none" cap="none" strike="noStrike">
              <a:solidFill>
                <a:srgbClr val="333333"/>
              </a:solidFill>
              <a:latin typeface="Calibri"/>
              <a:ea typeface="Calibri"/>
              <a:cs typeface="Calibri"/>
              <a:sym typeface="Calibri"/>
            </a:endParaRPr>
          </a:p>
        </p:txBody>
      </p:sp>
      <p:sp>
        <p:nvSpPr>
          <p:cNvPr id="786" name="Google Shape;786;p61"/>
          <p:cNvSpPr txBox="1"/>
          <p:nvPr/>
        </p:nvSpPr>
        <p:spPr>
          <a:xfrm>
            <a:off x="1751486" y="3167437"/>
            <a:ext cx="1605900" cy="1806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{{CL_STR}}</a:t>
            </a:r>
            <a:endParaRPr b="1" i="0" sz="900" u="none" cap="none" strike="noStrike">
              <a:solidFill>
                <a:srgbClr val="333333"/>
              </a:solidFill>
              <a:latin typeface="Calibri"/>
              <a:ea typeface="Calibri"/>
              <a:cs typeface="Calibri"/>
              <a:sym typeface="Calibri"/>
            </a:endParaRPr>
          </a:p>
        </p:txBody>
      </p:sp>
      <p:sp>
        <p:nvSpPr>
          <p:cNvPr id="787" name="Google Shape;787;p61"/>
          <p:cNvSpPr txBox="1"/>
          <p:nvPr/>
        </p:nvSpPr>
        <p:spPr>
          <a:xfrm>
            <a:off x="300000" y="3355380"/>
            <a:ext cx="3287400" cy="1806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Runtime (Sensor)</a:t>
            </a:r>
            <a:endParaRPr b="0" i="0" sz="900" u="none" cap="none" strike="noStrike">
              <a:solidFill>
                <a:srgbClr val="333333"/>
              </a:solidFill>
              <a:latin typeface="Calibri"/>
              <a:ea typeface="Calibri"/>
              <a:cs typeface="Calibri"/>
              <a:sym typeface="Calibri"/>
            </a:endParaRPr>
          </a:p>
        </p:txBody>
      </p:sp>
      <p:sp>
        <p:nvSpPr>
          <p:cNvPr id="788" name="Google Shape;788;p61"/>
          <p:cNvSpPr txBox="1"/>
          <p:nvPr/>
        </p:nvSpPr>
        <p:spPr>
          <a:xfrm>
            <a:off x="1751486" y="3369887"/>
            <a:ext cx="1605900" cy="1806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{{CL_RT}}</a:t>
            </a:r>
            <a:endParaRPr b="1" i="0" sz="900" u="none" cap="none" strike="noStrike">
              <a:solidFill>
                <a:srgbClr val="333333"/>
              </a:solidFill>
              <a:latin typeface="Calibri"/>
              <a:ea typeface="Calibri"/>
              <a:cs typeface="Calibri"/>
              <a:sym typeface="Calibri"/>
            </a:endParaRPr>
          </a:p>
        </p:txBody>
      </p:sp>
      <p:sp>
        <p:nvSpPr>
          <p:cNvPr id="789" name="Google Shape;789;p61"/>
          <p:cNvSpPr txBox="1"/>
          <p:nvPr/>
        </p:nvSpPr>
        <p:spPr>
          <a:xfrm>
            <a:off x="300000" y="3557831"/>
            <a:ext cx="3287400" cy="1806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Code (Wiz Code)</a:t>
            </a:r>
            <a:endParaRPr b="0" i="0" sz="900" u="none" cap="none" strike="noStrike">
              <a:solidFill>
                <a:srgbClr val="333333"/>
              </a:solidFill>
              <a:latin typeface="Calibri"/>
              <a:ea typeface="Calibri"/>
              <a:cs typeface="Calibri"/>
              <a:sym typeface="Calibri"/>
            </a:endParaRPr>
          </a:p>
        </p:txBody>
      </p:sp>
      <p:sp>
        <p:nvSpPr>
          <p:cNvPr id="790" name="Google Shape;790;p61"/>
          <p:cNvSpPr txBox="1"/>
          <p:nvPr/>
        </p:nvSpPr>
        <p:spPr>
          <a:xfrm>
            <a:off x="1751486" y="3572338"/>
            <a:ext cx="1605900" cy="1806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{{CL_CODE}}</a:t>
            </a:r>
            <a:endParaRPr b="1" i="0" sz="900" u="none" cap="none" strike="noStrike">
              <a:solidFill>
                <a:srgbClr val="333333"/>
              </a:solidFill>
              <a:latin typeface="Calibri"/>
              <a:ea typeface="Calibri"/>
              <a:cs typeface="Calibri"/>
              <a:sym typeface="Calibri"/>
            </a:endParaRPr>
          </a:p>
        </p:txBody>
      </p:sp>
      <p:sp>
        <p:nvSpPr>
          <p:cNvPr id="791" name="Google Shape;791;p61"/>
          <p:cNvSpPr txBox="1"/>
          <p:nvPr/>
        </p:nvSpPr>
        <p:spPr>
          <a:xfrm>
            <a:off x="300000" y="3760282"/>
            <a:ext cx="3287400" cy="1806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Build (Wiz CLI + Tagged Images)</a:t>
            </a:r>
            <a:endParaRPr b="0" i="0" sz="900" u="none" cap="none" strike="noStrike">
              <a:solidFill>
                <a:srgbClr val="333333"/>
              </a:solidFill>
              <a:latin typeface="Calibri"/>
              <a:ea typeface="Calibri"/>
              <a:cs typeface="Calibri"/>
              <a:sym typeface="Calibri"/>
            </a:endParaRPr>
          </a:p>
        </p:txBody>
      </p:sp>
      <p:sp>
        <p:nvSpPr>
          <p:cNvPr id="792" name="Google Shape;792;p61"/>
          <p:cNvSpPr txBox="1"/>
          <p:nvPr/>
        </p:nvSpPr>
        <p:spPr>
          <a:xfrm>
            <a:off x="1751486" y="3774789"/>
            <a:ext cx="1605900" cy="1806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{{CL_BLD}}</a:t>
            </a:r>
            <a:endParaRPr b="1" i="0" sz="900" u="none" cap="none" strike="noStrike">
              <a:solidFill>
                <a:srgbClr val="333333"/>
              </a:solidFill>
              <a:latin typeface="Calibri"/>
              <a:ea typeface="Calibri"/>
              <a:cs typeface="Calibri"/>
              <a:sym typeface="Calibri"/>
            </a:endParaRPr>
          </a:p>
        </p:txBody>
      </p:sp>
      <p:sp>
        <p:nvSpPr>
          <p:cNvPr id="793" name="Google Shape;793;p61"/>
          <p:cNvSpPr txBox="1"/>
          <p:nvPr/>
        </p:nvSpPr>
        <p:spPr>
          <a:xfrm>
            <a:off x="300000" y="3962733"/>
            <a:ext cx="3287400" cy="1806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Deploy (Admission Controller)</a:t>
            </a:r>
            <a:endParaRPr b="0" i="0" sz="900" u="none" cap="none" strike="noStrike">
              <a:solidFill>
                <a:srgbClr val="333333"/>
              </a:solidFill>
              <a:latin typeface="Calibri"/>
              <a:ea typeface="Calibri"/>
              <a:cs typeface="Calibri"/>
              <a:sym typeface="Calibri"/>
            </a:endParaRPr>
          </a:p>
        </p:txBody>
      </p:sp>
      <p:sp>
        <p:nvSpPr>
          <p:cNvPr id="794" name="Google Shape;794;p61"/>
          <p:cNvSpPr txBox="1"/>
          <p:nvPr/>
        </p:nvSpPr>
        <p:spPr>
          <a:xfrm>
            <a:off x="1751486" y="3977239"/>
            <a:ext cx="1605900" cy="1806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{{CL_DEP}}</a:t>
            </a:r>
            <a:endParaRPr b="1" i="0" sz="900" u="none" cap="none" strike="noStrike">
              <a:solidFill>
                <a:srgbClr val="333333"/>
              </a:solidFill>
              <a:latin typeface="Calibri"/>
              <a:ea typeface="Calibri"/>
              <a:cs typeface="Calibri"/>
              <a:sym typeface="Calibri"/>
            </a:endParaRPr>
          </a:p>
        </p:txBody>
      </p:sp>
      <p:sp>
        <p:nvSpPr>
          <p:cNvPr id="795" name="Google Shape;795;p61"/>
          <p:cNvSpPr txBox="1"/>
          <p:nvPr/>
        </p:nvSpPr>
        <p:spPr>
          <a:xfrm>
            <a:off x="223925" y="4650100"/>
            <a:ext cx="3201900" cy="220800"/>
          </a:xfrm>
          <a:prstGeom prst="rect">
            <a:avLst/>
          </a:prstGeom>
          <a:noFill/>
          <a:ln>
            <a:noFill/>
          </a:ln>
        </p:spPr>
        <p:txBody>
          <a:bodyPr anchorCtr="0" anchor="t"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1100"/>
              <a:buFont typeface="Arial"/>
              <a:buNone/>
            </a:pPr>
            <a:r>
              <a:rPr b="0" i="0" lang="en" sz="1100" u="none" cap="none" strike="noStrike">
                <a:solidFill>
                  <a:srgbClr val="333333"/>
                </a:solidFill>
                <a:latin typeface="Calibri"/>
                <a:ea typeface="Calibri"/>
                <a:cs typeface="Calibri"/>
                <a:sym typeface="Calibri"/>
              </a:rPr>
              <a:t>Total Images {{TI}}</a:t>
            </a:r>
            <a:endParaRPr b="0" i="0" sz="1100" u="none" cap="none" strike="noStrike">
              <a:solidFill>
                <a:srgbClr val="333333"/>
              </a:solidFill>
              <a:latin typeface="Calibri"/>
              <a:ea typeface="Calibri"/>
              <a:cs typeface="Calibri"/>
              <a:sym typeface="Calibri"/>
            </a:endParaRPr>
          </a:p>
        </p:txBody>
      </p:sp>
      <p:sp>
        <p:nvSpPr>
          <p:cNvPr id="796" name="Google Shape;796;p61"/>
          <p:cNvSpPr txBox="1"/>
          <p:nvPr/>
        </p:nvSpPr>
        <p:spPr>
          <a:xfrm>
            <a:off x="3199649" y="653779"/>
            <a:ext cx="2688900" cy="279000"/>
          </a:xfrm>
          <a:prstGeom prst="rect">
            <a:avLst/>
          </a:prstGeom>
          <a:noFill/>
          <a:ln>
            <a:noFill/>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333333"/>
                </a:solidFill>
                <a:latin typeface="Calibri"/>
                <a:ea typeface="Calibri"/>
                <a:cs typeface="Calibri"/>
                <a:sym typeface="Calibri"/>
              </a:rPr>
              <a:t>Kubernetes Coverage</a:t>
            </a:r>
            <a:endParaRPr b="0" i="0" sz="1100" u="none" cap="none" strike="noStrike">
              <a:solidFill>
                <a:srgbClr val="333333"/>
              </a:solidFill>
              <a:latin typeface="Calibri"/>
              <a:ea typeface="Calibri"/>
              <a:cs typeface="Calibri"/>
              <a:sym typeface="Calibri"/>
            </a:endParaRPr>
          </a:p>
        </p:txBody>
      </p:sp>
      <p:sp>
        <p:nvSpPr>
          <p:cNvPr id="797" name="Google Shape;797;p61"/>
          <p:cNvSpPr txBox="1"/>
          <p:nvPr/>
        </p:nvSpPr>
        <p:spPr>
          <a:xfrm>
            <a:off x="6193748" y="649827"/>
            <a:ext cx="2688900" cy="300900"/>
          </a:xfrm>
          <a:prstGeom prst="rect">
            <a:avLst/>
          </a:prstGeom>
          <a:noFill/>
          <a:ln>
            <a:noFill/>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333333"/>
                </a:solidFill>
                <a:latin typeface="Calibri"/>
                <a:ea typeface="Calibri"/>
                <a:cs typeface="Calibri"/>
                <a:sym typeface="Calibri"/>
              </a:rPr>
              <a:t>Gaps &amp; Exposure</a:t>
            </a:r>
            <a:endParaRPr b="0" i="0" sz="1100" u="none" cap="none" strike="noStrike">
              <a:solidFill>
                <a:srgbClr val="333333"/>
              </a:solidFill>
              <a:latin typeface="Calibri"/>
              <a:ea typeface="Calibri"/>
              <a:cs typeface="Calibri"/>
              <a:sym typeface="Calibri"/>
            </a:endParaRPr>
          </a:p>
        </p:txBody>
      </p:sp>
      <p:sp>
        <p:nvSpPr>
          <p:cNvPr id="798" name="Google Shape;798;p61"/>
          <p:cNvSpPr txBox="1"/>
          <p:nvPr/>
        </p:nvSpPr>
        <p:spPr>
          <a:xfrm>
            <a:off x="205545" y="2441805"/>
            <a:ext cx="3287400" cy="301200"/>
          </a:xfrm>
          <a:prstGeom prst="rect">
            <a:avLst/>
          </a:prstGeom>
          <a:noFill/>
          <a:ln>
            <a:noFill/>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sng" cap="none" strike="noStrike">
                <a:solidFill>
                  <a:schemeClr val="hlink"/>
                </a:solidFill>
                <a:latin typeface="Calibri"/>
                <a:ea typeface="Calibri"/>
                <a:cs typeface="Calibri"/>
                <a:sym typeface="Calibri"/>
                <a:hlinkClick r:id="rId8"/>
              </a:rPr>
              <a:t>Container Images Lifecycle </a:t>
            </a:r>
            <a:r>
              <a:rPr b="0" i="0" lang="en" sz="1300" u="none" cap="none" strike="noStrike">
                <a:solidFill>
                  <a:schemeClr val="hlink"/>
                </a:solidFill>
                <a:uFill>
                  <a:noFill/>
                </a:uFill>
                <a:latin typeface="Calibri"/>
                <a:ea typeface="Calibri"/>
                <a:cs typeface="Calibri"/>
                <a:sym typeface="Calibri"/>
                <a:hlinkClick r:id="rId9"/>
              </a:rPr>
              <a:t>↗</a:t>
            </a:r>
            <a:r>
              <a:rPr b="0" i="0" lang="en" sz="1100" u="none" cap="none" strike="noStrike">
                <a:solidFill>
                  <a:schemeClr val="hlink"/>
                </a:solidFill>
                <a:uFill>
                  <a:noFill/>
                </a:uFill>
                <a:latin typeface="Calibri"/>
                <a:ea typeface="Calibri"/>
                <a:cs typeface="Calibri"/>
                <a:sym typeface="Calibri"/>
                <a:hlinkClick r:id="rId10"/>
              </a:rPr>
              <a:t> </a:t>
            </a:r>
            <a:endParaRPr b="0" i="0" sz="1100" u="none" cap="none" strike="noStrike">
              <a:solidFill>
                <a:srgbClr val="0254EC"/>
              </a:solidFill>
              <a:latin typeface="Calibri"/>
              <a:ea typeface="Calibri"/>
              <a:cs typeface="Calibri"/>
              <a:sym typeface="Calibri"/>
            </a:endParaRPr>
          </a:p>
        </p:txBody>
      </p:sp>
      <p:sp>
        <p:nvSpPr>
          <p:cNvPr id="799" name="Google Shape;799;p61"/>
          <p:cNvSpPr/>
          <p:nvPr/>
        </p:nvSpPr>
        <p:spPr>
          <a:xfrm>
            <a:off x="6419250" y="2723725"/>
            <a:ext cx="2579100" cy="2316300"/>
          </a:xfrm>
          <a:prstGeom prst="roundRect">
            <a:avLst>
              <a:gd fmla="val 16667" name="adj"/>
            </a:avLst>
          </a:prstGeom>
          <a:noFill/>
          <a:ln cap="flat" cmpd="sng" w="9575">
            <a:solidFill>
              <a:schemeClr val="accent1"/>
            </a:solidFill>
            <a:prstDash val="solid"/>
            <a:round/>
            <a:headEnd len="sm" w="sm" type="none"/>
            <a:tailEnd len="sm" w="sm" type="none"/>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800" name="Google Shape;800;p61"/>
          <p:cNvSpPr txBox="1"/>
          <p:nvPr/>
        </p:nvSpPr>
        <p:spPr>
          <a:xfrm>
            <a:off x="6421350" y="4112573"/>
            <a:ext cx="2571000" cy="220800"/>
          </a:xfrm>
          <a:prstGeom prst="rect">
            <a:avLst/>
          </a:prstGeom>
          <a:noFill/>
          <a:ln>
            <a:noFill/>
          </a:ln>
        </p:spPr>
        <p:txBody>
          <a:bodyPr anchorCtr="0" anchor="t"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1000"/>
              <a:buFont typeface="Arial"/>
              <a:buNone/>
            </a:pPr>
            <a:r>
              <a:rPr b="0" i="0" lang="en" sz="1000" u="none" cap="none" strike="noStrike">
                <a:solidFill>
                  <a:srgbClr val="333333"/>
                </a:solidFill>
                <a:latin typeface="Calibri"/>
                <a:ea typeface="Calibri"/>
                <a:cs typeface="Calibri"/>
                <a:sym typeface="Calibri"/>
              </a:rPr>
              <a:t>Total Registries  {{R_TOT}}</a:t>
            </a:r>
            <a:endParaRPr b="0" i="0" sz="1000" u="none" cap="none" strike="noStrike">
              <a:solidFill>
                <a:srgbClr val="333333"/>
              </a:solidFill>
              <a:latin typeface="Calibri"/>
              <a:ea typeface="Calibri"/>
              <a:cs typeface="Calibri"/>
              <a:sym typeface="Calibri"/>
            </a:endParaRPr>
          </a:p>
        </p:txBody>
      </p:sp>
      <p:sp>
        <p:nvSpPr>
          <p:cNvPr id="801" name="Google Shape;801;p61"/>
          <p:cNvSpPr txBox="1"/>
          <p:nvPr/>
        </p:nvSpPr>
        <p:spPr>
          <a:xfrm>
            <a:off x="6482720" y="3090648"/>
            <a:ext cx="1101300" cy="1743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1100"/>
              <a:buFont typeface="Arial"/>
              <a:buNone/>
            </a:pPr>
            <a:r>
              <a:rPr b="0" i="0" lang="en" sz="900" u="none" cap="none" strike="noStrike">
                <a:solidFill>
                  <a:srgbClr val="333333"/>
                </a:solidFill>
                <a:latin typeface="Calibri"/>
                <a:ea typeface="Calibri"/>
                <a:cs typeface="Calibri"/>
                <a:sym typeface="Calibri"/>
              </a:rPr>
              <a:t>{{R_2}}</a:t>
            </a:r>
            <a:endParaRPr b="0" i="0" sz="900" u="none" cap="none" strike="noStrike">
              <a:solidFill>
                <a:srgbClr val="333333"/>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900"/>
              <a:buFont typeface="Arial"/>
              <a:buNone/>
            </a:pPr>
            <a:r>
              <a:t/>
            </a:r>
            <a:endParaRPr b="0" i="0" sz="900" u="none" cap="none" strike="noStrike">
              <a:solidFill>
                <a:srgbClr val="333333"/>
              </a:solidFill>
              <a:latin typeface="Calibri"/>
              <a:ea typeface="Calibri"/>
              <a:cs typeface="Calibri"/>
              <a:sym typeface="Calibri"/>
            </a:endParaRPr>
          </a:p>
        </p:txBody>
      </p:sp>
      <p:sp>
        <p:nvSpPr>
          <p:cNvPr id="802" name="Google Shape;802;p61"/>
          <p:cNvSpPr txBox="1"/>
          <p:nvPr/>
        </p:nvSpPr>
        <p:spPr>
          <a:xfrm>
            <a:off x="6595982" y="3077858"/>
            <a:ext cx="1104000" cy="1743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{{RC_2}}</a:t>
            </a:r>
            <a:endParaRPr b="0" i="0" sz="900" u="none" cap="none" strike="noStrike">
              <a:solidFill>
                <a:srgbClr val="333333"/>
              </a:solidFill>
              <a:latin typeface="Calibri"/>
              <a:ea typeface="Calibri"/>
              <a:cs typeface="Calibri"/>
              <a:sym typeface="Calibri"/>
            </a:endParaRPr>
          </a:p>
        </p:txBody>
      </p:sp>
      <p:sp>
        <p:nvSpPr>
          <p:cNvPr id="803" name="Google Shape;803;p61"/>
          <p:cNvSpPr txBox="1"/>
          <p:nvPr/>
        </p:nvSpPr>
        <p:spPr>
          <a:xfrm>
            <a:off x="6482720" y="3275456"/>
            <a:ext cx="1101300" cy="1743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1100"/>
              <a:buFont typeface="Arial"/>
              <a:buNone/>
            </a:pPr>
            <a:r>
              <a:rPr b="0" i="0" lang="en" sz="900" u="none" cap="none" strike="noStrike">
                <a:solidFill>
                  <a:srgbClr val="333333"/>
                </a:solidFill>
                <a:latin typeface="Calibri"/>
                <a:ea typeface="Calibri"/>
                <a:cs typeface="Calibri"/>
                <a:sym typeface="Calibri"/>
              </a:rPr>
              <a:t>{{R_3}}</a:t>
            </a:r>
            <a:endParaRPr b="0" i="0" sz="900" u="none" cap="none" strike="noStrike">
              <a:solidFill>
                <a:srgbClr val="333333"/>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900"/>
              <a:buFont typeface="Arial"/>
              <a:buNone/>
            </a:pPr>
            <a:r>
              <a:t/>
            </a:r>
            <a:endParaRPr b="0" i="0" sz="900" u="none" cap="none" strike="noStrike">
              <a:solidFill>
                <a:srgbClr val="333333"/>
              </a:solidFill>
              <a:latin typeface="Calibri"/>
              <a:ea typeface="Calibri"/>
              <a:cs typeface="Calibri"/>
              <a:sym typeface="Calibri"/>
            </a:endParaRPr>
          </a:p>
        </p:txBody>
      </p:sp>
      <p:sp>
        <p:nvSpPr>
          <p:cNvPr id="804" name="Google Shape;804;p61"/>
          <p:cNvSpPr txBox="1"/>
          <p:nvPr/>
        </p:nvSpPr>
        <p:spPr>
          <a:xfrm>
            <a:off x="6595982" y="3263116"/>
            <a:ext cx="1104000" cy="1743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{{RC_3}}</a:t>
            </a:r>
            <a:endParaRPr b="0" i="0" sz="900" u="none" cap="none" strike="noStrike">
              <a:solidFill>
                <a:srgbClr val="333333"/>
              </a:solidFill>
              <a:latin typeface="Calibri"/>
              <a:ea typeface="Calibri"/>
              <a:cs typeface="Calibri"/>
              <a:sym typeface="Calibri"/>
            </a:endParaRPr>
          </a:p>
        </p:txBody>
      </p:sp>
      <p:sp>
        <p:nvSpPr>
          <p:cNvPr id="805" name="Google Shape;805;p61"/>
          <p:cNvSpPr txBox="1"/>
          <p:nvPr/>
        </p:nvSpPr>
        <p:spPr>
          <a:xfrm>
            <a:off x="6482720" y="3460264"/>
            <a:ext cx="1101300" cy="1743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1100"/>
              <a:buFont typeface="Arial"/>
              <a:buNone/>
            </a:pPr>
            <a:r>
              <a:rPr b="0" i="0" lang="en" sz="900" u="none" cap="none" strike="noStrike">
                <a:solidFill>
                  <a:srgbClr val="333333"/>
                </a:solidFill>
                <a:latin typeface="Calibri"/>
                <a:ea typeface="Calibri"/>
                <a:cs typeface="Calibri"/>
                <a:sym typeface="Calibri"/>
              </a:rPr>
              <a:t>{{R_4}}</a:t>
            </a:r>
            <a:endParaRPr b="0" i="0" sz="900" u="none" cap="none" strike="noStrike">
              <a:solidFill>
                <a:srgbClr val="333333"/>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900"/>
              <a:buFont typeface="Arial"/>
              <a:buNone/>
            </a:pPr>
            <a:r>
              <a:t/>
            </a:r>
            <a:endParaRPr b="0" i="0" sz="900" u="none" cap="none" strike="noStrike">
              <a:solidFill>
                <a:srgbClr val="333333"/>
              </a:solidFill>
              <a:latin typeface="Calibri"/>
              <a:ea typeface="Calibri"/>
              <a:cs typeface="Calibri"/>
              <a:sym typeface="Calibri"/>
            </a:endParaRPr>
          </a:p>
        </p:txBody>
      </p:sp>
      <p:sp>
        <p:nvSpPr>
          <p:cNvPr id="806" name="Google Shape;806;p61"/>
          <p:cNvSpPr txBox="1"/>
          <p:nvPr/>
        </p:nvSpPr>
        <p:spPr>
          <a:xfrm>
            <a:off x="6595982" y="3448374"/>
            <a:ext cx="1104000" cy="1743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{{RC_4}}</a:t>
            </a:r>
            <a:endParaRPr b="0" i="0" sz="900" u="none" cap="none" strike="noStrike">
              <a:solidFill>
                <a:srgbClr val="333333"/>
              </a:solidFill>
              <a:latin typeface="Calibri"/>
              <a:ea typeface="Calibri"/>
              <a:cs typeface="Calibri"/>
              <a:sym typeface="Calibri"/>
            </a:endParaRPr>
          </a:p>
        </p:txBody>
      </p:sp>
      <p:sp>
        <p:nvSpPr>
          <p:cNvPr id="807" name="Google Shape;807;p61"/>
          <p:cNvSpPr txBox="1"/>
          <p:nvPr/>
        </p:nvSpPr>
        <p:spPr>
          <a:xfrm>
            <a:off x="6482720" y="3645072"/>
            <a:ext cx="1101300" cy="1743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{{R_5}}</a:t>
            </a:r>
            <a:endParaRPr b="0" i="0" sz="900" u="none" cap="none" strike="noStrike">
              <a:solidFill>
                <a:srgbClr val="333333"/>
              </a:solidFill>
              <a:latin typeface="Calibri"/>
              <a:ea typeface="Calibri"/>
              <a:cs typeface="Calibri"/>
              <a:sym typeface="Calibri"/>
            </a:endParaRPr>
          </a:p>
        </p:txBody>
      </p:sp>
      <p:sp>
        <p:nvSpPr>
          <p:cNvPr id="808" name="Google Shape;808;p61"/>
          <p:cNvSpPr txBox="1"/>
          <p:nvPr/>
        </p:nvSpPr>
        <p:spPr>
          <a:xfrm>
            <a:off x="6595982" y="3633632"/>
            <a:ext cx="1104000" cy="1743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{{RC_5}}</a:t>
            </a:r>
            <a:endParaRPr b="0" i="0" sz="900" u="none" cap="none" strike="noStrike">
              <a:solidFill>
                <a:srgbClr val="333333"/>
              </a:solidFill>
              <a:latin typeface="Calibri"/>
              <a:ea typeface="Calibri"/>
              <a:cs typeface="Calibri"/>
              <a:sym typeface="Calibri"/>
            </a:endParaRPr>
          </a:p>
        </p:txBody>
      </p:sp>
      <p:sp>
        <p:nvSpPr>
          <p:cNvPr id="809" name="Google Shape;809;p61"/>
          <p:cNvSpPr txBox="1"/>
          <p:nvPr/>
        </p:nvSpPr>
        <p:spPr>
          <a:xfrm>
            <a:off x="6482720" y="3829881"/>
            <a:ext cx="1101300" cy="1743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{{R_6}}</a:t>
            </a:r>
            <a:endParaRPr b="0" i="0" sz="900" u="none" cap="none" strike="noStrike">
              <a:solidFill>
                <a:srgbClr val="333333"/>
              </a:solidFill>
              <a:latin typeface="Calibri"/>
              <a:ea typeface="Calibri"/>
              <a:cs typeface="Calibri"/>
              <a:sym typeface="Calibri"/>
            </a:endParaRPr>
          </a:p>
        </p:txBody>
      </p:sp>
      <p:sp>
        <p:nvSpPr>
          <p:cNvPr id="810" name="Google Shape;810;p61"/>
          <p:cNvSpPr txBox="1"/>
          <p:nvPr/>
        </p:nvSpPr>
        <p:spPr>
          <a:xfrm>
            <a:off x="6595982" y="3818890"/>
            <a:ext cx="1104000" cy="1743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{{RC_6}}</a:t>
            </a:r>
            <a:endParaRPr b="0" i="0" sz="900" u="none" cap="none" strike="noStrike">
              <a:solidFill>
                <a:srgbClr val="333333"/>
              </a:solidFill>
              <a:latin typeface="Calibri"/>
              <a:ea typeface="Calibri"/>
              <a:cs typeface="Calibri"/>
              <a:sym typeface="Calibri"/>
            </a:endParaRPr>
          </a:p>
        </p:txBody>
      </p:sp>
      <p:sp>
        <p:nvSpPr>
          <p:cNvPr id="811" name="Google Shape;811;p61"/>
          <p:cNvSpPr txBox="1"/>
          <p:nvPr/>
        </p:nvSpPr>
        <p:spPr>
          <a:xfrm>
            <a:off x="6427050" y="2431400"/>
            <a:ext cx="2563500" cy="301200"/>
          </a:xfrm>
          <a:prstGeom prst="rect">
            <a:avLst/>
          </a:prstGeom>
          <a:noFill/>
          <a:ln>
            <a:noFill/>
          </a:ln>
        </p:spPr>
        <p:txBody>
          <a:bodyPr anchorCtr="0" anchor="ctr"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sng" cap="none" strike="noStrike">
                <a:solidFill>
                  <a:schemeClr val="hlink"/>
                </a:solidFill>
                <a:latin typeface="Calibri"/>
                <a:ea typeface="Calibri"/>
                <a:cs typeface="Calibri"/>
                <a:sym typeface="Calibri"/>
                <a:hlinkClick r:id="rId11"/>
              </a:rPr>
              <a:t>Container Registries </a:t>
            </a:r>
            <a:r>
              <a:rPr b="0" i="0" lang="en" sz="1300" u="none" cap="none" strike="noStrike">
                <a:solidFill>
                  <a:schemeClr val="hlink"/>
                </a:solidFill>
                <a:uFill>
                  <a:noFill/>
                </a:uFill>
                <a:latin typeface="Calibri"/>
                <a:ea typeface="Calibri"/>
                <a:cs typeface="Calibri"/>
                <a:sym typeface="Calibri"/>
                <a:hlinkClick r:id="rId12"/>
              </a:rPr>
              <a:t>↗</a:t>
            </a:r>
            <a:endParaRPr b="0" i="0" sz="1100" u="none" cap="none" strike="noStrike">
              <a:solidFill>
                <a:srgbClr val="0254EC"/>
              </a:solidFill>
              <a:latin typeface="Calibri"/>
              <a:ea typeface="Calibri"/>
              <a:cs typeface="Calibri"/>
              <a:sym typeface="Calibri"/>
            </a:endParaRPr>
          </a:p>
        </p:txBody>
      </p:sp>
      <p:sp>
        <p:nvSpPr>
          <p:cNvPr id="812" name="Google Shape;812;p61"/>
          <p:cNvSpPr txBox="1"/>
          <p:nvPr/>
        </p:nvSpPr>
        <p:spPr>
          <a:xfrm>
            <a:off x="6480125" y="2905839"/>
            <a:ext cx="1101300" cy="1743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{{R_1}}</a:t>
            </a:r>
            <a:endParaRPr b="0" i="0" sz="900" u="none" cap="none" strike="noStrike">
              <a:solidFill>
                <a:srgbClr val="333333"/>
              </a:solidFill>
              <a:latin typeface="Calibri"/>
              <a:ea typeface="Calibri"/>
              <a:cs typeface="Calibri"/>
              <a:sym typeface="Calibri"/>
            </a:endParaRPr>
          </a:p>
        </p:txBody>
      </p:sp>
      <p:sp>
        <p:nvSpPr>
          <p:cNvPr id="813" name="Google Shape;813;p61"/>
          <p:cNvSpPr txBox="1"/>
          <p:nvPr/>
        </p:nvSpPr>
        <p:spPr>
          <a:xfrm>
            <a:off x="6597131" y="2892600"/>
            <a:ext cx="1104000" cy="1743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{{RC_1}}</a:t>
            </a:r>
            <a:endParaRPr b="0" i="0" sz="900" u="none" cap="none" strike="noStrike">
              <a:solidFill>
                <a:srgbClr val="333333"/>
              </a:solidFill>
              <a:latin typeface="Calibri"/>
              <a:ea typeface="Calibri"/>
              <a:cs typeface="Calibri"/>
              <a:sym typeface="Calibri"/>
            </a:endParaRPr>
          </a:p>
        </p:txBody>
      </p:sp>
      <p:sp>
        <p:nvSpPr>
          <p:cNvPr id="814" name="Google Shape;814;p61"/>
          <p:cNvSpPr txBox="1"/>
          <p:nvPr/>
        </p:nvSpPr>
        <p:spPr>
          <a:xfrm>
            <a:off x="6419250" y="4423386"/>
            <a:ext cx="2579100" cy="220800"/>
          </a:xfrm>
          <a:prstGeom prst="rect">
            <a:avLst/>
          </a:prstGeom>
          <a:noFill/>
          <a:ln>
            <a:noFill/>
          </a:ln>
        </p:spPr>
        <p:txBody>
          <a:bodyPr anchorCtr="0" anchor="t" bIns="91775" lIns="91775" spcFirstLastPara="1" rIns="91775" wrap="square" tIns="91775">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Do you have visibility into </a:t>
            </a:r>
            <a:r>
              <a:rPr b="0" i="1" lang="en" sz="900" u="none" cap="none" strike="noStrike">
                <a:solidFill>
                  <a:srgbClr val="333333"/>
                </a:solidFill>
                <a:latin typeface="Calibri"/>
                <a:ea typeface="Calibri"/>
                <a:cs typeface="Calibri"/>
                <a:sym typeface="Calibri"/>
              </a:rPr>
              <a:t>all </a:t>
            </a:r>
            <a:br>
              <a:rPr b="0" i="1" lang="en" sz="900" u="none" cap="none" strike="noStrike">
                <a:solidFill>
                  <a:srgbClr val="333333"/>
                </a:solidFill>
                <a:latin typeface="Calibri"/>
                <a:ea typeface="Calibri"/>
                <a:cs typeface="Calibri"/>
                <a:sym typeface="Calibri"/>
              </a:rPr>
            </a:br>
            <a:r>
              <a:rPr b="0" i="0" lang="en" sz="900" u="none" cap="none" strike="noStrike">
                <a:solidFill>
                  <a:srgbClr val="333333"/>
                </a:solidFill>
                <a:latin typeface="Calibri"/>
                <a:ea typeface="Calibri"/>
                <a:cs typeface="Calibri"/>
                <a:sym typeface="Calibri"/>
              </a:rPr>
              <a:t>of your Registries?</a:t>
            </a:r>
            <a:br>
              <a:rPr b="0" i="0" lang="en" sz="900" u="none" cap="none" strike="noStrike">
                <a:solidFill>
                  <a:srgbClr val="333333"/>
                </a:solidFill>
                <a:latin typeface="Calibri"/>
                <a:ea typeface="Calibri"/>
                <a:cs typeface="Calibri"/>
                <a:sym typeface="Calibri"/>
              </a:rPr>
            </a:br>
            <a:r>
              <a:rPr b="0" i="0" lang="en" sz="900" u="none" cap="none" strike="noStrike">
                <a:solidFill>
                  <a:srgbClr val="333333"/>
                </a:solidFill>
                <a:latin typeface="Calibri"/>
                <a:ea typeface="Calibri"/>
                <a:cs typeface="Calibri"/>
                <a:sym typeface="Calibri"/>
              </a:rPr>
              <a:t>jFrog, Sonatype Nexus, etc. </a:t>
            </a:r>
            <a:endParaRPr b="0" i="0" sz="900" u="none" cap="none" strike="noStrike">
              <a:solidFill>
                <a:srgbClr val="333333"/>
              </a:solidFill>
              <a:latin typeface="Calibri"/>
              <a:ea typeface="Calibri"/>
              <a:cs typeface="Calibri"/>
              <a:sym typeface="Calibri"/>
            </a:endParaRPr>
          </a:p>
        </p:txBody>
      </p:sp>
      <p:sp>
        <p:nvSpPr>
          <p:cNvPr id="815" name="Google Shape;815;p61"/>
          <p:cNvSpPr txBox="1"/>
          <p:nvPr/>
        </p:nvSpPr>
        <p:spPr>
          <a:xfrm>
            <a:off x="388145" y="1741949"/>
            <a:ext cx="2113800" cy="1581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Other</a:t>
            </a:r>
            <a:endParaRPr b="0" i="0" sz="900" u="none" cap="none" strike="noStrike">
              <a:solidFill>
                <a:srgbClr val="333333"/>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333333"/>
              </a:solidFill>
              <a:latin typeface="Calibri"/>
              <a:ea typeface="Calibri"/>
              <a:cs typeface="Calibri"/>
              <a:sym typeface="Calibri"/>
            </a:endParaRPr>
          </a:p>
        </p:txBody>
      </p:sp>
      <p:sp>
        <p:nvSpPr>
          <p:cNvPr id="816" name="Google Shape;816;p61"/>
          <p:cNvSpPr txBox="1"/>
          <p:nvPr/>
        </p:nvSpPr>
        <p:spPr>
          <a:xfrm>
            <a:off x="1631697" y="1729224"/>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{{K8C_OTH}}</a:t>
            </a:r>
            <a:endParaRPr b="1" i="0" sz="900" u="none" cap="none" strike="noStrike">
              <a:solidFill>
                <a:srgbClr val="333333"/>
              </a:solidFill>
              <a:latin typeface="Calibri"/>
              <a:ea typeface="Calibri"/>
              <a:cs typeface="Calibri"/>
              <a:sym typeface="Calibri"/>
            </a:endParaRPr>
          </a:p>
        </p:txBody>
      </p:sp>
      <p:sp>
        <p:nvSpPr>
          <p:cNvPr id="817" name="Google Shape;817;p61"/>
          <p:cNvSpPr txBox="1"/>
          <p:nvPr/>
        </p:nvSpPr>
        <p:spPr>
          <a:xfrm>
            <a:off x="3236233" y="1390756"/>
            <a:ext cx="1909200" cy="1548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3"/>
              </a:rPr>
              <a:t>K8S Audit Logs Onboarded</a:t>
            </a:r>
            <a:endParaRPr b="0" i="0" sz="900" u="none" cap="none" strike="noStrike">
              <a:solidFill>
                <a:srgbClr val="0254EC"/>
              </a:solidFill>
              <a:latin typeface="Calibri"/>
              <a:ea typeface="Calibri"/>
              <a:cs typeface="Calibri"/>
              <a:sym typeface="Calibri"/>
            </a:endParaRPr>
          </a:p>
        </p:txBody>
      </p:sp>
      <p:sp>
        <p:nvSpPr>
          <p:cNvPr id="818" name="Google Shape;818;p61"/>
          <p:cNvSpPr txBox="1"/>
          <p:nvPr/>
        </p:nvSpPr>
        <p:spPr>
          <a:xfrm>
            <a:off x="3239438" y="1568033"/>
            <a:ext cx="1909200" cy="1548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4"/>
              </a:rPr>
              <a:t>Sensor Active (Runtime)</a:t>
            </a:r>
            <a:endParaRPr b="0" i="0" sz="900" u="none" cap="none" strike="noStrike">
              <a:solidFill>
                <a:srgbClr val="0254EC"/>
              </a:solidFill>
              <a:latin typeface="Calibri"/>
              <a:ea typeface="Calibri"/>
              <a:cs typeface="Calibri"/>
              <a:sym typeface="Calibri"/>
            </a:endParaRPr>
          </a:p>
        </p:txBody>
      </p:sp>
      <p:sp>
        <p:nvSpPr>
          <p:cNvPr id="819" name="Google Shape;819;p61"/>
          <p:cNvSpPr txBox="1"/>
          <p:nvPr/>
        </p:nvSpPr>
        <p:spPr>
          <a:xfrm>
            <a:off x="4763494" y="1384168"/>
            <a:ext cx="1003500" cy="1530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{{KC_SE}}</a:t>
            </a:r>
            <a:endParaRPr b="1" i="0" sz="1000" u="none" cap="none" strike="noStrike">
              <a:solidFill>
                <a:srgbClr val="333333"/>
              </a:solidFill>
              <a:latin typeface="Calibri"/>
              <a:ea typeface="Calibri"/>
              <a:cs typeface="Calibri"/>
              <a:sym typeface="Calibri"/>
            </a:endParaRPr>
          </a:p>
        </p:txBody>
      </p:sp>
      <p:sp>
        <p:nvSpPr>
          <p:cNvPr id="820" name="Google Shape;820;p61"/>
          <p:cNvSpPr txBox="1"/>
          <p:nvPr/>
        </p:nvSpPr>
        <p:spPr>
          <a:xfrm>
            <a:off x="4762076" y="1557221"/>
            <a:ext cx="1003500" cy="1530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{{KC_CLI}}</a:t>
            </a:r>
            <a:endParaRPr b="1" i="0" sz="1000" u="none" cap="none" strike="noStrike">
              <a:solidFill>
                <a:srgbClr val="333333"/>
              </a:solidFill>
              <a:latin typeface="Calibri"/>
              <a:ea typeface="Calibri"/>
              <a:cs typeface="Calibri"/>
              <a:sym typeface="Calibri"/>
            </a:endParaRPr>
          </a:p>
        </p:txBody>
      </p:sp>
      <p:sp>
        <p:nvSpPr>
          <p:cNvPr id="821" name="Google Shape;821;p61"/>
          <p:cNvSpPr txBox="1"/>
          <p:nvPr/>
        </p:nvSpPr>
        <p:spPr>
          <a:xfrm>
            <a:off x="6233046" y="1113294"/>
            <a:ext cx="1720500" cy="1581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5"/>
              </a:rPr>
              <a:t>Internet-Accessible</a:t>
            </a:r>
            <a:endParaRPr b="0" i="0" sz="900" u="none" cap="none" strike="noStrike">
              <a:solidFill>
                <a:srgbClr val="0254EC"/>
              </a:solidFill>
              <a:latin typeface="Calibri"/>
              <a:ea typeface="Calibri"/>
              <a:cs typeface="Calibri"/>
              <a:sym typeface="Calibri"/>
            </a:endParaRPr>
          </a:p>
        </p:txBody>
      </p:sp>
      <p:sp>
        <p:nvSpPr>
          <p:cNvPr id="822" name="Google Shape;822;p61"/>
          <p:cNvSpPr txBox="1"/>
          <p:nvPr/>
        </p:nvSpPr>
        <p:spPr>
          <a:xfrm>
            <a:off x="7853359" y="1113282"/>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{{KG_IA}}</a:t>
            </a:r>
            <a:endParaRPr b="1" i="0" sz="1000" u="none" cap="none" strike="noStrike">
              <a:solidFill>
                <a:srgbClr val="333333"/>
              </a:solidFill>
              <a:latin typeface="Calibri"/>
              <a:ea typeface="Calibri"/>
              <a:cs typeface="Calibri"/>
              <a:sym typeface="Calibri"/>
            </a:endParaRPr>
          </a:p>
        </p:txBody>
      </p:sp>
      <p:sp>
        <p:nvSpPr>
          <p:cNvPr id="823" name="Google Shape;823;p61"/>
          <p:cNvSpPr txBox="1"/>
          <p:nvPr/>
        </p:nvSpPr>
        <p:spPr>
          <a:xfrm>
            <a:off x="6233048" y="1280583"/>
            <a:ext cx="1953900" cy="1443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6"/>
              </a:rPr>
              <a:t>No Wiz Connector Deployed</a:t>
            </a:r>
            <a:endParaRPr b="0" i="0" sz="900" u="none" cap="none" strike="noStrike">
              <a:solidFill>
                <a:srgbClr val="0254EC"/>
              </a:solidFill>
              <a:latin typeface="Calibri"/>
              <a:ea typeface="Calibri"/>
              <a:cs typeface="Calibri"/>
              <a:sym typeface="Calibri"/>
            </a:endParaRPr>
          </a:p>
        </p:txBody>
      </p:sp>
      <p:sp>
        <p:nvSpPr>
          <p:cNvPr id="824" name="Google Shape;824;p61"/>
          <p:cNvSpPr txBox="1"/>
          <p:nvPr/>
        </p:nvSpPr>
        <p:spPr>
          <a:xfrm>
            <a:off x="7853359" y="1281379"/>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{{KG_NC}}</a:t>
            </a:r>
            <a:endParaRPr b="1" i="0" sz="1000" u="none" cap="none" strike="noStrike">
              <a:solidFill>
                <a:srgbClr val="333333"/>
              </a:solidFill>
              <a:latin typeface="Calibri"/>
              <a:ea typeface="Calibri"/>
              <a:cs typeface="Calibri"/>
              <a:sym typeface="Calibri"/>
            </a:endParaRPr>
          </a:p>
        </p:txBody>
      </p:sp>
      <p:sp>
        <p:nvSpPr>
          <p:cNvPr id="825" name="Google Shape;825;p61"/>
          <p:cNvSpPr txBox="1"/>
          <p:nvPr/>
        </p:nvSpPr>
        <p:spPr>
          <a:xfrm>
            <a:off x="6231149" y="1453558"/>
            <a:ext cx="1953900" cy="1443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7"/>
              </a:rPr>
              <a:t>No K8S Audit Logs</a:t>
            </a:r>
            <a:endParaRPr b="0" i="0" sz="900" u="none" cap="none" strike="noStrike">
              <a:solidFill>
                <a:srgbClr val="0254EC"/>
              </a:solidFill>
              <a:latin typeface="Calibri"/>
              <a:ea typeface="Calibri"/>
              <a:cs typeface="Calibri"/>
              <a:sym typeface="Calibri"/>
            </a:endParaRPr>
          </a:p>
        </p:txBody>
      </p:sp>
      <p:sp>
        <p:nvSpPr>
          <p:cNvPr id="826" name="Google Shape;826;p61"/>
          <p:cNvSpPr txBox="1"/>
          <p:nvPr/>
        </p:nvSpPr>
        <p:spPr>
          <a:xfrm>
            <a:off x="6234434" y="1622052"/>
            <a:ext cx="2297400" cy="144300"/>
          </a:xfrm>
          <a:prstGeom prst="rect">
            <a:avLst/>
          </a:prstGeom>
          <a:noFill/>
          <a:ln>
            <a:noFill/>
          </a:ln>
        </p:spPr>
        <p:txBody>
          <a:bodyPr anchorCtr="0" anchor="t" bIns="91775" lIns="91775" spcFirstLastPara="1" rIns="91775" wrap="square" tIns="9177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18"/>
              </a:rPr>
              <a:t>No Runtime Sensor</a:t>
            </a:r>
            <a:endParaRPr b="0" i="0" sz="900" u="none" cap="none" strike="noStrike">
              <a:solidFill>
                <a:srgbClr val="0254EC"/>
              </a:solidFill>
              <a:latin typeface="Calibri"/>
              <a:ea typeface="Calibri"/>
              <a:cs typeface="Calibri"/>
              <a:sym typeface="Calibri"/>
            </a:endParaRPr>
          </a:p>
        </p:txBody>
      </p:sp>
      <p:sp>
        <p:nvSpPr>
          <p:cNvPr id="827" name="Google Shape;827;p61"/>
          <p:cNvSpPr txBox="1"/>
          <p:nvPr/>
        </p:nvSpPr>
        <p:spPr>
          <a:xfrm>
            <a:off x="7851586" y="1449476"/>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{{KG_NA}}</a:t>
            </a:r>
            <a:endParaRPr b="1" i="0" sz="1000" u="none" cap="none" strike="noStrike">
              <a:solidFill>
                <a:srgbClr val="333333"/>
              </a:solidFill>
              <a:latin typeface="Calibri"/>
              <a:ea typeface="Calibri"/>
              <a:cs typeface="Calibri"/>
              <a:sym typeface="Calibri"/>
            </a:endParaRPr>
          </a:p>
        </p:txBody>
      </p:sp>
      <p:sp>
        <p:nvSpPr>
          <p:cNvPr id="828" name="Google Shape;828;p61"/>
          <p:cNvSpPr txBox="1"/>
          <p:nvPr/>
        </p:nvSpPr>
        <p:spPr>
          <a:xfrm>
            <a:off x="7849813" y="1617573"/>
            <a:ext cx="1003500" cy="158100"/>
          </a:xfrm>
          <a:prstGeom prst="rect">
            <a:avLst/>
          </a:prstGeom>
          <a:noFill/>
          <a:ln>
            <a:noFill/>
          </a:ln>
        </p:spPr>
        <p:txBody>
          <a:bodyPr anchorCtr="0" anchor="t" bIns="91775" lIns="91775" spcFirstLastPara="1" rIns="91775" wrap="square" tIns="91775">
            <a:noAutofit/>
          </a:bodyPr>
          <a:lstStyle/>
          <a:p>
            <a:pPr indent="0" lvl="0" marL="0" marR="0" rtl="0" algn="r">
              <a:lnSpc>
                <a:spcPct val="150000"/>
              </a:lnSpc>
              <a:spcBef>
                <a:spcPts val="0"/>
              </a:spcBef>
              <a:spcAft>
                <a:spcPts val="0"/>
              </a:spcAft>
              <a:buClr>
                <a:srgbClr val="000000"/>
              </a:buClr>
              <a:buSzPts val="1000"/>
              <a:buFont typeface="Arial"/>
              <a:buNone/>
            </a:pPr>
            <a:r>
              <a:rPr b="1" i="0" lang="en" sz="1000" u="none" cap="none" strike="noStrike">
                <a:solidFill>
                  <a:srgbClr val="333333"/>
                </a:solidFill>
                <a:latin typeface="Calibri"/>
                <a:ea typeface="Calibri"/>
                <a:cs typeface="Calibri"/>
                <a:sym typeface="Calibri"/>
              </a:rPr>
              <a:t>{{KG_NS}}</a:t>
            </a:r>
            <a:endParaRPr b="1" i="0" sz="1000" u="none" cap="none" strike="noStrike">
              <a:solidFill>
                <a:srgbClr val="333333"/>
              </a:solidFill>
              <a:latin typeface="Calibri"/>
              <a:ea typeface="Calibri"/>
              <a:cs typeface="Calibri"/>
              <a:sym typeface="Calibri"/>
            </a:endParaRPr>
          </a:p>
        </p:txBody>
      </p:sp>
      <p:sp>
        <p:nvSpPr>
          <p:cNvPr id="829" name="Google Shape;829;p61"/>
          <p:cNvSpPr txBox="1"/>
          <p:nvPr/>
        </p:nvSpPr>
        <p:spPr>
          <a:xfrm>
            <a:off x="3205665" y="2023737"/>
            <a:ext cx="2676900" cy="204300"/>
          </a:xfrm>
          <a:prstGeom prst="rect">
            <a:avLst/>
          </a:prstGeom>
          <a:noFill/>
          <a:ln>
            <a:noFill/>
          </a:ln>
        </p:spPr>
        <p:txBody>
          <a:bodyPr anchorCtr="0" anchor="ctr"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1100"/>
              <a:buFont typeface="Arial"/>
              <a:buNone/>
            </a:pPr>
            <a:r>
              <a:rPr b="0" i="0" lang="en" sz="1100" u="none" cap="none" strike="noStrike">
                <a:solidFill>
                  <a:srgbClr val="333333"/>
                </a:solidFill>
                <a:latin typeface="Calibri"/>
                <a:ea typeface="Calibri"/>
                <a:cs typeface="Calibri"/>
                <a:sym typeface="Calibri"/>
              </a:rPr>
              <a:t>Do you have </a:t>
            </a:r>
            <a:r>
              <a:rPr b="0" i="1" lang="en" sz="1100" u="none" cap="none" strike="noStrike">
                <a:solidFill>
                  <a:srgbClr val="333333"/>
                </a:solidFill>
                <a:latin typeface="Calibri"/>
                <a:ea typeface="Calibri"/>
                <a:cs typeface="Calibri"/>
                <a:sym typeface="Calibri"/>
              </a:rPr>
              <a:t>full</a:t>
            </a:r>
            <a:r>
              <a:rPr b="0" i="0" lang="en" sz="1100" u="none" cap="none" strike="noStrike">
                <a:solidFill>
                  <a:srgbClr val="333333"/>
                </a:solidFill>
                <a:latin typeface="Calibri"/>
                <a:ea typeface="Calibri"/>
                <a:cs typeface="Calibri"/>
                <a:sym typeface="Calibri"/>
              </a:rPr>
              <a:t> visibility?</a:t>
            </a:r>
            <a:endParaRPr b="0" i="0" sz="1100" u="none" cap="none" strike="noStrike">
              <a:solidFill>
                <a:srgbClr val="333333"/>
              </a:solidFill>
              <a:latin typeface="Calibri"/>
              <a:ea typeface="Calibri"/>
              <a:cs typeface="Calibri"/>
              <a:sym typeface="Calibri"/>
            </a:endParaRPr>
          </a:p>
        </p:txBody>
      </p:sp>
      <p:pic>
        <p:nvPicPr>
          <p:cNvPr id="830" name="Google Shape;830;p61"/>
          <p:cNvPicPr preferRelativeResize="0"/>
          <p:nvPr/>
        </p:nvPicPr>
        <p:blipFill rotWithShape="1">
          <a:blip r:embed="rId19">
            <a:alphaModFix/>
          </a:blip>
          <a:srcRect b="0" l="0" r="0" t="0"/>
          <a:stretch/>
        </p:blipFill>
        <p:spPr>
          <a:xfrm>
            <a:off x="3550644" y="2777812"/>
            <a:ext cx="2785632" cy="527016"/>
          </a:xfrm>
          <a:prstGeom prst="rect">
            <a:avLst/>
          </a:prstGeom>
          <a:noFill/>
          <a:ln cap="flat" cmpd="sng" w="9525">
            <a:solidFill>
              <a:schemeClr val="accent1"/>
            </a:solidFill>
            <a:prstDash val="solid"/>
            <a:round/>
            <a:headEnd len="sm" w="sm" type="none"/>
            <a:tailEnd len="sm" w="sm" type="none"/>
          </a:ln>
        </p:spPr>
      </p:pic>
      <p:sp>
        <p:nvSpPr>
          <p:cNvPr id="831" name="Google Shape;831;p61"/>
          <p:cNvSpPr/>
          <p:nvPr/>
        </p:nvSpPr>
        <p:spPr>
          <a:xfrm>
            <a:off x="3595375" y="3607213"/>
            <a:ext cx="2676900" cy="1338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6B7280"/>
              </a:buClr>
              <a:buSzPts val="800"/>
              <a:buFont typeface="DM Sans"/>
              <a:buNone/>
            </a:pPr>
            <a:r>
              <a:rPr b="0" i="0" lang="en" sz="800" u="none" cap="none" strike="noStrike">
                <a:solidFill>
                  <a:srgbClr val="222222"/>
                </a:solidFill>
                <a:latin typeface="Calibri"/>
                <a:ea typeface="Calibri"/>
                <a:cs typeface="Calibri"/>
                <a:sym typeface="Calibri"/>
              </a:rPr>
              <a:t>Understanding where your images are scanned allows you to pinpoint and intercept vulnerabilities at the earliest possible moment. Identifying these specific scan sources is the key to an effective "shift left" strategy, ensuring you apply fixes where they have the most impact before they ever reach production.</a:t>
            </a:r>
            <a:endParaRPr b="0" i="0" sz="800" u="none" cap="none" strike="noStrike">
              <a:solidFill>
                <a:srgbClr val="222222"/>
              </a:solidFill>
              <a:latin typeface="Calibri"/>
              <a:ea typeface="Calibri"/>
              <a:cs typeface="Calibri"/>
              <a:sym typeface="Calibri"/>
            </a:endParaRPr>
          </a:p>
          <a:p>
            <a:pPr indent="0" lvl="0" marL="0" marR="0" rtl="0" algn="ctr">
              <a:lnSpc>
                <a:spcPct val="90000"/>
              </a:lnSpc>
              <a:spcBef>
                <a:spcPts val="0"/>
              </a:spcBef>
              <a:spcAft>
                <a:spcPts val="0"/>
              </a:spcAft>
              <a:buClr>
                <a:srgbClr val="6B7280"/>
              </a:buClr>
              <a:buSzPts val="800"/>
              <a:buFont typeface="DM Sans"/>
              <a:buNone/>
            </a:pPr>
            <a:r>
              <a:t/>
            </a:r>
            <a:endParaRPr b="0" i="0" sz="800" u="none" cap="none" strike="noStrike">
              <a:solidFill>
                <a:srgbClr val="222222"/>
              </a:solidFill>
              <a:latin typeface="Calibri"/>
              <a:ea typeface="Calibri"/>
              <a:cs typeface="Calibri"/>
              <a:sym typeface="Calibri"/>
            </a:endParaRPr>
          </a:p>
          <a:p>
            <a:pPr indent="0" lvl="0" marL="0" marR="0" rtl="0" algn="ctr">
              <a:lnSpc>
                <a:spcPct val="100000"/>
              </a:lnSpc>
              <a:spcBef>
                <a:spcPts val="0"/>
              </a:spcBef>
              <a:spcAft>
                <a:spcPts val="0"/>
              </a:spcAft>
              <a:buClr>
                <a:srgbClr val="1F2937"/>
              </a:buClr>
              <a:buSzPts val="800"/>
              <a:buFont typeface="JetBrains Mono"/>
              <a:buNone/>
            </a:pPr>
            <a:r>
              <a:rPr b="0" i="0" lang="en" sz="800" u="none" cap="none" strike="noStrike">
                <a:solidFill>
                  <a:srgbClr val="222222"/>
                </a:solidFill>
                <a:latin typeface="Calibri"/>
                <a:ea typeface="Calibri"/>
                <a:cs typeface="Calibri"/>
                <a:sym typeface="Calibri"/>
              </a:rPr>
              <a:t>Are you tagging your Images? Correlate the Docker image to the CI phase, gain further insights, and potentially improve your CI/CD pipeline conduct</a:t>
            </a:r>
            <a:endParaRPr b="0" i="0" sz="800" u="none" cap="none" strike="noStrike">
              <a:solidFill>
                <a:srgbClr val="222222"/>
              </a:solidFill>
              <a:latin typeface="Calibri"/>
              <a:ea typeface="Calibri"/>
              <a:cs typeface="Calibri"/>
              <a:sym typeface="Calibri"/>
            </a:endParaRPr>
          </a:p>
        </p:txBody>
      </p:sp>
      <p:sp>
        <p:nvSpPr>
          <p:cNvPr id="832" name="Google Shape;832;p61"/>
          <p:cNvSpPr txBox="1"/>
          <p:nvPr/>
        </p:nvSpPr>
        <p:spPr>
          <a:xfrm>
            <a:off x="5372947" y="3261513"/>
            <a:ext cx="512100" cy="220800"/>
          </a:xfrm>
          <a:prstGeom prst="rect">
            <a:avLst/>
          </a:prstGeom>
          <a:noFill/>
          <a:ln>
            <a:noFill/>
          </a:ln>
        </p:spPr>
        <p:txBody>
          <a:bodyPr anchorCtr="0" anchor="t"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{{CL_CLD}}</a:t>
            </a:r>
            <a:endParaRPr b="1" i="0" sz="900" u="none" cap="none" strike="noStrike">
              <a:solidFill>
                <a:srgbClr val="333333"/>
              </a:solidFill>
              <a:latin typeface="Calibri"/>
              <a:ea typeface="Calibri"/>
              <a:cs typeface="Calibri"/>
              <a:sym typeface="Calibri"/>
            </a:endParaRPr>
          </a:p>
        </p:txBody>
      </p:sp>
      <p:sp>
        <p:nvSpPr>
          <p:cNvPr id="833" name="Google Shape;833;p61"/>
          <p:cNvSpPr txBox="1"/>
          <p:nvPr/>
        </p:nvSpPr>
        <p:spPr>
          <a:xfrm>
            <a:off x="5845145" y="3267116"/>
            <a:ext cx="512100" cy="220800"/>
          </a:xfrm>
          <a:prstGeom prst="rect">
            <a:avLst/>
          </a:prstGeom>
          <a:noFill/>
          <a:ln>
            <a:noFill/>
          </a:ln>
        </p:spPr>
        <p:txBody>
          <a:bodyPr anchorCtr="0" anchor="t"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{{CL_RT}}</a:t>
            </a:r>
            <a:endParaRPr b="1" i="0" sz="900" u="none" cap="none" strike="noStrike">
              <a:solidFill>
                <a:srgbClr val="333333"/>
              </a:solidFill>
              <a:latin typeface="Calibri"/>
              <a:ea typeface="Calibri"/>
              <a:cs typeface="Calibri"/>
              <a:sym typeface="Calibri"/>
            </a:endParaRPr>
          </a:p>
        </p:txBody>
      </p:sp>
      <p:sp>
        <p:nvSpPr>
          <p:cNvPr id="834" name="Google Shape;834;p61"/>
          <p:cNvSpPr txBox="1"/>
          <p:nvPr/>
        </p:nvSpPr>
        <p:spPr>
          <a:xfrm>
            <a:off x="4900748" y="3268983"/>
            <a:ext cx="512100" cy="220800"/>
          </a:xfrm>
          <a:prstGeom prst="rect">
            <a:avLst/>
          </a:prstGeom>
          <a:noFill/>
          <a:ln>
            <a:noFill/>
          </a:ln>
        </p:spPr>
        <p:txBody>
          <a:bodyPr anchorCtr="0" anchor="t"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{{CL_DEP}}</a:t>
            </a:r>
            <a:endParaRPr b="1" i="0" sz="900" u="none" cap="none" strike="noStrike">
              <a:solidFill>
                <a:srgbClr val="333333"/>
              </a:solidFill>
              <a:latin typeface="Calibri"/>
              <a:ea typeface="Calibri"/>
              <a:cs typeface="Calibri"/>
              <a:sym typeface="Calibri"/>
            </a:endParaRPr>
          </a:p>
        </p:txBody>
      </p:sp>
      <p:sp>
        <p:nvSpPr>
          <p:cNvPr id="835" name="Google Shape;835;p61"/>
          <p:cNvSpPr txBox="1"/>
          <p:nvPr/>
        </p:nvSpPr>
        <p:spPr>
          <a:xfrm>
            <a:off x="3956352" y="3259646"/>
            <a:ext cx="512100" cy="220800"/>
          </a:xfrm>
          <a:prstGeom prst="rect">
            <a:avLst/>
          </a:prstGeom>
          <a:noFill/>
          <a:ln>
            <a:noFill/>
          </a:ln>
        </p:spPr>
        <p:txBody>
          <a:bodyPr anchorCtr="0" anchor="t"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{{CL_BLD}}</a:t>
            </a:r>
            <a:endParaRPr b="1" i="0" sz="900" u="none" cap="none" strike="noStrike">
              <a:solidFill>
                <a:srgbClr val="333333"/>
              </a:solidFill>
              <a:latin typeface="Calibri"/>
              <a:ea typeface="Calibri"/>
              <a:cs typeface="Calibri"/>
              <a:sym typeface="Calibri"/>
            </a:endParaRPr>
          </a:p>
        </p:txBody>
      </p:sp>
      <p:sp>
        <p:nvSpPr>
          <p:cNvPr id="836" name="Google Shape;836;p61"/>
          <p:cNvSpPr txBox="1"/>
          <p:nvPr/>
        </p:nvSpPr>
        <p:spPr>
          <a:xfrm>
            <a:off x="4428550" y="3263381"/>
            <a:ext cx="512100" cy="220800"/>
          </a:xfrm>
          <a:prstGeom prst="rect">
            <a:avLst/>
          </a:prstGeom>
          <a:noFill/>
          <a:ln>
            <a:noFill/>
          </a:ln>
        </p:spPr>
        <p:txBody>
          <a:bodyPr anchorCtr="0" anchor="t"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{{CL_STR}}</a:t>
            </a:r>
            <a:endParaRPr b="1" i="0" sz="900" u="none" cap="none" strike="noStrike">
              <a:solidFill>
                <a:srgbClr val="333333"/>
              </a:solidFill>
              <a:latin typeface="Calibri"/>
              <a:ea typeface="Calibri"/>
              <a:cs typeface="Calibri"/>
              <a:sym typeface="Calibri"/>
            </a:endParaRPr>
          </a:p>
        </p:txBody>
      </p:sp>
      <p:sp>
        <p:nvSpPr>
          <p:cNvPr id="837" name="Google Shape;837;p61"/>
          <p:cNvSpPr txBox="1"/>
          <p:nvPr/>
        </p:nvSpPr>
        <p:spPr>
          <a:xfrm>
            <a:off x="3484154" y="3265248"/>
            <a:ext cx="512100" cy="220800"/>
          </a:xfrm>
          <a:prstGeom prst="rect">
            <a:avLst/>
          </a:prstGeom>
          <a:noFill/>
          <a:ln>
            <a:noFill/>
          </a:ln>
        </p:spPr>
        <p:txBody>
          <a:bodyPr anchorCtr="0" anchor="t" bIns="91775" lIns="91775" spcFirstLastPara="1" rIns="91775" wrap="square" tIns="91775">
            <a:noAutofit/>
          </a:bodyPr>
          <a:lstStyle/>
          <a:p>
            <a:pPr indent="0" lvl="0" marL="0" marR="0" rtl="0" algn="ctr">
              <a:lnSpc>
                <a:spcPct val="150000"/>
              </a:lnSpc>
              <a:spcBef>
                <a:spcPts val="0"/>
              </a:spcBef>
              <a:spcAft>
                <a:spcPts val="0"/>
              </a:spcAft>
              <a:buClr>
                <a:srgbClr val="000000"/>
              </a:buClr>
              <a:buSzPts val="900"/>
              <a:buFont typeface="Arial"/>
              <a:buNone/>
            </a:pPr>
            <a:r>
              <a:rPr b="1" i="0" lang="en" sz="900" u="none" cap="none" strike="noStrike">
                <a:solidFill>
                  <a:srgbClr val="333333"/>
                </a:solidFill>
                <a:latin typeface="Calibri"/>
                <a:ea typeface="Calibri"/>
                <a:cs typeface="Calibri"/>
                <a:sym typeface="Calibri"/>
              </a:rPr>
              <a:t>{{CL_CODE}}</a:t>
            </a:r>
            <a:endParaRPr b="1" i="0" sz="900" u="none" cap="none" strike="noStrike">
              <a:solidFill>
                <a:srgbClr val="333333"/>
              </a:solidFill>
              <a:latin typeface="Calibri"/>
              <a:ea typeface="Calibri"/>
              <a:cs typeface="Calibri"/>
              <a:sym typeface="Calibri"/>
            </a:endParaRPr>
          </a:p>
        </p:txBody>
      </p:sp>
      <p:sp>
        <p:nvSpPr>
          <p:cNvPr id="838" name="Google Shape;838;p61"/>
          <p:cNvSpPr txBox="1"/>
          <p:nvPr/>
        </p:nvSpPr>
        <p:spPr>
          <a:xfrm>
            <a:off x="7851954" y="3368391"/>
            <a:ext cx="1139700" cy="1548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{{R_CON}}</a:t>
            </a:r>
            <a:endParaRPr b="0" i="0" sz="900" u="none" cap="none" strike="noStrike">
              <a:solidFill>
                <a:srgbClr val="333333"/>
              </a:solidFill>
              <a:latin typeface="Calibri"/>
              <a:ea typeface="Calibri"/>
              <a:cs typeface="Calibri"/>
              <a:sym typeface="Calibri"/>
            </a:endParaRPr>
          </a:p>
        </p:txBody>
      </p:sp>
      <p:sp>
        <p:nvSpPr>
          <p:cNvPr id="839" name="Google Shape;839;p61"/>
          <p:cNvSpPr txBox="1"/>
          <p:nvPr/>
        </p:nvSpPr>
        <p:spPr>
          <a:xfrm>
            <a:off x="7847951" y="3544289"/>
            <a:ext cx="1143000" cy="1548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{{R_AUT}}</a:t>
            </a:r>
            <a:endParaRPr b="0" i="0" sz="900" u="none" cap="none" strike="noStrike">
              <a:solidFill>
                <a:srgbClr val="333333"/>
              </a:solidFill>
              <a:latin typeface="Calibri"/>
              <a:ea typeface="Calibri"/>
              <a:cs typeface="Calibri"/>
              <a:sym typeface="Calibri"/>
            </a:endParaRPr>
          </a:p>
        </p:txBody>
      </p:sp>
      <p:sp>
        <p:nvSpPr>
          <p:cNvPr id="840" name="Google Shape;840;p61"/>
          <p:cNvSpPr txBox="1"/>
          <p:nvPr/>
        </p:nvSpPr>
        <p:spPr>
          <a:xfrm>
            <a:off x="7743278" y="3375563"/>
            <a:ext cx="914700" cy="1548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20"/>
              </a:rPr>
              <a:t>Connector</a:t>
            </a:r>
            <a:endParaRPr b="0" i="0" sz="900" u="none" cap="none" strike="noStrike">
              <a:solidFill>
                <a:srgbClr val="0254EC"/>
              </a:solidFill>
              <a:latin typeface="Calibri"/>
              <a:ea typeface="Calibri"/>
              <a:cs typeface="Calibri"/>
              <a:sym typeface="Calibri"/>
            </a:endParaRPr>
          </a:p>
        </p:txBody>
      </p:sp>
      <p:sp>
        <p:nvSpPr>
          <p:cNvPr id="841" name="Google Shape;841;p61"/>
          <p:cNvSpPr txBox="1"/>
          <p:nvPr/>
        </p:nvSpPr>
        <p:spPr>
          <a:xfrm>
            <a:off x="7743278" y="3544276"/>
            <a:ext cx="914700" cy="1548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21"/>
              </a:rPr>
              <a:t>Global</a:t>
            </a:r>
            <a:endParaRPr b="0" i="0" sz="900" u="none" cap="none" strike="noStrike">
              <a:solidFill>
                <a:srgbClr val="0254EC"/>
              </a:solidFill>
              <a:latin typeface="Calibri"/>
              <a:ea typeface="Calibri"/>
              <a:cs typeface="Calibri"/>
              <a:sym typeface="Calibri"/>
            </a:endParaRPr>
          </a:p>
        </p:txBody>
      </p:sp>
      <p:sp>
        <p:nvSpPr>
          <p:cNvPr id="842" name="Google Shape;842;p61"/>
          <p:cNvSpPr txBox="1"/>
          <p:nvPr/>
        </p:nvSpPr>
        <p:spPr>
          <a:xfrm>
            <a:off x="7743747" y="3712990"/>
            <a:ext cx="914700" cy="154800"/>
          </a:xfrm>
          <a:prstGeom prst="rect">
            <a:avLst/>
          </a:prstGeom>
          <a:noFill/>
          <a:ln>
            <a:noFill/>
          </a:ln>
        </p:spPr>
        <p:txBody>
          <a:bodyPr anchorCtr="0" anchor="t" bIns="91225" lIns="91225" spcFirstLastPara="1" rIns="91225" wrap="square" tIns="91225">
            <a:noAutofit/>
          </a:bodyPr>
          <a:lstStyle/>
          <a:p>
            <a:pPr indent="0" lvl="0" marL="0" marR="0" rtl="0" algn="l">
              <a:lnSpc>
                <a:spcPct val="150000"/>
              </a:lnSpc>
              <a:spcBef>
                <a:spcPts val="0"/>
              </a:spcBef>
              <a:spcAft>
                <a:spcPts val="0"/>
              </a:spcAft>
              <a:buClr>
                <a:srgbClr val="000000"/>
              </a:buClr>
              <a:buSzPts val="900"/>
              <a:buFont typeface="Arial"/>
              <a:buNone/>
            </a:pPr>
            <a:r>
              <a:rPr b="0" i="0" lang="en" sz="900" u="sng" cap="none" strike="noStrike">
                <a:solidFill>
                  <a:schemeClr val="hlink"/>
                </a:solidFill>
                <a:latin typeface="Calibri"/>
                <a:ea typeface="Calibri"/>
                <a:cs typeface="Calibri"/>
                <a:sym typeface="Calibri"/>
                <a:hlinkClick r:id="rId22"/>
              </a:rPr>
              <a:t>Custom</a:t>
            </a:r>
            <a:endParaRPr b="0" i="0" sz="900" u="none" cap="none" strike="noStrike">
              <a:solidFill>
                <a:srgbClr val="0254EC"/>
              </a:solidFill>
              <a:latin typeface="Calibri"/>
              <a:ea typeface="Calibri"/>
              <a:cs typeface="Calibri"/>
              <a:sym typeface="Calibri"/>
            </a:endParaRPr>
          </a:p>
        </p:txBody>
      </p:sp>
      <p:sp>
        <p:nvSpPr>
          <p:cNvPr id="843" name="Google Shape;843;p61"/>
          <p:cNvSpPr txBox="1"/>
          <p:nvPr/>
        </p:nvSpPr>
        <p:spPr>
          <a:xfrm>
            <a:off x="7847336" y="3720187"/>
            <a:ext cx="1143000" cy="155400"/>
          </a:xfrm>
          <a:prstGeom prst="rect">
            <a:avLst/>
          </a:prstGeom>
          <a:noFill/>
          <a:ln>
            <a:noFill/>
          </a:ln>
        </p:spPr>
        <p:txBody>
          <a:bodyPr anchorCtr="0" anchor="t" bIns="91225" lIns="91225" spcFirstLastPara="1" rIns="91225" wrap="square" tIns="91225">
            <a:noAutofit/>
          </a:bodyPr>
          <a:lstStyle/>
          <a:p>
            <a:pPr indent="0" lvl="0" marL="0" marR="0" rtl="0" algn="r">
              <a:lnSpc>
                <a:spcPct val="150000"/>
              </a:lnSpc>
              <a:spcBef>
                <a:spcPts val="0"/>
              </a:spcBef>
              <a:spcAft>
                <a:spcPts val="0"/>
              </a:spcAft>
              <a:buClr>
                <a:srgbClr val="000000"/>
              </a:buClr>
              <a:buSzPts val="900"/>
              <a:buFont typeface="Arial"/>
              <a:buNone/>
            </a:pPr>
            <a:r>
              <a:rPr b="0" i="0" lang="en" sz="900" u="none" cap="none" strike="noStrike">
                <a:solidFill>
                  <a:srgbClr val="333333"/>
                </a:solidFill>
                <a:latin typeface="Calibri"/>
                <a:ea typeface="Calibri"/>
                <a:cs typeface="Calibri"/>
                <a:sym typeface="Calibri"/>
              </a:rPr>
              <a:t>{{R_CUS}}</a:t>
            </a:r>
            <a:endParaRPr b="0" i="0" sz="900" u="none" cap="none" strike="noStrike">
              <a:solidFill>
                <a:srgbClr val="333333"/>
              </a:solidFill>
              <a:latin typeface="Calibri"/>
              <a:ea typeface="Calibri"/>
              <a:cs typeface="Calibri"/>
              <a:sym typeface="Calibri"/>
            </a:endParaRPr>
          </a:p>
        </p:txBody>
      </p:sp>
      <p:sp>
        <p:nvSpPr>
          <p:cNvPr id="844" name="Google Shape;844;p61"/>
          <p:cNvSpPr txBox="1"/>
          <p:nvPr/>
        </p:nvSpPr>
        <p:spPr>
          <a:xfrm>
            <a:off x="7683303" y="2828294"/>
            <a:ext cx="1275600" cy="219300"/>
          </a:xfrm>
          <a:prstGeom prst="rect">
            <a:avLst/>
          </a:prstGeom>
          <a:noFill/>
          <a:ln>
            <a:noFill/>
          </a:ln>
        </p:spPr>
        <p:txBody>
          <a:bodyPr anchorCtr="0" anchor="t" bIns="91225" lIns="91225" spcFirstLastPara="1" rIns="91225" wrap="square" tIns="912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333333"/>
                </a:solidFill>
                <a:latin typeface="Calibri"/>
                <a:ea typeface="Calibri"/>
                <a:cs typeface="Calibri"/>
                <a:sym typeface="Calibri"/>
              </a:rPr>
              <a:t>Scanning Config Type</a:t>
            </a:r>
            <a:endParaRPr b="0" i="0" sz="1200" u="none" cap="none" strike="noStrike">
              <a:solidFill>
                <a:srgbClr val="333333"/>
              </a:solidFill>
              <a:latin typeface="Calibri"/>
              <a:ea typeface="Calibri"/>
              <a:cs typeface="Calibri"/>
              <a:sym typeface="Calibri"/>
            </a:endParaRPr>
          </a:p>
        </p:txBody>
      </p:sp>
      <p:cxnSp>
        <p:nvCxnSpPr>
          <p:cNvPr id="845" name="Google Shape;845;p61"/>
          <p:cNvCxnSpPr/>
          <p:nvPr/>
        </p:nvCxnSpPr>
        <p:spPr>
          <a:xfrm flipH="1" rot="10800000">
            <a:off x="7699350" y="2976423"/>
            <a:ext cx="15900" cy="1091400"/>
          </a:xfrm>
          <a:prstGeom prst="straightConnector1">
            <a:avLst/>
          </a:prstGeom>
          <a:noFill/>
          <a:ln cap="flat" cmpd="sng" w="9525">
            <a:solidFill>
              <a:srgbClr val="595959"/>
            </a:solidFill>
            <a:prstDash val="solid"/>
            <a:round/>
            <a:headEnd len="sm" w="sm" type="none"/>
            <a:tailEnd len="sm" w="sm" type="none"/>
          </a:ln>
        </p:spPr>
      </p:cxn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62"/>
          <p:cNvSpPr txBox="1"/>
          <p:nvPr/>
        </p:nvSpPr>
        <p:spPr>
          <a:xfrm>
            <a:off x="468449" y="2483713"/>
            <a:ext cx="3273600" cy="484718"/>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chemeClr val="dk1"/>
              </a:buClr>
              <a:buSzPts val="1100"/>
              <a:buFont typeface="Arial"/>
              <a:buNone/>
            </a:pPr>
            <a:r>
              <a:rPr b="0" i="0" lang="en" sz="2700" u="none" cap="none" strike="noStrike">
                <a:solidFill>
                  <a:schemeClr val="lt1"/>
                </a:solidFill>
                <a:latin typeface="Calibri"/>
                <a:ea typeface="Calibri"/>
                <a:cs typeface="Calibri"/>
                <a:sym typeface="Calibri"/>
              </a:rPr>
              <a:t>Best Practice Review</a:t>
            </a:r>
            <a:endParaRPr b="0" i="0" sz="2700" u="none" cap="none" strike="noStrike">
              <a:solidFill>
                <a:schemeClr val="lt1"/>
              </a:solidFill>
              <a:latin typeface="Calibri"/>
              <a:ea typeface="Calibri"/>
              <a:cs typeface="Calibri"/>
              <a:sym typeface="Calibri"/>
            </a:endParaRPr>
          </a:p>
        </p:txBody>
      </p:sp>
      <p:pic>
        <p:nvPicPr>
          <p:cNvPr id="852" name="Google Shape;852;p62" title="opening_photo.png"/>
          <p:cNvPicPr preferRelativeResize="0"/>
          <p:nvPr/>
        </p:nvPicPr>
        <p:blipFill rotWithShape="1">
          <a:blip r:embed="rId3">
            <a:alphaModFix/>
          </a:blip>
          <a:srcRect b="0" l="0" r="0" t="0"/>
          <a:stretch/>
        </p:blipFill>
        <p:spPr>
          <a:xfrm>
            <a:off x="4256533" y="1409675"/>
            <a:ext cx="4306800" cy="2143875"/>
          </a:xfrm>
          <a:prstGeom prst="rect">
            <a:avLst/>
          </a:prstGeom>
          <a:noFill/>
          <a:ln>
            <a:noFill/>
          </a:ln>
        </p:spPr>
      </p:pic>
      <p:pic>
        <p:nvPicPr>
          <p:cNvPr id="853" name="Google Shape;853;p62" title="cloud.png"/>
          <p:cNvPicPr preferRelativeResize="0"/>
          <p:nvPr/>
        </p:nvPicPr>
        <p:blipFill rotWithShape="1">
          <a:blip r:embed="rId4">
            <a:alphaModFix/>
          </a:blip>
          <a:srcRect b="0" l="0" r="0" t="0"/>
          <a:stretch/>
        </p:blipFill>
        <p:spPr>
          <a:xfrm>
            <a:off x="6699300" y="3318246"/>
            <a:ext cx="2444700" cy="1825254"/>
          </a:xfrm>
          <a:prstGeom prst="rect">
            <a:avLst/>
          </a:prstGeom>
          <a:noFill/>
          <a:ln>
            <a:noFill/>
          </a:ln>
        </p:spPr>
      </p:pic>
      <p:pic>
        <p:nvPicPr>
          <p:cNvPr id="854" name="Google Shape;854;p62" title="logo.png"/>
          <p:cNvPicPr preferRelativeResize="0"/>
          <p:nvPr/>
        </p:nvPicPr>
        <p:blipFill rotWithShape="1">
          <a:blip r:embed="rId5">
            <a:alphaModFix/>
          </a:blip>
          <a:srcRect b="0" l="0" r="0" t="0"/>
          <a:stretch/>
        </p:blipFill>
        <p:spPr>
          <a:xfrm>
            <a:off x="553277" y="1994713"/>
            <a:ext cx="637001" cy="3041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859" name="Shape 859"/>
        <p:cNvGrpSpPr/>
        <p:nvPr/>
      </p:nvGrpSpPr>
      <p:grpSpPr>
        <a:xfrm>
          <a:off x="0" y="0"/>
          <a:ext cx="0" cy="0"/>
          <a:chOff x="0" y="0"/>
          <a:chExt cx="0" cy="0"/>
        </a:xfrm>
      </p:grpSpPr>
      <p:sp>
        <p:nvSpPr>
          <p:cNvPr id="860" name="Google Shape;860;p63"/>
          <p:cNvSpPr/>
          <p:nvPr/>
        </p:nvSpPr>
        <p:spPr>
          <a:xfrm>
            <a:off x="457190" y="1413775"/>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Scanning Non-OS Disks</a:t>
            </a:r>
            <a:endParaRPr b="0" i="0" sz="800" u="none" cap="none" strike="noStrike">
              <a:solidFill>
                <a:schemeClr val="dk1"/>
              </a:solidFill>
              <a:latin typeface="Calibri"/>
              <a:ea typeface="Calibri"/>
              <a:cs typeface="Calibri"/>
              <a:sym typeface="Calibri"/>
            </a:endParaRPr>
          </a:p>
        </p:txBody>
      </p:sp>
      <p:sp>
        <p:nvSpPr>
          <p:cNvPr id="861" name="Google Shape;861;p63"/>
          <p:cNvSpPr/>
          <p:nvPr/>
        </p:nvSpPr>
        <p:spPr>
          <a:xfrm>
            <a:off x="457190" y="1644569"/>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Virtual Machine Scanning</a:t>
            </a:r>
            <a:endParaRPr b="0" i="0" sz="800" u="none" cap="none" strike="noStrike">
              <a:solidFill>
                <a:schemeClr val="dk1"/>
              </a:solidFill>
              <a:latin typeface="Calibri"/>
              <a:ea typeface="Calibri"/>
              <a:cs typeface="Calibri"/>
              <a:sym typeface="Calibri"/>
            </a:endParaRPr>
          </a:p>
        </p:txBody>
      </p:sp>
      <p:sp>
        <p:nvSpPr>
          <p:cNvPr id="862" name="Google Shape;862;p63"/>
          <p:cNvSpPr/>
          <p:nvPr/>
        </p:nvSpPr>
        <p:spPr>
          <a:xfrm>
            <a:off x="457190" y="1875363"/>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Shared AWS CMKs</a:t>
            </a:r>
            <a:endParaRPr b="0" i="0" sz="800" u="none" cap="none" strike="noStrike">
              <a:solidFill>
                <a:schemeClr val="dk1"/>
              </a:solidFill>
              <a:latin typeface="Calibri"/>
              <a:ea typeface="Calibri"/>
              <a:cs typeface="Calibri"/>
              <a:sym typeface="Calibri"/>
            </a:endParaRPr>
          </a:p>
        </p:txBody>
      </p:sp>
      <p:sp>
        <p:nvSpPr>
          <p:cNvPr id="863" name="Google Shape;863;p63"/>
          <p:cNvSpPr/>
          <p:nvPr/>
        </p:nvSpPr>
        <p:spPr>
          <a:xfrm>
            <a:off x="457190" y="2106157"/>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AWS Scanning via Temp Volumes</a:t>
            </a:r>
            <a:endParaRPr b="0" i="0" sz="800" u="none" cap="none" strike="noStrike">
              <a:solidFill>
                <a:schemeClr val="dk1"/>
              </a:solidFill>
              <a:latin typeface="Calibri"/>
              <a:ea typeface="Calibri"/>
              <a:cs typeface="Calibri"/>
              <a:sym typeface="Calibri"/>
            </a:endParaRPr>
          </a:p>
        </p:txBody>
      </p:sp>
      <p:sp>
        <p:nvSpPr>
          <p:cNvPr id="864" name="Google Shape;864;p63"/>
          <p:cNvSpPr/>
          <p:nvPr/>
        </p:nvSpPr>
        <p:spPr>
          <a:xfrm>
            <a:off x="457190" y="2336951"/>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AWS LightSail Scanning</a:t>
            </a:r>
            <a:endParaRPr b="0" i="0" sz="800" u="none" cap="none" strike="noStrike">
              <a:solidFill>
                <a:schemeClr val="dk1"/>
              </a:solidFill>
              <a:latin typeface="Calibri"/>
              <a:ea typeface="Calibri"/>
              <a:cs typeface="Calibri"/>
              <a:sym typeface="Calibri"/>
            </a:endParaRPr>
          </a:p>
        </p:txBody>
      </p:sp>
      <p:sp>
        <p:nvSpPr>
          <p:cNvPr id="865" name="Google Shape;865;p63"/>
          <p:cNvSpPr/>
          <p:nvPr/>
        </p:nvSpPr>
        <p:spPr>
          <a:xfrm>
            <a:off x="457190" y="2567745"/>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AWS Lambda Version Scanning</a:t>
            </a:r>
            <a:endParaRPr b="0" i="0" sz="800" u="none" cap="none" strike="noStrike">
              <a:solidFill>
                <a:schemeClr val="dk1"/>
              </a:solidFill>
              <a:latin typeface="Calibri"/>
              <a:ea typeface="Calibri"/>
              <a:cs typeface="Calibri"/>
              <a:sym typeface="Calibri"/>
            </a:endParaRPr>
          </a:p>
        </p:txBody>
      </p:sp>
      <p:sp>
        <p:nvSpPr>
          <p:cNvPr id="866" name="Google Shape;866;p63"/>
          <p:cNvSpPr/>
          <p:nvPr/>
        </p:nvSpPr>
        <p:spPr>
          <a:xfrm>
            <a:off x="457190" y="2798539"/>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Custom Scanner Tags</a:t>
            </a:r>
            <a:endParaRPr b="0" i="0" sz="800" u="none" cap="none" strike="noStrike">
              <a:solidFill>
                <a:schemeClr val="dk1"/>
              </a:solidFill>
              <a:latin typeface="Calibri"/>
              <a:ea typeface="Calibri"/>
              <a:cs typeface="Calibri"/>
              <a:sym typeface="Calibri"/>
            </a:endParaRPr>
          </a:p>
        </p:txBody>
      </p:sp>
      <p:sp>
        <p:nvSpPr>
          <p:cNvPr id="867" name="Google Shape;867;p63"/>
          <p:cNvSpPr/>
          <p:nvPr/>
        </p:nvSpPr>
        <p:spPr>
          <a:xfrm>
            <a:off x="457190" y="3029333"/>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Workload Scanning Exclusions</a:t>
            </a:r>
            <a:endParaRPr b="0" i="0" sz="800" u="none" cap="none" strike="noStrike">
              <a:solidFill>
                <a:schemeClr val="dk1"/>
              </a:solidFill>
              <a:latin typeface="Calibri"/>
              <a:ea typeface="Calibri"/>
              <a:cs typeface="Calibri"/>
              <a:sym typeface="Calibri"/>
            </a:endParaRPr>
          </a:p>
        </p:txBody>
      </p:sp>
      <p:sp>
        <p:nvSpPr>
          <p:cNvPr id="868" name="Google Shape;868;p63"/>
          <p:cNvSpPr/>
          <p:nvPr/>
        </p:nvSpPr>
        <p:spPr>
          <a:xfrm>
            <a:off x="457190" y="3260127"/>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Compute Instance Group Sampling</a:t>
            </a:r>
            <a:endParaRPr b="0" i="0" sz="800" u="none" cap="none" strike="noStrike">
              <a:solidFill>
                <a:schemeClr val="dk1"/>
              </a:solidFill>
              <a:latin typeface="Calibri"/>
              <a:ea typeface="Calibri"/>
              <a:cs typeface="Calibri"/>
              <a:sym typeface="Calibri"/>
            </a:endParaRPr>
          </a:p>
        </p:txBody>
      </p:sp>
      <p:sp>
        <p:nvSpPr>
          <p:cNvPr id="869" name="Google Shape;869;p63"/>
          <p:cNvSpPr/>
          <p:nvPr/>
        </p:nvSpPr>
        <p:spPr>
          <a:xfrm>
            <a:off x="457190" y="3490921"/>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ADE Private Endpoints (Disabled Public)</a:t>
            </a:r>
            <a:endParaRPr b="0" i="0" sz="800" u="none" cap="none" strike="noStrike">
              <a:solidFill>
                <a:schemeClr val="dk1"/>
              </a:solidFill>
              <a:latin typeface="Calibri"/>
              <a:ea typeface="Calibri"/>
              <a:cs typeface="Calibri"/>
              <a:sym typeface="Calibri"/>
            </a:endParaRPr>
          </a:p>
        </p:txBody>
      </p:sp>
      <p:sp>
        <p:nvSpPr>
          <p:cNvPr id="870" name="Google Shape;870;p63"/>
          <p:cNvSpPr/>
          <p:nvPr/>
        </p:nvSpPr>
        <p:spPr>
          <a:xfrm>
            <a:off x="457190" y="3721715"/>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ADE Private Endpoints (Selected VNets)</a:t>
            </a:r>
            <a:endParaRPr b="0" i="0" sz="800" u="none" cap="none" strike="noStrike">
              <a:solidFill>
                <a:schemeClr val="dk1"/>
              </a:solidFill>
              <a:latin typeface="Calibri"/>
              <a:ea typeface="Calibri"/>
              <a:cs typeface="Calibri"/>
              <a:sym typeface="Calibri"/>
            </a:endParaRPr>
          </a:p>
        </p:txBody>
      </p:sp>
      <p:sp>
        <p:nvSpPr>
          <p:cNvPr id="871" name="Google Shape;871;p63"/>
          <p:cNvSpPr/>
          <p:nvPr/>
        </p:nvSpPr>
        <p:spPr>
          <a:xfrm>
            <a:off x="457190" y="3952509"/>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sng" cap="none" strike="noStrike">
                <a:solidFill>
                  <a:schemeClr val="hlink"/>
                </a:solidFill>
                <a:latin typeface="Calibri"/>
                <a:ea typeface="Calibri"/>
                <a:cs typeface="Calibri"/>
                <a:sym typeface="Calibri"/>
                <a:hlinkClick r:id="rId3"/>
              </a:rPr>
              <a:t>Near Real-Time Scanning</a:t>
            </a:r>
            <a:endParaRPr b="0" i="0" sz="800" u="none" cap="none" strike="noStrike">
              <a:solidFill>
                <a:schemeClr val="dk1"/>
              </a:solidFill>
              <a:latin typeface="Calibri"/>
              <a:ea typeface="Calibri"/>
              <a:cs typeface="Calibri"/>
              <a:sym typeface="Calibri"/>
            </a:endParaRPr>
          </a:p>
        </p:txBody>
      </p:sp>
      <p:sp>
        <p:nvSpPr>
          <p:cNvPr id="872" name="Google Shape;872;p63"/>
          <p:cNvSpPr/>
          <p:nvPr/>
        </p:nvSpPr>
        <p:spPr>
          <a:xfrm>
            <a:off x="458865" y="4183303"/>
            <a:ext cx="19704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sng" cap="none" strike="noStrike">
                <a:solidFill>
                  <a:schemeClr val="hlink"/>
                </a:solidFill>
                <a:latin typeface="Calibri"/>
                <a:ea typeface="Calibri"/>
                <a:cs typeface="Calibri"/>
                <a:sym typeface="Calibri"/>
                <a:hlinkClick r:id="rId4"/>
              </a:rPr>
              <a:t>Include NRT Workload Scanning</a:t>
            </a:r>
            <a:endParaRPr b="0" i="0" sz="800" u="none" cap="none" strike="noStrike">
              <a:solidFill>
                <a:schemeClr val="dk1"/>
              </a:solidFill>
              <a:latin typeface="Calibri"/>
              <a:ea typeface="Calibri"/>
              <a:cs typeface="Calibri"/>
              <a:sym typeface="Calibri"/>
            </a:endParaRPr>
          </a:p>
        </p:txBody>
      </p:sp>
      <p:sp>
        <p:nvSpPr>
          <p:cNvPr id="873" name="Google Shape;873;p63"/>
          <p:cNvSpPr/>
          <p:nvPr/>
        </p:nvSpPr>
        <p:spPr>
          <a:xfrm>
            <a:off x="454207" y="4414097"/>
            <a:ext cx="1978500" cy="22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86"/>
              <a:buFont typeface="DM Sans"/>
              <a:buNone/>
            </a:pPr>
            <a:r>
              <a:rPr b="0" i="0" lang="en" sz="783" u="sng" cap="none" strike="noStrike">
                <a:solidFill>
                  <a:schemeClr val="hlink"/>
                </a:solidFill>
                <a:latin typeface="Calibri"/>
                <a:ea typeface="Calibri"/>
                <a:cs typeface="Calibri"/>
                <a:sym typeface="Calibri"/>
                <a:hlinkClick r:id="rId5"/>
              </a:rPr>
              <a:t>Agentless File Integrity Monitoring</a:t>
            </a:r>
            <a:endParaRPr b="0" i="0" sz="783" u="none" cap="none" strike="noStrike">
              <a:solidFill>
                <a:srgbClr val="01123F"/>
              </a:solidFill>
              <a:latin typeface="Calibri"/>
              <a:ea typeface="Calibri"/>
              <a:cs typeface="Calibri"/>
              <a:sym typeface="Calibri"/>
            </a:endParaRPr>
          </a:p>
        </p:txBody>
      </p:sp>
      <p:sp>
        <p:nvSpPr>
          <p:cNvPr id="874" name="Google Shape;874;p63"/>
          <p:cNvSpPr/>
          <p:nvPr/>
        </p:nvSpPr>
        <p:spPr>
          <a:xfrm>
            <a:off x="4880822" y="1401575"/>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Scanner Mode (Basic/Advanced)</a:t>
            </a:r>
            <a:endParaRPr b="0" i="0" sz="737" u="none" cap="none" strike="noStrike">
              <a:solidFill>
                <a:srgbClr val="1F2937"/>
              </a:solidFill>
              <a:latin typeface="Calibri"/>
              <a:ea typeface="Calibri"/>
              <a:cs typeface="Calibri"/>
              <a:sym typeface="Calibri"/>
            </a:endParaRPr>
          </a:p>
        </p:txBody>
      </p:sp>
      <p:sp>
        <p:nvSpPr>
          <p:cNvPr id="875" name="Google Shape;875;p63"/>
          <p:cNvSpPr/>
          <p:nvPr/>
        </p:nvSpPr>
        <p:spPr>
          <a:xfrm>
            <a:off x="4880822" y="1604536"/>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Advanced Scan Source: Custom Targets</a:t>
            </a:r>
            <a:endParaRPr b="0" i="0" sz="737" u="none" cap="none" strike="noStrike">
              <a:solidFill>
                <a:srgbClr val="1F2937"/>
              </a:solidFill>
              <a:latin typeface="Calibri"/>
              <a:ea typeface="Calibri"/>
              <a:cs typeface="Calibri"/>
              <a:sym typeface="Calibri"/>
            </a:endParaRPr>
          </a:p>
        </p:txBody>
      </p:sp>
      <p:sp>
        <p:nvSpPr>
          <p:cNvPr id="876" name="Google Shape;876;p63"/>
          <p:cNvSpPr/>
          <p:nvPr/>
        </p:nvSpPr>
        <p:spPr>
          <a:xfrm>
            <a:off x="4880822" y="1807497"/>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Advanced Scan Source: Reconnaissance</a:t>
            </a:r>
            <a:endParaRPr b="0" i="0" sz="737" u="none" cap="none" strike="noStrike">
              <a:solidFill>
                <a:srgbClr val="1F2937"/>
              </a:solidFill>
              <a:latin typeface="Calibri"/>
              <a:ea typeface="Calibri"/>
              <a:cs typeface="Calibri"/>
              <a:sym typeface="Calibri"/>
            </a:endParaRPr>
          </a:p>
        </p:txBody>
      </p:sp>
      <p:sp>
        <p:nvSpPr>
          <p:cNvPr id="877" name="Google Shape;877;p63"/>
          <p:cNvSpPr/>
          <p:nvPr/>
        </p:nvSpPr>
        <p:spPr>
          <a:xfrm>
            <a:off x="4880822" y="2010458"/>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Advanced Scan Source: Code</a:t>
            </a:r>
            <a:endParaRPr b="0" i="0" sz="737" u="none" cap="none" strike="noStrike">
              <a:solidFill>
                <a:srgbClr val="1F2937"/>
              </a:solidFill>
              <a:latin typeface="Calibri"/>
              <a:ea typeface="Calibri"/>
              <a:cs typeface="Calibri"/>
              <a:sym typeface="Calibri"/>
            </a:endParaRPr>
          </a:p>
        </p:txBody>
      </p:sp>
      <p:sp>
        <p:nvSpPr>
          <p:cNvPr id="878" name="Google Shape;878;p63"/>
          <p:cNvSpPr/>
          <p:nvPr/>
        </p:nvSpPr>
        <p:spPr>
          <a:xfrm>
            <a:off x="4880822" y="2213419"/>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Advanced Scan Source: API Security</a:t>
            </a:r>
            <a:endParaRPr b="0" i="0" sz="737" u="none" cap="none" strike="noStrike">
              <a:solidFill>
                <a:srgbClr val="1F2937"/>
              </a:solidFill>
              <a:latin typeface="Calibri"/>
              <a:ea typeface="Calibri"/>
              <a:cs typeface="Calibri"/>
              <a:sym typeface="Calibri"/>
            </a:endParaRPr>
          </a:p>
        </p:txBody>
      </p:sp>
      <p:sp>
        <p:nvSpPr>
          <p:cNvPr id="879" name="Google Shape;879;p63"/>
          <p:cNvSpPr/>
          <p:nvPr/>
        </p:nvSpPr>
        <p:spPr>
          <a:xfrm>
            <a:off x="4880822" y="2416380"/>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Advanced Scan Source: Runtime Sensor</a:t>
            </a:r>
            <a:endParaRPr b="0" i="0" sz="737" u="none" cap="none" strike="noStrike">
              <a:solidFill>
                <a:srgbClr val="1F2937"/>
              </a:solidFill>
              <a:latin typeface="Calibri"/>
              <a:ea typeface="Calibri"/>
              <a:cs typeface="Calibri"/>
              <a:sym typeface="Calibri"/>
            </a:endParaRPr>
          </a:p>
        </p:txBody>
      </p:sp>
      <p:sp>
        <p:nvSpPr>
          <p:cNvPr id="880" name="Google Shape;880;p63"/>
          <p:cNvSpPr/>
          <p:nvPr/>
        </p:nvSpPr>
        <p:spPr>
          <a:xfrm>
            <a:off x="4880822" y="2619341"/>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Advanced Scan Source: SaaS</a:t>
            </a:r>
            <a:endParaRPr b="0" i="0" sz="737" u="none" cap="none" strike="noStrike">
              <a:solidFill>
                <a:srgbClr val="1F2937"/>
              </a:solidFill>
              <a:latin typeface="Calibri"/>
              <a:ea typeface="Calibri"/>
              <a:cs typeface="Calibri"/>
              <a:sym typeface="Calibri"/>
            </a:endParaRPr>
          </a:p>
        </p:txBody>
      </p:sp>
      <p:sp>
        <p:nvSpPr>
          <p:cNvPr id="881" name="Google Shape;881;p63"/>
          <p:cNvSpPr/>
          <p:nvPr/>
        </p:nvSpPr>
        <p:spPr>
          <a:xfrm>
            <a:off x="4880822" y="2822303"/>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Rules: Misconfiguration Detection</a:t>
            </a:r>
            <a:endParaRPr b="0" i="0" sz="737" u="none" cap="none" strike="noStrike">
              <a:solidFill>
                <a:schemeClr val="dk1"/>
              </a:solidFill>
              <a:latin typeface="Calibri"/>
              <a:ea typeface="Calibri"/>
              <a:cs typeface="Calibri"/>
              <a:sym typeface="Calibri"/>
            </a:endParaRPr>
          </a:p>
        </p:txBody>
      </p:sp>
      <p:sp>
        <p:nvSpPr>
          <p:cNvPr id="882" name="Google Shape;882;p63"/>
          <p:cNvSpPr/>
          <p:nvPr/>
        </p:nvSpPr>
        <p:spPr>
          <a:xfrm>
            <a:off x="4881077" y="3025264"/>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Rules: Default Credentials Detection</a:t>
            </a:r>
            <a:endParaRPr b="0" i="0" sz="737" u="none" cap="none" strike="noStrike">
              <a:solidFill>
                <a:srgbClr val="1F2937"/>
              </a:solidFill>
              <a:latin typeface="Calibri"/>
              <a:ea typeface="Calibri"/>
              <a:cs typeface="Calibri"/>
              <a:sym typeface="Calibri"/>
            </a:endParaRPr>
          </a:p>
        </p:txBody>
      </p:sp>
      <p:sp>
        <p:nvSpPr>
          <p:cNvPr id="883" name="Google Shape;883;p63"/>
          <p:cNvSpPr/>
          <p:nvPr/>
        </p:nvSpPr>
        <p:spPr>
          <a:xfrm>
            <a:off x="4881333" y="3228225"/>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Rules: High-Profile Threat Detection</a:t>
            </a:r>
            <a:endParaRPr b="0" i="0" sz="737" u="none" cap="none" strike="noStrike">
              <a:solidFill>
                <a:srgbClr val="1F2937"/>
              </a:solidFill>
              <a:latin typeface="Calibri"/>
              <a:ea typeface="Calibri"/>
              <a:cs typeface="Calibri"/>
              <a:sym typeface="Calibri"/>
            </a:endParaRPr>
          </a:p>
        </p:txBody>
      </p:sp>
      <p:sp>
        <p:nvSpPr>
          <p:cNvPr id="884" name="Google Shape;884;p63"/>
          <p:cNvSpPr/>
          <p:nvPr/>
        </p:nvSpPr>
        <p:spPr>
          <a:xfrm>
            <a:off x="4875837" y="3431186"/>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Rules: DAST</a:t>
            </a:r>
            <a:endParaRPr b="0" i="0" sz="737" u="none" cap="none" strike="noStrike">
              <a:solidFill>
                <a:srgbClr val="1F2937"/>
              </a:solidFill>
              <a:latin typeface="Calibri"/>
              <a:ea typeface="Calibri"/>
              <a:cs typeface="Calibri"/>
              <a:sym typeface="Calibri"/>
            </a:endParaRPr>
          </a:p>
        </p:txBody>
      </p:sp>
      <p:sp>
        <p:nvSpPr>
          <p:cNvPr id="885" name="Google Shape;885;p63"/>
          <p:cNvSpPr/>
          <p:nvPr/>
        </p:nvSpPr>
        <p:spPr>
          <a:xfrm>
            <a:off x="4870341" y="3634147"/>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Rules: Vulnerability Exploitability</a:t>
            </a:r>
            <a:endParaRPr b="0" i="0" sz="737" u="none" cap="none" strike="noStrike">
              <a:solidFill>
                <a:srgbClr val="1F2937"/>
              </a:solidFill>
              <a:latin typeface="Calibri"/>
              <a:ea typeface="Calibri"/>
              <a:cs typeface="Calibri"/>
              <a:sym typeface="Calibri"/>
            </a:endParaRPr>
          </a:p>
        </p:txBody>
      </p:sp>
      <p:sp>
        <p:nvSpPr>
          <p:cNvPr id="886" name="Google Shape;886;p63"/>
          <p:cNvSpPr/>
          <p:nvPr/>
        </p:nvSpPr>
        <p:spPr>
          <a:xfrm>
            <a:off x="4864845" y="3837108"/>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Rules: Early Access Rules</a:t>
            </a:r>
            <a:endParaRPr b="0" i="0" sz="737" u="none" cap="none" strike="noStrike">
              <a:solidFill>
                <a:srgbClr val="1F2937"/>
              </a:solidFill>
              <a:latin typeface="Calibri"/>
              <a:ea typeface="Calibri"/>
              <a:cs typeface="Calibri"/>
              <a:sym typeface="Calibri"/>
            </a:endParaRPr>
          </a:p>
        </p:txBody>
      </p:sp>
      <p:sp>
        <p:nvSpPr>
          <p:cNvPr id="887" name="Google Shape;887;p63"/>
          <p:cNvSpPr/>
          <p:nvPr/>
        </p:nvSpPr>
        <p:spPr>
          <a:xfrm>
            <a:off x="4857389" y="4040069"/>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Risk: Vulnerability Assessment</a:t>
            </a:r>
            <a:endParaRPr b="0" i="0" sz="737" u="none" cap="none" strike="noStrike">
              <a:solidFill>
                <a:schemeClr val="dk1"/>
              </a:solidFill>
              <a:latin typeface="Calibri"/>
              <a:ea typeface="Calibri"/>
              <a:cs typeface="Calibri"/>
              <a:sym typeface="Calibri"/>
            </a:endParaRPr>
          </a:p>
        </p:txBody>
      </p:sp>
      <p:sp>
        <p:nvSpPr>
          <p:cNvPr id="888" name="Google Shape;888;p63"/>
          <p:cNvSpPr/>
          <p:nvPr/>
        </p:nvSpPr>
        <p:spPr>
          <a:xfrm>
            <a:off x="4855344" y="4243030"/>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Risk: Sensitive Data Findings Detection</a:t>
            </a:r>
            <a:endParaRPr b="0" i="0" sz="737" u="none" cap="none" strike="noStrike">
              <a:solidFill>
                <a:srgbClr val="1F2937"/>
              </a:solidFill>
              <a:latin typeface="Calibri"/>
              <a:ea typeface="Calibri"/>
              <a:cs typeface="Calibri"/>
              <a:sym typeface="Calibri"/>
            </a:endParaRPr>
          </a:p>
        </p:txBody>
      </p:sp>
      <p:sp>
        <p:nvSpPr>
          <p:cNvPr id="889" name="Google Shape;889;p63"/>
          <p:cNvSpPr/>
          <p:nvPr/>
        </p:nvSpPr>
        <p:spPr>
          <a:xfrm>
            <a:off x="7769390" y="1840063"/>
            <a:ext cx="1031700" cy="140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461"/>
              <a:buFont typeface="JetBrains Mono"/>
              <a:buNone/>
            </a:pPr>
            <a:r>
              <a:rPr b="0" i="0" lang="en" sz="737" u="none" cap="none" strike="noStrike">
                <a:solidFill>
                  <a:srgbClr val="595959"/>
                </a:solidFill>
                <a:latin typeface="Calibri"/>
                <a:ea typeface="Calibri"/>
                <a:cs typeface="Calibri"/>
                <a:sym typeface="Calibri"/>
              </a:rPr>
              <a:t>{{ASM_RECON_R}}</a:t>
            </a:r>
            <a:endParaRPr b="0" i="0" sz="737" u="none" cap="none" strike="noStrike">
              <a:solidFill>
                <a:srgbClr val="595959"/>
              </a:solidFill>
              <a:latin typeface="Calibri"/>
              <a:ea typeface="Calibri"/>
              <a:cs typeface="Calibri"/>
              <a:sym typeface="Calibri"/>
            </a:endParaRPr>
          </a:p>
        </p:txBody>
      </p:sp>
      <p:sp>
        <p:nvSpPr>
          <p:cNvPr id="890" name="Google Shape;890;p63"/>
          <p:cNvSpPr/>
          <p:nvPr/>
        </p:nvSpPr>
        <p:spPr>
          <a:xfrm>
            <a:off x="7769390" y="2856085"/>
            <a:ext cx="1031700" cy="140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461"/>
              <a:buFont typeface="JetBrains Mono"/>
              <a:buNone/>
            </a:pPr>
            <a:r>
              <a:rPr b="0" i="0" lang="en" sz="737" u="none" cap="none" strike="noStrike">
                <a:solidFill>
                  <a:srgbClr val="595959"/>
                </a:solidFill>
                <a:latin typeface="Calibri"/>
                <a:ea typeface="Calibri"/>
                <a:cs typeface="Calibri"/>
                <a:sym typeface="Calibri"/>
              </a:rPr>
              <a:t>{{ASM_MISC_R}}</a:t>
            </a:r>
            <a:endParaRPr b="0" i="0" sz="737" u="none" cap="none" strike="noStrike">
              <a:solidFill>
                <a:srgbClr val="595959"/>
              </a:solidFill>
              <a:latin typeface="Calibri"/>
              <a:ea typeface="Calibri"/>
              <a:cs typeface="Calibri"/>
              <a:sym typeface="Calibri"/>
            </a:endParaRPr>
          </a:p>
        </p:txBody>
      </p:sp>
      <p:sp>
        <p:nvSpPr>
          <p:cNvPr id="891" name="Google Shape;891;p63"/>
          <p:cNvSpPr txBox="1"/>
          <p:nvPr/>
        </p:nvSpPr>
        <p:spPr>
          <a:xfrm>
            <a:off x="7769386" y="1433654"/>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{{ASM_MODE_R}}</a:t>
            </a:r>
            <a:endParaRPr b="0" i="0" sz="737" u="none" cap="none" strike="noStrike">
              <a:solidFill>
                <a:srgbClr val="595959"/>
              </a:solidFill>
              <a:latin typeface="Calibri"/>
              <a:ea typeface="Calibri"/>
              <a:cs typeface="Calibri"/>
              <a:sym typeface="Calibri"/>
            </a:endParaRPr>
          </a:p>
        </p:txBody>
      </p:sp>
      <p:sp>
        <p:nvSpPr>
          <p:cNvPr id="892" name="Google Shape;892;p63"/>
          <p:cNvSpPr txBox="1"/>
          <p:nvPr/>
        </p:nvSpPr>
        <p:spPr>
          <a:xfrm>
            <a:off x="7769386" y="1636859"/>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{{ASM_CUST_R}}</a:t>
            </a:r>
            <a:endParaRPr b="0" i="0" sz="737" u="none" cap="none" strike="noStrike">
              <a:solidFill>
                <a:srgbClr val="595959"/>
              </a:solidFill>
              <a:latin typeface="Calibri"/>
              <a:ea typeface="Calibri"/>
              <a:cs typeface="Calibri"/>
              <a:sym typeface="Calibri"/>
            </a:endParaRPr>
          </a:p>
        </p:txBody>
      </p:sp>
      <p:sp>
        <p:nvSpPr>
          <p:cNvPr id="893" name="Google Shape;893;p63"/>
          <p:cNvSpPr txBox="1"/>
          <p:nvPr/>
        </p:nvSpPr>
        <p:spPr>
          <a:xfrm>
            <a:off x="7769381" y="2043268"/>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{{ASM_CODE_R}}</a:t>
            </a:r>
            <a:endParaRPr b="0" i="0" sz="737" u="none" cap="none" strike="noStrike">
              <a:solidFill>
                <a:srgbClr val="595959"/>
              </a:solidFill>
              <a:latin typeface="Calibri"/>
              <a:ea typeface="Calibri"/>
              <a:cs typeface="Calibri"/>
              <a:sym typeface="Calibri"/>
            </a:endParaRPr>
          </a:p>
        </p:txBody>
      </p:sp>
      <p:sp>
        <p:nvSpPr>
          <p:cNvPr id="894" name="Google Shape;894;p63"/>
          <p:cNvSpPr txBox="1"/>
          <p:nvPr/>
        </p:nvSpPr>
        <p:spPr>
          <a:xfrm>
            <a:off x="7769386" y="2246472"/>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{{ASM_API_R}}</a:t>
            </a:r>
            <a:endParaRPr b="0" i="0" sz="737" u="none" cap="none" strike="noStrike">
              <a:solidFill>
                <a:srgbClr val="595959"/>
              </a:solidFill>
              <a:latin typeface="Calibri"/>
              <a:ea typeface="Calibri"/>
              <a:cs typeface="Calibri"/>
              <a:sym typeface="Calibri"/>
            </a:endParaRPr>
          </a:p>
        </p:txBody>
      </p:sp>
      <p:sp>
        <p:nvSpPr>
          <p:cNvPr id="895" name="Google Shape;895;p63"/>
          <p:cNvSpPr txBox="1"/>
          <p:nvPr/>
        </p:nvSpPr>
        <p:spPr>
          <a:xfrm>
            <a:off x="7769381" y="2449676"/>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{{ASM_RS_R}}</a:t>
            </a:r>
            <a:endParaRPr b="0" i="0" sz="737" u="none" cap="none" strike="noStrike">
              <a:solidFill>
                <a:srgbClr val="595959"/>
              </a:solidFill>
              <a:latin typeface="Calibri"/>
              <a:ea typeface="Calibri"/>
              <a:cs typeface="Calibri"/>
              <a:sym typeface="Calibri"/>
            </a:endParaRPr>
          </a:p>
        </p:txBody>
      </p:sp>
      <p:sp>
        <p:nvSpPr>
          <p:cNvPr id="896" name="Google Shape;896;p63"/>
          <p:cNvSpPr txBox="1"/>
          <p:nvPr/>
        </p:nvSpPr>
        <p:spPr>
          <a:xfrm>
            <a:off x="7769386" y="2652881"/>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{{ASM_SASS_R}}</a:t>
            </a:r>
            <a:endParaRPr b="0" i="0" sz="737" u="none" cap="none" strike="noStrike">
              <a:solidFill>
                <a:srgbClr val="595959"/>
              </a:solidFill>
              <a:latin typeface="Calibri"/>
              <a:ea typeface="Calibri"/>
              <a:cs typeface="Calibri"/>
              <a:sym typeface="Calibri"/>
            </a:endParaRPr>
          </a:p>
        </p:txBody>
      </p:sp>
      <p:sp>
        <p:nvSpPr>
          <p:cNvPr id="897" name="Google Shape;897;p63"/>
          <p:cNvSpPr txBox="1"/>
          <p:nvPr/>
        </p:nvSpPr>
        <p:spPr>
          <a:xfrm>
            <a:off x="7775393" y="3059290"/>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{{ASM_CRED_R}}</a:t>
            </a:r>
            <a:endParaRPr b="0" i="0" sz="737" u="none" cap="none" strike="noStrike">
              <a:solidFill>
                <a:srgbClr val="595959"/>
              </a:solidFill>
              <a:latin typeface="Calibri"/>
              <a:ea typeface="Calibri"/>
              <a:cs typeface="Calibri"/>
              <a:sym typeface="Calibri"/>
            </a:endParaRPr>
          </a:p>
        </p:txBody>
      </p:sp>
      <p:sp>
        <p:nvSpPr>
          <p:cNvPr id="898" name="Google Shape;898;p63"/>
          <p:cNvSpPr txBox="1"/>
          <p:nvPr/>
        </p:nvSpPr>
        <p:spPr>
          <a:xfrm>
            <a:off x="7781400" y="3262494"/>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{{ASM_HPT_R}}</a:t>
            </a:r>
            <a:endParaRPr b="0" i="0" sz="737" u="none" cap="none" strike="noStrike">
              <a:solidFill>
                <a:srgbClr val="595959"/>
              </a:solidFill>
              <a:latin typeface="Calibri"/>
              <a:ea typeface="Calibri"/>
              <a:cs typeface="Calibri"/>
              <a:sym typeface="Calibri"/>
            </a:endParaRPr>
          </a:p>
        </p:txBody>
      </p:sp>
      <p:sp>
        <p:nvSpPr>
          <p:cNvPr id="899" name="Google Shape;899;p63"/>
          <p:cNvSpPr txBox="1"/>
          <p:nvPr/>
        </p:nvSpPr>
        <p:spPr>
          <a:xfrm>
            <a:off x="7775904" y="3465698"/>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{{ASM_DAST_R}}</a:t>
            </a:r>
            <a:endParaRPr b="0" i="0" sz="737" u="none" cap="none" strike="noStrike">
              <a:solidFill>
                <a:srgbClr val="595959"/>
              </a:solidFill>
              <a:latin typeface="Calibri"/>
              <a:ea typeface="Calibri"/>
              <a:cs typeface="Calibri"/>
              <a:sym typeface="Calibri"/>
            </a:endParaRPr>
          </a:p>
        </p:txBody>
      </p:sp>
      <p:sp>
        <p:nvSpPr>
          <p:cNvPr id="900" name="Google Shape;900;p63"/>
          <p:cNvSpPr txBox="1"/>
          <p:nvPr/>
        </p:nvSpPr>
        <p:spPr>
          <a:xfrm>
            <a:off x="7770409" y="3668903"/>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{{ASM_VEXP_R}}</a:t>
            </a:r>
            <a:endParaRPr b="0" i="0" sz="737" u="none" cap="none" strike="noStrike">
              <a:solidFill>
                <a:srgbClr val="595959"/>
              </a:solidFill>
              <a:latin typeface="Calibri"/>
              <a:ea typeface="Calibri"/>
              <a:cs typeface="Calibri"/>
              <a:sym typeface="Calibri"/>
            </a:endParaRPr>
          </a:p>
        </p:txBody>
      </p:sp>
      <p:sp>
        <p:nvSpPr>
          <p:cNvPr id="901" name="Google Shape;901;p63"/>
          <p:cNvSpPr txBox="1"/>
          <p:nvPr/>
        </p:nvSpPr>
        <p:spPr>
          <a:xfrm>
            <a:off x="7764913" y="3872107"/>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{{ASM_EAR_R}}</a:t>
            </a:r>
            <a:endParaRPr b="0" i="0" sz="737" u="none" cap="none" strike="noStrike">
              <a:solidFill>
                <a:srgbClr val="595959"/>
              </a:solidFill>
              <a:latin typeface="Calibri"/>
              <a:ea typeface="Calibri"/>
              <a:cs typeface="Calibri"/>
              <a:sym typeface="Calibri"/>
            </a:endParaRPr>
          </a:p>
        </p:txBody>
      </p:sp>
      <p:sp>
        <p:nvSpPr>
          <p:cNvPr id="902" name="Google Shape;902;p63"/>
          <p:cNvSpPr txBox="1"/>
          <p:nvPr/>
        </p:nvSpPr>
        <p:spPr>
          <a:xfrm>
            <a:off x="7757456" y="4075312"/>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{{ASM_VULN_R}}</a:t>
            </a:r>
            <a:endParaRPr b="0" i="0" sz="737" u="none" cap="none" strike="noStrike">
              <a:solidFill>
                <a:srgbClr val="595959"/>
              </a:solidFill>
              <a:latin typeface="Calibri"/>
              <a:ea typeface="Calibri"/>
              <a:cs typeface="Calibri"/>
              <a:sym typeface="Calibri"/>
            </a:endParaRPr>
          </a:p>
        </p:txBody>
      </p:sp>
      <p:sp>
        <p:nvSpPr>
          <p:cNvPr id="903" name="Google Shape;903;p63"/>
          <p:cNvSpPr txBox="1"/>
          <p:nvPr/>
        </p:nvSpPr>
        <p:spPr>
          <a:xfrm>
            <a:off x="7755412" y="4278516"/>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{{ASM_DATA_R}}</a:t>
            </a:r>
            <a:endParaRPr b="0" i="0" sz="737" u="none" cap="none" strike="noStrike">
              <a:solidFill>
                <a:srgbClr val="595959"/>
              </a:solidFill>
              <a:latin typeface="Calibri"/>
              <a:ea typeface="Calibri"/>
              <a:cs typeface="Calibri"/>
              <a:sym typeface="Calibri"/>
            </a:endParaRPr>
          </a:p>
        </p:txBody>
      </p:sp>
      <p:sp>
        <p:nvSpPr>
          <p:cNvPr id="904" name="Google Shape;904;p63"/>
          <p:cNvSpPr/>
          <p:nvPr/>
        </p:nvSpPr>
        <p:spPr>
          <a:xfrm>
            <a:off x="6921549" y="1401575"/>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{{ASM_MODE}}</a:t>
            </a:r>
            <a:endParaRPr b="0" i="0" sz="645" u="none" cap="none" strike="noStrike">
              <a:solidFill>
                <a:schemeClr val="dk1"/>
              </a:solidFill>
              <a:latin typeface="Calibri"/>
              <a:ea typeface="Calibri"/>
              <a:cs typeface="Calibri"/>
              <a:sym typeface="Calibri"/>
            </a:endParaRPr>
          </a:p>
        </p:txBody>
      </p:sp>
      <p:sp>
        <p:nvSpPr>
          <p:cNvPr id="905" name="Google Shape;905;p63"/>
          <p:cNvSpPr/>
          <p:nvPr/>
        </p:nvSpPr>
        <p:spPr>
          <a:xfrm>
            <a:off x="6921549" y="1604521"/>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{{ASM_CUST}}</a:t>
            </a:r>
            <a:endParaRPr b="0" i="0" sz="645" u="none" cap="none" strike="noStrike">
              <a:solidFill>
                <a:schemeClr val="dk1"/>
              </a:solidFill>
              <a:latin typeface="Calibri"/>
              <a:ea typeface="Calibri"/>
              <a:cs typeface="Calibri"/>
              <a:sym typeface="Calibri"/>
            </a:endParaRPr>
          </a:p>
        </p:txBody>
      </p:sp>
      <p:sp>
        <p:nvSpPr>
          <p:cNvPr id="906" name="Google Shape;906;p63"/>
          <p:cNvSpPr/>
          <p:nvPr/>
        </p:nvSpPr>
        <p:spPr>
          <a:xfrm>
            <a:off x="6921549" y="1807466"/>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{{ASM_RECON}}</a:t>
            </a:r>
            <a:endParaRPr b="0" i="0" sz="645" u="none" cap="none" strike="noStrike">
              <a:solidFill>
                <a:schemeClr val="dk1"/>
              </a:solidFill>
              <a:latin typeface="Calibri"/>
              <a:ea typeface="Calibri"/>
              <a:cs typeface="Calibri"/>
              <a:sym typeface="Calibri"/>
            </a:endParaRPr>
          </a:p>
        </p:txBody>
      </p:sp>
      <p:sp>
        <p:nvSpPr>
          <p:cNvPr id="907" name="Google Shape;907;p63"/>
          <p:cNvSpPr/>
          <p:nvPr/>
        </p:nvSpPr>
        <p:spPr>
          <a:xfrm>
            <a:off x="6921549" y="2010412"/>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{{ASM_CODE}}</a:t>
            </a:r>
            <a:endParaRPr b="0" i="0" sz="645" u="none" cap="none" strike="noStrike">
              <a:solidFill>
                <a:schemeClr val="dk1"/>
              </a:solidFill>
              <a:latin typeface="Calibri"/>
              <a:ea typeface="Calibri"/>
              <a:cs typeface="Calibri"/>
              <a:sym typeface="Calibri"/>
            </a:endParaRPr>
          </a:p>
        </p:txBody>
      </p:sp>
      <p:sp>
        <p:nvSpPr>
          <p:cNvPr id="908" name="Google Shape;908;p63"/>
          <p:cNvSpPr/>
          <p:nvPr/>
        </p:nvSpPr>
        <p:spPr>
          <a:xfrm>
            <a:off x="6921549" y="2213357"/>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{{ASM_API}}</a:t>
            </a:r>
            <a:endParaRPr b="0" i="0" sz="645" u="none" cap="none" strike="noStrike">
              <a:solidFill>
                <a:schemeClr val="dk1"/>
              </a:solidFill>
              <a:latin typeface="Calibri"/>
              <a:ea typeface="Calibri"/>
              <a:cs typeface="Calibri"/>
              <a:sym typeface="Calibri"/>
            </a:endParaRPr>
          </a:p>
        </p:txBody>
      </p:sp>
      <p:sp>
        <p:nvSpPr>
          <p:cNvPr id="909" name="Google Shape;909;p63"/>
          <p:cNvSpPr/>
          <p:nvPr/>
        </p:nvSpPr>
        <p:spPr>
          <a:xfrm>
            <a:off x="6921549" y="2416303"/>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{{ASM_RS}}</a:t>
            </a:r>
            <a:endParaRPr b="0" i="0" sz="645" u="none" cap="none" strike="noStrike">
              <a:solidFill>
                <a:schemeClr val="dk1"/>
              </a:solidFill>
              <a:latin typeface="Calibri"/>
              <a:ea typeface="Calibri"/>
              <a:cs typeface="Calibri"/>
              <a:sym typeface="Calibri"/>
            </a:endParaRPr>
          </a:p>
        </p:txBody>
      </p:sp>
      <p:sp>
        <p:nvSpPr>
          <p:cNvPr id="910" name="Google Shape;910;p63"/>
          <p:cNvSpPr/>
          <p:nvPr/>
        </p:nvSpPr>
        <p:spPr>
          <a:xfrm>
            <a:off x="6921549" y="2619248"/>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{{ASM_SAAS}}</a:t>
            </a:r>
            <a:endParaRPr b="0" i="0" sz="645" u="none" cap="none" strike="noStrike">
              <a:solidFill>
                <a:schemeClr val="dk1"/>
              </a:solidFill>
              <a:latin typeface="Calibri"/>
              <a:ea typeface="Calibri"/>
              <a:cs typeface="Calibri"/>
              <a:sym typeface="Calibri"/>
            </a:endParaRPr>
          </a:p>
        </p:txBody>
      </p:sp>
      <p:sp>
        <p:nvSpPr>
          <p:cNvPr id="911" name="Google Shape;911;p63"/>
          <p:cNvSpPr/>
          <p:nvPr/>
        </p:nvSpPr>
        <p:spPr>
          <a:xfrm>
            <a:off x="6921549" y="2822194"/>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{{ASM_MISC}}</a:t>
            </a:r>
            <a:endParaRPr b="0" i="0" sz="645" u="none" cap="none" strike="noStrike">
              <a:solidFill>
                <a:schemeClr val="dk1"/>
              </a:solidFill>
              <a:latin typeface="Calibri"/>
              <a:ea typeface="Calibri"/>
              <a:cs typeface="Calibri"/>
              <a:sym typeface="Calibri"/>
            </a:endParaRPr>
          </a:p>
        </p:txBody>
      </p:sp>
      <p:sp>
        <p:nvSpPr>
          <p:cNvPr id="912" name="Google Shape;912;p63"/>
          <p:cNvSpPr/>
          <p:nvPr/>
        </p:nvSpPr>
        <p:spPr>
          <a:xfrm>
            <a:off x="6921216" y="3025139"/>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{{ASM_CRED}}</a:t>
            </a:r>
            <a:endParaRPr b="0" i="0" sz="645" u="none" cap="none" strike="noStrike">
              <a:solidFill>
                <a:schemeClr val="dk1"/>
              </a:solidFill>
              <a:latin typeface="Calibri"/>
              <a:ea typeface="Calibri"/>
              <a:cs typeface="Calibri"/>
              <a:sym typeface="Calibri"/>
            </a:endParaRPr>
          </a:p>
        </p:txBody>
      </p:sp>
      <p:sp>
        <p:nvSpPr>
          <p:cNvPr id="913" name="Google Shape;913;p63"/>
          <p:cNvSpPr/>
          <p:nvPr/>
        </p:nvSpPr>
        <p:spPr>
          <a:xfrm>
            <a:off x="6927625" y="3228085"/>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{{ASM_HPT}}</a:t>
            </a:r>
            <a:endParaRPr b="0" i="0" sz="645" u="none" cap="none" strike="noStrike">
              <a:solidFill>
                <a:schemeClr val="dk1"/>
              </a:solidFill>
              <a:latin typeface="Calibri"/>
              <a:ea typeface="Calibri"/>
              <a:cs typeface="Calibri"/>
              <a:sym typeface="Calibri"/>
            </a:endParaRPr>
          </a:p>
        </p:txBody>
      </p:sp>
      <p:sp>
        <p:nvSpPr>
          <p:cNvPr id="914" name="Google Shape;914;p63"/>
          <p:cNvSpPr/>
          <p:nvPr/>
        </p:nvSpPr>
        <p:spPr>
          <a:xfrm>
            <a:off x="6922129" y="3431030"/>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{{ASM_DAST}}</a:t>
            </a:r>
            <a:endParaRPr b="0" i="0" sz="645" u="none" cap="none" strike="noStrike">
              <a:solidFill>
                <a:schemeClr val="dk1"/>
              </a:solidFill>
              <a:latin typeface="Calibri"/>
              <a:ea typeface="Calibri"/>
              <a:cs typeface="Calibri"/>
              <a:sym typeface="Calibri"/>
            </a:endParaRPr>
          </a:p>
        </p:txBody>
      </p:sp>
      <p:sp>
        <p:nvSpPr>
          <p:cNvPr id="915" name="Google Shape;915;p63"/>
          <p:cNvSpPr/>
          <p:nvPr/>
        </p:nvSpPr>
        <p:spPr>
          <a:xfrm>
            <a:off x="6916633" y="3633976"/>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{{ASM_VEXP}}</a:t>
            </a:r>
            <a:endParaRPr b="0" i="0" sz="645" u="none" cap="none" strike="noStrike">
              <a:solidFill>
                <a:schemeClr val="dk1"/>
              </a:solidFill>
              <a:latin typeface="Calibri"/>
              <a:ea typeface="Calibri"/>
              <a:cs typeface="Calibri"/>
              <a:sym typeface="Calibri"/>
            </a:endParaRPr>
          </a:p>
        </p:txBody>
      </p:sp>
      <p:sp>
        <p:nvSpPr>
          <p:cNvPr id="916" name="Google Shape;916;p63"/>
          <p:cNvSpPr/>
          <p:nvPr/>
        </p:nvSpPr>
        <p:spPr>
          <a:xfrm>
            <a:off x="6911137" y="3836921"/>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{{ASM_EAR}}</a:t>
            </a:r>
            <a:endParaRPr b="0" i="0" sz="645" u="none" cap="none" strike="noStrike">
              <a:solidFill>
                <a:schemeClr val="dk1"/>
              </a:solidFill>
              <a:latin typeface="Calibri"/>
              <a:ea typeface="Calibri"/>
              <a:cs typeface="Calibri"/>
              <a:sym typeface="Calibri"/>
            </a:endParaRPr>
          </a:p>
        </p:txBody>
      </p:sp>
      <p:sp>
        <p:nvSpPr>
          <p:cNvPr id="917" name="Google Shape;917;p63"/>
          <p:cNvSpPr/>
          <p:nvPr/>
        </p:nvSpPr>
        <p:spPr>
          <a:xfrm>
            <a:off x="6903681" y="4039867"/>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{{ASM_VULN}}</a:t>
            </a:r>
            <a:endParaRPr b="0" i="0" sz="645" u="none" cap="none" strike="noStrike">
              <a:solidFill>
                <a:schemeClr val="dk1"/>
              </a:solidFill>
              <a:latin typeface="Calibri"/>
              <a:ea typeface="Calibri"/>
              <a:cs typeface="Calibri"/>
              <a:sym typeface="Calibri"/>
            </a:endParaRPr>
          </a:p>
        </p:txBody>
      </p:sp>
      <p:sp>
        <p:nvSpPr>
          <p:cNvPr id="918" name="Google Shape;918;p63"/>
          <p:cNvSpPr/>
          <p:nvPr/>
        </p:nvSpPr>
        <p:spPr>
          <a:xfrm>
            <a:off x="6901636" y="4242812"/>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{{ASM_DATA}}</a:t>
            </a:r>
            <a:endParaRPr b="0" i="0" sz="645" u="none" cap="none" strike="noStrike">
              <a:solidFill>
                <a:schemeClr val="dk1"/>
              </a:solidFill>
              <a:latin typeface="Calibri"/>
              <a:ea typeface="Calibri"/>
              <a:cs typeface="Calibri"/>
              <a:sym typeface="Calibri"/>
            </a:endParaRPr>
          </a:p>
        </p:txBody>
      </p:sp>
      <p:sp>
        <p:nvSpPr>
          <p:cNvPr id="919" name="Google Shape;919;p63"/>
          <p:cNvSpPr/>
          <p:nvPr/>
        </p:nvSpPr>
        <p:spPr>
          <a:xfrm>
            <a:off x="0" y="0"/>
            <a:ext cx="9144000" cy="54900"/>
          </a:xfrm>
          <a:prstGeom prst="rect">
            <a:avLst/>
          </a:prstGeom>
          <a:solidFill>
            <a:srgbClr val="1A5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920" name="Google Shape;920;p63"/>
          <p:cNvSpPr/>
          <p:nvPr/>
        </p:nvSpPr>
        <p:spPr>
          <a:xfrm>
            <a:off x="457200" y="164592"/>
            <a:ext cx="64008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1600"/>
              <a:buFont typeface="DM Sans"/>
              <a:buNone/>
            </a:pPr>
            <a:r>
              <a:rPr b="0" i="0" lang="en" sz="2000" u="none" cap="none" strike="noStrike">
                <a:solidFill>
                  <a:schemeClr val="dk2"/>
                </a:solidFill>
                <a:latin typeface="Calibri"/>
                <a:ea typeface="Calibri"/>
                <a:cs typeface="Calibri"/>
                <a:sym typeface="Calibri"/>
              </a:rPr>
              <a:t>Scanner Configuration — Workload &amp; Attack Surface</a:t>
            </a:r>
            <a:endParaRPr b="0" i="0" sz="2000" u="none" cap="none" strike="noStrike">
              <a:solidFill>
                <a:schemeClr val="dk2"/>
              </a:solidFill>
              <a:latin typeface="Calibri"/>
              <a:ea typeface="Calibri"/>
              <a:cs typeface="Calibri"/>
              <a:sym typeface="Calibri"/>
            </a:endParaRPr>
          </a:p>
        </p:txBody>
      </p:sp>
      <p:sp>
        <p:nvSpPr>
          <p:cNvPr id="921" name="Google Shape;921;p63"/>
          <p:cNvSpPr/>
          <p:nvPr/>
        </p:nvSpPr>
        <p:spPr>
          <a:xfrm>
            <a:off x="457200" y="548640"/>
            <a:ext cx="73152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DM Sans"/>
              <a:buNone/>
            </a:pPr>
            <a:r>
              <a:rPr b="0" i="0" lang="en" sz="1100" u="none" cap="none" strike="noStrike">
                <a:solidFill>
                  <a:srgbClr val="595959"/>
                </a:solidFill>
                <a:latin typeface="Calibri"/>
                <a:ea typeface="Calibri"/>
                <a:cs typeface="Calibri"/>
                <a:sym typeface="Calibri"/>
              </a:rPr>
              <a:t>Current workload scanner and attack surface management configuration settings.</a:t>
            </a:r>
            <a:endParaRPr b="0" i="0" sz="1100" u="none" cap="none" strike="noStrike">
              <a:solidFill>
                <a:srgbClr val="595959"/>
              </a:solidFill>
              <a:latin typeface="Calibri"/>
              <a:ea typeface="Calibri"/>
              <a:cs typeface="Calibri"/>
              <a:sym typeface="Calibri"/>
            </a:endParaRPr>
          </a:p>
        </p:txBody>
      </p:sp>
      <p:sp>
        <p:nvSpPr>
          <p:cNvPr id="922" name="Google Shape;922;p63"/>
          <p:cNvSpPr/>
          <p:nvPr/>
        </p:nvSpPr>
        <p:spPr>
          <a:xfrm>
            <a:off x="239233" y="868680"/>
            <a:ext cx="4224479" cy="274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923" name="Google Shape;923;p63"/>
          <p:cNvSpPr/>
          <p:nvPr/>
        </p:nvSpPr>
        <p:spPr>
          <a:xfrm>
            <a:off x="243488" y="868680"/>
            <a:ext cx="93340" cy="274200"/>
          </a:xfrm>
          <a:prstGeom prst="rect">
            <a:avLst/>
          </a:prstGeom>
          <a:solidFill>
            <a:srgbClr val="1A5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924" name="Google Shape;924;p63"/>
          <p:cNvSpPr/>
          <p:nvPr/>
        </p:nvSpPr>
        <p:spPr>
          <a:xfrm>
            <a:off x="502920" y="858268"/>
            <a:ext cx="3794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1000"/>
              <a:buFont typeface="DM Sans"/>
              <a:buNone/>
            </a:pPr>
            <a:r>
              <a:rPr b="1" i="0" lang="en" sz="1100" u="sng" cap="none" strike="noStrike">
                <a:solidFill>
                  <a:schemeClr val="hlink"/>
                </a:solidFill>
                <a:latin typeface="Calibri"/>
                <a:ea typeface="Calibri"/>
                <a:cs typeface="Calibri"/>
                <a:sym typeface="Calibri"/>
                <a:hlinkClick r:id="rId6"/>
              </a:rPr>
              <a:t>WORKLOAD SCANNER</a:t>
            </a:r>
            <a:r>
              <a:rPr b="0" i="0" lang="en" sz="1100" u="none" cap="none" strike="noStrike">
                <a:solidFill>
                  <a:schemeClr val="dk1"/>
                </a:solidFill>
                <a:latin typeface="Calibri"/>
                <a:ea typeface="Calibri"/>
                <a:cs typeface="Calibri"/>
                <a:sym typeface="Calibri"/>
              </a:rPr>
              <a:t> </a:t>
            </a:r>
            <a:r>
              <a:rPr b="0" i="0" lang="en" sz="1300" u="none" cap="none" strike="noStrike">
                <a:solidFill>
                  <a:schemeClr val="hlink"/>
                </a:solidFill>
                <a:uFill>
                  <a:noFill/>
                </a:uFill>
                <a:latin typeface="Calibri"/>
                <a:ea typeface="Calibri"/>
                <a:cs typeface="Calibri"/>
                <a:sym typeface="Calibri"/>
                <a:hlinkClick r:id="rId7"/>
              </a:rPr>
              <a:t>↗</a:t>
            </a:r>
            <a:endParaRPr b="0" i="0" sz="900" u="none" cap="none" strike="noStrike">
              <a:solidFill>
                <a:srgbClr val="0254EC"/>
              </a:solidFill>
              <a:latin typeface="Calibri"/>
              <a:ea typeface="Calibri"/>
              <a:cs typeface="Calibri"/>
              <a:sym typeface="Calibri"/>
            </a:endParaRPr>
          </a:p>
        </p:txBody>
      </p:sp>
      <p:sp>
        <p:nvSpPr>
          <p:cNvPr id="925" name="Google Shape;925;p63"/>
          <p:cNvSpPr/>
          <p:nvPr/>
        </p:nvSpPr>
        <p:spPr>
          <a:xfrm>
            <a:off x="365760" y="1212609"/>
            <a:ext cx="3977700" cy="2013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926" name="Google Shape;926;p63"/>
          <p:cNvSpPr/>
          <p:nvPr/>
        </p:nvSpPr>
        <p:spPr>
          <a:xfrm>
            <a:off x="457200" y="1212609"/>
            <a:ext cx="19887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Setting</a:t>
            </a:r>
            <a:endParaRPr b="0" i="0" sz="1000" u="none" cap="none" strike="noStrike">
              <a:solidFill>
                <a:schemeClr val="dk1"/>
              </a:solidFill>
              <a:latin typeface="Calibri"/>
              <a:ea typeface="Calibri"/>
              <a:cs typeface="Calibri"/>
              <a:sym typeface="Calibri"/>
            </a:endParaRPr>
          </a:p>
        </p:txBody>
      </p:sp>
      <p:sp>
        <p:nvSpPr>
          <p:cNvPr id="927" name="Google Shape;927;p63"/>
          <p:cNvSpPr/>
          <p:nvPr/>
        </p:nvSpPr>
        <p:spPr>
          <a:xfrm>
            <a:off x="2514439" y="1212602"/>
            <a:ext cx="10341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Status</a:t>
            </a:r>
            <a:endParaRPr b="0" i="0" sz="1000" u="none" cap="none" strike="noStrike">
              <a:solidFill>
                <a:schemeClr val="dk1"/>
              </a:solidFill>
              <a:latin typeface="Calibri"/>
              <a:ea typeface="Calibri"/>
              <a:cs typeface="Calibri"/>
              <a:sym typeface="Calibri"/>
            </a:endParaRPr>
          </a:p>
        </p:txBody>
      </p:sp>
      <p:sp>
        <p:nvSpPr>
          <p:cNvPr id="928" name="Google Shape;928;p63"/>
          <p:cNvSpPr/>
          <p:nvPr/>
        </p:nvSpPr>
        <p:spPr>
          <a:xfrm>
            <a:off x="3398583" y="1212602"/>
            <a:ext cx="9909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Recommended</a:t>
            </a:r>
            <a:endParaRPr b="0" i="0" sz="1000" u="none" cap="none" strike="noStrike">
              <a:solidFill>
                <a:schemeClr val="dk1"/>
              </a:solidFill>
              <a:latin typeface="Calibri"/>
              <a:ea typeface="Calibri"/>
              <a:cs typeface="Calibri"/>
              <a:sym typeface="Calibri"/>
            </a:endParaRPr>
          </a:p>
        </p:txBody>
      </p:sp>
      <p:cxnSp>
        <p:nvCxnSpPr>
          <p:cNvPr id="929" name="Google Shape;929;p63"/>
          <p:cNvCxnSpPr/>
          <p:nvPr/>
        </p:nvCxnSpPr>
        <p:spPr>
          <a:xfrm>
            <a:off x="365750" y="1644243"/>
            <a:ext cx="3977700" cy="0"/>
          </a:xfrm>
          <a:prstGeom prst="straightConnector1">
            <a:avLst/>
          </a:prstGeom>
          <a:noFill/>
          <a:ln cap="flat" cmpd="sng" w="9525">
            <a:solidFill>
              <a:srgbClr val="888888"/>
            </a:solidFill>
            <a:prstDash val="solid"/>
            <a:round/>
            <a:headEnd len="sm" w="sm" type="none"/>
            <a:tailEnd len="sm" w="sm" type="none"/>
          </a:ln>
        </p:spPr>
      </p:cxnSp>
      <p:sp>
        <p:nvSpPr>
          <p:cNvPr id="930" name="Google Shape;930;p63"/>
          <p:cNvSpPr/>
          <p:nvPr/>
        </p:nvSpPr>
        <p:spPr>
          <a:xfrm>
            <a:off x="2514443" y="1413775"/>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{{WS_NONOS}}</a:t>
            </a:r>
            <a:endParaRPr b="0" i="0" sz="700" u="none" cap="none" strike="noStrike">
              <a:solidFill>
                <a:schemeClr val="dk1"/>
              </a:solidFill>
              <a:latin typeface="Calibri"/>
              <a:ea typeface="Calibri"/>
              <a:cs typeface="Calibri"/>
              <a:sym typeface="Calibri"/>
            </a:endParaRPr>
          </a:p>
        </p:txBody>
      </p:sp>
      <p:sp>
        <p:nvSpPr>
          <p:cNvPr id="931" name="Google Shape;931;p63"/>
          <p:cNvSpPr/>
          <p:nvPr/>
        </p:nvSpPr>
        <p:spPr>
          <a:xfrm>
            <a:off x="3412672" y="1453521"/>
            <a:ext cx="939600" cy="175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500"/>
              <a:buFont typeface="JetBrains Mono"/>
              <a:buNone/>
            </a:pPr>
            <a:r>
              <a:rPr b="0" i="0" lang="en" sz="800" u="none" cap="none" strike="noStrike">
                <a:solidFill>
                  <a:srgbClr val="595959"/>
                </a:solidFill>
                <a:latin typeface="Calibri"/>
                <a:ea typeface="Calibri"/>
                <a:cs typeface="Calibri"/>
                <a:sym typeface="Calibri"/>
              </a:rPr>
              <a:t>{{WS_NONOS_R}}</a:t>
            </a:r>
            <a:endParaRPr b="0" i="0" sz="800" u="none" cap="none" strike="noStrike">
              <a:solidFill>
                <a:srgbClr val="595959"/>
              </a:solidFill>
              <a:latin typeface="Calibri"/>
              <a:ea typeface="Calibri"/>
              <a:cs typeface="Calibri"/>
              <a:sym typeface="Calibri"/>
            </a:endParaRPr>
          </a:p>
        </p:txBody>
      </p:sp>
      <p:cxnSp>
        <p:nvCxnSpPr>
          <p:cNvPr id="932" name="Google Shape;932;p63"/>
          <p:cNvCxnSpPr/>
          <p:nvPr/>
        </p:nvCxnSpPr>
        <p:spPr>
          <a:xfrm>
            <a:off x="365750" y="1874226"/>
            <a:ext cx="3977700" cy="0"/>
          </a:xfrm>
          <a:prstGeom prst="straightConnector1">
            <a:avLst/>
          </a:prstGeom>
          <a:noFill/>
          <a:ln cap="flat" cmpd="sng" w="9525">
            <a:solidFill>
              <a:srgbClr val="888888"/>
            </a:solidFill>
            <a:prstDash val="solid"/>
            <a:round/>
            <a:headEnd len="sm" w="sm" type="none"/>
            <a:tailEnd len="sm" w="sm" type="none"/>
          </a:ln>
        </p:spPr>
      </p:cxnSp>
      <p:sp>
        <p:nvSpPr>
          <p:cNvPr id="933" name="Google Shape;933;p63"/>
          <p:cNvSpPr/>
          <p:nvPr/>
        </p:nvSpPr>
        <p:spPr>
          <a:xfrm>
            <a:off x="2514443" y="1644569"/>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{{WS_VM}}</a:t>
            </a:r>
            <a:endParaRPr b="0" i="0" sz="700" u="none" cap="none" strike="noStrike">
              <a:solidFill>
                <a:schemeClr val="dk1"/>
              </a:solidFill>
              <a:latin typeface="Calibri"/>
              <a:ea typeface="Calibri"/>
              <a:cs typeface="Calibri"/>
              <a:sym typeface="Calibri"/>
            </a:endParaRPr>
          </a:p>
        </p:txBody>
      </p:sp>
      <p:sp>
        <p:nvSpPr>
          <p:cNvPr id="934" name="Google Shape;934;p63"/>
          <p:cNvSpPr/>
          <p:nvPr/>
        </p:nvSpPr>
        <p:spPr>
          <a:xfrm>
            <a:off x="3412669" y="1683431"/>
            <a:ext cx="939600" cy="175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500"/>
              <a:buFont typeface="JetBrains Mono"/>
              <a:buNone/>
            </a:pPr>
            <a:r>
              <a:rPr b="0" i="0" lang="en" sz="800" u="none" cap="none" strike="noStrike">
                <a:solidFill>
                  <a:srgbClr val="595959"/>
                </a:solidFill>
                <a:latin typeface="Calibri"/>
                <a:ea typeface="Calibri"/>
                <a:cs typeface="Calibri"/>
                <a:sym typeface="Calibri"/>
              </a:rPr>
              <a:t>{{WS_VM_R}}</a:t>
            </a:r>
            <a:endParaRPr b="0" i="0" sz="800" u="none" cap="none" strike="noStrike">
              <a:solidFill>
                <a:srgbClr val="595959"/>
              </a:solidFill>
              <a:latin typeface="Calibri"/>
              <a:ea typeface="Calibri"/>
              <a:cs typeface="Calibri"/>
              <a:sym typeface="Calibri"/>
            </a:endParaRPr>
          </a:p>
        </p:txBody>
      </p:sp>
      <p:sp>
        <p:nvSpPr>
          <p:cNvPr id="935" name="Google Shape;935;p63"/>
          <p:cNvSpPr/>
          <p:nvPr/>
        </p:nvSpPr>
        <p:spPr>
          <a:xfrm>
            <a:off x="2514443" y="1875363"/>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{{WS_CMK}}</a:t>
            </a:r>
            <a:endParaRPr b="0" i="0" sz="700" u="none" cap="none" strike="noStrike">
              <a:solidFill>
                <a:schemeClr val="dk1"/>
              </a:solidFill>
              <a:latin typeface="Calibri"/>
              <a:ea typeface="Calibri"/>
              <a:cs typeface="Calibri"/>
              <a:sym typeface="Calibri"/>
            </a:endParaRPr>
          </a:p>
        </p:txBody>
      </p:sp>
      <p:cxnSp>
        <p:nvCxnSpPr>
          <p:cNvPr id="936" name="Google Shape;936;p63"/>
          <p:cNvCxnSpPr/>
          <p:nvPr/>
        </p:nvCxnSpPr>
        <p:spPr>
          <a:xfrm>
            <a:off x="365750" y="2104209"/>
            <a:ext cx="3977700" cy="0"/>
          </a:xfrm>
          <a:prstGeom prst="straightConnector1">
            <a:avLst/>
          </a:prstGeom>
          <a:noFill/>
          <a:ln cap="flat" cmpd="sng" w="9525">
            <a:solidFill>
              <a:srgbClr val="888888"/>
            </a:solidFill>
            <a:prstDash val="solid"/>
            <a:round/>
            <a:headEnd len="sm" w="sm" type="none"/>
            <a:tailEnd len="sm" w="sm" type="none"/>
          </a:ln>
        </p:spPr>
      </p:cxnSp>
      <p:cxnSp>
        <p:nvCxnSpPr>
          <p:cNvPr id="937" name="Google Shape;937;p63"/>
          <p:cNvCxnSpPr/>
          <p:nvPr/>
        </p:nvCxnSpPr>
        <p:spPr>
          <a:xfrm>
            <a:off x="365750" y="2334193"/>
            <a:ext cx="3977700" cy="0"/>
          </a:xfrm>
          <a:prstGeom prst="straightConnector1">
            <a:avLst/>
          </a:prstGeom>
          <a:noFill/>
          <a:ln cap="flat" cmpd="sng" w="9525">
            <a:solidFill>
              <a:srgbClr val="888888"/>
            </a:solidFill>
            <a:prstDash val="solid"/>
            <a:round/>
            <a:headEnd len="sm" w="sm" type="none"/>
            <a:tailEnd len="sm" w="sm" type="none"/>
          </a:ln>
        </p:spPr>
      </p:cxnSp>
      <p:sp>
        <p:nvSpPr>
          <p:cNvPr id="938" name="Google Shape;938;p63"/>
          <p:cNvSpPr/>
          <p:nvPr/>
        </p:nvSpPr>
        <p:spPr>
          <a:xfrm>
            <a:off x="2514443" y="2106157"/>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{{WS_TVOL}}</a:t>
            </a:r>
            <a:endParaRPr b="0" i="0" sz="700" u="none" cap="none" strike="noStrike">
              <a:solidFill>
                <a:schemeClr val="dk1"/>
              </a:solidFill>
              <a:latin typeface="Calibri"/>
              <a:ea typeface="Calibri"/>
              <a:cs typeface="Calibri"/>
              <a:sym typeface="Calibri"/>
            </a:endParaRPr>
          </a:p>
        </p:txBody>
      </p:sp>
      <p:cxnSp>
        <p:nvCxnSpPr>
          <p:cNvPr id="939" name="Google Shape;939;p63"/>
          <p:cNvCxnSpPr/>
          <p:nvPr/>
        </p:nvCxnSpPr>
        <p:spPr>
          <a:xfrm>
            <a:off x="365750" y="2564176"/>
            <a:ext cx="3977700" cy="0"/>
          </a:xfrm>
          <a:prstGeom prst="straightConnector1">
            <a:avLst/>
          </a:prstGeom>
          <a:noFill/>
          <a:ln cap="flat" cmpd="sng" w="9525">
            <a:solidFill>
              <a:srgbClr val="888888"/>
            </a:solidFill>
            <a:prstDash val="solid"/>
            <a:round/>
            <a:headEnd len="sm" w="sm" type="none"/>
            <a:tailEnd len="sm" w="sm" type="none"/>
          </a:ln>
        </p:spPr>
      </p:cxnSp>
      <p:sp>
        <p:nvSpPr>
          <p:cNvPr id="940" name="Google Shape;940;p63"/>
          <p:cNvSpPr/>
          <p:nvPr/>
        </p:nvSpPr>
        <p:spPr>
          <a:xfrm>
            <a:off x="2514443" y="2336951"/>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{{WS_LSAIL}}</a:t>
            </a:r>
            <a:endParaRPr b="0" i="0" sz="700" u="none" cap="none" strike="noStrike">
              <a:solidFill>
                <a:schemeClr val="dk1"/>
              </a:solidFill>
              <a:latin typeface="Calibri"/>
              <a:ea typeface="Calibri"/>
              <a:cs typeface="Calibri"/>
              <a:sym typeface="Calibri"/>
            </a:endParaRPr>
          </a:p>
        </p:txBody>
      </p:sp>
      <p:cxnSp>
        <p:nvCxnSpPr>
          <p:cNvPr id="941" name="Google Shape;941;p63"/>
          <p:cNvCxnSpPr/>
          <p:nvPr/>
        </p:nvCxnSpPr>
        <p:spPr>
          <a:xfrm>
            <a:off x="365750" y="2794159"/>
            <a:ext cx="3977700" cy="0"/>
          </a:xfrm>
          <a:prstGeom prst="straightConnector1">
            <a:avLst/>
          </a:prstGeom>
          <a:noFill/>
          <a:ln cap="flat" cmpd="sng" w="9525">
            <a:solidFill>
              <a:srgbClr val="888888"/>
            </a:solidFill>
            <a:prstDash val="solid"/>
            <a:round/>
            <a:headEnd len="sm" w="sm" type="none"/>
            <a:tailEnd len="sm" w="sm" type="none"/>
          </a:ln>
        </p:spPr>
      </p:cxnSp>
      <p:sp>
        <p:nvSpPr>
          <p:cNvPr id="942" name="Google Shape;942;p63"/>
          <p:cNvSpPr/>
          <p:nvPr/>
        </p:nvSpPr>
        <p:spPr>
          <a:xfrm>
            <a:off x="2514443" y="2567745"/>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{{WS_LAMB}}</a:t>
            </a:r>
            <a:endParaRPr b="0" i="0" sz="700" u="none" cap="none" strike="noStrike">
              <a:solidFill>
                <a:schemeClr val="dk1"/>
              </a:solidFill>
              <a:latin typeface="Calibri"/>
              <a:ea typeface="Calibri"/>
              <a:cs typeface="Calibri"/>
              <a:sym typeface="Calibri"/>
            </a:endParaRPr>
          </a:p>
        </p:txBody>
      </p:sp>
      <p:cxnSp>
        <p:nvCxnSpPr>
          <p:cNvPr id="943" name="Google Shape;943;p63"/>
          <p:cNvCxnSpPr/>
          <p:nvPr/>
        </p:nvCxnSpPr>
        <p:spPr>
          <a:xfrm>
            <a:off x="365750" y="3024142"/>
            <a:ext cx="3977700" cy="0"/>
          </a:xfrm>
          <a:prstGeom prst="straightConnector1">
            <a:avLst/>
          </a:prstGeom>
          <a:noFill/>
          <a:ln cap="flat" cmpd="sng" w="9525">
            <a:solidFill>
              <a:srgbClr val="888888"/>
            </a:solidFill>
            <a:prstDash val="solid"/>
            <a:round/>
            <a:headEnd len="sm" w="sm" type="none"/>
            <a:tailEnd len="sm" w="sm" type="none"/>
          </a:ln>
        </p:spPr>
      </p:cxnSp>
      <p:sp>
        <p:nvSpPr>
          <p:cNvPr id="944" name="Google Shape;944;p63"/>
          <p:cNvSpPr/>
          <p:nvPr/>
        </p:nvSpPr>
        <p:spPr>
          <a:xfrm>
            <a:off x="2514443" y="2798539"/>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{{WS_TAGS}}</a:t>
            </a:r>
            <a:endParaRPr b="0" i="0" sz="700" u="none" cap="none" strike="noStrike">
              <a:solidFill>
                <a:schemeClr val="dk1"/>
              </a:solidFill>
              <a:latin typeface="Calibri"/>
              <a:ea typeface="Calibri"/>
              <a:cs typeface="Calibri"/>
              <a:sym typeface="Calibri"/>
            </a:endParaRPr>
          </a:p>
        </p:txBody>
      </p:sp>
      <p:cxnSp>
        <p:nvCxnSpPr>
          <p:cNvPr id="945" name="Google Shape;945;p63"/>
          <p:cNvCxnSpPr/>
          <p:nvPr/>
        </p:nvCxnSpPr>
        <p:spPr>
          <a:xfrm>
            <a:off x="365750" y="3254126"/>
            <a:ext cx="3977700" cy="0"/>
          </a:xfrm>
          <a:prstGeom prst="straightConnector1">
            <a:avLst/>
          </a:prstGeom>
          <a:noFill/>
          <a:ln cap="flat" cmpd="sng" w="9525">
            <a:solidFill>
              <a:srgbClr val="888888"/>
            </a:solidFill>
            <a:prstDash val="solid"/>
            <a:round/>
            <a:headEnd len="sm" w="sm" type="none"/>
            <a:tailEnd len="sm" w="sm" type="none"/>
          </a:ln>
        </p:spPr>
      </p:cxnSp>
      <p:sp>
        <p:nvSpPr>
          <p:cNvPr id="946" name="Google Shape;946;p63"/>
          <p:cNvSpPr/>
          <p:nvPr/>
        </p:nvSpPr>
        <p:spPr>
          <a:xfrm>
            <a:off x="2514443" y="3029333"/>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{{WS_EXCL}}</a:t>
            </a:r>
            <a:endParaRPr b="0" i="0" sz="700" u="none" cap="none" strike="noStrike">
              <a:solidFill>
                <a:schemeClr val="dk1"/>
              </a:solidFill>
              <a:latin typeface="Calibri"/>
              <a:ea typeface="Calibri"/>
              <a:cs typeface="Calibri"/>
              <a:sym typeface="Calibri"/>
            </a:endParaRPr>
          </a:p>
        </p:txBody>
      </p:sp>
      <p:sp>
        <p:nvSpPr>
          <p:cNvPr id="947" name="Google Shape;947;p63"/>
          <p:cNvSpPr/>
          <p:nvPr/>
        </p:nvSpPr>
        <p:spPr>
          <a:xfrm>
            <a:off x="3412669" y="3052388"/>
            <a:ext cx="939600" cy="175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500"/>
              <a:buFont typeface="JetBrains Mono"/>
              <a:buNone/>
            </a:pPr>
            <a:r>
              <a:rPr b="0" i="0" lang="en" sz="800" u="none" cap="none" strike="noStrike">
                <a:solidFill>
                  <a:srgbClr val="595959"/>
                </a:solidFill>
                <a:latin typeface="Calibri"/>
                <a:ea typeface="Calibri"/>
                <a:cs typeface="Calibri"/>
                <a:sym typeface="Calibri"/>
              </a:rPr>
              <a:t>{{WS_EXCL_R}}</a:t>
            </a:r>
            <a:endParaRPr b="0" i="0" sz="800" u="none" cap="none" strike="noStrike">
              <a:solidFill>
                <a:srgbClr val="595959"/>
              </a:solidFill>
              <a:latin typeface="Calibri"/>
              <a:ea typeface="Calibri"/>
              <a:cs typeface="Calibri"/>
              <a:sym typeface="Calibri"/>
            </a:endParaRPr>
          </a:p>
        </p:txBody>
      </p:sp>
      <p:cxnSp>
        <p:nvCxnSpPr>
          <p:cNvPr id="948" name="Google Shape;948;p63"/>
          <p:cNvCxnSpPr/>
          <p:nvPr/>
        </p:nvCxnSpPr>
        <p:spPr>
          <a:xfrm>
            <a:off x="365750" y="3484109"/>
            <a:ext cx="3977700" cy="0"/>
          </a:xfrm>
          <a:prstGeom prst="straightConnector1">
            <a:avLst/>
          </a:prstGeom>
          <a:noFill/>
          <a:ln cap="flat" cmpd="sng" w="9525">
            <a:solidFill>
              <a:srgbClr val="888888"/>
            </a:solidFill>
            <a:prstDash val="solid"/>
            <a:round/>
            <a:headEnd len="sm" w="sm" type="none"/>
            <a:tailEnd len="sm" w="sm" type="none"/>
          </a:ln>
        </p:spPr>
      </p:cxnSp>
      <p:sp>
        <p:nvSpPr>
          <p:cNvPr id="949" name="Google Shape;949;p63"/>
          <p:cNvSpPr/>
          <p:nvPr/>
        </p:nvSpPr>
        <p:spPr>
          <a:xfrm>
            <a:off x="2514443" y="3260127"/>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{{WS_CIGS}}</a:t>
            </a:r>
            <a:endParaRPr b="0" i="0" sz="700" u="none" cap="none" strike="noStrike">
              <a:solidFill>
                <a:schemeClr val="dk1"/>
              </a:solidFill>
              <a:latin typeface="Calibri"/>
              <a:ea typeface="Calibri"/>
              <a:cs typeface="Calibri"/>
              <a:sym typeface="Calibri"/>
            </a:endParaRPr>
          </a:p>
        </p:txBody>
      </p:sp>
      <p:sp>
        <p:nvSpPr>
          <p:cNvPr id="950" name="Google Shape;950;p63"/>
          <p:cNvSpPr/>
          <p:nvPr/>
        </p:nvSpPr>
        <p:spPr>
          <a:xfrm>
            <a:off x="3412669" y="3282298"/>
            <a:ext cx="939600" cy="175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500"/>
              <a:buFont typeface="JetBrains Mono"/>
              <a:buNone/>
            </a:pPr>
            <a:r>
              <a:rPr b="0" i="0" lang="en" sz="800" u="none" cap="none" strike="noStrike">
                <a:solidFill>
                  <a:srgbClr val="595959"/>
                </a:solidFill>
                <a:latin typeface="Calibri"/>
                <a:ea typeface="Calibri"/>
                <a:cs typeface="Calibri"/>
                <a:sym typeface="Calibri"/>
              </a:rPr>
              <a:t>{{WS_CIGS_R}}</a:t>
            </a:r>
            <a:endParaRPr b="0" i="0" sz="800" u="none" cap="none" strike="noStrike">
              <a:solidFill>
                <a:srgbClr val="595959"/>
              </a:solidFill>
              <a:latin typeface="Calibri"/>
              <a:ea typeface="Calibri"/>
              <a:cs typeface="Calibri"/>
              <a:sym typeface="Calibri"/>
            </a:endParaRPr>
          </a:p>
        </p:txBody>
      </p:sp>
      <p:cxnSp>
        <p:nvCxnSpPr>
          <p:cNvPr id="951" name="Google Shape;951;p63"/>
          <p:cNvCxnSpPr/>
          <p:nvPr/>
        </p:nvCxnSpPr>
        <p:spPr>
          <a:xfrm>
            <a:off x="365750" y="3714092"/>
            <a:ext cx="3977700" cy="0"/>
          </a:xfrm>
          <a:prstGeom prst="straightConnector1">
            <a:avLst/>
          </a:prstGeom>
          <a:noFill/>
          <a:ln cap="flat" cmpd="sng" w="9525">
            <a:solidFill>
              <a:srgbClr val="888888"/>
            </a:solidFill>
            <a:prstDash val="solid"/>
            <a:round/>
            <a:headEnd len="sm" w="sm" type="none"/>
            <a:tailEnd len="sm" w="sm" type="none"/>
          </a:ln>
        </p:spPr>
      </p:cxnSp>
      <p:sp>
        <p:nvSpPr>
          <p:cNvPr id="952" name="Google Shape;952;p63"/>
          <p:cNvSpPr/>
          <p:nvPr/>
        </p:nvSpPr>
        <p:spPr>
          <a:xfrm>
            <a:off x="2514443" y="3490921"/>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{{WS_ADE1}}</a:t>
            </a:r>
            <a:endParaRPr b="0" i="0" sz="700" u="none" cap="none" strike="noStrike">
              <a:solidFill>
                <a:schemeClr val="dk1"/>
              </a:solidFill>
              <a:latin typeface="Calibri"/>
              <a:ea typeface="Calibri"/>
              <a:cs typeface="Calibri"/>
              <a:sym typeface="Calibri"/>
            </a:endParaRPr>
          </a:p>
        </p:txBody>
      </p:sp>
      <p:cxnSp>
        <p:nvCxnSpPr>
          <p:cNvPr id="953" name="Google Shape;953;p63"/>
          <p:cNvCxnSpPr/>
          <p:nvPr/>
        </p:nvCxnSpPr>
        <p:spPr>
          <a:xfrm>
            <a:off x="365750" y="3944076"/>
            <a:ext cx="3977700" cy="0"/>
          </a:xfrm>
          <a:prstGeom prst="straightConnector1">
            <a:avLst/>
          </a:prstGeom>
          <a:noFill/>
          <a:ln cap="flat" cmpd="sng" w="9525">
            <a:solidFill>
              <a:srgbClr val="888888"/>
            </a:solidFill>
            <a:prstDash val="solid"/>
            <a:round/>
            <a:headEnd len="sm" w="sm" type="none"/>
            <a:tailEnd len="sm" w="sm" type="none"/>
          </a:ln>
        </p:spPr>
      </p:cxnSp>
      <p:sp>
        <p:nvSpPr>
          <p:cNvPr id="954" name="Google Shape;954;p63"/>
          <p:cNvSpPr/>
          <p:nvPr/>
        </p:nvSpPr>
        <p:spPr>
          <a:xfrm>
            <a:off x="2514443" y="3721715"/>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{{WS_ADE2}}</a:t>
            </a:r>
            <a:endParaRPr b="0" i="0" sz="700" u="none" cap="none" strike="noStrike">
              <a:solidFill>
                <a:schemeClr val="dk1"/>
              </a:solidFill>
              <a:latin typeface="Calibri"/>
              <a:ea typeface="Calibri"/>
              <a:cs typeface="Calibri"/>
              <a:sym typeface="Calibri"/>
            </a:endParaRPr>
          </a:p>
        </p:txBody>
      </p:sp>
      <p:cxnSp>
        <p:nvCxnSpPr>
          <p:cNvPr id="955" name="Google Shape;955;p63"/>
          <p:cNvCxnSpPr/>
          <p:nvPr/>
        </p:nvCxnSpPr>
        <p:spPr>
          <a:xfrm>
            <a:off x="365750" y="4174059"/>
            <a:ext cx="3977700" cy="0"/>
          </a:xfrm>
          <a:prstGeom prst="straightConnector1">
            <a:avLst/>
          </a:prstGeom>
          <a:noFill/>
          <a:ln cap="flat" cmpd="sng" w="9525">
            <a:solidFill>
              <a:srgbClr val="888888"/>
            </a:solidFill>
            <a:prstDash val="solid"/>
            <a:round/>
            <a:headEnd len="sm" w="sm" type="none"/>
            <a:tailEnd len="sm" w="sm" type="none"/>
          </a:ln>
        </p:spPr>
      </p:cxnSp>
      <p:sp>
        <p:nvSpPr>
          <p:cNvPr id="956" name="Google Shape;956;p63"/>
          <p:cNvSpPr/>
          <p:nvPr/>
        </p:nvSpPr>
        <p:spPr>
          <a:xfrm>
            <a:off x="2514443" y="3952509"/>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{{WS_NRT}}</a:t>
            </a:r>
            <a:endParaRPr b="0" i="0" sz="700" u="none" cap="none" strike="noStrike">
              <a:solidFill>
                <a:schemeClr val="dk1"/>
              </a:solidFill>
              <a:latin typeface="Calibri"/>
              <a:ea typeface="Calibri"/>
              <a:cs typeface="Calibri"/>
              <a:sym typeface="Calibri"/>
            </a:endParaRPr>
          </a:p>
        </p:txBody>
      </p:sp>
      <p:sp>
        <p:nvSpPr>
          <p:cNvPr id="957" name="Google Shape;957;p63"/>
          <p:cNvSpPr/>
          <p:nvPr/>
        </p:nvSpPr>
        <p:spPr>
          <a:xfrm>
            <a:off x="4676033" y="868680"/>
            <a:ext cx="4224479" cy="274200"/>
          </a:xfrm>
          <a:prstGeom prst="rect">
            <a:avLst/>
          </a:prstGeom>
          <a:solidFill>
            <a:srgbClr val="DCC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958" name="Google Shape;958;p63"/>
          <p:cNvSpPr/>
          <p:nvPr/>
        </p:nvSpPr>
        <p:spPr>
          <a:xfrm>
            <a:off x="4678332" y="868680"/>
            <a:ext cx="91440" cy="274200"/>
          </a:xfrm>
          <a:prstGeom prst="rect">
            <a:avLst/>
          </a:prstGeom>
          <a:solidFill>
            <a:srgbClr val="DC262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959" name="Google Shape;959;p63"/>
          <p:cNvSpPr/>
          <p:nvPr/>
        </p:nvSpPr>
        <p:spPr>
          <a:xfrm>
            <a:off x="4937760" y="858268"/>
            <a:ext cx="3794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000"/>
              <a:buFont typeface="DM Sans"/>
              <a:buNone/>
            </a:pPr>
            <a:r>
              <a:rPr b="1" i="0" lang="en" sz="1100" u="sng" cap="none" strike="noStrike">
                <a:solidFill>
                  <a:schemeClr val="hlink"/>
                </a:solidFill>
                <a:latin typeface="Calibri"/>
                <a:ea typeface="Calibri"/>
                <a:cs typeface="Calibri"/>
                <a:sym typeface="Calibri"/>
                <a:hlinkClick r:id="rId8"/>
              </a:rPr>
              <a:t>ATTACK SURFACE MANAGEMENT</a:t>
            </a:r>
            <a:r>
              <a:rPr b="0" i="0" lang="en" sz="1100" u="none" cap="none" strike="noStrike">
                <a:solidFill>
                  <a:srgbClr val="CC0000"/>
                </a:solidFill>
                <a:latin typeface="Calibri"/>
                <a:ea typeface="Calibri"/>
                <a:cs typeface="Calibri"/>
                <a:sym typeface="Calibri"/>
              </a:rPr>
              <a:t> </a:t>
            </a:r>
            <a:r>
              <a:rPr b="0" i="0" lang="en" sz="1300" u="none" cap="none" strike="noStrike">
                <a:solidFill>
                  <a:schemeClr val="hlink"/>
                </a:solidFill>
                <a:uFill>
                  <a:noFill/>
                </a:uFill>
                <a:latin typeface="Calibri"/>
                <a:ea typeface="Calibri"/>
                <a:cs typeface="Calibri"/>
                <a:sym typeface="Calibri"/>
                <a:hlinkClick r:id="rId9"/>
              </a:rPr>
              <a:t>↗</a:t>
            </a:r>
            <a:endParaRPr b="0" i="0" sz="1100" u="none" cap="none" strike="noStrike">
              <a:solidFill>
                <a:srgbClr val="CC0000"/>
              </a:solidFill>
              <a:latin typeface="Calibri"/>
              <a:ea typeface="Calibri"/>
              <a:cs typeface="Calibri"/>
              <a:sym typeface="Calibri"/>
            </a:endParaRPr>
          </a:p>
        </p:txBody>
      </p:sp>
      <p:sp>
        <p:nvSpPr>
          <p:cNvPr id="960" name="Google Shape;960;p63"/>
          <p:cNvSpPr/>
          <p:nvPr/>
        </p:nvSpPr>
        <p:spPr>
          <a:xfrm>
            <a:off x="4788323" y="1204132"/>
            <a:ext cx="3947400" cy="197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961" name="Google Shape;961;p63"/>
          <p:cNvSpPr/>
          <p:nvPr/>
        </p:nvSpPr>
        <p:spPr>
          <a:xfrm>
            <a:off x="4879063" y="1204132"/>
            <a:ext cx="1973400" cy="19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Setting</a:t>
            </a:r>
            <a:endParaRPr b="0" i="0" sz="1000" u="none" cap="none" strike="noStrike">
              <a:solidFill>
                <a:schemeClr val="dk1"/>
              </a:solidFill>
              <a:latin typeface="Calibri"/>
              <a:ea typeface="Calibri"/>
              <a:cs typeface="Calibri"/>
              <a:sym typeface="Calibri"/>
            </a:endParaRPr>
          </a:p>
        </p:txBody>
      </p:sp>
      <p:sp>
        <p:nvSpPr>
          <p:cNvPr id="962" name="Google Shape;962;p63"/>
          <p:cNvSpPr/>
          <p:nvPr/>
        </p:nvSpPr>
        <p:spPr>
          <a:xfrm>
            <a:off x="6929140" y="1204132"/>
            <a:ext cx="868200" cy="19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Status</a:t>
            </a:r>
            <a:endParaRPr b="0" i="0" sz="1000" u="none" cap="none" strike="noStrike">
              <a:solidFill>
                <a:schemeClr val="dk1"/>
              </a:solidFill>
              <a:latin typeface="Calibri"/>
              <a:ea typeface="Calibri"/>
              <a:cs typeface="Calibri"/>
              <a:sym typeface="Calibri"/>
            </a:endParaRPr>
          </a:p>
        </p:txBody>
      </p:sp>
      <p:sp>
        <p:nvSpPr>
          <p:cNvPr id="963" name="Google Shape;963;p63"/>
          <p:cNvSpPr/>
          <p:nvPr/>
        </p:nvSpPr>
        <p:spPr>
          <a:xfrm>
            <a:off x="7777620" y="1204132"/>
            <a:ext cx="1026300" cy="19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Recommended</a:t>
            </a:r>
            <a:endParaRPr b="0" i="0" sz="1000" u="none" cap="none" strike="noStrike">
              <a:solidFill>
                <a:schemeClr val="dk1"/>
              </a:solidFill>
              <a:latin typeface="Calibri"/>
              <a:ea typeface="Calibri"/>
              <a:cs typeface="Calibri"/>
              <a:sym typeface="Calibri"/>
            </a:endParaRPr>
          </a:p>
        </p:txBody>
      </p:sp>
      <p:cxnSp>
        <p:nvCxnSpPr>
          <p:cNvPr id="964" name="Google Shape;964;p63"/>
          <p:cNvCxnSpPr/>
          <p:nvPr/>
        </p:nvCxnSpPr>
        <p:spPr>
          <a:xfrm>
            <a:off x="4788600" y="1598105"/>
            <a:ext cx="4012500" cy="0"/>
          </a:xfrm>
          <a:prstGeom prst="straightConnector1">
            <a:avLst/>
          </a:prstGeom>
          <a:noFill/>
          <a:ln cap="flat" cmpd="sng" w="9525">
            <a:solidFill>
              <a:srgbClr val="888888"/>
            </a:solidFill>
            <a:prstDash val="solid"/>
            <a:round/>
            <a:headEnd len="sm" w="sm" type="none"/>
            <a:tailEnd len="sm" w="sm" type="none"/>
          </a:ln>
        </p:spPr>
      </p:cxnSp>
      <p:cxnSp>
        <p:nvCxnSpPr>
          <p:cNvPr id="965" name="Google Shape;965;p63"/>
          <p:cNvCxnSpPr/>
          <p:nvPr/>
        </p:nvCxnSpPr>
        <p:spPr>
          <a:xfrm>
            <a:off x="4788600" y="1800944"/>
            <a:ext cx="4012500" cy="0"/>
          </a:xfrm>
          <a:prstGeom prst="straightConnector1">
            <a:avLst/>
          </a:prstGeom>
          <a:noFill/>
          <a:ln cap="flat" cmpd="sng" w="9525">
            <a:solidFill>
              <a:srgbClr val="888888"/>
            </a:solidFill>
            <a:prstDash val="solid"/>
            <a:round/>
            <a:headEnd len="sm" w="sm" type="none"/>
            <a:tailEnd len="sm" w="sm" type="none"/>
          </a:ln>
        </p:spPr>
      </p:cxnSp>
      <p:cxnSp>
        <p:nvCxnSpPr>
          <p:cNvPr id="966" name="Google Shape;966;p63"/>
          <p:cNvCxnSpPr/>
          <p:nvPr/>
        </p:nvCxnSpPr>
        <p:spPr>
          <a:xfrm>
            <a:off x="4788600" y="2003784"/>
            <a:ext cx="4012500" cy="0"/>
          </a:xfrm>
          <a:prstGeom prst="straightConnector1">
            <a:avLst/>
          </a:prstGeom>
          <a:noFill/>
          <a:ln cap="flat" cmpd="sng" w="9525">
            <a:solidFill>
              <a:srgbClr val="888888"/>
            </a:solidFill>
            <a:prstDash val="solid"/>
            <a:round/>
            <a:headEnd len="sm" w="sm" type="none"/>
            <a:tailEnd len="sm" w="sm" type="none"/>
          </a:ln>
        </p:spPr>
      </p:cxnSp>
      <p:cxnSp>
        <p:nvCxnSpPr>
          <p:cNvPr id="967" name="Google Shape;967;p63"/>
          <p:cNvCxnSpPr/>
          <p:nvPr/>
        </p:nvCxnSpPr>
        <p:spPr>
          <a:xfrm>
            <a:off x="4788600" y="2206623"/>
            <a:ext cx="4012500" cy="0"/>
          </a:xfrm>
          <a:prstGeom prst="straightConnector1">
            <a:avLst/>
          </a:prstGeom>
          <a:noFill/>
          <a:ln cap="flat" cmpd="sng" w="9525">
            <a:solidFill>
              <a:srgbClr val="888888"/>
            </a:solidFill>
            <a:prstDash val="solid"/>
            <a:round/>
            <a:headEnd len="sm" w="sm" type="none"/>
            <a:tailEnd len="sm" w="sm" type="none"/>
          </a:ln>
        </p:spPr>
      </p:cxnSp>
      <p:cxnSp>
        <p:nvCxnSpPr>
          <p:cNvPr id="968" name="Google Shape;968;p63"/>
          <p:cNvCxnSpPr/>
          <p:nvPr/>
        </p:nvCxnSpPr>
        <p:spPr>
          <a:xfrm>
            <a:off x="4788600" y="2409463"/>
            <a:ext cx="4012500" cy="0"/>
          </a:xfrm>
          <a:prstGeom prst="straightConnector1">
            <a:avLst/>
          </a:prstGeom>
          <a:noFill/>
          <a:ln cap="flat" cmpd="sng" w="9525">
            <a:solidFill>
              <a:srgbClr val="888888"/>
            </a:solidFill>
            <a:prstDash val="solid"/>
            <a:round/>
            <a:headEnd len="sm" w="sm" type="none"/>
            <a:tailEnd len="sm" w="sm" type="none"/>
          </a:ln>
        </p:spPr>
      </p:cxnSp>
      <p:cxnSp>
        <p:nvCxnSpPr>
          <p:cNvPr id="969" name="Google Shape;969;p63"/>
          <p:cNvCxnSpPr/>
          <p:nvPr/>
        </p:nvCxnSpPr>
        <p:spPr>
          <a:xfrm>
            <a:off x="4788600" y="2612303"/>
            <a:ext cx="4012500" cy="0"/>
          </a:xfrm>
          <a:prstGeom prst="straightConnector1">
            <a:avLst/>
          </a:prstGeom>
          <a:noFill/>
          <a:ln cap="flat" cmpd="sng" w="9525">
            <a:solidFill>
              <a:srgbClr val="888888"/>
            </a:solidFill>
            <a:prstDash val="solid"/>
            <a:round/>
            <a:headEnd len="sm" w="sm" type="none"/>
            <a:tailEnd len="sm" w="sm" type="none"/>
          </a:ln>
        </p:spPr>
      </p:cxnSp>
      <p:cxnSp>
        <p:nvCxnSpPr>
          <p:cNvPr id="970" name="Google Shape;970;p63"/>
          <p:cNvCxnSpPr/>
          <p:nvPr/>
        </p:nvCxnSpPr>
        <p:spPr>
          <a:xfrm>
            <a:off x="4788600" y="2815142"/>
            <a:ext cx="4012500" cy="0"/>
          </a:xfrm>
          <a:prstGeom prst="straightConnector1">
            <a:avLst/>
          </a:prstGeom>
          <a:noFill/>
          <a:ln cap="flat" cmpd="sng" w="9525">
            <a:solidFill>
              <a:srgbClr val="888888"/>
            </a:solidFill>
            <a:prstDash val="solid"/>
            <a:round/>
            <a:headEnd len="sm" w="sm" type="none"/>
            <a:tailEnd len="sm" w="sm" type="none"/>
          </a:ln>
        </p:spPr>
      </p:cxnSp>
      <p:cxnSp>
        <p:nvCxnSpPr>
          <p:cNvPr id="971" name="Google Shape;971;p63"/>
          <p:cNvCxnSpPr/>
          <p:nvPr/>
        </p:nvCxnSpPr>
        <p:spPr>
          <a:xfrm>
            <a:off x="4794352" y="3626501"/>
            <a:ext cx="4012500" cy="0"/>
          </a:xfrm>
          <a:prstGeom prst="straightConnector1">
            <a:avLst/>
          </a:prstGeom>
          <a:noFill/>
          <a:ln cap="flat" cmpd="sng" w="9525">
            <a:solidFill>
              <a:srgbClr val="888888"/>
            </a:solidFill>
            <a:prstDash val="solid"/>
            <a:round/>
            <a:headEnd len="sm" w="sm" type="none"/>
            <a:tailEnd len="sm" w="sm" type="none"/>
          </a:ln>
        </p:spPr>
      </p:cxnSp>
      <p:sp>
        <p:nvSpPr>
          <p:cNvPr id="972" name="Google Shape;972;p63"/>
          <p:cNvSpPr txBox="1"/>
          <p:nvPr/>
        </p:nvSpPr>
        <p:spPr>
          <a:xfrm>
            <a:off x="3412674" y="1913341"/>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{{WS_CMK_R}}</a:t>
            </a:r>
            <a:endParaRPr b="0" i="0" sz="800" u="none" cap="none" strike="noStrike">
              <a:solidFill>
                <a:srgbClr val="595959"/>
              </a:solidFill>
              <a:latin typeface="Calibri"/>
              <a:ea typeface="Calibri"/>
              <a:cs typeface="Calibri"/>
              <a:sym typeface="Calibri"/>
            </a:endParaRPr>
          </a:p>
        </p:txBody>
      </p:sp>
      <p:sp>
        <p:nvSpPr>
          <p:cNvPr id="973" name="Google Shape;973;p63"/>
          <p:cNvSpPr txBox="1"/>
          <p:nvPr/>
        </p:nvSpPr>
        <p:spPr>
          <a:xfrm>
            <a:off x="3412674" y="2141150"/>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{{WS_TVOL_R}}</a:t>
            </a:r>
            <a:endParaRPr b="0" i="0" sz="800" u="none" cap="none" strike="noStrike">
              <a:solidFill>
                <a:srgbClr val="595959"/>
              </a:solidFill>
              <a:latin typeface="Calibri"/>
              <a:ea typeface="Calibri"/>
              <a:cs typeface="Calibri"/>
              <a:sym typeface="Calibri"/>
            </a:endParaRPr>
          </a:p>
        </p:txBody>
      </p:sp>
      <p:sp>
        <p:nvSpPr>
          <p:cNvPr id="974" name="Google Shape;974;p63"/>
          <p:cNvSpPr txBox="1"/>
          <p:nvPr/>
        </p:nvSpPr>
        <p:spPr>
          <a:xfrm>
            <a:off x="3412674" y="2368960"/>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{{WS_LSAIL_R}}</a:t>
            </a:r>
            <a:endParaRPr b="0" i="0" sz="800" u="none" cap="none" strike="noStrike">
              <a:solidFill>
                <a:srgbClr val="595959"/>
              </a:solidFill>
              <a:latin typeface="Calibri"/>
              <a:ea typeface="Calibri"/>
              <a:cs typeface="Calibri"/>
              <a:sym typeface="Calibri"/>
            </a:endParaRPr>
          </a:p>
        </p:txBody>
      </p:sp>
      <p:sp>
        <p:nvSpPr>
          <p:cNvPr id="975" name="Google Shape;975;p63"/>
          <p:cNvSpPr txBox="1"/>
          <p:nvPr/>
        </p:nvSpPr>
        <p:spPr>
          <a:xfrm>
            <a:off x="3412674" y="2596769"/>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{{WS_LAMB_R}}</a:t>
            </a:r>
            <a:endParaRPr b="0" i="0" sz="800" u="none" cap="none" strike="noStrike">
              <a:solidFill>
                <a:srgbClr val="595959"/>
              </a:solidFill>
              <a:latin typeface="Calibri"/>
              <a:ea typeface="Calibri"/>
              <a:cs typeface="Calibri"/>
              <a:sym typeface="Calibri"/>
            </a:endParaRPr>
          </a:p>
        </p:txBody>
      </p:sp>
      <p:sp>
        <p:nvSpPr>
          <p:cNvPr id="976" name="Google Shape;976;p63"/>
          <p:cNvSpPr txBox="1"/>
          <p:nvPr/>
        </p:nvSpPr>
        <p:spPr>
          <a:xfrm>
            <a:off x="3412675" y="2824579"/>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{{WS_TAGS_R}}</a:t>
            </a:r>
            <a:endParaRPr b="0" i="0" sz="800" u="none" cap="none" strike="noStrike">
              <a:solidFill>
                <a:srgbClr val="595959"/>
              </a:solidFill>
              <a:latin typeface="Calibri"/>
              <a:ea typeface="Calibri"/>
              <a:cs typeface="Calibri"/>
              <a:sym typeface="Calibri"/>
            </a:endParaRPr>
          </a:p>
        </p:txBody>
      </p:sp>
      <p:sp>
        <p:nvSpPr>
          <p:cNvPr id="977" name="Google Shape;977;p63"/>
          <p:cNvSpPr txBox="1"/>
          <p:nvPr/>
        </p:nvSpPr>
        <p:spPr>
          <a:xfrm>
            <a:off x="3412674" y="3512208"/>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{{WS_ADE1_R}}</a:t>
            </a:r>
            <a:endParaRPr b="0" i="0" sz="800" u="none" cap="none" strike="noStrike">
              <a:solidFill>
                <a:srgbClr val="595959"/>
              </a:solidFill>
              <a:latin typeface="Calibri"/>
              <a:ea typeface="Calibri"/>
              <a:cs typeface="Calibri"/>
              <a:sym typeface="Calibri"/>
            </a:endParaRPr>
          </a:p>
        </p:txBody>
      </p:sp>
      <p:sp>
        <p:nvSpPr>
          <p:cNvPr id="978" name="Google Shape;978;p63"/>
          <p:cNvSpPr txBox="1"/>
          <p:nvPr/>
        </p:nvSpPr>
        <p:spPr>
          <a:xfrm>
            <a:off x="3412674" y="3740017"/>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{{WS_ADE2_R}}</a:t>
            </a:r>
            <a:endParaRPr b="0" i="0" sz="800" u="none" cap="none" strike="noStrike">
              <a:solidFill>
                <a:srgbClr val="595959"/>
              </a:solidFill>
              <a:latin typeface="Calibri"/>
              <a:ea typeface="Calibri"/>
              <a:cs typeface="Calibri"/>
              <a:sym typeface="Calibri"/>
            </a:endParaRPr>
          </a:p>
        </p:txBody>
      </p:sp>
      <p:sp>
        <p:nvSpPr>
          <p:cNvPr id="979" name="Google Shape;979;p63"/>
          <p:cNvSpPr txBox="1"/>
          <p:nvPr/>
        </p:nvSpPr>
        <p:spPr>
          <a:xfrm>
            <a:off x="3412674" y="3967827"/>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{{WS_NRT_R}}</a:t>
            </a:r>
            <a:endParaRPr b="0" i="0" sz="800" u="none" cap="none" strike="noStrike">
              <a:solidFill>
                <a:srgbClr val="595959"/>
              </a:solidFill>
              <a:latin typeface="Calibri"/>
              <a:ea typeface="Calibri"/>
              <a:cs typeface="Calibri"/>
              <a:sym typeface="Calibri"/>
            </a:endParaRPr>
          </a:p>
        </p:txBody>
      </p:sp>
      <p:cxnSp>
        <p:nvCxnSpPr>
          <p:cNvPr id="980" name="Google Shape;980;p63"/>
          <p:cNvCxnSpPr/>
          <p:nvPr/>
        </p:nvCxnSpPr>
        <p:spPr>
          <a:xfrm>
            <a:off x="4805551" y="1390969"/>
            <a:ext cx="3947400" cy="0"/>
          </a:xfrm>
          <a:prstGeom prst="straightConnector1">
            <a:avLst/>
          </a:prstGeom>
          <a:noFill/>
          <a:ln cap="flat" cmpd="sng" w="14300">
            <a:solidFill>
              <a:srgbClr val="888888"/>
            </a:solidFill>
            <a:prstDash val="solid"/>
            <a:round/>
            <a:headEnd len="sm" w="sm" type="none"/>
            <a:tailEnd len="sm" w="sm" type="none"/>
          </a:ln>
        </p:spPr>
      </p:cxnSp>
      <p:cxnSp>
        <p:nvCxnSpPr>
          <p:cNvPr id="981" name="Google Shape;981;p63"/>
          <p:cNvCxnSpPr/>
          <p:nvPr/>
        </p:nvCxnSpPr>
        <p:spPr>
          <a:xfrm>
            <a:off x="377157" y="1403236"/>
            <a:ext cx="3977700" cy="0"/>
          </a:xfrm>
          <a:prstGeom prst="straightConnector1">
            <a:avLst/>
          </a:prstGeom>
          <a:noFill/>
          <a:ln cap="flat" cmpd="sng" w="14300">
            <a:solidFill>
              <a:srgbClr val="888888"/>
            </a:solidFill>
            <a:prstDash val="solid"/>
            <a:round/>
            <a:headEnd len="sm" w="sm" type="none"/>
            <a:tailEnd len="sm" w="sm" type="none"/>
          </a:ln>
        </p:spPr>
      </p:cxnSp>
      <p:sp>
        <p:nvSpPr>
          <p:cNvPr id="982" name="Google Shape;982;p63"/>
          <p:cNvSpPr/>
          <p:nvPr/>
        </p:nvSpPr>
        <p:spPr>
          <a:xfrm>
            <a:off x="7010768" y="134170"/>
            <a:ext cx="2491200" cy="43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500"/>
              <a:buFont typeface="JetBrains Mono"/>
              <a:buNone/>
            </a:pPr>
            <a:r>
              <a:rPr b="1" i="0" lang="en" sz="800" u="none" cap="none" strike="noStrike">
                <a:solidFill>
                  <a:srgbClr val="218C21"/>
                </a:solidFill>
                <a:latin typeface="Calibri"/>
                <a:ea typeface="Calibri"/>
                <a:cs typeface="Calibri"/>
                <a:sym typeface="Calibri"/>
              </a:rPr>
              <a:t>✓ = Aligned with Wiz Recommendation</a:t>
            </a:r>
            <a:br>
              <a:rPr b="1" i="0" lang="en" sz="800" u="none" cap="none" strike="noStrike">
                <a:solidFill>
                  <a:srgbClr val="218C21"/>
                </a:solidFill>
                <a:latin typeface="Calibri"/>
                <a:ea typeface="Calibri"/>
                <a:cs typeface="Calibri"/>
                <a:sym typeface="Calibri"/>
              </a:rPr>
            </a:br>
            <a:r>
              <a:rPr b="1" i="0" lang="en" sz="800" u="none" cap="none" strike="noStrike">
                <a:solidFill>
                  <a:srgbClr val="CC1212"/>
                </a:solidFill>
                <a:latin typeface="Calibri"/>
                <a:ea typeface="Calibri"/>
                <a:cs typeface="Calibri"/>
                <a:sym typeface="Calibri"/>
              </a:rPr>
              <a:t>✗ = May want to revisit configuration </a:t>
            </a:r>
            <a:endParaRPr b="1" i="0" sz="800" u="none" cap="none" strike="noStrike">
              <a:solidFill>
                <a:srgbClr val="CC1212"/>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500"/>
              <a:buFont typeface="JetBrains Mono"/>
              <a:buNone/>
            </a:pPr>
            <a:r>
              <a:rPr b="1" i="0" lang="en" sz="800" u="none" cap="none" strike="noStrike">
                <a:solidFill>
                  <a:srgbClr val="595959"/>
                </a:solidFill>
                <a:latin typeface="Calibri"/>
                <a:ea typeface="Calibri"/>
                <a:cs typeface="Calibri"/>
                <a:sym typeface="Calibri"/>
              </a:rPr>
              <a:t>N/A = Informational, customer preference</a:t>
            </a:r>
            <a:endParaRPr b="0" i="0" sz="1000" u="none" cap="none" strike="noStrike">
              <a:solidFill>
                <a:srgbClr val="595959"/>
              </a:solidFill>
              <a:latin typeface="Calibri"/>
              <a:ea typeface="Calibri"/>
              <a:cs typeface="Calibri"/>
              <a:sym typeface="Calibri"/>
            </a:endParaRPr>
          </a:p>
        </p:txBody>
      </p:sp>
      <p:cxnSp>
        <p:nvCxnSpPr>
          <p:cNvPr id="983" name="Google Shape;983;p63"/>
          <p:cNvCxnSpPr/>
          <p:nvPr/>
        </p:nvCxnSpPr>
        <p:spPr>
          <a:xfrm>
            <a:off x="4794607" y="3017982"/>
            <a:ext cx="4012500" cy="0"/>
          </a:xfrm>
          <a:prstGeom prst="straightConnector1">
            <a:avLst/>
          </a:prstGeom>
          <a:noFill/>
          <a:ln cap="flat" cmpd="sng" w="9525">
            <a:solidFill>
              <a:srgbClr val="888888"/>
            </a:solidFill>
            <a:prstDash val="solid"/>
            <a:round/>
            <a:headEnd len="sm" w="sm" type="none"/>
            <a:tailEnd len="sm" w="sm" type="none"/>
          </a:ln>
        </p:spPr>
      </p:cxnSp>
      <p:cxnSp>
        <p:nvCxnSpPr>
          <p:cNvPr id="984" name="Google Shape;984;p63"/>
          <p:cNvCxnSpPr/>
          <p:nvPr/>
        </p:nvCxnSpPr>
        <p:spPr>
          <a:xfrm>
            <a:off x="4794607" y="3220821"/>
            <a:ext cx="4012500" cy="0"/>
          </a:xfrm>
          <a:prstGeom prst="straightConnector1">
            <a:avLst/>
          </a:prstGeom>
          <a:noFill/>
          <a:ln cap="flat" cmpd="sng" w="9525">
            <a:solidFill>
              <a:srgbClr val="888888"/>
            </a:solidFill>
            <a:prstDash val="solid"/>
            <a:round/>
            <a:headEnd len="sm" w="sm" type="none"/>
            <a:tailEnd len="sm" w="sm" type="none"/>
          </a:ln>
        </p:spPr>
      </p:cxnSp>
      <p:cxnSp>
        <p:nvCxnSpPr>
          <p:cNvPr id="985" name="Google Shape;985;p63"/>
          <p:cNvCxnSpPr/>
          <p:nvPr/>
        </p:nvCxnSpPr>
        <p:spPr>
          <a:xfrm>
            <a:off x="4800614" y="3423661"/>
            <a:ext cx="4012500" cy="0"/>
          </a:xfrm>
          <a:prstGeom prst="straightConnector1">
            <a:avLst/>
          </a:prstGeom>
          <a:noFill/>
          <a:ln cap="flat" cmpd="sng" w="9525">
            <a:solidFill>
              <a:srgbClr val="888888"/>
            </a:solidFill>
            <a:prstDash val="solid"/>
            <a:round/>
            <a:headEnd len="sm" w="sm" type="none"/>
            <a:tailEnd len="sm" w="sm" type="none"/>
          </a:ln>
        </p:spPr>
      </p:cxnSp>
      <p:cxnSp>
        <p:nvCxnSpPr>
          <p:cNvPr id="986" name="Google Shape;986;p63"/>
          <p:cNvCxnSpPr/>
          <p:nvPr/>
        </p:nvCxnSpPr>
        <p:spPr>
          <a:xfrm>
            <a:off x="4783871" y="3829340"/>
            <a:ext cx="4012500" cy="0"/>
          </a:xfrm>
          <a:prstGeom prst="straightConnector1">
            <a:avLst/>
          </a:prstGeom>
          <a:noFill/>
          <a:ln cap="flat" cmpd="sng" w="9525">
            <a:solidFill>
              <a:srgbClr val="888888"/>
            </a:solidFill>
            <a:prstDash val="solid"/>
            <a:round/>
            <a:headEnd len="sm" w="sm" type="none"/>
            <a:tailEnd len="sm" w="sm" type="none"/>
          </a:ln>
        </p:spPr>
      </p:cxnSp>
      <p:cxnSp>
        <p:nvCxnSpPr>
          <p:cNvPr id="987" name="Google Shape;987;p63"/>
          <p:cNvCxnSpPr/>
          <p:nvPr/>
        </p:nvCxnSpPr>
        <p:spPr>
          <a:xfrm>
            <a:off x="4778376" y="4032180"/>
            <a:ext cx="4012500" cy="0"/>
          </a:xfrm>
          <a:prstGeom prst="straightConnector1">
            <a:avLst/>
          </a:prstGeom>
          <a:noFill/>
          <a:ln cap="flat" cmpd="sng" w="9525">
            <a:solidFill>
              <a:srgbClr val="888888"/>
            </a:solidFill>
            <a:prstDash val="solid"/>
            <a:round/>
            <a:headEnd len="sm" w="sm" type="none"/>
            <a:tailEnd len="sm" w="sm" type="none"/>
          </a:ln>
        </p:spPr>
      </p:cxnSp>
      <p:cxnSp>
        <p:nvCxnSpPr>
          <p:cNvPr id="988" name="Google Shape;988;p63"/>
          <p:cNvCxnSpPr/>
          <p:nvPr/>
        </p:nvCxnSpPr>
        <p:spPr>
          <a:xfrm>
            <a:off x="4776331" y="4235019"/>
            <a:ext cx="4012500" cy="0"/>
          </a:xfrm>
          <a:prstGeom prst="straightConnector1">
            <a:avLst/>
          </a:prstGeom>
          <a:noFill/>
          <a:ln cap="flat" cmpd="sng" w="9525">
            <a:solidFill>
              <a:srgbClr val="888888"/>
            </a:solidFill>
            <a:prstDash val="solid"/>
            <a:round/>
            <a:headEnd len="sm" w="sm" type="none"/>
            <a:tailEnd len="sm" w="sm" type="none"/>
          </a:ln>
        </p:spPr>
      </p:cxnSp>
      <p:cxnSp>
        <p:nvCxnSpPr>
          <p:cNvPr id="989" name="Google Shape;989;p63"/>
          <p:cNvCxnSpPr/>
          <p:nvPr/>
        </p:nvCxnSpPr>
        <p:spPr>
          <a:xfrm>
            <a:off x="4774287" y="4437859"/>
            <a:ext cx="4012500" cy="0"/>
          </a:xfrm>
          <a:prstGeom prst="straightConnector1">
            <a:avLst/>
          </a:prstGeom>
          <a:noFill/>
          <a:ln cap="flat" cmpd="sng" w="9525">
            <a:solidFill>
              <a:srgbClr val="888888"/>
            </a:solidFill>
            <a:prstDash val="solid"/>
            <a:round/>
            <a:headEnd len="sm" w="sm" type="none"/>
            <a:tailEnd len="sm" w="sm" type="none"/>
          </a:ln>
        </p:spPr>
      </p:cxnSp>
      <p:sp>
        <p:nvSpPr>
          <p:cNvPr id="990" name="Google Shape;990;p63"/>
          <p:cNvSpPr/>
          <p:nvPr/>
        </p:nvSpPr>
        <p:spPr>
          <a:xfrm>
            <a:off x="2516118" y="4183303"/>
            <a:ext cx="875100" cy="230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{{WS_NRTW}}</a:t>
            </a:r>
            <a:endParaRPr b="0" i="0" sz="700" u="none" cap="none" strike="noStrike">
              <a:solidFill>
                <a:schemeClr val="dk1"/>
              </a:solidFill>
              <a:latin typeface="Calibri"/>
              <a:ea typeface="Calibri"/>
              <a:cs typeface="Calibri"/>
              <a:sym typeface="Calibri"/>
            </a:endParaRPr>
          </a:p>
        </p:txBody>
      </p:sp>
      <p:sp>
        <p:nvSpPr>
          <p:cNvPr id="991" name="Google Shape;991;p63"/>
          <p:cNvSpPr txBox="1"/>
          <p:nvPr/>
        </p:nvSpPr>
        <p:spPr>
          <a:xfrm>
            <a:off x="3408069" y="4195636"/>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{{WS_NRTW_R}}</a:t>
            </a:r>
            <a:endParaRPr b="0" i="0" sz="800" u="none" cap="none" strike="noStrike">
              <a:solidFill>
                <a:srgbClr val="595959"/>
              </a:solidFill>
              <a:latin typeface="Calibri"/>
              <a:ea typeface="Calibri"/>
              <a:cs typeface="Calibri"/>
              <a:sym typeface="Calibri"/>
            </a:endParaRPr>
          </a:p>
        </p:txBody>
      </p:sp>
      <p:sp>
        <p:nvSpPr>
          <p:cNvPr id="992" name="Google Shape;992;p63"/>
          <p:cNvSpPr/>
          <p:nvPr/>
        </p:nvSpPr>
        <p:spPr>
          <a:xfrm>
            <a:off x="2519847" y="4414097"/>
            <a:ext cx="878700" cy="22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{{WS_AFIM}}</a:t>
            </a:r>
            <a:endParaRPr b="0" i="0" sz="686" u="none" cap="none" strike="noStrike">
              <a:solidFill>
                <a:srgbClr val="1A56DB"/>
              </a:solidFill>
              <a:latin typeface="Calibri"/>
              <a:ea typeface="Calibri"/>
              <a:cs typeface="Calibri"/>
              <a:sym typeface="Calibri"/>
            </a:endParaRPr>
          </a:p>
        </p:txBody>
      </p:sp>
      <p:cxnSp>
        <p:nvCxnSpPr>
          <p:cNvPr id="993" name="Google Shape;993;p63"/>
          <p:cNvCxnSpPr/>
          <p:nvPr/>
        </p:nvCxnSpPr>
        <p:spPr>
          <a:xfrm>
            <a:off x="362488" y="4634025"/>
            <a:ext cx="3993600" cy="0"/>
          </a:xfrm>
          <a:prstGeom prst="straightConnector1">
            <a:avLst/>
          </a:prstGeom>
          <a:noFill/>
          <a:ln cap="flat" cmpd="sng" w="9525">
            <a:solidFill>
              <a:srgbClr val="888888"/>
            </a:solidFill>
            <a:prstDash val="solid"/>
            <a:round/>
            <a:headEnd len="sm" w="sm" type="none"/>
            <a:tailEnd len="sm" w="sm" type="none"/>
          </a:ln>
        </p:spPr>
      </p:cxnSp>
      <p:cxnSp>
        <p:nvCxnSpPr>
          <p:cNvPr id="994" name="Google Shape;994;p63"/>
          <p:cNvCxnSpPr/>
          <p:nvPr/>
        </p:nvCxnSpPr>
        <p:spPr>
          <a:xfrm>
            <a:off x="364163" y="4404042"/>
            <a:ext cx="3993600" cy="0"/>
          </a:xfrm>
          <a:prstGeom prst="straightConnector1">
            <a:avLst/>
          </a:prstGeom>
          <a:noFill/>
          <a:ln cap="flat" cmpd="sng" w="9525">
            <a:solidFill>
              <a:srgbClr val="888888"/>
            </a:solidFill>
            <a:prstDash val="solid"/>
            <a:round/>
            <a:headEnd len="sm" w="sm" type="none"/>
            <a:tailEnd len="sm" w="sm" type="none"/>
          </a:ln>
        </p:spPr>
      </p:cxnSp>
      <p:sp>
        <p:nvSpPr>
          <p:cNvPr id="995" name="Google Shape;995;p63"/>
          <p:cNvSpPr txBox="1"/>
          <p:nvPr/>
        </p:nvSpPr>
        <p:spPr>
          <a:xfrm>
            <a:off x="3403463" y="4423446"/>
            <a:ext cx="939600" cy="173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{{WS_AFIM_R}}</a:t>
            </a:r>
            <a:endParaRPr b="0" i="0" sz="800" u="none" cap="none" strike="noStrike">
              <a:solidFill>
                <a:srgbClr val="595959"/>
              </a:solidFill>
              <a:latin typeface="Calibri"/>
              <a:ea typeface="Calibri"/>
              <a:cs typeface="Calibri"/>
              <a:sym typeface="Calibri"/>
            </a:endParaRPr>
          </a:p>
        </p:txBody>
      </p:sp>
      <p:pic>
        <p:nvPicPr>
          <p:cNvPr id="996" name="Google Shape;996;p63"/>
          <p:cNvPicPr preferRelativeResize="0"/>
          <p:nvPr/>
        </p:nvPicPr>
        <p:blipFill rotWithShape="1">
          <a:blip r:embed="rId10">
            <a:alphaModFix/>
          </a:blip>
          <a:srcRect b="0" l="0" r="0" t="0"/>
          <a:stretch/>
        </p:blipFill>
        <p:spPr>
          <a:xfrm>
            <a:off x="8285539" y="4822005"/>
            <a:ext cx="733511" cy="212512"/>
          </a:xfrm>
          <a:prstGeom prst="rect">
            <a:avLst/>
          </a:prstGeom>
          <a:noFill/>
          <a:ln>
            <a:noFill/>
          </a:ln>
        </p:spPr>
      </p:pic>
      <p:cxnSp>
        <p:nvCxnSpPr>
          <p:cNvPr id="997" name="Google Shape;997;p63"/>
          <p:cNvCxnSpPr/>
          <p:nvPr/>
        </p:nvCxnSpPr>
        <p:spPr>
          <a:xfrm>
            <a:off x="4771650" y="4641518"/>
            <a:ext cx="4012500" cy="0"/>
          </a:xfrm>
          <a:prstGeom prst="straightConnector1">
            <a:avLst/>
          </a:prstGeom>
          <a:noFill/>
          <a:ln cap="flat" cmpd="sng" w="9525">
            <a:solidFill>
              <a:srgbClr val="888888"/>
            </a:solidFill>
            <a:prstDash val="solid"/>
            <a:round/>
            <a:headEnd len="sm" w="sm" type="none"/>
            <a:tailEnd len="sm" w="sm" type="none"/>
          </a:ln>
        </p:spPr>
      </p:cxnSp>
      <p:sp>
        <p:nvSpPr>
          <p:cNvPr id="998" name="Google Shape;998;p63"/>
          <p:cNvSpPr/>
          <p:nvPr/>
        </p:nvSpPr>
        <p:spPr>
          <a:xfrm>
            <a:off x="4852708" y="4446568"/>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Risk: Secret Findings Detection</a:t>
            </a:r>
            <a:endParaRPr b="0" i="0" sz="737" u="none" cap="none" strike="noStrike">
              <a:solidFill>
                <a:srgbClr val="1F2937"/>
              </a:solidFill>
              <a:latin typeface="Calibri"/>
              <a:ea typeface="Calibri"/>
              <a:cs typeface="Calibri"/>
              <a:sym typeface="Calibri"/>
            </a:endParaRPr>
          </a:p>
        </p:txBody>
      </p:sp>
      <p:sp>
        <p:nvSpPr>
          <p:cNvPr id="999" name="Google Shape;999;p63"/>
          <p:cNvSpPr/>
          <p:nvPr/>
        </p:nvSpPr>
        <p:spPr>
          <a:xfrm>
            <a:off x="4850663" y="4649529"/>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Risk: Secret Validation</a:t>
            </a:r>
            <a:endParaRPr b="0" i="0" sz="737" u="none" cap="none" strike="noStrike">
              <a:solidFill>
                <a:srgbClr val="1F2937"/>
              </a:solidFill>
              <a:latin typeface="Calibri"/>
              <a:ea typeface="Calibri"/>
              <a:cs typeface="Calibri"/>
              <a:sym typeface="Calibri"/>
            </a:endParaRPr>
          </a:p>
        </p:txBody>
      </p:sp>
      <p:sp>
        <p:nvSpPr>
          <p:cNvPr id="1000" name="Google Shape;1000;p63"/>
          <p:cNvSpPr txBox="1"/>
          <p:nvPr/>
        </p:nvSpPr>
        <p:spPr>
          <a:xfrm>
            <a:off x="7752775" y="4481811"/>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{{ASM_SEC_R}}</a:t>
            </a:r>
            <a:endParaRPr b="0" i="0" sz="737" u="none" cap="none" strike="noStrike">
              <a:solidFill>
                <a:srgbClr val="595959"/>
              </a:solidFill>
              <a:latin typeface="Calibri"/>
              <a:ea typeface="Calibri"/>
              <a:cs typeface="Calibri"/>
              <a:sym typeface="Calibri"/>
            </a:endParaRPr>
          </a:p>
        </p:txBody>
      </p:sp>
      <p:sp>
        <p:nvSpPr>
          <p:cNvPr id="1001" name="Google Shape;1001;p63"/>
          <p:cNvSpPr txBox="1"/>
          <p:nvPr/>
        </p:nvSpPr>
        <p:spPr>
          <a:xfrm>
            <a:off x="7750731" y="4685015"/>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{{ASM_SV_R}}</a:t>
            </a:r>
            <a:endParaRPr b="0" i="0" sz="737" u="none" cap="none" strike="noStrike">
              <a:solidFill>
                <a:srgbClr val="595959"/>
              </a:solidFill>
              <a:latin typeface="Calibri"/>
              <a:ea typeface="Calibri"/>
              <a:cs typeface="Calibri"/>
              <a:sym typeface="Calibri"/>
            </a:endParaRPr>
          </a:p>
        </p:txBody>
      </p:sp>
      <p:sp>
        <p:nvSpPr>
          <p:cNvPr id="1002" name="Google Shape;1002;p63"/>
          <p:cNvSpPr/>
          <p:nvPr/>
        </p:nvSpPr>
        <p:spPr>
          <a:xfrm>
            <a:off x="6899000" y="4446366"/>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{{ASM_SEC}}</a:t>
            </a:r>
            <a:endParaRPr b="0" i="0" sz="645" u="none" cap="none" strike="noStrike">
              <a:solidFill>
                <a:schemeClr val="dk1"/>
              </a:solidFill>
              <a:latin typeface="Calibri"/>
              <a:ea typeface="Calibri"/>
              <a:cs typeface="Calibri"/>
              <a:sym typeface="Calibri"/>
            </a:endParaRPr>
          </a:p>
        </p:txBody>
      </p:sp>
      <p:sp>
        <p:nvSpPr>
          <p:cNvPr id="1003" name="Google Shape;1003;p63"/>
          <p:cNvSpPr/>
          <p:nvPr/>
        </p:nvSpPr>
        <p:spPr>
          <a:xfrm>
            <a:off x="6896955" y="4649311"/>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{{ASM_SV}}</a:t>
            </a:r>
            <a:endParaRPr b="0" i="0" sz="645" u="none" cap="none" strike="noStrike">
              <a:solidFill>
                <a:schemeClr val="dk1"/>
              </a:solidFill>
              <a:latin typeface="Calibri"/>
              <a:ea typeface="Calibri"/>
              <a:cs typeface="Calibri"/>
              <a:sym typeface="Calibri"/>
            </a:endParaRPr>
          </a:p>
        </p:txBody>
      </p:sp>
      <p:cxnSp>
        <p:nvCxnSpPr>
          <p:cNvPr id="1004" name="Google Shape;1004;p63"/>
          <p:cNvCxnSpPr/>
          <p:nvPr/>
        </p:nvCxnSpPr>
        <p:spPr>
          <a:xfrm flipH="1" rot="10800000">
            <a:off x="4779864" y="4844405"/>
            <a:ext cx="4011300" cy="13800"/>
          </a:xfrm>
          <a:prstGeom prst="straightConnector1">
            <a:avLst/>
          </a:prstGeom>
          <a:noFill/>
          <a:ln cap="flat" cmpd="sng" w="9525">
            <a:solidFill>
              <a:srgbClr val="888888"/>
            </a:solidFill>
            <a:prstDash val="solid"/>
            <a:round/>
            <a:headEnd len="sm" w="sm" type="none"/>
            <a:tailEnd len="sm" w="sm" type="none"/>
          </a:ln>
        </p:spPr>
      </p:cxnSp>
      <p:sp>
        <p:nvSpPr>
          <p:cNvPr id="1005" name="Google Shape;1005;p63"/>
          <p:cNvSpPr/>
          <p:nvPr/>
        </p:nvSpPr>
        <p:spPr>
          <a:xfrm>
            <a:off x="4849232" y="4864397"/>
            <a:ext cx="1987200" cy="195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645"/>
              <a:buFont typeface="DM Sans"/>
              <a:buNone/>
            </a:pPr>
            <a:r>
              <a:rPr b="0" i="0" lang="en" sz="737" u="none" cap="none" strike="noStrike">
                <a:solidFill>
                  <a:srgbClr val="1F2937"/>
                </a:solidFill>
                <a:latin typeface="Calibri"/>
                <a:ea typeface="Calibri"/>
                <a:cs typeface="Calibri"/>
                <a:sym typeface="Calibri"/>
              </a:rPr>
              <a:t>Application Endpoint Exposure Level</a:t>
            </a:r>
            <a:endParaRPr b="0" i="0" sz="737" u="none" cap="none" strike="noStrike">
              <a:solidFill>
                <a:srgbClr val="1F2937"/>
              </a:solidFill>
              <a:latin typeface="Calibri"/>
              <a:ea typeface="Calibri"/>
              <a:cs typeface="Calibri"/>
              <a:sym typeface="Calibri"/>
            </a:endParaRPr>
          </a:p>
        </p:txBody>
      </p:sp>
      <p:sp>
        <p:nvSpPr>
          <p:cNvPr id="1006" name="Google Shape;1006;p63"/>
          <p:cNvSpPr txBox="1"/>
          <p:nvPr/>
        </p:nvSpPr>
        <p:spPr>
          <a:xfrm>
            <a:off x="7761860" y="4899639"/>
            <a:ext cx="1031700" cy="140400"/>
          </a:xfrm>
          <a:prstGeom prst="rect">
            <a:avLst/>
          </a:prstGeom>
          <a:noFill/>
          <a:ln>
            <a:noFill/>
          </a:ln>
        </p:spPr>
        <p:txBody>
          <a:bodyPr anchorCtr="0" anchor="ctr" bIns="63150" lIns="63150" spcFirstLastPara="1" rIns="63150" wrap="square" tIns="63150">
            <a:noAutofit/>
          </a:bodyPr>
          <a:lstStyle/>
          <a:p>
            <a:pPr indent="0" lvl="0" marL="0" marR="0" rtl="0" algn="ctr">
              <a:lnSpc>
                <a:spcPct val="100000"/>
              </a:lnSpc>
              <a:spcBef>
                <a:spcPts val="0"/>
              </a:spcBef>
              <a:spcAft>
                <a:spcPts val="0"/>
              </a:spcAft>
              <a:buClr>
                <a:srgbClr val="000000"/>
              </a:buClr>
              <a:buSzPts val="737"/>
              <a:buFont typeface="Arial"/>
              <a:buNone/>
            </a:pPr>
            <a:r>
              <a:rPr b="0" i="0" lang="en" sz="737" u="none" cap="none" strike="noStrike">
                <a:solidFill>
                  <a:srgbClr val="595959"/>
                </a:solidFill>
                <a:latin typeface="Calibri"/>
                <a:ea typeface="Calibri"/>
                <a:cs typeface="Calibri"/>
                <a:sym typeface="Calibri"/>
              </a:rPr>
              <a:t>{{ASM_EXPL_R}}</a:t>
            </a:r>
            <a:endParaRPr b="0" i="0" sz="737" u="none" cap="none" strike="noStrike">
              <a:solidFill>
                <a:srgbClr val="595959"/>
              </a:solidFill>
              <a:latin typeface="Calibri"/>
              <a:ea typeface="Calibri"/>
              <a:cs typeface="Calibri"/>
              <a:sym typeface="Calibri"/>
            </a:endParaRPr>
          </a:p>
        </p:txBody>
      </p:sp>
      <p:sp>
        <p:nvSpPr>
          <p:cNvPr id="1007" name="Google Shape;1007;p63"/>
          <p:cNvSpPr/>
          <p:nvPr/>
        </p:nvSpPr>
        <p:spPr>
          <a:xfrm>
            <a:off x="6895524" y="4864194"/>
            <a:ext cx="882000" cy="195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645"/>
              <a:buFont typeface="JetBrains Mono"/>
              <a:buNone/>
            </a:pPr>
            <a:r>
              <a:rPr b="0" i="0" lang="en" sz="645" u="none" cap="none" strike="noStrike">
                <a:solidFill>
                  <a:srgbClr val="1A56DB"/>
                </a:solidFill>
                <a:latin typeface="Calibri"/>
                <a:ea typeface="Calibri"/>
                <a:cs typeface="Calibri"/>
                <a:sym typeface="Calibri"/>
              </a:rPr>
              <a:t>{{ASM_EXPL}}</a:t>
            </a:r>
            <a:endParaRPr b="0" i="0" sz="645" u="none" cap="none" strike="noStrike">
              <a:solidFill>
                <a:schemeClr val="dk1"/>
              </a:solidFill>
              <a:latin typeface="Calibri"/>
              <a:ea typeface="Calibri"/>
              <a:cs typeface="Calibri"/>
              <a:sym typeface="Calibri"/>
            </a:endParaRPr>
          </a:p>
        </p:txBody>
      </p:sp>
      <p:sp>
        <p:nvSpPr>
          <p:cNvPr id="1008" name="Google Shape;1008;p63"/>
          <p:cNvSpPr/>
          <p:nvPr/>
        </p:nvSpPr>
        <p:spPr>
          <a:xfrm>
            <a:off x="239233" y="867612"/>
            <a:ext cx="4224479" cy="4146767"/>
          </a:xfrm>
          <a:custGeom>
            <a:rect b="b" l="l" r="r" t="t"/>
            <a:pathLst>
              <a:path extrusionOk="0" h="120000" w="120000">
                <a:moveTo>
                  <a:pt x="0" y="0"/>
                </a:moveTo>
                <a:lnTo>
                  <a:pt x="120000" y="0"/>
                </a:lnTo>
                <a:lnTo>
                  <a:pt x="120000" y="120000"/>
                </a:lnTo>
                <a:lnTo>
                  <a:pt x="0" y="120000"/>
                </a:lnTo>
                <a:close/>
              </a:path>
            </a:pathLst>
          </a:custGeom>
          <a:noFill/>
          <a:ln cap="flat" cmpd="sng" w="9525">
            <a:solidFill>
              <a:schemeClr val="accent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009" name="Google Shape;1009;p63"/>
          <p:cNvSpPr/>
          <p:nvPr/>
        </p:nvSpPr>
        <p:spPr>
          <a:xfrm>
            <a:off x="4676033" y="867086"/>
            <a:ext cx="4224479" cy="4194012"/>
          </a:xfrm>
          <a:custGeom>
            <a:rect b="b" l="l" r="r" t="t"/>
            <a:pathLst>
              <a:path extrusionOk="0" h="120000" w="120000">
                <a:moveTo>
                  <a:pt x="0" y="0"/>
                </a:moveTo>
                <a:lnTo>
                  <a:pt x="120000" y="0"/>
                </a:lnTo>
                <a:lnTo>
                  <a:pt x="120000" y="120000"/>
                </a:lnTo>
                <a:lnTo>
                  <a:pt x="0" y="120000"/>
                </a:lnTo>
                <a:close/>
              </a:path>
            </a:pathLst>
          </a:custGeom>
          <a:noFill/>
          <a:ln cap="flat" cmpd="sng" w="9525">
            <a:solidFill>
              <a:schemeClr val="accent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4" name="Shape 1014"/>
        <p:cNvGrpSpPr/>
        <p:nvPr/>
      </p:nvGrpSpPr>
      <p:grpSpPr>
        <a:xfrm>
          <a:off x="0" y="0"/>
          <a:ext cx="0" cy="0"/>
          <a:chOff x="0" y="0"/>
          <a:chExt cx="0" cy="0"/>
        </a:xfrm>
      </p:grpSpPr>
      <p:pic>
        <p:nvPicPr>
          <p:cNvPr id="1015" name="Google Shape;1015;p64"/>
          <p:cNvPicPr preferRelativeResize="0"/>
          <p:nvPr/>
        </p:nvPicPr>
        <p:blipFill rotWithShape="1">
          <a:blip r:embed="rId3">
            <a:alphaModFix/>
          </a:blip>
          <a:srcRect b="0" l="0" r="0" t="0"/>
          <a:stretch/>
        </p:blipFill>
        <p:spPr>
          <a:xfrm>
            <a:off x="8048746" y="4692300"/>
            <a:ext cx="943800" cy="381270"/>
          </a:xfrm>
          <a:prstGeom prst="rect">
            <a:avLst/>
          </a:prstGeom>
          <a:noFill/>
          <a:ln>
            <a:noFill/>
          </a:ln>
        </p:spPr>
      </p:pic>
      <p:sp>
        <p:nvSpPr>
          <p:cNvPr id="1016" name="Google Shape;1016;p64"/>
          <p:cNvSpPr/>
          <p:nvPr/>
        </p:nvSpPr>
        <p:spPr>
          <a:xfrm>
            <a:off x="0" y="0"/>
            <a:ext cx="9144000" cy="54900"/>
          </a:xfrm>
          <a:prstGeom prst="rect">
            <a:avLst/>
          </a:prstGeom>
          <a:solidFill>
            <a:srgbClr val="1A5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017" name="Google Shape;1017;p64"/>
          <p:cNvSpPr/>
          <p:nvPr/>
        </p:nvSpPr>
        <p:spPr>
          <a:xfrm>
            <a:off x="457200" y="164588"/>
            <a:ext cx="69444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1600"/>
              <a:buFont typeface="DM Sans"/>
              <a:buNone/>
            </a:pPr>
            <a:r>
              <a:rPr b="0" i="0" lang="en" sz="2000" u="none" cap="none" strike="noStrike">
                <a:solidFill>
                  <a:schemeClr val="dk2"/>
                </a:solidFill>
                <a:latin typeface="Calibri"/>
                <a:ea typeface="Calibri"/>
                <a:cs typeface="Calibri"/>
                <a:sym typeface="Calibri"/>
              </a:rPr>
              <a:t>Scanner Configuration — Vulnerability &amp; Data Security</a:t>
            </a:r>
            <a:endParaRPr b="0" i="0" sz="2000" u="none" cap="none" strike="noStrike">
              <a:solidFill>
                <a:schemeClr val="dk2"/>
              </a:solidFill>
              <a:latin typeface="Calibri"/>
              <a:ea typeface="Calibri"/>
              <a:cs typeface="Calibri"/>
              <a:sym typeface="Calibri"/>
            </a:endParaRPr>
          </a:p>
        </p:txBody>
      </p:sp>
      <p:sp>
        <p:nvSpPr>
          <p:cNvPr id="1018" name="Google Shape;1018;p64"/>
          <p:cNvSpPr/>
          <p:nvPr/>
        </p:nvSpPr>
        <p:spPr>
          <a:xfrm>
            <a:off x="457200" y="548640"/>
            <a:ext cx="73152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DM Sans"/>
              <a:buNone/>
            </a:pPr>
            <a:r>
              <a:rPr b="0" i="0" lang="en" sz="1100" u="none" cap="none" strike="noStrike">
                <a:solidFill>
                  <a:srgbClr val="595959"/>
                </a:solidFill>
                <a:latin typeface="Calibri"/>
                <a:ea typeface="Calibri"/>
                <a:cs typeface="Calibri"/>
                <a:sym typeface="Calibri"/>
              </a:rPr>
              <a:t>Current vulnerability scanner tuning and data security scanning coverage.</a:t>
            </a:r>
            <a:endParaRPr b="0" i="0" sz="1100" u="none" cap="none" strike="noStrike">
              <a:solidFill>
                <a:srgbClr val="595959"/>
              </a:solidFill>
              <a:latin typeface="Calibri"/>
              <a:ea typeface="Calibri"/>
              <a:cs typeface="Calibri"/>
              <a:sym typeface="Calibri"/>
            </a:endParaRPr>
          </a:p>
        </p:txBody>
      </p:sp>
      <p:sp>
        <p:nvSpPr>
          <p:cNvPr id="1019" name="Google Shape;1019;p64"/>
          <p:cNvSpPr/>
          <p:nvPr/>
        </p:nvSpPr>
        <p:spPr>
          <a:xfrm>
            <a:off x="239233" y="868680"/>
            <a:ext cx="4224479" cy="274200"/>
          </a:xfrm>
          <a:prstGeom prst="rect">
            <a:avLst/>
          </a:prstGeom>
          <a:solidFill>
            <a:srgbClr val="EFE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020" name="Google Shape;1020;p64"/>
          <p:cNvSpPr/>
          <p:nvPr/>
        </p:nvSpPr>
        <p:spPr>
          <a:xfrm>
            <a:off x="243492" y="868680"/>
            <a:ext cx="93336" cy="274200"/>
          </a:xfrm>
          <a:prstGeom prst="rect">
            <a:avLst/>
          </a:prstGeom>
          <a:solidFill>
            <a:srgbClr val="D9770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021" name="Google Shape;1021;p64"/>
          <p:cNvSpPr/>
          <p:nvPr/>
        </p:nvSpPr>
        <p:spPr>
          <a:xfrm>
            <a:off x="502920" y="847856"/>
            <a:ext cx="3794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1000"/>
              <a:buFont typeface="DM Sans"/>
              <a:buNone/>
            </a:pPr>
            <a:r>
              <a:rPr b="1" i="0" lang="en" sz="1100" u="sng" cap="none" strike="noStrike">
                <a:solidFill>
                  <a:schemeClr val="hlink"/>
                </a:solidFill>
                <a:latin typeface="Calibri"/>
                <a:ea typeface="Calibri"/>
                <a:cs typeface="Calibri"/>
                <a:sym typeface="Calibri"/>
                <a:hlinkClick r:id="rId4"/>
              </a:rPr>
              <a:t>VULNERABILITY SCANNER</a:t>
            </a:r>
            <a:r>
              <a:rPr b="0" i="0" lang="en" sz="1100" u="none" cap="none" strike="noStrike">
                <a:solidFill>
                  <a:srgbClr val="D97706"/>
                </a:solidFill>
                <a:latin typeface="Calibri"/>
                <a:ea typeface="Calibri"/>
                <a:cs typeface="Calibri"/>
                <a:sym typeface="Calibri"/>
              </a:rPr>
              <a:t> </a:t>
            </a:r>
            <a:r>
              <a:rPr b="0" i="0" lang="en" sz="1300" u="none" cap="none" strike="noStrike">
                <a:solidFill>
                  <a:schemeClr val="hlink"/>
                </a:solidFill>
                <a:uFill>
                  <a:noFill/>
                </a:uFill>
                <a:latin typeface="Calibri"/>
                <a:ea typeface="Calibri"/>
                <a:cs typeface="Calibri"/>
                <a:sym typeface="Calibri"/>
                <a:hlinkClick r:id="rId5"/>
              </a:rPr>
              <a:t>↗</a:t>
            </a:r>
            <a:endParaRPr b="0" i="0" sz="900" u="none" cap="none" strike="noStrike">
              <a:solidFill>
                <a:srgbClr val="D97706"/>
              </a:solidFill>
              <a:latin typeface="Calibri"/>
              <a:ea typeface="Calibri"/>
              <a:cs typeface="Calibri"/>
              <a:sym typeface="Calibri"/>
            </a:endParaRPr>
          </a:p>
        </p:txBody>
      </p:sp>
      <p:sp>
        <p:nvSpPr>
          <p:cNvPr id="1022" name="Google Shape;1022;p64"/>
          <p:cNvSpPr/>
          <p:nvPr/>
        </p:nvSpPr>
        <p:spPr>
          <a:xfrm>
            <a:off x="371458" y="1191602"/>
            <a:ext cx="3977700" cy="240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023" name="Google Shape;1023;p64"/>
          <p:cNvSpPr/>
          <p:nvPr/>
        </p:nvSpPr>
        <p:spPr>
          <a:xfrm>
            <a:off x="371454" y="1180568"/>
            <a:ext cx="1988700" cy="24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Setting</a:t>
            </a:r>
            <a:endParaRPr b="0" i="0" sz="1000" u="none" cap="none" strike="noStrike">
              <a:solidFill>
                <a:schemeClr val="dk1"/>
              </a:solidFill>
              <a:latin typeface="Calibri"/>
              <a:ea typeface="Calibri"/>
              <a:cs typeface="Calibri"/>
              <a:sym typeface="Calibri"/>
            </a:endParaRPr>
          </a:p>
        </p:txBody>
      </p:sp>
      <p:sp>
        <p:nvSpPr>
          <p:cNvPr id="1024" name="Google Shape;1024;p64"/>
          <p:cNvSpPr/>
          <p:nvPr/>
        </p:nvSpPr>
        <p:spPr>
          <a:xfrm>
            <a:off x="2537260" y="1191602"/>
            <a:ext cx="875100" cy="24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Status</a:t>
            </a:r>
            <a:endParaRPr b="0" i="0" sz="1000" u="none" cap="none" strike="noStrike">
              <a:solidFill>
                <a:schemeClr val="dk1"/>
              </a:solidFill>
              <a:latin typeface="Calibri"/>
              <a:ea typeface="Calibri"/>
              <a:cs typeface="Calibri"/>
              <a:sym typeface="Calibri"/>
            </a:endParaRPr>
          </a:p>
        </p:txBody>
      </p:sp>
      <p:sp>
        <p:nvSpPr>
          <p:cNvPr id="1025" name="Google Shape;1025;p64"/>
          <p:cNvSpPr/>
          <p:nvPr/>
        </p:nvSpPr>
        <p:spPr>
          <a:xfrm>
            <a:off x="3429612" y="1186270"/>
            <a:ext cx="1034100" cy="24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Recommended</a:t>
            </a:r>
            <a:endParaRPr b="0" i="0" sz="1000" u="none" cap="none" strike="noStrike">
              <a:solidFill>
                <a:schemeClr val="dk1"/>
              </a:solidFill>
              <a:latin typeface="Calibri"/>
              <a:ea typeface="Calibri"/>
              <a:cs typeface="Calibri"/>
              <a:sym typeface="Calibri"/>
            </a:endParaRPr>
          </a:p>
        </p:txBody>
      </p:sp>
      <p:sp>
        <p:nvSpPr>
          <p:cNvPr id="1026" name="Google Shape;1026;p64"/>
          <p:cNvSpPr/>
          <p:nvPr/>
        </p:nvSpPr>
        <p:spPr>
          <a:xfrm>
            <a:off x="371449" y="1431983"/>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27" name="Google Shape;1027;p64"/>
          <p:cNvCxnSpPr/>
          <p:nvPr/>
        </p:nvCxnSpPr>
        <p:spPr>
          <a:xfrm>
            <a:off x="371449" y="1678076"/>
            <a:ext cx="3977700" cy="0"/>
          </a:xfrm>
          <a:prstGeom prst="straightConnector1">
            <a:avLst/>
          </a:prstGeom>
          <a:noFill/>
          <a:ln cap="flat" cmpd="sng" w="9525">
            <a:solidFill>
              <a:srgbClr val="E5E7EB"/>
            </a:solidFill>
            <a:prstDash val="solid"/>
            <a:round/>
            <a:headEnd len="sm" w="sm" type="none"/>
            <a:tailEnd len="sm" w="sm" type="none"/>
          </a:ln>
        </p:spPr>
      </p:cxnSp>
      <p:sp>
        <p:nvSpPr>
          <p:cNvPr id="1028" name="Google Shape;1028;p64"/>
          <p:cNvSpPr/>
          <p:nvPr/>
        </p:nvSpPr>
        <p:spPr>
          <a:xfrm>
            <a:off x="371445" y="1431975"/>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OS-Package Managed Code Libraries</a:t>
            </a:r>
            <a:endParaRPr b="0" i="0" sz="800" u="none" cap="none" strike="noStrike">
              <a:solidFill>
                <a:schemeClr val="dk1"/>
              </a:solidFill>
              <a:latin typeface="Calibri"/>
              <a:ea typeface="Calibri"/>
              <a:cs typeface="Calibri"/>
              <a:sym typeface="Calibri"/>
            </a:endParaRPr>
          </a:p>
        </p:txBody>
      </p:sp>
      <p:sp>
        <p:nvSpPr>
          <p:cNvPr id="1029" name="Google Shape;1029;p64"/>
          <p:cNvSpPr/>
          <p:nvPr/>
        </p:nvSpPr>
        <p:spPr>
          <a:xfrm>
            <a:off x="2569586" y="1431983"/>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{{VS_OSPKG}}</a:t>
            </a:r>
            <a:endParaRPr b="0" i="0" sz="700" u="none" cap="none" strike="noStrike">
              <a:solidFill>
                <a:schemeClr val="dk1"/>
              </a:solidFill>
              <a:latin typeface="Calibri"/>
              <a:ea typeface="Calibri"/>
              <a:cs typeface="Calibri"/>
              <a:sym typeface="Calibri"/>
            </a:endParaRPr>
          </a:p>
        </p:txBody>
      </p:sp>
      <p:sp>
        <p:nvSpPr>
          <p:cNvPr id="1030" name="Google Shape;1030;p64"/>
          <p:cNvSpPr/>
          <p:nvPr/>
        </p:nvSpPr>
        <p:spPr>
          <a:xfrm>
            <a:off x="371449" y="1678076"/>
            <a:ext cx="3977700" cy="246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31" name="Google Shape;1031;p64"/>
          <p:cNvCxnSpPr/>
          <p:nvPr/>
        </p:nvCxnSpPr>
        <p:spPr>
          <a:xfrm>
            <a:off x="355736" y="1916264"/>
            <a:ext cx="3977700" cy="0"/>
          </a:xfrm>
          <a:prstGeom prst="straightConnector1">
            <a:avLst/>
          </a:prstGeom>
          <a:noFill/>
          <a:ln cap="flat" cmpd="sng" w="9525">
            <a:solidFill>
              <a:srgbClr val="888888"/>
            </a:solidFill>
            <a:prstDash val="solid"/>
            <a:round/>
            <a:headEnd len="sm" w="sm" type="none"/>
            <a:tailEnd len="sm" w="sm" type="none"/>
          </a:ln>
        </p:spPr>
      </p:cxnSp>
      <p:sp>
        <p:nvSpPr>
          <p:cNvPr id="1032" name="Google Shape;1032;p64"/>
          <p:cNvSpPr/>
          <p:nvPr/>
        </p:nvSpPr>
        <p:spPr>
          <a:xfrm>
            <a:off x="371445" y="1678069"/>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Windows App Bundled Libraries</a:t>
            </a:r>
            <a:endParaRPr b="0" i="0" sz="800" u="none" cap="none" strike="noStrike">
              <a:solidFill>
                <a:schemeClr val="dk1"/>
              </a:solidFill>
              <a:latin typeface="Calibri"/>
              <a:ea typeface="Calibri"/>
              <a:cs typeface="Calibri"/>
              <a:sym typeface="Calibri"/>
            </a:endParaRPr>
          </a:p>
        </p:txBody>
      </p:sp>
      <p:sp>
        <p:nvSpPr>
          <p:cNvPr id="1033" name="Google Shape;1033;p64"/>
          <p:cNvSpPr/>
          <p:nvPr/>
        </p:nvSpPr>
        <p:spPr>
          <a:xfrm>
            <a:off x="2569586" y="1678076"/>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{{VS_WINB}}</a:t>
            </a:r>
            <a:endParaRPr b="0" i="0" sz="700" u="none" cap="none" strike="noStrike">
              <a:solidFill>
                <a:schemeClr val="dk1"/>
              </a:solidFill>
              <a:latin typeface="Calibri"/>
              <a:ea typeface="Calibri"/>
              <a:cs typeface="Calibri"/>
              <a:sym typeface="Calibri"/>
            </a:endParaRPr>
          </a:p>
        </p:txBody>
      </p:sp>
      <p:sp>
        <p:nvSpPr>
          <p:cNvPr id="1034" name="Google Shape;1034;p64"/>
          <p:cNvSpPr/>
          <p:nvPr/>
        </p:nvSpPr>
        <p:spPr>
          <a:xfrm>
            <a:off x="371449" y="1924169"/>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35" name="Google Shape;1035;p64"/>
          <p:cNvCxnSpPr/>
          <p:nvPr/>
        </p:nvCxnSpPr>
        <p:spPr>
          <a:xfrm>
            <a:off x="371449" y="2170262"/>
            <a:ext cx="3977700" cy="0"/>
          </a:xfrm>
          <a:prstGeom prst="straightConnector1">
            <a:avLst/>
          </a:prstGeom>
          <a:noFill/>
          <a:ln cap="flat" cmpd="sng" w="9525">
            <a:solidFill>
              <a:srgbClr val="E5E7EB"/>
            </a:solidFill>
            <a:prstDash val="solid"/>
            <a:round/>
            <a:headEnd len="sm" w="sm" type="none"/>
            <a:tailEnd len="sm" w="sm" type="none"/>
          </a:ln>
        </p:spPr>
      </p:cxnSp>
      <p:sp>
        <p:nvSpPr>
          <p:cNvPr id="1036" name="Google Shape;1036;p64"/>
          <p:cNvSpPr/>
          <p:nvPr/>
        </p:nvSpPr>
        <p:spPr>
          <a:xfrm>
            <a:off x="371445" y="1924162"/>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Go Standard Library</a:t>
            </a:r>
            <a:endParaRPr b="0" i="0" sz="800" u="none" cap="none" strike="noStrike">
              <a:solidFill>
                <a:schemeClr val="dk1"/>
              </a:solidFill>
              <a:latin typeface="Calibri"/>
              <a:ea typeface="Calibri"/>
              <a:cs typeface="Calibri"/>
              <a:sym typeface="Calibri"/>
            </a:endParaRPr>
          </a:p>
        </p:txBody>
      </p:sp>
      <p:sp>
        <p:nvSpPr>
          <p:cNvPr id="1037" name="Google Shape;1037;p64"/>
          <p:cNvSpPr/>
          <p:nvPr/>
        </p:nvSpPr>
        <p:spPr>
          <a:xfrm>
            <a:off x="2569586" y="1924169"/>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{{VS_GOSTD}}</a:t>
            </a:r>
            <a:endParaRPr b="0" i="0" sz="700" u="none" cap="none" strike="noStrike">
              <a:solidFill>
                <a:schemeClr val="dk1"/>
              </a:solidFill>
              <a:latin typeface="Calibri"/>
              <a:ea typeface="Calibri"/>
              <a:cs typeface="Calibri"/>
              <a:sym typeface="Calibri"/>
            </a:endParaRPr>
          </a:p>
        </p:txBody>
      </p:sp>
      <p:sp>
        <p:nvSpPr>
          <p:cNvPr id="1038" name="Google Shape;1038;p64"/>
          <p:cNvSpPr/>
          <p:nvPr/>
        </p:nvSpPr>
        <p:spPr>
          <a:xfrm>
            <a:off x="371449" y="2170262"/>
            <a:ext cx="3977700" cy="246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39" name="Google Shape;1039;p64"/>
          <p:cNvCxnSpPr/>
          <p:nvPr/>
        </p:nvCxnSpPr>
        <p:spPr>
          <a:xfrm>
            <a:off x="358777" y="2406445"/>
            <a:ext cx="3977700" cy="0"/>
          </a:xfrm>
          <a:prstGeom prst="straightConnector1">
            <a:avLst/>
          </a:prstGeom>
          <a:noFill/>
          <a:ln cap="flat" cmpd="sng" w="9525">
            <a:solidFill>
              <a:srgbClr val="888888"/>
            </a:solidFill>
            <a:prstDash val="solid"/>
            <a:round/>
            <a:headEnd len="sm" w="sm" type="none"/>
            <a:tailEnd len="sm" w="sm" type="none"/>
          </a:ln>
        </p:spPr>
      </p:cxnSp>
      <p:sp>
        <p:nvSpPr>
          <p:cNvPr id="1040" name="Google Shape;1040;p64"/>
          <p:cNvSpPr/>
          <p:nvPr/>
        </p:nvSpPr>
        <p:spPr>
          <a:xfrm>
            <a:off x="371445" y="2170256"/>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Code Library Exclusion Paths (Legacy)</a:t>
            </a:r>
            <a:endParaRPr b="0" i="0" sz="800" u="none" cap="none" strike="noStrike">
              <a:solidFill>
                <a:schemeClr val="dk1"/>
              </a:solidFill>
              <a:latin typeface="Calibri"/>
              <a:ea typeface="Calibri"/>
              <a:cs typeface="Calibri"/>
              <a:sym typeface="Calibri"/>
            </a:endParaRPr>
          </a:p>
        </p:txBody>
      </p:sp>
      <p:sp>
        <p:nvSpPr>
          <p:cNvPr id="1041" name="Google Shape;1041;p64"/>
          <p:cNvSpPr/>
          <p:nvPr/>
        </p:nvSpPr>
        <p:spPr>
          <a:xfrm>
            <a:off x="2569586" y="2170262"/>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{{VS_EXCL}}</a:t>
            </a:r>
            <a:endParaRPr b="0" i="0" sz="700" u="none" cap="none" strike="noStrike">
              <a:solidFill>
                <a:schemeClr val="dk1"/>
              </a:solidFill>
              <a:latin typeface="Calibri"/>
              <a:ea typeface="Calibri"/>
              <a:cs typeface="Calibri"/>
              <a:sym typeface="Calibri"/>
            </a:endParaRPr>
          </a:p>
        </p:txBody>
      </p:sp>
      <p:sp>
        <p:nvSpPr>
          <p:cNvPr id="1042" name="Google Shape;1042;p64"/>
          <p:cNvSpPr/>
          <p:nvPr/>
        </p:nvSpPr>
        <p:spPr>
          <a:xfrm>
            <a:off x="371449" y="2416355"/>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43" name="Google Shape;1043;p64"/>
          <p:cNvCxnSpPr/>
          <p:nvPr/>
        </p:nvCxnSpPr>
        <p:spPr>
          <a:xfrm>
            <a:off x="361818" y="2665905"/>
            <a:ext cx="3977700" cy="0"/>
          </a:xfrm>
          <a:prstGeom prst="straightConnector1">
            <a:avLst/>
          </a:prstGeom>
          <a:noFill/>
          <a:ln cap="flat" cmpd="sng" w="9525">
            <a:solidFill>
              <a:srgbClr val="E5E7EB"/>
            </a:solidFill>
            <a:prstDash val="solid"/>
            <a:round/>
            <a:headEnd len="sm" w="sm" type="none"/>
            <a:tailEnd len="sm" w="sm" type="none"/>
          </a:ln>
        </p:spPr>
      </p:cxnSp>
      <p:sp>
        <p:nvSpPr>
          <p:cNvPr id="1044" name="Google Shape;1044;p64"/>
          <p:cNvSpPr/>
          <p:nvPr/>
        </p:nvSpPr>
        <p:spPr>
          <a:xfrm>
            <a:off x="371445" y="2416350"/>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Ignore Red Hat OpenShift Vulns</a:t>
            </a:r>
            <a:endParaRPr b="0" i="0" sz="800" u="none" cap="none" strike="noStrike">
              <a:solidFill>
                <a:schemeClr val="dk1"/>
              </a:solidFill>
              <a:latin typeface="Calibri"/>
              <a:ea typeface="Calibri"/>
              <a:cs typeface="Calibri"/>
              <a:sym typeface="Calibri"/>
            </a:endParaRPr>
          </a:p>
        </p:txBody>
      </p:sp>
      <p:sp>
        <p:nvSpPr>
          <p:cNvPr id="1045" name="Google Shape;1045;p64"/>
          <p:cNvSpPr/>
          <p:nvPr/>
        </p:nvSpPr>
        <p:spPr>
          <a:xfrm>
            <a:off x="2569586" y="2416355"/>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{{VS_RHOS}}</a:t>
            </a:r>
            <a:endParaRPr b="0" i="0" sz="700" u="none" cap="none" strike="noStrike">
              <a:solidFill>
                <a:schemeClr val="dk1"/>
              </a:solidFill>
              <a:latin typeface="Calibri"/>
              <a:ea typeface="Calibri"/>
              <a:cs typeface="Calibri"/>
              <a:sym typeface="Calibri"/>
            </a:endParaRPr>
          </a:p>
        </p:txBody>
      </p:sp>
      <p:sp>
        <p:nvSpPr>
          <p:cNvPr id="1046" name="Google Shape;1046;p64"/>
          <p:cNvSpPr/>
          <p:nvPr/>
        </p:nvSpPr>
        <p:spPr>
          <a:xfrm>
            <a:off x="371449" y="2662448"/>
            <a:ext cx="3977700" cy="246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47" name="Google Shape;1047;p64"/>
          <p:cNvCxnSpPr/>
          <p:nvPr/>
        </p:nvCxnSpPr>
        <p:spPr>
          <a:xfrm>
            <a:off x="364860" y="2898661"/>
            <a:ext cx="3977700" cy="0"/>
          </a:xfrm>
          <a:prstGeom prst="straightConnector1">
            <a:avLst/>
          </a:prstGeom>
          <a:noFill/>
          <a:ln cap="flat" cmpd="sng" w="9525">
            <a:solidFill>
              <a:srgbClr val="888888"/>
            </a:solidFill>
            <a:prstDash val="solid"/>
            <a:round/>
            <a:headEnd len="sm" w="sm" type="none"/>
            <a:tailEnd len="sm" w="sm" type="none"/>
          </a:ln>
        </p:spPr>
      </p:cxnSp>
      <p:sp>
        <p:nvSpPr>
          <p:cNvPr id="1048" name="Google Shape;1048;p64"/>
          <p:cNvSpPr/>
          <p:nvPr/>
        </p:nvSpPr>
        <p:spPr>
          <a:xfrm>
            <a:off x="371445" y="2662444"/>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Manifest Files</a:t>
            </a:r>
            <a:endParaRPr b="0" i="0" sz="800" u="none" cap="none" strike="noStrike">
              <a:solidFill>
                <a:schemeClr val="dk1"/>
              </a:solidFill>
              <a:latin typeface="Calibri"/>
              <a:ea typeface="Calibri"/>
              <a:cs typeface="Calibri"/>
              <a:sym typeface="Calibri"/>
            </a:endParaRPr>
          </a:p>
        </p:txBody>
      </p:sp>
      <p:sp>
        <p:nvSpPr>
          <p:cNvPr id="1049" name="Google Shape;1049;p64"/>
          <p:cNvSpPr/>
          <p:nvPr/>
        </p:nvSpPr>
        <p:spPr>
          <a:xfrm>
            <a:off x="2569586" y="2662448"/>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{{VS_MANIF}}</a:t>
            </a:r>
            <a:endParaRPr b="0" i="0" sz="700" u="none" cap="none" strike="noStrike">
              <a:solidFill>
                <a:schemeClr val="dk1"/>
              </a:solidFill>
              <a:latin typeface="Calibri"/>
              <a:ea typeface="Calibri"/>
              <a:cs typeface="Calibri"/>
              <a:sym typeface="Calibri"/>
            </a:endParaRPr>
          </a:p>
        </p:txBody>
      </p:sp>
      <p:sp>
        <p:nvSpPr>
          <p:cNvPr id="1050" name="Google Shape;1050;p64"/>
          <p:cNvSpPr/>
          <p:nvPr/>
        </p:nvSpPr>
        <p:spPr>
          <a:xfrm>
            <a:off x="3395224" y="2698429"/>
            <a:ext cx="956400" cy="185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500"/>
              <a:buFont typeface="JetBrains Mono"/>
              <a:buNone/>
            </a:pPr>
            <a:r>
              <a:rPr b="0" i="0" lang="en" sz="800" u="none" cap="none" strike="noStrike">
                <a:solidFill>
                  <a:srgbClr val="595959"/>
                </a:solidFill>
                <a:latin typeface="Calibri"/>
                <a:ea typeface="Calibri"/>
                <a:cs typeface="Calibri"/>
                <a:sym typeface="Calibri"/>
              </a:rPr>
              <a:t>{{VS_MANIF_R}}</a:t>
            </a:r>
            <a:endParaRPr b="0" i="0" sz="800" u="none" cap="none" strike="noStrike">
              <a:solidFill>
                <a:srgbClr val="595959"/>
              </a:solidFill>
              <a:latin typeface="Calibri"/>
              <a:ea typeface="Calibri"/>
              <a:cs typeface="Calibri"/>
              <a:sym typeface="Calibri"/>
            </a:endParaRPr>
          </a:p>
        </p:txBody>
      </p:sp>
      <p:sp>
        <p:nvSpPr>
          <p:cNvPr id="1051" name="Google Shape;1051;p64"/>
          <p:cNvSpPr/>
          <p:nvPr/>
        </p:nvSpPr>
        <p:spPr>
          <a:xfrm>
            <a:off x="371449" y="2908541"/>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52" name="Google Shape;1052;p64"/>
          <p:cNvCxnSpPr/>
          <p:nvPr/>
        </p:nvCxnSpPr>
        <p:spPr>
          <a:xfrm>
            <a:off x="367901" y="3157103"/>
            <a:ext cx="3977700" cy="0"/>
          </a:xfrm>
          <a:prstGeom prst="straightConnector1">
            <a:avLst/>
          </a:prstGeom>
          <a:noFill/>
          <a:ln cap="flat" cmpd="sng" w="9525">
            <a:solidFill>
              <a:srgbClr val="E5E7EB"/>
            </a:solidFill>
            <a:prstDash val="solid"/>
            <a:round/>
            <a:headEnd len="sm" w="sm" type="none"/>
            <a:tailEnd len="sm" w="sm" type="none"/>
          </a:ln>
        </p:spPr>
      </p:cxnSp>
      <p:sp>
        <p:nvSpPr>
          <p:cNvPr id="1053" name="Google Shape;1053;p64"/>
          <p:cNvSpPr/>
          <p:nvPr/>
        </p:nvSpPr>
        <p:spPr>
          <a:xfrm>
            <a:off x="371445" y="2908538"/>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Lock Files</a:t>
            </a:r>
            <a:endParaRPr b="0" i="0" sz="800" u="none" cap="none" strike="noStrike">
              <a:solidFill>
                <a:schemeClr val="dk1"/>
              </a:solidFill>
              <a:latin typeface="Calibri"/>
              <a:ea typeface="Calibri"/>
              <a:cs typeface="Calibri"/>
              <a:sym typeface="Calibri"/>
            </a:endParaRPr>
          </a:p>
        </p:txBody>
      </p:sp>
      <p:sp>
        <p:nvSpPr>
          <p:cNvPr id="1054" name="Google Shape;1054;p64"/>
          <p:cNvSpPr/>
          <p:nvPr/>
        </p:nvSpPr>
        <p:spPr>
          <a:xfrm>
            <a:off x="2569586" y="2908541"/>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{{VS_LOCK}}</a:t>
            </a:r>
            <a:endParaRPr b="0" i="0" sz="700" u="none" cap="none" strike="noStrike">
              <a:solidFill>
                <a:schemeClr val="dk1"/>
              </a:solidFill>
              <a:latin typeface="Calibri"/>
              <a:ea typeface="Calibri"/>
              <a:cs typeface="Calibri"/>
              <a:sym typeface="Calibri"/>
            </a:endParaRPr>
          </a:p>
        </p:txBody>
      </p:sp>
      <p:sp>
        <p:nvSpPr>
          <p:cNvPr id="1055" name="Google Shape;1055;p64"/>
          <p:cNvSpPr/>
          <p:nvPr/>
        </p:nvSpPr>
        <p:spPr>
          <a:xfrm>
            <a:off x="3395224" y="2947594"/>
            <a:ext cx="956400" cy="185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500"/>
              <a:buFont typeface="JetBrains Mono"/>
              <a:buNone/>
            </a:pPr>
            <a:r>
              <a:rPr b="0" i="0" lang="en" sz="800" u="none" cap="none" strike="noStrike">
                <a:solidFill>
                  <a:srgbClr val="595959"/>
                </a:solidFill>
                <a:latin typeface="Calibri"/>
                <a:ea typeface="Calibri"/>
                <a:cs typeface="Calibri"/>
                <a:sym typeface="Calibri"/>
              </a:rPr>
              <a:t>{{VS_LOCK_R}}</a:t>
            </a:r>
            <a:endParaRPr b="0" i="0" sz="800" u="none" cap="none" strike="noStrike">
              <a:solidFill>
                <a:srgbClr val="595959"/>
              </a:solidFill>
              <a:latin typeface="Calibri"/>
              <a:ea typeface="Calibri"/>
              <a:cs typeface="Calibri"/>
              <a:sym typeface="Calibri"/>
            </a:endParaRPr>
          </a:p>
        </p:txBody>
      </p:sp>
      <p:sp>
        <p:nvSpPr>
          <p:cNvPr id="1056" name="Google Shape;1056;p64"/>
          <p:cNvSpPr/>
          <p:nvPr/>
        </p:nvSpPr>
        <p:spPr>
          <a:xfrm>
            <a:off x="371449" y="3154634"/>
            <a:ext cx="3977700" cy="246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57" name="Google Shape;1057;p64"/>
          <p:cNvCxnSpPr/>
          <p:nvPr/>
        </p:nvCxnSpPr>
        <p:spPr>
          <a:xfrm>
            <a:off x="370942" y="3389859"/>
            <a:ext cx="3977700" cy="0"/>
          </a:xfrm>
          <a:prstGeom prst="straightConnector1">
            <a:avLst/>
          </a:prstGeom>
          <a:noFill/>
          <a:ln cap="flat" cmpd="sng" w="9525">
            <a:solidFill>
              <a:srgbClr val="888888"/>
            </a:solidFill>
            <a:prstDash val="solid"/>
            <a:round/>
            <a:headEnd len="sm" w="sm" type="none"/>
            <a:tailEnd len="sm" w="sm" type="none"/>
          </a:ln>
        </p:spPr>
      </p:cxnSp>
      <p:sp>
        <p:nvSpPr>
          <p:cNvPr id="1058" name="Google Shape;1058;p64"/>
          <p:cNvSpPr/>
          <p:nvPr/>
        </p:nvSpPr>
        <p:spPr>
          <a:xfrm>
            <a:off x="371445" y="3154632"/>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Artifacts</a:t>
            </a:r>
            <a:endParaRPr b="0" i="0" sz="800" u="none" cap="none" strike="noStrike">
              <a:solidFill>
                <a:schemeClr val="dk1"/>
              </a:solidFill>
              <a:latin typeface="Calibri"/>
              <a:ea typeface="Calibri"/>
              <a:cs typeface="Calibri"/>
              <a:sym typeface="Calibri"/>
            </a:endParaRPr>
          </a:p>
        </p:txBody>
      </p:sp>
      <p:sp>
        <p:nvSpPr>
          <p:cNvPr id="1059" name="Google Shape;1059;p64"/>
          <p:cNvSpPr/>
          <p:nvPr/>
        </p:nvSpPr>
        <p:spPr>
          <a:xfrm>
            <a:off x="2569586" y="3154634"/>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{{VS_ARTIF}}</a:t>
            </a:r>
            <a:endParaRPr b="0" i="0" sz="700" u="none" cap="none" strike="noStrike">
              <a:solidFill>
                <a:schemeClr val="dk1"/>
              </a:solidFill>
              <a:latin typeface="Calibri"/>
              <a:ea typeface="Calibri"/>
              <a:cs typeface="Calibri"/>
              <a:sym typeface="Calibri"/>
            </a:endParaRPr>
          </a:p>
        </p:txBody>
      </p:sp>
      <p:sp>
        <p:nvSpPr>
          <p:cNvPr id="1060" name="Google Shape;1060;p64"/>
          <p:cNvSpPr/>
          <p:nvPr/>
        </p:nvSpPr>
        <p:spPr>
          <a:xfrm>
            <a:off x="3395224" y="3196759"/>
            <a:ext cx="956400" cy="185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500"/>
              <a:buFont typeface="JetBrains Mono"/>
              <a:buNone/>
            </a:pPr>
            <a:r>
              <a:rPr b="0" i="0" lang="en" sz="800" u="none" cap="none" strike="noStrike">
                <a:solidFill>
                  <a:srgbClr val="595959"/>
                </a:solidFill>
                <a:latin typeface="Calibri"/>
                <a:ea typeface="Calibri"/>
                <a:cs typeface="Calibri"/>
                <a:sym typeface="Calibri"/>
              </a:rPr>
              <a:t>{{VS_ARTIF_R}}</a:t>
            </a:r>
            <a:endParaRPr b="0" i="0" sz="800" u="none" cap="none" strike="noStrike">
              <a:solidFill>
                <a:srgbClr val="595959"/>
              </a:solidFill>
              <a:latin typeface="Calibri"/>
              <a:ea typeface="Calibri"/>
              <a:cs typeface="Calibri"/>
              <a:sym typeface="Calibri"/>
            </a:endParaRPr>
          </a:p>
        </p:txBody>
      </p:sp>
      <p:sp>
        <p:nvSpPr>
          <p:cNvPr id="1061" name="Google Shape;1061;p64"/>
          <p:cNvSpPr/>
          <p:nvPr/>
        </p:nvSpPr>
        <p:spPr>
          <a:xfrm>
            <a:off x="371449" y="3400727"/>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62" name="Google Shape;1062;p64"/>
          <p:cNvCxnSpPr/>
          <p:nvPr/>
        </p:nvCxnSpPr>
        <p:spPr>
          <a:xfrm>
            <a:off x="371449" y="3646820"/>
            <a:ext cx="3977700" cy="0"/>
          </a:xfrm>
          <a:prstGeom prst="straightConnector1">
            <a:avLst/>
          </a:prstGeom>
          <a:noFill/>
          <a:ln cap="flat" cmpd="sng" w="9525">
            <a:solidFill>
              <a:srgbClr val="E5E7EB"/>
            </a:solidFill>
            <a:prstDash val="solid"/>
            <a:round/>
            <a:headEnd len="sm" w="sm" type="none"/>
            <a:tailEnd len="sm" w="sm" type="none"/>
          </a:ln>
        </p:spPr>
      </p:cxnSp>
      <p:sp>
        <p:nvSpPr>
          <p:cNvPr id="1063" name="Google Shape;1063;p64"/>
          <p:cNvSpPr/>
          <p:nvPr/>
        </p:nvSpPr>
        <p:spPr>
          <a:xfrm>
            <a:off x="371445" y="3400726"/>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Dependency Scopes: Maven</a:t>
            </a:r>
            <a:endParaRPr b="0" i="0" sz="800" u="none" cap="none" strike="noStrike">
              <a:solidFill>
                <a:schemeClr val="dk1"/>
              </a:solidFill>
              <a:latin typeface="Calibri"/>
              <a:ea typeface="Calibri"/>
              <a:cs typeface="Calibri"/>
              <a:sym typeface="Calibri"/>
            </a:endParaRPr>
          </a:p>
        </p:txBody>
      </p:sp>
      <p:sp>
        <p:nvSpPr>
          <p:cNvPr id="1064" name="Google Shape;1064;p64"/>
          <p:cNvSpPr/>
          <p:nvPr/>
        </p:nvSpPr>
        <p:spPr>
          <a:xfrm>
            <a:off x="2569586" y="3400727"/>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{{VS_MAVEN}}</a:t>
            </a:r>
            <a:endParaRPr b="0" i="0" sz="700" u="none" cap="none" strike="noStrike">
              <a:solidFill>
                <a:schemeClr val="dk1"/>
              </a:solidFill>
              <a:latin typeface="Calibri"/>
              <a:ea typeface="Calibri"/>
              <a:cs typeface="Calibri"/>
              <a:sym typeface="Calibri"/>
            </a:endParaRPr>
          </a:p>
        </p:txBody>
      </p:sp>
      <p:sp>
        <p:nvSpPr>
          <p:cNvPr id="1065" name="Google Shape;1065;p64"/>
          <p:cNvSpPr/>
          <p:nvPr/>
        </p:nvSpPr>
        <p:spPr>
          <a:xfrm>
            <a:off x="371449" y="3646820"/>
            <a:ext cx="3977700" cy="246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66" name="Google Shape;1066;p64"/>
          <p:cNvCxnSpPr/>
          <p:nvPr/>
        </p:nvCxnSpPr>
        <p:spPr>
          <a:xfrm>
            <a:off x="373984" y="3874636"/>
            <a:ext cx="3977700" cy="0"/>
          </a:xfrm>
          <a:prstGeom prst="straightConnector1">
            <a:avLst/>
          </a:prstGeom>
          <a:noFill/>
          <a:ln cap="flat" cmpd="sng" w="9525">
            <a:solidFill>
              <a:srgbClr val="888888"/>
            </a:solidFill>
            <a:prstDash val="solid"/>
            <a:round/>
            <a:headEnd len="sm" w="sm" type="none"/>
            <a:tailEnd len="sm" w="sm" type="none"/>
          </a:ln>
        </p:spPr>
      </p:cxnSp>
      <p:sp>
        <p:nvSpPr>
          <p:cNvPr id="1067" name="Google Shape;1067;p64"/>
          <p:cNvSpPr/>
          <p:nvPr/>
        </p:nvSpPr>
        <p:spPr>
          <a:xfrm>
            <a:off x="371450" y="3646825"/>
            <a:ext cx="21657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Dependency Scopes: JS (npm/pnpm/Yarn)</a:t>
            </a:r>
            <a:endParaRPr b="0" i="0" sz="800" u="none" cap="none" strike="noStrike">
              <a:solidFill>
                <a:schemeClr val="dk1"/>
              </a:solidFill>
              <a:latin typeface="Calibri"/>
              <a:ea typeface="Calibri"/>
              <a:cs typeface="Calibri"/>
              <a:sym typeface="Calibri"/>
            </a:endParaRPr>
          </a:p>
        </p:txBody>
      </p:sp>
      <p:sp>
        <p:nvSpPr>
          <p:cNvPr id="1068" name="Google Shape;1068;p64"/>
          <p:cNvSpPr/>
          <p:nvPr/>
        </p:nvSpPr>
        <p:spPr>
          <a:xfrm>
            <a:off x="2569586" y="3646820"/>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{{VS_JSDEP}}</a:t>
            </a:r>
            <a:endParaRPr b="0" i="0" sz="700" u="none" cap="none" strike="noStrike">
              <a:solidFill>
                <a:schemeClr val="dk1"/>
              </a:solidFill>
              <a:latin typeface="Calibri"/>
              <a:ea typeface="Calibri"/>
              <a:cs typeface="Calibri"/>
              <a:sym typeface="Calibri"/>
            </a:endParaRPr>
          </a:p>
        </p:txBody>
      </p:sp>
      <p:sp>
        <p:nvSpPr>
          <p:cNvPr id="1069" name="Google Shape;1069;p64"/>
          <p:cNvSpPr/>
          <p:nvPr/>
        </p:nvSpPr>
        <p:spPr>
          <a:xfrm>
            <a:off x="371449" y="3892913"/>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70" name="Google Shape;1070;p64"/>
          <p:cNvCxnSpPr/>
          <p:nvPr/>
        </p:nvCxnSpPr>
        <p:spPr>
          <a:xfrm>
            <a:off x="371449" y="4139007"/>
            <a:ext cx="3977700" cy="0"/>
          </a:xfrm>
          <a:prstGeom prst="straightConnector1">
            <a:avLst/>
          </a:prstGeom>
          <a:noFill/>
          <a:ln cap="flat" cmpd="sng" w="9525">
            <a:solidFill>
              <a:srgbClr val="E5E7EB"/>
            </a:solidFill>
            <a:prstDash val="solid"/>
            <a:round/>
            <a:headEnd len="sm" w="sm" type="none"/>
            <a:tailEnd len="sm" w="sm" type="none"/>
          </a:ln>
        </p:spPr>
      </p:cxnSp>
      <p:sp>
        <p:nvSpPr>
          <p:cNvPr id="1071" name="Google Shape;1071;p64"/>
          <p:cNvSpPr/>
          <p:nvPr/>
        </p:nvSpPr>
        <p:spPr>
          <a:xfrm>
            <a:off x="371445" y="3892914"/>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Dependency Scopes: Gradle</a:t>
            </a:r>
            <a:endParaRPr b="0" i="0" sz="800" u="none" cap="none" strike="noStrike">
              <a:solidFill>
                <a:schemeClr val="dk1"/>
              </a:solidFill>
              <a:latin typeface="Calibri"/>
              <a:ea typeface="Calibri"/>
              <a:cs typeface="Calibri"/>
              <a:sym typeface="Calibri"/>
            </a:endParaRPr>
          </a:p>
        </p:txBody>
      </p:sp>
      <p:sp>
        <p:nvSpPr>
          <p:cNvPr id="1072" name="Google Shape;1072;p64"/>
          <p:cNvSpPr/>
          <p:nvPr/>
        </p:nvSpPr>
        <p:spPr>
          <a:xfrm>
            <a:off x="2569586" y="3892913"/>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{{VS_GRADL}}</a:t>
            </a:r>
            <a:endParaRPr b="0" i="0" sz="700" u="none" cap="none" strike="noStrike">
              <a:solidFill>
                <a:schemeClr val="dk1"/>
              </a:solidFill>
              <a:latin typeface="Calibri"/>
              <a:ea typeface="Calibri"/>
              <a:cs typeface="Calibri"/>
              <a:sym typeface="Calibri"/>
            </a:endParaRPr>
          </a:p>
        </p:txBody>
      </p:sp>
      <p:sp>
        <p:nvSpPr>
          <p:cNvPr id="1073" name="Google Shape;1073;p64"/>
          <p:cNvSpPr/>
          <p:nvPr/>
        </p:nvSpPr>
        <p:spPr>
          <a:xfrm>
            <a:off x="371449" y="4139007"/>
            <a:ext cx="3977700" cy="246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74" name="Google Shape;1074;p64"/>
          <p:cNvCxnSpPr/>
          <p:nvPr/>
        </p:nvCxnSpPr>
        <p:spPr>
          <a:xfrm>
            <a:off x="377025" y="4385100"/>
            <a:ext cx="3977700" cy="0"/>
          </a:xfrm>
          <a:prstGeom prst="straightConnector1">
            <a:avLst/>
          </a:prstGeom>
          <a:noFill/>
          <a:ln cap="flat" cmpd="sng" w="9525">
            <a:solidFill>
              <a:srgbClr val="888888"/>
            </a:solidFill>
            <a:prstDash val="solid"/>
            <a:round/>
            <a:headEnd len="sm" w="sm" type="none"/>
            <a:tailEnd len="sm" w="sm" type="none"/>
          </a:ln>
        </p:spPr>
      </p:cxnSp>
      <p:sp>
        <p:nvSpPr>
          <p:cNvPr id="1075" name="Google Shape;1075;p64"/>
          <p:cNvSpPr/>
          <p:nvPr/>
        </p:nvSpPr>
        <p:spPr>
          <a:xfrm>
            <a:off x="371445" y="4139008"/>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End of Life Detection</a:t>
            </a:r>
            <a:endParaRPr b="0" i="0" sz="800" u="none" cap="none" strike="noStrike">
              <a:solidFill>
                <a:schemeClr val="dk1"/>
              </a:solidFill>
              <a:latin typeface="Calibri"/>
              <a:ea typeface="Calibri"/>
              <a:cs typeface="Calibri"/>
              <a:sym typeface="Calibri"/>
            </a:endParaRPr>
          </a:p>
        </p:txBody>
      </p:sp>
      <p:sp>
        <p:nvSpPr>
          <p:cNvPr id="1076" name="Google Shape;1076;p64"/>
          <p:cNvSpPr/>
          <p:nvPr/>
        </p:nvSpPr>
        <p:spPr>
          <a:xfrm>
            <a:off x="2569586" y="4139007"/>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{{VS_EOL}}</a:t>
            </a:r>
            <a:endParaRPr b="0" i="0" sz="700" u="none" cap="none" strike="noStrike">
              <a:solidFill>
                <a:schemeClr val="dk1"/>
              </a:solidFill>
              <a:latin typeface="Calibri"/>
              <a:ea typeface="Calibri"/>
              <a:cs typeface="Calibri"/>
              <a:sym typeface="Calibri"/>
            </a:endParaRPr>
          </a:p>
        </p:txBody>
      </p:sp>
      <p:sp>
        <p:nvSpPr>
          <p:cNvPr id="1077" name="Google Shape;1077;p64"/>
          <p:cNvSpPr/>
          <p:nvPr/>
        </p:nvSpPr>
        <p:spPr>
          <a:xfrm>
            <a:off x="4671607" y="799572"/>
            <a:ext cx="4224479" cy="274200"/>
          </a:xfrm>
          <a:prstGeom prst="rect">
            <a:avLst/>
          </a:prstGeom>
          <a:solidFill>
            <a:srgbClr val="E6DD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078" name="Google Shape;1078;p64"/>
          <p:cNvSpPr/>
          <p:nvPr/>
        </p:nvSpPr>
        <p:spPr>
          <a:xfrm flipH="1">
            <a:off x="4672397" y="799572"/>
            <a:ext cx="92559" cy="2742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079" name="Google Shape;1079;p64"/>
          <p:cNvSpPr/>
          <p:nvPr/>
        </p:nvSpPr>
        <p:spPr>
          <a:xfrm>
            <a:off x="4937760" y="778748"/>
            <a:ext cx="37947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C3AED"/>
              </a:buClr>
              <a:buSzPts val="1000"/>
              <a:buFont typeface="DM Sans"/>
              <a:buNone/>
            </a:pPr>
            <a:r>
              <a:rPr b="1" i="0" lang="en" sz="1100" u="sng" cap="none" strike="noStrike">
                <a:solidFill>
                  <a:schemeClr val="hlink"/>
                </a:solidFill>
                <a:latin typeface="Calibri"/>
                <a:ea typeface="Calibri"/>
                <a:cs typeface="Calibri"/>
                <a:sym typeface="Calibri"/>
                <a:hlinkClick r:id="rId6"/>
              </a:rPr>
              <a:t>DATA SECURITY SCANNER</a:t>
            </a:r>
            <a:r>
              <a:rPr b="0" i="0" lang="en" sz="1100" u="none" cap="none" strike="noStrike">
                <a:solidFill>
                  <a:srgbClr val="9900FF"/>
                </a:solidFill>
                <a:latin typeface="Calibri"/>
                <a:ea typeface="Calibri"/>
                <a:cs typeface="Calibri"/>
                <a:sym typeface="Calibri"/>
              </a:rPr>
              <a:t> </a:t>
            </a:r>
            <a:r>
              <a:rPr b="0" i="0" lang="en" sz="1300" u="none" cap="none" strike="noStrike">
                <a:solidFill>
                  <a:schemeClr val="hlink"/>
                </a:solidFill>
                <a:uFill>
                  <a:noFill/>
                </a:uFill>
                <a:latin typeface="Calibri"/>
                <a:ea typeface="Calibri"/>
                <a:cs typeface="Calibri"/>
                <a:sym typeface="Calibri"/>
                <a:hlinkClick r:id="rId7"/>
              </a:rPr>
              <a:t>↗</a:t>
            </a:r>
            <a:r>
              <a:rPr b="0" i="0" lang="en" sz="1200" u="none" cap="none" strike="noStrike">
                <a:solidFill>
                  <a:srgbClr val="000000"/>
                </a:solidFill>
                <a:latin typeface="Calibri"/>
                <a:ea typeface="Calibri"/>
                <a:cs typeface="Calibri"/>
                <a:sym typeface="Calibri"/>
              </a:rPr>
              <a:t> </a:t>
            </a:r>
            <a:endParaRPr b="0" i="0" sz="1100" u="none" cap="none" strike="noStrike">
              <a:solidFill>
                <a:srgbClr val="9900FF"/>
              </a:solidFill>
              <a:latin typeface="Calibri"/>
              <a:ea typeface="Calibri"/>
              <a:cs typeface="Calibri"/>
              <a:sym typeface="Calibri"/>
            </a:endParaRPr>
          </a:p>
        </p:txBody>
      </p:sp>
      <p:sp>
        <p:nvSpPr>
          <p:cNvPr id="1080" name="Google Shape;1080;p64"/>
          <p:cNvSpPr/>
          <p:nvPr/>
        </p:nvSpPr>
        <p:spPr>
          <a:xfrm>
            <a:off x="4800600" y="1132096"/>
            <a:ext cx="3977700" cy="2013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081" name="Google Shape;1081;p64"/>
          <p:cNvSpPr/>
          <p:nvPr/>
        </p:nvSpPr>
        <p:spPr>
          <a:xfrm>
            <a:off x="4892040" y="1132096"/>
            <a:ext cx="19887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Setting</a:t>
            </a:r>
            <a:endParaRPr b="0" i="0" sz="1000" u="none" cap="none" strike="noStrike">
              <a:solidFill>
                <a:schemeClr val="dk1"/>
              </a:solidFill>
              <a:latin typeface="Calibri"/>
              <a:ea typeface="Calibri"/>
              <a:cs typeface="Calibri"/>
              <a:sym typeface="Calibri"/>
            </a:endParaRPr>
          </a:p>
        </p:txBody>
      </p:sp>
      <p:sp>
        <p:nvSpPr>
          <p:cNvPr id="1082" name="Google Shape;1082;p64"/>
          <p:cNvSpPr/>
          <p:nvPr/>
        </p:nvSpPr>
        <p:spPr>
          <a:xfrm>
            <a:off x="6916585" y="1132096"/>
            <a:ext cx="8751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Status</a:t>
            </a:r>
            <a:endParaRPr b="0" i="0" sz="1000" u="none" cap="none" strike="noStrike">
              <a:solidFill>
                <a:schemeClr val="dk1"/>
              </a:solidFill>
              <a:latin typeface="Calibri"/>
              <a:ea typeface="Calibri"/>
              <a:cs typeface="Calibri"/>
              <a:sym typeface="Calibri"/>
            </a:endParaRPr>
          </a:p>
        </p:txBody>
      </p:sp>
      <p:sp>
        <p:nvSpPr>
          <p:cNvPr id="1083" name="Google Shape;1083;p64"/>
          <p:cNvSpPr/>
          <p:nvPr/>
        </p:nvSpPr>
        <p:spPr>
          <a:xfrm>
            <a:off x="7869988" y="1132096"/>
            <a:ext cx="1034100" cy="20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Recommended</a:t>
            </a:r>
            <a:endParaRPr b="0" i="0" sz="1000" u="none" cap="none" strike="noStrike">
              <a:solidFill>
                <a:schemeClr val="dk1"/>
              </a:solidFill>
              <a:latin typeface="Calibri"/>
              <a:ea typeface="Calibri"/>
              <a:cs typeface="Calibri"/>
              <a:sym typeface="Calibri"/>
            </a:endParaRPr>
          </a:p>
        </p:txBody>
      </p:sp>
      <p:sp>
        <p:nvSpPr>
          <p:cNvPr id="1084" name="Google Shape;1084;p64"/>
          <p:cNvSpPr/>
          <p:nvPr/>
        </p:nvSpPr>
        <p:spPr>
          <a:xfrm>
            <a:off x="4800600" y="1333264"/>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85" name="Google Shape;1085;p64"/>
          <p:cNvCxnSpPr/>
          <p:nvPr/>
        </p:nvCxnSpPr>
        <p:spPr>
          <a:xfrm>
            <a:off x="4800600" y="1521418"/>
            <a:ext cx="3977700" cy="0"/>
          </a:xfrm>
          <a:prstGeom prst="straightConnector1">
            <a:avLst/>
          </a:prstGeom>
          <a:noFill/>
          <a:ln cap="flat" cmpd="sng" w="9525">
            <a:solidFill>
              <a:srgbClr val="888888"/>
            </a:solidFill>
            <a:prstDash val="solid"/>
            <a:round/>
            <a:headEnd len="sm" w="sm" type="none"/>
            <a:tailEnd len="sm" w="sm" type="none"/>
          </a:ln>
        </p:spPr>
      </p:cxnSp>
      <p:sp>
        <p:nvSpPr>
          <p:cNvPr id="1086" name="Google Shape;1086;p64"/>
          <p:cNvSpPr/>
          <p:nvPr/>
        </p:nvSpPr>
        <p:spPr>
          <a:xfrm>
            <a:off x="4892040" y="1333264"/>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Data Security Scanner</a:t>
            </a:r>
            <a:endParaRPr b="0" i="0" sz="800" u="none" cap="none" strike="noStrike">
              <a:solidFill>
                <a:schemeClr val="dk1"/>
              </a:solidFill>
              <a:latin typeface="Calibri"/>
              <a:ea typeface="Calibri"/>
              <a:cs typeface="Calibri"/>
              <a:sym typeface="Calibri"/>
            </a:endParaRPr>
          </a:p>
        </p:txBody>
      </p:sp>
      <p:sp>
        <p:nvSpPr>
          <p:cNvPr id="1087" name="Google Shape;1087;p64"/>
          <p:cNvSpPr/>
          <p:nvPr/>
        </p:nvSpPr>
        <p:spPr>
          <a:xfrm>
            <a:off x="6883223" y="1333264"/>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{{DSS_ON}}</a:t>
            </a:r>
            <a:endParaRPr b="0" i="0" sz="700" u="none" cap="none" strike="noStrike">
              <a:solidFill>
                <a:schemeClr val="dk1"/>
              </a:solidFill>
              <a:latin typeface="Calibri"/>
              <a:ea typeface="Calibri"/>
              <a:cs typeface="Calibri"/>
              <a:sym typeface="Calibri"/>
            </a:endParaRPr>
          </a:p>
        </p:txBody>
      </p:sp>
      <p:sp>
        <p:nvSpPr>
          <p:cNvPr id="1088" name="Google Shape;1088;p64"/>
          <p:cNvSpPr/>
          <p:nvPr/>
        </p:nvSpPr>
        <p:spPr>
          <a:xfrm>
            <a:off x="4800600" y="1521418"/>
            <a:ext cx="3977700" cy="188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89" name="Google Shape;1089;p64"/>
          <p:cNvCxnSpPr/>
          <p:nvPr/>
        </p:nvCxnSpPr>
        <p:spPr>
          <a:xfrm>
            <a:off x="4800600" y="1773843"/>
            <a:ext cx="3977700" cy="0"/>
          </a:xfrm>
          <a:prstGeom prst="straightConnector1">
            <a:avLst/>
          </a:prstGeom>
          <a:noFill/>
          <a:ln cap="flat" cmpd="sng" w="9525">
            <a:solidFill>
              <a:srgbClr val="888888"/>
            </a:solidFill>
            <a:prstDash val="solid"/>
            <a:round/>
            <a:headEnd len="sm" w="sm" type="none"/>
            <a:tailEnd len="sm" w="sm" type="none"/>
          </a:ln>
        </p:spPr>
      </p:cxnSp>
      <p:sp>
        <p:nvSpPr>
          <p:cNvPr id="1090" name="Google Shape;1090;p64"/>
          <p:cNvSpPr/>
          <p:nvPr/>
        </p:nvSpPr>
        <p:spPr>
          <a:xfrm>
            <a:off x="4892044" y="1523856"/>
            <a:ext cx="1970400" cy="26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Buckets (Public &amp; Private)</a:t>
            </a:r>
            <a:endParaRPr b="0" i="0" sz="800" u="none" cap="none" strike="noStrike">
              <a:solidFill>
                <a:schemeClr val="dk1"/>
              </a:solidFill>
              <a:latin typeface="Calibri"/>
              <a:ea typeface="Calibri"/>
              <a:cs typeface="Calibri"/>
              <a:sym typeface="Calibri"/>
            </a:endParaRPr>
          </a:p>
        </p:txBody>
      </p:sp>
      <p:sp>
        <p:nvSpPr>
          <p:cNvPr id="1091" name="Google Shape;1091;p64"/>
          <p:cNvSpPr/>
          <p:nvPr/>
        </p:nvSpPr>
        <p:spPr>
          <a:xfrm>
            <a:off x="6883221" y="1523417"/>
            <a:ext cx="1091197" cy="26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{{DSS_BUCK}}</a:t>
            </a:r>
            <a:endParaRPr b="0" i="0" sz="700" u="none" cap="none" strike="noStrike">
              <a:solidFill>
                <a:schemeClr val="dk1"/>
              </a:solidFill>
              <a:latin typeface="Calibri"/>
              <a:ea typeface="Calibri"/>
              <a:cs typeface="Calibri"/>
              <a:sym typeface="Calibri"/>
            </a:endParaRPr>
          </a:p>
        </p:txBody>
      </p:sp>
      <p:sp>
        <p:nvSpPr>
          <p:cNvPr id="1092" name="Google Shape;1092;p64"/>
          <p:cNvSpPr/>
          <p:nvPr/>
        </p:nvSpPr>
        <p:spPr>
          <a:xfrm>
            <a:off x="7864530" y="1527427"/>
            <a:ext cx="943800" cy="260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500"/>
              <a:buFont typeface="JetBrains Mono"/>
              <a:buNone/>
            </a:pPr>
            <a:r>
              <a:rPr b="0" i="0" lang="en" sz="800" u="none" cap="none" strike="noStrike">
                <a:solidFill>
                  <a:srgbClr val="595959"/>
                </a:solidFill>
                <a:latin typeface="Calibri"/>
                <a:ea typeface="Calibri"/>
                <a:cs typeface="Calibri"/>
                <a:sym typeface="Calibri"/>
              </a:rPr>
              <a:t>{{DSS_BUCK_R}}</a:t>
            </a:r>
            <a:endParaRPr b="0" i="0" sz="800" u="none" cap="none" strike="noStrike">
              <a:solidFill>
                <a:srgbClr val="595959"/>
              </a:solidFill>
              <a:latin typeface="Calibri"/>
              <a:ea typeface="Calibri"/>
              <a:cs typeface="Calibri"/>
              <a:sym typeface="Calibri"/>
            </a:endParaRPr>
          </a:p>
        </p:txBody>
      </p:sp>
      <p:sp>
        <p:nvSpPr>
          <p:cNvPr id="1093" name="Google Shape;1093;p64"/>
          <p:cNvSpPr/>
          <p:nvPr/>
        </p:nvSpPr>
        <p:spPr>
          <a:xfrm>
            <a:off x="4800600" y="1795107"/>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94" name="Google Shape;1094;p64"/>
          <p:cNvCxnSpPr/>
          <p:nvPr/>
        </p:nvCxnSpPr>
        <p:spPr>
          <a:xfrm>
            <a:off x="4800600" y="1983260"/>
            <a:ext cx="3977700" cy="0"/>
          </a:xfrm>
          <a:prstGeom prst="straightConnector1">
            <a:avLst/>
          </a:prstGeom>
          <a:noFill/>
          <a:ln cap="flat" cmpd="sng" w="9525">
            <a:solidFill>
              <a:srgbClr val="888888"/>
            </a:solidFill>
            <a:prstDash val="solid"/>
            <a:round/>
            <a:headEnd len="sm" w="sm" type="none"/>
            <a:tailEnd len="sm" w="sm" type="none"/>
          </a:ln>
        </p:spPr>
      </p:cxnSp>
      <p:sp>
        <p:nvSpPr>
          <p:cNvPr id="1095" name="Google Shape;1095;p64"/>
          <p:cNvSpPr/>
          <p:nvPr/>
        </p:nvSpPr>
        <p:spPr>
          <a:xfrm>
            <a:off x="4892040" y="1793948"/>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Storage: Azure PE (Disabled Public)</a:t>
            </a:r>
            <a:endParaRPr b="0" i="0" sz="800" u="none" cap="none" strike="noStrike">
              <a:solidFill>
                <a:schemeClr val="dk1"/>
              </a:solidFill>
              <a:latin typeface="Calibri"/>
              <a:ea typeface="Calibri"/>
              <a:cs typeface="Calibri"/>
              <a:sym typeface="Calibri"/>
            </a:endParaRPr>
          </a:p>
        </p:txBody>
      </p:sp>
      <p:sp>
        <p:nvSpPr>
          <p:cNvPr id="1096" name="Google Shape;1096;p64"/>
          <p:cNvSpPr/>
          <p:nvPr/>
        </p:nvSpPr>
        <p:spPr>
          <a:xfrm>
            <a:off x="6883223" y="1795107"/>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{{DSS_AZ1}}</a:t>
            </a:r>
            <a:endParaRPr b="0" i="0" sz="700" u="none" cap="none" strike="noStrike">
              <a:solidFill>
                <a:schemeClr val="dk1"/>
              </a:solidFill>
              <a:latin typeface="Calibri"/>
              <a:ea typeface="Calibri"/>
              <a:cs typeface="Calibri"/>
              <a:sym typeface="Calibri"/>
            </a:endParaRPr>
          </a:p>
        </p:txBody>
      </p:sp>
      <p:sp>
        <p:nvSpPr>
          <p:cNvPr id="1097" name="Google Shape;1097;p64"/>
          <p:cNvSpPr/>
          <p:nvPr/>
        </p:nvSpPr>
        <p:spPr>
          <a:xfrm>
            <a:off x="4800600" y="1983260"/>
            <a:ext cx="3977700" cy="188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098" name="Google Shape;1098;p64"/>
          <p:cNvCxnSpPr/>
          <p:nvPr/>
        </p:nvCxnSpPr>
        <p:spPr>
          <a:xfrm>
            <a:off x="4800600" y="2171414"/>
            <a:ext cx="3977700" cy="0"/>
          </a:xfrm>
          <a:prstGeom prst="straightConnector1">
            <a:avLst/>
          </a:prstGeom>
          <a:noFill/>
          <a:ln cap="flat" cmpd="sng" w="9525">
            <a:solidFill>
              <a:srgbClr val="888888"/>
            </a:solidFill>
            <a:prstDash val="solid"/>
            <a:round/>
            <a:headEnd len="sm" w="sm" type="none"/>
            <a:tailEnd len="sm" w="sm" type="none"/>
          </a:ln>
        </p:spPr>
      </p:cxnSp>
      <p:sp>
        <p:nvSpPr>
          <p:cNvPr id="1099" name="Google Shape;1099;p64"/>
          <p:cNvSpPr/>
          <p:nvPr/>
        </p:nvSpPr>
        <p:spPr>
          <a:xfrm>
            <a:off x="4892040" y="1984540"/>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Storage: Azure PE (Selected VNets)</a:t>
            </a:r>
            <a:endParaRPr b="0" i="0" sz="800" u="none" cap="none" strike="noStrike">
              <a:solidFill>
                <a:schemeClr val="dk1"/>
              </a:solidFill>
              <a:latin typeface="Calibri"/>
              <a:ea typeface="Calibri"/>
              <a:cs typeface="Calibri"/>
              <a:sym typeface="Calibri"/>
            </a:endParaRPr>
          </a:p>
        </p:txBody>
      </p:sp>
      <p:sp>
        <p:nvSpPr>
          <p:cNvPr id="1100" name="Google Shape;1100;p64"/>
          <p:cNvSpPr/>
          <p:nvPr/>
        </p:nvSpPr>
        <p:spPr>
          <a:xfrm>
            <a:off x="6883223" y="1983260"/>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{{DSS_AZ2}}</a:t>
            </a:r>
            <a:endParaRPr b="0" i="0" sz="700" u="none" cap="none" strike="noStrike">
              <a:solidFill>
                <a:schemeClr val="dk1"/>
              </a:solidFill>
              <a:latin typeface="Calibri"/>
              <a:ea typeface="Calibri"/>
              <a:cs typeface="Calibri"/>
              <a:sym typeface="Calibri"/>
            </a:endParaRPr>
          </a:p>
        </p:txBody>
      </p:sp>
      <p:sp>
        <p:nvSpPr>
          <p:cNvPr id="1101" name="Google Shape;1101;p64"/>
          <p:cNvSpPr/>
          <p:nvPr/>
        </p:nvSpPr>
        <p:spPr>
          <a:xfrm>
            <a:off x="4800600" y="2553470"/>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02" name="Google Shape;1102;p64"/>
          <p:cNvCxnSpPr/>
          <p:nvPr/>
        </p:nvCxnSpPr>
        <p:spPr>
          <a:xfrm>
            <a:off x="4800600" y="2741624"/>
            <a:ext cx="3977700" cy="0"/>
          </a:xfrm>
          <a:prstGeom prst="straightConnector1">
            <a:avLst/>
          </a:prstGeom>
          <a:noFill/>
          <a:ln cap="flat" cmpd="sng" w="9525">
            <a:solidFill>
              <a:srgbClr val="888888"/>
            </a:solidFill>
            <a:prstDash val="solid"/>
            <a:round/>
            <a:headEnd len="sm" w="sm" type="none"/>
            <a:tailEnd len="sm" w="sm" type="none"/>
          </a:ln>
        </p:spPr>
      </p:cxnSp>
      <p:sp>
        <p:nvSpPr>
          <p:cNvPr id="1103" name="Google Shape;1103;p64"/>
          <p:cNvSpPr/>
          <p:nvPr/>
        </p:nvSpPr>
        <p:spPr>
          <a:xfrm>
            <a:off x="4892040" y="2556316"/>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Virtual Drives</a:t>
            </a:r>
            <a:endParaRPr b="0" i="0" sz="800" u="none" cap="none" strike="noStrike">
              <a:solidFill>
                <a:schemeClr val="dk1"/>
              </a:solidFill>
              <a:latin typeface="Calibri"/>
              <a:ea typeface="Calibri"/>
              <a:cs typeface="Calibri"/>
              <a:sym typeface="Calibri"/>
            </a:endParaRPr>
          </a:p>
        </p:txBody>
      </p:sp>
      <p:sp>
        <p:nvSpPr>
          <p:cNvPr id="1104" name="Google Shape;1104;p64"/>
          <p:cNvSpPr/>
          <p:nvPr/>
        </p:nvSpPr>
        <p:spPr>
          <a:xfrm>
            <a:off x="6883223" y="2553470"/>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{{DSS_VDRV}}</a:t>
            </a:r>
            <a:endParaRPr b="0" i="0" sz="700" u="none" cap="none" strike="noStrike">
              <a:solidFill>
                <a:schemeClr val="dk1"/>
              </a:solidFill>
              <a:latin typeface="Calibri"/>
              <a:ea typeface="Calibri"/>
              <a:cs typeface="Calibri"/>
              <a:sym typeface="Calibri"/>
            </a:endParaRPr>
          </a:p>
        </p:txBody>
      </p:sp>
      <p:sp>
        <p:nvSpPr>
          <p:cNvPr id="1105" name="Google Shape;1105;p64"/>
          <p:cNvSpPr/>
          <p:nvPr/>
        </p:nvSpPr>
        <p:spPr>
          <a:xfrm>
            <a:off x="7864530" y="2578982"/>
            <a:ext cx="943800" cy="157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CA3AF"/>
              </a:buClr>
              <a:buSzPts val="500"/>
              <a:buFont typeface="JetBrains Mono"/>
              <a:buNone/>
            </a:pPr>
            <a:r>
              <a:rPr b="0" i="0" lang="en" sz="800" u="none" cap="none" strike="noStrike">
                <a:solidFill>
                  <a:srgbClr val="595959"/>
                </a:solidFill>
                <a:latin typeface="Calibri"/>
                <a:ea typeface="Calibri"/>
                <a:cs typeface="Calibri"/>
                <a:sym typeface="Calibri"/>
              </a:rPr>
              <a:t>{{DSS_VDRV_R}}</a:t>
            </a:r>
            <a:endParaRPr b="0" i="0" sz="800" u="none" cap="none" strike="noStrike">
              <a:solidFill>
                <a:srgbClr val="595959"/>
              </a:solidFill>
              <a:latin typeface="Calibri"/>
              <a:ea typeface="Calibri"/>
              <a:cs typeface="Calibri"/>
              <a:sym typeface="Calibri"/>
            </a:endParaRPr>
          </a:p>
        </p:txBody>
      </p:sp>
      <p:sp>
        <p:nvSpPr>
          <p:cNvPr id="1106" name="Google Shape;1106;p64"/>
          <p:cNvSpPr/>
          <p:nvPr/>
        </p:nvSpPr>
        <p:spPr>
          <a:xfrm>
            <a:off x="4800600" y="2741624"/>
            <a:ext cx="3977700" cy="188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07" name="Google Shape;1107;p64"/>
          <p:cNvCxnSpPr/>
          <p:nvPr/>
        </p:nvCxnSpPr>
        <p:spPr>
          <a:xfrm>
            <a:off x="4800600" y="2929777"/>
            <a:ext cx="3977700" cy="0"/>
          </a:xfrm>
          <a:prstGeom prst="straightConnector1">
            <a:avLst/>
          </a:prstGeom>
          <a:noFill/>
          <a:ln cap="flat" cmpd="sng" w="9525">
            <a:solidFill>
              <a:srgbClr val="888888"/>
            </a:solidFill>
            <a:prstDash val="solid"/>
            <a:round/>
            <a:headEnd len="sm" w="sm" type="none"/>
            <a:tailEnd len="sm" w="sm" type="none"/>
          </a:ln>
        </p:spPr>
      </p:cxnSp>
      <p:sp>
        <p:nvSpPr>
          <p:cNvPr id="1108" name="Google Shape;1108;p64"/>
          <p:cNvSpPr/>
          <p:nvPr/>
        </p:nvSpPr>
        <p:spPr>
          <a:xfrm>
            <a:off x="4892040" y="2746908"/>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Cloud Managed Databases (PaaS)</a:t>
            </a:r>
            <a:endParaRPr b="0" i="0" sz="800" u="none" cap="none" strike="noStrike">
              <a:solidFill>
                <a:schemeClr val="dk1"/>
              </a:solidFill>
              <a:latin typeface="Calibri"/>
              <a:ea typeface="Calibri"/>
              <a:cs typeface="Calibri"/>
              <a:sym typeface="Calibri"/>
            </a:endParaRPr>
          </a:p>
        </p:txBody>
      </p:sp>
      <p:sp>
        <p:nvSpPr>
          <p:cNvPr id="1109" name="Google Shape;1109;p64"/>
          <p:cNvSpPr/>
          <p:nvPr/>
        </p:nvSpPr>
        <p:spPr>
          <a:xfrm>
            <a:off x="6883223" y="2741624"/>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{{DSS_PAAS}}</a:t>
            </a:r>
            <a:endParaRPr b="0" i="0" sz="700" u="none" cap="none" strike="noStrike">
              <a:solidFill>
                <a:schemeClr val="dk1"/>
              </a:solidFill>
              <a:latin typeface="Calibri"/>
              <a:ea typeface="Calibri"/>
              <a:cs typeface="Calibri"/>
              <a:sym typeface="Calibri"/>
            </a:endParaRPr>
          </a:p>
        </p:txBody>
      </p:sp>
      <p:sp>
        <p:nvSpPr>
          <p:cNvPr id="1110" name="Google Shape;1110;p64"/>
          <p:cNvSpPr/>
          <p:nvPr/>
        </p:nvSpPr>
        <p:spPr>
          <a:xfrm>
            <a:off x="4800600" y="2929777"/>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11" name="Google Shape;1111;p64"/>
          <p:cNvCxnSpPr/>
          <p:nvPr/>
        </p:nvCxnSpPr>
        <p:spPr>
          <a:xfrm>
            <a:off x="4800600" y="3117931"/>
            <a:ext cx="3977700" cy="0"/>
          </a:xfrm>
          <a:prstGeom prst="straightConnector1">
            <a:avLst/>
          </a:prstGeom>
          <a:noFill/>
          <a:ln cap="flat" cmpd="sng" w="9525">
            <a:solidFill>
              <a:srgbClr val="888888"/>
            </a:solidFill>
            <a:prstDash val="solid"/>
            <a:round/>
            <a:headEnd len="sm" w="sm" type="none"/>
            <a:tailEnd len="sm" w="sm" type="none"/>
          </a:ln>
        </p:spPr>
      </p:cxnSp>
      <p:sp>
        <p:nvSpPr>
          <p:cNvPr id="1112" name="Google Shape;1112;p64"/>
          <p:cNvSpPr/>
          <p:nvPr/>
        </p:nvSpPr>
        <p:spPr>
          <a:xfrm>
            <a:off x="4892040" y="2937500"/>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Data Warehouses</a:t>
            </a:r>
            <a:endParaRPr b="0" i="0" sz="800" u="none" cap="none" strike="noStrike">
              <a:solidFill>
                <a:schemeClr val="dk1"/>
              </a:solidFill>
              <a:latin typeface="Calibri"/>
              <a:ea typeface="Calibri"/>
              <a:cs typeface="Calibri"/>
              <a:sym typeface="Calibri"/>
            </a:endParaRPr>
          </a:p>
        </p:txBody>
      </p:sp>
      <p:sp>
        <p:nvSpPr>
          <p:cNvPr id="1113" name="Google Shape;1113;p64"/>
          <p:cNvSpPr/>
          <p:nvPr/>
        </p:nvSpPr>
        <p:spPr>
          <a:xfrm>
            <a:off x="6883223" y="2929777"/>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{{DSS_DW}}</a:t>
            </a:r>
            <a:endParaRPr b="0" i="0" sz="700" u="none" cap="none" strike="noStrike">
              <a:solidFill>
                <a:schemeClr val="dk1"/>
              </a:solidFill>
              <a:latin typeface="Calibri"/>
              <a:ea typeface="Calibri"/>
              <a:cs typeface="Calibri"/>
              <a:sym typeface="Calibri"/>
            </a:endParaRPr>
          </a:p>
        </p:txBody>
      </p:sp>
      <p:sp>
        <p:nvSpPr>
          <p:cNvPr id="1114" name="Google Shape;1114;p64"/>
          <p:cNvSpPr/>
          <p:nvPr/>
        </p:nvSpPr>
        <p:spPr>
          <a:xfrm>
            <a:off x="4800600" y="3117931"/>
            <a:ext cx="3977700" cy="188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15" name="Google Shape;1115;p64"/>
          <p:cNvCxnSpPr/>
          <p:nvPr/>
        </p:nvCxnSpPr>
        <p:spPr>
          <a:xfrm>
            <a:off x="4800600" y="3306084"/>
            <a:ext cx="3977700" cy="0"/>
          </a:xfrm>
          <a:prstGeom prst="straightConnector1">
            <a:avLst/>
          </a:prstGeom>
          <a:noFill/>
          <a:ln cap="flat" cmpd="sng" w="9525">
            <a:solidFill>
              <a:srgbClr val="888888"/>
            </a:solidFill>
            <a:prstDash val="solid"/>
            <a:round/>
            <a:headEnd len="sm" w="sm" type="none"/>
            <a:tailEnd len="sm" w="sm" type="none"/>
          </a:ln>
        </p:spPr>
      </p:cxnSp>
      <p:sp>
        <p:nvSpPr>
          <p:cNvPr id="1116" name="Google Shape;1116;p64"/>
          <p:cNvSpPr/>
          <p:nvPr/>
        </p:nvSpPr>
        <p:spPr>
          <a:xfrm>
            <a:off x="4892040" y="3128092"/>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Google BigQuery</a:t>
            </a:r>
            <a:endParaRPr b="0" i="0" sz="800" u="none" cap="none" strike="noStrike">
              <a:solidFill>
                <a:schemeClr val="dk1"/>
              </a:solidFill>
              <a:latin typeface="Calibri"/>
              <a:ea typeface="Calibri"/>
              <a:cs typeface="Calibri"/>
              <a:sym typeface="Calibri"/>
            </a:endParaRPr>
          </a:p>
        </p:txBody>
      </p:sp>
      <p:sp>
        <p:nvSpPr>
          <p:cNvPr id="1117" name="Google Shape;1117;p64"/>
          <p:cNvSpPr/>
          <p:nvPr/>
        </p:nvSpPr>
        <p:spPr>
          <a:xfrm>
            <a:off x="6883223" y="3117931"/>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{{DSS_BQ}}</a:t>
            </a:r>
            <a:endParaRPr b="0" i="0" sz="700" u="none" cap="none" strike="noStrike">
              <a:solidFill>
                <a:schemeClr val="dk1"/>
              </a:solidFill>
              <a:latin typeface="Calibri"/>
              <a:ea typeface="Calibri"/>
              <a:cs typeface="Calibri"/>
              <a:sym typeface="Calibri"/>
            </a:endParaRPr>
          </a:p>
        </p:txBody>
      </p:sp>
      <p:sp>
        <p:nvSpPr>
          <p:cNvPr id="1118" name="Google Shape;1118;p64"/>
          <p:cNvSpPr/>
          <p:nvPr/>
        </p:nvSpPr>
        <p:spPr>
          <a:xfrm>
            <a:off x="4800600" y="3306084"/>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19" name="Google Shape;1119;p64"/>
          <p:cNvCxnSpPr/>
          <p:nvPr/>
        </p:nvCxnSpPr>
        <p:spPr>
          <a:xfrm>
            <a:off x="4800600" y="3494238"/>
            <a:ext cx="3977700" cy="0"/>
          </a:xfrm>
          <a:prstGeom prst="straightConnector1">
            <a:avLst/>
          </a:prstGeom>
          <a:noFill/>
          <a:ln cap="flat" cmpd="sng" w="9525">
            <a:solidFill>
              <a:srgbClr val="888888"/>
            </a:solidFill>
            <a:prstDash val="solid"/>
            <a:round/>
            <a:headEnd len="sm" w="sm" type="none"/>
            <a:tailEnd len="sm" w="sm" type="none"/>
          </a:ln>
        </p:spPr>
      </p:cxnSp>
      <p:sp>
        <p:nvSpPr>
          <p:cNvPr id="1120" name="Google Shape;1120;p64"/>
          <p:cNvSpPr/>
          <p:nvPr/>
        </p:nvSpPr>
        <p:spPr>
          <a:xfrm>
            <a:off x="4892040" y="3318684"/>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Amazon DynamoDB</a:t>
            </a:r>
            <a:endParaRPr b="0" i="0" sz="800" u="none" cap="none" strike="noStrike">
              <a:solidFill>
                <a:schemeClr val="dk1"/>
              </a:solidFill>
              <a:latin typeface="Calibri"/>
              <a:ea typeface="Calibri"/>
              <a:cs typeface="Calibri"/>
              <a:sym typeface="Calibri"/>
            </a:endParaRPr>
          </a:p>
        </p:txBody>
      </p:sp>
      <p:sp>
        <p:nvSpPr>
          <p:cNvPr id="1121" name="Google Shape;1121;p64"/>
          <p:cNvSpPr/>
          <p:nvPr/>
        </p:nvSpPr>
        <p:spPr>
          <a:xfrm>
            <a:off x="6883223" y="3306084"/>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{{DSS_DDB}}</a:t>
            </a:r>
            <a:endParaRPr b="0" i="0" sz="700" u="none" cap="none" strike="noStrike">
              <a:solidFill>
                <a:schemeClr val="dk1"/>
              </a:solidFill>
              <a:latin typeface="Calibri"/>
              <a:ea typeface="Calibri"/>
              <a:cs typeface="Calibri"/>
              <a:sym typeface="Calibri"/>
            </a:endParaRPr>
          </a:p>
        </p:txBody>
      </p:sp>
      <p:sp>
        <p:nvSpPr>
          <p:cNvPr id="1122" name="Google Shape;1122;p64"/>
          <p:cNvSpPr/>
          <p:nvPr/>
        </p:nvSpPr>
        <p:spPr>
          <a:xfrm>
            <a:off x="4800600" y="3494238"/>
            <a:ext cx="3977700" cy="188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23" name="Google Shape;1123;p64"/>
          <p:cNvCxnSpPr/>
          <p:nvPr/>
        </p:nvCxnSpPr>
        <p:spPr>
          <a:xfrm>
            <a:off x="4800600" y="3682392"/>
            <a:ext cx="3977700" cy="0"/>
          </a:xfrm>
          <a:prstGeom prst="straightConnector1">
            <a:avLst/>
          </a:prstGeom>
          <a:noFill/>
          <a:ln cap="flat" cmpd="sng" w="9525">
            <a:solidFill>
              <a:srgbClr val="888888"/>
            </a:solidFill>
            <a:prstDash val="solid"/>
            <a:round/>
            <a:headEnd len="sm" w="sm" type="none"/>
            <a:tailEnd len="sm" w="sm" type="none"/>
          </a:ln>
        </p:spPr>
      </p:cxnSp>
      <p:sp>
        <p:nvSpPr>
          <p:cNvPr id="1124" name="Google Shape;1124;p64"/>
          <p:cNvSpPr/>
          <p:nvPr/>
        </p:nvSpPr>
        <p:spPr>
          <a:xfrm>
            <a:off x="4892040" y="3509276"/>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Snowflake</a:t>
            </a:r>
            <a:endParaRPr b="0" i="0" sz="800" u="none" cap="none" strike="noStrike">
              <a:solidFill>
                <a:schemeClr val="dk1"/>
              </a:solidFill>
              <a:latin typeface="Calibri"/>
              <a:ea typeface="Calibri"/>
              <a:cs typeface="Calibri"/>
              <a:sym typeface="Calibri"/>
            </a:endParaRPr>
          </a:p>
        </p:txBody>
      </p:sp>
      <p:sp>
        <p:nvSpPr>
          <p:cNvPr id="1125" name="Google Shape;1125;p64"/>
          <p:cNvSpPr/>
          <p:nvPr/>
        </p:nvSpPr>
        <p:spPr>
          <a:xfrm>
            <a:off x="6883223" y="3494238"/>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{{DSS_SNOW}}</a:t>
            </a:r>
            <a:endParaRPr b="0" i="0" sz="700" u="none" cap="none" strike="noStrike">
              <a:solidFill>
                <a:schemeClr val="dk1"/>
              </a:solidFill>
              <a:latin typeface="Calibri"/>
              <a:ea typeface="Calibri"/>
              <a:cs typeface="Calibri"/>
              <a:sym typeface="Calibri"/>
            </a:endParaRPr>
          </a:p>
        </p:txBody>
      </p:sp>
      <p:sp>
        <p:nvSpPr>
          <p:cNvPr id="1126" name="Google Shape;1126;p64"/>
          <p:cNvSpPr/>
          <p:nvPr/>
        </p:nvSpPr>
        <p:spPr>
          <a:xfrm>
            <a:off x="4800600" y="3682392"/>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27" name="Google Shape;1127;p64"/>
          <p:cNvCxnSpPr/>
          <p:nvPr/>
        </p:nvCxnSpPr>
        <p:spPr>
          <a:xfrm>
            <a:off x="4800600" y="3870545"/>
            <a:ext cx="3977700" cy="0"/>
          </a:xfrm>
          <a:prstGeom prst="straightConnector1">
            <a:avLst/>
          </a:prstGeom>
          <a:noFill/>
          <a:ln cap="flat" cmpd="sng" w="9525">
            <a:solidFill>
              <a:srgbClr val="888888"/>
            </a:solidFill>
            <a:prstDash val="solid"/>
            <a:round/>
            <a:headEnd len="sm" w="sm" type="none"/>
            <a:tailEnd len="sm" w="sm" type="none"/>
          </a:ln>
        </p:spPr>
      </p:cxnSp>
      <p:sp>
        <p:nvSpPr>
          <p:cNvPr id="1128" name="Google Shape;1128;p64"/>
          <p:cNvSpPr/>
          <p:nvPr/>
        </p:nvSpPr>
        <p:spPr>
          <a:xfrm>
            <a:off x="4892040" y="3699868"/>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Hosted Databases (IaaS)</a:t>
            </a:r>
            <a:endParaRPr b="0" i="0" sz="800" u="none" cap="none" strike="noStrike">
              <a:solidFill>
                <a:schemeClr val="dk1"/>
              </a:solidFill>
              <a:latin typeface="Calibri"/>
              <a:ea typeface="Calibri"/>
              <a:cs typeface="Calibri"/>
              <a:sym typeface="Calibri"/>
            </a:endParaRPr>
          </a:p>
        </p:txBody>
      </p:sp>
      <p:sp>
        <p:nvSpPr>
          <p:cNvPr id="1129" name="Google Shape;1129;p64"/>
          <p:cNvSpPr/>
          <p:nvPr/>
        </p:nvSpPr>
        <p:spPr>
          <a:xfrm>
            <a:off x="6883223" y="3682392"/>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{{DSS_IAAS}}</a:t>
            </a:r>
            <a:endParaRPr b="0" i="0" sz="700" u="none" cap="none" strike="noStrike">
              <a:solidFill>
                <a:schemeClr val="dk1"/>
              </a:solidFill>
              <a:latin typeface="Calibri"/>
              <a:ea typeface="Calibri"/>
              <a:cs typeface="Calibri"/>
              <a:sym typeface="Calibri"/>
            </a:endParaRPr>
          </a:p>
        </p:txBody>
      </p:sp>
      <p:sp>
        <p:nvSpPr>
          <p:cNvPr id="1130" name="Google Shape;1130;p64"/>
          <p:cNvSpPr/>
          <p:nvPr/>
        </p:nvSpPr>
        <p:spPr>
          <a:xfrm>
            <a:off x="4800600" y="3870545"/>
            <a:ext cx="3977700" cy="188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31" name="Google Shape;1131;p64"/>
          <p:cNvCxnSpPr/>
          <p:nvPr/>
        </p:nvCxnSpPr>
        <p:spPr>
          <a:xfrm>
            <a:off x="4800600" y="4058699"/>
            <a:ext cx="3977700" cy="0"/>
          </a:xfrm>
          <a:prstGeom prst="straightConnector1">
            <a:avLst/>
          </a:prstGeom>
          <a:noFill/>
          <a:ln cap="flat" cmpd="sng" w="9525">
            <a:solidFill>
              <a:srgbClr val="888888"/>
            </a:solidFill>
            <a:prstDash val="solid"/>
            <a:round/>
            <a:headEnd len="sm" w="sm" type="none"/>
            <a:tailEnd len="sm" w="sm" type="none"/>
          </a:ln>
        </p:spPr>
      </p:cxnSp>
      <p:sp>
        <p:nvSpPr>
          <p:cNvPr id="1132" name="Google Shape;1132;p64"/>
          <p:cNvSpPr/>
          <p:nvPr/>
        </p:nvSpPr>
        <p:spPr>
          <a:xfrm>
            <a:off x="4892040" y="3890460"/>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VM Disks (OS and non-OS)</a:t>
            </a:r>
            <a:endParaRPr b="0" i="0" sz="800" u="none" cap="none" strike="noStrike">
              <a:solidFill>
                <a:schemeClr val="dk1"/>
              </a:solidFill>
              <a:latin typeface="Calibri"/>
              <a:ea typeface="Calibri"/>
              <a:cs typeface="Calibri"/>
              <a:sym typeface="Calibri"/>
            </a:endParaRPr>
          </a:p>
        </p:txBody>
      </p:sp>
      <p:sp>
        <p:nvSpPr>
          <p:cNvPr id="1133" name="Google Shape;1133;p64"/>
          <p:cNvSpPr/>
          <p:nvPr/>
        </p:nvSpPr>
        <p:spPr>
          <a:xfrm>
            <a:off x="6883223" y="3870545"/>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{{DSS_VMD}}</a:t>
            </a:r>
            <a:endParaRPr b="0" i="0" sz="700" u="none" cap="none" strike="noStrike">
              <a:solidFill>
                <a:schemeClr val="dk1"/>
              </a:solidFill>
              <a:latin typeface="Calibri"/>
              <a:ea typeface="Calibri"/>
              <a:cs typeface="Calibri"/>
              <a:sym typeface="Calibri"/>
            </a:endParaRPr>
          </a:p>
        </p:txBody>
      </p:sp>
      <p:sp>
        <p:nvSpPr>
          <p:cNvPr id="1134" name="Google Shape;1134;p64"/>
          <p:cNvSpPr/>
          <p:nvPr/>
        </p:nvSpPr>
        <p:spPr>
          <a:xfrm>
            <a:off x="4800600" y="4058699"/>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35" name="Google Shape;1135;p64"/>
          <p:cNvCxnSpPr/>
          <p:nvPr/>
        </p:nvCxnSpPr>
        <p:spPr>
          <a:xfrm>
            <a:off x="4800600" y="4246852"/>
            <a:ext cx="3977700" cy="0"/>
          </a:xfrm>
          <a:prstGeom prst="straightConnector1">
            <a:avLst/>
          </a:prstGeom>
          <a:noFill/>
          <a:ln cap="flat" cmpd="sng" w="9525">
            <a:solidFill>
              <a:srgbClr val="888888"/>
            </a:solidFill>
            <a:prstDash val="solid"/>
            <a:round/>
            <a:headEnd len="sm" w="sm" type="none"/>
            <a:tailEnd len="sm" w="sm" type="none"/>
          </a:ln>
        </p:spPr>
      </p:cxnSp>
      <p:sp>
        <p:nvSpPr>
          <p:cNvPr id="1136" name="Google Shape;1136;p64"/>
          <p:cNvSpPr/>
          <p:nvPr/>
        </p:nvSpPr>
        <p:spPr>
          <a:xfrm>
            <a:off x="4892040" y="4081051"/>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Serverless Functions</a:t>
            </a:r>
            <a:endParaRPr b="0" i="0" sz="800" u="none" cap="none" strike="noStrike">
              <a:solidFill>
                <a:schemeClr val="dk1"/>
              </a:solidFill>
              <a:latin typeface="Calibri"/>
              <a:ea typeface="Calibri"/>
              <a:cs typeface="Calibri"/>
              <a:sym typeface="Calibri"/>
            </a:endParaRPr>
          </a:p>
        </p:txBody>
      </p:sp>
      <p:sp>
        <p:nvSpPr>
          <p:cNvPr id="1137" name="Google Shape;1137;p64"/>
          <p:cNvSpPr/>
          <p:nvPr/>
        </p:nvSpPr>
        <p:spPr>
          <a:xfrm>
            <a:off x="6883223" y="4058699"/>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{{DSS_SLS}}</a:t>
            </a:r>
            <a:endParaRPr b="0" i="0" sz="700" u="none" cap="none" strike="noStrike">
              <a:solidFill>
                <a:schemeClr val="dk1"/>
              </a:solidFill>
              <a:latin typeface="Calibri"/>
              <a:ea typeface="Calibri"/>
              <a:cs typeface="Calibri"/>
              <a:sym typeface="Calibri"/>
            </a:endParaRPr>
          </a:p>
        </p:txBody>
      </p:sp>
      <p:sp>
        <p:nvSpPr>
          <p:cNvPr id="1138" name="Google Shape;1138;p64"/>
          <p:cNvSpPr/>
          <p:nvPr/>
        </p:nvSpPr>
        <p:spPr>
          <a:xfrm>
            <a:off x="4800600" y="4246852"/>
            <a:ext cx="3977700" cy="188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39" name="Google Shape;1139;p64"/>
          <p:cNvCxnSpPr/>
          <p:nvPr/>
        </p:nvCxnSpPr>
        <p:spPr>
          <a:xfrm>
            <a:off x="4800600" y="4435006"/>
            <a:ext cx="3977700" cy="0"/>
          </a:xfrm>
          <a:prstGeom prst="straightConnector1">
            <a:avLst/>
          </a:prstGeom>
          <a:noFill/>
          <a:ln cap="flat" cmpd="sng" w="9525">
            <a:solidFill>
              <a:srgbClr val="888888"/>
            </a:solidFill>
            <a:prstDash val="solid"/>
            <a:round/>
            <a:headEnd len="sm" w="sm" type="none"/>
            <a:tailEnd len="sm" w="sm" type="none"/>
          </a:ln>
        </p:spPr>
      </p:cxnSp>
      <p:sp>
        <p:nvSpPr>
          <p:cNvPr id="1140" name="Google Shape;1140;p64"/>
          <p:cNvSpPr/>
          <p:nvPr/>
        </p:nvSpPr>
        <p:spPr>
          <a:xfrm>
            <a:off x="4892040" y="4271643"/>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Vertex AI</a:t>
            </a:r>
            <a:endParaRPr b="0" i="0" sz="800" u="none" cap="none" strike="noStrike">
              <a:solidFill>
                <a:schemeClr val="dk1"/>
              </a:solidFill>
              <a:latin typeface="Calibri"/>
              <a:ea typeface="Calibri"/>
              <a:cs typeface="Calibri"/>
              <a:sym typeface="Calibri"/>
            </a:endParaRPr>
          </a:p>
        </p:txBody>
      </p:sp>
      <p:sp>
        <p:nvSpPr>
          <p:cNvPr id="1141" name="Google Shape;1141;p64"/>
          <p:cNvSpPr/>
          <p:nvPr/>
        </p:nvSpPr>
        <p:spPr>
          <a:xfrm>
            <a:off x="6883223" y="4246852"/>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{{DSS_AIV}}</a:t>
            </a:r>
            <a:endParaRPr b="0" i="0" sz="700" u="none" cap="none" strike="noStrike">
              <a:solidFill>
                <a:schemeClr val="dk1"/>
              </a:solidFill>
              <a:latin typeface="Calibri"/>
              <a:ea typeface="Calibri"/>
              <a:cs typeface="Calibri"/>
              <a:sym typeface="Calibri"/>
            </a:endParaRPr>
          </a:p>
        </p:txBody>
      </p:sp>
      <p:sp>
        <p:nvSpPr>
          <p:cNvPr id="1142" name="Google Shape;1142;p64"/>
          <p:cNvSpPr/>
          <p:nvPr/>
        </p:nvSpPr>
        <p:spPr>
          <a:xfrm>
            <a:off x="4816611" y="4449251"/>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43" name="Google Shape;1143;p64"/>
          <p:cNvCxnSpPr/>
          <p:nvPr/>
        </p:nvCxnSpPr>
        <p:spPr>
          <a:xfrm>
            <a:off x="4816611" y="4637405"/>
            <a:ext cx="3977700" cy="0"/>
          </a:xfrm>
          <a:prstGeom prst="straightConnector1">
            <a:avLst/>
          </a:prstGeom>
          <a:noFill/>
          <a:ln cap="flat" cmpd="sng" w="9525">
            <a:solidFill>
              <a:srgbClr val="888888"/>
            </a:solidFill>
            <a:prstDash val="solid"/>
            <a:round/>
            <a:headEnd len="sm" w="sm" type="none"/>
            <a:tailEnd len="sm" w="sm" type="none"/>
          </a:ln>
        </p:spPr>
      </p:cxnSp>
      <p:sp>
        <p:nvSpPr>
          <p:cNvPr id="1144" name="Google Shape;1144;p64"/>
          <p:cNvSpPr/>
          <p:nvPr/>
        </p:nvSpPr>
        <p:spPr>
          <a:xfrm>
            <a:off x="4908051" y="4462235"/>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Azure OpenAI</a:t>
            </a:r>
            <a:endParaRPr b="0" i="0" sz="800" u="none" cap="none" strike="noStrike">
              <a:solidFill>
                <a:schemeClr val="dk1"/>
              </a:solidFill>
              <a:latin typeface="Calibri"/>
              <a:ea typeface="Calibri"/>
              <a:cs typeface="Calibri"/>
              <a:sym typeface="Calibri"/>
            </a:endParaRPr>
          </a:p>
        </p:txBody>
      </p:sp>
      <p:sp>
        <p:nvSpPr>
          <p:cNvPr id="1145" name="Google Shape;1145;p64"/>
          <p:cNvSpPr/>
          <p:nvPr/>
        </p:nvSpPr>
        <p:spPr>
          <a:xfrm>
            <a:off x="6899234" y="4449251"/>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{{DSS_AIAO}}</a:t>
            </a:r>
            <a:endParaRPr b="0" i="0" sz="700" u="none" cap="none" strike="noStrike">
              <a:solidFill>
                <a:srgbClr val="1A56DB"/>
              </a:solidFill>
              <a:latin typeface="Calibri"/>
              <a:ea typeface="Calibri"/>
              <a:cs typeface="Calibri"/>
              <a:sym typeface="Calibri"/>
            </a:endParaRPr>
          </a:p>
        </p:txBody>
      </p:sp>
      <p:sp>
        <p:nvSpPr>
          <p:cNvPr id="1146" name="Google Shape;1146;p64"/>
          <p:cNvSpPr/>
          <p:nvPr/>
        </p:nvSpPr>
        <p:spPr>
          <a:xfrm>
            <a:off x="4816611" y="4637405"/>
            <a:ext cx="3977700" cy="188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147" name="Google Shape;1147;p64"/>
          <p:cNvSpPr/>
          <p:nvPr/>
        </p:nvSpPr>
        <p:spPr>
          <a:xfrm>
            <a:off x="4908051" y="4652827"/>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OpenAI</a:t>
            </a:r>
            <a:endParaRPr b="0" i="0" sz="800" u="none" cap="none" strike="noStrike">
              <a:solidFill>
                <a:schemeClr val="dk1"/>
              </a:solidFill>
              <a:latin typeface="Calibri"/>
              <a:ea typeface="Calibri"/>
              <a:cs typeface="Calibri"/>
              <a:sym typeface="Calibri"/>
            </a:endParaRPr>
          </a:p>
        </p:txBody>
      </p:sp>
      <p:sp>
        <p:nvSpPr>
          <p:cNvPr id="1148" name="Google Shape;1148;p64"/>
          <p:cNvSpPr/>
          <p:nvPr/>
        </p:nvSpPr>
        <p:spPr>
          <a:xfrm>
            <a:off x="6899234" y="4637405"/>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{{DSS_AIOA}}</a:t>
            </a:r>
            <a:endParaRPr b="0" i="0" sz="700" u="none" cap="none" strike="noStrike">
              <a:solidFill>
                <a:srgbClr val="1A56DB"/>
              </a:solidFill>
              <a:latin typeface="Calibri"/>
              <a:ea typeface="Calibri"/>
              <a:cs typeface="Calibri"/>
              <a:sym typeface="Calibri"/>
            </a:endParaRPr>
          </a:p>
        </p:txBody>
      </p:sp>
      <p:sp>
        <p:nvSpPr>
          <p:cNvPr id="1149" name="Google Shape;1149;p64"/>
          <p:cNvSpPr/>
          <p:nvPr/>
        </p:nvSpPr>
        <p:spPr>
          <a:xfrm>
            <a:off x="4816865" y="4843419"/>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150" name="Google Shape;1150;p64"/>
          <p:cNvSpPr/>
          <p:nvPr/>
        </p:nvSpPr>
        <p:spPr>
          <a:xfrm>
            <a:off x="4908305" y="4843419"/>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Shadow Data</a:t>
            </a:r>
            <a:endParaRPr b="0" i="0" sz="800" u="none" cap="none" strike="noStrike">
              <a:solidFill>
                <a:schemeClr val="dk1"/>
              </a:solidFill>
              <a:latin typeface="Calibri"/>
              <a:ea typeface="Calibri"/>
              <a:cs typeface="Calibri"/>
              <a:sym typeface="Calibri"/>
            </a:endParaRPr>
          </a:p>
        </p:txBody>
      </p:sp>
      <p:sp>
        <p:nvSpPr>
          <p:cNvPr id="1151" name="Google Shape;1151;p64"/>
          <p:cNvSpPr/>
          <p:nvPr/>
        </p:nvSpPr>
        <p:spPr>
          <a:xfrm>
            <a:off x="6899488" y="4843419"/>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{{DSS_SHAD}}</a:t>
            </a:r>
            <a:endParaRPr b="0" i="0" sz="700" u="none" cap="none" strike="noStrike">
              <a:solidFill>
                <a:schemeClr val="dk1"/>
              </a:solidFill>
              <a:latin typeface="Calibri"/>
              <a:ea typeface="Calibri"/>
              <a:cs typeface="Calibri"/>
              <a:sym typeface="Calibri"/>
            </a:endParaRPr>
          </a:p>
        </p:txBody>
      </p:sp>
      <p:sp>
        <p:nvSpPr>
          <p:cNvPr id="1152" name="Google Shape;1152;p64"/>
          <p:cNvSpPr txBox="1"/>
          <p:nvPr/>
        </p:nvSpPr>
        <p:spPr>
          <a:xfrm>
            <a:off x="3395224" y="1457671"/>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{{VS_OSPKG_R}}</a:t>
            </a:r>
            <a:endParaRPr b="0" i="0" sz="800" u="none" cap="none" strike="noStrike">
              <a:solidFill>
                <a:srgbClr val="595959"/>
              </a:solidFill>
              <a:latin typeface="Calibri"/>
              <a:ea typeface="Calibri"/>
              <a:cs typeface="Calibri"/>
              <a:sym typeface="Calibri"/>
            </a:endParaRPr>
          </a:p>
        </p:txBody>
      </p:sp>
      <p:sp>
        <p:nvSpPr>
          <p:cNvPr id="1153" name="Google Shape;1153;p64"/>
          <p:cNvSpPr txBox="1"/>
          <p:nvPr/>
        </p:nvSpPr>
        <p:spPr>
          <a:xfrm>
            <a:off x="3395224" y="1705822"/>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{{VS_WINB_R}}</a:t>
            </a:r>
            <a:endParaRPr b="0" i="0" sz="800" u="none" cap="none" strike="noStrike">
              <a:solidFill>
                <a:srgbClr val="595959"/>
              </a:solidFill>
              <a:latin typeface="Calibri"/>
              <a:ea typeface="Calibri"/>
              <a:cs typeface="Calibri"/>
              <a:sym typeface="Calibri"/>
            </a:endParaRPr>
          </a:p>
        </p:txBody>
      </p:sp>
      <p:sp>
        <p:nvSpPr>
          <p:cNvPr id="1154" name="Google Shape;1154;p64"/>
          <p:cNvSpPr txBox="1"/>
          <p:nvPr/>
        </p:nvSpPr>
        <p:spPr>
          <a:xfrm>
            <a:off x="3395224" y="1953974"/>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{{VS_GOSTD_R}}</a:t>
            </a:r>
            <a:endParaRPr b="0" i="0" sz="800" u="none" cap="none" strike="noStrike">
              <a:solidFill>
                <a:srgbClr val="595959"/>
              </a:solidFill>
              <a:latin typeface="Calibri"/>
              <a:ea typeface="Calibri"/>
              <a:cs typeface="Calibri"/>
              <a:sym typeface="Calibri"/>
            </a:endParaRPr>
          </a:p>
        </p:txBody>
      </p:sp>
      <p:sp>
        <p:nvSpPr>
          <p:cNvPr id="1155" name="Google Shape;1155;p64"/>
          <p:cNvSpPr txBox="1"/>
          <p:nvPr/>
        </p:nvSpPr>
        <p:spPr>
          <a:xfrm>
            <a:off x="3395224" y="2202126"/>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{{VS_EXCL_R}}</a:t>
            </a:r>
            <a:endParaRPr b="0" i="0" sz="800" u="none" cap="none" strike="noStrike">
              <a:solidFill>
                <a:srgbClr val="595959"/>
              </a:solidFill>
              <a:latin typeface="Calibri"/>
              <a:ea typeface="Calibri"/>
              <a:cs typeface="Calibri"/>
              <a:sym typeface="Calibri"/>
            </a:endParaRPr>
          </a:p>
        </p:txBody>
      </p:sp>
      <p:sp>
        <p:nvSpPr>
          <p:cNvPr id="1156" name="Google Shape;1156;p64"/>
          <p:cNvSpPr txBox="1"/>
          <p:nvPr/>
        </p:nvSpPr>
        <p:spPr>
          <a:xfrm>
            <a:off x="3395224" y="2450277"/>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{{VS_RHOS_R}}</a:t>
            </a:r>
            <a:endParaRPr b="0" i="0" sz="800" u="none" cap="none" strike="noStrike">
              <a:solidFill>
                <a:srgbClr val="595959"/>
              </a:solidFill>
              <a:latin typeface="Calibri"/>
              <a:ea typeface="Calibri"/>
              <a:cs typeface="Calibri"/>
              <a:sym typeface="Calibri"/>
            </a:endParaRPr>
          </a:p>
        </p:txBody>
      </p:sp>
      <p:sp>
        <p:nvSpPr>
          <p:cNvPr id="1157" name="Google Shape;1157;p64"/>
          <p:cNvSpPr txBox="1"/>
          <p:nvPr/>
        </p:nvSpPr>
        <p:spPr>
          <a:xfrm>
            <a:off x="3395224" y="3445924"/>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{{VS_MAVEN_R}}</a:t>
            </a:r>
            <a:endParaRPr b="0" i="0" sz="800" u="none" cap="none" strike="noStrike">
              <a:solidFill>
                <a:srgbClr val="595959"/>
              </a:solidFill>
              <a:latin typeface="Calibri"/>
              <a:ea typeface="Calibri"/>
              <a:cs typeface="Calibri"/>
              <a:sym typeface="Calibri"/>
            </a:endParaRPr>
          </a:p>
        </p:txBody>
      </p:sp>
      <p:sp>
        <p:nvSpPr>
          <p:cNvPr id="1158" name="Google Shape;1158;p64"/>
          <p:cNvSpPr txBox="1"/>
          <p:nvPr/>
        </p:nvSpPr>
        <p:spPr>
          <a:xfrm>
            <a:off x="3395224" y="3694076"/>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{{VS_JSDEP_R}}</a:t>
            </a:r>
            <a:endParaRPr b="0" i="0" sz="800" u="none" cap="none" strike="noStrike">
              <a:solidFill>
                <a:srgbClr val="595959"/>
              </a:solidFill>
              <a:latin typeface="Calibri"/>
              <a:ea typeface="Calibri"/>
              <a:cs typeface="Calibri"/>
              <a:sym typeface="Calibri"/>
            </a:endParaRPr>
          </a:p>
        </p:txBody>
      </p:sp>
      <p:sp>
        <p:nvSpPr>
          <p:cNvPr id="1159" name="Google Shape;1159;p64"/>
          <p:cNvSpPr txBox="1"/>
          <p:nvPr/>
        </p:nvSpPr>
        <p:spPr>
          <a:xfrm>
            <a:off x="3395224" y="3942227"/>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{{VS_GRADL_R}}</a:t>
            </a:r>
            <a:endParaRPr b="0" i="0" sz="800" u="none" cap="none" strike="noStrike">
              <a:solidFill>
                <a:srgbClr val="595959"/>
              </a:solidFill>
              <a:latin typeface="Calibri"/>
              <a:ea typeface="Calibri"/>
              <a:cs typeface="Calibri"/>
              <a:sym typeface="Calibri"/>
            </a:endParaRPr>
          </a:p>
        </p:txBody>
      </p:sp>
      <p:sp>
        <p:nvSpPr>
          <p:cNvPr id="1160" name="Google Shape;1160;p64"/>
          <p:cNvSpPr txBox="1"/>
          <p:nvPr/>
        </p:nvSpPr>
        <p:spPr>
          <a:xfrm>
            <a:off x="3395224" y="4190379"/>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{{VS_EOL_R}}</a:t>
            </a:r>
            <a:endParaRPr b="0" i="0" sz="800" u="none" cap="none" strike="noStrike">
              <a:solidFill>
                <a:srgbClr val="595959"/>
              </a:solidFill>
              <a:latin typeface="Calibri"/>
              <a:ea typeface="Calibri"/>
              <a:cs typeface="Calibri"/>
              <a:sym typeface="Calibri"/>
            </a:endParaRPr>
          </a:p>
        </p:txBody>
      </p:sp>
      <p:sp>
        <p:nvSpPr>
          <p:cNvPr id="1161" name="Google Shape;1161;p64"/>
          <p:cNvSpPr txBox="1"/>
          <p:nvPr/>
        </p:nvSpPr>
        <p:spPr>
          <a:xfrm>
            <a:off x="7864530" y="1338961"/>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{{DSS_ON_R}}</a:t>
            </a:r>
            <a:endParaRPr b="0" i="0" sz="800" u="none" cap="none" strike="noStrike">
              <a:solidFill>
                <a:srgbClr val="595959"/>
              </a:solidFill>
              <a:latin typeface="Calibri"/>
              <a:ea typeface="Calibri"/>
              <a:cs typeface="Calibri"/>
              <a:sym typeface="Calibri"/>
            </a:endParaRPr>
          </a:p>
        </p:txBody>
      </p:sp>
      <p:sp>
        <p:nvSpPr>
          <p:cNvPr id="1162" name="Google Shape;1162;p64"/>
          <p:cNvSpPr txBox="1"/>
          <p:nvPr/>
        </p:nvSpPr>
        <p:spPr>
          <a:xfrm>
            <a:off x="7864530" y="1819992"/>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{{DSS_AZ1_R}}</a:t>
            </a:r>
            <a:endParaRPr b="0" i="0" sz="800" u="none" cap="none" strike="noStrike">
              <a:solidFill>
                <a:srgbClr val="595959"/>
              </a:solidFill>
              <a:latin typeface="Calibri"/>
              <a:ea typeface="Calibri"/>
              <a:cs typeface="Calibri"/>
              <a:sym typeface="Calibri"/>
            </a:endParaRPr>
          </a:p>
        </p:txBody>
      </p:sp>
      <p:sp>
        <p:nvSpPr>
          <p:cNvPr id="1163" name="Google Shape;1163;p64"/>
          <p:cNvSpPr txBox="1"/>
          <p:nvPr/>
        </p:nvSpPr>
        <p:spPr>
          <a:xfrm>
            <a:off x="7864530" y="2008459"/>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{{DSS_AZ2_R}}</a:t>
            </a:r>
            <a:endParaRPr b="0" i="0" sz="800" u="none" cap="none" strike="noStrike">
              <a:solidFill>
                <a:srgbClr val="595959"/>
              </a:solidFill>
              <a:latin typeface="Calibri"/>
              <a:ea typeface="Calibri"/>
              <a:cs typeface="Calibri"/>
              <a:sym typeface="Calibri"/>
            </a:endParaRPr>
          </a:p>
        </p:txBody>
      </p:sp>
      <p:sp>
        <p:nvSpPr>
          <p:cNvPr id="1164" name="Google Shape;1164;p64"/>
          <p:cNvSpPr txBox="1"/>
          <p:nvPr/>
        </p:nvSpPr>
        <p:spPr>
          <a:xfrm>
            <a:off x="7864530" y="2767448"/>
            <a:ext cx="946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{{DSS_PAAS_R}}</a:t>
            </a:r>
            <a:endParaRPr b="0" i="0" sz="800" u="none" cap="none" strike="noStrike">
              <a:solidFill>
                <a:srgbClr val="595959"/>
              </a:solidFill>
              <a:latin typeface="Calibri"/>
              <a:ea typeface="Calibri"/>
              <a:cs typeface="Calibri"/>
              <a:sym typeface="Calibri"/>
            </a:endParaRPr>
          </a:p>
        </p:txBody>
      </p:sp>
      <p:sp>
        <p:nvSpPr>
          <p:cNvPr id="1165" name="Google Shape;1165;p64"/>
          <p:cNvSpPr txBox="1"/>
          <p:nvPr/>
        </p:nvSpPr>
        <p:spPr>
          <a:xfrm>
            <a:off x="7854823" y="2955915"/>
            <a:ext cx="946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{{DSS_DW_R}}</a:t>
            </a:r>
            <a:endParaRPr b="0" i="0" sz="800" u="none" cap="none" strike="noStrike">
              <a:solidFill>
                <a:srgbClr val="595959"/>
              </a:solidFill>
              <a:latin typeface="Calibri"/>
              <a:ea typeface="Calibri"/>
              <a:cs typeface="Calibri"/>
              <a:sym typeface="Calibri"/>
            </a:endParaRPr>
          </a:p>
        </p:txBody>
      </p:sp>
      <p:sp>
        <p:nvSpPr>
          <p:cNvPr id="1166" name="Google Shape;1166;p64"/>
          <p:cNvSpPr txBox="1"/>
          <p:nvPr/>
        </p:nvSpPr>
        <p:spPr>
          <a:xfrm>
            <a:off x="7854823" y="3144382"/>
            <a:ext cx="946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{{DSS_BQ_R}}</a:t>
            </a:r>
            <a:endParaRPr b="0" i="0" sz="800" u="none" cap="none" strike="noStrike">
              <a:solidFill>
                <a:srgbClr val="595959"/>
              </a:solidFill>
              <a:latin typeface="Calibri"/>
              <a:ea typeface="Calibri"/>
              <a:cs typeface="Calibri"/>
              <a:sym typeface="Calibri"/>
            </a:endParaRPr>
          </a:p>
        </p:txBody>
      </p:sp>
      <p:sp>
        <p:nvSpPr>
          <p:cNvPr id="1167" name="Google Shape;1167;p64"/>
          <p:cNvSpPr txBox="1"/>
          <p:nvPr/>
        </p:nvSpPr>
        <p:spPr>
          <a:xfrm>
            <a:off x="7864530" y="3332849"/>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{{DSS_DDB_R}}</a:t>
            </a:r>
            <a:endParaRPr b="0" i="0" sz="800" u="none" cap="none" strike="noStrike">
              <a:solidFill>
                <a:srgbClr val="595959"/>
              </a:solidFill>
              <a:latin typeface="Calibri"/>
              <a:ea typeface="Calibri"/>
              <a:cs typeface="Calibri"/>
              <a:sym typeface="Calibri"/>
            </a:endParaRPr>
          </a:p>
        </p:txBody>
      </p:sp>
      <p:sp>
        <p:nvSpPr>
          <p:cNvPr id="1168" name="Google Shape;1168;p64"/>
          <p:cNvSpPr txBox="1"/>
          <p:nvPr/>
        </p:nvSpPr>
        <p:spPr>
          <a:xfrm>
            <a:off x="7864530" y="3521315"/>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{{DSS_SNOW_R}}</a:t>
            </a:r>
            <a:endParaRPr b="0" i="0" sz="800" u="none" cap="none" strike="noStrike">
              <a:solidFill>
                <a:srgbClr val="595959"/>
              </a:solidFill>
              <a:latin typeface="Calibri"/>
              <a:ea typeface="Calibri"/>
              <a:cs typeface="Calibri"/>
              <a:sym typeface="Calibri"/>
            </a:endParaRPr>
          </a:p>
        </p:txBody>
      </p:sp>
      <p:sp>
        <p:nvSpPr>
          <p:cNvPr id="1169" name="Google Shape;1169;p64"/>
          <p:cNvSpPr txBox="1"/>
          <p:nvPr/>
        </p:nvSpPr>
        <p:spPr>
          <a:xfrm>
            <a:off x="7864530" y="3709782"/>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{{DSS_IAAS_R}}</a:t>
            </a:r>
            <a:endParaRPr b="0" i="0" sz="800" u="none" cap="none" strike="noStrike">
              <a:solidFill>
                <a:srgbClr val="595959"/>
              </a:solidFill>
              <a:latin typeface="Calibri"/>
              <a:ea typeface="Calibri"/>
              <a:cs typeface="Calibri"/>
              <a:sym typeface="Calibri"/>
            </a:endParaRPr>
          </a:p>
        </p:txBody>
      </p:sp>
      <p:sp>
        <p:nvSpPr>
          <p:cNvPr id="1170" name="Google Shape;1170;p64"/>
          <p:cNvSpPr txBox="1"/>
          <p:nvPr/>
        </p:nvSpPr>
        <p:spPr>
          <a:xfrm>
            <a:off x="7864530" y="3898249"/>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{{DSS_VMD_R}}</a:t>
            </a:r>
            <a:endParaRPr b="0" i="0" sz="800" u="none" cap="none" strike="noStrike">
              <a:solidFill>
                <a:srgbClr val="595959"/>
              </a:solidFill>
              <a:latin typeface="Calibri"/>
              <a:ea typeface="Calibri"/>
              <a:cs typeface="Calibri"/>
              <a:sym typeface="Calibri"/>
            </a:endParaRPr>
          </a:p>
        </p:txBody>
      </p:sp>
      <p:sp>
        <p:nvSpPr>
          <p:cNvPr id="1171" name="Google Shape;1171;p64"/>
          <p:cNvSpPr txBox="1"/>
          <p:nvPr/>
        </p:nvSpPr>
        <p:spPr>
          <a:xfrm>
            <a:off x="7864530" y="4086716"/>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{{DSS_SLS_R}}</a:t>
            </a:r>
            <a:endParaRPr b="0" i="0" sz="800" u="none" cap="none" strike="noStrike">
              <a:solidFill>
                <a:srgbClr val="595959"/>
              </a:solidFill>
              <a:latin typeface="Calibri"/>
              <a:ea typeface="Calibri"/>
              <a:cs typeface="Calibri"/>
              <a:sym typeface="Calibri"/>
            </a:endParaRPr>
          </a:p>
        </p:txBody>
      </p:sp>
      <p:sp>
        <p:nvSpPr>
          <p:cNvPr id="1172" name="Google Shape;1172;p64"/>
          <p:cNvSpPr txBox="1"/>
          <p:nvPr/>
        </p:nvSpPr>
        <p:spPr>
          <a:xfrm>
            <a:off x="7864530" y="4275183"/>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{{DSS_AIV_R}}</a:t>
            </a:r>
            <a:endParaRPr b="0" i="0" sz="800" u="none" cap="none" strike="noStrike">
              <a:solidFill>
                <a:srgbClr val="595959"/>
              </a:solidFill>
              <a:latin typeface="Calibri"/>
              <a:ea typeface="Calibri"/>
              <a:cs typeface="Calibri"/>
              <a:sym typeface="Calibri"/>
            </a:endParaRPr>
          </a:p>
        </p:txBody>
      </p:sp>
      <p:sp>
        <p:nvSpPr>
          <p:cNvPr id="1173" name="Google Shape;1173;p64"/>
          <p:cNvSpPr txBox="1"/>
          <p:nvPr/>
        </p:nvSpPr>
        <p:spPr>
          <a:xfrm>
            <a:off x="7880542" y="4477894"/>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{{DSS_AIAO_R}}</a:t>
            </a:r>
            <a:endParaRPr b="0" i="0" sz="800" u="none" cap="none" strike="noStrike">
              <a:solidFill>
                <a:srgbClr val="595959"/>
              </a:solidFill>
              <a:latin typeface="Calibri"/>
              <a:ea typeface="Calibri"/>
              <a:cs typeface="Calibri"/>
              <a:sym typeface="Calibri"/>
            </a:endParaRPr>
          </a:p>
        </p:txBody>
      </p:sp>
      <p:sp>
        <p:nvSpPr>
          <p:cNvPr id="1174" name="Google Shape;1174;p64"/>
          <p:cNvSpPr txBox="1"/>
          <p:nvPr/>
        </p:nvSpPr>
        <p:spPr>
          <a:xfrm>
            <a:off x="7880542" y="4666361"/>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{{DSS_AIOA_R}}</a:t>
            </a:r>
            <a:endParaRPr b="0" i="0" sz="800" u="none" cap="none" strike="noStrike">
              <a:solidFill>
                <a:srgbClr val="595959"/>
              </a:solidFill>
              <a:latin typeface="Calibri"/>
              <a:ea typeface="Calibri"/>
              <a:cs typeface="Calibri"/>
              <a:sym typeface="Calibri"/>
            </a:endParaRPr>
          </a:p>
        </p:txBody>
      </p:sp>
      <p:sp>
        <p:nvSpPr>
          <p:cNvPr id="1175" name="Google Shape;1175;p64"/>
          <p:cNvSpPr txBox="1"/>
          <p:nvPr/>
        </p:nvSpPr>
        <p:spPr>
          <a:xfrm>
            <a:off x="7880549" y="4830150"/>
            <a:ext cx="943800" cy="1881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{{DSS_SHAD_R}}</a:t>
            </a:r>
            <a:endParaRPr b="0" i="0" sz="800" u="none" cap="none" strike="noStrike">
              <a:solidFill>
                <a:srgbClr val="595959"/>
              </a:solidFill>
              <a:latin typeface="Calibri"/>
              <a:ea typeface="Calibri"/>
              <a:cs typeface="Calibri"/>
              <a:sym typeface="Calibri"/>
            </a:endParaRPr>
          </a:p>
        </p:txBody>
      </p:sp>
      <p:cxnSp>
        <p:nvCxnSpPr>
          <p:cNvPr id="1176" name="Google Shape;1176;p64"/>
          <p:cNvCxnSpPr/>
          <p:nvPr/>
        </p:nvCxnSpPr>
        <p:spPr>
          <a:xfrm>
            <a:off x="383107" y="4139500"/>
            <a:ext cx="3977700" cy="0"/>
          </a:xfrm>
          <a:prstGeom prst="straightConnector1">
            <a:avLst/>
          </a:prstGeom>
          <a:noFill/>
          <a:ln cap="flat" cmpd="sng" w="9525">
            <a:solidFill>
              <a:srgbClr val="888888"/>
            </a:solidFill>
            <a:prstDash val="solid"/>
            <a:round/>
            <a:headEnd len="sm" w="sm" type="none"/>
            <a:tailEnd len="sm" w="sm" type="none"/>
          </a:ln>
        </p:spPr>
      </p:cxnSp>
      <p:cxnSp>
        <p:nvCxnSpPr>
          <p:cNvPr id="1177" name="Google Shape;1177;p64"/>
          <p:cNvCxnSpPr/>
          <p:nvPr/>
        </p:nvCxnSpPr>
        <p:spPr>
          <a:xfrm>
            <a:off x="380066" y="3648302"/>
            <a:ext cx="3977700" cy="0"/>
          </a:xfrm>
          <a:prstGeom prst="straightConnector1">
            <a:avLst/>
          </a:prstGeom>
          <a:noFill/>
          <a:ln cap="flat" cmpd="sng" w="9525">
            <a:solidFill>
              <a:srgbClr val="888888"/>
            </a:solidFill>
            <a:prstDash val="solid"/>
            <a:round/>
            <a:headEnd len="sm" w="sm" type="none"/>
            <a:tailEnd len="sm" w="sm" type="none"/>
          </a:ln>
        </p:spPr>
      </p:cxnSp>
      <p:cxnSp>
        <p:nvCxnSpPr>
          <p:cNvPr id="1178" name="Google Shape;1178;p64"/>
          <p:cNvCxnSpPr/>
          <p:nvPr/>
        </p:nvCxnSpPr>
        <p:spPr>
          <a:xfrm>
            <a:off x="360551" y="3158776"/>
            <a:ext cx="3977700" cy="0"/>
          </a:xfrm>
          <a:prstGeom prst="straightConnector1">
            <a:avLst/>
          </a:prstGeom>
          <a:noFill/>
          <a:ln cap="flat" cmpd="sng" w="9525">
            <a:solidFill>
              <a:srgbClr val="888888"/>
            </a:solidFill>
            <a:prstDash val="solid"/>
            <a:round/>
            <a:headEnd len="sm" w="sm" type="none"/>
            <a:tailEnd len="sm" w="sm" type="none"/>
          </a:ln>
        </p:spPr>
      </p:cxnSp>
      <p:cxnSp>
        <p:nvCxnSpPr>
          <p:cNvPr id="1179" name="Google Shape;1179;p64"/>
          <p:cNvCxnSpPr/>
          <p:nvPr/>
        </p:nvCxnSpPr>
        <p:spPr>
          <a:xfrm>
            <a:off x="349400" y="2660090"/>
            <a:ext cx="3977700" cy="0"/>
          </a:xfrm>
          <a:prstGeom prst="straightConnector1">
            <a:avLst/>
          </a:prstGeom>
          <a:noFill/>
          <a:ln cap="flat" cmpd="sng" w="9525">
            <a:solidFill>
              <a:srgbClr val="888888"/>
            </a:solidFill>
            <a:prstDash val="solid"/>
            <a:round/>
            <a:headEnd len="sm" w="sm" type="none"/>
            <a:tailEnd len="sm" w="sm" type="none"/>
          </a:ln>
        </p:spPr>
      </p:cxnSp>
      <p:cxnSp>
        <p:nvCxnSpPr>
          <p:cNvPr id="1180" name="Google Shape;1180;p64"/>
          <p:cNvCxnSpPr/>
          <p:nvPr/>
        </p:nvCxnSpPr>
        <p:spPr>
          <a:xfrm>
            <a:off x="349653" y="2174706"/>
            <a:ext cx="3977700" cy="0"/>
          </a:xfrm>
          <a:prstGeom prst="straightConnector1">
            <a:avLst/>
          </a:prstGeom>
          <a:noFill/>
          <a:ln cap="flat" cmpd="sng" w="9525">
            <a:solidFill>
              <a:srgbClr val="888888"/>
            </a:solidFill>
            <a:prstDash val="solid"/>
            <a:round/>
            <a:headEnd len="sm" w="sm" type="none"/>
            <a:tailEnd len="sm" w="sm" type="none"/>
          </a:ln>
        </p:spPr>
      </p:cxnSp>
      <p:cxnSp>
        <p:nvCxnSpPr>
          <p:cNvPr id="1181" name="Google Shape;1181;p64"/>
          <p:cNvCxnSpPr/>
          <p:nvPr/>
        </p:nvCxnSpPr>
        <p:spPr>
          <a:xfrm>
            <a:off x="352695" y="1683508"/>
            <a:ext cx="3977700" cy="0"/>
          </a:xfrm>
          <a:prstGeom prst="straightConnector1">
            <a:avLst/>
          </a:prstGeom>
          <a:noFill/>
          <a:ln cap="flat" cmpd="sng" w="9525">
            <a:solidFill>
              <a:srgbClr val="888888"/>
            </a:solidFill>
            <a:prstDash val="solid"/>
            <a:round/>
            <a:headEnd len="sm" w="sm" type="none"/>
            <a:tailEnd len="sm" w="sm" type="none"/>
          </a:ln>
        </p:spPr>
      </p:cxnSp>
      <p:cxnSp>
        <p:nvCxnSpPr>
          <p:cNvPr id="1182" name="Google Shape;1182;p64"/>
          <p:cNvCxnSpPr/>
          <p:nvPr/>
        </p:nvCxnSpPr>
        <p:spPr>
          <a:xfrm>
            <a:off x="4817960" y="1322458"/>
            <a:ext cx="3977700" cy="0"/>
          </a:xfrm>
          <a:prstGeom prst="straightConnector1">
            <a:avLst/>
          </a:prstGeom>
          <a:noFill/>
          <a:ln cap="flat" cmpd="sng" w="14300">
            <a:solidFill>
              <a:srgbClr val="888888"/>
            </a:solidFill>
            <a:prstDash val="solid"/>
            <a:round/>
            <a:headEnd len="sm" w="sm" type="none"/>
            <a:tailEnd len="sm" w="sm" type="none"/>
          </a:ln>
        </p:spPr>
      </p:cxnSp>
      <p:cxnSp>
        <p:nvCxnSpPr>
          <p:cNvPr id="1183" name="Google Shape;1183;p64"/>
          <p:cNvCxnSpPr/>
          <p:nvPr/>
        </p:nvCxnSpPr>
        <p:spPr>
          <a:xfrm>
            <a:off x="370950" y="1408929"/>
            <a:ext cx="3977700" cy="0"/>
          </a:xfrm>
          <a:prstGeom prst="straightConnector1">
            <a:avLst/>
          </a:prstGeom>
          <a:noFill/>
          <a:ln cap="flat" cmpd="sng" w="14300">
            <a:solidFill>
              <a:srgbClr val="888888"/>
            </a:solidFill>
            <a:prstDash val="solid"/>
            <a:round/>
            <a:headEnd len="sm" w="sm" type="none"/>
            <a:tailEnd len="sm" w="sm" type="none"/>
          </a:ln>
        </p:spPr>
      </p:cxnSp>
      <p:sp>
        <p:nvSpPr>
          <p:cNvPr id="1184" name="Google Shape;1184;p64"/>
          <p:cNvSpPr/>
          <p:nvPr/>
        </p:nvSpPr>
        <p:spPr>
          <a:xfrm>
            <a:off x="4805920" y="2181309"/>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85" name="Google Shape;1185;p64"/>
          <p:cNvCxnSpPr/>
          <p:nvPr/>
        </p:nvCxnSpPr>
        <p:spPr>
          <a:xfrm>
            <a:off x="4805920" y="2369463"/>
            <a:ext cx="3977700" cy="0"/>
          </a:xfrm>
          <a:prstGeom prst="straightConnector1">
            <a:avLst/>
          </a:prstGeom>
          <a:noFill/>
          <a:ln cap="flat" cmpd="sng" w="9525">
            <a:solidFill>
              <a:srgbClr val="888888"/>
            </a:solidFill>
            <a:prstDash val="solid"/>
            <a:round/>
            <a:headEnd len="sm" w="sm" type="none"/>
            <a:tailEnd len="sm" w="sm" type="none"/>
          </a:ln>
        </p:spPr>
      </p:cxnSp>
      <p:sp>
        <p:nvSpPr>
          <p:cNvPr id="1186" name="Google Shape;1186;p64"/>
          <p:cNvSpPr/>
          <p:nvPr/>
        </p:nvSpPr>
        <p:spPr>
          <a:xfrm>
            <a:off x="4897361" y="2175132"/>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CosmosDB: Azure PE (Disabled Public)</a:t>
            </a:r>
            <a:endParaRPr b="0" i="0" sz="800" u="none" cap="none" strike="noStrike">
              <a:solidFill>
                <a:schemeClr val="dk1"/>
              </a:solidFill>
              <a:latin typeface="Calibri"/>
              <a:ea typeface="Calibri"/>
              <a:cs typeface="Calibri"/>
              <a:sym typeface="Calibri"/>
            </a:endParaRPr>
          </a:p>
        </p:txBody>
      </p:sp>
      <p:sp>
        <p:nvSpPr>
          <p:cNvPr id="1187" name="Google Shape;1187;p64"/>
          <p:cNvSpPr/>
          <p:nvPr/>
        </p:nvSpPr>
        <p:spPr>
          <a:xfrm>
            <a:off x="6888543" y="2181309"/>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{{DSS_CDBAZ1}}</a:t>
            </a:r>
            <a:endParaRPr b="0" i="0" sz="700" u="none" cap="none" strike="noStrike">
              <a:solidFill>
                <a:schemeClr val="dk1"/>
              </a:solidFill>
              <a:latin typeface="Calibri"/>
              <a:ea typeface="Calibri"/>
              <a:cs typeface="Calibri"/>
              <a:sym typeface="Calibri"/>
            </a:endParaRPr>
          </a:p>
        </p:txBody>
      </p:sp>
      <p:sp>
        <p:nvSpPr>
          <p:cNvPr id="1188" name="Google Shape;1188;p64"/>
          <p:cNvSpPr/>
          <p:nvPr/>
        </p:nvSpPr>
        <p:spPr>
          <a:xfrm>
            <a:off x="4805920" y="2369463"/>
            <a:ext cx="3977700" cy="188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89" name="Google Shape;1189;p64"/>
          <p:cNvCxnSpPr/>
          <p:nvPr/>
        </p:nvCxnSpPr>
        <p:spPr>
          <a:xfrm>
            <a:off x="4805920" y="2563319"/>
            <a:ext cx="3977700" cy="0"/>
          </a:xfrm>
          <a:prstGeom prst="straightConnector1">
            <a:avLst/>
          </a:prstGeom>
          <a:noFill/>
          <a:ln cap="flat" cmpd="sng" w="9525">
            <a:solidFill>
              <a:srgbClr val="888888"/>
            </a:solidFill>
            <a:prstDash val="solid"/>
            <a:round/>
            <a:headEnd len="sm" w="sm" type="none"/>
            <a:tailEnd len="sm" w="sm" type="none"/>
          </a:ln>
        </p:spPr>
      </p:cxnSp>
      <p:sp>
        <p:nvSpPr>
          <p:cNvPr id="1190" name="Google Shape;1190;p64"/>
          <p:cNvSpPr/>
          <p:nvPr/>
        </p:nvSpPr>
        <p:spPr>
          <a:xfrm>
            <a:off x="4897361" y="2365724"/>
            <a:ext cx="19704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CosmosDB: Azure PE (Selected VNets)</a:t>
            </a:r>
            <a:endParaRPr b="0" i="0" sz="800" u="none" cap="none" strike="noStrike">
              <a:solidFill>
                <a:schemeClr val="dk1"/>
              </a:solidFill>
              <a:latin typeface="Calibri"/>
              <a:ea typeface="Calibri"/>
              <a:cs typeface="Calibri"/>
              <a:sym typeface="Calibri"/>
            </a:endParaRPr>
          </a:p>
        </p:txBody>
      </p:sp>
      <p:sp>
        <p:nvSpPr>
          <p:cNvPr id="1191" name="Google Shape;1191;p64"/>
          <p:cNvSpPr/>
          <p:nvPr/>
        </p:nvSpPr>
        <p:spPr>
          <a:xfrm>
            <a:off x="6888543" y="2369463"/>
            <a:ext cx="875100" cy="188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{{DSS_CDBAZ2}}</a:t>
            </a:r>
            <a:endParaRPr b="0" i="0" sz="700" u="none" cap="none" strike="noStrike">
              <a:solidFill>
                <a:schemeClr val="dk1"/>
              </a:solidFill>
              <a:latin typeface="Calibri"/>
              <a:ea typeface="Calibri"/>
              <a:cs typeface="Calibri"/>
              <a:sym typeface="Calibri"/>
            </a:endParaRPr>
          </a:p>
        </p:txBody>
      </p:sp>
      <p:sp>
        <p:nvSpPr>
          <p:cNvPr id="1192" name="Google Shape;1192;p64"/>
          <p:cNvSpPr txBox="1"/>
          <p:nvPr/>
        </p:nvSpPr>
        <p:spPr>
          <a:xfrm>
            <a:off x="7869851" y="2206194"/>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{{DSS_CDBAZ1_R}}</a:t>
            </a:r>
            <a:endParaRPr b="0" i="0" sz="800" u="none" cap="none" strike="noStrike">
              <a:solidFill>
                <a:srgbClr val="595959"/>
              </a:solidFill>
              <a:latin typeface="Calibri"/>
              <a:ea typeface="Calibri"/>
              <a:cs typeface="Calibri"/>
              <a:sym typeface="Calibri"/>
            </a:endParaRPr>
          </a:p>
        </p:txBody>
      </p:sp>
      <p:sp>
        <p:nvSpPr>
          <p:cNvPr id="1193" name="Google Shape;1193;p64"/>
          <p:cNvSpPr txBox="1"/>
          <p:nvPr/>
        </p:nvSpPr>
        <p:spPr>
          <a:xfrm>
            <a:off x="7869851" y="2394661"/>
            <a:ext cx="943800" cy="1578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{{DSS_CDBAZ2_R}}</a:t>
            </a:r>
            <a:endParaRPr b="0" i="0" sz="800" u="none" cap="none" strike="noStrike">
              <a:solidFill>
                <a:srgbClr val="595959"/>
              </a:solidFill>
              <a:latin typeface="Calibri"/>
              <a:ea typeface="Calibri"/>
              <a:cs typeface="Calibri"/>
              <a:sym typeface="Calibri"/>
            </a:endParaRPr>
          </a:p>
        </p:txBody>
      </p:sp>
      <p:cxnSp>
        <p:nvCxnSpPr>
          <p:cNvPr id="1194" name="Google Shape;1194;p64"/>
          <p:cNvCxnSpPr/>
          <p:nvPr/>
        </p:nvCxnSpPr>
        <p:spPr>
          <a:xfrm>
            <a:off x="4816611" y="4831261"/>
            <a:ext cx="3977700" cy="0"/>
          </a:xfrm>
          <a:prstGeom prst="straightConnector1">
            <a:avLst/>
          </a:prstGeom>
          <a:noFill/>
          <a:ln cap="flat" cmpd="sng" w="9525">
            <a:solidFill>
              <a:srgbClr val="888888"/>
            </a:solidFill>
            <a:prstDash val="solid"/>
            <a:round/>
            <a:headEnd len="sm" w="sm" type="none"/>
            <a:tailEnd len="sm" w="sm" type="none"/>
          </a:ln>
        </p:spPr>
      </p:cxnSp>
      <p:sp>
        <p:nvSpPr>
          <p:cNvPr id="1195" name="Google Shape;1195;p64"/>
          <p:cNvSpPr/>
          <p:nvPr/>
        </p:nvSpPr>
        <p:spPr>
          <a:xfrm>
            <a:off x="7042170" y="146730"/>
            <a:ext cx="2491200" cy="43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500"/>
              <a:buFont typeface="JetBrains Mono"/>
              <a:buNone/>
            </a:pPr>
            <a:r>
              <a:rPr b="1" i="0" lang="en" sz="800" u="none" cap="none" strike="noStrike">
                <a:solidFill>
                  <a:srgbClr val="218C21"/>
                </a:solidFill>
                <a:latin typeface="Calibri"/>
                <a:ea typeface="Calibri"/>
                <a:cs typeface="Calibri"/>
                <a:sym typeface="Calibri"/>
              </a:rPr>
              <a:t>✓ = Aligned with Wiz Recommendation</a:t>
            </a:r>
            <a:br>
              <a:rPr b="1" i="0" lang="en" sz="800" u="none" cap="none" strike="noStrike">
                <a:solidFill>
                  <a:srgbClr val="218C21"/>
                </a:solidFill>
                <a:latin typeface="Calibri"/>
                <a:ea typeface="Calibri"/>
                <a:cs typeface="Calibri"/>
                <a:sym typeface="Calibri"/>
              </a:rPr>
            </a:br>
            <a:r>
              <a:rPr b="1" i="0" lang="en" sz="800" u="none" cap="none" strike="noStrike">
                <a:solidFill>
                  <a:srgbClr val="CC1212"/>
                </a:solidFill>
                <a:latin typeface="Calibri"/>
                <a:ea typeface="Calibri"/>
                <a:cs typeface="Calibri"/>
                <a:sym typeface="Calibri"/>
              </a:rPr>
              <a:t>✗ = May want to revisit configuration </a:t>
            </a:r>
            <a:endParaRPr b="1" i="0" sz="800" u="none" cap="none" strike="noStrike">
              <a:solidFill>
                <a:srgbClr val="CC1212"/>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500"/>
              <a:buFont typeface="JetBrains Mono"/>
              <a:buNone/>
            </a:pPr>
            <a:r>
              <a:rPr b="1" i="0" lang="en" sz="800" u="none" cap="none" strike="noStrike">
                <a:solidFill>
                  <a:srgbClr val="595959"/>
                </a:solidFill>
                <a:latin typeface="Calibri"/>
                <a:ea typeface="Calibri"/>
                <a:cs typeface="Calibri"/>
                <a:sym typeface="Calibri"/>
              </a:rPr>
              <a:t>N/A = Informational, customer preference</a:t>
            </a:r>
            <a:endParaRPr b="0" i="0" sz="1000" u="none" cap="none" strike="noStrike">
              <a:solidFill>
                <a:srgbClr val="595959"/>
              </a:solidFill>
              <a:latin typeface="Calibri"/>
              <a:ea typeface="Calibri"/>
              <a:cs typeface="Calibri"/>
              <a:sym typeface="Calibri"/>
            </a:endParaRPr>
          </a:p>
        </p:txBody>
      </p:sp>
      <p:sp>
        <p:nvSpPr>
          <p:cNvPr id="1196" name="Google Shape;1196;p64"/>
          <p:cNvSpPr/>
          <p:nvPr/>
        </p:nvSpPr>
        <p:spPr>
          <a:xfrm>
            <a:off x="366844" y="4379330"/>
            <a:ext cx="3977700" cy="246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197" name="Google Shape;1197;p64"/>
          <p:cNvCxnSpPr/>
          <p:nvPr/>
        </p:nvCxnSpPr>
        <p:spPr>
          <a:xfrm>
            <a:off x="372419" y="4625423"/>
            <a:ext cx="3977700" cy="0"/>
          </a:xfrm>
          <a:prstGeom prst="straightConnector1">
            <a:avLst/>
          </a:prstGeom>
          <a:noFill/>
          <a:ln cap="flat" cmpd="sng" w="9525">
            <a:solidFill>
              <a:srgbClr val="888888"/>
            </a:solidFill>
            <a:prstDash val="solid"/>
            <a:round/>
            <a:headEnd len="sm" w="sm" type="none"/>
            <a:tailEnd len="sm" w="sm" type="none"/>
          </a:ln>
        </p:spPr>
      </p:cxnSp>
      <p:sp>
        <p:nvSpPr>
          <p:cNvPr id="1198" name="Google Shape;1198;p64"/>
          <p:cNvSpPr/>
          <p:nvPr/>
        </p:nvSpPr>
        <p:spPr>
          <a:xfrm>
            <a:off x="373120" y="4379331"/>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Linux Vulnerabilities</a:t>
            </a:r>
            <a:endParaRPr b="0" i="0" sz="800" u="none" cap="none" strike="noStrike">
              <a:solidFill>
                <a:schemeClr val="dk1"/>
              </a:solidFill>
              <a:latin typeface="Calibri"/>
              <a:ea typeface="Calibri"/>
              <a:cs typeface="Calibri"/>
              <a:sym typeface="Calibri"/>
            </a:endParaRPr>
          </a:p>
        </p:txBody>
      </p:sp>
      <p:sp>
        <p:nvSpPr>
          <p:cNvPr id="1199" name="Google Shape;1199;p64"/>
          <p:cNvSpPr/>
          <p:nvPr/>
        </p:nvSpPr>
        <p:spPr>
          <a:xfrm>
            <a:off x="2571260" y="4379330"/>
            <a:ext cx="8751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700"/>
              <a:buFont typeface="JetBrains Mono"/>
              <a:buNone/>
            </a:pPr>
            <a:r>
              <a:rPr b="0" i="0" lang="en" sz="700" u="none" cap="none" strike="noStrike">
                <a:solidFill>
                  <a:srgbClr val="1A56DB"/>
                </a:solidFill>
                <a:latin typeface="Calibri"/>
                <a:ea typeface="Calibri"/>
                <a:cs typeface="Calibri"/>
                <a:sym typeface="Calibri"/>
              </a:rPr>
              <a:t>{{VS_LVULN}}</a:t>
            </a:r>
            <a:endParaRPr b="0" i="0" sz="700" u="none" cap="none" strike="noStrike">
              <a:solidFill>
                <a:schemeClr val="dk1"/>
              </a:solidFill>
              <a:latin typeface="Calibri"/>
              <a:ea typeface="Calibri"/>
              <a:cs typeface="Calibri"/>
              <a:sym typeface="Calibri"/>
            </a:endParaRPr>
          </a:p>
        </p:txBody>
      </p:sp>
      <p:sp>
        <p:nvSpPr>
          <p:cNvPr id="1200" name="Google Shape;1200;p64"/>
          <p:cNvSpPr txBox="1"/>
          <p:nvPr/>
        </p:nvSpPr>
        <p:spPr>
          <a:xfrm>
            <a:off x="3396898" y="4430702"/>
            <a:ext cx="956400" cy="184500"/>
          </a:xfrm>
          <a:prstGeom prst="rect">
            <a:avLst/>
          </a:prstGeom>
          <a:noFill/>
          <a:ln>
            <a:noFill/>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Calibri"/>
                <a:ea typeface="Calibri"/>
                <a:cs typeface="Calibri"/>
                <a:sym typeface="Calibri"/>
              </a:rPr>
              <a:t>{{VS_LVULN_R}}</a:t>
            </a:r>
            <a:endParaRPr b="0" i="0" sz="800" u="none" cap="none" strike="noStrike">
              <a:solidFill>
                <a:srgbClr val="595959"/>
              </a:solidFill>
              <a:latin typeface="Calibri"/>
              <a:ea typeface="Calibri"/>
              <a:cs typeface="Calibri"/>
              <a:sym typeface="Calibri"/>
            </a:endParaRPr>
          </a:p>
        </p:txBody>
      </p:sp>
      <p:sp>
        <p:nvSpPr>
          <p:cNvPr id="1201" name="Google Shape;1201;p64"/>
          <p:cNvSpPr/>
          <p:nvPr/>
        </p:nvSpPr>
        <p:spPr>
          <a:xfrm>
            <a:off x="239233" y="867612"/>
            <a:ext cx="4224479" cy="4146767"/>
          </a:xfrm>
          <a:custGeom>
            <a:rect b="b" l="l" r="r" t="t"/>
            <a:pathLst>
              <a:path extrusionOk="0" h="120000" w="120000">
                <a:moveTo>
                  <a:pt x="0" y="0"/>
                </a:moveTo>
                <a:lnTo>
                  <a:pt x="120000" y="0"/>
                </a:lnTo>
                <a:lnTo>
                  <a:pt x="120000" y="120000"/>
                </a:lnTo>
                <a:lnTo>
                  <a:pt x="0" y="120000"/>
                </a:lnTo>
                <a:close/>
              </a:path>
            </a:pathLst>
          </a:custGeom>
          <a:noFill/>
          <a:ln cap="flat" cmpd="sng" w="9525">
            <a:solidFill>
              <a:schemeClr val="accent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02" name="Google Shape;1202;p64"/>
          <p:cNvSpPr/>
          <p:nvPr/>
        </p:nvSpPr>
        <p:spPr>
          <a:xfrm>
            <a:off x="4671608" y="795592"/>
            <a:ext cx="4224479" cy="4277976"/>
          </a:xfrm>
          <a:custGeom>
            <a:rect b="b" l="l" r="r" t="t"/>
            <a:pathLst>
              <a:path extrusionOk="0" h="120000" w="120000">
                <a:moveTo>
                  <a:pt x="0" y="0"/>
                </a:moveTo>
                <a:lnTo>
                  <a:pt x="120000" y="0"/>
                </a:lnTo>
                <a:lnTo>
                  <a:pt x="120000" y="120000"/>
                </a:lnTo>
                <a:lnTo>
                  <a:pt x="0" y="120000"/>
                </a:lnTo>
                <a:close/>
              </a:path>
            </a:pathLst>
          </a:custGeom>
          <a:noFill/>
          <a:ln cap="flat" cmpd="sng" w="9525">
            <a:solidFill>
              <a:schemeClr val="accent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7" name="Shape 1207"/>
        <p:cNvGrpSpPr/>
        <p:nvPr/>
      </p:nvGrpSpPr>
      <p:grpSpPr>
        <a:xfrm>
          <a:off x="0" y="0"/>
          <a:ext cx="0" cy="0"/>
          <a:chOff x="0" y="0"/>
          <a:chExt cx="0" cy="0"/>
        </a:xfrm>
      </p:grpSpPr>
      <p:sp>
        <p:nvSpPr>
          <p:cNvPr id="1208" name="Google Shape;1208;p65"/>
          <p:cNvSpPr/>
          <p:nvPr/>
        </p:nvSpPr>
        <p:spPr>
          <a:xfrm>
            <a:off x="0" y="0"/>
            <a:ext cx="9144000" cy="54900"/>
          </a:xfrm>
          <a:prstGeom prst="rect">
            <a:avLst/>
          </a:prstGeom>
          <a:solidFill>
            <a:srgbClr val="1A5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09" name="Google Shape;1209;p65"/>
          <p:cNvSpPr/>
          <p:nvPr/>
        </p:nvSpPr>
        <p:spPr>
          <a:xfrm>
            <a:off x="457200" y="164588"/>
            <a:ext cx="69444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A56DB"/>
              </a:buClr>
              <a:buSzPts val="1600"/>
              <a:buFont typeface="DM Sans"/>
              <a:buNone/>
            </a:pPr>
            <a:r>
              <a:rPr b="0" i="0" lang="en" sz="2000" u="none" cap="none" strike="noStrike">
                <a:solidFill>
                  <a:schemeClr val="dk2"/>
                </a:solidFill>
                <a:latin typeface="Calibri"/>
                <a:ea typeface="Calibri"/>
                <a:cs typeface="Calibri"/>
                <a:sym typeface="Calibri"/>
              </a:rPr>
              <a:t>Potential Technology Overlap</a:t>
            </a:r>
            <a:endParaRPr b="0" i="0" sz="2000" u="none" cap="none" strike="noStrike">
              <a:solidFill>
                <a:schemeClr val="dk2"/>
              </a:solidFill>
              <a:latin typeface="Calibri"/>
              <a:ea typeface="Calibri"/>
              <a:cs typeface="Calibri"/>
              <a:sym typeface="Calibri"/>
            </a:endParaRPr>
          </a:p>
        </p:txBody>
      </p:sp>
      <p:sp>
        <p:nvSpPr>
          <p:cNvPr id="1210" name="Google Shape;1210;p65"/>
          <p:cNvSpPr/>
          <p:nvPr/>
        </p:nvSpPr>
        <p:spPr>
          <a:xfrm>
            <a:off x="457200" y="548650"/>
            <a:ext cx="8344500" cy="22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595959"/>
                </a:solidFill>
                <a:latin typeface="Calibri"/>
                <a:ea typeface="Calibri"/>
                <a:cs typeface="Calibri"/>
                <a:sym typeface="Calibri"/>
              </a:rPr>
              <a:t>Third-party principals detected in your cloud environments, grouped by functional overlap with Wiz platform capabilities.</a:t>
            </a:r>
            <a:endParaRPr b="0" i="0" sz="1100" u="none" cap="none" strike="noStrike">
              <a:solidFill>
                <a:srgbClr val="595959"/>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900"/>
              <a:buFont typeface="DM Sans"/>
              <a:buNone/>
            </a:pPr>
            <a:r>
              <a:t/>
            </a:r>
            <a:endParaRPr b="0" i="0" sz="1100" u="none" cap="none" strike="noStrike">
              <a:solidFill>
                <a:srgbClr val="595959"/>
              </a:solidFill>
              <a:latin typeface="Calibri"/>
              <a:ea typeface="Calibri"/>
              <a:cs typeface="Calibri"/>
              <a:sym typeface="Calibri"/>
            </a:endParaRPr>
          </a:p>
        </p:txBody>
      </p:sp>
      <p:sp>
        <p:nvSpPr>
          <p:cNvPr id="1211" name="Google Shape;1211;p65"/>
          <p:cNvSpPr/>
          <p:nvPr/>
        </p:nvSpPr>
        <p:spPr>
          <a:xfrm>
            <a:off x="365750" y="868675"/>
            <a:ext cx="4019400" cy="431400"/>
          </a:xfrm>
          <a:prstGeom prst="rect">
            <a:avLst/>
          </a:prstGeom>
          <a:solidFill>
            <a:srgbClr val="F4CC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12" name="Google Shape;1212;p65"/>
          <p:cNvSpPr/>
          <p:nvPr/>
        </p:nvSpPr>
        <p:spPr>
          <a:xfrm>
            <a:off x="365750" y="868672"/>
            <a:ext cx="36600" cy="431400"/>
          </a:xfrm>
          <a:prstGeom prst="rect">
            <a:avLst/>
          </a:prstGeom>
          <a:solidFill>
            <a:srgbClr val="85200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13" name="Google Shape;1213;p65"/>
          <p:cNvSpPr/>
          <p:nvPr/>
        </p:nvSpPr>
        <p:spPr>
          <a:xfrm>
            <a:off x="502911" y="948505"/>
            <a:ext cx="3794700" cy="4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1000"/>
              <a:buFont typeface="DM Sans"/>
              <a:buNone/>
            </a:pPr>
            <a:r>
              <a:rPr b="1" i="0" lang="en" sz="1100" u="sng" cap="none" strike="noStrike">
                <a:solidFill>
                  <a:schemeClr val="hlink"/>
                </a:solidFill>
                <a:latin typeface="Calibri"/>
                <a:ea typeface="Calibri"/>
                <a:cs typeface="Calibri"/>
                <a:sym typeface="Calibri"/>
                <a:hlinkClick r:id="rId3"/>
              </a:rPr>
              <a:t>CLOUD SECURITY PLATFORM </a:t>
            </a:r>
            <a:r>
              <a:rPr b="1" i="0" lang="en" sz="1400" u="none" cap="none" strike="noStrike">
                <a:solidFill>
                  <a:schemeClr val="hlink"/>
                </a:solidFill>
                <a:uFill>
                  <a:noFill/>
                </a:uFill>
                <a:latin typeface="Calibri"/>
                <a:ea typeface="Calibri"/>
                <a:cs typeface="Calibri"/>
                <a:sym typeface="Calibri"/>
                <a:hlinkClick r:id="rId4"/>
              </a:rPr>
              <a:t>↗</a:t>
            </a:r>
            <a:br>
              <a:rPr b="1" i="0" lang="en" sz="1100" u="none" cap="none" strike="noStrike">
                <a:solidFill>
                  <a:srgbClr val="D97706"/>
                </a:solidFill>
                <a:latin typeface="Calibri"/>
                <a:ea typeface="Calibri"/>
                <a:cs typeface="Calibri"/>
                <a:sym typeface="Calibri"/>
              </a:rPr>
            </a:br>
            <a:r>
              <a:rPr b="0" i="0" lang="en" sz="1100" u="none" cap="none" strike="noStrike">
                <a:solidFill>
                  <a:srgbClr val="CC4125"/>
                </a:solidFill>
                <a:latin typeface="Calibri"/>
                <a:ea typeface="Calibri"/>
                <a:cs typeface="Calibri"/>
                <a:sym typeface="Calibri"/>
              </a:rPr>
              <a:t>Potential Overlap with Wiz CNAPP, CSPM, CIEM, DSPM</a:t>
            </a:r>
            <a:br>
              <a:rPr b="1" i="0" lang="en" sz="1100" u="none" cap="none" strike="noStrike">
                <a:solidFill>
                  <a:srgbClr val="D97706"/>
                </a:solidFill>
                <a:latin typeface="Calibri"/>
                <a:ea typeface="Calibri"/>
                <a:cs typeface="Calibri"/>
                <a:sym typeface="Calibri"/>
              </a:rPr>
            </a:br>
            <a:endParaRPr b="0" i="0" sz="1100" u="none" cap="none" strike="noStrike">
              <a:solidFill>
                <a:schemeClr val="dk1"/>
              </a:solidFill>
              <a:latin typeface="Calibri"/>
              <a:ea typeface="Calibri"/>
              <a:cs typeface="Calibri"/>
              <a:sym typeface="Calibri"/>
            </a:endParaRPr>
          </a:p>
        </p:txBody>
      </p:sp>
      <p:sp>
        <p:nvSpPr>
          <p:cNvPr id="1214" name="Google Shape;1214;p65"/>
          <p:cNvSpPr/>
          <p:nvPr/>
        </p:nvSpPr>
        <p:spPr>
          <a:xfrm>
            <a:off x="371458" y="1391184"/>
            <a:ext cx="3977700" cy="240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15" name="Google Shape;1215;p65"/>
          <p:cNvSpPr/>
          <p:nvPr/>
        </p:nvSpPr>
        <p:spPr>
          <a:xfrm>
            <a:off x="371454" y="1380149"/>
            <a:ext cx="1988700" cy="24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Technology</a:t>
            </a:r>
            <a:endParaRPr b="0" i="0" sz="1000" u="none" cap="none" strike="noStrike">
              <a:solidFill>
                <a:schemeClr val="dk1"/>
              </a:solidFill>
              <a:latin typeface="Calibri"/>
              <a:ea typeface="Calibri"/>
              <a:cs typeface="Calibri"/>
              <a:sym typeface="Calibri"/>
            </a:endParaRPr>
          </a:p>
        </p:txBody>
      </p:sp>
      <p:sp>
        <p:nvSpPr>
          <p:cNvPr id="1216" name="Google Shape;1216;p65"/>
          <p:cNvSpPr/>
          <p:nvPr/>
        </p:nvSpPr>
        <p:spPr>
          <a:xfrm>
            <a:off x="2308825" y="1392425"/>
            <a:ext cx="736800" cy="240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 of SAs</a:t>
            </a:r>
            <a:endParaRPr b="0" i="0" sz="1000" u="none" cap="none" strike="noStrike">
              <a:solidFill>
                <a:schemeClr val="dk1"/>
              </a:solidFill>
              <a:latin typeface="Calibri"/>
              <a:ea typeface="Calibri"/>
              <a:cs typeface="Calibri"/>
              <a:sym typeface="Calibri"/>
            </a:endParaRPr>
          </a:p>
        </p:txBody>
      </p:sp>
      <p:sp>
        <p:nvSpPr>
          <p:cNvPr id="1217" name="Google Shape;1217;p65"/>
          <p:cNvSpPr/>
          <p:nvPr/>
        </p:nvSpPr>
        <p:spPr>
          <a:xfrm>
            <a:off x="2926225" y="1385850"/>
            <a:ext cx="1594500" cy="240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First / Last Created</a:t>
            </a:r>
            <a:endParaRPr b="0" i="0" sz="1000" u="none" cap="none" strike="noStrike">
              <a:solidFill>
                <a:schemeClr val="dk1"/>
              </a:solidFill>
              <a:latin typeface="Calibri"/>
              <a:ea typeface="Calibri"/>
              <a:cs typeface="Calibri"/>
              <a:sym typeface="Calibri"/>
            </a:endParaRPr>
          </a:p>
        </p:txBody>
      </p:sp>
      <p:sp>
        <p:nvSpPr>
          <p:cNvPr id="1218" name="Google Shape;1218;p65"/>
          <p:cNvSpPr/>
          <p:nvPr/>
        </p:nvSpPr>
        <p:spPr>
          <a:xfrm>
            <a:off x="371449" y="1631564"/>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19" name="Google Shape;1219;p65"/>
          <p:cNvCxnSpPr/>
          <p:nvPr/>
        </p:nvCxnSpPr>
        <p:spPr>
          <a:xfrm>
            <a:off x="371449" y="1877657"/>
            <a:ext cx="3977700" cy="0"/>
          </a:xfrm>
          <a:prstGeom prst="straightConnector1">
            <a:avLst/>
          </a:prstGeom>
          <a:noFill/>
          <a:ln cap="flat" cmpd="sng" w="9525">
            <a:solidFill>
              <a:srgbClr val="E5E7EB"/>
            </a:solidFill>
            <a:prstDash val="solid"/>
            <a:round/>
            <a:headEnd len="sm" w="sm" type="none"/>
            <a:tailEnd len="sm" w="sm" type="none"/>
          </a:ln>
        </p:spPr>
      </p:cxnSp>
      <p:sp>
        <p:nvSpPr>
          <p:cNvPr id="1220" name="Google Shape;1220;p65"/>
          <p:cNvSpPr/>
          <p:nvPr/>
        </p:nvSpPr>
        <p:spPr>
          <a:xfrm>
            <a:off x="371445" y="1631556"/>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{{PI_T1_1}}</a:t>
            </a:r>
            <a:endParaRPr b="0" i="0" sz="800" u="none" cap="none" strike="noStrike">
              <a:solidFill>
                <a:schemeClr val="dk1"/>
              </a:solidFill>
              <a:latin typeface="Calibri"/>
              <a:ea typeface="Calibri"/>
              <a:cs typeface="Calibri"/>
              <a:sym typeface="Calibri"/>
            </a:endParaRPr>
          </a:p>
        </p:txBody>
      </p:sp>
      <p:sp>
        <p:nvSpPr>
          <p:cNvPr id="1221" name="Google Shape;1221;p65"/>
          <p:cNvSpPr/>
          <p:nvPr/>
        </p:nvSpPr>
        <p:spPr>
          <a:xfrm>
            <a:off x="2311680" y="1631575"/>
            <a:ext cx="736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{{PI_T1_1_SA}}</a:t>
            </a:r>
            <a:endParaRPr b="0" i="0" sz="700" u="none" cap="none" strike="noStrike">
              <a:solidFill>
                <a:schemeClr val="dk1"/>
              </a:solidFill>
              <a:latin typeface="Calibri"/>
              <a:ea typeface="Calibri"/>
              <a:cs typeface="Calibri"/>
              <a:sym typeface="Calibri"/>
            </a:endParaRPr>
          </a:p>
        </p:txBody>
      </p:sp>
      <p:sp>
        <p:nvSpPr>
          <p:cNvPr id="1222" name="Google Shape;1222;p65"/>
          <p:cNvSpPr/>
          <p:nvPr/>
        </p:nvSpPr>
        <p:spPr>
          <a:xfrm>
            <a:off x="371449" y="1877657"/>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23" name="Google Shape;1223;p65"/>
          <p:cNvCxnSpPr/>
          <p:nvPr/>
        </p:nvCxnSpPr>
        <p:spPr>
          <a:xfrm>
            <a:off x="355736" y="2115845"/>
            <a:ext cx="3977700" cy="0"/>
          </a:xfrm>
          <a:prstGeom prst="straightConnector1">
            <a:avLst/>
          </a:prstGeom>
          <a:noFill/>
          <a:ln cap="flat" cmpd="sng" w="9525">
            <a:solidFill>
              <a:srgbClr val="888888"/>
            </a:solidFill>
            <a:prstDash val="solid"/>
            <a:round/>
            <a:headEnd len="sm" w="sm" type="none"/>
            <a:tailEnd len="sm" w="sm" type="none"/>
          </a:ln>
        </p:spPr>
      </p:cxnSp>
      <p:sp>
        <p:nvSpPr>
          <p:cNvPr id="1224" name="Google Shape;1224;p65"/>
          <p:cNvSpPr/>
          <p:nvPr/>
        </p:nvSpPr>
        <p:spPr>
          <a:xfrm>
            <a:off x="371445" y="1877650"/>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{{PI_T1_2}}</a:t>
            </a:r>
            <a:endParaRPr b="0" i="0" sz="800" u="none" cap="none" strike="noStrike">
              <a:solidFill>
                <a:schemeClr val="dk1"/>
              </a:solidFill>
              <a:latin typeface="Calibri"/>
              <a:ea typeface="Calibri"/>
              <a:cs typeface="Calibri"/>
              <a:sym typeface="Calibri"/>
            </a:endParaRPr>
          </a:p>
        </p:txBody>
      </p:sp>
      <p:sp>
        <p:nvSpPr>
          <p:cNvPr id="1225" name="Google Shape;1225;p65"/>
          <p:cNvSpPr/>
          <p:nvPr/>
        </p:nvSpPr>
        <p:spPr>
          <a:xfrm>
            <a:off x="371449" y="2123750"/>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26" name="Google Shape;1226;p65"/>
          <p:cNvCxnSpPr/>
          <p:nvPr/>
        </p:nvCxnSpPr>
        <p:spPr>
          <a:xfrm>
            <a:off x="371449" y="2369843"/>
            <a:ext cx="3977700" cy="0"/>
          </a:xfrm>
          <a:prstGeom prst="straightConnector1">
            <a:avLst/>
          </a:prstGeom>
          <a:noFill/>
          <a:ln cap="flat" cmpd="sng" w="9525">
            <a:solidFill>
              <a:srgbClr val="E5E7EB"/>
            </a:solidFill>
            <a:prstDash val="solid"/>
            <a:round/>
            <a:headEnd len="sm" w="sm" type="none"/>
            <a:tailEnd len="sm" w="sm" type="none"/>
          </a:ln>
        </p:spPr>
      </p:cxnSp>
      <p:sp>
        <p:nvSpPr>
          <p:cNvPr id="1227" name="Google Shape;1227;p65"/>
          <p:cNvSpPr/>
          <p:nvPr/>
        </p:nvSpPr>
        <p:spPr>
          <a:xfrm>
            <a:off x="371445" y="2123744"/>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{{PI_T1_3}}</a:t>
            </a:r>
            <a:endParaRPr b="0" i="0" sz="800" u="none" cap="none" strike="noStrike">
              <a:solidFill>
                <a:schemeClr val="dk1"/>
              </a:solidFill>
              <a:latin typeface="Calibri"/>
              <a:ea typeface="Calibri"/>
              <a:cs typeface="Calibri"/>
              <a:sym typeface="Calibri"/>
            </a:endParaRPr>
          </a:p>
        </p:txBody>
      </p:sp>
      <p:sp>
        <p:nvSpPr>
          <p:cNvPr id="1228" name="Google Shape;1228;p65"/>
          <p:cNvSpPr/>
          <p:nvPr/>
        </p:nvSpPr>
        <p:spPr>
          <a:xfrm>
            <a:off x="371449" y="2369843"/>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29" name="Google Shape;1229;p65"/>
          <p:cNvCxnSpPr/>
          <p:nvPr/>
        </p:nvCxnSpPr>
        <p:spPr>
          <a:xfrm>
            <a:off x="358777" y="2606026"/>
            <a:ext cx="3977700" cy="0"/>
          </a:xfrm>
          <a:prstGeom prst="straightConnector1">
            <a:avLst/>
          </a:prstGeom>
          <a:noFill/>
          <a:ln cap="flat" cmpd="sng" w="9525">
            <a:solidFill>
              <a:srgbClr val="888888"/>
            </a:solidFill>
            <a:prstDash val="solid"/>
            <a:round/>
            <a:headEnd len="sm" w="sm" type="none"/>
            <a:tailEnd len="sm" w="sm" type="none"/>
          </a:ln>
        </p:spPr>
      </p:cxnSp>
      <p:sp>
        <p:nvSpPr>
          <p:cNvPr id="1230" name="Google Shape;1230;p65"/>
          <p:cNvSpPr/>
          <p:nvPr/>
        </p:nvSpPr>
        <p:spPr>
          <a:xfrm>
            <a:off x="371445" y="2369838"/>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{{PI_T1_4}}</a:t>
            </a:r>
            <a:endParaRPr b="0" i="0" sz="800" u="none" cap="none" strike="noStrike">
              <a:solidFill>
                <a:schemeClr val="dk1"/>
              </a:solidFill>
              <a:latin typeface="Calibri"/>
              <a:ea typeface="Calibri"/>
              <a:cs typeface="Calibri"/>
              <a:sym typeface="Calibri"/>
            </a:endParaRPr>
          </a:p>
        </p:txBody>
      </p:sp>
      <p:sp>
        <p:nvSpPr>
          <p:cNvPr id="1231" name="Google Shape;1231;p65"/>
          <p:cNvSpPr/>
          <p:nvPr/>
        </p:nvSpPr>
        <p:spPr>
          <a:xfrm>
            <a:off x="371449" y="261593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32" name="Google Shape;1232;p65"/>
          <p:cNvCxnSpPr/>
          <p:nvPr/>
        </p:nvCxnSpPr>
        <p:spPr>
          <a:xfrm>
            <a:off x="361818" y="2865486"/>
            <a:ext cx="3977700" cy="0"/>
          </a:xfrm>
          <a:prstGeom prst="straightConnector1">
            <a:avLst/>
          </a:prstGeom>
          <a:noFill/>
          <a:ln cap="flat" cmpd="sng" w="9525">
            <a:solidFill>
              <a:srgbClr val="E5E7EB"/>
            </a:solidFill>
            <a:prstDash val="solid"/>
            <a:round/>
            <a:headEnd len="sm" w="sm" type="none"/>
            <a:tailEnd len="sm" w="sm" type="none"/>
          </a:ln>
        </p:spPr>
      </p:cxnSp>
      <p:sp>
        <p:nvSpPr>
          <p:cNvPr id="1233" name="Google Shape;1233;p65"/>
          <p:cNvSpPr/>
          <p:nvPr/>
        </p:nvSpPr>
        <p:spPr>
          <a:xfrm>
            <a:off x="371445" y="2615932"/>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{{PI_T1_5}}</a:t>
            </a:r>
            <a:endParaRPr b="0" i="0" sz="800" u="none" cap="none" strike="noStrike">
              <a:solidFill>
                <a:schemeClr val="dk1"/>
              </a:solidFill>
              <a:latin typeface="Calibri"/>
              <a:ea typeface="Calibri"/>
              <a:cs typeface="Calibri"/>
              <a:sym typeface="Calibri"/>
            </a:endParaRPr>
          </a:p>
        </p:txBody>
      </p:sp>
      <p:cxnSp>
        <p:nvCxnSpPr>
          <p:cNvPr id="1234" name="Google Shape;1234;p65"/>
          <p:cNvCxnSpPr/>
          <p:nvPr/>
        </p:nvCxnSpPr>
        <p:spPr>
          <a:xfrm>
            <a:off x="349400" y="2859671"/>
            <a:ext cx="3977700" cy="0"/>
          </a:xfrm>
          <a:prstGeom prst="straightConnector1">
            <a:avLst/>
          </a:prstGeom>
          <a:noFill/>
          <a:ln cap="flat" cmpd="sng" w="9525">
            <a:solidFill>
              <a:srgbClr val="888888"/>
            </a:solidFill>
            <a:prstDash val="solid"/>
            <a:round/>
            <a:headEnd len="sm" w="sm" type="none"/>
            <a:tailEnd len="sm" w="sm" type="none"/>
          </a:ln>
        </p:spPr>
      </p:cxnSp>
      <p:cxnSp>
        <p:nvCxnSpPr>
          <p:cNvPr id="1235" name="Google Shape;1235;p65"/>
          <p:cNvCxnSpPr/>
          <p:nvPr/>
        </p:nvCxnSpPr>
        <p:spPr>
          <a:xfrm>
            <a:off x="349653" y="2374288"/>
            <a:ext cx="3977700" cy="0"/>
          </a:xfrm>
          <a:prstGeom prst="straightConnector1">
            <a:avLst/>
          </a:prstGeom>
          <a:noFill/>
          <a:ln cap="flat" cmpd="sng" w="9525">
            <a:solidFill>
              <a:srgbClr val="888888"/>
            </a:solidFill>
            <a:prstDash val="solid"/>
            <a:round/>
            <a:headEnd len="sm" w="sm" type="none"/>
            <a:tailEnd len="sm" w="sm" type="none"/>
          </a:ln>
        </p:spPr>
      </p:cxnSp>
      <p:cxnSp>
        <p:nvCxnSpPr>
          <p:cNvPr id="1236" name="Google Shape;1236;p65"/>
          <p:cNvCxnSpPr/>
          <p:nvPr/>
        </p:nvCxnSpPr>
        <p:spPr>
          <a:xfrm>
            <a:off x="352695" y="1883089"/>
            <a:ext cx="3977700" cy="0"/>
          </a:xfrm>
          <a:prstGeom prst="straightConnector1">
            <a:avLst/>
          </a:prstGeom>
          <a:noFill/>
          <a:ln cap="flat" cmpd="sng" w="9525">
            <a:solidFill>
              <a:srgbClr val="888888"/>
            </a:solidFill>
            <a:prstDash val="solid"/>
            <a:round/>
            <a:headEnd len="sm" w="sm" type="none"/>
            <a:tailEnd len="sm" w="sm" type="none"/>
          </a:ln>
        </p:spPr>
      </p:cxnSp>
      <p:cxnSp>
        <p:nvCxnSpPr>
          <p:cNvPr id="1237" name="Google Shape;1237;p65"/>
          <p:cNvCxnSpPr/>
          <p:nvPr/>
        </p:nvCxnSpPr>
        <p:spPr>
          <a:xfrm>
            <a:off x="370950" y="1608510"/>
            <a:ext cx="3977700" cy="0"/>
          </a:xfrm>
          <a:prstGeom prst="straightConnector1">
            <a:avLst/>
          </a:prstGeom>
          <a:noFill/>
          <a:ln cap="flat" cmpd="sng" w="14300">
            <a:solidFill>
              <a:srgbClr val="888888"/>
            </a:solidFill>
            <a:prstDash val="solid"/>
            <a:round/>
            <a:headEnd len="sm" w="sm" type="none"/>
            <a:tailEnd len="sm" w="sm" type="none"/>
          </a:ln>
        </p:spPr>
      </p:cxnSp>
      <p:sp>
        <p:nvSpPr>
          <p:cNvPr id="1238" name="Google Shape;1238;p65"/>
          <p:cNvSpPr/>
          <p:nvPr/>
        </p:nvSpPr>
        <p:spPr>
          <a:xfrm>
            <a:off x="4711846" y="3088397"/>
            <a:ext cx="4023300" cy="431400"/>
          </a:xfrm>
          <a:prstGeom prst="rect">
            <a:avLst/>
          </a:prstGeom>
          <a:solidFill>
            <a:srgbClr val="D9D9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EAD1DC"/>
              </a:solidFill>
              <a:latin typeface="Calibri"/>
              <a:ea typeface="Calibri"/>
              <a:cs typeface="Calibri"/>
              <a:sym typeface="Calibri"/>
            </a:endParaRPr>
          </a:p>
        </p:txBody>
      </p:sp>
      <p:sp>
        <p:nvSpPr>
          <p:cNvPr id="1239" name="Google Shape;1239;p65"/>
          <p:cNvSpPr/>
          <p:nvPr/>
        </p:nvSpPr>
        <p:spPr>
          <a:xfrm>
            <a:off x="4711846" y="3088397"/>
            <a:ext cx="36600" cy="431400"/>
          </a:xfrm>
          <a:prstGeom prst="rect">
            <a:avLst/>
          </a:prstGeom>
          <a:solidFill>
            <a:srgbClr val="5959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40" name="Google Shape;1240;p65"/>
          <p:cNvSpPr/>
          <p:nvPr/>
        </p:nvSpPr>
        <p:spPr>
          <a:xfrm>
            <a:off x="4849007" y="3168230"/>
            <a:ext cx="3794700" cy="4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1000"/>
              <a:buFont typeface="DM Sans"/>
              <a:buNone/>
            </a:pPr>
            <a:r>
              <a:rPr b="1" i="0" lang="en" sz="1100" u="sng" cap="none" strike="noStrike">
                <a:solidFill>
                  <a:schemeClr val="hlink"/>
                </a:solidFill>
                <a:latin typeface="Calibri"/>
                <a:ea typeface="Calibri"/>
                <a:cs typeface="Calibri"/>
                <a:sym typeface="Calibri"/>
                <a:hlinkClick r:id="rId5"/>
              </a:rPr>
              <a:t>RUNTIME / WORKLOAD PROTECTION </a:t>
            </a:r>
            <a:r>
              <a:rPr b="1" i="0" lang="en" sz="1400" u="none" cap="none" strike="noStrike">
                <a:solidFill>
                  <a:schemeClr val="hlink"/>
                </a:solidFill>
                <a:uFill>
                  <a:noFill/>
                </a:uFill>
                <a:latin typeface="Calibri"/>
                <a:ea typeface="Calibri"/>
                <a:cs typeface="Calibri"/>
                <a:sym typeface="Calibri"/>
                <a:hlinkClick r:id="rId6"/>
              </a:rPr>
              <a:t>↗</a:t>
            </a:r>
            <a:br>
              <a:rPr b="1" i="0" lang="en" sz="1100" u="none" cap="none" strike="noStrike">
                <a:solidFill>
                  <a:srgbClr val="595959"/>
                </a:solidFill>
                <a:latin typeface="Calibri"/>
                <a:ea typeface="Calibri"/>
                <a:cs typeface="Calibri"/>
                <a:sym typeface="Calibri"/>
              </a:rPr>
            </a:br>
            <a:r>
              <a:rPr b="0" i="0" lang="en" sz="1100" u="none" cap="none" strike="noStrike">
                <a:solidFill>
                  <a:srgbClr val="595959"/>
                </a:solidFill>
                <a:latin typeface="Calibri"/>
                <a:ea typeface="Calibri"/>
                <a:cs typeface="Calibri"/>
                <a:sym typeface="Calibri"/>
              </a:rPr>
              <a:t>Potential Overlap with Wiz Sensor, Defend, CWPP,, TDR</a:t>
            </a:r>
            <a:br>
              <a:rPr b="1" i="0" lang="en" sz="1100" u="none" cap="none" strike="noStrike">
                <a:solidFill>
                  <a:srgbClr val="D97706"/>
                </a:solidFill>
                <a:latin typeface="Calibri"/>
                <a:ea typeface="Calibri"/>
                <a:cs typeface="Calibri"/>
                <a:sym typeface="Calibri"/>
              </a:rPr>
            </a:br>
            <a:endParaRPr b="0" i="0" sz="1100" u="none" cap="none" strike="noStrike">
              <a:solidFill>
                <a:schemeClr val="dk1"/>
              </a:solidFill>
              <a:latin typeface="Calibri"/>
              <a:ea typeface="Calibri"/>
              <a:cs typeface="Calibri"/>
              <a:sym typeface="Calibri"/>
            </a:endParaRPr>
          </a:p>
        </p:txBody>
      </p:sp>
      <p:sp>
        <p:nvSpPr>
          <p:cNvPr id="1241" name="Google Shape;1241;p65"/>
          <p:cNvSpPr/>
          <p:nvPr/>
        </p:nvSpPr>
        <p:spPr>
          <a:xfrm>
            <a:off x="4717478" y="884700"/>
            <a:ext cx="4023300" cy="431400"/>
          </a:xfrm>
          <a:prstGeom prst="rect">
            <a:avLst/>
          </a:prstGeom>
          <a:solidFill>
            <a:srgbClr val="CBDA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42" name="Google Shape;1242;p65"/>
          <p:cNvSpPr/>
          <p:nvPr/>
        </p:nvSpPr>
        <p:spPr>
          <a:xfrm>
            <a:off x="4688967" y="884697"/>
            <a:ext cx="36600" cy="431400"/>
          </a:xfrm>
          <a:prstGeom prst="rect">
            <a:avLst/>
          </a:prstGeom>
          <a:solidFill>
            <a:srgbClr val="0B53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43" name="Google Shape;1243;p65"/>
          <p:cNvSpPr/>
          <p:nvPr/>
        </p:nvSpPr>
        <p:spPr>
          <a:xfrm>
            <a:off x="4854639" y="964530"/>
            <a:ext cx="3794700" cy="4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97706"/>
              </a:buClr>
              <a:buSzPts val="1000"/>
              <a:buFont typeface="DM Sans"/>
              <a:buNone/>
            </a:pPr>
            <a:r>
              <a:rPr b="1" i="0" lang="en" sz="1100" u="sng" cap="none" strike="noStrike">
                <a:solidFill>
                  <a:schemeClr val="hlink"/>
                </a:solidFill>
                <a:latin typeface="Calibri"/>
                <a:ea typeface="Calibri"/>
                <a:cs typeface="Calibri"/>
                <a:sym typeface="Calibri"/>
                <a:hlinkClick r:id="rId7"/>
              </a:rPr>
              <a:t>CODE SECURITY </a:t>
            </a:r>
            <a:r>
              <a:rPr b="1" i="0" lang="en" sz="1400" u="none" cap="none" strike="noStrike">
                <a:solidFill>
                  <a:schemeClr val="hlink"/>
                </a:solidFill>
                <a:uFill>
                  <a:noFill/>
                </a:uFill>
                <a:latin typeface="Calibri"/>
                <a:ea typeface="Calibri"/>
                <a:cs typeface="Calibri"/>
                <a:sym typeface="Calibri"/>
                <a:hlinkClick r:id="rId8"/>
              </a:rPr>
              <a:t>↗</a:t>
            </a:r>
            <a:br>
              <a:rPr b="1" i="0" lang="en" sz="1100" u="none" cap="none" strike="noStrike">
                <a:solidFill>
                  <a:srgbClr val="0B5394"/>
                </a:solidFill>
                <a:latin typeface="Calibri"/>
                <a:ea typeface="Calibri"/>
                <a:cs typeface="Calibri"/>
                <a:sym typeface="Calibri"/>
              </a:rPr>
            </a:br>
            <a:r>
              <a:rPr b="0" i="0" lang="en" sz="1100" u="none" cap="none" strike="noStrike">
                <a:solidFill>
                  <a:srgbClr val="0B5394"/>
                </a:solidFill>
                <a:latin typeface="Calibri"/>
                <a:ea typeface="Calibri"/>
                <a:cs typeface="Calibri"/>
                <a:sym typeface="Calibri"/>
              </a:rPr>
              <a:t>Potential Overlap with Wiz Code, SAST, SCA, Wiz CLI</a:t>
            </a:r>
            <a:br>
              <a:rPr b="1" i="0" lang="en" sz="1100" u="none" cap="none" strike="noStrike">
                <a:solidFill>
                  <a:srgbClr val="D97706"/>
                </a:solidFill>
                <a:latin typeface="Calibri"/>
                <a:ea typeface="Calibri"/>
                <a:cs typeface="Calibri"/>
                <a:sym typeface="Calibri"/>
              </a:rPr>
            </a:br>
            <a:endParaRPr b="0" i="0" sz="1100" u="none" cap="none" strike="noStrike">
              <a:solidFill>
                <a:schemeClr val="dk1"/>
              </a:solidFill>
              <a:latin typeface="Calibri"/>
              <a:ea typeface="Calibri"/>
              <a:cs typeface="Calibri"/>
              <a:sym typeface="Calibri"/>
            </a:endParaRPr>
          </a:p>
        </p:txBody>
      </p:sp>
      <p:sp>
        <p:nvSpPr>
          <p:cNvPr id="1244" name="Google Shape;1244;p65"/>
          <p:cNvSpPr/>
          <p:nvPr/>
        </p:nvSpPr>
        <p:spPr>
          <a:xfrm>
            <a:off x="2308828" y="1875197"/>
            <a:ext cx="736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{{PI_T1_2_SA}}</a:t>
            </a:r>
            <a:endParaRPr b="0" i="0" sz="700" u="none" cap="none" strike="noStrike">
              <a:solidFill>
                <a:schemeClr val="dk1"/>
              </a:solidFill>
              <a:latin typeface="Calibri"/>
              <a:ea typeface="Calibri"/>
              <a:cs typeface="Calibri"/>
              <a:sym typeface="Calibri"/>
            </a:endParaRPr>
          </a:p>
        </p:txBody>
      </p:sp>
      <p:sp>
        <p:nvSpPr>
          <p:cNvPr id="1245" name="Google Shape;1245;p65"/>
          <p:cNvSpPr/>
          <p:nvPr/>
        </p:nvSpPr>
        <p:spPr>
          <a:xfrm>
            <a:off x="2317385" y="2118819"/>
            <a:ext cx="736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{{PI_T1_3_SA}}</a:t>
            </a:r>
            <a:endParaRPr b="0" i="0" sz="700" u="none" cap="none" strike="noStrike">
              <a:solidFill>
                <a:schemeClr val="dk1"/>
              </a:solidFill>
              <a:latin typeface="Calibri"/>
              <a:ea typeface="Calibri"/>
              <a:cs typeface="Calibri"/>
              <a:sym typeface="Calibri"/>
            </a:endParaRPr>
          </a:p>
        </p:txBody>
      </p:sp>
      <p:sp>
        <p:nvSpPr>
          <p:cNvPr id="1246" name="Google Shape;1246;p65"/>
          <p:cNvSpPr/>
          <p:nvPr/>
        </p:nvSpPr>
        <p:spPr>
          <a:xfrm>
            <a:off x="2320237" y="2362441"/>
            <a:ext cx="736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{{PI_T1_4_SA}}</a:t>
            </a:r>
            <a:endParaRPr b="0" i="0" sz="700" u="none" cap="none" strike="noStrike">
              <a:solidFill>
                <a:schemeClr val="dk1"/>
              </a:solidFill>
              <a:latin typeface="Calibri"/>
              <a:ea typeface="Calibri"/>
              <a:cs typeface="Calibri"/>
              <a:sym typeface="Calibri"/>
            </a:endParaRPr>
          </a:p>
        </p:txBody>
      </p:sp>
      <p:sp>
        <p:nvSpPr>
          <p:cNvPr id="1247" name="Google Shape;1247;p65"/>
          <p:cNvSpPr/>
          <p:nvPr/>
        </p:nvSpPr>
        <p:spPr>
          <a:xfrm>
            <a:off x="2314532" y="2606063"/>
            <a:ext cx="736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{{PI_T1_5_SA}}</a:t>
            </a:r>
            <a:endParaRPr b="0" i="0" sz="700" u="none" cap="none" strike="noStrike">
              <a:solidFill>
                <a:schemeClr val="dk1"/>
              </a:solidFill>
              <a:latin typeface="Calibri"/>
              <a:ea typeface="Calibri"/>
              <a:cs typeface="Calibri"/>
              <a:sym typeface="Calibri"/>
            </a:endParaRPr>
          </a:p>
        </p:txBody>
      </p:sp>
      <p:sp>
        <p:nvSpPr>
          <p:cNvPr id="1248" name="Google Shape;1248;p65"/>
          <p:cNvSpPr/>
          <p:nvPr/>
        </p:nvSpPr>
        <p:spPr>
          <a:xfrm>
            <a:off x="2926250" y="1629200"/>
            <a:ext cx="15945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{{PI_T1_1_FA}} / {{PI_T1_1_LA}}</a:t>
            </a:r>
            <a:endParaRPr b="0" i="0" sz="800" u="none" cap="none" strike="noStrike">
              <a:solidFill>
                <a:schemeClr val="dk1"/>
              </a:solidFill>
              <a:latin typeface="Calibri"/>
              <a:ea typeface="Calibri"/>
              <a:cs typeface="Calibri"/>
              <a:sym typeface="Calibri"/>
            </a:endParaRPr>
          </a:p>
        </p:txBody>
      </p:sp>
      <p:sp>
        <p:nvSpPr>
          <p:cNvPr id="1249" name="Google Shape;1249;p65"/>
          <p:cNvSpPr/>
          <p:nvPr/>
        </p:nvSpPr>
        <p:spPr>
          <a:xfrm>
            <a:off x="2930509" y="1872803"/>
            <a:ext cx="15945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{{PI_T1_2_FA}} / {{PI_T1_2_LA}}</a:t>
            </a:r>
            <a:endParaRPr b="0" i="0" sz="800" u="none" cap="none" strike="noStrike">
              <a:solidFill>
                <a:schemeClr val="dk1"/>
              </a:solidFill>
              <a:latin typeface="Calibri"/>
              <a:ea typeface="Calibri"/>
              <a:cs typeface="Calibri"/>
              <a:sym typeface="Calibri"/>
            </a:endParaRPr>
          </a:p>
        </p:txBody>
      </p:sp>
      <p:sp>
        <p:nvSpPr>
          <p:cNvPr id="1250" name="Google Shape;1250;p65"/>
          <p:cNvSpPr/>
          <p:nvPr/>
        </p:nvSpPr>
        <p:spPr>
          <a:xfrm>
            <a:off x="2934768" y="2116406"/>
            <a:ext cx="15945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{{PI_T1_3_FA}} / {{PI_T1_3_LA}}</a:t>
            </a:r>
            <a:endParaRPr b="0" i="0" sz="800" u="none" cap="none" strike="noStrike">
              <a:solidFill>
                <a:schemeClr val="dk1"/>
              </a:solidFill>
              <a:latin typeface="Calibri"/>
              <a:ea typeface="Calibri"/>
              <a:cs typeface="Calibri"/>
              <a:sym typeface="Calibri"/>
            </a:endParaRPr>
          </a:p>
        </p:txBody>
      </p:sp>
      <p:sp>
        <p:nvSpPr>
          <p:cNvPr id="1251" name="Google Shape;1251;p65"/>
          <p:cNvSpPr/>
          <p:nvPr/>
        </p:nvSpPr>
        <p:spPr>
          <a:xfrm>
            <a:off x="2943286" y="2360009"/>
            <a:ext cx="15945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{{PI_T1_4_FA}} / {{PI_T1_4_LA}}</a:t>
            </a:r>
            <a:endParaRPr b="0" i="0" sz="800" u="none" cap="none" strike="noStrike">
              <a:solidFill>
                <a:schemeClr val="dk1"/>
              </a:solidFill>
              <a:latin typeface="Calibri"/>
              <a:ea typeface="Calibri"/>
              <a:cs typeface="Calibri"/>
              <a:sym typeface="Calibri"/>
            </a:endParaRPr>
          </a:p>
        </p:txBody>
      </p:sp>
      <p:sp>
        <p:nvSpPr>
          <p:cNvPr id="1252" name="Google Shape;1252;p65"/>
          <p:cNvSpPr/>
          <p:nvPr/>
        </p:nvSpPr>
        <p:spPr>
          <a:xfrm>
            <a:off x="2939027" y="2603613"/>
            <a:ext cx="15945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{{PI_T1_5_FA}} / {{PI_T1_5_LA}}</a:t>
            </a:r>
            <a:endParaRPr b="0" i="0" sz="800" u="none" cap="none" strike="noStrike">
              <a:solidFill>
                <a:schemeClr val="dk1"/>
              </a:solidFill>
              <a:latin typeface="Calibri"/>
              <a:ea typeface="Calibri"/>
              <a:cs typeface="Calibri"/>
              <a:sym typeface="Calibri"/>
            </a:endParaRPr>
          </a:p>
        </p:txBody>
      </p:sp>
      <p:sp>
        <p:nvSpPr>
          <p:cNvPr id="1253" name="Google Shape;1253;p65"/>
          <p:cNvSpPr/>
          <p:nvPr/>
        </p:nvSpPr>
        <p:spPr>
          <a:xfrm>
            <a:off x="4723186" y="1386854"/>
            <a:ext cx="3977700" cy="240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54" name="Google Shape;1254;p65"/>
          <p:cNvSpPr/>
          <p:nvPr/>
        </p:nvSpPr>
        <p:spPr>
          <a:xfrm>
            <a:off x="4706075" y="1375819"/>
            <a:ext cx="1988700" cy="24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Technology</a:t>
            </a:r>
            <a:endParaRPr b="0" i="0" sz="1000" u="none" cap="none" strike="noStrike">
              <a:solidFill>
                <a:schemeClr val="dk1"/>
              </a:solidFill>
              <a:latin typeface="Calibri"/>
              <a:ea typeface="Calibri"/>
              <a:cs typeface="Calibri"/>
              <a:sym typeface="Calibri"/>
            </a:endParaRPr>
          </a:p>
        </p:txBody>
      </p:sp>
      <p:sp>
        <p:nvSpPr>
          <p:cNvPr id="1255" name="Google Shape;1255;p65"/>
          <p:cNvSpPr/>
          <p:nvPr/>
        </p:nvSpPr>
        <p:spPr>
          <a:xfrm>
            <a:off x="6607455" y="1388100"/>
            <a:ext cx="772800" cy="240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 of SAs</a:t>
            </a:r>
            <a:endParaRPr b="0" i="0" sz="1000" u="none" cap="none" strike="noStrike">
              <a:solidFill>
                <a:schemeClr val="dk1"/>
              </a:solidFill>
              <a:latin typeface="Calibri"/>
              <a:ea typeface="Calibri"/>
              <a:cs typeface="Calibri"/>
              <a:sym typeface="Calibri"/>
            </a:endParaRPr>
          </a:p>
        </p:txBody>
      </p:sp>
      <p:sp>
        <p:nvSpPr>
          <p:cNvPr id="1256" name="Google Shape;1256;p65"/>
          <p:cNvSpPr/>
          <p:nvPr/>
        </p:nvSpPr>
        <p:spPr>
          <a:xfrm>
            <a:off x="7277955" y="1381525"/>
            <a:ext cx="1621200" cy="240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First / Last Created</a:t>
            </a:r>
            <a:endParaRPr b="0" i="0" sz="1000" u="none" cap="none" strike="noStrike">
              <a:solidFill>
                <a:schemeClr val="dk1"/>
              </a:solidFill>
              <a:latin typeface="Calibri"/>
              <a:ea typeface="Calibri"/>
              <a:cs typeface="Calibri"/>
              <a:sym typeface="Calibri"/>
            </a:endParaRPr>
          </a:p>
        </p:txBody>
      </p:sp>
      <p:sp>
        <p:nvSpPr>
          <p:cNvPr id="1257" name="Google Shape;1257;p65"/>
          <p:cNvSpPr/>
          <p:nvPr/>
        </p:nvSpPr>
        <p:spPr>
          <a:xfrm>
            <a:off x="4723178" y="1627234"/>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58" name="Google Shape;1258;p65"/>
          <p:cNvCxnSpPr/>
          <p:nvPr/>
        </p:nvCxnSpPr>
        <p:spPr>
          <a:xfrm>
            <a:off x="4723178" y="1873327"/>
            <a:ext cx="3977700" cy="0"/>
          </a:xfrm>
          <a:prstGeom prst="straightConnector1">
            <a:avLst/>
          </a:prstGeom>
          <a:noFill/>
          <a:ln cap="flat" cmpd="sng" w="9525">
            <a:solidFill>
              <a:srgbClr val="E5E7EB"/>
            </a:solidFill>
            <a:prstDash val="solid"/>
            <a:round/>
            <a:headEnd len="sm" w="sm" type="none"/>
            <a:tailEnd len="sm" w="sm" type="none"/>
          </a:ln>
        </p:spPr>
      </p:cxnSp>
      <p:sp>
        <p:nvSpPr>
          <p:cNvPr id="1259" name="Google Shape;1259;p65"/>
          <p:cNvSpPr/>
          <p:nvPr/>
        </p:nvSpPr>
        <p:spPr>
          <a:xfrm>
            <a:off x="4706067" y="1627226"/>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{{PI_T2_1}}</a:t>
            </a:r>
            <a:endParaRPr b="0" i="0" sz="800" u="none" cap="none" strike="noStrike">
              <a:solidFill>
                <a:schemeClr val="dk1"/>
              </a:solidFill>
              <a:latin typeface="Calibri"/>
              <a:ea typeface="Calibri"/>
              <a:cs typeface="Calibri"/>
              <a:sym typeface="Calibri"/>
            </a:endParaRPr>
          </a:p>
        </p:txBody>
      </p:sp>
      <p:sp>
        <p:nvSpPr>
          <p:cNvPr id="1260" name="Google Shape;1260;p65"/>
          <p:cNvSpPr/>
          <p:nvPr/>
        </p:nvSpPr>
        <p:spPr>
          <a:xfrm>
            <a:off x="6609971" y="1627250"/>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{{PI_T2_1_SA}}</a:t>
            </a:r>
            <a:endParaRPr b="0" i="0" sz="700" u="none" cap="none" strike="noStrike">
              <a:solidFill>
                <a:schemeClr val="dk1"/>
              </a:solidFill>
              <a:latin typeface="Calibri"/>
              <a:ea typeface="Calibri"/>
              <a:cs typeface="Calibri"/>
              <a:sym typeface="Calibri"/>
            </a:endParaRPr>
          </a:p>
        </p:txBody>
      </p:sp>
      <p:sp>
        <p:nvSpPr>
          <p:cNvPr id="1261" name="Google Shape;1261;p65"/>
          <p:cNvSpPr/>
          <p:nvPr/>
        </p:nvSpPr>
        <p:spPr>
          <a:xfrm>
            <a:off x="4723178" y="1873327"/>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62" name="Google Shape;1262;p65"/>
          <p:cNvCxnSpPr/>
          <p:nvPr/>
        </p:nvCxnSpPr>
        <p:spPr>
          <a:xfrm>
            <a:off x="4707464" y="2111515"/>
            <a:ext cx="3977700" cy="0"/>
          </a:xfrm>
          <a:prstGeom prst="straightConnector1">
            <a:avLst/>
          </a:prstGeom>
          <a:noFill/>
          <a:ln cap="flat" cmpd="sng" w="9525">
            <a:solidFill>
              <a:srgbClr val="888888"/>
            </a:solidFill>
            <a:prstDash val="solid"/>
            <a:round/>
            <a:headEnd len="sm" w="sm" type="none"/>
            <a:tailEnd len="sm" w="sm" type="none"/>
          </a:ln>
        </p:spPr>
      </p:cxnSp>
      <p:sp>
        <p:nvSpPr>
          <p:cNvPr id="1263" name="Google Shape;1263;p65"/>
          <p:cNvSpPr/>
          <p:nvPr/>
        </p:nvSpPr>
        <p:spPr>
          <a:xfrm>
            <a:off x="4706067" y="1873320"/>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{{PI_T2_2}}</a:t>
            </a:r>
            <a:endParaRPr b="0" i="0" sz="800" u="none" cap="none" strike="noStrike">
              <a:solidFill>
                <a:schemeClr val="dk1"/>
              </a:solidFill>
              <a:latin typeface="Calibri"/>
              <a:ea typeface="Calibri"/>
              <a:cs typeface="Calibri"/>
              <a:sym typeface="Calibri"/>
            </a:endParaRPr>
          </a:p>
        </p:txBody>
      </p:sp>
      <p:sp>
        <p:nvSpPr>
          <p:cNvPr id="1264" name="Google Shape;1264;p65"/>
          <p:cNvSpPr/>
          <p:nvPr/>
        </p:nvSpPr>
        <p:spPr>
          <a:xfrm>
            <a:off x="4723178" y="2119420"/>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65" name="Google Shape;1265;p65"/>
          <p:cNvCxnSpPr/>
          <p:nvPr/>
        </p:nvCxnSpPr>
        <p:spPr>
          <a:xfrm>
            <a:off x="4723178" y="2365513"/>
            <a:ext cx="3977700" cy="0"/>
          </a:xfrm>
          <a:prstGeom prst="straightConnector1">
            <a:avLst/>
          </a:prstGeom>
          <a:noFill/>
          <a:ln cap="flat" cmpd="sng" w="9525">
            <a:solidFill>
              <a:srgbClr val="E5E7EB"/>
            </a:solidFill>
            <a:prstDash val="solid"/>
            <a:round/>
            <a:headEnd len="sm" w="sm" type="none"/>
            <a:tailEnd len="sm" w="sm" type="none"/>
          </a:ln>
        </p:spPr>
      </p:cxnSp>
      <p:sp>
        <p:nvSpPr>
          <p:cNvPr id="1266" name="Google Shape;1266;p65"/>
          <p:cNvSpPr/>
          <p:nvPr/>
        </p:nvSpPr>
        <p:spPr>
          <a:xfrm>
            <a:off x="4706067" y="2119414"/>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{{PI_T2_3}}</a:t>
            </a:r>
            <a:endParaRPr b="0" i="0" sz="800" u="none" cap="none" strike="noStrike">
              <a:solidFill>
                <a:schemeClr val="dk1"/>
              </a:solidFill>
              <a:latin typeface="Calibri"/>
              <a:ea typeface="Calibri"/>
              <a:cs typeface="Calibri"/>
              <a:sym typeface="Calibri"/>
            </a:endParaRPr>
          </a:p>
        </p:txBody>
      </p:sp>
      <p:sp>
        <p:nvSpPr>
          <p:cNvPr id="1267" name="Google Shape;1267;p65"/>
          <p:cNvSpPr/>
          <p:nvPr/>
        </p:nvSpPr>
        <p:spPr>
          <a:xfrm>
            <a:off x="4723178" y="2365513"/>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68" name="Google Shape;1268;p65"/>
          <p:cNvCxnSpPr/>
          <p:nvPr/>
        </p:nvCxnSpPr>
        <p:spPr>
          <a:xfrm>
            <a:off x="4710506" y="2601696"/>
            <a:ext cx="3977700" cy="0"/>
          </a:xfrm>
          <a:prstGeom prst="straightConnector1">
            <a:avLst/>
          </a:prstGeom>
          <a:noFill/>
          <a:ln cap="flat" cmpd="sng" w="9525">
            <a:solidFill>
              <a:srgbClr val="888888"/>
            </a:solidFill>
            <a:prstDash val="solid"/>
            <a:round/>
            <a:headEnd len="sm" w="sm" type="none"/>
            <a:tailEnd len="sm" w="sm" type="none"/>
          </a:ln>
        </p:spPr>
      </p:cxnSp>
      <p:sp>
        <p:nvSpPr>
          <p:cNvPr id="1269" name="Google Shape;1269;p65"/>
          <p:cNvSpPr/>
          <p:nvPr/>
        </p:nvSpPr>
        <p:spPr>
          <a:xfrm>
            <a:off x="4706067" y="2365508"/>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{{PI_T2_4}}</a:t>
            </a:r>
            <a:endParaRPr b="0" i="0" sz="800" u="none" cap="none" strike="noStrike">
              <a:solidFill>
                <a:schemeClr val="dk1"/>
              </a:solidFill>
              <a:latin typeface="Calibri"/>
              <a:ea typeface="Calibri"/>
              <a:cs typeface="Calibri"/>
              <a:sym typeface="Calibri"/>
            </a:endParaRPr>
          </a:p>
        </p:txBody>
      </p:sp>
      <p:sp>
        <p:nvSpPr>
          <p:cNvPr id="1270" name="Google Shape;1270;p65"/>
          <p:cNvSpPr/>
          <p:nvPr/>
        </p:nvSpPr>
        <p:spPr>
          <a:xfrm>
            <a:off x="4723178" y="261160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71" name="Google Shape;1271;p65"/>
          <p:cNvSpPr/>
          <p:nvPr/>
        </p:nvSpPr>
        <p:spPr>
          <a:xfrm>
            <a:off x="4706067" y="2611602"/>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{{PI_T2_5}}</a:t>
            </a:r>
            <a:endParaRPr b="0" i="0" sz="800" u="none" cap="none" strike="noStrike">
              <a:solidFill>
                <a:schemeClr val="dk1"/>
              </a:solidFill>
              <a:latin typeface="Calibri"/>
              <a:ea typeface="Calibri"/>
              <a:cs typeface="Calibri"/>
              <a:sym typeface="Calibri"/>
            </a:endParaRPr>
          </a:p>
        </p:txBody>
      </p:sp>
      <p:cxnSp>
        <p:nvCxnSpPr>
          <p:cNvPr id="1272" name="Google Shape;1272;p65"/>
          <p:cNvCxnSpPr/>
          <p:nvPr/>
        </p:nvCxnSpPr>
        <p:spPr>
          <a:xfrm>
            <a:off x="4716068" y="2855341"/>
            <a:ext cx="3977700" cy="0"/>
          </a:xfrm>
          <a:prstGeom prst="straightConnector1">
            <a:avLst/>
          </a:prstGeom>
          <a:noFill/>
          <a:ln cap="flat" cmpd="sng" w="9525">
            <a:solidFill>
              <a:srgbClr val="888888"/>
            </a:solidFill>
            <a:prstDash val="solid"/>
            <a:round/>
            <a:headEnd len="sm" w="sm" type="none"/>
            <a:tailEnd len="sm" w="sm" type="none"/>
          </a:ln>
        </p:spPr>
      </p:cxnSp>
      <p:cxnSp>
        <p:nvCxnSpPr>
          <p:cNvPr id="1273" name="Google Shape;1273;p65"/>
          <p:cNvCxnSpPr/>
          <p:nvPr/>
        </p:nvCxnSpPr>
        <p:spPr>
          <a:xfrm>
            <a:off x="4701382" y="2369958"/>
            <a:ext cx="3977700" cy="0"/>
          </a:xfrm>
          <a:prstGeom prst="straightConnector1">
            <a:avLst/>
          </a:prstGeom>
          <a:noFill/>
          <a:ln cap="flat" cmpd="sng" w="9525">
            <a:solidFill>
              <a:srgbClr val="888888"/>
            </a:solidFill>
            <a:prstDash val="solid"/>
            <a:round/>
            <a:headEnd len="sm" w="sm" type="none"/>
            <a:tailEnd len="sm" w="sm" type="none"/>
          </a:ln>
        </p:spPr>
      </p:cxnSp>
      <p:cxnSp>
        <p:nvCxnSpPr>
          <p:cNvPr id="1274" name="Google Shape;1274;p65"/>
          <p:cNvCxnSpPr/>
          <p:nvPr/>
        </p:nvCxnSpPr>
        <p:spPr>
          <a:xfrm>
            <a:off x="4704423" y="1878759"/>
            <a:ext cx="3977700" cy="0"/>
          </a:xfrm>
          <a:prstGeom prst="straightConnector1">
            <a:avLst/>
          </a:prstGeom>
          <a:noFill/>
          <a:ln cap="flat" cmpd="sng" w="9525">
            <a:solidFill>
              <a:srgbClr val="888888"/>
            </a:solidFill>
            <a:prstDash val="solid"/>
            <a:round/>
            <a:headEnd len="sm" w="sm" type="none"/>
            <a:tailEnd len="sm" w="sm" type="none"/>
          </a:ln>
        </p:spPr>
      </p:cxnSp>
      <p:cxnSp>
        <p:nvCxnSpPr>
          <p:cNvPr id="1275" name="Google Shape;1275;p65"/>
          <p:cNvCxnSpPr/>
          <p:nvPr/>
        </p:nvCxnSpPr>
        <p:spPr>
          <a:xfrm>
            <a:off x="4722679" y="1604180"/>
            <a:ext cx="3977700" cy="0"/>
          </a:xfrm>
          <a:prstGeom prst="straightConnector1">
            <a:avLst/>
          </a:prstGeom>
          <a:noFill/>
          <a:ln cap="flat" cmpd="sng" w="14300">
            <a:solidFill>
              <a:srgbClr val="888888"/>
            </a:solidFill>
            <a:prstDash val="solid"/>
            <a:round/>
            <a:headEnd len="sm" w="sm" type="none"/>
            <a:tailEnd len="sm" w="sm" type="none"/>
          </a:ln>
        </p:spPr>
      </p:cxnSp>
      <p:sp>
        <p:nvSpPr>
          <p:cNvPr id="1276" name="Google Shape;1276;p65"/>
          <p:cNvSpPr/>
          <p:nvPr/>
        </p:nvSpPr>
        <p:spPr>
          <a:xfrm>
            <a:off x="6606980" y="1870869"/>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{{PI_T2_2_SA}}</a:t>
            </a:r>
            <a:endParaRPr b="0" i="0" sz="700" u="none" cap="none" strike="noStrike">
              <a:solidFill>
                <a:schemeClr val="dk1"/>
              </a:solidFill>
              <a:latin typeface="Calibri"/>
              <a:ea typeface="Calibri"/>
              <a:cs typeface="Calibri"/>
              <a:sym typeface="Calibri"/>
            </a:endParaRPr>
          </a:p>
        </p:txBody>
      </p:sp>
      <p:sp>
        <p:nvSpPr>
          <p:cNvPr id="1277" name="Google Shape;1277;p65"/>
          <p:cNvSpPr/>
          <p:nvPr/>
        </p:nvSpPr>
        <p:spPr>
          <a:xfrm>
            <a:off x="6615954" y="2114489"/>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{{PI_T2_3_SA}}</a:t>
            </a:r>
            <a:endParaRPr b="0" i="0" sz="700" u="none" cap="none" strike="noStrike">
              <a:solidFill>
                <a:schemeClr val="dk1"/>
              </a:solidFill>
              <a:latin typeface="Calibri"/>
              <a:ea typeface="Calibri"/>
              <a:cs typeface="Calibri"/>
              <a:sym typeface="Calibri"/>
            </a:endParaRPr>
          </a:p>
        </p:txBody>
      </p:sp>
      <p:sp>
        <p:nvSpPr>
          <p:cNvPr id="1278" name="Google Shape;1278;p65"/>
          <p:cNvSpPr/>
          <p:nvPr/>
        </p:nvSpPr>
        <p:spPr>
          <a:xfrm>
            <a:off x="6618945" y="2358108"/>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{{PI_T2_4_SA}}</a:t>
            </a:r>
            <a:endParaRPr b="0" i="0" sz="700" u="none" cap="none" strike="noStrike">
              <a:solidFill>
                <a:schemeClr val="dk1"/>
              </a:solidFill>
              <a:latin typeface="Calibri"/>
              <a:ea typeface="Calibri"/>
              <a:cs typeface="Calibri"/>
              <a:sym typeface="Calibri"/>
            </a:endParaRPr>
          </a:p>
        </p:txBody>
      </p:sp>
      <p:sp>
        <p:nvSpPr>
          <p:cNvPr id="1279" name="Google Shape;1279;p65"/>
          <p:cNvSpPr/>
          <p:nvPr/>
        </p:nvSpPr>
        <p:spPr>
          <a:xfrm>
            <a:off x="6612962" y="2601728"/>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{{PI_T2_5_SA}}</a:t>
            </a:r>
            <a:endParaRPr b="0" i="0" sz="700" u="none" cap="none" strike="noStrike">
              <a:solidFill>
                <a:schemeClr val="dk1"/>
              </a:solidFill>
              <a:latin typeface="Calibri"/>
              <a:ea typeface="Calibri"/>
              <a:cs typeface="Calibri"/>
              <a:sym typeface="Calibri"/>
            </a:endParaRPr>
          </a:p>
        </p:txBody>
      </p:sp>
      <p:sp>
        <p:nvSpPr>
          <p:cNvPr id="1280" name="Google Shape;1280;p65"/>
          <p:cNvSpPr/>
          <p:nvPr/>
        </p:nvSpPr>
        <p:spPr>
          <a:xfrm>
            <a:off x="7277980" y="1624875"/>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{{PI_T2_1_FA}} / {{PI_T2_1_LA}}</a:t>
            </a:r>
            <a:endParaRPr b="0" i="0" sz="800" u="none" cap="none" strike="noStrike">
              <a:solidFill>
                <a:schemeClr val="dk1"/>
              </a:solidFill>
              <a:latin typeface="Calibri"/>
              <a:ea typeface="Calibri"/>
              <a:cs typeface="Calibri"/>
              <a:sym typeface="Calibri"/>
            </a:endParaRPr>
          </a:p>
        </p:txBody>
      </p:sp>
      <p:sp>
        <p:nvSpPr>
          <p:cNvPr id="1281" name="Google Shape;1281;p65"/>
          <p:cNvSpPr/>
          <p:nvPr/>
        </p:nvSpPr>
        <p:spPr>
          <a:xfrm>
            <a:off x="7282310" y="1868476"/>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{{PI_T2_2_FA}} / {{PI_T2_2_LA}}</a:t>
            </a:r>
            <a:endParaRPr b="0" i="0" sz="800" u="none" cap="none" strike="noStrike">
              <a:solidFill>
                <a:schemeClr val="dk1"/>
              </a:solidFill>
              <a:latin typeface="Calibri"/>
              <a:ea typeface="Calibri"/>
              <a:cs typeface="Calibri"/>
              <a:sym typeface="Calibri"/>
            </a:endParaRPr>
          </a:p>
        </p:txBody>
      </p:sp>
      <p:sp>
        <p:nvSpPr>
          <p:cNvPr id="1282" name="Google Shape;1282;p65"/>
          <p:cNvSpPr/>
          <p:nvPr/>
        </p:nvSpPr>
        <p:spPr>
          <a:xfrm>
            <a:off x="7286640" y="2112076"/>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{{PI_T2_3_FA}} / {{PI_T2_3_LA}}</a:t>
            </a:r>
            <a:endParaRPr b="0" i="0" sz="800" u="none" cap="none" strike="noStrike">
              <a:solidFill>
                <a:schemeClr val="dk1"/>
              </a:solidFill>
              <a:latin typeface="Calibri"/>
              <a:ea typeface="Calibri"/>
              <a:cs typeface="Calibri"/>
              <a:sym typeface="Calibri"/>
            </a:endParaRPr>
          </a:p>
        </p:txBody>
      </p:sp>
      <p:sp>
        <p:nvSpPr>
          <p:cNvPr id="1283" name="Google Shape;1283;p65"/>
          <p:cNvSpPr/>
          <p:nvPr/>
        </p:nvSpPr>
        <p:spPr>
          <a:xfrm>
            <a:off x="7295300" y="2355677"/>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{{PI_T2_4_FA}} / {{PI_T2_4_LA}}</a:t>
            </a:r>
            <a:endParaRPr b="0" i="0" sz="800" u="none" cap="none" strike="noStrike">
              <a:solidFill>
                <a:schemeClr val="dk1"/>
              </a:solidFill>
              <a:latin typeface="Calibri"/>
              <a:ea typeface="Calibri"/>
              <a:cs typeface="Calibri"/>
              <a:sym typeface="Calibri"/>
            </a:endParaRPr>
          </a:p>
        </p:txBody>
      </p:sp>
      <p:sp>
        <p:nvSpPr>
          <p:cNvPr id="1284" name="Google Shape;1284;p65"/>
          <p:cNvSpPr/>
          <p:nvPr/>
        </p:nvSpPr>
        <p:spPr>
          <a:xfrm>
            <a:off x="7290970" y="2599278"/>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{{PI_T2_5_FA}} / {{PI_T2_5_LA}}</a:t>
            </a:r>
            <a:endParaRPr b="0" i="0" sz="800" u="none" cap="none" strike="noStrike">
              <a:solidFill>
                <a:schemeClr val="dk1"/>
              </a:solidFill>
              <a:latin typeface="Calibri"/>
              <a:ea typeface="Calibri"/>
              <a:cs typeface="Calibri"/>
              <a:sym typeface="Calibri"/>
            </a:endParaRPr>
          </a:p>
        </p:txBody>
      </p:sp>
      <p:sp>
        <p:nvSpPr>
          <p:cNvPr id="1285" name="Google Shape;1285;p65"/>
          <p:cNvSpPr/>
          <p:nvPr/>
        </p:nvSpPr>
        <p:spPr>
          <a:xfrm>
            <a:off x="4733920" y="3618329"/>
            <a:ext cx="3977700" cy="240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286" name="Google Shape;1286;p65"/>
          <p:cNvSpPr/>
          <p:nvPr/>
        </p:nvSpPr>
        <p:spPr>
          <a:xfrm>
            <a:off x="4716809" y="3607294"/>
            <a:ext cx="1988700" cy="24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Technology</a:t>
            </a:r>
            <a:endParaRPr b="0" i="0" sz="1000" u="none" cap="none" strike="noStrike">
              <a:solidFill>
                <a:schemeClr val="dk1"/>
              </a:solidFill>
              <a:latin typeface="Calibri"/>
              <a:ea typeface="Calibri"/>
              <a:cs typeface="Calibri"/>
              <a:sym typeface="Calibri"/>
            </a:endParaRPr>
          </a:p>
        </p:txBody>
      </p:sp>
      <p:sp>
        <p:nvSpPr>
          <p:cNvPr id="1287" name="Google Shape;1287;p65"/>
          <p:cNvSpPr/>
          <p:nvPr/>
        </p:nvSpPr>
        <p:spPr>
          <a:xfrm>
            <a:off x="6618189" y="3619575"/>
            <a:ext cx="772800" cy="240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 of SAs</a:t>
            </a:r>
            <a:endParaRPr b="0" i="0" sz="1000" u="none" cap="none" strike="noStrike">
              <a:solidFill>
                <a:schemeClr val="dk1"/>
              </a:solidFill>
              <a:latin typeface="Calibri"/>
              <a:ea typeface="Calibri"/>
              <a:cs typeface="Calibri"/>
              <a:sym typeface="Calibri"/>
            </a:endParaRPr>
          </a:p>
        </p:txBody>
      </p:sp>
      <p:sp>
        <p:nvSpPr>
          <p:cNvPr id="1288" name="Google Shape;1288;p65"/>
          <p:cNvSpPr/>
          <p:nvPr/>
        </p:nvSpPr>
        <p:spPr>
          <a:xfrm>
            <a:off x="7288689" y="3613000"/>
            <a:ext cx="1621200" cy="240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B7280"/>
              </a:buClr>
              <a:buSzPts val="700"/>
              <a:buFont typeface="DM Sans"/>
              <a:buNone/>
            </a:pPr>
            <a:r>
              <a:rPr b="1" i="0" lang="en" sz="1000" u="none" cap="none" strike="noStrike">
                <a:solidFill>
                  <a:srgbClr val="6B7280"/>
                </a:solidFill>
                <a:latin typeface="Calibri"/>
                <a:ea typeface="Calibri"/>
                <a:cs typeface="Calibri"/>
                <a:sym typeface="Calibri"/>
              </a:rPr>
              <a:t>First / Last Created</a:t>
            </a:r>
            <a:endParaRPr b="0" i="0" sz="1000" u="none" cap="none" strike="noStrike">
              <a:solidFill>
                <a:schemeClr val="dk1"/>
              </a:solidFill>
              <a:latin typeface="Calibri"/>
              <a:ea typeface="Calibri"/>
              <a:cs typeface="Calibri"/>
              <a:sym typeface="Calibri"/>
            </a:endParaRPr>
          </a:p>
        </p:txBody>
      </p:sp>
      <p:sp>
        <p:nvSpPr>
          <p:cNvPr id="1289" name="Google Shape;1289;p65"/>
          <p:cNvSpPr/>
          <p:nvPr/>
        </p:nvSpPr>
        <p:spPr>
          <a:xfrm>
            <a:off x="4733912" y="3858709"/>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90" name="Google Shape;1290;p65"/>
          <p:cNvCxnSpPr/>
          <p:nvPr/>
        </p:nvCxnSpPr>
        <p:spPr>
          <a:xfrm>
            <a:off x="4733912" y="4104802"/>
            <a:ext cx="3977700" cy="0"/>
          </a:xfrm>
          <a:prstGeom prst="straightConnector1">
            <a:avLst/>
          </a:prstGeom>
          <a:noFill/>
          <a:ln cap="flat" cmpd="sng" w="9525">
            <a:solidFill>
              <a:srgbClr val="E5E7EB"/>
            </a:solidFill>
            <a:prstDash val="solid"/>
            <a:round/>
            <a:headEnd len="sm" w="sm" type="none"/>
            <a:tailEnd len="sm" w="sm" type="none"/>
          </a:ln>
        </p:spPr>
      </p:cxnSp>
      <p:sp>
        <p:nvSpPr>
          <p:cNvPr id="1291" name="Google Shape;1291;p65"/>
          <p:cNvSpPr/>
          <p:nvPr/>
        </p:nvSpPr>
        <p:spPr>
          <a:xfrm>
            <a:off x="4716801" y="3858701"/>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{{PI_T3_1}}</a:t>
            </a:r>
            <a:endParaRPr b="0" i="0" sz="800" u="none" cap="none" strike="noStrike">
              <a:solidFill>
                <a:schemeClr val="dk1"/>
              </a:solidFill>
              <a:latin typeface="Calibri"/>
              <a:ea typeface="Calibri"/>
              <a:cs typeface="Calibri"/>
              <a:sym typeface="Calibri"/>
            </a:endParaRPr>
          </a:p>
        </p:txBody>
      </p:sp>
      <p:sp>
        <p:nvSpPr>
          <p:cNvPr id="1292" name="Google Shape;1292;p65"/>
          <p:cNvSpPr/>
          <p:nvPr/>
        </p:nvSpPr>
        <p:spPr>
          <a:xfrm>
            <a:off x="6620705" y="3858725"/>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{{PI_T3_1_SA}}</a:t>
            </a:r>
            <a:endParaRPr b="0" i="0" sz="700" u="none" cap="none" strike="noStrike">
              <a:solidFill>
                <a:schemeClr val="dk1"/>
              </a:solidFill>
              <a:latin typeface="Calibri"/>
              <a:ea typeface="Calibri"/>
              <a:cs typeface="Calibri"/>
              <a:sym typeface="Calibri"/>
            </a:endParaRPr>
          </a:p>
        </p:txBody>
      </p:sp>
      <p:sp>
        <p:nvSpPr>
          <p:cNvPr id="1293" name="Google Shape;1293;p65"/>
          <p:cNvSpPr/>
          <p:nvPr/>
        </p:nvSpPr>
        <p:spPr>
          <a:xfrm>
            <a:off x="4733912" y="4104802"/>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94" name="Google Shape;1294;p65"/>
          <p:cNvCxnSpPr/>
          <p:nvPr/>
        </p:nvCxnSpPr>
        <p:spPr>
          <a:xfrm>
            <a:off x="4718198" y="4342990"/>
            <a:ext cx="3977700" cy="0"/>
          </a:xfrm>
          <a:prstGeom prst="straightConnector1">
            <a:avLst/>
          </a:prstGeom>
          <a:noFill/>
          <a:ln cap="flat" cmpd="sng" w="9525">
            <a:solidFill>
              <a:srgbClr val="888888"/>
            </a:solidFill>
            <a:prstDash val="solid"/>
            <a:round/>
            <a:headEnd len="sm" w="sm" type="none"/>
            <a:tailEnd len="sm" w="sm" type="none"/>
          </a:ln>
        </p:spPr>
      </p:cxnSp>
      <p:sp>
        <p:nvSpPr>
          <p:cNvPr id="1295" name="Google Shape;1295;p65"/>
          <p:cNvSpPr/>
          <p:nvPr/>
        </p:nvSpPr>
        <p:spPr>
          <a:xfrm>
            <a:off x="4716801" y="4104795"/>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{{PI_T3_2}}</a:t>
            </a:r>
            <a:endParaRPr b="0" i="0" sz="800" u="none" cap="none" strike="noStrike">
              <a:solidFill>
                <a:schemeClr val="dk1"/>
              </a:solidFill>
              <a:latin typeface="Calibri"/>
              <a:ea typeface="Calibri"/>
              <a:cs typeface="Calibri"/>
              <a:sym typeface="Calibri"/>
            </a:endParaRPr>
          </a:p>
        </p:txBody>
      </p:sp>
      <p:sp>
        <p:nvSpPr>
          <p:cNvPr id="1296" name="Google Shape;1296;p65"/>
          <p:cNvSpPr/>
          <p:nvPr/>
        </p:nvSpPr>
        <p:spPr>
          <a:xfrm>
            <a:off x="4733912" y="4350895"/>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297" name="Google Shape;1297;p65"/>
          <p:cNvCxnSpPr/>
          <p:nvPr/>
        </p:nvCxnSpPr>
        <p:spPr>
          <a:xfrm>
            <a:off x="4733912" y="4596988"/>
            <a:ext cx="3977700" cy="0"/>
          </a:xfrm>
          <a:prstGeom prst="straightConnector1">
            <a:avLst/>
          </a:prstGeom>
          <a:noFill/>
          <a:ln cap="flat" cmpd="sng" w="9525">
            <a:solidFill>
              <a:srgbClr val="E5E7EB"/>
            </a:solidFill>
            <a:prstDash val="solid"/>
            <a:round/>
            <a:headEnd len="sm" w="sm" type="none"/>
            <a:tailEnd len="sm" w="sm" type="none"/>
          </a:ln>
        </p:spPr>
      </p:cxnSp>
      <p:sp>
        <p:nvSpPr>
          <p:cNvPr id="1298" name="Google Shape;1298;p65"/>
          <p:cNvSpPr/>
          <p:nvPr/>
        </p:nvSpPr>
        <p:spPr>
          <a:xfrm>
            <a:off x="4716801" y="4350889"/>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{{PI_T3_3}}</a:t>
            </a:r>
            <a:endParaRPr b="0" i="0" sz="800" u="none" cap="none" strike="noStrike">
              <a:solidFill>
                <a:schemeClr val="dk1"/>
              </a:solidFill>
              <a:latin typeface="Calibri"/>
              <a:ea typeface="Calibri"/>
              <a:cs typeface="Calibri"/>
              <a:sym typeface="Calibri"/>
            </a:endParaRPr>
          </a:p>
        </p:txBody>
      </p:sp>
      <p:sp>
        <p:nvSpPr>
          <p:cNvPr id="1299" name="Google Shape;1299;p65"/>
          <p:cNvSpPr/>
          <p:nvPr/>
        </p:nvSpPr>
        <p:spPr>
          <a:xfrm>
            <a:off x="4733912" y="4596988"/>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300" name="Google Shape;1300;p65"/>
          <p:cNvCxnSpPr/>
          <p:nvPr/>
        </p:nvCxnSpPr>
        <p:spPr>
          <a:xfrm>
            <a:off x="4721240" y="4833171"/>
            <a:ext cx="3977700" cy="0"/>
          </a:xfrm>
          <a:prstGeom prst="straightConnector1">
            <a:avLst/>
          </a:prstGeom>
          <a:noFill/>
          <a:ln cap="flat" cmpd="sng" w="9525">
            <a:solidFill>
              <a:srgbClr val="888888"/>
            </a:solidFill>
            <a:prstDash val="solid"/>
            <a:round/>
            <a:headEnd len="sm" w="sm" type="none"/>
            <a:tailEnd len="sm" w="sm" type="none"/>
          </a:ln>
        </p:spPr>
      </p:cxnSp>
      <p:sp>
        <p:nvSpPr>
          <p:cNvPr id="1301" name="Google Shape;1301;p65"/>
          <p:cNvSpPr/>
          <p:nvPr/>
        </p:nvSpPr>
        <p:spPr>
          <a:xfrm>
            <a:off x="4716801" y="4596983"/>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{{PI_T3_4}}</a:t>
            </a:r>
            <a:endParaRPr b="0" i="0" sz="800" u="none" cap="none" strike="noStrike">
              <a:solidFill>
                <a:schemeClr val="dk1"/>
              </a:solidFill>
              <a:latin typeface="Calibri"/>
              <a:ea typeface="Calibri"/>
              <a:cs typeface="Calibri"/>
              <a:sym typeface="Calibri"/>
            </a:endParaRPr>
          </a:p>
        </p:txBody>
      </p:sp>
      <p:sp>
        <p:nvSpPr>
          <p:cNvPr id="1302" name="Google Shape;1302;p65"/>
          <p:cNvSpPr/>
          <p:nvPr/>
        </p:nvSpPr>
        <p:spPr>
          <a:xfrm>
            <a:off x="4733912" y="4843081"/>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sp>
        <p:nvSpPr>
          <p:cNvPr id="1303" name="Google Shape;1303;p65"/>
          <p:cNvSpPr/>
          <p:nvPr/>
        </p:nvSpPr>
        <p:spPr>
          <a:xfrm>
            <a:off x="4716801" y="4843077"/>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{{PI_T3_5}}</a:t>
            </a:r>
            <a:endParaRPr b="0" i="0" sz="800" u="none" cap="none" strike="noStrike">
              <a:solidFill>
                <a:schemeClr val="dk1"/>
              </a:solidFill>
              <a:latin typeface="Calibri"/>
              <a:ea typeface="Calibri"/>
              <a:cs typeface="Calibri"/>
              <a:sym typeface="Calibri"/>
            </a:endParaRPr>
          </a:p>
        </p:txBody>
      </p:sp>
      <p:cxnSp>
        <p:nvCxnSpPr>
          <p:cNvPr id="1304" name="Google Shape;1304;p65"/>
          <p:cNvCxnSpPr/>
          <p:nvPr/>
        </p:nvCxnSpPr>
        <p:spPr>
          <a:xfrm>
            <a:off x="4694756" y="5086816"/>
            <a:ext cx="3977700" cy="0"/>
          </a:xfrm>
          <a:prstGeom prst="straightConnector1">
            <a:avLst/>
          </a:prstGeom>
          <a:noFill/>
          <a:ln cap="flat" cmpd="sng" w="9525">
            <a:solidFill>
              <a:srgbClr val="888888"/>
            </a:solidFill>
            <a:prstDash val="solid"/>
            <a:round/>
            <a:headEnd len="sm" w="sm" type="none"/>
            <a:tailEnd len="sm" w="sm" type="none"/>
          </a:ln>
        </p:spPr>
      </p:cxnSp>
      <p:cxnSp>
        <p:nvCxnSpPr>
          <p:cNvPr id="1305" name="Google Shape;1305;p65"/>
          <p:cNvCxnSpPr/>
          <p:nvPr/>
        </p:nvCxnSpPr>
        <p:spPr>
          <a:xfrm>
            <a:off x="4712116" y="4601433"/>
            <a:ext cx="3977700" cy="0"/>
          </a:xfrm>
          <a:prstGeom prst="straightConnector1">
            <a:avLst/>
          </a:prstGeom>
          <a:noFill/>
          <a:ln cap="flat" cmpd="sng" w="9525">
            <a:solidFill>
              <a:srgbClr val="888888"/>
            </a:solidFill>
            <a:prstDash val="solid"/>
            <a:round/>
            <a:headEnd len="sm" w="sm" type="none"/>
            <a:tailEnd len="sm" w="sm" type="none"/>
          </a:ln>
        </p:spPr>
      </p:cxnSp>
      <p:cxnSp>
        <p:nvCxnSpPr>
          <p:cNvPr id="1306" name="Google Shape;1306;p65"/>
          <p:cNvCxnSpPr/>
          <p:nvPr/>
        </p:nvCxnSpPr>
        <p:spPr>
          <a:xfrm>
            <a:off x="4715157" y="4110234"/>
            <a:ext cx="3977700" cy="0"/>
          </a:xfrm>
          <a:prstGeom prst="straightConnector1">
            <a:avLst/>
          </a:prstGeom>
          <a:noFill/>
          <a:ln cap="flat" cmpd="sng" w="9525">
            <a:solidFill>
              <a:srgbClr val="888888"/>
            </a:solidFill>
            <a:prstDash val="solid"/>
            <a:round/>
            <a:headEnd len="sm" w="sm" type="none"/>
            <a:tailEnd len="sm" w="sm" type="none"/>
          </a:ln>
        </p:spPr>
      </p:cxnSp>
      <p:cxnSp>
        <p:nvCxnSpPr>
          <p:cNvPr id="1307" name="Google Shape;1307;p65"/>
          <p:cNvCxnSpPr/>
          <p:nvPr/>
        </p:nvCxnSpPr>
        <p:spPr>
          <a:xfrm>
            <a:off x="4733413" y="3835655"/>
            <a:ext cx="3977700" cy="0"/>
          </a:xfrm>
          <a:prstGeom prst="straightConnector1">
            <a:avLst/>
          </a:prstGeom>
          <a:noFill/>
          <a:ln cap="flat" cmpd="sng" w="14300">
            <a:solidFill>
              <a:srgbClr val="888888"/>
            </a:solidFill>
            <a:prstDash val="solid"/>
            <a:round/>
            <a:headEnd len="sm" w="sm" type="none"/>
            <a:tailEnd len="sm" w="sm" type="none"/>
          </a:ln>
        </p:spPr>
      </p:cxnSp>
      <p:sp>
        <p:nvSpPr>
          <p:cNvPr id="1308" name="Google Shape;1308;p65"/>
          <p:cNvSpPr/>
          <p:nvPr/>
        </p:nvSpPr>
        <p:spPr>
          <a:xfrm>
            <a:off x="6617714" y="4102344"/>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{{PI_T3_2_SA}}</a:t>
            </a:r>
            <a:endParaRPr b="0" i="0" sz="700" u="none" cap="none" strike="noStrike">
              <a:solidFill>
                <a:schemeClr val="dk1"/>
              </a:solidFill>
              <a:latin typeface="Calibri"/>
              <a:ea typeface="Calibri"/>
              <a:cs typeface="Calibri"/>
              <a:sym typeface="Calibri"/>
            </a:endParaRPr>
          </a:p>
        </p:txBody>
      </p:sp>
      <p:sp>
        <p:nvSpPr>
          <p:cNvPr id="1309" name="Google Shape;1309;p65"/>
          <p:cNvSpPr/>
          <p:nvPr/>
        </p:nvSpPr>
        <p:spPr>
          <a:xfrm>
            <a:off x="6626688" y="4345964"/>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{{PI_T3_3_SA}}</a:t>
            </a:r>
            <a:endParaRPr b="0" i="0" sz="700" u="none" cap="none" strike="noStrike">
              <a:solidFill>
                <a:schemeClr val="dk1"/>
              </a:solidFill>
              <a:latin typeface="Calibri"/>
              <a:ea typeface="Calibri"/>
              <a:cs typeface="Calibri"/>
              <a:sym typeface="Calibri"/>
            </a:endParaRPr>
          </a:p>
        </p:txBody>
      </p:sp>
      <p:sp>
        <p:nvSpPr>
          <p:cNvPr id="1310" name="Google Shape;1310;p65"/>
          <p:cNvSpPr/>
          <p:nvPr/>
        </p:nvSpPr>
        <p:spPr>
          <a:xfrm>
            <a:off x="6629679" y="4589583"/>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{{PI_T3_4_SA}}</a:t>
            </a:r>
            <a:endParaRPr b="0" i="0" sz="700" u="none" cap="none" strike="noStrike">
              <a:solidFill>
                <a:schemeClr val="dk1"/>
              </a:solidFill>
              <a:latin typeface="Calibri"/>
              <a:ea typeface="Calibri"/>
              <a:cs typeface="Calibri"/>
              <a:sym typeface="Calibri"/>
            </a:endParaRPr>
          </a:p>
        </p:txBody>
      </p:sp>
      <p:sp>
        <p:nvSpPr>
          <p:cNvPr id="1311" name="Google Shape;1311;p65"/>
          <p:cNvSpPr/>
          <p:nvPr/>
        </p:nvSpPr>
        <p:spPr>
          <a:xfrm>
            <a:off x="6623696" y="4833203"/>
            <a:ext cx="772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{{PI_T3_5_SA}}</a:t>
            </a:r>
            <a:endParaRPr b="0" i="0" sz="700" u="none" cap="none" strike="noStrike">
              <a:solidFill>
                <a:schemeClr val="dk1"/>
              </a:solidFill>
              <a:latin typeface="Calibri"/>
              <a:ea typeface="Calibri"/>
              <a:cs typeface="Calibri"/>
              <a:sym typeface="Calibri"/>
            </a:endParaRPr>
          </a:p>
        </p:txBody>
      </p:sp>
      <p:sp>
        <p:nvSpPr>
          <p:cNvPr id="1312" name="Google Shape;1312;p65"/>
          <p:cNvSpPr/>
          <p:nvPr/>
        </p:nvSpPr>
        <p:spPr>
          <a:xfrm>
            <a:off x="7288714" y="3856350"/>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{{PI_T3_1_FA}} / {{PI_T3_1_LA}}</a:t>
            </a:r>
            <a:endParaRPr b="0" i="0" sz="800" u="none" cap="none" strike="noStrike">
              <a:solidFill>
                <a:schemeClr val="dk1"/>
              </a:solidFill>
              <a:latin typeface="Calibri"/>
              <a:ea typeface="Calibri"/>
              <a:cs typeface="Calibri"/>
              <a:sym typeface="Calibri"/>
            </a:endParaRPr>
          </a:p>
        </p:txBody>
      </p:sp>
      <p:sp>
        <p:nvSpPr>
          <p:cNvPr id="1313" name="Google Shape;1313;p65"/>
          <p:cNvSpPr/>
          <p:nvPr/>
        </p:nvSpPr>
        <p:spPr>
          <a:xfrm>
            <a:off x="7293044" y="4099951"/>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{{PI_T3_2_FA}} / {{PI_T3_2_LA}}</a:t>
            </a:r>
            <a:endParaRPr b="0" i="0" sz="800" u="none" cap="none" strike="noStrike">
              <a:solidFill>
                <a:schemeClr val="dk1"/>
              </a:solidFill>
              <a:latin typeface="Calibri"/>
              <a:ea typeface="Calibri"/>
              <a:cs typeface="Calibri"/>
              <a:sym typeface="Calibri"/>
            </a:endParaRPr>
          </a:p>
        </p:txBody>
      </p:sp>
      <p:sp>
        <p:nvSpPr>
          <p:cNvPr id="1314" name="Google Shape;1314;p65"/>
          <p:cNvSpPr/>
          <p:nvPr/>
        </p:nvSpPr>
        <p:spPr>
          <a:xfrm>
            <a:off x="7297374" y="4343551"/>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{{PI_T3_3_FA}} / {{PI_T3_3_LA}}</a:t>
            </a:r>
            <a:endParaRPr b="0" i="0" sz="800" u="none" cap="none" strike="noStrike">
              <a:solidFill>
                <a:schemeClr val="dk1"/>
              </a:solidFill>
              <a:latin typeface="Calibri"/>
              <a:ea typeface="Calibri"/>
              <a:cs typeface="Calibri"/>
              <a:sym typeface="Calibri"/>
            </a:endParaRPr>
          </a:p>
        </p:txBody>
      </p:sp>
      <p:sp>
        <p:nvSpPr>
          <p:cNvPr id="1315" name="Google Shape;1315;p65"/>
          <p:cNvSpPr/>
          <p:nvPr/>
        </p:nvSpPr>
        <p:spPr>
          <a:xfrm>
            <a:off x="7306035" y="4587152"/>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{{PI_T3_4_FA}} / {{PI_T3_4_LA}}</a:t>
            </a:r>
            <a:endParaRPr b="0" i="0" sz="800" u="none" cap="none" strike="noStrike">
              <a:solidFill>
                <a:schemeClr val="dk1"/>
              </a:solidFill>
              <a:latin typeface="Calibri"/>
              <a:ea typeface="Calibri"/>
              <a:cs typeface="Calibri"/>
              <a:sym typeface="Calibri"/>
            </a:endParaRPr>
          </a:p>
        </p:txBody>
      </p:sp>
      <p:sp>
        <p:nvSpPr>
          <p:cNvPr id="1316" name="Google Shape;1316;p65"/>
          <p:cNvSpPr/>
          <p:nvPr/>
        </p:nvSpPr>
        <p:spPr>
          <a:xfrm>
            <a:off x="7301704" y="4830753"/>
            <a:ext cx="16212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{{PI_T3_5_FA}} / {{PI_T3_5_LA}}</a:t>
            </a:r>
            <a:endParaRPr b="0" i="0" sz="800" u="none" cap="none" strike="noStrike">
              <a:solidFill>
                <a:schemeClr val="dk1"/>
              </a:solidFill>
              <a:latin typeface="Calibri"/>
              <a:ea typeface="Calibri"/>
              <a:cs typeface="Calibri"/>
              <a:sym typeface="Calibri"/>
            </a:endParaRPr>
          </a:p>
        </p:txBody>
      </p:sp>
      <p:sp>
        <p:nvSpPr>
          <p:cNvPr id="1317" name="Google Shape;1317;p65"/>
          <p:cNvSpPr/>
          <p:nvPr/>
        </p:nvSpPr>
        <p:spPr>
          <a:xfrm>
            <a:off x="369464" y="289118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318" name="Google Shape;1318;p65"/>
          <p:cNvCxnSpPr/>
          <p:nvPr/>
        </p:nvCxnSpPr>
        <p:spPr>
          <a:xfrm>
            <a:off x="359833" y="3140736"/>
            <a:ext cx="3977700" cy="0"/>
          </a:xfrm>
          <a:prstGeom prst="straightConnector1">
            <a:avLst/>
          </a:prstGeom>
          <a:noFill/>
          <a:ln cap="flat" cmpd="sng" w="9525">
            <a:solidFill>
              <a:srgbClr val="E5E7EB"/>
            </a:solidFill>
            <a:prstDash val="solid"/>
            <a:round/>
            <a:headEnd len="sm" w="sm" type="none"/>
            <a:tailEnd len="sm" w="sm" type="none"/>
          </a:ln>
        </p:spPr>
      </p:cxnSp>
      <p:sp>
        <p:nvSpPr>
          <p:cNvPr id="1319" name="Google Shape;1319;p65"/>
          <p:cNvSpPr/>
          <p:nvPr/>
        </p:nvSpPr>
        <p:spPr>
          <a:xfrm>
            <a:off x="369460" y="2891182"/>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{{PI_T1_6}}</a:t>
            </a:r>
            <a:endParaRPr b="0" i="0" sz="800" u="none" cap="none" strike="noStrike">
              <a:solidFill>
                <a:schemeClr val="dk1"/>
              </a:solidFill>
              <a:latin typeface="Calibri"/>
              <a:ea typeface="Calibri"/>
              <a:cs typeface="Calibri"/>
              <a:sym typeface="Calibri"/>
            </a:endParaRPr>
          </a:p>
        </p:txBody>
      </p:sp>
      <p:cxnSp>
        <p:nvCxnSpPr>
          <p:cNvPr id="1320" name="Google Shape;1320;p65"/>
          <p:cNvCxnSpPr/>
          <p:nvPr/>
        </p:nvCxnSpPr>
        <p:spPr>
          <a:xfrm>
            <a:off x="347415" y="3134921"/>
            <a:ext cx="3977700" cy="0"/>
          </a:xfrm>
          <a:prstGeom prst="straightConnector1">
            <a:avLst/>
          </a:prstGeom>
          <a:noFill/>
          <a:ln cap="flat" cmpd="sng" w="9525">
            <a:solidFill>
              <a:srgbClr val="888888"/>
            </a:solidFill>
            <a:prstDash val="solid"/>
            <a:round/>
            <a:headEnd len="sm" w="sm" type="none"/>
            <a:tailEnd len="sm" w="sm" type="none"/>
          </a:ln>
        </p:spPr>
      </p:cxnSp>
      <p:sp>
        <p:nvSpPr>
          <p:cNvPr id="1321" name="Google Shape;1321;p65"/>
          <p:cNvSpPr/>
          <p:nvPr/>
        </p:nvSpPr>
        <p:spPr>
          <a:xfrm>
            <a:off x="2312547" y="2881313"/>
            <a:ext cx="736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{{PI_T1_6_SA}}</a:t>
            </a:r>
            <a:endParaRPr b="0" i="0" sz="700" u="none" cap="none" strike="noStrike">
              <a:solidFill>
                <a:schemeClr val="dk1"/>
              </a:solidFill>
              <a:latin typeface="Calibri"/>
              <a:ea typeface="Calibri"/>
              <a:cs typeface="Calibri"/>
              <a:sym typeface="Calibri"/>
            </a:endParaRPr>
          </a:p>
        </p:txBody>
      </p:sp>
      <p:sp>
        <p:nvSpPr>
          <p:cNvPr id="1322" name="Google Shape;1322;p65"/>
          <p:cNvSpPr/>
          <p:nvPr/>
        </p:nvSpPr>
        <p:spPr>
          <a:xfrm>
            <a:off x="2937042" y="2878863"/>
            <a:ext cx="15945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{{PI_T1_6_FA}} / {{PI_T1_6_LA}}</a:t>
            </a:r>
            <a:endParaRPr b="0" i="0" sz="800" u="none" cap="none" strike="noStrike">
              <a:solidFill>
                <a:schemeClr val="dk1"/>
              </a:solidFill>
              <a:latin typeface="Calibri"/>
              <a:ea typeface="Calibri"/>
              <a:cs typeface="Calibri"/>
              <a:sym typeface="Calibri"/>
            </a:endParaRPr>
          </a:p>
        </p:txBody>
      </p:sp>
      <p:sp>
        <p:nvSpPr>
          <p:cNvPr id="1323" name="Google Shape;1323;p65"/>
          <p:cNvSpPr/>
          <p:nvPr/>
        </p:nvSpPr>
        <p:spPr>
          <a:xfrm>
            <a:off x="380824" y="315658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324" name="Google Shape;1324;p65"/>
          <p:cNvCxnSpPr/>
          <p:nvPr/>
        </p:nvCxnSpPr>
        <p:spPr>
          <a:xfrm>
            <a:off x="371193" y="3406136"/>
            <a:ext cx="3977700" cy="0"/>
          </a:xfrm>
          <a:prstGeom prst="straightConnector1">
            <a:avLst/>
          </a:prstGeom>
          <a:noFill/>
          <a:ln cap="flat" cmpd="sng" w="9525">
            <a:solidFill>
              <a:srgbClr val="E5E7EB"/>
            </a:solidFill>
            <a:prstDash val="solid"/>
            <a:round/>
            <a:headEnd len="sm" w="sm" type="none"/>
            <a:tailEnd len="sm" w="sm" type="none"/>
          </a:ln>
        </p:spPr>
      </p:cxnSp>
      <p:sp>
        <p:nvSpPr>
          <p:cNvPr id="1325" name="Google Shape;1325;p65"/>
          <p:cNvSpPr/>
          <p:nvPr/>
        </p:nvSpPr>
        <p:spPr>
          <a:xfrm>
            <a:off x="380820" y="3156582"/>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{{PI_T1_7}}</a:t>
            </a:r>
            <a:endParaRPr b="0" i="0" sz="800" u="none" cap="none" strike="noStrike">
              <a:solidFill>
                <a:schemeClr val="dk1"/>
              </a:solidFill>
              <a:latin typeface="Calibri"/>
              <a:ea typeface="Calibri"/>
              <a:cs typeface="Calibri"/>
              <a:sym typeface="Calibri"/>
            </a:endParaRPr>
          </a:p>
        </p:txBody>
      </p:sp>
      <p:cxnSp>
        <p:nvCxnSpPr>
          <p:cNvPr id="1326" name="Google Shape;1326;p65"/>
          <p:cNvCxnSpPr/>
          <p:nvPr/>
        </p:nvCxnSpPr>
        <p:spPr>
          <a:xfrm>
            <a:off x="358775" y="3400321"/>
            <a:ext cx="3977700" cy="0"/>
          </a:xfrm>
          <a:prstGeom prst="straightConnector1">
            <a:avLst/>
          </a:prstGeom>
          <a:noFill/>
          <a:ln cap="flat" cmpd="sng" w="9525">
            <a:solidFill>
              <a:srgbClr val="888888"/>
            </a:solidFill>
            <a:prstDash val="solid"/>
            <a:round/>
            <a:headEnd len="sm" w="sm" type="none"/>
            <a:tailEnd len="sm" w="sm" type="none"/>
          </a:ln>
        </p:spPr>
      </p:cxnSp>
      <p:sp>
        <p:nvSpPr>
          <p:cNvPr id="1327" name="Google Shape;1327;p65"/>
          <p:cNvSpPr/>
          <p:nvPr/>
        </p:nvSpPr>
        <p:spPr>
          <a:xfrm>
            <a:off x="2323907" y="3146713"/>
            <a:ext cx="736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{{PI_T1_7_SA}}</a:t>
            </a:r>
            <a:endParaRPr b="0" i="0" sz="700" u="none" cap="none" strike="noStrike">
              <a:solidFill>
                <a:schemeClr val="dk1"/>
              </a:solidFill>
              <a:latin typeface="Calibri"/>
              <a:ea typeface="Calibri"/>
              <a:cs typeface="Calibri"/>
              <a:sym typeface="Calibri"/>
            </a:endParaRPr>
          </a:p>
        </p:txBody>
      </p:sp>
      <p:sp>
        <p:nvSpPr>
          <p:cNvPr id="1328" name="Google Shape;1328;p65"/>
          <p:cNvSpPr/>
          <p:nvPr/>
        </p:nvSpPr>
        <p:spPr>
          <a:xfrm>
            <a:off x="2948402" y="3144263"/>
            <a:ext cx="15945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{{PI_T1_7_FA}} / {{PI_T1_7_LA}}</a:t>
            </a:r>
            <a:endParaRPr b="0" i="0" sz="800" u="none" cap="none" strike="noStrike">
              <a:solidFill>
                <a:schemeClr val="dk1"/>
              </a:solidFill>
              <a:latin typeface="Calibri"/>
              <a:ea typeface="Calibri"/>
              <a:cs typeface="Calibri"/>
              <a:sym typeface="Calibri"/>
            </a:endParaRPr>
          </a:p>
        </p:txBody>
      </p:sp>
      <p:sp>
        <p:nvSpPr>
          <p:cNvPr id="1329" name="Google Shape;1329;p65"/>
          <p:cNvSpPr/>
          <p:nvPr/>
        </p:nvSpPr>
        <p:spPr>
          <a:xfrm>
            <a:off x="377476" y="342198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330" name="Google Shape;1330;p65"/>
          <p:cNvCxnSpPr/>
          <p:nvPr/>
        </p:nvCxnSpPr>
        <p:spPr>
          <a:xfrm>
            <a:off x="367845" y="3671536"/>
            <a:ext cx="3977700" cy="0"/>
          </a:xfrm>
          <a:prstGeom prst="straightConnector1">
            <a:avLst/>
          </a:prstGeom>
          <a:noFill/>
          <a:ln cap="flat" cmpd="sng" w="9525">
            <a:solidFill>
              <a:srgbClr val="E5E7EB"/>
            </a:solidFill>
            <a:prstDash val="solid"/>
            <a:round/>
            <a:headEnd len="sm" w="sm" type="none"/>
            <a:tailEnd len="sm" w="sm" type="none"/>
          </a:ln>
        </p:spPr>
      </p:cxnSp>
      <p:sp>
        <p:nvSpPr>
          <p:cNvPr id="1331" name="Google Shape;1331;p65"/>
          <p:cNvSpPr/>
          <p:nvPr/>
        </p:nvSpPr>
        <p:spPr>
          <a:xfrm>
            <a:off x="377472" y="3421982"/>
            <a:ext cx="2061600" cy="246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{{PI_T1_8}}</a:t>
            </a:r>
            <a:endParaRPr b="0" i="0" sz="800" u="none" cap="none" strike="noStrike">
              <a:solidFill>
                <a:schemeClr val="dk1"/>
              </a:solidFill>
              <a:latin typeface="Calibri"/>
              <a:ea typeface="Calibri"/>
              <a:cs typeface="Calibri"/>
              <a:sym typeface="Calibri"/>
            </a:endParaRPr>
          </a:p>
        </p:txBody>
      </p:sp>
      <p:cxnSp>
        <p:nvCxnSpPr>
          <p:cNvPr id="1332" name="Google Shape;1332;p65"/>
          <p:cNvCxnSpPr/>
          <p:nvPr/>
        </p:nvCxnSpPr>
        <p:spPr>
          <a:xfrm>
            <a:off x="355427" y="3665721"/>
            <a:ext cx="3977700" cy="0"/>
          </a:xfrm>
          <a:prstGeom prst="straightConnector1">
            <a:avLst/>
          </a:prstGeom>
          <a:noFill/>
          <a:ln cap="flat" cmpd="sng" w="9525">
            <a:solidFill>
              <a:srgbClr val="888888"/>
            </a:solidFill>
            <a:prstDash val="solid"/>
            <a:round/>
            <a:headEnd len="sm" w="sm" type="none"/>
            <a:tailEnd len="sm" w="sm" type="none"/>
          </a:ln>
        </p:spPr>
      </p:cxnSp>
      <p:sp>
        <p:nvSpPr>
          <p:cNvPr id="1333" name="Google Shape;1333;p65"/>
          <p:cNvSpPr/>
          <p:nvPr/>
        </p:nvSpPr>
        <p:spPr>
          <a:xfrm>
            <a:off x="2320559" y="3412113"/>
            <a:ext cx="7368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{{PI_T1_8_SA}}</a:t>
            </a:r>
            <a:endParaRPr b="0" i="0" sz="700" u="none" cap="none" strike="noStrike">
              <a:solidFill>
                <a:schemeClr val="dk1"/>
              </a:solidFill>
              <a:latin typeface="Calibri"/>
              <a:ea typeface="Calibri"/>
              <a:cs typeface="Calibri"/>
              <a:sym typeface="Calibri"/>
            </a:endParaRPr>
          </a:p>
        </p:txBody>
      </p:sp>
      <p:sp>
        <p:nvSpPr>
          <p:cNvPr id="1334" name="Google Shape;1334;p65"/>
          <p:cNvSpPr/>
          <p:nvPr/>
        </p:nvSpPr>
        <p:spPr>
          <a:xfrm>
            <a:off x="2945054" y="3409663"/>
            <a:ext cx="1594500" cy="246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2937"/>
              </a:buClr>
              <a:buSzPts val="700"/>
              <a:buFont typeface="DM Sans"/>
              <a:buNone/>
            </a:pPr>
            <a:r>
              <a:rPr b="0" i="0" lang="en" sz="800" u="none" cap="none" strike="noStrike">
                <a:solidFill>
                  <a:srgbClr val="1F2937"/>
                </a:solidFill>
                <a:latin typeface="Calibri"/>
                <a:ea typeface="Calibri"/>
                <a:cs typeface="Calibri"/>
                <a:sym typeface="Calibri"/>
              </a:rPr>
              <a:t>{{PI_T1_8_FA}} / {{PI_T1_8_LA}}</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339" name="Shape 1339"/>
        <p:cNvGrpSpPr/>
        <p:nvPr/>
      </p:nvGrpSpPr>
      <p:grpSpPr>
        <a:xfrm>
          <a:off x="0" y="0"/>
          <a:ext cx="0" cy="0"/>
          <a:chOff x="0" y="0"/>
          <a:chExt cx="0" cy="0"/>
        </a:xfrm>
      </p:grpSpPr>
      <p:pic>
        <p:nvPicPr>
          <p:cNvPr id="1340" name="Google Shape;1340;p66" title="Rectangle 7854.png"/>
          <p:cNvPicPr preferRelativeResize="0"/>
          <p:nvPr/>
        </p:nvPicPr>
        <p:blipFill rotWithShape="1">
          <a:blip r:embed="rId3">
            <a:alphaModFix/>
          </a:blip>
          <a:srcRect b="0" l="0" r="0" t="0"/>
          <a:stretch/>
        </p:blipFill>
        <p:spPr>
          <a:xfrm>
            <a:off x="3237298" y="1837850"/>
            <a:ext cx="2669404" cy="3050125"/>
          </a:xfrm>
          <a:prstGeom prst="rect">
            <a:avLst/>
          </a:prstGeom>
          <a:noFill/>
          <a:ln>
            <a:noFill/>
          </a:ln>
        </p:spPr>
      </p:pic>
      <p:pic>
        <p:nvPicPr>
          <p:cNvPr id="1341" name="Google Shape;1341;p66" title="Rectangle 7854.png"/>
          <p:cNvPicPr preferRelativeResize="0"/>
          <p:nvPr/>
        </p:nvPicPr>
        <p:blipFill rotWithShape="1">
          <a:blip r:embed="rId3">
            <a:alphaModFix/>
          </a:blip>
          <a:srcRect b="0" l="0" r="0" t="0"/>
          <a:stretch/>
        </p:blipFill>
        <p:spPr>
          <a:xfrm>
            <a:off x="357125" y="1837850"/>
            <a:ext cx="2669404" cy="3050125"/>
          </a:xfrm>
          <a:prstGeom prst="rect">
            <a:avLst/>
          </a:prstGeom>
          <a:noFill/>
          <a:ln>
            <a:noFill/>
          </a:ln>
        </p:spPr>
      </p:pic>
      <p:cxnSp>
        <p:nvCxnSpPr>
          <p:cNvPr id="1342" name="Google Shape;1342;p66"/>
          <p:cNvCxnSpPr/>
          <p:nvPr/>
        </p:nvCxnSpPr>
        <p:spPr>
          <a:xfrm>
            <a:off x="630575" y="3063399"/>
            <a:ext cx="2122500" cy="0"/>
          </a:xfrm>
          <a:prstGeom prst="straightConnector1">
            <a:avLst/>
          </a:prstGeom>
          <a:noFill/>
          <a:ln cap="flat" cmpd="sng" w="9525">
            <a:solidFill>
              <a:srgbClr val="0254EC"/>
            </a:solidFill>
            <a:prstDash val="solid"/>
            <a:round/>
            <a:headEnd len="sm" w="sm" type="none"/>
            <a:tailEnd len="sm" w="sm" type="none"/>
          </a:ln>
        </p:spPr>
      </p:cxnSp>
      <p:sp>
        <p:nvSpPr>
          <p:cNvPr id="1343" name="Google Shape;1343;p66"/>
          <p:cNvSpPr txBox="1"/>
          <p:nvPr/>
        </p:nvSpPr>
        <p:spPr>
          <a:xfrm>
            <a:off x="357125" y="3164537"/>
            <a:ext cx="2641800" cy="1539900"/>
          </a:xfrm>
          <a:prstGeom prst="rect">
            <a:avLst/>
          </a:prstGeom>
          <a:noFill/>
          <a:ln>
            <a:noFill/>
          </a:ln>
        </p:spPr>
        <p:txBody>
          <a:bodyPr anchorCtr="0" anchor="t" bIns="34275" lIns="68575" spcFirstLastPara="1" rIns="68575" wrap="square" tIns="34275">
            <a:noAutofit/>
          </a:bodyPr>
          <a:lstStyle/>
          <a:p>
            <a:pPr indent="-95250" lvl="0" marL="285750" marR="0" rtl="0" algn="l">
              <a:lnSpc>
                <a:spcPct val="112000"/>
              </a:lnSpc>
              <a:spcBef>
                <a:spcPts val="0"/>
              </a:spcBef>
              <a:spcAft>
                <a:spcPts val="0"/>
              </a:spcAft>
              <a:buClr>
                <a:srgbClr val="01123F"/>
              </a:buClr>
              <a:buSzPts val="600"/>
              <a:buFont typeface="Poppins Light"/>
              <a:buChar char="●"/>
            </a:pPr>
            <a:r>
              <a:rPr b="1" i="0" lang="en" sz="900" u="none" cap="none" strike="noStrike">
                <a:solidFill>
                  <a:srgbClr val="01123F"/>
                </a:solidFill>
                <a:latin typeface="Poppins"/>
                <a:ea typeface="Poppins"/>
                <a:cs typeface="Poppins"/>
                <a:sym typeface="Poppins"/>
              </a:rPr>
              <a:t>An unscanned resource</a:t>
            </a:r>
            <a:r>
              <a:rPr b="0" i="0" lang="en" sz="900" u="none" cap="none" strike="noStrike">
                <a:solidFill>
                  <a:srgbClr val="01123F"/>
                </a:solidFill>
                <a:latin typeface="Poppins Light"/>
                <a:ea typeface="Poppins Light"/>
                <a:cs typeface="Poppins Light"/>
                <a:sym typeface="Poppins Light"/>
              </a:rPr>
              <a:t> is one in which </a:t>
            </a:r>
            <a:r>
              <a:rPr b="0" i="0" lang="en" sz="900" u="none" cap="none" strike="noStrike">
                <a:solidFill>
                  <a:schemeClr val="dk1"/>
                </a:solidFill>
                <a:highlight>
                  <a:srgbClr val="FFFFFF"/>
                </a:highlight>
                <a:latin typeface="Poppins Light"/>
                <a:ea typeface="Poppins Light"/>
                <a:cs typeface="Poppins Light"/>
                <a:sym typeface="Poppins Light"/>
              </a:rPr>
              <a:t>Wiz can identify but cannot directly scan, such as unconnected repositories, cloud accounts, and organizations.</a:t>
            </a:r>
            <a:r>
              <a:rPr b="0" i="0" lang="en" sz="900" u="none" cap="none" strike="noStrike">
                <a:solidFill>
                  <a:schemeClr val="dk1"/>
                </a:solidFill>
                <a:latin typeface="Poppins Light"/>
                <a:ea typeface="Poppins Light"/>
                <a:cs typeface="Poppins Light"/>
                <a:sym typeface="Poppins Light"/>
              </a:rPr>
              <a:t> </a:t>
            </a:r>
            <a:endParaRPr b="0" i="0" sz="900" u="none" cap="none" strike="noStrike">
              <a:solidFill>
                <a:schemeClr val="dk1"/>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Classify </a:t>
            </a:r>
            <a:r>
              <a:rPr b="0" i="0" lang="en" sz="900" u="none" cap="none" strike="noStrike">
                <a:solidFill>
                  <a:schemeClr val="dk1"/>
                </a:solidFill>
                <a:highlight>
                  <a:srgbClr val="FFFFFF"/>
                </a:highlight>
                <a:latin typeface="Poppins Light"/>
                <a:ea typeface="Poppins Light"/>
                <a:cs typeface="Poppins Light"/>
                <a:sym typeface="Poppins Light"/>
              </a:rPr>
              <a:t>these resources, determine if they belong to your organization or a third party, and identify gaps in your security coverage.</a:t>
            </a:r>
            <a:r>
              <a:rPr b="0" i="0" lang="en" sz="900" u="none" cap="none" strike="noStrike">
                <a:solidFill>
                  <a:schemeClr val="dk1"/>
                </a:solidFill>
                <a:latin typeface="Poppins Light"/>
                <a:ea typeface="Poppins Light"/>
                <a:cs typeface="Poppins Light"/>
                <a:sym typeface="Poppins Light"/>
              </a:rPr>
              <a:t> </a:t>
            </a:r>
            <a:endParaRPr b="0" i="0" sz="900" u="none" cap="none" strike="noStrike">
              <a:solidFill>
                <a:schemeClr val="dk1"/>
              </a:solidFill>
              <a:latin typeface="Poppins Light"/>
              <a:ea typeface="Poppins Light"/>
              <a:cs typeface="Poppins Light"/>
              <a:sym typeface="Poppins Light"/>
            </a:endParaRPr>
          </a:p>
        </p:txBody>
      </p:sp>
      <p:cxnSp>
        <p:nvCxnSpPr>
          <p:cNvPr id="1344" name="Google Shape;1344;p66"/>
          <p:cNvCxnSpPr/>
          <p:nvPr/>
        </p:nvCxnSpPr>
        <p:spPr>
          <a:xfrm>
            <a:off x="3510750" y="3063399"/>
            <a:ext cx="2122500" cy="0"/>
          </a:xfrm>
          <a:prstGeom prst="straightConnector1">
            <a:avLst/>
          </a:prstGeom>
          <a:noFill/>
          <a:ln cap="flat" cmpd="sng" w="9525">
            <a:solidFill>
              <a:srgbClr val="0254EC"/>
            </a:solidFill>
            <a:prstDash val="solid"/>
            <a:round/>
            <a:headEnd len="sm" w="sm" type="none"/>
            <a:tailEnd len="sm" w="sm" type="none"/>
          </a:ln>
        </p:spPr>
      </p:cxnSp>
      <p:pic>
        <p:nvPicPr>
          <p:cNvPr id="1345" name="Google Shape;1345;p66" title="Rectangle 7854.png"/>
          <p:cNvPicPr preferRelativeResize="0"/>
          <p:nvPr/>
        </p:nvPicPr>
        <p:blipFill rotWithShape="1">
          <a:blip r:embed="rId3">
            <a:alphaModFix/>
          </a:blip>
          <a:srcRect b="0" l="0" r="0" t="0"/>
          <a:stretch/>
        </p:blipFill>
        <p:spPr>
          <a:xfrm>
            <a:off x="6117471" y="1837850"/>
            <a:ext cx="2669404" cy="3050125"/>
          </a:xfrm>
          <a:prstGeom prst="rect">
            <a:avLst/>
          </a:prstGeom>
          <a:noFill/>
          <a:ln>
            <a:noFill/>
          </a:ln>
        </p:spPr>
      </p:pic>
      <p:cxnSp>
        <p:nvCxnSpPr>
          <p:cNvPr id="1346" name="Google Shape;1346;p66"/>
          <p:cNvCxnSpPr/>
          <p:nvPr/>
        </p:nvCxnSpPr>
        <p:spPr>
          <a:xfrm>
            <a:off x="6390925" y="3063399"/>
            <a:ext cx="2122500" cy="0"/>
          </a:xfrm>
          <a:prstGeom prst="straightConnector1">
            <a:avLst/>
          </a:prstGeom>
          <a:noFill/>
          <a:ln cap="flat" cmpd="sng" w="9525">
            <a:solidFill>
              <a:srgbClr val="0254EC"/>
            </a:solidFill>
            <a:prstDash val="solid"/>
            <a:round/>
            <a:headEnd len="sm" w="sm" type="none"/>
            <a:tailEnd len="sm" w="sm" type="none"/>
          </a:ln>
        </p:spPr>
      </p:cxnSp>
      <p:sp>
        <p:nvSpPr>
          <p:cNvPr id="1347" name="Google Shape;1347;p66"/>
          <p:cNvSpPr txBox="1"/>
          <p:nvPr/>
        </p:nvSpPr>
        <p:spPr>
          <a:xfrm>
            <a:off x="3269550" y="3164537"/>
            <a:ext cx="2599800" cy="1618500"/>
          </a:xfrm>
          <a:prstGeom prst="rect">
            <a:avLst/>
          </a:prstGeom>
          <a:noFill/>
          <a:ln>
            <a:noFill/>
          </a:ln>
        </p:spPr>
        <p:txBody>
          <a:bodyPr anchorCtr="0" anchor="t" bIns="34275" lIns="68575" spcFirstLastPara="1" rIns="68575" wrap="square" tIns="34275">
            <a:normAutofit/>
          </a:bodyPr>
          <a:lstStyle/>
          <a:p>
            <a:pPr indent="-95250" lvl="0" marL="285750" marR="0" rtl="0" algn="l">
              <a:lnSpc>
                <a:spcPct val="112000"/>
              </a:lnSpc>
              <a:spcBef>
                <a:spcPts val="0"/>
              </a:spcBef>
              <a:spcAft>
                <a:spcPts val="0"/>
              </a:spcAft>
              <a:buClr>
                <a:srgbClr val="01123F"/>
              </a:buClr>
              <a:buSzPts val="600"/>
              <a:buFont typeface="Poppins Light"/>
              <a:buChar char="●"/>
            </a:pPr>
            <a:r>
              <a:rPr b="1" i="0" lang="en" sz="900" u="none" cap="none" strike="noStrike">
                <a:solidFill>
                  <a:srgbClr val="01123F"/>
                </a:solidFill>
                <a:latin typeface="Poppins"/>
                <a:ea typeface="Poppins"/>
                <a:cs typeface="Poppins"/>
                <a:sym typeface="Poppins"/>
              </a:rPr>
              <a:t>Enable DSPM more widely</a:t>
            </a:r>
            <a:r>
              <a:rPr b="0" i="0" lang="en" sz="900" u="none" cap="none" strike="noStrike">
                <a:solidFill>
                  <a:srgbClr val="01123F"/>
                </a:solidFill>
                <a:latin typeface="Poppins Light"/>
                <a:ea typeface="Poppins Light"/>
                <a:cs typeface="Poppins Light"/>
                <a:sym typeface="Poppins Light"/>
              </a:rPr>
              <a:t> to extend visibility to your sensitive data and complement your existing tools. Discover PII, PHI and PCI across private buckets, PaaS, IaaS and AI buckets.</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1" i="0" lang="en" sz="900" u="none" cap="none" strike="noStrike">
                <a:solidFill>
                  <a:srgbClr val="01123F"/>
                </a:solidFill>
                <a:latin typeface="Poppins"/>
                <a:ea typeface="Poppins"/>
                <a:cs typeface="Poppins"/>
                <a:sym typeface="Poppins"/>
              </a:rPr>
              <a:t>Enable Near Real-Time Scanning</a:t>
            </a:r>
            <a:r>
              <a:rPr b="0" i="0" lang="en" sz="900" u="none" cap="none" strike="noStrike">
                <a:solidFill>
                  <a:srgbClr val="01123F"/>
                </a:solidFill>
                <a:latin typeface="Poppins Light"/>
                <a:ea typeface="Poppins Light"/>
                <a:cs typeface="Poppins Light"/>
                <a:sym typeface="Poppins Light"/>
              </a:rPr>
              <a:t> to cut misconfiguration detection from 24-hour to an hour or less.</a:t>
            </a:r>
            <a:endParaRPr b="0" i="0" sz="900" u="none" cap="none" strike="noStrike">
              <a:solidFill>
                <a:srgbClr val="01123F"/>
              </a:solidFill>
              <a:latin typeface="Poppins Light"/>
              <a:ea typeface="Poppins Light"/>
              <a:cs typeface="Poppins Light"/>
              <a:sym typeface="Poppins Light"/>
            </a:endParaRPr>
          </a:p>
        </p:txBody>
      </p:sp>
      <p:sp>
        <p:nvSpPr>
          <p:cNvPr id="1348" name="Google Shape;1348;p66"/>
          <p:cNvSpPr txBox="1"/>
          <p:nvPr/>
        </p:nvSpPr>
        <p:spPr>
          <a:xfrm>
            <a:off x="6131275" y="3177641"/>
            <a:ext cx="2641800" cy="1684200"/>
          </a:xfrm>
          <a:prstGeom prst="rect">
            <a:avLst/>
          </a:prstGeom>
          <a:noFill/>
          <a:ln>
            <a:noFill/>
          </a:ln>
        </p:spPr>
        <p:txBody>
          <a:bodyPr anchorCtr="0" anchor="t" bIns="34275" lIns="68575" spcFirstLastPara="1" rIns="68575" wrap="square" tIns="34275">
            <a:normAutofit/>
          </a:bodyPr>
          <a:lstStyle/>
          <a:p>
            <a:pPr indent="-83820" lvl="0" marL="274320" marR="0" rtl="0" algn="l">
              <a:lnSpc>
                <a:spcPct val="112000"/>
              </a:lnSpc>
              <a:spcBef>
                <a:spcPts val="0"/>
              </a:spcBef>
              <a:spcAft>
                <a:spcPts val="0"/>
              </a:spcAft>
              <a:buClr>
                <a:srgbClr val="01123F"/>
              </a:buClr>
              <a:buSzPts val="600"/>
              <a:buFont typeface="Poppins Light"/>
              <a:buChar char="●"/>
            </a:pPr>
            <a:r>
              <a:rPr b="1" i="0" lang="en" sz="900" u="none" cap="none" strike="noStrike">
                <a:solidFill>
                  <a:srgbClr val="01123F"/>
                </a:solidFill>
                <a:latin typeface="Poppins"/>
                <a:ea typeface="Poppins"/>
                <a:cs typeface="Poppins"/>
                <a:sym typeface="Poppins"/>
              </a:rPr>
              <a:t>Enable</a:t>
            </a:r>
            <a:r>
              <a:rPr b="0" i="0" lang="en" sz="900" u="none" cap="none" strike="noStrike">
                <a:solidFill>
                  <a:srgbClr val="01123F"/>
                </a:solidFill>
                <a:latin typeface="Poppins Light"/>
                <a:ea typeface="Poppins Light"/>
                <a:cs typeface="Poppins Light"/>
                <a:sym typeface="Poppins Light"/>
              </a:rPr>
              <a:t> </a:t>
            </a:r>
            <a:r>
              <a:rPr b="1" i="0" lang="en" sz="900" u="none" cap="none" strike="noStrike">
                <a:solidFill>
                  <a:srgbClr val="01123F"/>
                </a:solidFill>
                <a:latin typeface="Poppins"/>
                <a:ea typeface="Poppins"/>
                <a:cs typeface="Poppins"/>
                <a:sym typeface="Poppins"/>
              </a:rPr>
              <a:t>Akamai Connector </a:t>
            </a:r>
            <a:r>
              <a:rPr b="0" i="0" lang="en" sz="900" u="none" cap="none" strike="noStrike">
                <a:solidFill>
                  <a:srgbClr val="01123F"/>
                </a:solidFill>
                <a:latin typeface="Poppins Light"/>
                <a:ea typeface="Poppins Light"/>
                <a:cs typeface="Poppins Light"/>
                <a:sym typeface="Poppins Light"/>
              </a:rPr>
              <a:t>provide better visibility in terms of exposure</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1" i="0" lang="en" sz="900" u="none" cap="none" strike="noStrike">
                <a:solidFill>
                  <a:srgbClr val="01123F"/>
                </a:solidFill>
                <a:latin typeface="Poppins"/>
                <a:ea typeface="Poppins"/>
                <a:cs typeface="Poppins"/>
                <a:sym typeface="Poppins"/>
              </a:rPr>
              <a:t>Fold in third-party telemetry</a:t>
            </a:r>
            <a:r>
              <a:rPr b="0" i="0" lang="en" sz="900" u="none" cap="none" strike="noStrike">
                <a:solidFill>
                  <a:srgbClr val="01123F"/>
                </a:solidFill>
                <a:latin typeface="Poppins Light"/>
                <a:ea typeface="Poppins Light"/>
                <a:cs typeface="Poppins Light"/>
                <a:sym typeface="Poppins Light"/>
              </a:rPr>
              <a:t>. Integrating with additional tools to provide stronger attribution. I.e. Pull findings from tools like ServiceNow, Armorcode, Crowdstrike, etc.) across cloud and on-prem.</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Normalize, deduplicate and enrich existing Wiz data, in one view.</a:t>
            </a:r>
            <a:endParaRPr b="0" i="0" sz="900" u="none" cap="none" strike="noStrike">
              <a:solidFill>
                <a:srgbClr val="01123F"/>
              </a:solidFill>
              <a:latin typeface="Poppins Light"/>
              <a:ea typeface="Poppins Light"/>
              <a:cs typeface="Poppins Light"/>
              <a:sym typeface="Poppins Light"/>
            </a:endParaRPr>
          </a:p>
        </p:txBody>
      </p:sp>
      <p:sp>
        <p:nvSpPr>
          <p:cNvPr id="1349" name="Google Shape;1349;p66"/>
          <p:cNvSpPr txBox="1"/>
          <p:nvPr/>
        </p:nvSpPr>
        <p:spPr>
          <a:xfrm>
            <a:off x="6243025" y="2624673"/>
            <a:ext cx="2418300" cy="2733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Expand Coverage 3rd Party Resources &amp; Telemetry</a:t>
            </a:r>
            <a:endParaRPr b="0" i="0" sz="1000" u="none" cap="none" strike="noStrike">
              <a:solidFill>
                <a:schemeClr val="dk1"/>
              </a:solidFill>
              <a:latin typeface="Poppins SemiBold"/>
              <a:ea typeface="Poppins SemiBold"/>
              <a:cs typeface="Poppins SemiBold"/>
              <a:sym typeface="Poppins SemiBold"/>
            </a:endParaRPr>
          </a:p>
        </p:txBody>
      </p:sp>
      <p:sp>
        <p:nvSpPr>
          <p:cNvPr id="1350" name="Google Shape;1350;p66"/>
          <p:cNvSpPr txBox="1"/>
          <p:nvPr>
            <p:ph idx="4294967295" type="title"/>
          </p:nvPr>
        </p:nvSpPr>
        <p:spPr>
          <a:xfrm>
            <a:off x="0" y="535725"/>
            <a:ext cx="9144000" cy="6840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Cloud Visibility &amp; Coverage</a:t>
            </a:r>
            <a:endParaRPr sz="2420">
              <a:latin typeface="Poppins Light"/>
              <a:ea typeface="Poppins Light"/>
              <a:cs typeface="Poppins Light"/>
              <a:sym typeface="Poppins Light"/>
            </a:endParaRPr>
          </a:p>
        </p:txBody>
      </p:sp>
      <p:pic>
        <p:nvPicPr>
          <p:cNvPr id="1351" name="Google Shape;1351;p66"/>
          <p:cNvPicPr preferRelativeResize="0"/>
          <p:nvPr/>
        </p:nvPicPr>
        <p:blipFill rotWithShape="1">
          <a:blip r:embed="rId4">
            <a:alphaModFix/>
          </a:blip>
          <a:srcRect b="0" l="0" r="0" t="0"/>
          <a:stretch/>
        </p:blipFill>
        <p:spPr>
          <a:xfrm>
            <a:off x="1326966" y="1926775"/>
            <a:ext cx="729718" cy="693550"/>
          </a:xfrm>
          <a:prstGeom prst="rect">
            <a:avLst/>
          </a:prstGeom>
          <a:noFill/>
          <a:ln>
            <a:noFill/>
          </a:ln>
        </p:spPr>
      </p:pic>
      <p:pic>
        <p:nvPicPr>
          <p:cNvPr id="1352" name="Google Shape;1352;p66"/>
          <p:cNvPicPr preferRelativeResize="0"/>
          <p:nvPr/>
        </p:nvPicPr>
        <p:blipFill rotWithShape="1">
          <a:blip r:embed="rId5">
            <a:alphaModFix/>
          </a:blip>
          <a:srcRect b="0" l="0" r="0" t="0"/>
          <a:stretch/>
        </p:blipFill>
        <p:spPr>
          <a:xfrm>
            <a:off x="4225225" y="1913375"/>
            <a:ext cx="693550" cy="693550"/>
          </a:xfrm>
          <a:prstGeom prst="rect">
            <a:avLst/>
          </a:prstGeom>
          <a:noFill/>
          <a:ln>
            <a:noFill/>
          </a:ln>
        </p:spPr>
      </p:pic>
      <p:pic>
        <p:nvPicPr>
          <p:cNvPr id="1353" name="Google Shape;1353;p66" title="Group 1000002779.png"/>
          <p:cNvPicPr preferRelativeResize="0"/>
          <p:nvPr/>
        </p:nvPicPr>
        <p:blipFill rotWithShape="1">
          <a:blip r:embed="rId6">
            <a:alphaModFix/>
          </a:blip>
          <a:srcRect b="0" l="0" r="0" t="0"/>
          <a:stretch/>
        </p:blipFill>
        <p:spPr>
          <a:xfrm>
            <a:off x="7043298" y="1991749"/>
            <a:ext cx="817750" cy="563600"/>
          </a:xfrm>
          <a:prstGeom prst="rect">
            <a:avLst/>
          </a:prstGeom>
          <a:noFill/>
          <a:ln>
            <a:noFill/>
          </a:ln>
        </p:spPr>
      </p:pic>
      <p:sp>
        <p:nvSpPr>
          <p:cNvPr id="1354" name="Google Shape;1354;p66"/>
          <p:cNvSpPr txBox="1"/>
          <p:nvPr/>
        </p:nvSpPr>
        <p:spPr>
          <a:xfrm>
            <a:off x="482675" y="2640997"/>
            <a:ext cx="2418300" cy="2733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Review Unscanned </a:t>
            </a:r>
            <a:br>
              <a:rPr b="0" i="0" lang="en" sz="1000" u="none" cap="none" strike="noStrike">
                <a:solidFill>
                  <a:schemeClr val="dk1"/>
                </a:solidFill>
                <a:latin typeface="Poppins SemiBold"/>
                <a:ea typeface="Poppins SemiBold"/>
                <a:cs typeface="Poppins SemiBold"/>
                <a:sym typeface="Poppins SemiBold"/>
              </a:rPr>
            </a:br>
            <a:r>
              <a:rPr b="0" i="0" lang="en" sz="1000" u="none" cap="none" strike="noStrike">
                <a:solidFill>
                  <a:schemeClr val="dk1"/>
                </a:solidFill>
                <a:latin typeface="Poppins SemiBold"/>
                <a:ea typeface="Poppins SemiBold"/>
                <a:cs typeface="Poppins SemiBold"/>
                <a:sym typeface="Poppins SemiBold"/>
              </a:rPr>
              <a:t>Resources for Coverage Gaps</a:t>
            </a:r>
            <a:endParaRPr b="0" i="0" sz="1000" u="none" cap="none" strike="noStrike">
              <a:solidFill>
                <a:schemeClr val="dk1"/>
              </a:solidFill>
              <a:latin typeface="Poppins SemiBold"/>
              <a:ea typeface="Poppins SemiBold"/>
              <a:cs typeface="Poppins SemiBold"/>
              <a:sym typeface="Poppins SemiBold"/>
            </a:endParaRPr>
          </a:p>
        </p:txBody>
      </p:sp>
      <p:sp>
        <p:nvSpPr>
          <p:cNvPr id="1355" name="Google Shape;1355;p66"/>
          <p:cNvSpPr txBox="1"/>
          <p:nvPr/>
        </p:nvSpPr>
        <p:spPr>
          <a:xfrm>
            <a:off x="3362850" y="2627164"/>
            <a:ext cx="2418300" cy="2733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Adopt Additional Features &amp; Functionality in Wiz</a:t>
            </a:r>
            <a:endParaRPr b="0" i="0" sz="1000" u="none" cap="none" strike="noStrike">
              <a:solidFill>
                <a:schemeClr val="dk1"/>
              </a:solidFill>
              <a:latin typeface="Poppins SemiBold"/>
              <a:ea typeface="Poppins SemiBold"/>
              <a:cs typeface="Poppins SemiBold"/>
              <a:sym typeface="Poppins SemiBo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360" name="Shape 1360"/>
        <p:cNvGrpSpPr/>
        <p:nvPr/>
      </p:nvGrpSpPr>
      <p:grpSpPr>
        <a:xfrm>
          <a:off x="0" y="0"/>
          <a:ext cx="0" cy="0"/>
          <a:chOff x="0" y="0"/>
          <a:chExt cx="0" cy="0"/>
        </a:xfrm>
      </p:grpSpPr>
      <p:pic>
        <p:nvPicPr>
          <p:cNvPr id="1361" name="Google Shape;1361;p67" title="Rectangle 7854.png"/>
          <p:cNvPicPr preferRelativeResize="0"/>
          <p:nvPr/>
        </p:nvPicPr>
        <p:blipFill rotWithShape="1">
          <a:blip r:embed="rId3">
            <a:alphaModFix/>
          </a:blip>
          <a:srcRect b="0" l="0" r="0" t="0"/>
          <a:stretch/>
        </p:blipFill>
        <p:spPr>
          <a:xfrm>
            <a:off x="3237297" y="1445495"/>
            <a:ext cx="2669405" cy="2471275"/>
          </a:xfrm>
          <a:prstGeom prst="rect">
            <a:avLst/>
          </a:prstGeom>
          <a:noFill/>
          <a:ln>
            <a:noFill/>
          </a:ln>
        </p:spPr>
      </p:pic>
      <p:pic>
        <p:nvPicPr>
          <p:cNvPr id="1362" name="Google Shape;1362;p67" title="Rectangle 7854.png"/>
          <p:cNvPicPr preferRelativeResize="0"/>
          <p:nvPr/>
        </p:nvPicPr>
        <p:blipFill rotWithShape="1">
          <a:blip r:embed="rId3">
            <a:alphaModFix/>
          </a:blip>
          <a:srcRect b="0" l="0" r="0" t="0"/>
          <a:stretch/>
        </p:blipFill>
        <p:spPr>
          <a:xfrm>
            <a:off x="357122" y="1445495"/>
            <a:ext cx="2669405" cy="2471275"/>
          </a:xfrm>
          <a:prstGeom prst="rect">
            <a:avLst/>
          </a:prstGeom>
          <a:noFill/>
          <a:ln>
            <a:noFill/>
          </a:ln>
        </p:spPr>
      </p:pic>
      <p:cxnSp>
        <p:nvCxnSpPr>
          <p:cNvPr id="1363" name="Google Shape;1363;p67"/>
          <p:cNvCxnSpPr/>
          <p:nvPr/>
        </p:nvCxnSpPr>
        <p:spPr>
          <a:xfrm>
            <a:off x="630575" y="2537417"/>
            <a:ext cx="2122500" cy="0"/>
          </a:xfrm>
          <a:prstGeom prst="straightConnector1">
            <a:avLst/>
          </a:prstGeom>
          <a:noFill/>
          <a:ln cap="flat" cmpd="sng" w="9525">
            <a:solidFill>
              <a:srgbClr val="0254EC"/>
            </a:solidFill>
            <a:prstDash val="solid"/>
            <a:round/>
            <a:headEnd len="sm" w="sm" type="none"/>
            <a:tailEnd len="sm" w="sm" type="none"/>
          </a:ln>
        </p:spPr>
      </p:cxnSp>
      <p:sp>
        <p:nvSpPr>
          <p:cNvPr id="1364" name="Google Shape;1364;p67"/>
          <p:cNvSpPr txBox="1"/>
          <p:nvPr/>
        </p:nvSpPr>
        <p:spPr>
          <a:xfrm>
            <a:off x="522275" y="2210368"/>
            <a:ext cx="2339100" cy="2733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Assigning Ownership</a:t>
            </a:r>
            <a:endParaRPr b="0" i="0" sz="1000" u="none" cap="none" strike="noStrike">
              <a:solidFill>
                <a:schemeClr val="dk1"/>
              </a:solidFill>
              <a:latin typeface="Poppins SemiBold"/>
              <a:ea typeface="Poppins SemiBold"/>
              <a:cs typeface="Poppins SemiBold"/>
              <a:sym typeface="Poppins SemiBold"/>
            </a:endParaRPr>
          </a:p>
        </p:txBody>
      </p:sp>
      <p:sp>
        <p:nvSpPr>
          <p:cNvPr id="1365" name="Google Shape;1365;p67"/>
          <p:cNvSpPr txBox="1"/>
          <p:nvPr/>
        </p:nvSpPr>
        <p:spPr>
          <a:xfrm>
            <a:off x="391576" y="2613904"/>
            <a:ext cx="2575800" cy="1222500"/>
          </a:xfrm>
          <a:prstGeom prst="rect">
            <a:avLst/>
          </a:prstGeom>
          <a:noFill/>
          <a:ln>
            <a:noFill/>
          </a:ln>
        </p:spPr>
        <p:txBody>
          <a:bodyPr anchorCtr="0" anchor="t" bIns="34275" lIns="68575" spcFirstLastPara="1" rIns="68575" wrap="square" tIns="34275">
            <a:normAutofit lnSpcReduction="10000"/>
          </a:bodyPr>
          <a:lstStyle/>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Service Catalog democratizes ownership to developers. Auto-group resources by applications</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Resource Tag Rules convert Security Graph queries into auto-assigned tags, that can then be used as conditions to route tickets to the right owners</a:t>
            </a:r>
            <a:endParaRPr b="0" i="0" sz="900" u="none" cap="none" strike="noStrike">
              <a:solidFill>
                <a:srgbClr val="01123F"/>
              </a:solidFill>
              <a:latin typeface="Poppins Light"/>
              <a:ea typeface="Poppins Light"/>
              <a:cs typeface="Poppins Light"/>
              <a:sym typeface="Poppins Light"/>
            </a:endParaRPr>
          </a:p>
        </p:txBody>
      </p:sp>
      <p:cxnSp>
        <p:nvCxnSpPr>
          <p:cNvPr id="1366" name="Google Shape;1366;p67"/>
          <p:cNvCxnSpPr/>
          <p:nvPr/>
        </p:nvCxnSpPr>
        <p:spPr>
          <a:xfrm>
            <a:off x="3510750" y="2537417"/>
            <a:ext cx="2122500" cy="0"/>
          </a:xfrm>
          <a:prstGeom prst="straightConnector1">
            <a:avLst/>
          </a:prstGeom>
          <a:noFill/>
          <a:ln cap="flat" cmpd="sng" w="9525">
            <a:solidFill>
              <a:srgbClr val="0254EC"/>
            </a:solidFill>
            <a:prstDash val="solid"/>
            <a:round/>
            <a:headEnd len="sm" w="sm" type="none"/>
            <a:tailEnd len="sm" w="sm" type="none"/>
          </a:ln>
        </p:spPr>
      </p:cxnSp>
      <p:sp>
        <p:nvSpPr>
          <p:cNvPr id="1367" name="Google Shape;1367;p67"/>
          <p:cNvSpPr txBox="1"/>
          <p:nvPr/>
        </p:nvSpPr>
        <p:spPr>
          <a:xfrm>
            <a:off x="3362850" y="2210368"/>
            <a:ext cx="2418300" cy="2733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1"/>
              </a:buClr>
              <a:buSzPts val="1100"/>
              <a:buFont typeface="Arial"/>
              <a:buNone/>
            </a:pPr>
            <a:r>
              <a:rPr b="0" i="0" lang="en" sz="1000" u="none" cap="none" strike="noStrike">
                <a:solidFill>
                  <a:schemeClr val="dk1"/>
                </a:solidFill>
                <a:latin typeface="Poppins SemiBold"/>
                <a:ea typeface="Poppins SemiBold"/>
                <a:cs typeface="Poppins SemiBold"/>
                <a:sym typeface="Poppins SemiBold"/>
              </a:rPr>
              <a:t>Leverage Integrations</a:t>
            </a:r>
            <a:endParaRPr b="0" i="0" sz="1000" u="none" cap="none" strike="noStrike">
              <a:solidFill>
                <a:schemeClr val="dk1"/>
              </a:solidFill>
              <a:latin typeface="Poppins SemiBold"/>
              <a:ea typeface="Poppins SemiBold"/>
              <a:cs typeface="Poppins SemiBold"/>
              <a:sym typeface="Poppins SemiBold"/>
            </a:endParaRPr>
          </a:p>
        </p:txBody>
      </p:sp>
      <p:pic>
        <p:nvPicPr>
          <p:cNvPr id="1368" name="Google Shape;1368;p67" title="Rectangle 7854.png"/>
          <p:cNvPicPr preferRelativeResize="0"/>
          <p:nvPr/>
        </p:nvPicPr>
        <p:blipFill rotWithShape="1">
          <a:blip r:embed="rId3">
            <a:alphaModFix/>
          </a:blip>
          <a:srcRect b="0" l="0" r="0" t="0"/>
          <a:stretch/>
        </p:blipFill>
        <p:spPr>
          <a:xfrm>
            <a:off x="6117472" y="1445495"/>
            <a:ext cx="2669405" cy="2471275"/>
          </a:xfrm>
          <a:prstGeom prst="rect">
            <a:avLst/>
          </a:prstGeom>
          <a:noFill/>
          <a:ln>
            <a:noFill/>
          </a:ln>
        </p:spPr>
      </p:pic>
      <p:cxnSp>
        <p:nvCxnSpPr>
          <p:cNvPr id="1369" name="Google Shape;1369;p67"/>
          <p:cNvCxnSpPr/>
          <p:nvPr/>
        </p:nvCxnSpPr>
        <p:spPr>
          <a:xfrm>
            <a:off x="6390925" y="2537417"/>
            <a:ext cx="2122500" cy="0"/>
          </a:xfrm>
          <a:prstGeom prst="straightConnector1">
            <a:avLst/>
          </a:prstGeom>
          <a:noFill/>
          <a:ln cap="flat" cmpd="sng" w="9525">
            <a:solidFill>
              <a:srgbClr val="0254EC"/>
            </a:solidFill>
            <a:prstDash val="solid"/>
            <a:round/>
            <a:headEnd len="sm" w="sm" type="none"/>
            <a:tailEnd len="sm" w="sm" type="none"/>
          </a:ln>
        </p:spPr>
      </p:cxnSp>
      <p:sp>
        <p:nvSpPr>
          <p:cNvPr id="1370" name="Google Shape;1370;p67"/>
          <p:cNvSpPr txBox="1"/>
          <p:nvPr/>
        </p:nvSpPr>
        <p:spPr>
          <a:xfrm>
            <a:off x="3251700" y="2613901"/>
            <a:ext cx="2655000" cy="972300"/>
          </a:xfrm>
          <a:prstGeom prst="rect">
            <a:avLst/>
          </a:prstGeom>
          <a:noFill/>
          <a:ln>
            <a:noFill/>
          </a:ln>
        </p:spPr>
        <p:txBody>
          <a:bodyPr anchorCtr="0" anchor="t" bIns="34275" lIns="68575" spcFirstLastPara="1" rIns="68575" wrap="square" tIns="34275">
            <a:noAutofit/>
          </a:bodyPr>
          <a:lstStyle/>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Get Issues in front of the right people, using the tools they’re accustomed to. Jira, ServiceNow, Teams, etc.</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Send prescriptive data to SIEM / SOAR</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Route by team, severity or environment. Integration + per-team Action templates = Cutting the noise and operationalizing Wiz </a:t>
            </a:r>
            <a:endParaRPr b="0" i="0" sz="900" u="none" cap="none" strike="noStrike">
              <a:solidFill>
                <a:srgbClr val="01123F"/>
              </a:solidFill>
              <a:latin typeface="Poppins Light"/>
              <a:ea typeface="Poppins Light"/>
              <a:cs typeface="Poppins Light"/>
              <a:sym typeface="Poppins Light"/>
            </a:endParaRPr>
          </a:p>
        </p:txBody>
      </p:sp>
      <p:sp>
        <p:nvSpPr>
          <p:cNvPr id="1371" name="Google Shape;1371;p67"/>
          <p:cNvSpPr txBox="1"/>
          <p:nvPr/>
        </p:nvSpPr>
        <p:spPr>
          <a:xfrm>
            <a:off x="6114876" y="2638600"/>
            <a:ext cx="2604000" cy="1278300"/>
          </a:xfrm>
          <a:prstGeom prst="rect">
            <a:avLst/>
          </a:prstGeom>
          <a:noFill/>
          <a:ln>
            <a:noFill/>
          </a:ln>
        </p:spPr>
        <p:txBody>
          <a:bodyPr anchorCtr="0" anchor="t" bIns="34275" lIns="68575" spcFirstLastPara="1" rIns="68575" wrap="square" tIns="34275">
            <a:normAutofit lnSpcReduction="10000"/>
          </a:bodyPr>
          <a:lstStyle/>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Take the human out of the routing. Auto-assign Issues to the right owners and notify accordingly</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Enable self-service remediation with Worklows. Designed to offer more granular control around which context to include (i.e. Remediation steps, Investigation details, etc).</a:t>
            </a:r>
            <a:endParaRPr b="0" i="0" sz="900" u="none" cap="none" strike="noStrike">
              <a:solidFill>
                <a:srgbClr val="01123F"/>
              </a:solidFill>
              <a:latin typeface="Poppins Light"/>
              <a:ea typeface="Poppins Light"/>
              <a:cs typeface="Poppins Light"/>
              <a:sym typeface="Poppins Light"/>
            </a:endParaRPr>
          </a:p>
        </p:txBody>
      </p:sp>
      <p:sp>
        <p:nvSpPr>
          <p:cNvPr id="1372" name="Google Shape;1372;p67"/>
          <p:cNvSpPr txBox="1"/>
          <p:nvPr/>
        </p:nvSpPr>
        <p:spPr>
          <a:xfrm>
            <a:off x="6243025" y="2210368"/>
            <a:ext cx="2418300" cy="2733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Automation (Workflows)</a:t>
            </a:r>
            <a:endParaRPr b="0" i="0" sz="1000" u="none" cap="none" strike="noStrike">
              <a:solidFill>
                <a:schemeClr val="dk1"/>
              </a:solidFill>
              <a:latin typeface="Poppins SemiBold"/>
              <a:ea typeface="Poppins SemiBold"/>
              <a:cs typeface="Poppins SemiBold"/>
              <a:sym typeface="Poppins SemiBold"/>
            </a:endParaRPr>
          </a:p>
        </p:txBody>
      </p:sp>
      <p:pic>
        <p:nvPicPr>
          <p:cNvPr id="1373" name="Google Shape;1373;p67"/>
          <p:cNvPicPr preferRelativeResize="0"/>
          <p:nvPr/>
        </p:nvPicPr>
        <p:blipFill rotWithShape="1">
          <a:blip r:embed="rId4">
            <a:alphaModFix/>
          </a:blip>
          <a:srcRect b="0" l="0" r="0" t="0"/>
          <a:stretch/>
        </p:blipFill>
        <p:spPr>
          <a:xfrm>
            <a:off x="1337712" y="1516460"/>
            <a:ext cx="708225" cy="708225"/>
          </a:xfrm>
          <a:prstGeom prst="rect">
            <a:avLst/>
          </a:prstGeom>
          <a:noFill/>
          <a:ln>
            <a:noFill/>
          </a:ln>
        </p:spPr>
      </p:pic>
      <p:sp>
        <p:nvSpPr>
          <p:cNvPr id="1374" name="Google Shape;1374;p67"/>
          <p:cNvSpPr txBox="1"/>
          <p:nvPr>
            <p:ph idx="4294967295" type="title"/>
          </p:nvPr>
        </p:nvSpPr>
        <p:spPr>
          <a:xfrm>
            <a:off x="-302400" y="535725"/>
            <a:ext cx="9748800" cy="6840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Democratization Improvements</a:t>
            </a:r>
            <a:endParaRPr sz="2420">
              <a:latin typeface="Poppins Light"/>
              <a:ea typeface="Poppins Light"/>
              <a:cs typeface="Poppins Light"/>
              <a:sym typeface="Poppins Light"/>
            </a:endParaRPr>
          </a:p>
        </p:txBody>
      </p:sp>
      <p:pic>
        <p:nvPicPr>
          <p:cNvPr id="1375" name="Google Shape;1375;p67" title="Group 1000002969.png"/>
          <p:cNvPicPr preferRelativeResize="0"/>
          <p:nvPr/>
        </p:nvPicPr>
        <p:blipFill rotWithShape="1">
          <a:blip r:embed="rId5">
            <a:alphaModFix/>
          </a:blip>
          <a:srcRect b="0" l="0" r="0" t="0"/>
          <a:stretch/>
        </p:blipFill>
        <p:spPr>
          <a:xfrm>
            <a:off x="4195263" y="1618451"/>
            <a:ext cx="753475" cy="504238"/>
          </a:xfrm>
          <a:prstGeom prst="rect">
            <a:avLst/>
          </a:prstGeom>
          <a:noFill/>
          <a:ln>
            <a:noFill/>
          </a:ln>
        </p:spPr>
      </p:pic>
      <p:pic>
        <p:nvPicPr>
          <p:cNvPr id="1376" name="Google Shape;1376;p67" title="Group 1000003039.png"/>
          <p:cNvPicPr preferRelativeResize="0"/>
          <p:nvPr/>
        </p:nvPicPr>
        <p:blipFill rotWithShape="1">
          <a:blip r:embed="rId6">
            <a:alphaModFix/>
          </a:blip>
          <a:srcRect b="0" l="0" r="0" t="0"/>
          <a:stretch/>
        </p:blipFill>
        <p:spPr>
          <a:xfrm>
            <a:off x="7196474" y="1601139"/>
            <a:ext cx="511400" cy="538875"/>
          </a:xfrm>
          <a:prstGeom prst="rect">
            <a:avLst/>
          </a:prstGeom>
          <a:noFill/>
          <a:ln>
            <a:noFill/>
          </a:ln>
        </p:spPr>
      </p:pic>
      <p:grpSp>
        <p:nvGrpSpPr>
          <p:cNvPr id="1377" name="Google Shape;1377;p67"/>
          <p:cNvGrpSpPr/>
          <p:nvPr/>
        </p:nvGrpSpPr>
        <p:grpSpPr>
          <a:xfrm>
            <a:off x="4726377" y="4145669"/>
            <a:ext cx="4010949" cy="832434"/>
            <a:chOff x="4726377" y="3456975"/>
            <a:chExt cx="4010949" cy="832434"/>
          </a:xfrm>
        </p:grpSpPr>
        <p:pic>
          <p:nvPicPr>
            <p:cNvPr id="1378" name="Google Shape;1378;p67" title="Rectangle 16310.png"/>
            <p:cNvPicPr preferRelativeResize="0"/>
            <p:nvPr/>
          </p:nvPicPr>
          <p:blipFill rotWithShape="1">
            <a:blip r:embed="rId7">
              <a:alphaModFix/>
            </a:blip>
            <a:srcRect b="0" l="0" r="0" t="0"/>
            <a:stretch/>
          </p:blipFill>
          <p:spPr>
            <a:xfrm>
              <a:off x="5072702" y="3456975"/>
              <a:ext cx="3664624" cy="832327"/>
            </a:xfrm>
            <a:prstGeom prst="rect">
              <a:avLst/>
            </a:prstGeom>
            <a:noFill/>
            <a:ln>
              <a:noFill/>
            </a:ln>
          </p:spPr>
        </p:pic>
        <p:sp>
          <p:nvSpPr>
            <p:cNvPr id="1379" name="Google Shape;1379;p67"/>
            <p:cNvSpPr txBox="1"/>
            <p:nvPr/>
          </p:nvSpPr>
          <p:spPr>
            <a:xfrm>
              <a:off x="5566125" y="3585438"/>
              <a:ext cx="3048900" cy="575400"/>
            </a:xfrm>
            <a:prstGeom prst="rect">
              <a:avLst/>
            </a:prstGeom>
            <a:noFill/>
            <a:ln>
              <a:noFill/>
            </a:ln>
          </p:spPr>
          <p:txBody>
            <a:bodyPr anchorCtr="0" anchor="t" bIns="33450" lIns="66950" spcFirstLastPara="1" rIns="66950" wrap="square" tIns="33450">
              <a:spAutoFit/>
            </a:bodyPr>
            <a:lstStyle/>
            <a:p>
              <a:pPr indent="0" lvl="0" marL="0" marR="0" rtl="0" algn="l">
                <a:lnSpc>
                  <a:spcPct val="100000"/>
                </a:lnSpc>
                <a:spcBef>
                  <a:spcPts val="0"/>
                </a:spcBef>
                <a:spcAft>
                  <a:spcPts val="0"/>
                </a:spcAft>
                <a:buClr>
                  <a:schemeClr val="dk1"/>
                </a:buClr>
                <a:buSzPts val="1200"/>
                <a:buFont typeface="Arial"/>
                <a:buNone/>
              </a:pPr>
              <a:r>
                <a:rPr b="0" i="0" lang="en" sz="1100" u="none" cap="none" strike="noStrike">
                  <a:solidFill>
                    <a:schemeClr val="dk1"/>
                  </a:solidFill>
                  <a:latin typeface="Poppins Light"/>
                  <a:ea typeface="Poppins Light"/>
                  <a:cs typeface="Poppins Light"/>
                  <a:sym typeface="Poppins Light"/>
                </a:rPr>
                <a:t>Is Wiz completely integrated into your workflow? What could help make it part of day to day?</a:t>
              </a:r>
              <a:endParaRPr b="0" i="0" sz="1100" u="none" cap="none" strike="noStrike">
                <a:solidFill>
                  <a:schemeClr val="dk1"/>
                </a:solidFill>
                <a:latin typeface="Poppins Light"/>
                <a:ea typeface="Poppins Light"/>
                <a:cs typeface="Poppins Light"/>
                <a:sym typeface="Poppins Light"/>
              </a:endParaRPr>
            </a:p>
          </p:txBody>
        </p:sp>
        <p:pic>
          <p:nvPicPr>
            <p:cNvPr id="1380" name="Google Shape;1380;p67" title="Ellipse icon_color.png"/>
            <p:cNvPicPr preferRelativeResize="0"/>
            <p:nvPr/>
          </p:nvPicPr>
          <p:blipFill rotWithShape="1">
            <a:blip r:embed="rId8">
              <a:alphaModFix/>
            </a:blip>
            <a:srcRect b="0" l="0" r="0" t="0"/>
            <a:stretch/>
          </p:blipFill>
          <p:spPr>
            <a:xfrm>
              <a:off x="4726377" y="3457087"/>
              <a:ext cx="839753" cy="832322"/>
            </a:xfrm>
            <a:prstGeom prst="rect">
              <a:avLst/>
            </a:prstGeom>
            <a:noFill/>
            <a:ln>
              <a:noFill/>
            </a:ln>
          </p:spPr>
        </p:pic>
      </p:grpSp>
      <p:grpSp>
        <p:nvGrpSpPr>
          <p:cNvPr id="1381" name="Google Shape;1381;p67"/>
          <p:cNvGrpSpPr/>
          <p:nvPr/>
        </p:nvGrpSpPr>
        <p:grpSpPr>
          <a:xfrm>
            <a:off x="434302" y="4145669"/>
            <a:ext cx="4010949" cy="832434"/>
            <a:chOff x="434302" y="3456975"/>
            <a:chExt cx="4010949" cy="832434"/>
          </a:xfrm>
        </p:grpSpPr>
        <p:pic>
          <p:nvPicPr>
            <p:cNvPr id="1382" name="Google Shape;1382;p67" title="Rectangle 16310.png"/>
            <p:cNvPicPr preferRelativeResize="0"/>
            <p:nvPr/>
          </p:nvPicPr>
          <p:blipFill rotWithShape="1">
            <a:blip r:embed="rId7">
              <a:alphaModFix/>
            </a:blip>
            <a:srcRect b="0" l="0" r="0" t="0"/>
            <a:stretch/>
          </p:blipFill>
          <p:spPr>
            <a:xfrm>
              <a:off x="780627" y="3456975"/>
              <a:ext cx="3664624" cy="832327"/>
            </a:xfrm>
            <a:prstGeom prst="rect">
              <a:avLst/>
            </a:prstGeom>
            <a:noFill/>
            <a:ln>
              <a:noFill/>
            </a:ln>
          </p:spPr>
        </p:pic>
        <p:sp>
          <p:nvSpPr>
            <p:cNvPr id="1383" name="Google Shape;1383;p67"/>
            <p:cNvSpPr txBox="1"/>
            <p:nvPr/>
          </p:nvSpPr>
          <p:spPr>
            <a:xfrm>
              <a:off x="1274050" y="3585438"/>
              <a:ext cx="3165300" cy="575400"/>
            </a:xfrm>
            <a:prstGeom prst="rect">
              <a:avLst/>
            </a:prstGeom>
            <a:noFill/>
            <a:ln>
              <a:noFill/>
            </a:ln>
          </p:spPr>
          <p:txBody>
            <a:bodyPr anchorCtr="0" anchor="t" bIns="33450" lIns="66950" spcFirstLastPara="1" rIns="66950" wrap="square" tIns="33450">
              <a:spAutoFit/>
            </a:bodyPr>
            <a:lstStyle/>
            <a:p>
              <a:pPr indent="0" lvl="0" marL="0" marR="0" rtl="0" algn="l">
                <a:lnSpc>
                  <a:spcPct val="100000"/>
                </a:lnSpc>
                <a:spcBef>
                  <a:spcPts val="0"/>
                </a:spcBef>
                <a:spcAft>
                  <a:spcPts val="0"/>
                </a:spcAft>
                <a:buClr>
                  <a:schemeClr val="dk1"/>
                </a:buClr>
                <a:buSzPts val="1171"/>
                <a:buFont typeface="Arial"/>
                <a:buNone/>
              </a:pPr>
              <a:r>
                <a:rPr b="0" i="0" lang="en" sz="1100" u="none" cap="none" strike="noStrike">
                  <a:solidFill>
                    <a:schemeClr val="dk1"/>
                  </a:solidFill>
                  <a:latin typeface="Poppins Light"/>
                  <a:ea typeface="Poppins Light"/>
                  <a:cs typeface="Poppins Light"/>
                  <a:sym typeface="Poppins Light"/>
                </a:rPr>
                <a:t>What is your current issues resolution flow? What is your ideal state? Is there anything blocking you from further democratization? </a:t>
              </a:r>
              <a:endParaRPr b="0" i="0" sz="1100" u="none" cap="none" strike="noStrike">
                <a:solidFill>
                  <a:schemeClr val="dk1"/>
                </a:solidFill>
                <a:latin typeface="Poppins Light"/>
                <a:ea typeface="Poppins Light"/>
                <a:cs typeface="Poppins Light"/>
                <a:sym typeface="Poppins Light"/>
              </a:endParaRPr>
            </a:p>
          </p:txBody>
        </p:sp>
        <p:grpSp>
          <p:nvGrpSpPr>
            <p:cNvPr id="1384" name="Google Shape;1384;p67"/>
            <p:cNvGrpSpPr/>
            <p:nvPr/>
          </p:nvGrpSpPr>
          <p:grpSpPr>
            <a:xfrm>
              <a:off x="434302" y="3457087"/>
              <a:ext cx="839753" cy="832322"/>
              <a:chOff x="434302" y="3457087"/>
              <a:chExt cx="839753" cy="832322"/>
            </a:xfrm>
          </p:grpSpPr>
          <p:pic>
            <p:nvPicPr>
              <p:cNvPr id="1385" name="Google Shape;1385;p67" title="Ellipse icon_color.png"/>
              <p:cNvPicPr preferRelativeResize="0"/>
              <p:nvPr/>
            </p:nvPicPr>
            <p:blipFill rotWithShape="1">
              <a:blip r:embed="rId8">
                <a:alphaModFix/>
              </a:blip>
              <a:srcRect b="0" l="0" r="0" t="0"/>
              <a:stretch/>
            </p:blipFill>
            <p:spPr>
              <a:xfrm>
                <a:off x="434302" y="3457087"/>
                <a:ext cx="839753" cy="832322"/>
              </a:xfrm>
              <a:prstGeom prst="rect">
                <a:avLst/>
              </a:prstGeom>
              <a:noFill/>
              <a:ln>
                <a:noFill/>
              </a:ln>
            </p:spPr>
          </p:pic>
          <p:pic>
            <p:nvPicPr>
              <p:cNvPr id="1386" name="Google Shape;1386;p67"/>
              <p:cNvPicPr preferRelativeResize="0"/>
              <p:nvPr/>
            </p:nvPicPr>
            <p:blipFill rotWithShape="1">
              <a:blip r:embed="rId9">
                <a:alphaModFix/>
              </a:blip>
              <a:srcRect b="0" l="0" r="0" t="0"/>
              <a:stretch/>
            </p:blipFill>
            <p:spPr>
              <a:xfrm>
                <a:off x="577339" y="3703834"/>
                <a:ext cx="553675" cy="338602"/>
              </a:xfrm>
              <a:prstGeom prst="rect">
                <a:avLst/>
              </a:prstGeom>
              <a:noFill/>
              <a:ln>
                <a:noFill/>
              </a:ln>
            </p:spPr>
          </p:pic>
        </p:grpSp>
      </p:grpSp>
      <p:pic>
        <p:nvPicPr>
          <p:cNvPr id="1387" name="Google Shape;1387;p67" title="Group 1000003678 (1).png"/>
          <p:cNvPicPr preferRelativeResize="0"/>
          <p:nvPr/>
        </p:nvPicPr>
        <p:blipFill rotWithShape="1">
          <a:blip r:embed="rId10">
            <a:alphaModFix/>
          </a:blip>
          <a:srcRect b="0" l="0" r="0" t="0"/>
          <a:stretch/>
        </p:blipFill>
        <p:spPr>
          <a:xfrm>
            <a:off x="4930184" y="4346632"/>
            <a:ext cx="430800" cy="4246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392" name="Shape 1392"/>
        <p:cNvGrpSpPr/>
        <p:nvPr/>
      </p:nvGrpSpPr>
      <p:grpSpPr>
        <a:xfrm>
          <a:off x="0" y="0"/>
          <a:ext cx="0" cy="0"/>
          <a:chOff x="0" y="0"/>
          <a:chExt cx="0" cy="0"/>
        </a:xfrm>
      </p:grpSpPr>
      <p:pic>
        <p:nvPicPr>
          <p:cNvPr id="1393" name="Google Shape;1393;p68" title="Rectangle 7854.png"/>
          <p:cNvPicPr preferRelativeResize="0"/>
          <p:nvPr/>
        </p:nvPicPr>
        <p:blipFill rotWithShape="1">
          <a:blip r:embed="rId3">
            <a:alphaModFix/>
          </a:blip>
          <a:srcRect b="0" l="0" r="0" t="0"/>
          <a:stretch/>
        </p:blipFill>
        <p:spPr>
          <a:xfrm>
            <a:off x="3237298" y="1837850"/>
            <a:ext cx="2669404" cy="3050125"/>
          </a:xfrm>
          <a:prstGeom prst="rect">
            <a:avLst/>
          </a:prstGeom>
          <a:noFill/>
          <a:ln>
            <a:noFill/>
          </a:ln>
        </p:spPr>
      </p:pic>
      <p:pic>
        <p:nvPicPr>
          <p:cNvPr id="1394" name="Google Shape;1394;p68" title="Rectangle 7854.png"/>
          <p:cNvPicPr preferRelativeResize="0"/>
          <p:nvPr/>
        </p:nvPicPr>
        <p:blipFill rotWithShape="1">
          <a:blip r:embed="rId3">
            <a:alphaModFix/>
          </a:blip>
          <a:srcRect b="0" l="0" r="0" t="0"/>
          <a:stretch/>
        </p:blipFill>
        <p:spPr>
          <a:xfrm>
            <a:off x="357125" y="1837850"/>
            <a:ext cx="2669404" cy="3050125"/>
          </a:xfrm>
          <a:prstGeom prst="rect">
            <a:avLst/>
          </a:prstGeom>
          <a:noFill/>
          <a:ln>
            <a:noFill/>
          </a:ln>
        </p:spPr>
      </p:pic>
      <p:cxnSp>
        <p:nvCxnSpPr>
          <p:cNvPr id="1395" name="Google Shape;1395;p68"/>
          <p:cNvCxnSpPr/>
          <p:nvPr/>
        </p:nvCxnSpPr>
        <p:spPr>
          <a:xfrm>
            <a:off x="630575" y="3063399"/>
            <a:ext cx="2122500" cy="0"/>
          </a:xfrm>
          <a:prstGeom prst="straightConnector1">
            <a:avLst/>
          </a:prstGeom>
          <a:noFill/>
          <a:ln cap="flat" cmpd="sng" w="9525">
            <a:solidFill>
              <a:srgbClr val="0254EC"/>
            </a:solidFill>
            <a:prstDash val="solid"/>
            <a:round/>
            <a:headEnd len="sm" w="sm" type="none"/>
            <a:tailEnd len="sm" w="sm" type="none"/>
          </a:ln>
        </p:spPr>
      </p:cxnSp>
      <p:sp>
        <p:nvSpPr>
          <p:cNvPr id="1396" name="Google Shape;1396;p68"/>
          <p:cNvSpPr txBox="1"/>
          <p:nvPr/>
        </p:nvSpPr>
        <p:spPr>
          <a:xfrm>
            <a:off x="357125" y="3203850"/>
            <a:ext cx="2641800" cy="1232100"/>
          </a:xfrm>
          <a:prstGeom prst="rect">
            <a:avLst/>
          </a:prstGeom>
          <a:noFill/>
          <a:ln>
            <a:noFill/>
          </a:ln>
        </p:spPr>
        <p:txBody>
          <a:bodyPr anchorCtr="0" anchor="t" bIns="34275" lIns="68575" spcFirstLastPara="1" rIns="68575" wrap="square" tIns="34275">
            <a:normAutofit/>
          </a:bodyPr>
          <a:lstStyle/>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How do you determine what to work on first?</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Why are the custom TWDC Graph Controls marked as “Critical”? Is this still relevant?</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How are you alerted on Critical Issues, when they arise?</a:t>
            </a:r>
            <a:endParaRPr b="0" i="0" sz="900" u="none" cap="none" strike="noStrike">
              <a:solidFill>
                <a:srgbClr val="01123F"/>
              </a:solidFill>
              <a:latin typeface="Poppins Light"/>
              <a:ea typeface="Poppins Light"/>
              <a:cs typeface="Poppins Light"/>
              <a:sym typeface="Poppins Light"/>
            </a:endParaRPr>
          </a:p>
        </p:txBody>
      </p:sp>
      <p:cxnSp>
        <p:nvCxnSpPr>
          <p:cNvPr id="1397" name="Google Shape;1397;p68"/>
          <p:cNvCxnSpPr/>
          <p:nvPr/>
        </p:nvCxnSpPr>
        <p:spPr>
          <a:xfrm>
            <a:off x="3510750" y="3063399"/>
            <a:ext cx="2122500" cy="0"/>
          </a:xfrm>
          <a:prstGeom prst="straightConnector1">
            <a:avLst/>
          </a:prstGeom>
          <a:noFill/>
          <a:ln cap="flat" cmpd="sng" w="9525">
            <a:solidFill>
              <a:srgbClr val="0254EC"/>
            </a:solidFill>
            <a:prstDash val="solid"/>
            <a:round/>
            <a:headEnd len="sm" w="sm" type="none"/>
            <a:tailEnd len="sm" w="sm" type="none"/>
          </a:ln>
        </p:spPr>
      </p:cxnSp>
      <p:pic>
        <p:nvPicPr>
          <p:cNvPr id="1398" name="Google Shape;1398;p68" title="Rectangle 7854.png"/>
          <p:cNvPicPr preferRelativeResize="0"/>
          <p:nvPr/>
        </p:nvPicPr>
        <p:blipFill rotWithShape="1">
          <a:blip r:embed="rId3">
            <a:alphaModFix/>
          </a:blip>
          <a:srcRect b="0" l="0" r="0" t="0"/>
          <a:stretch/>
        </p:blipFill>
        <p:spPr>
          <a:xfrm>
            <a:off x="6117471" y="1837850"/>
            <a:ext cx="2669404" cy="3050125"/>
          </a:xfrm>
          <a:prstGeom prst="rect">
            <a:avLst/>
          </a:prstGeom>
          <a:noFill/>
          <a:ln>
            <a:noFill/>
          </a:ln>
        </p:spPr>
      </p:pic>
      <p:cxnSp>
        <p:nvCxnSpPr>
          <p:cNvPr id="1399" name="Google Shape;1399;p68"/>
          <p:cNvCxnSpPr/>
          <p:nvPr/>
        </p:nvCxnSpPr>
        <p:spPr>
          <a:xfrm>
            <a:off x="6390925" y="3063399"/>
            <a:ext cx="2122500" cy="0"/>
          </a:xfrm>
          <a:prstGeom prst="straightConnector1">
            <a:avLst/>
          </a:prstGeom>
          <a:noFill/>
          <a:ln cap="flat" cmpd="sng" w="9525">
            <a:solidFill>
              <a:srgbClr val="0254EC"/>
            </a:solidFill>
            <a:prstDash val="solid"/>
            <a:round/>
            <a:headEnd len="sm" w="sm" type="none"/>
            <a:tailEnd len="sm" w="sm" type="none"/>
          </a:ln>
        </p:spPr>
      </p:cxnSp>
      <p:sp>
        <p:nvSpPr>
          <p:cNvPr id="1400" name="Google Shape;1400;p68"/>
          <p:cNvSpPr txBox="1"/>
          <p:nvPr/>
        </p:nvSpPr>
        <p:spPr>
          <a:xfrm>
            <a:off x="3269550" y="3203850"/>
            <a:ext cx="2599800" cy="1422000"/>
          </a:xfrm>
          <a:prstGeom prst="rect">
            <a:avLst/>
          </a:prstGeom>
          <a:noFill/>
          <a:ln>
            <a:noFill/>
          </a:ln>
        </p:spPr>
        <p:txBody>
          <a:bodyPr anchorCtr="0" anchor="t" bIns="34275" lIns="68575" spcFirstLastPara="1" rIns="68575" wrap="square" tIns="34275">
            <a:normAutofit/>
          </a:bodyPr>
          <a:lstStyle/>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You only have “MBI” (Medium Business Impact) resources defined, why?</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Grouping filters or queries to identify the “low hanging fruit” Issues (i.e. resources exhibiting the same Issue)</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Are you using Posture Policies to identify and group high-impact vulnerabilities?</a:t>
            </a:r>
            <a:endParaRPr b="0" i="0" sz="900" u="none" cap="none" strike="noStrike">
              <a:solidFill>
                <a:srgbClr val="01123F"/>
              </a:solidFill>
              <a:latin typeface="Poppins Light"/>
              <a:ea typeface="Poppins Light"/>
              <a:cs typeface="Poppins Light"/>
              <a:sym typeface="Poppins Light"/>
            </a:endParaRPr>
          </a:p>
        </p:txBody>
      </p:sp>
      <p:sp>
        <p:nvSpPr>
          <p:cNvPr id="1401" name="Google Shape;1401;p68"/>
          <p:cNvSpPr txBox="1"/>
          <p:nvPr/>
        </p:nvSpPr>
        <p:spPr>
          <a:xfrm>
            <a:off x="6081878" y="3203850"/>
            <a:ext cx="2641800" cy="1684200"/>
          </a:xfrm>
          <a:prstGeom prst="rect">
            <a:avLst/>
          </a:prstGeom>
          <a:noFill/>
          <a:ln>
            <a:noFill/>
          </a:ln>
        </p:spPr>
        <p:txBody>
          <a:bodyPr anchorCtr="0" anchor="t" bIns="34275" lIns="68575" spcFirstLastPara="1" rIns="68575" wrap="square" tIns="34275">
            <a:normAutofit/>
          </a:bodyPr>
          <a:lstStyle/>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Utilize Green Agent for automated investigation and remediation context</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Utilize Advanced ASM to validate which external exposures are truly exploitable</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Utilize Red Agent to actively probe your web apps and APIS to proactively identify high-impact exposures</a:t>
            </a:r>
            <a:endParaRPr b="0" i="0" sz="900" u="none" cap="none" strike="noStrike">
              <a:solidFill>
                <a:srgbClr val="01123F"/>
              </a:solidFill>
              <a:latin typeface="Poppins Light"/>
              <a:ea typeface="Poppins Light"/>
              <a:cs typeface="Poppins Light"/>
              <a:sym typeface="Poppins Light"/>
            </a:endParaRPr>
          </a:p>
        </p:txBody>
      </p:sp>
      <p:sp>
        <p:nvSpPr>
          <p:cNvPr id="1402" name="Google Shape;1402;p68"/>
          <p:cNvSpPr txBox="1"/>
          <p:nvPr/>
        </p:nvSpPr>
        <p:spPr>
          <a:xfrm>
            <a:off x="6243025" y="2624673"/>
            <a:ext cx="2418300" cy="2733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Using Wiz Tools to Remediate</a:t>
            </a:r>
            <a:br>
              <a:rPr b="0" i="0" lang="en" sz="1000" u="none" cap="none" strike="noStrike">
                <a:solidFill>
                  <a:schemeClr val="dk1"/>
                </a:solidFill>
                <a:latin typeface="Poppins SemiBold"/>
                <a:ea typeface="Poppins SemiBold"/>
                <a:cs typeface="Poppins SemiBold"/>
                <a:sym typeface="Poppins SemiBold"/>
              </a:rPr>
            </a:br>
            <a:r>
              <a:rPr b="0" i="0" lang="en" sz="1000" u="none" cap="none" strike="noStrike">
                <a:solidFill>
                  <a:schemeClr val="dk1"/>
                </a:solidFill>
                <a:latin typeface="Poppins SemiBold"/>
                <a:ea typeface="Poppins SemiBold"/>
                <a:cs typeface="Poppins SemiBold"/>
                <a:sym typeface="Poppins SemiBold"/>
              </a:rPr>
              <a:t>More Efficiently</a:t>
            </a:r>
            <a:endParaRPr b="0" i="0" sz="1000" u="none" cap="none" strike="noStrike">
              <a:solidFill>
                <a:schemeClr val="dk1"/>
              </a:solidFill>
              <a:latin typeface="Poppins SemiBold"/>
              <a:ea typeface="Poppins SemiBold"/>
              <a:cs typeface="Poppins SemiBold"/>
              <a:sym typeface="Poppins SemiBold"/>
            </a:endParaRPr>
          </a:p>
        </p:txBody>
      </p:sp>
      <p:sp>
        <p:nvSpPr>
          <p:cNvPr id="1403" name="Google Shape;1403;p68"/>
          <p:cNvSpPr txBox="1"/>
          <p:nvPr>
            <p:ph idx="4294967295" type="title"/>
          </p:nvPr>
        </p:nvSpPr>
        <p:spPr>
          <a:xfrm>
            <a:off x="-302400" y="535725"/>
            <a:ext cx="9748800" cy="6840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Security Posture &amp; Risk Reduction</a:t>
            </a:r>
            <a:endParaRPr sz="2420">
              <a:latin typeface="Poppins Light"/>
              <a:ea typeface="Poppins Light"/>
              <a:cs typeface="Poppins Light"/>
              <a:sym typeface="Poppins Light"/>
            </a:endParaRPr>
          </a:p>
        </p:txBody>
      </p:sp>
      <p:pic>
        <p:nvPicPr>
          <p:cNvPr id="1404" name="Google Shape;1404;p68"/>
          <p:cNvPicPr preferRelativeResize="0"/>
          <p:nvPr/>
        </p:nvPicPr>
        <p:blipFill rotWithShape="1">
          <a:blip r:embed="rId4">
            <a:alphaModFix/>
          </a:blip>
          <a:srcRect b="0" l="0" r="0" t="0"/>
          <a:stretch/>
        </p:blipFill>
        <p:spPr>
          <a:xfrm>
            <a:off x="1326966" y="1926775"/>
            <a:ext cx="729718" cy="693550"/>
          </a:xfrm>
          <a:prstGeom prst="rect">
            <a:avLst/>
          </a:prstGeom>
          <a:noFill/>
          <a:ln>
            <a:noFill/>
          </a:ln>
        </p:spPr>
      </p:pic>
      <p:pic>
        <p:nvPicPr>
          <p:cNvPr id="1405" name="Google Shape;1405;p68"/>
          <p:cNvPicPr preferRelativeResize="0"/>
          <p:nvPr/>
        </p:nvPicPr>
        <p:blipFill rotWithShape="1">
          <a:blip r:embed="rId5">
            <a:alphaModFix/>
          </a:blip>
          <a:srcRect b="0" l="0" r="0" t="0"/>
          <a:stretch/>
        </p:blipFill>
        <p:spPr>
          <a:xfrm>
            <a:off x="4225225" y="1913375"/>
            <a:ext cx="693550" cy="693550"/>
          </a:xfrm>
          <a:prstGeom prst="rect">
            <a:avLst/>
          </a:prstGeom>
          <a:noFill/>
          <a:ln>
            <a:noFill/>
          </a:ln>
        </p:spPr>
      </p:pic>
      <p:pic>
        <p:nvPicPr>
          <p:cNvPr id="1406" name="Google Shape;1406;p68" title="Group 1000002779.png"/>
          <p:cNvPicPr preferRelativeResize="0"/>
          <p:nvPr/>
        </p:nvPicPr>
        <p:blipFill rotWithShape="1">
          <a:blip r:embed="rId6">
            <a:alphaModFix/>
          </a:blip>
          <a:srcRect b="0" l="0" r="0" t="0"/>
          <a:stretch/>
        </p:blipFill>
        <p:spPr>
          <a:xfrm>
            <a:off x="7043298" y="1991749"/>
            <a:ext cx="817750" cy="563600"/>
          </a:xfrm>
          <a:prstGeom prst="rect">
            <a:avLst/>
          </a:prstGeom>
          <a:noFill/>
          <a:ln>
            <a:noFill/>
          </a:ln>
        </p:spPr>
      </p:pic>
      <p:sp>
        <p:nvSpPr>
          <p:cNvPr id="1407" name="Google Shape;1407;p68"/>
          <p:cNvSpPr txBox="1"/>
          <p:nvPr/>
        </p:nvSpPr>
        <p:spPr>
          <a:xfrm>
            <a:off x="482675" y="2640997"/>
            <a:ext cx="2418300" cy="2733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Prioritize Investigation by       Severity  &amp; Criticality</a:t>
            </a:r>
            <a:endParaRPr b="0" i="0" sz="1000" u="none" cap="none" strike="noStrike">
              <a:solidFill>
                <a:schemeClr val="dk1"/>
              </a:solidFill>
              <a:latin typeface="Poppins SemiBold"/>
              <a:ea typeface="Poppins SemiBold"/>
              <a:cs typeface="Poppins SemiBold"/>
              <a:sym typeface="Poppins SemiBold"/>
            </a:endParaRPr>
          </a:p>
        </p:txBody>
      </p:sp>
      <p:sp>
        <p:nvSpPr>
          <p:cNvPr id="1408" name="Google Shape;1408;p68"/>
          <p:cNvSpPr txBox="1"/>
          <p:nvPr/>
        </p:nvSpPr>
        <p:spPr>
          <a:xfrm>
            <a:off x="3362850" y="2627164"/>
            <a:ext cx="2418300" cy="2733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Prioritize Remediation by       Greatest Impact </a:t>
            </a:r>
            <a:endParaRPr b="0" i="0" sz="1000" u="none" cap="none" strike="noStrike">
              <a:solidFill>
                <a:schemeClr val="dk1"/>
              </a:solidFill>
              <a:latin typeface="Poppins SemiBold"/>
              <a:ea typeface="Poppins SemiBold"/>
              <a:cs typeface="Poppins SemiBold"/>
              <a:sym typeface="Poppins SemiBo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413" name="Shape 1413"/>
        <p:cNvGrpSpPr/>
        <p:nvPr/>
      </p:nvGrpSpPr>
      <p:grpSpPr>
        <a:xfrm>
          <a:off x="0" y="0"/>
          <a:ext cx="0" cy="0"/>
          <a:chOff x="0" y="0"/>
          <a:chExt cx="0" cy="0"/>
        </a:xfrm>
      </p:grpSpPr>
      <p:pic>
        <p:nvPicPr>
          <p:cNvPr id="1414" name="Google Shape;1414;p69" title="Rectangle 7854.png"/>
          <p:cNvPicPr preferRelativeResize="0"/>
          <p:nvPr/>
        </p:nvPicPr>
        <p:blipFill rotWithShape="1">
          <a:blip r:embed="rId3">
            <a:alphaModFix/>
          </a:blip>
          <a:srcRect b="0" l="0" r="0" t="0"/>
          <a:stretch/>
        </p:blipFill>
        <p:spPr>
          <a:xfrm>
            <a:off x="3237298" y="1837849"/>
            <a:ext cx="2669404" cy="2703664"/>
          </a:xfrm>
          <a:prstGeom prst="rect">
            <a:avLst/>
          </a:prstGeom>
          <a:noFill/>
          <a:ln>
            <a:noFill/>
          </a:ln>
        </p:spPr>
      </p:pic>
      <p:pic>
        <p:nvPicPr>
          <p:cNvPr id="1415" name="Google Shape;1415;p69" title="Rectangle 7854.png"/>
          <p:cNvPicPr preferRelativeResize="0"/>
          <p:nvPr/>
        </p:nvPicPr>
        <p:blipFill rotWithShape="1">
          <a:blip r:embed="rId3">
            <a:alphaModFix/>
          </a:blip>
          <a:srcRect b="0" l="0" r="0" t="0"/>
          <a:stretch/>
        </p:blipFill>
        <p:spPr>
          <a:xfrm>
            <a:off x="357125" y="1837849"/>
            <a:ext cx="2669404" cy="2703664"/>
          </a:xfrm>
          <a:prstGeom prst="rect">
            <a:avLst/>
          </a:prstGeom>
          <a:noFill/>
          <a:ln>
            <a:noFill/>
          </a:ln>
        </p:spPr>
      </p:pic>
      <p:cxnSp>
        <p:nvCxnSpPr>
          <p:cNvPr id="1416" name="Google Shape;1416;p69"/>
          <p:cNvCxnSpPr/>
          <p:nvPr/>
        </p:nvCxnSpPr>
        <p:spPr>
          <a:xfrm>
            <a:off x="630575" y="2954477"/>
            <a:ext cx="2122500" cy="0"/>
          </a:xfrm>
          <a:prstGeom prst="straightConnector1">
            <a:avLst/>
          </a:prstGeom>
          <a:noFill/>
          <a:ln cap="flat" cmpd="sng" w="9525">
            <a:solidFill>
              <a:srgbClr val="0254EC"/>
            </a:solidFill>
            <a:prstDash val="solid"/>
            <a:round/>
            <a:headEnd len="sm" w="sm" type="none"/>
            <a:tailEnd len="sm" w="sm" type="none"/>
          </a:ln>
        </p:spPr>
      </p:cxnSp>
      <p:sp>
        <p:nvSpPr>
          <p:cNvPr id="1417" name="Google Shape;1417;p69"/>
          <p:cNvSpPr txBox="1"/>
          <p:nvPr/>
        </p:nvSpPr>
        <p:spPr>
          <a:xfrm>
            <a:off x="522275" y="2664476"/>
            <a:ext cx="2339100" cy="273300"/>
          </a:xfrm>
          <a:prstGeom prst="rect">
            <a:avLst/>
          </a:prstGeom>
          <a:noFill/>
          <a:ln>
            <a:noFill/>
          </a:ln>
        </p:spPr>
        <p:txBody>
          <a:bodyPr anchorCtr="0" anchor="ctr" bIns="34275" lIns="68575" spcFirstLastPara="1" rIns="68575" wrap="square" tIns="34275">
            <a:noAutofit/>
          </a:bodyPr>
          <a:lstStyle/>
          <a:p>
            <a:pPr indent="0" lvl="0" marL="0" marR="0" rtl="0" algn="ctr">
              <a:lnSpc>
                <a:spcPct val="7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K8S Connectors</a:t>
            </a:r>
            <a:endParaRPr b="0" i="0" sz="1000" u="none" cap="none" strike="noStrike">
              <a:solidFill>
                <a:schemeClr val="dk1"/>
              </a:solidFill>
              <a:latin typeface="Poppins SemiBold"/>
              <a:ea typeface="Poppins SemiBold"/>
              <a:cs typeface="Poppins SemiBold"/>
              <a:sym typeface="Poppins SemiBold"/>
            </a:endParaRPr>
          </a:p>
        </p:txBody>
      </p:sp>
      <p:sp>
        <p:nvSpPr>
          <p:cNvPr id="1418" name="Google Shape;1418;p69"/>
          <p:cNvSpPr txBox="1"/>
          <p:nvPr/>
        </p:nvSpPr>
        <p:spPr>
          <a:xfrm>
            <a:off x="403925" y="3092700"/>
            <a:ext cx="2575800" cy="1367400"/>
          </a:xfrm>
          <a:prstGeom prst="rect">
            <a:avLst/>
          </a:prstGeom>
          <a:noFill/>
          <a:ln>
            <a:noFill/>
          </a:ln>
        </p:spPr>
        <p:txBody>
          <a:bodyPr anchorCtr="0" anchor="t" bIns="34275" lIns="68575" spcFirstLastPara="1" rIns="68575" wrap="square" tIns="34275">
            <a:normAutofit/>
          </a:bodyPr>
          <a:lstStyle/>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Map Cluster architectures more effectively in Wiz.</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Allows Wiz to assess K8S clusters directly via the Kubernetes API, to identify risks associated with K8S specific identities, secretes, configs, etc.</a:t>
            </a:r>
            <a:endParaRPr b="0" i="0" sz="900" u="none" cap="none" strike="noStrike">
              <a:solidFill>
                <a:srgbClr val="01123F"/>
              </a:solidFill>
              <a:latin typeface="Poppins Light"/>
              <a:ea typeface="Poppins Light"/>
              <a:cs typeface="Poppins Light"/>
              <a:sym typeface="Poppins Light"/>
            </a:endParaRPr>
          </a:p>
        </p:txBody>
      </p:sp>
      <p:cxnSp>
        <p:nvCxnSpPr>
          <p:cNvPr id="1419" name="Google Shape;1419;p69"/>
          <p:cNvCxnSpPr/>
          <p:nvPr/>
        </p:nvCxnSpPr>
        <p:spPr>
          <a:xfrm>
            <a:off x="3510750" y="2954477"/>
            <a:ext cx="2122500" cy="0"/>
          </a:xfrm>
          <a:prstGeom prst="straightConnector1">
            <a:avLst/>
          </a:prstGeom>
          <a:noFill/>
          <a:ln cap="flat" cmpd="sng" w="9525">
            <a:solidFill>
              <a:srgbClr val="0254EC"/>
            </a:solidFill>
            <a:prstDash val="solid"/>
            <a:round/>
            <a:headEnd len="sm" w="sm" type="none"/>
            <a:tailEnd len="sm" w="sm" type="none"/>
          </a:ln>
        </p:spPr>
      </p:cxnSp>
      <p:sp>
        <p:nvSpPr>
          <p:cNvPr id="1420" name="Google Shape;1420;p69"/>
          <p:cNvSpPr txBox="1"/>
          <p:nvPr/>
        </p:nvSpPr>
        <p:spPr>
          <a:xfrm>
            <a:off x="3362850" y="2664476"/>
            <a:ext cx="2418300" cy="2733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WizOS &amp; Image Tagging</a:t>
            </a:r>
            <a:endParaRPr b="0" i="0" sz="1000" u="none" cap="none" strike="noStrike">
              <a:solidFill>
                <a:schemeClr val="dk1"/>
              </a:solidFill>
              <a:latin typeface="Poppins SemiBold"/>
              <a:ea typeface="Poppins SemiBold"/>
              <a:cs typeface="Poppins SemiBold"/>
              <a:sym typeface="Poppins SemiBold"/>
            </a:endParaRPr>
          </a:p>
        </p:txBody>
      </p:sp>
      <p:pic>
        <p:nvPicPr>
          <p:cNvPr id="1421" name="Google Shape;1421;p69" title="Rectangle 7854.png"/>
          <p:cNvPicPr preferRelativeResize="0"/>
          <p:nvPr/>
        </p:nvPicPr>
        <p:blipFill rotWithShape="1">
          <a:blip r:embed="rId3">
            <a:alphaModFix/>
          </a:blip>
          <a:srcRect b="0" l="0" r="0" t="0"/>
          <a:stretch/>
        </p:blipFill>
        <p:spPr>
          <a:xfrm>
            <a:off x="6117471" y="1837849"/>
            <a:ext cx="2669404" cy="2703664"/>
          </a:xfrm>
          <a:prstGeom prst="rect">
            <a:avLst/>
          </a:prstGeom>
          <a:noFill/>
          <a:ln>
            <a:noFill/>
          </a:ln>
        </p:spPr>
      </p:pic>
      <p:cxnSp>
        <p:nvCxnSpPr>
          <p:cNvPr id="1422" name="Google Shape;1422;p69"/>
          <p:cNvCxnSpPr/>
          <p:nvPr/>
        </p:nvCxnSpPr>
        <p:spPr>
          <a:xfrm>
            <a:off x="6390925" y="2954477"/>
            <a:ext cx="2122500" cy="0"/>
          </a:xfrm>
          <a:prstGeom prst="straightConnector1">
            <a:avLst/>
          </a:prstGeom>
          <a:noFill/>
          <a:ln cap="flat" cmpd="sng" w="9525">
            <a:solidFill>
              <a:srgbClr val="0254EC"/>
            </a:solidFill>
            <a:prstDash val="solid"/>
            <a:round/>
            <a:headEnd len="sm" w="sm" type="none"/>
            <a:tailEnd len="sm" w="sm" type="none"/>
          </a:ln>
        </p:spPr>
      </p:cxnSp>
      <p:sp>
        <p:nvSpPr>
          <p:cNvPr id="1423" name="Google Shape;1423;p69"/>
          <p:cNvSpPr txBox="1"/>
          <p:nvPr/>
        </p:nvSpPr>
        <p:spPr>
          <a:xfrm>
            <a:off x="6164274" y="3093376"/>
            <a:ext cx="2575800" cy="1500600"/>
          </a:xfrm>
          <a:prstGeom prst="rect">
            <a:avLst/>
          </a:prstGeom>
          <a:noFill/>
          <a:ln>
            <a:noFill/>
          </a:ln>
        </p:spPr>
        <p:txBody>
          <a:bodyPr anchorCtr="0" anchor="t" bIns="34275" lIns="68575" spcFirstLastPara="1" rIns="68575" wrap="square" tIns="34275">
            <a:normAutofit lnSpcReduction="10000"/>
          </a:bodyPr>
          <a:lstStyle/>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Scan your repos for vulnerabilities, SAST flaws, IaC misconfigurations, secrets and Malware</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Allow Developers to scan their code at the IDE</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Scan PRs and (optionally) block merges that introduce risk </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Trace every risk back to its origin. Catch risks at the source, before they ship.</a:t>
            </a:r>
            <a:endParaRPr b="0" i="0" sz="900" u="none" cap="none" strike="noStrike">
              <a:solidFill>
                <a:srgbClr val="01123F"/>
              </a:solidFill>
              <a:latin typeface="Poppins Light"/>
              <a:ea typeface="Poppins Light"/>
              <a:cs typeface="Poppins Light"/>
              <a:sym typeface="Poppins Light"/>
            </a:endParaRPr>
          </a:p>
          <a:p>
            <a:pPr indent="0" lvl="0" marL="0" marR="0" rtl="0" algn="l">
              <a:lnSpc>
                <a:spcPct val="112000"/>
              </a:lnSpc>
              <a:spcBef>
                <a:spcPts val="0"/>
              </a:spcBef>
              <a:spcAft>
                <a:spcPts val="0"/>
              </a:spcAft>
              <a:buClr>
                <a:srgbClr val="000000"/>
              </a:buClr>
              <a:buSzPts val="900"/>
              <a:buFont typeface="Arial"/>
              <a:buNone/>
            </a:pPr>
            <a:r>
              <a:t/>
            </a:r>
            <a:endParaRPr b="0" i="0" sz="900" u="none" cap="none" strike="noStrike">
              <a:solidFill>
                <a:srgbClr val="01123F"/>
              </a:solidFill>
              <a:latin typeface="Poppins Light"/>
              <a:ea typeface="Poppins Light"/>
              <a:cs typeface="Poppins Light"/>
              <a:sym typeface="Poppins Light"/>
            </a:endParaRPr>
          </a:p>
        </p:txBody>
      </p:sp>
      <p:sp>
        <p:nvSpPr>
          <p:cNvPr id="1424" name="Google Shape;1424;p69"/>
          <p:cNvSpPr txBox="1"/>
          <p:nvPr/>
        </p:nvSpPr>
        <p:spPr>
          <a:xfrm>
            <a:off x="6243025" y="2644820"/>
            <a:ext cx="2418300" cy="2733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rgbClr val="000000"/>
              </a:buClr>
              <a:buSzPts val="1000"/>
              <a:buFont typeface="Arial"/>
              <a:buNone/>
            </a:pPr>
            <a:r>
              <a:rPr b="0" i="0" lang="en" sz="1000" u="none" cap="none" strike="noStrike">
                <a:solidFill>
                  <a:schemeClr val="dk1"/>
                </a:solidFill>
                <a:latin typeface="Poppins SemiBold"/>
                <a:ea typeface="Poppins SemiBold"/>
                <a:cs typeface="Poppins SemiBold"/>
                <a:sym typeface="Poppins SemiBold"/>
              </a:rPr>
              <a:t>Full Code-to-Cloud Context </a:t>
            </a:r>
            <a:br>
              <a:rPr b="0" i="0" lang="en" sz="1000" u="none" cap="none" strike="noStrike">
                <a:solidFill>
                  <a:schemeClr val="dk1"/>
                </a:solidFill>
                <a:latin typeface="Poppins SemiBold"/>
                <a:ea typeface="Poppins SemiBold"/>
                <a:cs typeface="Poppins SemiBold"/>
                <a:sym typeface="Poppins SemiBold"/>
              </a:rPr>
            </a:br>
            <a:r>
              <a:rPr b="0" i="0" lang="en" sz="1000" u="none" cap="none" strike="noStrike">
                <a:solidFill>
                  <a:schemeClr val="dk1"/>
                </a:solidFill>
                <a:latin typeface="Poppins SemiBold"/>
                <a:ea typeface="Poppins SemiBold"/>
                <a:cs typeface="Poppins SemiBold"/>
                <a:sym typeface="Poppins SemiBold"/>
              </a:rPr>
              <a:t>Wiz Code POV</a:t>
            </a:r>
            <a:endParaRPr b="0" i="0" sz="1000" u="none" cap="none" strike="noStrike">
              <a:solidFill>
                <a:schemeClr val="dk1"/>
              </a:solidFill>
              <a:latin typeface="Poppins SemiBold"/>
              <a:ea typeface="Poppins SemiBold"/>
              <a:cs typeface="Poppins SemiBold"/>
              <a:sym typeface="Poppins SemiBold"/>
            </a:endParaRPr>
          </a:p>
        </p:txBody>
      </p:sp>
      <p:pic>
        <p:nvPicPr>
          <p:cNvPr id="1425" name="Google Shape;1425;p69"/>
          <p:cNvPicPr preferRelativeResize="0"/>
          <p:nvPr/>
        </p:nvPicPr>
        <p:blipFill rotWithShape="1">
          <a:blip r:embed="rId4">
            <a:alphaModFix/>
          </a:blip>
          <a:srcRect b="0" l="0" r="0" t="0"/>
          <a:stretch/>
        </p:blipFill>
        <p:spPr>
          <a:xfrm>
            <a:off x="1337712" y="1908821"/>
            <a:ext cx="708225" cy="708225"/>
          </a:xfrm>
          <a:prstGeom prst="rect">
            <a:avLst/>
          </a:prstGeom>
          <a:noFill/>
          <a:ln>
            <a:noFill/>
          </a:ln>
        </p:spPr>
      </p:pic>
      <p:sp>
        <p:nvSpPr>
          <p:cNvPr id="1426" name="Google Shape;1426;p69"/>
          <p:cNvSpPr txBox="1"/>
          <p:nvPr>
            <p:ph idx="4294967295" type="title"/>
          </p:nvPr>
        </p:nvSpPr>
        <p:spPr>
          <a:xfrm>
            <a:off x="0" y="535725"/>
            <a:ext cx="9144000" cy="6840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Developing Securely Improvements</a:t>
            </a:r>
            <a:endParaRPr sz="2420">
              <a:latin typeface="Poppins Light"/>
              <a:ea typeface="Poppins Light"/>
              <a:cs typeface="Poppins Light"/>
              <a:sym typeface="Poppins Light"/>
            </a:endParaRPr>
          </a:p>
        </p:txBody>
      </p:sp>
      <p:pic>
        <p:nvPicPr>
          <p:cNvPr id="1427" name="Google Shape;1427;p69" title="Group 1000002969.png"/>
          <p:cNvPicPr preferRelativeResize="0"/>
          <p:nvPr/>
        </p:nvPicPr>
        <p:blipFill rotWithShape="1">
          <a:blip r:embed="rId5">
            <a:alphaModFix/>
          </a:blip>
          <a:srcRect b="0" l="0" r="0" t="0"/>
          <a:stretch/>
        </p:blipFill>
        <p:spPr>
          <a:xfrm>
            <a:off x="4195263" y="2010813"/>
            <a:ext cx="753475" cy="504238"/>
          </a:xfrm>
          <a:prstGeom prst="rect">
            <a:avLst/>
          </a:prstGeom>
          <a:noFill/>
          <a:ln>
            <a:noFill/>
          </a:ln>
        </p:spPr>
      </p:pic>
      <p:pic>
        <p:nvPicPr>
          <p:cNvPr id="1428" name="Google Shape;1428;p69" title="Group 1000003039.png"/>
          <p:cNvPicPr preferRelativeResize="0"/>
          <p:nvPr/>
        </p:nvPicPr>
        <p:blipFill rotWithShape="1">
          <a:blip r:embed="rId6">
            <a:alphaModFix/>
          </a:blip>
          <a:srcRect b="0" l="0" r="0" t="0"/>
          <a:stretch/>
        </p:blipFill>
        <p:spPr>
          <a:xfrm>
            <a:off x="7196474" y="1993500"/>
            <a:ext cx="511400" cy="538875"/>
          </a:xfrm>
          <a:prstGeom prst="rect">
            <a:avLst/>
          </a:prstGeom>
          <a:noFill/>
          <a:ln>
            <a:noFill/>
          </a:ln>
        </p:spPr>
      </p:pic>
      <p:sp>
        <p:nvSpPr>
          <p:cNvPr id="1429" name="Google Shape;1429;p69"/>
          <p:cNvSpPr txBox="1"/>
          <p:nvPr/>
        </p:nvSpPr>
        <p:spPr>
          <a:xfrm>
            <a:off x="3284100" y="3084550"/>
            <a:ext cx="2575800" cy="1367400"/>
          </a:xfrm>
          <a:prstGeom prst="rect">
            <a:avLst/>
          </a:prstGeom>
          <a:noFill/>
          <a:ln>
            <a:noFill/>
          </a:ln>
        </p:spPr>
        <p:txBody>
          <a:bodyPr anchorCtr="0" anchor="t" bIns="34275" lIns="68575" spcFirstLastPara="1" rIns="68575" wrap="square" tIns="34275">
            <a:normAutofit/>
          </a:bodyPr>
          <a:lstStyle/>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Build on a clean image base with WizOS. Hardened, minimal, near-zero-CVE base images.</a:t>
            </a:r>
            <a:endParaRPr b="0" i="0" sz="900" u="none" cap="none" strike="noStrike">
              <a:solidFill>
                <a:srgbClr val="01123F"/>
              </a:solidFill>
              <a:latin typeface="Poppins Light"/>
              <a:ea typeface="Poppins Light"/>
              <a:cs typeface="Poppins Light"/>
              <a:sym typeface="Poppins Light"/>
            </a:endParaRPr>
          </a:p>
          <a:p>
            <a:pPr indent="-95250" lvl="0" marL="285750" marR="0" rtl="0" algn="l">
              <a:lnSpc>
                <a:spcPct val="112000"/>
              </a:lnSpc>
              <a:spcBef>
                <a:spcPts val="0"/>
              </a:spcBef>
              <a:spcAft>
                <a:spcPts val="0"/>
              </a:spcAft>
              <a:buClr>
                <a:srgbClr val="01123F"/>
              </a:buClr>
              <a:buSzPts val="600"/>
              <a:buFont typeface="Poppins Light"/>
              <a:buChar char="●"/>
            </a:pPr>
            <a:r>
              <a:rPr b="0" i="0" lang="en" sz="900" u="none" cap="none" strike="noStrike">
                <a:solidFill>
                  <a:srgbClr val="01123F"/>
                </a:solidFill>
                <a:latin typeface="Poppins Light"/>
                <a:ea typeface="Poppins Light"/>
                <a:cs typeface="Poppins Light"/>
                <a:sym typeface="Poppins Light"/>
              </a:rPr>
              <a:t>Allows Enforce quality with proper image tagging via Wiz CLI. Stamps each image by digest, giving full code-to-cloud traceability.</a:t>
            </a:r>
            <a:endParaRPr b="0" i="0" sz="900" u="none" cap="none" strike="noStrike">
              <a:solidFill>
                <a:srgbClr val="01123F"/>
              </a:solidFill>
              <a:latin typeface="Poppins Light"/>
              <a:ea typeface="Poppins Light"/>
              <a:cs typeface="Poppins Light"/>
              <a:sym typeface="Poppins Light"/>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ontent Slides">
  <a:themeElements>
    <a:clrScheme name="Wiz Colors">
      <a:dk1>
        <a:srgbClr val="01123F"/>
      </a:dk1>
      <a:lt1>
        <a:srgbClr val="FFFFFF"/>
      </a:lt1>
      <a:dk2>
        <a:srgbClr val="0054EC"/>
      </a:dk2>
      <a:lt2>
        <a:srgbClr val="F3F8FF"/>
      </a:lt2>
      <a:accent1>
        <a:srgbClr val="B8D3FF"/>
      </a:accent1>
      <a:accent2>
        <a:srgbClr val="6195FF"/>
      </a:accent2>
      <a:accent3>
        <a:srgbClr val="FFBFFF"/>
      </a:accent3>
      <a:accent4>
        <a:srgbClr val="F595F5"/>
      </a:accent4>
      <a:accent5>
        <a:srgbClr val="E9F9EE"/>
      </a:accent5>
      <a:accent6>
        <a:srgbClr val="FFEFEF"/>
      </a:accent6>
      <a:hlink>
        <a:srgbClr val="0055F5"/>
      </a:hlink>
      <a:folHlink>
        <a:srgbClr val="01123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