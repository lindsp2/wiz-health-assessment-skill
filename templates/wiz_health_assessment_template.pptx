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 id="2147483693" r:id="rId2"/>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9144000" cy="5143500" type="screen16x9"/>
  <p:notesSz cx="6858000" cy="9144000"/>
  <p:embeddedFontLst>
    <p:embeddedFont>
      <p:font typeface="DM Sans" pitchFamily="2" charset="0"/>
      <p:regular r:id="rId27"/>
      <p:bold r:id="rId28"/>
      <p:italic r:id="rId29"/>
      <p:boldItalic r:id="rId30"/>
    </p:embeddedFont>
    <p:embeddedFont>
      <p:font typeface="DM Sans Medium" pitchFamily="2" charset="0"/>
      <p:regular r:id="rId31"/>
      <p:bold r:id="rId32"/>
      <p:italic r:id="rId33"/>
      <p:boldItalic r:id="rId34"/>
    </p:embeddedFont>
    <p:embeddedFont>
      <p:font typeface="JetBrains Mono" panose="020B0604020202020204" charset="0"/>
      <p:regular r:id="rId35"/>
      <p:bold r:id="rId36"/>
      <p:italic r:id="rId37"/>
      <p:boldItalic r:id="rId38"/>
    </p:embeddedFont>
    <p:embeddedFont>
      <p:font typeface="Poppins" panose="00000500000000000000" pitchFamily="2" charset="0"/>
      <p:regular r:id="rId39"/>
      <p:bold r:id="rId40"/>
      <p:italic r:id="rId41"/>
      <p:boldItalic r:id="rId42"/>
    </p:embeddedFont>
    <p:embeddedFont>
      <p:font typeface="Poppins Light" panose="00000400000000000000" pitchFamily="2" charset="0"/>
      <p:regular r:id="rId43"/>
      <p:bold r:id="rId44"/>
      <p:italic r:id="rId45"/>
      <p:boldItalic r:id="rId46"/>
    </p:embeddedFont>
    <p:embeddedFont>
      <p:font typeface="Poppins SemiBold" panose="00000700000000000000" pitchFamily="2"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54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0" d="100"/>
          <a:sy n="120" d="100"/>
        </p:scale>
        <p:origin x="56"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font" Target="fonts/font13.fntdata"/><Relationship Id="rId21" Type="http://schemas.openxmlformats.org/officeDocument/2006/relationships/slide" Target="slides/slide19.xml"/><Relationship Id="rId34" Type="http://schemas.openxmlformats.org/officeDocument/2006/relationships/font" Target="fonts/font8.fntdata"/><Relationship Id="rId42" Type="http://schemas.openxmlformats.org/officeDocument/2006/relationships/font" Target="fonts/font16.fntdata"/><Relationship Id="rId47" Type="http://schemas.openxmlformats.org/officeDocument/2006/relationships/font" Target="fonts/font21.fntdata"/><Relationship Id="rId50" Type="http://schemas.openxmlformats.org/officeDocument/2006/relationships/font" Target="fonts/font24.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font" Target="fonts/font3.fntdata"/><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font" Target="fonts/font14.fntdata"/><Relationship Id="rId45" Type="http://schemas.openxmlformats.org/officeDocument/2006/relationships/font" Target="fonts/font19.fntdata"/><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4" Type="http://schemas.openxmlformats.org/officeDocument/2006/relationships/font" Target="fonts/font18.fntdata"/><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schemas.openxmlformats.org/officeDocument/2006/relationships/font" Target="fonts/font17.fntdata"/><Relationship Id="rId48" Type="http://schemas.openxmlformats.org/officeDocument/2006/relationships/font" Target="fonts/font22.fntdata"/><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font" Target="fonts/font12.fntdata"/><Relationship Id="rId46"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font" Target="fonts/font15.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font" Target="fonts/font10.fntdata"/><Relationship Id="rId49" Type="http://schemas.openxmlformats.org/officeDocument/2006/relationships/font" Target="fonts/font2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 name="Google Shape;234;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235" name="Google Shape;235;p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381000" lvl="0" indent="-298450" algn="l" rtl="0">
              <a:lnSpc>
                <a:spcPct val="115000"/>
              </a:lnSpc>
              <a:spcBef>
                <a:spcPts val="1200"/>
              </a:spcBef>
              <a:spcAft>
                <a:spcPts val="0"/>
              </a:spcAft>
              <a:buClr>
                <a:schemeClr val="dk1"/>
              </a:buClr>
              <a:buSzPts val="1100"/>
              <a:buChar char="-"/>
            </a:pPr>
            <a:endParaRPr>
              <a:solidFill>
                <a:schemeClr val="dk1"/>
              </a:solidFill>
            </a:endParaRPr>
          </a:p>
        </p:txBody>
      </p:sp>
      <p:sp>
        <p:nvSpPr>
          <p:cNvPr id="245" name="Google Shape;245;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288" name="Google Shape;288;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5" name="Google Shape;385;p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386" name="Google Shape;386;p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3" name="Google Shape;43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434" name="Google Shape;43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8" name="Google Shape;498;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499" name="Google Shape;499;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588" name="Google Shape;588;p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00" name="Google Shape;600;p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2" name="Google Shape;612;p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13" name="Google Shape;613;p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2" name="Google Shape;622;p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623" name="Google Shape;623;p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1" name="Google Shape;631;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632" name="Google Shape;632;p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1" name="Google Shape;671;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672" name="Google Shape;672;p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4" name="Google Shape;714;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15" name="Google Shape;715;p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p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750" name="Google Shape;750;p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59" name="Google Shape;759;p1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8" name="Google Shape;848;p1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849" name="Google Shape;849;p1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17: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7" name="Google Shape;857;p1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58" name="Google Shape;858;p1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p1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1" name="Google Shape;1011;p1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12" name="Google Shape;1012;p1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p19: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03" name="Google Shape;1203;p1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204" name="Google Shape;1204;p1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3"/>
        <p:cNvGrpSpPr/>
        <p:nvPr/>
      </p:nvGrpSpPr>
      <p:grpSpPr>
        <a:xfrm>
          <a:off x="0" y="0"/>
          <a:ext cx="0" cy="0"/>
          <a:chOff x="0" y="0"/>
          <a:chExt cx="0" cy="0"/>
        </a:xfrm>
      </p:grpSpPr>
      <p:sp>
        <p:nvSpPr>
          <p:cNvPr id="1334" name="Google Shape;133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5" name="Google Shape;1335;p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36" name="Google Shape;1336;p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56" name="Google Shape;1356;p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0" algn="l" rtl="0">
              <a:lnSpc>
                <a:spcPct val="100000"/>
              </a:lnSpc>
              <a:spcBef>
                <a:spcPts val="0"/>
              </a:spcBef>
              <a:spcAft>
                <a:spcPts val="0"/>
              </a:spcAft>
              <a:buSzPts val="1100"/>
              <a:buNone/>
            </a:pPr>
            <a:endParaRPr/>
          </a:p>
        </p:txBody>
      </p:sp>
      <p:sp>
        <p:nvSpPr>
          <p:cNvPr id="1357" name="Google Shape;1357;p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6"/>
        <p:cNvGrpSpPr/>
        <p:nvPr/>
      </p:nvGrpSpPr>
      <p:grpSpPr>
        <a:xfrm>
          <a:off x="0" y="0"/>
          <a:ext cx="0" cy="0"/>
          <a:chOff x="0" y="0"/>
          <a:chExt cx="0" cy="0"/>
        </a:xfrm>
      </p:grpSpPr>
      <p:sp>
        <p:nvSpPr>
          <p:cNvPr id="1387" name="Google Shape;1387;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88" name="Google Shape;1388;p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89" name="Google Shape;1389;p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7"/>
        <p:cNvGrpSpPr/>
        <p:nvPr/>
      </p:nvGrpSpPr>
      <p:grpSpPr>
        <a:xfrm>
          <a:off x="0" y="0"/>
          <a:ext cx="0" cy="0"/>
          <a:chOff x="0" y="0"/>
          <a:chExt cx="0" cy="0"/>
        </a:xfrm>
      </p:grpSpPr>
      <p:sp>
        <p:nvSpPr>
          <p:cNvPr id="1408" name="Google Shape;1408;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9" name="Google Shape;1409;p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410" name="Google Shape;1410;p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_Blank">
  <p:cSld name="Opening_Blank">
    <p:bg>
      <p:bgPr>
        <a:solidFill>
          <a:srgbClr val="0254EC"/>
        </a:solidFill>
        <a:effectLst/>
      </p:bgPr>
    </p:bg>
    <p:spTree>
      <p:nvGrpSpPr>
        <p:cNvPr id="1" name="Shape 9"/>
        <p:cNvGrpSpPr/>
        <p:nvPr/>
      </p:nvGrpSpPr>
      <p:grpSpPr>
        <a:xfrm>
          <a:off x="0" y="0"/>
          <a:ext cx="0" cy="0"/>
          <a:chOff x="0" y="0"/>
          <a:chExt cx="0" cy="0"/>
        </a:xfrm>
      </p:grpSpPr>
      <p:pic>
        <p:nvPicPr>
          <p:cNvPr id="10" name="Google Shape;10;p2" title="bg_blue.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23 1">
  <p:cSld name="ONE_COLUMN_TEXT_1">
    <p:spTree>
      <p:nvGrpSpPr>
        <p:cNvPr id="1" name="Shape 11"/>
        <p:cNvGrpSpPr/>
        <p:nvPr/>
      </p:nvGrpSpPr>
      <p:grpSpPr>
        <a:xfrm>
          <a:off x="0" y="0"/>
          <a:ext cx="0" cy="0"/>
          <a:chOff x="0" y="0"/>
          <a:chExt cx="0" cy="0"/>
        </a:xfrm>
      </p:grpSpPr>
      <p:pic>
        <p:nvPicPr>
          <p:cNvPr id="12" name="Google Shape;12;p3" title="bg6.png"/>
          <p:cNvPicPr preferRelativeResize="0"/>
          <p:nvPr/>
        </p:nvPicPr>
        <p:blipFill rotWithShape="1">
          <a:blip r:embed="rId2">
            <a:alphaModFix/>
          </a:blip>
          <a:srcRect/>
          <a:stretch/>
        </p:blipFill>
        <p:spPr>
          <a:xfrm>
            <a:off x="0" y="10"/>
            <a:ext cx="9144003" cy="5143490"/>
          </a:xfrm>
          <a:prstGeom prst="rect">
            <a:avLst/>
          </a:prstGeom>
          <a:noFill/>
          <a:ln>
            <a:noFill/>
          </a:ln>
        </p:spPr>
      </p:pic>
      <p:sp>
        <p:nvSpPr>
          <p:cNvPr id="13" name="Google Shape;13;p3"/>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23">
  <p:cSld name="ONE_COLUMN_TEXT">
    <p:spTree>
      <p:nvGrpSpPr>
        <p:cNvPr id="1" name="Shape 14"/>
        <p:cNvGrpSpPr/>
        <p:nvPr/>
      </p:nvGrpSpPr>
      <p:grpSpPr>
        <a:xfrm>
          <a:off x="0" y="0"/>
          <a:ext cx="0" cy="0"/>
          <a:chOff x="0" y="0"/>
          <a:chExt cx="0" cy="0"/>
        </a:xfrm>
      </p:grpSpPr>
      <p:pic>
        <p:nvPicPr>
          <p:cNvPr id="15" name="Google Shape;15;p4" title="bg6.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pic>
        <p:nvPicPr>
          <p:cNvPr id="17" name="Google Shape;17;p5" title="bg2.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8"/>
        <p:cNvGrpSpPr/>
        <p:nvPr/>
      </p:nvGrpSpPr>
      <p:grpSpPr>
        <a:xfrm>
          <a:off x="0" y="0"/>
          <a:ext cx="0" cy="0"/>
          <a:chOff x="0" y="0"/>
          <a:chExt cx="0" cy="0"/>
        </a:xfrm>
      </p:grpSpPr>
      <p:pic>
        <p:nvPicPr>
          <p:cNvPr id="19" name="Google Shape;19;p6" title="bg_blue2.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pic>
        <p:nvPicPr>
          <p:cNvPr id="21" name="Google Shape;21;p7" title="bg1.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pic>
        <p:nvPicPr>
          <p:cNvPr id="23" name="Google Shape;23;p8" title="bg3.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9" title="bg4.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pic>
        <p:nvPicPr>
          <p:cNvPr id="27" name="Google Shape;27;p10" title="bg5.png"/>
          <p:cNvPicPr preferRelativeResize="0"/>
          <p:nvPr/>
        </p:nvPicPr>
        <p:blipFill rotWithShape="1">
          <a:blip r:embed="rId2">
            <a:alphaModFix/>
          </a:blip>
          <a:srcRect/>
          <a:stretch/>
        </p:blipFill>
        <p:spPr>
          <a:xfrm>
            <a:off x="0" y="-10"/>
            <a:ext cx="9144003" cy="521493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8"/>
        <p:cNvGrpSpPr/>
        <p:nvPr/>
      </p:nvGrpSpPr>
      <p:grpSpPr>
        <a:xfrm>
          <a:off x="0" y="0"/>
          <a:ext cx="0" cy="0"/>
          <a:chOff x="0" y="0"/>
          <a:chExt cx="0" cy="0"/>
        </a:xfrm>
      </p:grpSpPr>
      <p:sp>
        <p:nvSpPr>
          <p:cNvPr id="29" name="Google Shape;29;p1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0" name="Google Shape;30;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1"/>
        <p:cNvGrpSpPr/>
        <p:nvPr/>
      </p:nvGrpSpPr>
      <p:grpSpPr>
        <a:xfrm>
          <a:off x="0" y="0"/>
          <a:ext cx="0" cy="0"/>
          <a:chOff x="0" y="0"/>
          <a:chExt cx="0" cy="0"/>
        </a:xfrm>
      </p:grpSpPr>
      <p:sp>
        <p:nvSpPr>
          <p:cNvPr id="32" name="Google Shape;32;p1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 name="Google Shape;33;p1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4" name="Google Shape;34;p1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 name="Google Shape;35;p1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6" name="Google Shape;36;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7"/>
        <p:cNvGrpSpPr/>
        <p:nvPr/>
      </p:nvGrpSpPr>
      <p:grpSpPr>
        <a:xfrm>
          <a:off x="0" y="0"/>
          <a:ext cx="0" cy="0"/>
          <a:chOff x="0" y="0"/>
          <a:chExt cx="0" cy="0"/>
        </a:xfrm>
      </p:grpSpPr>
      <p:sp>
        <p:nvSpPr>
          <p:cNvPr id="38" name="Google Shape;38;p1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39" name="Google Shape;39;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0"/>
        <p:cNvGrpSpPr/>
        <p:nvPr/>
      </p:nvGrpSpPr>
      <p:grpSpPr>
        <a:xfrm>
          <a:off x="0" y="0"/>
          <a:ext cx="0" cy="0"/>
          <a:chOff x="0" y="0"/>
          <a:chExt cx="0" cy="0"/>
        </a:xfrm>
      </p:grpSpPr>
      <p:sp>
        <p:nvSpPr>
          <p:cNvPr id="41" name="Google Shape;41;p1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2" name="Google Shape;42;p1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3" name="Google Shape;43;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i">
  <p:cSld name="ONE_COLUMN_TEXT_1_1">
    <p:spTree>
      <p:nvGrpSpPr>
        <p:cNvPr id="1" name="Shape 46"/>
        <p:cNvGrpSpPr/>
        <p:nvPr/>
      </p:nvGrpSpPr>
      <p:grpSpPr>
        <a:xfrm>
          <a:off x="0" y="0"/>
          <a:ext cx="0" cy="0"/>
          <a:chOff x="0" y="0"/>
          <a:chExt cx="0" cy="0"/>
        </a:xfrm>
      </p:grpSpPr>
      <p:pic>
        <p:nvPicPr>
          <p:cNvPr id="47" name="Google Shape;47;p16" title="bg7.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3"/>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_Title and Content (2/3) Light">
  <p:cSld name="Title and Content (2/3) Light">
    <p:spTree>
      <p:nvGrpSpPr>
        <p:cNvPr id="1" name="Shape 54"/>
        <p:cNvGrpSpPr/>
        <p:nvPr/>
      </p:nvGrpSpPr>
      <p:grpSpPr>
        <a:xfrm>
          <a:off x="0" y="0"/>
          <a:ext cx="0" cy="0"/>
          <a:chOff x="0" y="0"/>
          <a:chExt cx="0" cy="0"/>
        </a:xfrm>
      </p:grpSpPr>
      <p:sp>
        <p:nvSpPr>
          <p:cNvPr id="55" name="Google Shape;55;p19"/>
          <p:cNvSpPr/>
          <p:nvPr/>
        </p:nvSpPr>
        <p:spPr>
          <a:xfrm>
            <a:off x="-4188"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56" name="Google Shape;56;p19"/>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7" name="Google Shape;57;p19"/>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58" name="Google Shape;58;p1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_Divider Slide">
  <p:cSld name="Divider Slide">
    <p:spTree>
      <p:nvGrpSpPr>
        <p:cNvPr id="1" name="Shape 59"/>
        <p:cNvGrpSpPr/>
        <p:nvPr/>
      </p:nvGrpSpPr>
      <p:grpSpPr>
        <a:xfrm>
          <a:off x="0" y="0"/>
          <a:ext cx="0" cy="0"/>
          <a:chOff x="0" y="0"/>
          <a:chExt cx="0" cy="0"/>
        </a:xfrm>
      </p:grpSpPr>
      <p:pic>
        <p:nvPicPr>
          <p:cNvPr id="60" name="Google Shape;60;p20"/>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1" name="Google Shape;61;p20"/>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62" name="Google Shape;62;p20"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hite background_Plain">
  <p:cSld name="White background_Plain">
    <p:spTree>
      <p:nvGrpSpPr>
        <p:cNvPr id="1" name="Shape 63"/>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_Title Slide + Name">
  <p:cSld name="Title Slide + Name">
    <p:bg>
      <p:bgPr>
        <a:solidFill>
          <a:schemeClr val="dk2"/>
        </a:solidFill>
        <a:effectLst/>
      </p:bgPr>
    </p:bg>
    <p:spTree>
      <p:nvGrpSpPr>
        <p:cNvPr id="1" name="Shape 64"/>
        <p:cNvGrpSpPr/>
        <p:nvPr/>
      </p:nvGrpSpPr>
      <p:grpSpPr>
        <a:xfrm>
          <a:off x="0" y="0"/>
          <a:ext cx="0" cy="0"/>
          <a:chOff x="0" y="0"/>
          <a:chExt cx="0" cy="0"/>
        </a:xfrm>
      </p:grpSpPr>
      <p:sp>
        <p:nvSpPr>
          <p:cNvPr id="65" name="Google Shape;65;p22"/>
          <p:cNvSpPr txBox="1">
            <a:spLocks noGrp="1"/>
          </p:cNvSpPr>
          <p:nvPr>
            <p:ph type="ctrTitle"/>
          </p:nvPr>
        </p:nvSpPr>
        <p:spPr>
          <a:xfrm>
            <a:off x="716304" y="1261139"/>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66" name="Google Shape;66;p22"/>
          <p:cNvSpPr txBox="1">
            <a:spLocks noGrp="1"/>
          </p:cNvSpPr>
          <p:nvPr>
            <p:ph type="subTitle" idx="1"/>
          </p:nvPr>
        </p:nvSpPr>
        <p:spPr>
          <a:xfrm>
            <a:off x="716304" y="232276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67" name="Google Shape;67;p22"/>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68" name="Google Shape;68;p22"/>
          <p:cNvPicPr preferRelativeResize="0"/>
          <p:nvPr/>
        </p:nvPicPr>
        <p:blipFill rotWithShape="1">
          <a:blip r:embed="rId3">
            <a:alphaModFix/>
          </a:blip>
          <a:srcRect/>
          <a:stretch/>
        </p:blipFill>
        <p:spPr>
          <a:xfrm>
            <a:off x="5693291" y="1210831"/>
            <a:ext cx="2822062" cy="2877556"/>
          </a:xfrm>
          <a:prstGeom prst="rect">
            <a:avLst/>
          </a:prstGeom>
          <a:noFill/>
          <a:ln>
            <a:noFill/>
          </a:ln>
        </p:spPr>
      </p:pic>
      <p:sp>
        <p:nvSpPr>
          <p:cNvPr id="69" name="Google Shape;69;p22"/>
          <p:cNvSpPr>
            <a:spLocks noGrp="1"/>
          </p:cNvSpPr>
          <p:nvPr>
            <p:ph type="pic" idx="2"/>
          </p:nvPr>
        </p:nvSpPr>
        <p:spPr>
          <a:xfrm>
            <a:off x="716304" y="3312109"/>
            <a:ext cx="714600" cy="714600"/>
          </a:xfrm>
          <a:prstGeom prst="ellipse">
            <a:avLst/>
          </a:prstGeom>
          <a:noFill/>
          <a:ln w="12700" cap="flat" cmpd="sng">
            <a:solidFill>
              <a:schemeClr val="lt1"/>
            </a:solidFill>
            <a:prstDash val="solid"/>
            <a:round/>
            <a:headEnd type="none" w="sm" len="sm"/>
            <a:tailEnd type="none" w="sm" len="sm"/>
          </a:ln>
        </p:spPr>
      </p:sp>
      <p:sp>
        <p:nvSpPr>
          <p:cNvPr id="70" name="Google Shape;70;p22"/>
          <p:cNvSpPr txBox="1">
            <a:spLocks noGrp="1"/>
          </p:cNvSpPr>
          <p:nvPr>
            <p:ph type="body" idx="3"/>
          </p:nvPr>
        </p:nvSpPr>
        <p:spPr>
          <a:xfrm>
            <a:off x="1531868" y="3442481"/>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400"/>
              <a:buNone/>
              <a:defRPr sz="14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71" name="Google Shape;71;p22"/>
          <p:cNvSpPr txBox="1">
            <a:spLocks noGrp="1"/>
          </p:cNvSpPr>
          <p:nvPr>
            <p:ph type="body" idx="4"/>
          </p:nvPr>
        </p:nvSpPr>
        <p:spPr>
          <a:xfrm>
            <a:off x="1531868" y="3657984"/>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100"/>
              <a:buNone/>
              <a:defRPr sz="11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A_Title Slide 1">
  <p:cSld name="Title Slide 1">
    <p:bg>
      <p:bgPr>
        <a:solidFill>
          <a:schemeClr val="dk2"/>
        </a:solidFill>
        <a:effectLst/>
      </p:bgPr>
    </p:bg>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74" name="Google Shape;74;p23"/>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75" name="Google Shape;75;p23"/>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76" name="Google Shape;76;p23"/>
          <p:cNvPicPr preferRelativeResize="0"/>
          <p:nvPr/>
        </p:nvPicPr>
        <p:blipFill rotWithShape="1">
          <a:blip r:embed="rId3">
            <a:alphaModFix/>
          </a:blip>
          <a:srcRect/>
          <a:stretch/>
        </p:blipFill>
        <p:spPr>
          <a:xfrm>
            <a:off x="5693291" y="1210831"/>
            <a:ext cx="2822062" cy="2877556"/>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_Title Slide 2">
  <p:cSld name="Title Slide 2">
    <p:spTree>
      <p:nvGrpSpPr>
        <p:cNvPr id="1" name="Shape 77"/>
        <p:cNvGrpSpPr/>
        <p:nvPr/>
      </p:nvGrpSpPr>
      <p:grpSpPr>
        <a:xfrm>
          <a:off x="0" y="0"/>
          <a:ext cx="0" cy="0"/>
          <a:chOff x="0" y="0"/>
          <a:chExt cx="0" cy="0"/>
        </a:xfrm>
      </p:grpSpPr>
      <p:pic>
        <p:nvPicPr>
          <p:cNvPr id="78" name="Google Shape;78;p24"/>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79" name="Google Shape;79;p24"/>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0" name="Google Shape;80;p24"/>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1" name="Google Shape;81;p24"/>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_Title Slide 3">
  <p:cSld name="1_Title Slide 2">
    <p:spTree>
      <p:nvGrpSpPr>
        <p:cNvPr id="1" name="Shape 82"/>
        <p:cNvGrpSpPr/>
        <p:nvPr/>
      </p:nvGrpSpPr>
      <p:grpSpPr>
        <a:xfrm>
          <a:off x="0" y="0"/>
          <a:ext cx="0" cy="0"/>
          <a:chOff x="0" y="0"/>
          <a:chExt cx="0" cy="0"/>
        </a:xfrm>
      </p:grpSpPr>
      <p:pic>
        <p:nvPicPr>
          <p:cNvPr id="83" name="Google Shape;83;p25"/>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4" name="Google Shape;84;p25"/>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5" name="Google Shape;85;p25"/>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6" name="Google Shape;86;p25"/>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_Title Slide 4">
  <p:cSld name="2_Title Slide 2">
    <p:spTree>
      <p:nvGrpSpPr>
        <p:cNvPr id="1" name="Shape 87"/>
        <p:cNvGrpSpPr/>
        <p:nvPr/>
      </p:nvGrpSpPr>
      <p:grpSpPr>
        <a:xfrm>
          <a:off x="0" y="0"/>
          <a:ext cx="0" cy="0"/>
          <a:chOff x="0" y="0"/>
          <a:chExt cx="0" cy="0"/>
        </a:xfrm>
      </p:grpSpPr>
      <p:pic>
        <p:nvPicPr>
          <p:cNvPr id="88" name="Google Shape;88;p2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9" name="Google Shape;89;p26"/>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26"/>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91" name="Google Shape;91;p26"/>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_Title and Content (3/2) Blue">
  <p:cSld name="Title and Content (3/2) Blue">
    <p:bg>
      <p:bgPr>
        <a:blipFill>
          <a:blip r:embed="rId2">
            <a:alphaModFix/>
          </a:blip>
          <a:stretch>
            <a:fillRect/>
          </a:stretch>
        </a:blipFill>
        <a:effectLst/>
      </p:bgPr>
    </p:bg>
    <p:spTree>
      <p:nvGrpSpPr>
        <p:cNvPr id="1" name="Shape 92"/>
        <p:cNvGrpSpPr/>
        <p:nvPr/>
      </p:nvGrpSpPr>
      <p:grpSpPr>
        <a:xfrm>
          <a:off x="0" y="0"/>
          <a:ext cx="0" cy="0"/>
          <a:chOff x="0" y="0"/>
          <a:chExt cx="0" cy="0"/>
        </a:xfrm>
      </p:grpSpPr>
      <p:sp>
        <p:nvSpPr>
          <p:cNvPr id="93" name="Google Shape;93;p27"/>
          <p:cNvSpPr/>
          <p:nvPr/>
        </p:nvSpPr>
        <p:spPr>
          <a:xfrm>
            <a:off x="6066275"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94" name="Google Shape;94;p2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95" name="Google Shape;95;p27"/>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6" name="Google Shape;96;p27"/>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97" name="Google Shape;97;p27"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extLst>
    <p:ext uri="{DCECCB84-F9BA-43D5-87BE-67443E8EF086}">
      <p15:sldGuideLst xmlns:p15="http://schemas.microsoft.com/office/powerpoint/2012/main">
        <p15:guide id="1" pos="4918">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_Title and Content" type="obj">
  <p:cSld name="OBJECT">
    <p:spTree>
      <p:nvGrpSpPr>
        <p:cNvPr id="1" name="Shape 98"/>
        <p:cNvGrpSpPr/>
        <p:nvPr/>
      </p:nvGrpSpPr>
      <p:grpSpPr>
        <a:xfrm>
          <a:off x="0" y="0"/>
          <a:ext cx="0" cy="0"/>
          <a:chOff x="0" y="0"/>
          <a:chExt cx="0" cy="0"/>
        </a:xfrm>
      </p:grpSpPr>
      <p:sp>
        <p:nvSpPr>
          <p:cNvPr id="99" name="Google Shape;99;p28"/>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28"/>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_Title and Content (1/2) Light">
  <p:cSld name="Title and Content (1/2) Light">
    <p:spTree>
      <p:nvGrpSpPr>
        <p:cNvPr id="1" name="Shape 101"/>
        <p:cNvGrpSpPr/>
        <p:nvPr/>
      </p:nvGrpSpPr>
      <p:grpSpPr>
        <a:xfrm>
          <a:off x="0" y="0"/>
          <a:ext cx="0" cy="0"/>
          <a:chOff x="0" y="0"/>
          <a:chExt cx="0" cy="0"/>
        </a:xfrm>
      </p:grpSpPr>
      <p:sp>
        <p:nvSpPr>
          <p:cNvPr id="102" name="Google Shape;102;p29"/>
          <p:cNvSpPr/>
          <p:nvPr/>
        </p:nvSpPr>
        <p:spPr>
          <a:xfrm>
            <a:off x="4572000" y="0"/>
            <a:ext cx="45720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3" name="Google Shape;103;p29"/>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29"/>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05" name="Google Shape;105;p2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06" name="Google Shape;106;p29"/>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_Title and Content (1/2) Blue">
  <p:cSld name="Title and Content (1/2) Blue">
    <p:spTree>
      <p:nvGrpSpPr>
        <p:cNvPr id="1" name="Shape 107"/>
        <p:cNvGrpSpPr/>
        <p:nvPr/>
      </p:nvGrpSpPr>
      <p:grpSpPr>
        <a:xfrm>
          <a:off x="0" y="0"/>
          <a:ext cx="0" cy="0"/>
          <a:chOff x="0" y="0"/>
          <a:chExt cx="0" cy="0"/>
        </a:xfrm>
      </p:grpSpPr>
      <p:sp>
        <p:nvSpPr>
          <p:cNvPr id="108" name="Google Shape;108;p30"/>
          <p:cNvSpPr/>
          <p:nvPr/>
        </p:nvSpPr>
        <p:spPr>
          <a:xfrm>
            <a:off x="4572000" y="0"/>
            <a:ext cx="45720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9" name="Google Shape;109;p3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10" name="Google Shape;110;p30"/>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30"/>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12" name="Google Shape;112;p30"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_Title and Content (2/3) Blue">
  <p:cSld name="Title and Content (2/3) Blue">
    <p:spTree>
      <p:nvGrpSpPr>
        <p:cNvPr id="1" name="Shape 113"/>
        <p:cNvGrpSpPr/>
        <p:nvPr/>
      </p:nvGrpSpPr>
      <p:grpSpPr>
        <a:xfrm>
          <a:off x="0" y="0"/>
          <a:ext cx="0" cy="0"/>
          <a:chOff x="0" y="0"/>
          <a:chExt cx="0" cy="0"/>
        </a:xfrm>
      </p:grpSpPr>
      <p:sp>
        <p:nvSpPr>
          <p:cNvPr id="114" name="Google Shape;114;p31"/>
          <p:cNvSpPr/>
          <p:nvPr/>
        </p:nvSpPr>
        <p:spPr>
          <a:xfrm>
            <a:off x="-4188"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15" name="Google Shape;115;p31"/>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6" name="Google Shape;116;p31"/>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23850" algn="l">
              <a:lnSpc>
                <a:spcPct val="90000"/>
              </a:lnSpc>
              <a:spcBef>
                <a:spcPts val="800"/>
              </a:spcBef>
              <a:spcAft>
                <a:spcPts val="0"/>
              </a:spcAft>
              <a:buClr>
                <a:schemeClr val="lt1"/>
              </a:buClr>
              <a:buSzPts val="1500"/>
              <a:buChar char="•"/>
              <a:defRPr>
                <a:solidFill>
                  <a:schemeClr val="lt1"/>
                </a:solidFill>
              </a:defRPr>
            </a:lvl1pPr>
            <a:lvl2pPr marL="914400" lvl="1" indent="-317500" algn="l">
              <a:lnSpc>
                <a:spcPct val="90000"/>
              </a:lnSpc>
              <a:spcBef>
                <a:spcPts val="400"/>
              </a:spcBef>
              <a:spcAft>
                <a:spcPts val="0"/>
              </a:spcAft>
              <a:buClr>
                <a:schemeClr val="lt1"/>
              </a:buClr>
              <a:buSzPts val="1400"/>
              <a:buChar char="•"/>
              <a:defRPr>
                <a:solidFill>
                  <a:schemeClr val="lt1"/>
                </a:solidFill>
              </a:defRPr>
            </a:lvl2pPr>
            <a:lvl3pPr marL="1371600" lvl="2" indent="-304800" algn="l">
              <a:lnSpc>
                <a:spcPct val="90000"/>
              </a:lnSpc>
              <a:spcBef>
                <a:spcPts val="400"/>
              </a:spcBef>
              <a:spcAft>
                <a:spcPts val="0"/>
              </a:spcAft>
              <a:buClr>
                <a:schemeClr val="lt1"/>
              </a:buClr>
              <a:buSzPts val="1200"/>
              <a:buChar char="•"/>
              <a:defRPr>
                <a:solidFill>
                  <a:schemeClr val="lt1"/>
                </a:solidFill>
              </a:defRPr>
            </a:lvl3pPr>
            <a:lvl4pPr marL="1828800" lvl="3" indent="-298450" algn="l">
              <a:lnSpc>
                <a:spcPct val="90000"/>
              </a:lnSpc>
              <a:spcBef>
                <a:spcPts val="400"/>
              </a:spcBef>
              <a:spcAft>
                <a:spcPts val="0"/>
              </a:spcAft>
              <a:buClr>
                <a:schemeClr val="lt1"/>
              </a:buClr>
              <a:buSzPts val="1100"/>
              <a:buChar char="•"/>
              <a:defRPr>
                <a:solidFill>
                  <a:schemeClr val="lt1"/>
                </a:solidFill>
              </a:defRPr>
            </a:lvl4pPr>
            <a:lvl5pPr marL="2286000" lvl="4" indent="-298450" algn="l">
              <a:lnSpc>
                <a:spcPct val="90000"/>
              </a:lnSpc>
              <a:spcBef>
                <a:spcPts val="400"/>
              </a:spcBef>
              <a:spcAft>
                <a:spcPts val="0"/>
              </a:spcAft>
              <a:buClr>
                <a:schemeClr val="lt1"/>
              </a:buClr>
              <a:buSzPts val="11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117" name="Google Shape;117;p31"/>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18" name="Google Shape;118;p31"/>
          <p:cNvPicPr preferRelativeResize="0"/>
          <p:nvPr/>
        </p:nvPicPr>
        <p:blipFill rotWithShape="1">
          <a:blip r:embed="rId2">
            <a:alphaModFix/>
          </a:blip>
          <a:srcRect/>
          <a:stretch/>
        </p:blipFill>
        <p:spPr>
          <a:xfrm>
            <a:off x="420742" y="4829647"/>
            <a:ext cx="310926" cy="149074"/>
          </a:xfrm>
          <a:prstGeom prst="rect">
            <a:avLst/>
          </a:prstGeom>
          <a:noFill/>
          <a:ln>
            <a:noFill/>
          </a:ln>
        </p:spPr>
      </p:pic>
      <p:pic>
        <p:nvPicPr>
          <p:cNvPr id="119" name="Google Shape;119;p31"/>
          <p:cNvPicPr preferRelativeResize="0"/>
          <p:nvPr/>
        </p:nvPicPr>
        <p:blipFill rotWithShape="1">
          <a:blip r:embed="rId3">
            <a:alphaModFix/>
          </a:blip>
          <a:srcRect/>
          <a:stretch/>
        </p:blipFill>
        <p:spPr>
          <a:xfrm>
            <a:off x="4719311" y="3391372"/>
            <a:ext cx="313335" cy="151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_Title and Content (3/2) Light">
  <p:cSld name="Title and Content (3/2) Light">
    <p:spTree>
      <p:nvGrpSpPr>
        <p:cNvPr id="1" name="Shape 120"/>
        <p:cNvGrpSpPr/>
        <p:nvPr/>
      </p:nvGrpSpPr>
      <p:grpSpPr>
        <a:xfrm>
          <a:off x="0" y="0"/>
          <a:ext cx="0" cy="0"/>
          <a:chOff x="0" y="0"/>
          <a:chExt cx="0" cy="0"/>
        </a:xfrm>
      </p:grpSpPr>
      <p:sp>
        <p:nvSpPr>
          <p:cNvPr id="121" name="Google Shape;121;p32"/>
          <p:cNvSpPr/>
          <p:nvPr/>
        </p:nvSpPr>
        <p:spPr>
          <a:xfrm>
            <a:off x="6066275"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2" name="Google Shape;122;p32"/>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23" name="Google Shape;123;p32"/>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32"/>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25" name="Google Shape;125;p32"/>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_Cards 1">
  <p:cSld name="Cards 1">
    <p:spTree>
      <p:nvGrpSpPr>
        <p:cNvPr id="1" name="Shape 126"/>
        <p:cNvGrpSpPr/>
        <p:nvPr/>
      </p:nvGrpSpPr>
      <p:grpSpPr>
        <a:xfrm>
          <a:off x="0" y="0"/>
          <a:ext cx="0" cy="0"/>
          <a:chOff x="0" y="0"/>
          <a:chExt cx="0" cy="0"/>
        </a:xfrm>
      </p:grpSpPr>
      <p:sp>
        <p:nvSpPr>
          <p:cNvPr id="127" name="Google Shape;127;p33"/>
          <p:cNvSpPr/>
          <p:nvPr/>
        </p:nvSpPr>
        <p:spPr>
          <a:xfrm>
            <a:off x="49293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8" name="Google Shape;128;p33"/>
          <p:cNvSpPr/>
          <p:nvPr/>
        </p:nvSpPr>
        <p:spPr>
          <a:xfrm>
            <a:off x="3378413"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9" name="Google Shape;129;p33"/>
          <p:cNvSpPr/>
          <p:nvPr/>
        </p:nvSpPr>
        <p:spPr>
          <a:xfrm>
            <a:off x="625642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30" name="Google Shape;130;p33"/>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33"/>
          <p:cNvSpPr txBox="1">
            <a:spLocks noGrp="1"/>
          </p:cNvSpPr>
          <p:nvPr>
            <p:ph type="body" idx="1"/>
          </p:nvPr>
        </p:nvSpPr>
        <p:spPr>
          <a:xfrm>
            <a:off x="740774"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2" name="Google Shape;132;p33"/>
          <p:cNvSpPr txBox="1">
            <a:spLocks noGrp="1"/>
          </p:cNvSpPr>
          <p:nvPr>
            <p:ph type="body" idx="2"/>
          </p:nvPr>
        </p:nvSpPr>
        <p:spPr>
          <a:xfrm>
            <a:off x="667264"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3" name="Google Shape;133;p33"/>
          <p:cNvSpPr txBox="1">
            <a:spLocks noGrp="1"/>
          </p:cNvSpPr>
          <p:nvPr>
            <p:ph type="body" idx="3"/>
          </p:nvPr>
        </p:nvSpPr>
        <p:spPr>
          <a:xfrm>
            <a:off x="362576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4" name="Google Shape;134;p33"/>
          <p:cNvSpPr txBox="1">
            <a:spLocks noGrp="1"/>
          </p:cNvSpPr>
          <p:nvPr>
            <p:ph type="body" idx="4"/>
          </p:nvPr>
        </p:nvSpPr>
        <p:spPr>
          <a:xfrm>
            <a:off x="355225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5" name="Google Shape;135;p33"/>
          <p:cNvSpPr txBox="1">
            <a:spLocks noGrp="1"/>
          </p:cNvSpPr>
          <p:nvPr>
            <p:ph type="body" idx="5"/>
          </p:nvPr>
        </p:nvSpPr>
        <p:spPr>
          <a:xfrm>
            <a:off x="650377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6" name="Google Shape;136;p33"/>
          <p:cNvSpPr txBox="1">
            <a:spLocks noGrp="1"/>
          </p:cNvSpPr>
          <p:nvPr>
            <p:ph type="body" idx="6"/>
          </p:nvPr>
        </p:nvSpPr>
        <p:spPr>
          <a:xfrm>
            <a:off x="643026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37" name="Google Shape;137;p33"/>
          <p:cNvCxnSpPr/>
          <p:nvPr/>
        </p:nvCxnSpPr>
        <p:spPr>
          <a:xfrm>
            <a:off x="740774"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8" name="Google Shape;138;p33"/>
          <p:cNvCxnSpPr/>
          <p:nvPr/>
        </p:nvCxnSpPr>
        <p:spPr>
          <a:xfrm>
            <a:off x="3625767"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9" name="Google Shape;139;p33"/>
          <p:cNvCxnSpPr/>
          <p:nvPr/>
        </p:nvCxnSpPr>
        <p:spPr>
          <a:xfrm>
            <a:off x="6503777" y="1847088"/>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_Cards 2">
  <p:cSld name="Cards 2">
    <p:spTree>
      <p:nvGrpSpPr>
        <p:cNvPr id="1" name="Shape 140"/>
        <p:cNvGrpSpPr/>
        <p:nvPr/>
      </p:nvGrpSpPr>
      <p:grpSpPr>
        <a:xfrm>
          <a:off x="0" y="0"/>
          <a:ext cx="0" cy="0"/>
          <a:chOff x="0" y="0"/>
          <a:chExt cx="0" cy="0"/>
        </a:xfrm>
      </p:grpSpPr>
      <p:sp>
        <p:nvSpPr>
          <p:cNvPr id="141" name="Google Shape;141;p34"/>
          <p:cNvSpPr/>
          <p:nvPr/>
        </p:nvSpPr>
        <p:spPr>
          <a:xfrm>
            <a:off x="49293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2" name="Google Shape;142;p34"/>
          <p:cNvSpPr/>
          <p:nvPr/>
        </p:nvSpPr>
        <p:spPr>
          <a:xfrm>
            <a:off x="3378413"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3" name="Google Shape;143;p34"/>
          <p:cNvSpPr/>
          <p:nvPr/>
        </p:nvSpPr>
        <p:spPr>
          <a:xfrm>
            <a:off x="625642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4" name="Google Shape;144;p34"/>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5" name="Google Shape;145;p34"/>
          <p:cNvSpPr txBox="1">
            <a:spLocks noGrp="1"/>
          </p:cNvSpPr>
          <p:nvPr>
            <p:ph type="body" idx="1"/>
          </p:nvPr>
        </p:nvSpPr>
        <p:spPr>
          <a:xfrm>
            <a:off x="740774"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6" name="Google Shape;146;p34"/>
          <p:cNvSpPr txBox="1">
            <a:spLocks noGrp="1"/>
          </p:cNvSpPr>
          <p:nvPr>
            <p:ph type="body" idx="2"/>
          </p:nvPr>
        </p:nvSpPr>
        <p:spPr>
          <a:xfrm>
            <a:off x="66726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7" name="Google Shape;147;p34"/>
          <p:cNvSpPr txBox="1">
            <a:spLocks noGrp="1"/>
          </p:cNvSpPr>
          <p:nvPr>
            <p:ph type="body" idx="3"/>
          </p:nvPr>
        </p:nvSpPr>
        <p:spPr>
          <a:xfrm>
            <a:off x="3626255"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8" name="Google Shape;148;p34"/>
          <p:cNvSpPr txBox="1">
            <a:spLocks noGrp="1"/>
          </p:cNvSpPr>
          <p:nvPr>
            <p:ph type="body" idx="4"/>
          </p:nvPr>
        </p:nvSpPr>
        <p:spPr>
          <a:xfrm>
            <a:off x="3552745"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9" name="Google Shape;149;p34"/>
          <p:cNvSpPr txBox="1">
            <a:spLocks noGrp="1"/>
          </p:cNvSpPr>
          <p:nvPr>
            <p:ph type="body" idx="5"/>
          </p:nvPr>
        </p:nvSpPr>
        <p:spPr>
          <a:xfrm>
            <a:off x="6504263"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0" name="Google Shape;150;p34"/>
          <p:cNvSpPr txBox="1">
            <a:spLocks noGrp="1"/>
          </p:cNvSpPr>
          <p:nvPr>
            <p:ph type="body" idx="6"/>
          </p:nvPr>
        </p:nvSpPr>
        <p:spPr>
          <a:xfrm>
            <a:off x="643075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1" name="Google Shape;151;p34"/>
          <p:cNvSpPr txBox="1">
            <a:spLocks noGrp="1"/>
          </p:cNvSpPr>
          <p:nvPr>
            <p:ph type="body" idx="7"/>
          </p:nvPr>
        </p:nvSpPr>
        <p:spPr>
          <a:xfrm>
            <a:off x="420743" y="812524"/>
            <a:ext cx="8302500" cy="13815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52" name="Google Shape;152;p34"/>
          <p:cNvCxnSpPr/>
          <p:nvPr/>
        </p:nvCxnSpPr>
        <p:spPr>
          <a:xfrm>
            <a:off x="740774"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3" name="Google Shape;153;p34"/>
          <p:cNvCxnSpPr/>
          <p:nvPr/>
        </p:nvCxnSpPr>
        <p:spPr>
          <a:xfrm>
            <a:off x="3628353"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4" name="Google Shape;154;p34"/>
          <p:cNvCxnSpPr/>
          <p:nvPr/>
        </p:nvCxnSpPr>
        <p:spPr>
          <a:xfrm>
            <a:off x="6503777" y="3423224"/>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_Cards 3">
  <p:cSld name="Cards 3">
    <p:spTree>
      <p:nvGrpSpPr>
        <p:cNvPr id="1" name="Shape 155"/>
        <p:cNvGrpSpPr/>
        <p:nvPr/>
      </p:nvGrpSpPr>
      <p:grpSpPr>
        <a:xfrm>
          <a:off x="0" y="0"/>
          <a:ext cx="0" cy="0"/>
          <a:chOff x="0" y="0"/>
          <a:chExt cx="0" cy="0"/>
        </a:xfrm>
      </p:grpSpPr>
      <p:sp>
        <p:nvSpPr>
          <p:cNvPr id="156" name="Google Shape;156;p35"/>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35"/>
          <p:cNvSpPr/>
          <p:nvPr/>
        </p:nvSpPr>
        <p:spPr>
          <a:xfrm>
            <a:off x="4630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58" name="Google Shape;158;p35"/>
          <p:cNvSpPr/>
          <p:nvPr/>
        </p:nvSpPr>
        <p:spPr>
          <a:xfrm>
            <a:off x="10311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59" name="Google Shape;159;p35"/>
          <p:cNvSpPr/>
          <p:nvPr/>
        </p:nvSpPr>
        <p:spPr>
          <a:xfrm>
            <a:off x="25966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0" name="Google Shape;160;p35"/>
          <p:cNvSpPr/>
          <p:nvPr/>
        </p:nvSpPr>
        <p:spPr>
          <a:xfrm>
            <a:off x="31647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1" name="Google Shape;161;p35"/>
          <p:cNvSpPr/>
          <p:nvPr/>
        </p:nvSpPr>
        <p:spPr>
          <a:xfrm>
            <a:off x="47302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2" name="Google Shape;162;p35"/>
          <p:cNvSpPr/>
          <p:nvPr/>
        </p:nvSpPr>
        <p:spPr>
          <a:xfrm>
            <a:off x="52983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3" name="Google Shape;163;p35"/>
          <p:cNvSpPr/>
          <p:nvPr/>
        </p:nvSpPr>
        <p:spPr>
          <a:xfrm>
            <a:off x="68638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4" name="Google Shape;164;p35"/>
          <p:cNvSpPr/>
          <p:nvPr/>
        </p:nvSpPr>
        <p:spPr>
          <a:xfrm>
            <a:off x="74319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5" name="Google Shape;165;p35"/>
          <p:cNvSpPr txBox="1">
            <a:spLocks noGrp="1"/>
          </p:cNvSpPr>
          <p:nvPr>
            <p:ph type="body" idx="1"/>
          </p:nvPr>
        </p:nvSpPr>
        <p:spPr>
          <a:xfrm>
            <a:off x="5725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6" name="Google Shape;166;p35"/>
          <p:cNvSpPr txBox="1">
            <a:spLocks noGrp="1"/>
          </p:cNvSpPr>
          <p:nvPr>
            <p:ph type="body" idx="2"/>
          </p:nvPr>
        </p:nvSpPr>
        <p:spPr>
          <a:xfrm>
            <a:off x="2706160"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7" name="Google Shape;167;p35"/>
          <p:cNvSpPr txBox="1">
            <a:spLocks noGrp="1"/>
          </p:cNvSpPr>
          <p:nvPr>
            <p:ph type="body" idx="3"/>
          </p:nvPr>
        </p:nvSpPr>
        <p:spPr>
          <a:xfrm>
            <a:off x="48397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8" name="Google Shape;168;p35"/>
          <p:cNvSpPr txBox="1">
            <a:spLocks noGrp="1"/>
          </p:cNvSpPr>
          <p:nvPr>
            <p:ph type="body" idx="4"/>
          </p:nvPr>
        </p:nvSpPr>
        <p:spPr>
          <a:xfrm>
            <a:off x="69733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9" name="Google Shape;169;p35"/>
          <p:cNvSpPr txBox="1">
            <a:spLocks noGrp="1"/>
          </p:cNvSpPr>
          <p:nvPr>
            <p:ph type="body" idx="5"/>
          </p:nvPr>
        </p:nvSpPr>
        <p:spPr>
          <a:xfrm>
            <a:off x="572561"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0" name="Google Shape;170;p35"/>
          <p:cNvSpPr txBox="1">
            <a:spLocks noGrp="1"/>
          </p:cNvSpPr>
          <p:nvPr>
            <p:ph type="body" idx="6"/>
          </p:nvPr>
        </p:nvSpPr>
        <p:spPr>
          <a:xfrm>
            <a:off x="27061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1" name="Google Shape;171;p35"/>
          <p:cNvSpPr txBox="1">
            <a:spLocks noGrp="1"/>
          </p:cNvSpPr>
          <p:nvPr>
            <p:ph type="body" idx="7"/>
          </p:nvPr>
        </p:nvSpPr>
        <p:spPr>
          <a:xfrm>
            <a:off x="48397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2" name="Google Shape;172;p35"/>
          <p:cNvSpPr txBox="1">
            <a:spLocks noGrp="1"/>
          </p:cNvSpPr>
          <p:nvPr>
            <p:ph type="body" idx="8"/>
          </p:nvPr>
        </p:nvSpPr>
        <p:spPr>
          <a:xfrm>
            <a:off x="69733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73" name="Google Shape;173;p35"/>
          <p:cNvCxnSpPr/>
          <p:nvPr/>
        </p:nvCxnSpPr>
        <p:spPr>
          <a:xfrm>
            <a:off x="6337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4" name="Google Shape;174;p35"/>
          <p:cNvCxnSpPr/>
          <p:nvPr/>
        </p:nvCxnSpPr>
        <p:spPr>
          <a:xfrm>
            <a:off x="27673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5" name="Google Shape;175;p35"/>
          <p:cNvCxnSpPr/>
          <p:nvPr/>
        </p:nvCxnSpPr>
        <p:spPr>
          <a:xfrm>
            <a:off x="49009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6" name="Google Shape;176;p35"/>
          <p:cNvCxnSpPr/>
          <p:nvPr/>
        </p:nvCxnSpPr>
        <p:spPr>
          <a:xfrm>
            <a:off x="7034558" y="1940821"/>
            <a:ext cx="1535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_Cards 4">
  <p:cSld name="Cards 4">
    <p:spTree>
      <p:nvGrpSpPr>
        <p:cNvPr id="1" name="Shape 177"/>
        <p:cNvGrpSpPr/>
        <p:nvPr/>
      </p:nvGrpSpPr>
      <p:grpSpPr>
        <a:xfrm>
          <a:off x="0" y="0"/>
          <a:ext cx="0" cy="0"/>
          <a:chOff x="0" y="0"/>
          <a:chExt cx="0" cy="0"/>
        </a:xfrm>
      </p:grpSpPr>
      <p:sp>
        <p:nvSpPr>
          <p:cNvPr id="178" name="Google Shape;178;p36"/>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36"/>
          <p:cNvSpPr/>
          <p:nvPr/>
        </p:nvSpPr>
        <p:spPr>
          <a:xfrm>
            <a:off x="7341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0" name="Google Shape;180;p36"/>
          <p:cNvSpPr/>
          <p:nvPr/>
        </p:nvSpPr>
        <p:spPr>
          <a:xfrm>
            <a:off x="4207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1" name="Google Shape;181;p36"/>
          <p:cNvSpPr txBox="1">
            <a:spLocks noGrp="1"/>
          </p:cNvSpPr>
          <p:nvPr>
            <p:ph type="body" idx="1"/>
          </p:nvPr>
        </p:nvSpPr>
        <p:spPr>
          <a:xfrm>
            <a:off x="11907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36"/>
          <p:cNvSpPr/>
          <p:nvPr/>
        </p:nvSpPr>
        <p:spPr>
          <a:xfrm>
            <a:off x="51156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3" name="Google Shape;183;p36"/>
          <p:cNvSpPr/>
          <p:nvPr/>
        </p:nvSpPr>
        <p:spPr>
          <a:xfrm>
            <a:off x="48022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4" name="Google Shape;184;p36"/>
          <p:cNvSpPr txBox="1">
            <a:spLocks noGrp="1"/>
          </p:cNvSpPr>
          <p:nvPr>
            <p:ph type="body" idx="2"/>
          </p:nvPr>
        </p:nvSpPr>
        <p:spPr>
          <a:xfrm>
            <a:off x="55722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5" name="Google Shape;185;p36"/>
          <p:cNvSpPr/>
          <p:nvPr/>
        </p:nvSpPr>
        <p:spPr>
          <a:xfrm>
            <a:off x="7341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6" name="Google Shape;186;p36"/>
          <p:cNvSpPr/>
          <p:nvPr/>
        </p:nvSpPr>
        <p:spPr>
          <a:xfrm>
            <a:off x="4207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7" name="Google Shape;187;p36"/>
          <p:cNvSpPr txBox="1">
            <a:spLocks noGrp="1"/>
          </p:cNvSpPr>
          <p:nvPr>
            <p:ph type="body" idx="3"/>
          </p:nvPr>
        </p:nvSpPr>
        <p:spPr>
          <a:xfrm>
            <a:off x="11907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8" name="Google Shape;188;p36"/>
          <p:cNvSpPr/>
          <p:nvPr/>
        </p:nvSpPr>
        <p:spPr>
          <a:xfrm>
            <a:off x="51156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9" name="Google Shape;189;p36"/>
          <p:cNvSpPr/>
          <p:nvPr/>
        </p:nvSpPr>
        <p:spPr>
          <a:xfrm>
            <a:off x="48022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0" name="Google Shape;190;p36"/>
          <p:cNvSpPr txBox="1">
            <a:spLocks noGrp="1"/>
          </p:cNvSpPr>
          <p:nvPr>
            <p:ph type="body" idx="4"/>
          </p:nvPr>
        </p:nvSpPr>
        <p:spPr>
          <a:xfrm>
            <a:off x="55722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1" name="Google Shape;191;p36"/>
          <p:cNvSpPr/>
          <p:nvPr/>
        </p:nvSpPr>
        <p:spPr>
          <a:xfrm>
            <a:off x="7341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2" name="Google Shape;192;p36"/>
          <p:cNvSpPr/>
          <p:nvPr/>
        </p:nvSpPr>
        <p:spPr>
          <a:xfrm>
            <a:off x="4207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3" name="Google Shape;193;p36"/>
          <p:cNvSpPr txBox="1">
            <a:spLocks noGrp="1"/>
          </p:cNvSpPr>
          <p:nvPr>
            <p:ph type="body" idx="5"/>
          </p:nvPr>
        </p:nvSpPr>
        <p:spPr>
          <a:xfrm>
            <a:off x="11907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36"/>
          <p:cNvSpPr/>
          <p:nvPr/>
        </p:nvSpPr>
        <p:spPr>
          <a:xfrm>
            <a:off x="51156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5" name="Google Shape;195;p36"/>
          <p:cNvSpPr/>
          <p:nvPr/>
        </p:nvSpPr>
        <p:spPr>
          <a:xfrm>
            <a:off x="48022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6" name="Google Shape;196;p36"/>
          <p:cNvSpPr txBox="1">
            <a:spLocks noGrp="1"/>
          </p:cNvSpPr>
          <p:nvPr>
            <p:ph type="body" idx="6"/>
          </p:nvPr>
        </p:nvSpPr>
        <p:spPr>
          <a:xfrm>
            <a:off x="55722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_Testimonials 1">
  <p:cSld name="Testimonials 1">
    <p:bg>
      <p:bgPr>
        <a:solidFill>
          <a:schemeClr val="lt2"/>
        </a:solidFill>
        <a:effectLst/>
      </p:bgPr>
    </p:bg>
    <p:spTree>
      <p:nvGrpSpPr>
        <p:cNvPr id="1" name="Shape 197"/>
        <p:cNvGrpSpPr/>
        <p:nvPr/>
      </p:nvGrpSpPr>
      <p:grpSpPr>
        <a:xfrm>
          <a:off x="0" y="0"/>
          <a:ext cx="0" cy="0"/>
          <a:chOff x="0" y="0"/>
          <a:chExt cx="0" cy="0"/>
        </a:xfrm>
      </p:grpSpPr>
      <p:sp>
        <p:nvSpPr>
          <p:cNvPr id="198" name="Google Shape;198;p37"/>
          <p:cNvSpPr txBox="1">
            <a:spLocks noGrp="1"/>
          </p:cNvSpPr>
          <p:nvPr>
            <p:ph type="title"/>
          </p:nvPr>
        </p:nvSpPr>
        <p:spPr>
          <a:xfrm>
            <a:off x="420743" y="439044"/>
            <a:ext cx="4151400" cy="3672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100"/>
              <a:buFont typeface="DM Sans"/>
              <a:buNone/>
              <a:defRPr sz="11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9" name="Google Shape;199;p37"/>
          <p:cNvSpPr txBox="1">
            <a:spLocks noGrp="1"/>
          </p:cNvSpPr>
          <p:nvPr>
            <p:ph type="body" idx="1"/>
          </p:nvPr>
        </p:nvSpPr>
        <p:spPr>
          <a:xfrm>
            <a:off x="420743" y="821019"/>
            <a:ext cx="4151400" cy="2194200"/>
          </a:xfrm>
          <a:prstGeom prst="rect">
            <a:avLst/>
          </a:prstGeom>
          <a:noFill/>
          <a:ln>
            <a:noFill/>
          </a:ln>
        </p:spPr>
        <p:txBody>
          <a:bodyPr spcFirstLastPara="1" wrap="square" lIns="68575" tIns="34275" rIns="68575" bIns="34275" anchor="t" anchorCtr="0">
            <a:normAutofit/>
          </a:bodyPr>
          <a:lstStyle>
            <a:lvl1pPr marL="457200" lvl="0" indent="-361950" algn="l">
              <a:lnSpc>
                <a:spcPct val="90000"/>
              </a:lnSpc>
              <a:spcBef>
                <a:spcPts val="800"/>
              </a:spcBef>
              <a:spcAft>
                <a:spcPts val="0"/>
              </a:spcAft>
              <a:buClr>
                <a:schemeClr val="dk1"/>
              </a:buClr>
              <a:buSzPts val="2100"/>
              <a:buChar char="•"/>
              <a:defRPr sz="2100"/>
            </a:lvl1pPr>
            <a:lvl2pPr marL="914400" lvl="1" indent="-342900" algn="l">
              <a:lnSpc>
                <a:spcPct val="90000"/>
              </a:lnSpc>
              <a:spcBef>
                <a:spcPts val="400"/>
              </a:spcBef>
              <a:spcAft>
                <a:spcPts val="0"/>
              </a:spcAft>
              <a:buClr>
                <a:schemeClr val="dk1"/>
              </a:buClr>
              <a:buSzPts val="1800"/>
              <a:buChar char="•"/>
              <a:defRPr sz="1800"/>
            </a:lvl2pPr>
            <a:lvl3pPr marL="1371600" lvl="2" indent="-323850" algn="l">
              <a:lnSpc>
                <a:spcPct val="90000"/>
              </a:lnSpc>
              <a:spcBef>
                <a:spcPts val="400"/>
              </a:spcBef>
              <a:spcAft>
                <a:spcPts val="0"/>
              </a:spcAft>
              <a:buClr>
                <a:schemeClr val="dk1"/>
              </a:buClr>
              <a:buSzPts val="1500"/>
              <a:buChar char="•"/>
              <a:defRPr sz="1500"/>
            </a:lvl3pPr>
            <a:lvl4pPr marL="1828800" lvl="3" indent="-317500" algn="l">
              <a:lnSpc>
                <a:spcPct val="90000"/>
              </a:lnSpc>
              <a:spcBef>
                <a:spcPts val="400"/>
              </a:spcBef>
              <a:spcAft>
                <a:spcPts val="0"/>
              </a:spcAft>
              <a:buClr>
                <a:schemeClr val="dk1"/>
              </a:buClr>
              <a:buSzPts val="1400"/>
              <a:buChar char="•"/>
              <a:defRPr sz="1400"/>
            </a:lvl4pPr>
            <a:lvl5pPr marL="2286000" lvl="4" indent="-317500" algn="l">
              <a:lnSpc>
                <a:spcPct val="90000"/>
              </a:lnSpc>
              <a:spcBef>
                <a:spcPts val="400"/>
              </a:spcBef>
              <a:spcAft>
                <a:spcPts val="0"/>
              </a:spcAft>
              <a:buClr>
                <a:schemeClr val="dk1"/>
              </a:buClr>
              <a:buSzPts val="1400"/>
              <a:buChar char="•"/>
              <a:defRPr sz="14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0" name="Google Shape;200;p37"/>
          <p:cNvSpPr>
            <a:spLocks noGrp="1"/>
          </p:cNvSpPr>
          <p:nvPr>
            <p:ph type="pic" idx="2"/>
          </p:nvPr>
        </p:nvSpPr>
        <p:spPr>
          <a:xfrm>
            <a:off x="520220" y="2791738"/>
            <a:ext cx="714600" cy="714600"/>
          </a:xfrm>
          <a:prstGeom prst="ellipse">
            <a:avLst/>
          </a:prstGeom>
          <a:noFill/>
          <a:ln w="12700" cap="flat" cmpd="sng">
            <a:solidFill>
              <a:schemeClr val="dk2"/>
            </a:solidFill>
            <a:prstDash val="solid"/>
            <a:round/>
            <a:headEnd type="none" w="sm" len="sm"/>
            <a:tailEnd type="none" w="sm" len="sm"/>
          </a:ln>
        </p:spPr>
      </p:sp>
      <p:sp>
        <p:nvSpPr>
          <p:cNvPr id="201" name="Google Shape;201;p37"/>
          <p:cNvSpPr txBox="1">
            <a:spLocks noGrp="1"/>
          </p:cNvSpPr>
          <p:nvPr>
            <p:ph type="body" idx="3"/>
          </p:nvPr>
        </p:nvSpPr>
        <p:spPr>
          <a:xfrm>
            <a:off x="1335785" y="2922110"/>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400"/>
              <a:buNone/>
              <a:defRPr sz="14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37"/>
          <p:cNvSpPr txBox="1">
            <a:spLocks noGrp="1"/>
          </p:cNvSpPr>
          <p:nvPr>
            <p:ph type="body" idx="4"/>
          </p:nvPr>
        </p:nvSpPr>
        <p:spPr>
          <a:xfrm>
            <a:off x="1335785" y="3137613"/>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203" name="Google Shape;203;p37" descr="A blue line on a black background  Description automatically generated"/>
          <p:cNvPicPr preferRelativeResize="0"/>
          <p:nvPr/>
        </p:nvPicPr>
        <p:blipFill rotWithShape="1">
          <a:blip r:embed="rId2">
            <a:alphaModFix/>
          </a:blip>
          <a:srcRect/>
          <a:stretch/>
        </p:blipFill>
        <p:spPr>
          <a:xfrm>
            <a:off x="7088382" y="3892490"/>
            <a:ext cx="2055618" cy="1282314"/>
          </a:xfrm>
          <a:prstGeom prst="rect">
            <a:avLst/>
          </a:prstGeom>
          <a:noFill/>
          <a:ln>
            <a:noFill/>
          </a:ln>
        </p:spPr>
      </p:pic>
      <p:pic>
        <p:nvPicPr>
          <p:cNvPr id="204" name="Google Shape;204;p37" descr="A blue line on a black background  Description automatically generated"/>
          <p:cNvPicPr preferRelativeResize="0"/>
          <p:nvPr/>
        </p:nvPicPr>
        <p:blipFill rotWithShape="1">
          <a:blip r:embed="rId3">
            <a:alphaModFix/>
          </a:blip>
          <a:srcRect/>
          <a:stretch/>
        </p:blipFill>
        <p:spPr>
          <a:xfrm rot="10800000">
            <a:off x="0" y="4025113"/>
            <a:ext cx="2669286" cy="1122440"/>
          </a:xfrm>
          <a:prstGeom prst="rect">
            <a:avLst/>
          </a:prstGeom>
          <a:noFill/>
          <a:ln>
            <a:noFill/>
          </a:ln>
        </p:spPr>
      </p:pic>
      <p:sp>
        <p:nvSpPr>
          <p:cNvPr id="205" name="Google Shape;205;p37"/>
          <p:cNvSpPr>
            <a:spLocks noGrp="1"/>
          </p:cNvSpPr>
          <p:nvPr>
            <p:ph type="pic" idx="5"/>
          </p:nvPr>
        </p:nvSpPr>
        <p:spPr>
          <a:xfrm>
            <a:off x="4803425" y="800100"/>
            <a:ext cx="3883500" cy="2171100"/>
          </a:xfrm>
          <a:prstGeom prst="roundRect">
            <a:avLst>
              <a:gd name="adj" fmla="val 4242"/>
            </a:avLst>
          </a:prstGeom>
          <a:noFill/>
          <a:ln>
            <a:noFill/>
          </a:ln>
          <a:effectLst>
            <a:outerShdw dist="66675" dir="7800000" algn="bl" rotWithShape="0">
              <a:schemeClr val="dk2"/>
            </a:outerShdw>
          </a:effectLst>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C_Illustration 1">
  <p:cSld name="Illustration 1">
    <p:spTree>
      <p:nvGrpSpPr>
        <p:cNvPr id="1" name="Shape 206"/>
        <p:cNvGrpSpPr/>
        <p:nvPr/>
      </p:nvGrpSpPr>
      <p:grpSpPr>
        <a:xfrm>
          <a:off x="0" y="0"/>
          <a:ext cx="0" cy="0"/>
          <a:chOff x="0" y="0"/>
          <a:chExt cx="0" cy="0"/>
        </a:xfrm>
      </p:grpSpPr>
      <p:pic>
        <p:nvPicPr>
          <p:cNvPr id="207" name="Google Shape;207;p38"/>
          <p:cNvPicPr preferRelativeResize="0"/>
          <p:nvPr/>
        </p:nvPicPr>
        <p:blipFill rotWithShape="1">
          <a:blip r:embed="rId2">
            <a:alphaModFix/>
          </a:blip>
          <a:srcRect/>
          <a:stretch/>
        </p:blipFill>
        <p:spPr>
          <a:xfrm>
            <a:off x="0" y="0"/>
            <a:ext cx="9144000" cy="5143500"/>
          </a:xfrm>
          <a:prstGeom prst="rect">
            <a:avLst/>
          </a:prstGeom>
          <a:noFill/>
          <a:ln>
            <a:noFill/>
          </a:ln>
        </p:spPr>
      </p:pic>
      <p:pic>
        <p:nvPicPr>
          <p:cNvPr id="208" name="Google Shape;208;p38"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_Plain White">
  <p:cSld name="Plain White">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_Image/Graphic Drop Shadow Asset">
  <p:cSld name="Image/Graphic Drop Shadow Asset">
    <p:bg>
      <p:bgPr>
        <a:solidFill>
          <a:schemeClr val="lt1"/>
        </a:solidFill>
        <a:effectLst/>
      </p:bgPr>
    </p:bg>
    <p:spTree>
      <p:nvGrpSpPr>
        <p:cNvPr id="1" name="Shape 210"/>
        <p:cNvGrpSpPr/>
        <p:nvPr/>
      </p:nvGrpSpPr>
      <p:grpSpPr>
        <a:xfrm>
          <a:off x="0" y="0"/>
          <a:ext cx="0" cy="0"/>
          <a:chOff x="0" y="0"/>
          <a:chExt cx="0" cy="0"/>
        </a:xfrm>
      </p:grpSpPr>
      <p:sp>
        <p:nvSpPr>
          <p:cNvPr id="211" name="Google Shape;211;p4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chemeClr val="lt2"/>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212" name="Google Shape;212;p40"/>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3" name="Google Shape;213;p40"/>
          <p:cNvSpPr>
            <a:spLocks noGrp="1"/>
          </p:cNvSpPr>
          <p:nvPr>
            <p:ph type="pic" idx="2"/>
          </p:nvPr>
        </p:nvSpPr>
        <p:spPr>
          <a:xfrm>
            <a:off x="602200" y="880600"/>
            <a:ext cx="3904800" cy="2194200"/>
          </a:xfrm>
          <a:prstGeom prst="roundRect">
            <a:avLst>
              <a:gd name="adj" fmla="val 3229"/>
            </a:avLst>
          </a:prstGeom>
          <a:noFill/>
          <a:ln>
            <a:noFill/>
          </a:ln>
          <a:effectLst>
            <a:outerShdw dist="69226" dir="7800000" algn="ctr" rotWithShape="0">
              <a:schemeClr val="accent3"/>
            </a:outerShdw>
          </a:effectLst>
        </p:spPr>
      </p:sp>
      <p:sp>
        <p:nvSpPr>
          <p:cNvPr id="214" name="Google Shape;214;p40"/>
          <p:cNvSpPr>
            <a:spLocks noGrp="1"/>
          </p:cNvSpPr>
          <p:nvPr>
            <p:ph type="pic" idx="3"/>
          </p:nvPr>
        </p:nvSpPr>
        <p:spPr>
          <a:xfrm>
            <a:off x="4824700" y="880600"/>
            <a:ext cx="3898500" cy="2194200"/>
          </a:xfrm>
          <a:prstGeom prst="roundRect">
            <a:avLst>
              <a:gd name="adj" fmla="val 3874"/>
            </a:avLst>
          </a:prstGeom>
          <a:noFill/>
          <a:ln>
            <a:noFill/>
          </a:ln>
          <a:effectLst>
            <a:outerShdw dist="69226" dir="7800000" algn="ctr" rotWithShape="0">
              <a:schemeClr val="dk2"/>
            </a:outerShdw>
          </a:effectLst>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_Q&amp;A">
  <p:cSld name="Q&amp;A">
    <p:bg>
      <p:bgPr>
        <a:solidFill>
          <a:schemeClr val="dk2"/>
        </a:solidFill>
        <a:effectLst/>
      </p:bgPr>
    </p:bg>
    <p:spTree>
      <p:nvGrpSpPr>
        <p:cNvPr id="1" name="Shape 215"/>
        <p:cNvGrpSpPr/>
        <p:nvPr/>
      </p:nvGrpSpPr>
      <p:grpSpPr>
        <a:xfrm>
          <a:off x="0" y="0"/>
          <a:ext cx="0" cy="0"/>
          <a:chOff x="0" y="0"/>
          <a:chExt cx="0" cy="0"/>
        </a:xfrm>
      </p:grpSpPr>
      <p:pic>
        <p:nvPicPr>
          <p:cNvPr id="216" name="Google Shape;216;p41" descr="A black and white image of a person  Description automatically generated"/>
          <p:cNvPicPr preferRelativeResize="0"/>
          <p:nvPr/>
        </p:nvPicPr>
        <p:blipFill rotWithShape="1">
          <a:blip r:embed="rId2">
            <a:alphaModFix amt="60000"/>
          </a:blip>
          <a:srcRect/>
          <a:stretch/>
        </p:blipFill>
        <p:spPr>
          <a:xfrm rot="-900001">
            <a:off x="4096523" y="3086333"/>
            <a:ext cx="7191132" cy="2776325"/>
          </a:xfrm>
          <a:prstGeom prst="rect">
            <a:avLst/>
          </a:prstGeom>
          <a:noFill/>
          <a:ln>
            <a:noFill/>
          </a:ln>
        </p:spPr>
      </p:pic>
      <p:sp>
        <p:nvSpPr>
          <p:cNvPr id="217" name="Google Shape;217;p41"/>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218" name="Google Shape;218;p41"/>
          <p:cNvPicPr preferRelativeResize="0"/>
          <p:nvPr/>
        </p:nvPicPr>
        <p:blipFill rotWithShape="1">
          <a:blip r:embed="rId3">
            <a:alphaModFix/>
          </a:blip>
          <a:srcRect/>
          <a:stretch/>
        </p:blipFill>
        <p:spPr>
          <a:xfrm>
            <a:off x="6610333" y="3093755"/>
            <a:ext cx="2374527" cy="1795313"/>
          </a:xfrm>
          <a:prstGeom prst="rect">
            <a:avLst/>
          </a:prstGeom>
          <a:noFill/>
          <a:ln>
            <a:noFill/>
          </a:ln>
        </p:spPr>
      </p:pic>
      <p:pic>
        <p:nvPicPr>
          <p:cNvPr id="219" name="Google Shape;219;p41" title="Logo.png"/>
          <p:cNvPicPr preferRelativeResize="0"/>
          <p:nvPr/>
        </p:nvPicPr>
        <p:blipFill rotWithShape="1">
          <a:blip r:embed="rId4">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_Demo">
  <p:cSld name="Demo">
    <p:bg>
      <p:bgPr>
        <a:solidFill>
          <a:schemeClr val="dk2"/>
        </a:solidFill>
        <a:effectLst/>
      </p:bgPr>
    </p:bg>
    <p:spTree>
      <p:nvGrpSpPr>
        <p:cNvPr id="1" name="Shape 220"/>
        <p:cNvGrpSpPr/>
        <p:nvPr/>
      </p:nvGrpSpPr>
      <p:grpSpPr>
        <a:xfrm>
          <a:off x="0" y="0"/>
          <a:ext cx="0" cy="0"/>
          <a:chOff x="0" y="0"/>
          <a:chExt cx="0" cy="0"/>
        </a:xfrm>
      </p:grpSpPr>
      <p:pic>
        <p:nvPicPr>
          <p:cNvPr id="221" name="Google Shape;221;p42"/>
          <p:cNvPicPr preferRelativeResize="0"/>
          <p:nvPr/>
        </p:nvPicPr>
        <p:blipFill rotWithShape="1">
          <a:blip r:embed="rId2">
            <a:alphaModFix/>
          </a:blip>
          <a:srcRect/>
          <a:stretch/>
        </p:blipFill>
        <p:spPr>
          <a:xfrm>
            <a:off x="0" y="2741"/>
            <a:ext cx="9139128" cy="5140760"/>
          </a:xfrm>
          <a:prstGeom prst="rect">
            <a:avLst/>
          </a:prstGeom>
          <a:noFill/>
          <a:ln>
            <a:noFill/>
          </a:ln>
        </p:spPr>
      </p:pic>
      <p:pic>
        <p:nvPicPr>
          <p:cNvPr id="222" name="Google Shape;222;p42"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0"/>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_Thank you">
  <p:cSld name="Thank you">
    <p:bg>
      <p:bgPr>
        <a:solidFill>
          <a:schemeClr val="dk2"/>
        </a:solidFill>
        <a:effectLst/>
      </p:bgPr>
    </p:bg>
    <p:spTree>
      <p:nvGrpSpPr>
        <p:cNvPr id="1" name="Shape 223"/>
        <p:cNvGrpSpPr/>
        <p:nvPr/>
      </p:nvGrpSpPr>
      <p:grpSpPr>
        <a:xfrm>
          <a:off x="0" y="0"/>
          <a:ext cx="0" cy="0"/>
          <a:chOff x="0" y="0"/>
          <a:chExt cx="0" cy="0"/>
        </a:xfrm>
      </p:grpSpPr>
      <p:pic>
        <p:nvPicPr>
          <p:cNvPr id="224" name="Google Shape;224;p43"/>
          <p:cNvPicPr preferRelativeResize="0"/>
          <p:nvPr/>
        </p:nvPicPr>
        <p:blipFill rotWithShape="1">
          <a:blip r:embed="rId2">
            <a:alphaModFix/>
          </a:blip>
          <a:src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4"/>
                                        </p:tgtEl>
                                        <p:attrNameLst>
                                          <p:attrName>style.visibility</p:attrName>
                                        </p:attrNameLst>
                                      </p:cBhvr>
                                      <p:to>
                                        <p:strVal val="visible"/>
                                      </p:to>
                                    </p:set>
                                    <p:animEffect transition="in" filter="fade">
                                      <p:cBhvr>
                                        <p:cTn id="7" dur="3029"/>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_Plain Blue">
  <p:cSld name="Plain Blue">
    <p:bg>
      <p:bgPr>
        <a:solidFill>
          <a:schemeClr val="dk2"/>
        </a:solidFill>
        <a:effectLst/>
      </p:bgPr>
    </p:bg>
    <p:spTree>
      <p:nvGrpSpPr>
        <p:cNvPr id="1" name="Shape 225"/>
        <p:cNvGrpSpPr/>
        <p:nvPr/>
      </p:nvGrpSpPr>
      <p:grpSpPr>
        <a:xfrm>
          <a:off x="0" y="0"/>
          <a:ext cx="0" cy="0"/>
          <a:chOff x="0" y="0"/>
          <a:chExt cx="0" cy="0"/>
        </a:xfrm>
      </p:grpSpPr>
      <p:pic>
        <p:nvPicPr>
          <p:cNvPr id="226" name="Google Shape;226;p44"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7"/>
        <p:cNvGrpSpPr/>
        <p:nvPr/>
      </p:nvGrpSpPr>
      <p:grpSpPr>
        <a:xfrm>
          <a:off x="0" y="0"/>
          <a:ext cx="0" cy="0"/>
          <a:chOff x="0" y="0"/>
          <a:chExt cx="0" cy="0"/>
        </a:xfrm>
      </p:grpSpPr>
      <p:sp>
        <p:nvSpPr>
          <p:cNvPr id="228" name="Google Shape;228;p45"/>
          <p:cNvSpPr txBox="1">
            <a:spLocks noGrp="1"/>
          </p:cNvSpPr>
          <p:nvPr>
            <p:ph type="ctrTitle"/>
          </p:nvPr>
        </p:nvSpPr>
        <p:spPr>
          <a:xfrm>
            <a:off x="311708" y="744575"/>
            <a:ext cx="8520600" cy="20526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29" name="Google Shape;229;p45"/>
          <p:cNvSpPr txBox="1">
            <a:spLocks noGrp="1"/>
          </p:cNvSpPr>
          <p:nvPr>
            <p:ph type="subTitle" idx="1"/>
          </p:nvPr>
        </p:nvSpPr>
        <p:spPr>
          <a:xfrm>
            <a:off x="311700" y="2834125"/>
            <a:ext cx="8520600" cy="79260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a:endParaRPr/>
          </a:p>
        </p:txBody>
      </p:sp>
      <p:sp>
        <p:nvSpPr>
          <p:cNvPr id="230" name="Google Shape;230;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_Custom Layout">
  <p:cSld name="3_Custom Layout">
    <p:spTree>
      <p:nvGrpSpPr>
        <p:cNvPr id="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 Type="http://schemas.openxmlformats.org/officeDocument/2006/relationships/slideLayout" Target="../slideLayouts/slideLayout18.xml"/><Relationship Id="rId21" Type="http://schemas.openxmlformats.org/officeDocument/2006/relationships/slideLayout" Target="../slideLayouts/slideLayout36.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0" Type="http://schemas.openxmlformats.org/officeDocument/2006/relationships/slideLayout" Target="../slideLayouts/slideLayout35.xml"/><Relationship Id="rId29" Type="http://schemas.openxmlformats.org/officeDocument/2006/relationships/slideLayout" Target="../slideLayouts/slideLayout44.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image" Target="../media/image10.png"/><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
        <p:cNvGrpSpPr/>
        <p:nvPr/>
      </p:nvGrpSpPr>
      <p:grpSpPr>
        <a:xfrm>
          <a:off x="0" y="0"/>
          <a:ext cx="0" cy="0"/>
          <a:chOff x="0" y="0"/>
          <a:chExt cx="0" cy="0"/>
        </a:xfrm>
      </p:grpSpPr>
      <p:sp>
        <p:nvSpPr>
          <p:cNvPr id="49" name="Google Shape;49;p17"/>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2000"/>
              <a:buFont typeface="DM Sans"/>
              <a:buNone/>
              <a:defRPr sz="2000" b="0" i="0" u="none" strike="noStrike" cap="none">
                <a:solidFill>
                  <a:schemeClr val="dk1"/>
                </a:solidFill>
                <a:latin typeface="DM Sans"/>
                <a:ea typeface="DM Sans"/>
                <a:cs typeface="DM Sans"/>
                <a:sym typeface="DM Sans"/>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17"/>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marR="0" lvl="0" indent="-311150" algn="l" rtl="0">
              <a:lnSpc>
                <a:spcPct val="90000"/>
              </a:lnSpc>
              <a:spcBef>
                <a:spcPts val="800"/>
              </a:spcBef>
              <a:spcAft>
                <a:spcPts val="0"/>
              </a:spcAft>
              <a:buClr>
                <a:schemeClr val="dk1"/>
              </a:buClr>
              <a:buSzPts val="1300"/>
              <a:buFont typeface="Arial"/>
              <a:buChar char="•"/>
              <a:defRPr sz="1300" b="0" i="0" u="none" strike="noStrike" cap="none">
                <a:solidFill>
                  <a:schemeClr val="dk1"/>
                </a:solidFill>
                <a:latin typeface="DM Sans"/>
                <a:ea typeface="DM Sans"/>
                <a:cs typeface="DM Sans"/>
                <a:sym typeface="DM Sans"/>
              </a:defRPr>
            </a:lvl1pPr>
            <a:lvl2pPr marL="914400" marR="0" lvl="1" indent="-304800" algn="l" rtl="0">
              <a:lnSpc>
                <a:spcPct val="90000"/>
              </a:lnSpc>
              <a:spcBef>
                <a:spcPts val="400"/>
              </a:spcBef>
              <a:spcAft>
                <a:spcPts val="0"/>
              </a:spcAft>
              <a:buClr>
                <a:schemeClr val="dk1"/>
              </a:buClr>
              <a:buSzPts val="1200"/>
              <a:buFont typeface="Arial"/>
              <a:buChar char="•"/>
              <a:defRPr sz="1200" b="0" i="0" u="none" strike="noStrike" cap="none">
                <a:solidFill>
                  <a:schemeClr val="dk1"/>
                </a:solidFill>
                <a:latin typeface="DM Sans"/>
                <a:ea typeface="DM Sans"/>
                <a:cs typeface="DM Sans"/>
                <a:sym typeface="DM Sans"/>
              </a:defRPr>
            </a:lvl2pPr>
            <a:lvl3pPr marL="1371600" marR="0" lvl="2" indent="-292100" algn="l" rtl="0">
              <a:lnSpc>
                <a:spcPct val="90000"/>
              </a:lnSpc>
              <a:spcBef>
                <a:spcPts val="400"/>
              </a:spcBef>
              <a:spcAft>
                <a:spcPts val="0"/>
              </a:spcAft>
              <a:buClr>
                <a:schemeClr val="dk1"/>
              </a:buClr>
              <a:buSzPts val="1000"/>
              <a:buFont typeface="Arial"/>
              <a:buChar char="•"/>
              <a:defRPr sz="1000" b="0" i="0" u="none" strike="noStrike" cap="none">
                <a:solidFill>
                  <a:schemeClr val="dk1"/>
                </a:solidFill>
                <a:latin typeface="DM Sans"/>
                <a:ea typeface="DM Sans"/>
                <a:cs typeface="DM Sans"/>
                <a:sym typeface="DM Sans"/>
              </a:defRPr>
            </a:lvl3pPr>
            <a:lvl4pPr marL="1828800" marR="0" lvl="3"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4pPr>
            <a:lvl5pPr marL="2286000" marR="0" lvl="4"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5pPr>
            <a:lvl6pPr marL="2743200" marR="0" lvl="5"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6pPr>
            <a:lvl7pPr marL="3200400" marR="0" lvl="6"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7pPr>
            <a:lvl8pPr marL="3657600" marR="0" lvl="7" indent="-273050" algn="l" rtl="0">
              <a:lnSpc>
                <a:spcPct val="90000"/>
              </a:lnSpc>
              <a:spcBef>
                <a:spcPts val="400"/>
              </a:spcBef>
              <a:spcAft>
                <a:spcPts val="0"/>
              </a:spcAft>
              <a:buClr>
                <a:schemeClr val="dk1"/>
              </a:buClr>
              <a:buSzPts val="700"/>
              <a:buFont typeface="Arial"/>
              <a:buChar char="•"/>
              <a:defRPr sz="700" b="0" i="0" u="none" strike="noStrike" cap="none">
                <a:solidFill>
                  <a:schemeClr val="dk1"/>
                </a:solidFill>
                <a:latin typeface="DM Sans"/>
                <a:ea typeface="DM Sans"/>
                <a:cs typeface="DM Sans"/>
                <a:sym typeface="DM Sans"/>
              </a:defRPr>
            </a:lvl8pPr>
            <a:lvl9pPr marL="4114800" marR="0" lvl="8"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9pPr>
          </a:lstStyle>
          <a:p>
            <a:endParaRPr/>
          </a:p>
        </p:txBody>
      </p:sp>
      <p:sp>
        <p:nvSpPr>
          <p:cNvPr id="51" name="Google Shape;51;p1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31">
            <a:alphaModFix/>
          </a:blip>
          <a:srcRect/>
          <a:stretch/>
        </p:blipFill>
        <p:spPr>
          <a:xfrm>
            <a:off x="8412332" y="4829647"/>
            <a:ext cx="310926" cy="149074"/>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hyperlink" Target="https://app.wiz.io/settings/deployments#%7E%28type%7E%27ALL%29" TargetMode="External"/><Relationship Id="rId2" Type="http://schemas.openxmlformats.org/officeDocument/2006/relationships/notesSlide" Target="../notesSlides/notesSlide3.xml"/><Relationship Id="rId16" Type="http://schemas.openxmlformats.org/officeDocument/2006/relationships/hyperlink" Target="https://app.wiz.io/boards/ai-security" TargetMode="External"/><Relationship Id="rId1" Type="http://schemas.openxmlformats.org/officeDocument/2006/relationships/slideLayout" Target="../slideLayouts/slideLayout3.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hyperlink" Target="https://app.wiz.io/explorer/cloud-events#%7E%28filters%7E%28timestampv2%7E%28dateRange%7E%28past%7E%28unit%7E%27month%7Eamount%7E1%29%29%29%29%7EgroupBy%7E%28%7E%27origin%29%29"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48.png"/><Relationship Id="rId12" Type="http://schemas.openxmlformats.org/officeDocument/2006/relationships/image" Target="../media/image49.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7.png"/><Relationship Id="rId11" Type="http://schemas.openxmlformats.org/officeDocument/2006/relationships/hyperlink" Target="https://app.wiz.io/inventory/containers/images" TargetMode="External"/><Relationship Id="rId5" Type="http://schemas.openxmlformats.org/officeDocument/2006/relationships/image" Target="../media/image46.png"/><Relationship Id="rId10" Type="http://schemas.openxmlformats.org/officeDocument/2006/relationships/hyperlink" Target="https://app.wiz.io/inventory/container-registries" TargetMode="External"/><Relationship Id="rId4" Type="http://schemas.openxmlformats.org/officeDocument/2006/relationships/image" Target="../media/image45.png"/><Relationship Id="rId9"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14" Type="http://schemas.openxmlformats.org/officeDocument/2006/relationships/hyperlink" Target="https://app.wiz.io/policies/red-agent-modules"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NOT_EQUALS%7E%28%7E%276961%7E%273032%7E%279899%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8" Type="http://schemas.openxmlformats.org/officeDocument/2006/relationships/hyperlink" Target="https://app.wiz.io/settings/workload-scan-log#%7E%28filters%7E%28status%7E%28%29%7Etimestamp%7E%28%29%7EdataScan%7E%28equals%7Efalse%29%29%29" TargetMode="External"/><Relationship Id="rId26" Type="http://schemas.openxmlformats.org/officeDocument/2006/relationships/hyperlink" Target="https://app.wiz.io/settings/system-health#%7E%28filters%7E%28status%7E%28equals%7E%28%7E%27OPEN%29%29%7EdeploymentType%7E%28equals%7E%28%7E%27BROKER%29%29%7Eseverity%7E%28equals%7E%28%7E%27CRITICAL%7E%27HIGH%29%29%29%29" TargetMode="External"/><Relationship Id="rId3" Type="http://schemas.openxmlformats.org/officeDocument/2006/relationships/image" Target="../media/image48.png"/><Relationship Id="rId21" Type="http://schemas.openxmlformats.org/officeDocument/2006/relationships/hyperlink" Target="https://app.wiz.io/settings/system-health#%7E%28filters%7E%28status%7E%28equals%7E%28%7E%27OPEN%29%29%7EdeploymentType%7E%28equals%7E%28%7E%27OUTPOST_CLUSTER%7E%27OUTPOST%29%29%7Eseverity%7E%28equals%7E%28%7E%27CRITICAL%7E%27HIGH%29%29%29%29" TargetMode="External"/><Relationship Id="rId7" Type="http://schemas.openxmlformats.org/officeDocument/2006/relationships/hyperlink" Target="https://app.wiz.io/settings/system-health#%7E%28filters%7E%28status%7E%28equals%7E%28%7E%27RESOLVED%29%29%7Eseverity%7E%28equals%7E%28%7E%27HIGH%29%29%29%7EgroupBy%7E%27none%29" TargetMode="External"/><Relationship Id="rId12" Type="http://schemas.openxmlformats.org/officeDocument/2006/relationships/hyperlink" Target="https://app.wiz.io/explorer/graph#%7E%28query%7E%28type%7E%28%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7" Type="http://schemas.openxmlformats.org/officeDocument/2006/relationships/hyperlink" Target="https://app.wiz.io/explorer/graph#%7E%28query%7E%28type%7E%28%7E%27FILE_SYSTEM_SERVIC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FILE_SYSTEM_SERVICE%7E%28%7E%27cloudPlatform%7E%27atRestEncryption%7E%27inTransitEncryption%7E%27accessibleFrom.internet%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5" Type="http://schemas.openxmlformats.org/officeDocument/2006/relationships/hyperlink" Target="https://app.wiz.io/settings/system-health#%7E%28filters%7E%28status%7E%28equals%7E%28%7E%27OPEN%29%29%7EdeploymentType%7E%28equals%7E%28%7E%27VERSION_CONTROL_CONNECTOR%29%29%7Eseverity%7E%28equals%7E%28%7E%27CRITICAL%7E%27HIGH%29%29%29%29" TargetMode="External"/><Relationship Id="rId2" Type="http://schemas.openxmlformats.org/officeDocument/2006/relationships/notesSlide" Target="../notesSlides/notesSlide5.xml"/><Relationship Id="rId16" Type="http://schemas.openxmlformats.org/officeDocument/2006/relationships/hyperlink" Target="https://app.wiz.io/explorer/graph#%7E%28query%7E%28type%7E%28%7E%27AI_DATAS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AI_DATAS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0" Type="http://schemas.openxmlformats.org/officeDocument/2006/relationships/hyperlink" Target="https://app.wiz.io/settings/workload-scan-log#%7E%28filters%7E%28status%7E%28equals%7E%28%7E%27SKIPPED%29%29%7Etimestamp%7E%28%29%7EdataScan%7E%28equals%7Efalse%29%29%29" TargetMode="External"/><Relationship Id="rId1" Type="http://schemas.openxmlformats.org/officeDocument/2006/relationships/slideLayout" Target="../slideLayouts/slideLayout3.xml"/><Relationship Id="rId6" Type="http://schemas.openxmlformats.org/officeDocument/2006/relationships/hyperlink" Target="https://app.wiz.io/settings/system-health#%7E%28filters%7E%28status%7E%28equals%7E%28%7E%27RESOLVED%29%29%7Eseverity%7E%28equals%7E%28%7E%27CRITICAL%29%29%29%7EgroupBy%7E%27none%29" TargetMode="External"/><Relationship Id="rId11"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Skipped%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4" Type="http://schemas.openxmlformats.org/officeDocument/2006/relationships/hyperlink" Target="https://app.wiz.io/settings/system-health#%7E%28filters%7E%28status%7E%28equals%7E%28%7E%27OPEN%29%29%7EdeploymentType%7E%28equals%7E%28%7E%27KUBERNETES_CONNECTOR%29%29%7Eseverity%7E%28equals%7E%28%7E%27CRITICAL%7E%27HIGH%29%29%29%29" TargetMode="External"/><Relationship Id="rId5" Type="http://schemas.openxmlformats.org/officeDocument/2006/relationships/hyperlink" Target="https://app.wiz.io/settings/system-health#%7E%28filters%7E%28status%7E%28equals%7E%28%7E%27OPEN%29%29%7Eseverity%7E%28equals%7E%28%7E%27HIGH%29%29%29%7EgroupBy%7E%27none%29" TargetMode="External"/><Relationship Id="rId15"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EQUALS%7E%28%7E%273032%7E%279899%7E%276961%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3" Type="http://schemas.openxmlformats.org/officeDocument/2006/relationships/hyperlink" Target="https://app.wiz.io/settings/system-health#%7E%28filters%7E%28status%7E%28equals%7E%28%7E%27OPEN%29%29%7EdeploymentType%7E%28equals%7E%28%7E%27INTEGRATION%29%29%7Eseverity%7E%28equals%7E%28%7E%27CRITICAL%7E%27HIGH%29%29%29%29" TargetMode="External"/><Relationship Id="rId10"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Error%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9" Type="http://schemas.openxmlformats.org/officeDocument/2006/relationships/hyperlink" Target="https://app.wiz.io/settings/workload-scan-log#%7E%28filters%7E%28status%7E%28equals%7E%28%7E%27FAILED%29%29%7Etimestamp%7E%28%29%7EdataScan%7E%28equals%7Efalse%29%29%29" TargetMode="External"/><Relationship Id="rId4" Type="http://schemas.openxmlformats.org/officeDocument/2006/relationships/hyperlink" Target="https://app.wiz.io/settings/system-health#%7E%28filters%7E%28status%7E%28equals%7E%28%7E%27OPEN%29%29%7Eseverity%7E%28equals%7E%28%7E%27CRITICAL%29%29%29%7EgroupBy%7E%27none%29" TargetMode="External"/><Relationship Id="rId9"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4" Type="http://schemas.openxmlformats.org/officeDocument/2006/relationships/hyperlink" Target="https://app.wiz.io/explorer/graph#%7E%28query%7E%28type%7E%28%7E%27VIRTUAL_DRIV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VIRTUAL_DRIVE%7E%28%7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2" Type="http://schemas.openxmlformats.org/officeDocument/2006/relationships/hyperlink" Target="https://app.wiz.io/settings/system-health#%7E%28filters%7E%28status%7E%28equals%7E%28%7E%27OPEN%29%29%7EdeploymentType%7E%28equals%7E%28%7E%27REGISTRY_CONNECTOR%29%29%7Eseverity%7E%28equals%7E%28%7E%27CRITICAL%7E%27HIGH%29%29%29%29" TargetMode="External"/><Relationship Id="rId27" Type="http://schemas.openxmlformats.org/officeDocument/2006/relationships/hyperlink" Target="https://app.wiz.io/settings/system-health#%7E%28filters%7E%28status%7E%28equals%7E%28%7E%27OPEN%29%29%7EdeploymentType%7E%28equals%7E%28%7E%27CLOUD_CONNECTOR%29%29%7Eseverity%7E%28equals%7E%28%7E%27CRITICAL%7E%27HIGH%29%29%29%29"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app.wiz.io/settings/projects#%7E%28filters%7E%28businessImpact%7E%28equals%7E%28%7E%27MBI%29%29%29%29" TargetMode="External"/><Relationship Id="rId13" Type="http://schemas.openxmlformats.org/officeDocument/2006/relationships/hyperlink" Target="https://app.wiz.io/policies/inventory-management-rules#%7E%28filters%7E%28createdBy%7E%28equals%7E%28%7E%27USER%29%29%29%29" TargetMode="External"/><Relationship Id="rId18" Type="http://schemas.openxmlformats.org/officeDocument/2006/relationships/image" Target="../media/image51.png"/><Relationship Id="rId3" Type="http://schemas.openxmlformats.org/officeDocument/2006/relationships/hyperlink" Target="https://app.wiz.io/settings/users#%7E%28filters%7E%28status%7E%28notEquals%7E%28%7E%27DELETED%29%29%29%29" TargetMode="External"/><Relationship Id="rId21" Type="http://schemas.openxmlformats.org/officeDocument/2006/relationships/hyperlink" Target="https://app.wiz.io/policies/workflows" TargetMode="External"/><Relationship Id="rId7" Type="http://schemas.openxmlformats.org/officeDocument/2006/relationships/hyperlink" Target="https://app.wiz.io/settings/projects#%7E%28filters%7E%28businessImpact%7E%28equals%7E%28%7E%27HBI%29%29%29%29" TargetMode="External"/><Relationship Id="rId12" Type="http://schemas.openxmlformats.org/officeDocument/2006/relationships/hyperlink" Target="https://app.wiz.io/settings/services" TargetMode="External"/><Relationship Id="rId17"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2" Type="http://schemas.openxmlformats.org/officeDocument/2006/relationships/notesSlide" Target="../notesSlides/notesSlide6.xml"/><Relationship Id="rId16" Type="http://schemas.openxmlformats.org/officeDocument/2006/relationships/hyperlink" Target="https://app.wiz.io/boards/champion-center" TargetMode="External"/><Relationship Id="rId20"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hyperlink" Target="https://app.wiz.io/inventory/unscanned-resources/unclassified" TargetMode="External"/><Relationship Id="rId11" Type="http://schemas.openxmlformats.org/officeDocument/2006/relationships/hyperlink" Target="https://app.wiz.io/policies/resource-tag-rules#%7E%28filters%7E%28type%7E%28equals%7E%28%7E%27TAG%29%29%7Estatus%7E%28equals%7E%27enabled%29%29%29" TargetMode="External"/><Relationship Id="rId5" Type="http://schemas.openxmlformats.org/officeDocument/2006/relationships/hyperlink" Target="https://app.wiz.io/settings/deployments#%7E%28type%7E%27INTEGRATION%29" TargetMode="External"/><Relationship Id="rId15" Type="http://schemas.openxmlformats.org/officeDocument/2006/relationships/hyperlink" Target="https://app.wiz.io/reports/monitored-metrics#%7E%28filters%7E%28builtin%7E%28equals%7E%28%7E%27false%29%29%29%29" TargetMode="External"/><Relationship Id="rId23" Type="http://schemas.openxmlformats.org/officeDocument/2006/relationships/hyperlink" Target="https://app.wiz.io/settings/audit-log#%7E%28filters%7E%28clientType%7E%28equals%7E%28%7E%27MCP%29%29%29%7EgroupBy%7E%28%7E%27PERFORMER%29%29" TargetMode="External"/><Relationship Id="rId10" Type="http://schemas.openxmlformats.org/officeDocument/2006/relationships/hyperlink" Target="https://app.wiz.io/reports/compliance/security-frameworks#%7E%28filters%7E%28createdBy%7E%28equals%7E%27USER%29%29%29" TargetMode="External"/><Relationship Id="rId19" Type="http://schemas.openxmlformats.org/officeDocument/2006/relationships/image" Target="../media/image52.png"/><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settings/projects#%7E%28filters%7E%28businessImpact%7E%28equals%7E%28%7E%27LBI%29%29%29%29" TargetMode="External"/><Relationship Id="rId14" Type="http://schemas.openxmlformats.org/officeDocument/2006/relationships/hyperlink" Target="https://app.wiz.io/policies/posture#%7E%28filters%7E%28creator%7E%28equals%7E%28%7E%27USER%29%29%29%29" TargetMode="External"/><Relationship Id="rId22" Type="http://schemas.openxmlformats.org/officeDocument/2006/relationships/hyperlink" Target="https://app.wiz.io/policies/automation-rules"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app.wiz.io/roadmap?tab=TRACKED"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9.png"/><Relationship Id="rId7"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2.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8" Type="http://schemas.openxmlformats.org/officeDocument/2006/relationships/hyperlink" Target="https://app.wiz.io/issues#%7E%28filters%7E%28status%7E%28equals%7E%28%7E%27REJECTED%29%29%29%7EgroupBy%7E%27none%29" TargetMode="External"/><Relationship Id="rId13" Type="http://schemas.openxmlformats.org/officeDocument/2006/relationships/image" Target="../media/image55.png"/><Relationship Id="rId3" Type="http://schemas.openxmlformats.org/officeDocument/2006/relationships/image" Target="../media/image48.png"/><Relationship Id="rId7" Type="http://schemas.openxmlformats.org/officeDocument/2006/relationships/hyperlink" Target="https://app.wiz.io/issues#%7E%28filters%7E%28status%7E%28equals%7E%28%7E%27RESOLVED%29%29%7Eseverity%7E%28equals%7E%28%7E%27HIGH%29%29%29%7EgroupBy%7E%27none%29" TargetMode="External"/><Relationship Id="rId12" Type="http://schemas.openxmlformats.org/officeDocument/2006/relationships/hyperlink" Target="https://app.wiz.io/threats#%7E%28filters%7E%28status%7E%28equals%7E%28%7E%27OPEN%7E%27IN_PROGRESS%29%29%7EcreatedAt%7E%28dateRange%7E%28past%7E%28amount%7E30%7Eunit%7E%27day%29%29%29%29%29"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app.wiz.io/issues#%7E%28filters%7E%28status%7E%28equals%7E%28%7E%27OPEN%7E%27IN_PROGRESS%29%29%7Eseverity%7E%28equals%7E%28%7E%27HIGH%29%29%29%7EgroupBy%7E%27none%29" TargetMode="External"/><Relationship Id="rId11"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10" Type="http://schemas.openxmlformats.org/officeDocument/2006/relationships/image" Target="../media/image44.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boards/ai-security" TargetMode="External"/><Relationship Id="rId14" Type="http://schemas.openxmlformats.org/officeDocument/2006/relationships/image" Target="../media/image56.png"/></Relationships>
</file>

<file path=ppt/slides/_rels/slide13.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3" Type="http://schemas.openxmlformats.org/officeDocument/2006/relationships/image" Target="../media/image44.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 Id="rId3" Type="http://schemas.openxmlformats.org/officeDocument/2006/relationships/hyperlink" Target="https://app.wiz.io/inventory/kubernetes-clusters" TargetMode="External"/><Relationship Id="rId7" Type="http://schemas.openxmlformats.org/officeDocument/2006/relationships/hyperlink" Target="https://app.wiz.io/inventory/container-registries" TargetMode="External"/><Relationship Id="rId12"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7" Type="http://schemas.openxmlformats.org/officeDocument/2006/relationships/hyperlink" Target="https://app.wiz.io/inventory/container-registries#%7E%28filters%7E%28scanningConfigurationType%7E%28equals%7E%28%7E%27CUSTOM%29%29%29%29" TargetMode="External"/><Relationship Id="rId2" Type="http://schemas.openxmlformats.org/officeDocument/2006/relationships/notesSlide" Target="../notesSlides/notesSlide15.xml"/><Relationship Id="rId16"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6" Type="http://schemas.openxmlformats.org/officeDocument/2006/relationships/hyperlink" Target="https://app.wiz.io/inventory/containers/images" TargetMode="External"/><Relationship Id="rId11"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5"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15" Type="http://schemas.openxmlformats.org/officeDocument/2006/relationships/hyperlink" Target="https://app.wiz.io/inventory/container-registries#%7E%28filters%7E%28connectionType%7E%28equals%7E%28%7E%27STANDALONE%29%29%29%29" TargetMode="External"/><Relationship Id="rId10" Type="http://schemas.openxmlformats.org/officeDocument/2006/relationships/hyperlink" Target="https://app.wiz.io/inventory/kubernetes-clusters#%7E%28filters%7E%28property*3aaccessibleFrom.internet%7E%28EQUALS%7Etrue%29%29%29" TargetMode="External"/><Relationship Id="rId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9"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4" Type="http://schemas.openxmlformats.org/officeDocument/2006/relationships/image" Target="../media/image57.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hyperlink" Target="https://app.wiz.io/settings/scanners/cloud-configuration" TargetMode="External"/><Relationship Id="rId7" Type="http://schemas.openxmlformats.org/officeDocument/2006/relationships/hyperlink" Target="https://app.wiz.io/settings/scanners/attack-surface" TargetMode="External"/><Relationship Id="rId2" Type="http://schemas.openxmlformats.org/officeDocument/2006/relationships/notesSlide" Target="../notesSlides/notesSlide17.xml"/><Relationship Id="rId1" Type="http://schemas.openxmlformats.org/officeDocument/2006/relationships/slideLayout" Target="../slideLayouts/slideLayout16.xml"/><Relationship Id="rId6"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workload-scanner" TargetMode="External"/><Relationship Id="rId4" Type="http://schemas.openxmlformats.org/officeDocument/2006/relationships/hyperlink" Target="https://app.wiz.io/settings/scanners/file-integrit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8.xml"/><Relationship Id="rId1" Type="http://schemas.openxmlformats.org/officeDocument/2006/relationships/slideLayout" Target="../slideLayouts/slideLayout16.xml"/><Relationship Id="rId6" Type="http://schemas.openxmlformats.org/officeDocument/2006/relationships/hyperlink" Target="https://app.wiz.io/settings/scanners/data-security" TargetMode="External"/><Relationship Id="rId5" Type="http://schemas.openxmlformats.org/officeDocument/2006/relationships/hyperlink" Target="https://app.wiz.io/boards/security-operations#%7E%28filters%7E%28timestamp%7E%28dateRange%7E%28past%7E%28unit%7E%27day%7Eamount%7E30%29%29%29%29%29" TargetMode="External"/><Relationship Id="rId4" Type="http://schemas.openxmlformats.org/officeDocument/2006/relationships/hyperlink" Target="https://app.wiz.io/settings/scanners/vulnerability-scanni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2" Type="http://schemas.openxmlformats.org/officeDocument/2006/relationships/notesSlide" Target="../notesSlides/notesSlide19.xml"/><Relationship Id="rId1" Type="http://schemas.openxmlformats.org/officeDocument/2006/relationships/slideLayout" Target="../slideLayouts/slideLayout16.xm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60.png"/><Relationship Id="rId7"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7"/>
          <p:cNvSpPr txBox="1"/>
          <p:nvPr/>
        </p:nvSpPr>
        <p:spPr>
          <a:xfrm>
            <a:off x="250594" y="1969767"/>
            <a:ext cx="3854969" cy="90021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Tenant Health Assessment </a:t>
            </a:r>
            <a:b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b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{{Customer}}</a:t>
            </a:r>
            <a:endParaRPr sz="27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238" name="Google Shape;238;p47"/>
          <p:cNvSpPr txBox="1"/>
          <p:nvPr/>
        </p:nvSpPr>
        <p:spPr>
          <a:xfrm>
            <a:off x="318791" y="3217425"/>
            <a:ext cx="4026300" cy="5310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800"/>
              <a:buFont typeface="Arial"/>
              <a:buNone/>
            </a:pPr>
            <a:endParaRPr sz="15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1800"/>
              <a:buFont typeface="Arial"/>
              <a:buNone/>
            </a:pPr>
            <a:r>
              <a:rPr lang="en" sz="15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{Date}</a:t>
            </a:r>
            <a:endParaRPr sz="15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39" name="Google Shape;239;p47"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240" name="Google Shape;240;p47"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241" name="Google Shape;241;p47" title="logo.png"/>
          <p:cNvPicPr preferRelativeResize="0"/>
          <p:nvPr/>
        </p:nvPicPr>
        <p:blipFill rotWithShape="1">
          <a:blip r:embed="rId5">
            <a:alphaModFix/>
          </a:blip>
          <a:srcRect/>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48"/>
          <p:cNvSpPr txBox="1"/>
          <p:nvPr/>
        </p:nvSpPr>
        <p:spPr>
          <a:xfrm>
            <a:off x="6799450" y="3366600"/>
            <a:ext cx="2010300" cy="177538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8" name="Google Shape;248;p48"/>
          <p:cNvSpPr txBox="1"/>
          <p:nvPr/>
        </p:nvSpPr>
        <p:spPr>
          <a:xfrm>
            <a:off x="799800" y="4353432"/>
            <a:ext cx="2010300" cy="78994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50" name="Google Shape;250;p48"/>
          <p:cNvSpPr txBox="1"/>
          <p:nvPr/>
        </p:nvSpPr>
        <p:spPr>
          <a:xfrm>
            <a:off x="2815700" y="4060176"/>
            <a:ext cx="1987500" cy="1083324"/>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251" name="Google Shape;251;p48"/>
          <p:cNvCxnSpPr>
            <a:cxnSpLocks/>
          </p:cNvCxnSpPr>
          <p:nvPr/>
        </p:nvCxnSpPr>
        <p:spPr>
          <a:xfrm flipH="1" flipV="1">
            <a:off x="2813100" y="2136400"/>
            <a:ext cx="7761" cy="3005580"/>
          </a:xfrm>
          <a:prstGeom prst="straightConnector1">
            <a:avLst/>
          </a:prstGeom>
          <a:noFill/>
          <a:ln w="9525" cap="flat" cmpd="sng">
            <a:solidFill>
              <a:srgbClr val="0254EC"/>
            </a:solidFill>
            <a:prstDash val="solid"/>
            <a:round/>
            <a:headEnd type="none" w="sm" len="sm"/>
            <a:tailEnd type="none" w="sm" len="sm"/>
          </a:ln>
        </p:spPr>
      </p:cxnSp>
      <p:cxnSp>
        <p:nvCxnSpPr>
          <p:cNvPr id="252" name="Google Shape;252;p48"/>
          <p:cNvCxnSpPr>
            <a:cxnSpLocks/>
          </p:cNvCxnSpPr>
          <p:nvPr/>
        </p:nvCxnSpPr>
        <p:spPr>
          <a:xfrm flipV="1">
            <a:off x="4804975" y="1525650"/>
            <a:ext cx="0" cy="3616330"/>
          </a:xfrm>
          <a:prstGeom prst="straightConnector1">
            <a:avLst/>
          </a:prstGeom>
          <a:noFill/>
          <a:ln w="9525" cap="flat" cmpd="sng">
            <a:solidFill>
              <a:srgbClr val="0254EC"/>
            </a:solidFill>
            <a:prstDash val="solid"/>
            <a:round/>
            <a:headEnd type="none" w="sm" len="sm"/>
            <a:tailEnd type="none" w="sm" len="sm"/>
          </a:ln>
        </p:spPr>
      </p:cxnSp>
      <p:cxnSp>
        <p:nvCxnSpPr>
          <p:cNvPr id="253" name="Google Shape;253;p48"/>
          <p:cNvCxnSpPr>
            <a:cxnSpLocks/>
          </p:cNvCxnSpPr>
          <p:nvPr/>
        </p:nvCxnSpPr>
        <p:spPr>
          <a:xfrm flipH="1" flipV="1">
            <a:off x="6804675" y="910700"/>
            <a:ext cx="7760" cy="4245462"/>
          </a:xfrm>
          <a:prstGeom prst="straightConnector1">
            <a:avLst/>
          </a:prstGeom>
          <a:noFill/>
          <a:ln w="9525" cap="flat" cmpd="sng">
            <a:solidFill>
              <a:srgbClr val="0254EC"/>
            </a:solidFill>
            <a:prstDash val="solid"/>
            <a:round/>
            <a:headEnd type="none" w="sm" len="sm"/>
            <a:tailEnd type="none" w="sm" len="sm"/>
          </a:ln>
        </p:spPr>
      </p:cxnSp>
      <p:cxnSp>
        <p:nvCxnSpPr>
          <p:cNvPr id="254" name="Google Shape;254;p48"/>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255" name="Google Shape;255;p48"/>
          <p:cNvCxnSpPr/>
          <p:nvPr/>
        </p:nvCxnSpPr>
        <p:spPr>
          <a:xfrm rot="10800000">
            <a:off x="807946" y="2752144"/>
            <a:ext cx="0" cy="2399400"/>
          </a:xfrm>
          <a:prstGeom prst="straightConnector1">
            <a:avLst/>
          </a:prstGeom>
          <a:noFill/>
          <a:ln w="9525" cap="flat" cmpd="sng">
            <a:solidFill>
              <a:srgbClr val="0254EC"/>
            </a:solidFill>
            <a:prstDash val="solid"/>
            <a:round/>
            <a:headEnd type="none" w="sm" len="sm"/>
            <a:tailEnd type="none" w="sm" len="sm"/>
          </a:ln>
        </p:spPr>
      </p:cxnSp>
      <p:pic>
        <p:nvPicPr>
          <p:cNvPr id="256" name="Google Shape;256;p48"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EMBED AND AUTOMATE SECURITY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58" name="Google Shape;258;p48"/>
          <p:cNvSpPr txBox="1"/>
          <p:nvPr/>
        </p:nvSpPr>
        <p:spPr>
          <a:xfrm>
            <a:off x="6810800" y="2070322"/>
            <a:ext cx="1811700" cy="1320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security policies consistently across cloud, code, and runtime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Automate remediation and security lifecycle actions with automation rules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Continuously reduce risk without manual intervention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59" name="Google Shape;259;p48"/>
          <p:cNvSpPr txBox="1"/>
          <p:nvPr/>
        </p:nvSpPr>
        <p:spPr>
          <a:xfrm>
            <a:off x="5006084" y="2154770"/>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SELF SERVICE SECURITY FOR DEVELOPERS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0" name="Google Shape;260;p48"/>
          <p:cNvSpPr txBox="1"/>
          <p:nvPr/>
        </p:nvSpPr>
        <p:spPr>
          <a:xfrm>
            <a:off x="4902050" y="2498816"/>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Enable developers to identify  and remediate risk independently</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Deliver security context       directly into engineering processes with Workflows, integrations, and WizExtend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1" name="Google Shape;261;p48"/>
          <p:cNvSpPr txBox="1"/>
          <p:nvPr/>
        </p:nvSpPr>
        <p:spPr>
          <a:xfrm>
            <a:off x="3007225" y="2579120"/>
            <a:ext cx="1668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SHARED SECURITY CONTEXT WITH ENGINEERING</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2" name="Google Shape;262;p48"/>
          <p:cNvSpPr txBox="1"/>
          <p:nvPr/>
        </p:nvSpPr>
        <p:spPr>
          <a:xfrm>
            <a:off x="2903200" y="2920169"/>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Map issues to an owner, application, or environment via Projects and Service Catalog</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issues by business context and real exposure</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Align security and engineering on what matters most</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3" name="Google Shape;263;p48"/>
          <p:cNvSpPr txBox="1"/>
          <p:nvPr/>
        </p:nvSpPr>
        <p:spPr>
          <a:xfrm>
            <a:off x="1008697" y="3181396"/>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CENTRALIZE SECURITY ACROSS SECURITY TEAMS</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4" name="Google Shape;264;p48"/>
          <p:cNvSpPr txBox="1"/>
          <p:nvPr/>
        </p:nvSpPr>
        <p:spPr>
          <a:xfrm>
            <a:off x="904675" y="3518334"/>
            <a:ext cx="18906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Security ownership is centralized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Standardize policies and prioritization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265" name="Google Shape;265;p48"/>
          <p:cNvCxnSpPr>
            <a:cxnSpLocks/>
          </p:cNvCxnSpPr>
          <p:nvPr/>
        </p:nvCxnSpPr>
        <p:spPr>
          <a:xfrm flipV="1">
            <a:off x="8809850" y="306800"/>
            <a:ext cx="0" cy="4836700"/>
          </a:xfrm>
          <a:prstGeom prst="straightConnector1">
            <a:avLst/>
          </a:prstGeom>
          <a:noFill/>
          <a:ln w="9525" cap="flat" cmpd="sng">
            <a:solidFill>
              <a:srgbClr val="0254EC"/>
            </a:solidFill>
            <a:prstDash val="solid"/>
            <a:round/>
            <a:headEnd type="none" w="sm" len="sm"/>
            <a:tailEnd type="none" w="sm" len="sm"/>
          </a:ln>
        </p:spPr>
      </p:cxnSp>
      <p:sp>
        <p:nvSpPr>
          <p:cNvPr id="266" name="Google Shape;266;p48"/>
          <p:cNvSpPr txBox="1"/>
          <p:nvPr/>
        </p:nvSpPr>
        <p:spPr>
          <a:xfrm>
            <a:off x="6929000" y="346589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Risk is continuously mitigated and remediated by default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rgbClr val="000000"/>
              </a:buClr>
              <a:buSzPts val="1000"/>
              <a:buFont typeface="Arial"/>
              <a:buNone/>
            </a:pP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267" name="Google Shape;267;p48"/>
          <p:cNvCxnSpPr/>
          <p:nvPr/>
        </p:nvCxnSpPr>
        <p:spPr>
          <a:xfrm>
            <a:off x="6804671" y="3366612"/>
            <a:ext cx="2005500" cy="0"/>
          </a:xfrm>
          <a:prstGeom prst="straightConnector1">
            <a:avLst/>
          </a:prstGeom>
          <a:noFill/>
          <a:ln w="9525" cap="flat" cmpd="sng">
            <a:solidFill>
              <a:srgbClr val="0254EC"/>
            </a:solidFill>
            <a:prstDash val="solid"/>
            <a:round/>
            <a:headEnd type="none" w="sm" len="sm"/>
            <a:tailEnd type="none" w="sm" len="sm"/>
          </a:ln>
        </p:spPr>
      </p:cxnSp>
      <p:cxnSp>
        <p:nvCxnSpPr>
          <p:cNvPr id="268" name="Google Shape;268;p48"/>
          <p:cNvCxnSpPr/>
          <p:nvPr/>
        </p:nvCxnSpPr>
        <p:spPr>
          <a:xfrm>
            <a:off x="805008" y="4367296"/>
            <a:ext cx="2005500" cy="0"/>
          </a:xfrm>
          <a:prstGeom prst="straightConnector1">
            <a:avLst/>
          </a:prstGeom>
          <a:noFill/>
          <a:ln w="9525" cap="flat" cmpd="sng">
            <a:solidFill>
              <a:srgbClr val="0254EC"/>
            </a:solidFill>
            <a:prstDash val="solid"/>
            <a:round/>
            <a:headEnd type="none" w="sm" len="sm"/>
            <a:tailEnd type="none" w="sm" len="sm"/>
          </a:ln>
        </p:spPr>
      </p:cxnSp>
      <p:cxnSp>
        <p:nvCxnSpPr>
          <p:cNvPr id="269" name="Google Shape;269;p48"/>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270" name="Google Shape;270;p48"/>
          <p:cNvCxnSpPr/>
          <p:nvPr/>
        </p:nvCxnSpPr>
        <p:spPr>
          <a:xfrm>
            <a:off x="2820861" y="4060188"/>
            <a:ext cx="1982700" cy="0"/>
          </a:xfrm>
          <a:prstGeom prst="straightConnector1">
            <a:avLst/>
          </a:prstGeom>
          <a:noFill/>
          <a:ln w="9525" cap="flat" cmpd="sng">
            <a:solidFill>
              <a:srgbClr val="0254EC"/>
            </a:solidFill>
            <a:prstDash val="solid"/>
            <a:round/>
            <a:headEnd type="none" w="sm" len="sm"/>
            <a:tailEnd type="none" w="sm" len="sm"/>
          </a:ln>
        </p:spPr>
      </p:cxnSp>
      <p:sp>
        <p:nvSpPr>
          <p:cNvPr id="271" name="Google Shape;271;p48"/>
          <p:cNvSpPr txBox="1"/>
          <p:nvPr/>
        </p:nvSpPr>
        <p:spPr>
          <a:xfrm>
            <a:off x="904675" y="4435122"/>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2" name="Google Shape;272;p48"/>
          <p:cNvSpPr txBox="1"/>
          <p:nvPr/>
        </p:nvSpPr>
        <p:spPr>
          <a:xfrm>
            <a:off x="2942638" y="4164084"/>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Engineers have what they need to remediate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3" name="Google Shape;273;p48"/>
          <p:cNvSpPr txBox="1"/>
          <p:nvPr/>
        </p:nvSpPr>
        <p:spPr>
          <a:xfrm>
            <a:off x="4934925" y="3774490"/>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Security is a natural part of development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4" name="Google Shape;274;p48"/>
          <p:cNvSpPr/>
          <p:nvPr/>
        </p:nvSpPr>
        <p:spPr>
          <a:xfrm>
            <a:off x="3440152"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75" name="Google Shape;275;p48"/>
          <p:cNvSpPr txBox="1"/>
          <p:nvPr/>
        </p:nvSpPr>
        <p:spPr>
          <a:xfrm>
            <a:off x="3725258"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76" name="Google Shape;276;p48" title="icon.png"/>
          <p:cNvPicPr preferRelativeResize="0"/>
          <p:nvPr/>
        </p:nvPicPr>
        <p:blipFill rotWithShape="1">
          <a:blip r:embed="rId4">
            <a:alphaModFix/>
          </a:blip>
          <a:srcRect/>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rotWithShape="1">
          <a:blip r:embed="rId5">
            <a:alphaModFix/>
          </a:blip>
          <a:srcRect/>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rotWithShape="1">
          <a:blip r:embed="rId6">
            <a:alphaModFix/>
          </a:blip>
          <a:srcRect/>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rotWithShape="1">
          <a:blip r:embed="rId7">
            <a:alphaModFix/>
          </a:blip>
          <a:srcRect/>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rotWithShape="1">
            <a:blip r:embed="rId7">
              <a:alphaModFix/>
            </a:blip>
            <a:srcRect/>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283" name="Google Shape;283;p48" descr="A blue and pink logo&#10;&#10;AI-generated content may be incorrect."/>
            <p:cNvPicPr preferRelativeResize="0"/>
            <p:nvPr/>
          </p:nvPicPr>
          <p:blipFill rotWithShape="1">
            <a:blip r:embed="rId8">
              <a:alphaModFix/>
            </a:blip>
            <a:srcRect/>
            <a:stretch/>
          </p:blipFill>
          <p:spPr>
            <a:xfrm>
              <a:off x="6913025" y="617974"/>
              <a:ext cx="492600" cy="492600"/>
            </a:xfrm>
            <a:prstGeom prst="rect">
              <a:avLst/>
            </a:prstGeom>
            <a:noFill/>
            <a:ln>
              <a:noFill/>
            </a:ln>
          </p:spPr>
        </p:pic>
      </p:grpSp>
      <p:sp>
        <p:nvSpPr>
          <p:cNvPr id="284" name="Google Shape;284;p48"/>
          <p:cNvSpPr txBox="1">
            <a:spLocks noGrp="1"/>
          </p:cNvSpPr>
          <p:nvPr>
            <p:ph type="title" idx="4294967295"/>
          </p:nvPr>
        </p:nvSpPr>
        <p:spPr>
          <a:xfrm>
            <a:off x="301950" y="201625"/>
            <a:ext cx="2915100" cy="883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Adoption &amp; Democratization</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SzPts val="2800"/>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p49"/>
          <p:cNvPicPr preferRelativeResize="0"/>
          <p:nvPr/>
        </p:nvPicPr>
        <p:blipFill rotWithShape="1">
          <a:blip r:embed="rId3">
            <a:alphaModFix/>
          </a:blip>
          <a:srcRect/>
          <a:stretch/>
        </p:blipFill>
        <p:spPr>
          <a:xfrm>
            <a:off x="99275" y="814525"/>
            <a:ext cx="2694900" cy="4186399"/>
          </a:xfrm>
          <a:prstGeom prst="rect">
            <a:avLst/>
          </a:prstGeom>
          <a:noFill/>
          <a:ln w="6350">
            <a:solidFill>
              <a:schemeClr val="accent1"/>
            </a:solidFill>
            <a:round/>
          </a:ln>
          <a:effectLst/>
        </p:spPr>
      </p:pic>
      <p:sp>
        <p:nvSpPr>
          <p:cNvPr id="291" name="Google Shape;291;p49"/>
          <p:cNvSpPr txBox="1">
            <a:spLocks noGrp="1"/>
          </p:cNvSpPr>
          <p:nvPr>
            <p:ph type="title" idx="4294967295"/>
          </p:nvPr>
        </p:nvSpPr>
        <p:spPr>
          <a:xfrm>
            <a:off x="0" y="221125"/>
            <a:ext cx="91443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and AI Visibility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292" name="Google Shape;292;p49"/>
          <p:cNvPicPr preferRelativeResize="0"/>
          <p:nvPr/>
        </p:nvPicPr>
        <p:blipFill rotWithShape="1">
          <a:blip r:embed="rId4">
            <a:alphaModFix/>
          </a:blip>
          <a:srcRect/>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{{C_AWS}} AWS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94" name="Google Shape;294;p49" descr="Kubernetes Logo transparent PNG - StickPNG"/>
          <p:cNvPicPr preferRelativeResize="0"/>
          <p:nvPr/>
        </p:nvPicPr>
        <p:blipFill rotWithShape="1">
          <a:blip r:embed="rId5">
            <a:alphaModFix/>
          </a:blip>
          <a:srcRect/>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{{K8S}} K8s Clusters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{{KG_NC}} Not Connected via Connector</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296" name="Google Shape;296;p49"/>
          <p:cNvGrpSpPr/>
          <p:nvPr/>
        </p:nvGrpSpPr>
        <p:grpSpPr>
          <a:xfrm>
            <a:off x="309832" y="2763999"/>
            <a:ext cx="189207" cy="194205"/>
            <a:chOff x="6171974" y="3205262"/>
            <a:chExt cx="189207" cy="191978"/>
          </a:xfrm>
        </p:grpSpPr>
        <p:sp>
          <p:nvSpPr>
            <p:cNvPr id="297" name="Google Shape;297;p49"/>
            <p:cNvSpPr/>
            <p:nvPr/>
          </p:nvSpPr>
          <p:spPr>
            <a:xfrm>
              <a:off x="6171974" y="3205262"/>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8" name="Google Shape;298;p49"/>
            <p:cNvSpPr/>
            <p:nvPr/>
          </p:nvSpPr>
          <p:spPr>
            <a:xfrm>
              <a:off x="6212578" y="3247251"/>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9" name="Google Shape;299;p49"/>
            <p:cNvSpPr/>
            <p:nvPr/>
          </p:nvSpPr>
          <p:spPr>
            <a:xfrm>
              <a:off x="6253181" y="3289240"/>
              <a:ext cx="108000" cy="108000"/>
            </a:xfrm>
            <a:prstGeom prst="roundRect">
              <a:avLst>
                <a:gd name="adj" fmla="val 6582"/>
              </a:avLst>
            </a:pr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0" name="Google Shape;300;p49"/>
          <p:cNvSpPr txBox="1"/>
          <p:nvPr/>
        </p:nvSpPr>
        <p:spPr>
          <a:xfrm>
            <a:off x="594175" y="2710232"/>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 Others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{{C_OTH_NAMES}}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301" name="Google Shape;301;p49"/>
          <p:cNvGrpSpPr/>
          <p:nvPr/>
        </p:nvGrpSpPr>
        <p:grpSpPr>
          <a:xfrm>
            <a:off x="318778" y="3899121"/>
            <a:ext cx="171314" cy="178215"/>
            <a:chOff x="11835920" y="1617571"/>
            <a:chExt cx="5866906" cy="6041208"/>
          </a:xfrm>
        </p:grpSpPr>
        <p:sp>
          <p:nvSpPr>
            <p:cNvPr id="302" name="Google Shape;302;p49"/>
            <p:cNvSpPr/>
            <p:nvPr/>
          </p:nvSpPr>
          <p:spPr>
            <a:xfrm>
              <a:off x="13171525" y="1625031"/>
              <a:ext cx="1490700" cy="944700"/>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6" name="Google Shape;306;p49"/>
            <p:cNvSpPr/>
            <p:nvPr/>
          </p:nvSpPr>
          <p:spPr>
            <a:xfrm>
              <a:off x="11835920" y="3725119"/>
              <a:ext cx="3579000" cy="3592200"/>
            </a:xfrm>
            <a:prstGeom prst="parallelogram">
              <a:avLst>
                <a:gd name="adj" fmla="val 66161"/>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7" name="Google Shape;307;p49"/>
          <p:cNvSpPr txBox="1"/>
          <p:nvPr/>
        </p:nvSpPr>
        <p:spPr>
          <a:xfrm>
            <a:off x="594173" y="3867490"/>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{{SERVERLESS_FN_COUNT}} Serverless Functions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08" name="Google Shape;308;p49"/>
          <p:cNvSpPr txBox="1"/>
          <p:nvPr/>
        </p:nvSpPr>
        <p:spPr>
          <a:xfrm>
            <a:off x="594173" y="1626385"/>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{{C_GCP}} GCP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09" name="Google Shape;309;p49" descr="Google Cloud Platform · GitHub"/>
          <p:cNvPicPr preferRelativeResize="0"/>
          <p:nvPr/>
        </p:nvPicPr>
        <p:blipFill rotWithShape="1">
          <a:blip r:embed="rId6">
            <a:alphaModFix/>
          </a:blip>
          <a:srcRect/>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{{C_AZ}} Azure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11" name="Google Shape;311;p49"/>
          <p:cNvPicPr preferRelativeResize="0"/>
          <p:nvPr/>
        </p:nvPicPr>
        <p:blipFill rotWithShape="1">
          <a:blip r:embed="rId7">
            <a:alphaModFix/>
          </a:blip>
          <a:srcRect/>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3" y="371043"/>
              <a:chExt cx="3423407" cy="3428610"/>
            </a:xfrm>
          </p:grpSpPr>
          <p:grpSp>
            <p:nvGrpSpPr>
              <p:cNvPr id="314" name="Google Shape;314;p49"/>
              <p:cNvGrpSpPr/>
              <p:nvPr/>
            </p:nvGrpSpPr>
            <p:grpSpPr>
              <a:xfrm>
                <a:off x="7365704" y="1326099"/>
                <a:ext cx="2559934" cy="2230430"/>
                <a:chOff x="7359949" y="1328909"/>
                <a:chExt cx="2559934" cy="2230430"/>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18" name="Google Shape;318;p49"/>
              <p:cNvSpPr/>
              <p:nvPr/>
            </p:nvSpPr>
            <p:spPr>
              <a:xfrm rot="5400000">
                <a:off x="6993462" y="373644"/>
                <a:ext cx="3428610" cy="3423407"/>
              </a:xfrm>
              <a:custGeom>
                <a:avLst/>
                <a:gdLst/>
                <a:ahLst/>
                <a:cxnLst/>
                <a:rect l="l" t="t" r="r" b="b"/>
                <a:pathLst>
                  <a:path w="4021830" h="3547572" extrusionOk="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9" name="Google Shape;319;p49"/>
              <p:cNvSpPr/>
              <p:nvPr/>
            </p:nvSpPr>
            <p:spPr>
              <a:xfrm>
                <a:off x="8550588" y="665584"/>
                <a:ext cx="190200" cy="854100"/>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pic>
          <p:nvPicPr>
            <p:cNvPr id="322" name="Google Shape;322;p49" descr="Serverless Containers | Scaleway"/>
            <p:cNvPicPr preferRelativeResize="0"/>
            <p:nvPr/>
          </p:nvPicPr>
          <p:blipFill rotWithShape="1">
            <a:blip r:embed="rId8">
              <a:alphaModFix/>
            </a:blip>
            <a:srcRect/>
            <a:stretch/>
          </p:blipFill>
          <p:spPr>
            <a:xfrm>
              <a:off x="6153425" y="3541954"/>
              <a:ext cx="540155" cy="607594"/>
            </a:xfrm>
            <a:prstGeom prst="rect">
              <a:avLst/>
            </a:prstGeom>
            <a:noFill/>
            <a:ln>
              <a:noFill/>
            </a:ln>
          </p:spPr>
        </p:pic>
      </p:grpSp>
      <p:pic>
        <p:nvPicPr>
          <p:cNvPr id="323" name="Google Shape;323;p49" descr="A blue hexagon with white text&#10;&#10;Description automatically generated"/>
          <p:cNvPicPr preferRelativeResize="0"/>
          <p:nvPr/>
        </p:nvPicPr>
        <p:blipFill rotWithShape="1">
          <a:blip r:embed="rId9">
            <a:alphaModFix/>
          </a:blip>
          <a:srcRect/>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FF0000"/>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{{R_TOT}} Container Registries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5" name="Google Shape;325;p49"/>
          <p:cNvSpPr txBox="1"/>
          <p:nvPr/>
        </p:nvSpPr>
        <p:spPr>
          <a:xfrm>
            <a:off x="99325" y="902925"/>
            <a:ext cx="26949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Cloud Visibility</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6" name="Google Shape;326;p49"/>
          <p:cNvSpPr txBox="1"/>
          <p:nvPr/>
        </p:nvSpPr>
        <p:spPr>
          <a:xfrm>
            <a:off x="594175" y="3523023"/>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{{SERVERLESS_CT_COUNT}} Serverless Containers</a:t>
            </a:r>
            <a:endParaRPr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7" name="Google Shape;327;p49"/>
          <p:cNvSpPr txBox="1"/>
          <p:nvPr/>
        </p:nvSpPr>
        <p:spPr>
          <a:xfrm>
            <a:off x="593145" y="4603900"/>
            <a:ext cx="2147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{{L_SE}} </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Wiz Runtime Sensors Deployed</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28" name="Google Shape;328;p49"/>
          <p:cNvPicPr preferRelativeResize="0"/>
          <p:nvPr/>
        </p:nvPicPr>
        <p:blipFill rotWithShape="1">
          <a:blip r:embed="rId10">
            <a:alphaModFix/>
          </a:blip>
          <a:srcRect/>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{{CON_WE}} Connectors With Cloud Events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{{CON_NE}} Connectors Without</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30" name="Google Shape;330;p49"/>
          <p:cNvPicPr preferRelativeResize="0"/>
          <p:nvPr/>
        </p:nvPicPr>
        <p:blipFill rotWithShape="1">
          <a:blip r:embed="rId11">
            <a:alphaModFix/>
          </a:blip>
          <a:srcRect/>
          <a:stretch/>
        </p:blipFill>
        <p:spPr>
          <a:xfrm>
            <a:off x="260656" y="4232746"/>
            <a:ext cx="287558" cy="276456"/>
          </a:xfrm>
          <a:prstGeom prst="rect">
            <a:avLst/>
          </a:prstGeom>
          <a:noFill/>
          <a:ln>
            <a:noFill/>
          </a:ln>
        </p:spPr>
      </p:pic>
      <p:pic>
        <p:nvPicPr>
          <p:cNvPr id="331" name="Google Shape;331;p49"/>
          <p:cNvPicPr preferRelativeResize="0"/>
          <p:nvPr/>
        </p:nvPicPr>
        <p:blipFill rotWithShape="1">
          <a:blip r:embed="rId3">
            <a:alphaModFix/>
          </a:blip>
          <a:srcRect/>
          <a:stretch/>
        </p:blipFill>
        <p:spPr>
          <a:xfrm>
            <a:off x="2972000" y="820225"/>
            <a:ext cx="2879650" cy="2923377"/>
          </a:xfrm>
          <a:prstGeom prst="rect">
            <a:avLst/>
          </a:prstGeom>
          <a:noFill/>
          <a:ln w="6350">
            <a:solidFill>
              <a:schemeClr val="accent1"/>
            </a:solidFill>
          </a:ln>
        </p:spPr>
      </p:pic>
      <p:sp>
        <p:nvSpPr>
          <p:cNvPr id="332" name="Google Shape;332;p49"/>
          <p:cNvSpPr txBox="1"/>
          <p:nvPr/>
        </p:nvSpPr>
        <p:spPr>
          <a:xfrm>
            <a:off x="2972075" y="829568"/>
            <a:ext cx="28797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Deployments / Connectors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33" name="Google Shape;333;p49"/>
          <p:cNvSpPr/>
          <p:nvPr/>
        </p:nvSpPr>
        <p:spPr>
          <a:xfrm>
            <a:off x="4494205" y="1157402"/>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{{CON_EN}}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4" name="Google Shape;334;p49"/>
          <p:cNvSpPr/>
          <p:nvPr/>
        </p:nvSpPr>
        <p:spPr>
          <a:xfrm>
            <a:off x="4494205" y="1683395"/>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{{CON_VCS}}</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VCS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5" name="Google Shape;335;p49"/>
          <p:cNvSpPr/>
          <p:nvPr/>
        </p:nvSpPr>
        <p:spPr>
          <a:xfrm>
            <a:off x="3195369" y="115339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{{CON_TOT}}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Total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6" name="Google Shape;336;p49"/>
          <p:cNvSpPr/>
          <p:nvPr/>
        </p:nvSpPr>
        <p:spPr>
          <a:xfrm>
            <a:off x="3195369" y="168110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{{OUT_DEP}}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Outpost Deployments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7" name="Google Shape;337;p49"/>
          <p:cNvSpPr/>
          <p:nvPr/>
        </p:nvSpPr>
        <p:spPr>
          <a:xfrm>
            <a:off x="3201552" y="2208819"/>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{{CON_DIS}}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Inactive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8" name="Google Shape;338;p49"/>
          <p:cNvSpPr/>
          <p:nvPr/>
        </p:nvSpPr>
        <p:spPr>
          <a:xfrm>
            <a:off x="4500405" y="2209388"/>
            <a:ext cx="11703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175" tIns="91175" rIns="91175" bIns="91175" anchor="ctr" anchorCtr="0">
            <a:noAutofit/>
          </a:bodyPr>
          <a:lstStyle/>
          <a:p>
            <a:pPr marL="0" marR="0" lvl="0" indent="0" algn="ctr" rtl="0">
              <a:lnSpc>
                <a:spcPct val="100000"/>
              </a:lnSpc>
              <a:spcBef>
                <a:spcPts val="0"/>
              </a:spcBef>
              <a:spcAft>
                <a:spcPts val="0"/>
              </a:spcAft>
              <a:buClr>
                <a:srgbClr val="000000"/>
              </a:buClr>
              <a:buSzPts val="698"/>
              <a:buFont typeface="Arial"/>
              <a:buNone/>
            </a:pP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{{CON_BRO}}</a:t>
            </a:r>
            <a:b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Broker Deployments</a:t>
            </a:r>
            <a:endParaRPr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9" name="Google Shape;339;p49"/>
          <p:cNvSpPr/>
          <p:nvPr/>
        </p:nvSpPr>
        <p:spPr>
          <a:xfrm>
            <a:off x="3201552" y="2738628"/>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Registry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40" name="Google Shape;340;p49"/>
          <p:cNvSpPr/>
          <p:nvPr/>
        </p:nvSpPr>
        <p:spPr>
          <a:xfrm>
            <a:off x="4500395" y="2735381"/>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{{CON_K8S}}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Kubernetes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341" name="Google Shape;341;p49"/>
          <p:cNvPicPr preferRelativeResize="0"/>
          <p:nvPr/>
        </p:nvPicPr>
        <p:blipFill rotWithShape="1">
          <a:blip r:embed="rId3">
            <a:alphaModFix/>
          </a:blip>
          <a:srcRect/>
          <a:stretch/>
        </p:blipFill>
        <p:spPr>
          <a:xfrm>
            <a:off x="5999925" y="828800"/>
            <a:ext cx="2958424" cy="2914801"/>
          </a:xfrm>
          <a:prstGeom prst="rect">
            <a:avLst/>
          </a:prstGeom>
          <a:noFill/>
          <a:ln w="6350">
            <a:solidFill>
              <a:schemeClr val="accent1"/>
            </a:solidFill>
          </a:ln>
        </p:spPr>
      </p:pic>
      <p:sp>
        <p:nvSpPr>
          <p:cNvPr id="342" name="Google Shape;342;p49"/>
          <p:cNvSpPr txBox="1"/>
          <p:nvPr/>
        </p:nvSpPr>
        <p:spPr>
          <a:xfrm>
            <a:off x="6027633" y="838143"/>
            <a:ext cx="2901413"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4">
                  <a:extLst>
                    <a:ext uri="{A12FA001-AC4F-418D-AE19-62706E023703}">
                      <ahyp:hlinkClr xmlns:ahyp="http://schemas.microsoft.com/office/drawing/2018/hyperlinkcolor" val="tx"/>
                    </a:ext>
                  </a:extLst>
                </a:hlinkClick>
              </a:rPr>
              <a:t>Cloud Events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Arial"/>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43" name="Google Shape;343;p49"/>
          <p:cNvSpPr txBox="1"/>
          <p:nvPr/>
        </p:nvSpPr>
        <p:spPr>
          <a:xfrm>
            <a:off x="6015229" y="131973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4" name="Google Shape;344;p49"/>
          <p:cNvSpPr txBox="1"/>
          <p:nvPr/>
        </p:nvSpPr>
        <p:spPr>
          <a:xfrm>
            <a:off x="6015229" y="151458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5" name="Google Shape;345;p49"/>
          <p:cNvSpPr txBox="1"/>
          <p:nvPr/>
        </p:nvSpPr>
        <p:spPr>
          <a:xfrm>
            <a:off x="6015229" y="170942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{{CLOUD_EVENTS_4}}</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6" name="Google Shape;346;p49"/>
          <p:cNvSpPr txBox="1"/>
          <p:nvPr/>
        </p:nvSpPr>
        <p:spPr>
          <a:xfrm>
            <a:off x="6015229" y="190426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7" name="Google Shape;347;p49"/>
          <p:cNvSpPr txBox="1"/>
          <p:nvPr/>
        </p:nvSpPr>
        <p:spPr>
          <a:xfrm>
            <a:off x="6015229" y="209910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{{CLOUD_EVENTS_6}}</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8" name="Google Shape;348;p49"/>
          <p:cNvSpPr txBox="1"/>
          <p:nvPr/>
        </p:nvSpPr>
        <p:spPr>
          <a:xfrm>
            <a:off x="6015229" y="229394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{{CLOUD_EVENTS_7}}</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9" name="Google Shape;349;p49"/>
          <p:cNvSpPr txBox="1"/>
          <p:nvPr/>
        </p:nvSpPr>
        <p:spPr>
          <a:xfrm>
            <a:off x="6015229" y="248879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{{CLOUD_EVENTS_8}}</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0" name="Google Shape;350;p49"/>
          <p:cNvSpPr txBox="1"/>
          <p:nvPr/>
        </p:nvSpPr>
        <p:spPr>
          <a:xfrm>
            <a:off x="6015229" y="268363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{{CLOUD_EVENTS_9}}</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1" name="Google Shape;351;p49"/>
          <p:cNvSpPr txBox="1"/>
          <p:nvPr/>
        </p:nvSpPr>
        <p:spPr>
          <a:xfrm>
            <a:off x="6015229" y="2878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{{CLOUD_EVENTS_10}}</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2" name="Google Shape;352;p49"/>
          <p:cNvSpPr txBox="1"/>
          <p:nvPr/>
        </p:nvSpPr>
        <p:spPr>
          <a:xfrm>
            <a:off x="6015229" y="307331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3" name="Google Shape;353;p49"/>
          <p:cNvSpPr txBox="1"/>
          <p:nvPr/>
        </p:nvSpPr>
        <p:spPr>
          <a:xfrm>
            <a:off x="6015229" y="326815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4" name="Google Shape;354;p49"/>
          <p:cNvSpPr txBox="1"/>
          <p:nvPr/>
        </p:nvSpPr>
        <p:spPr>
          <a:xfrm>
            <a:off x="6015228" y="1122408"/>
            <a:ext cx="2287200" cy="1839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5" name="Google Shape;355;p49"/>
          <p:cNvSpPr txBox="1"/>
          <p:nvPr/>
        </p:nvSpPr>
        <p:spPr>
          <a:xfrm>
            <a:off x="7985429" y="1105704"/>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6" name="Google Shape;356;p49"/>
          <p:cNvSpPr txBox="1"/>
          <p:nvPr/>
        </p:nvSpPr>
        <p:spPr>
          <a:xfrm>
            <a:off x="7985429" y="130077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7" name="Google Shape;357;p49"/>
          <p:cNvSpPr txBox="1"/>
          <p:nvPr/>
        </p:nvSpPr>
        <p:spPr>
          <a:xfrm>
            <a:off x="7985429" y="149584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8" name="Google Shape;358;p49"/>
          <p:cNvSpPr txBox="1"/>
          <p:nvPr/>
        </p:nvSpPr>
        <p:spPr>
          <a:xfrm>
            <a:off x="7985429" y="169091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{{CE_4}}</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9" name="Google Shape;359;p49"/>
          <p:cNvSpPr txBox="1"/>
          <p:nvPr/>
        </p:nvSpPr>
        <p:spPr>
          <a:xfrm>
            <a:off x="7985429" y="1885981"/>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0" name="Google Shape;360;p49"/>
          <p:cNvSpPr txBox="1"/>
          <p:nvPr/>
        </p:nvSpPr>
        <p:spPr>
          <a:xfrm>
            <a:off x="7985429" y="208105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{{CE_6}}</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1" name="Google Shape;361;p49"/>
          <p:cNvSpPr txBox="1"/>
          <p:nvPr/>
        </p:nvSpPr>
        <p:spPr>
          <a:xfrm>
            <a:off x="7985429" y="227612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{{CE_7}}</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2" name="Google Shape;362;p49"/>
          <p:cNvSpPr txBox="1"/>
          <p:nvPr/>
        </p:nvSpPr>
        <p:spPr>
          <a:xfrm>
            <a:off x="7985429" y="2471189"/>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{{CE_8}}</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3" name="Google Shape;363;p49"/>
          <p:cNvSpPr txBox="1"/>
          <p:nvPr/>
        </p:nvSpPr>
        <p:spPr>
          <a:xfrm>
            <a:off x="7985429" y="2666258"/>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{{CE_9}}</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4" name="Google Shape;364;p49"/>
          <p:cNvSpPr txBox="1"/>
          <p:nvPr/>
        </p:nvSpPr>
        <p:spPr>
          <a:xfrm>
            <a:off x="7985429" y="286132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{{CE_10}}</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5" name="Google Shape;365;p49"/>
          <p:cNvSpPr txBox="1"/>
          <p:nvPr/>
        </p:nvSpPr>
        <p:spPr>
          <a:xfrm>
            <a:off x="7990523" y="305639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6" name="Google Shape;366;p49"/>
          <p:cNvSpPr txBox="1"/>
          <p:nvPr/>
        </p:nvSpPr>
        <p:spPr>
          <a:xfrm>
            <a:off x="7985429" y="3251466"/>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{{CE_12}}</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67" name="Google Shape;367;p49"/>
          <p:cNvPicPr preferRelativeResize="0"/>
          <p:nvPr/>
        </p:nvPicPr>
        <p:blipFill rotWithShape="1">
          <a:blip r:embed="rId15">
            <a:alphaModFix/>
          </a:blip>
          <a:srcRect/>
          <a:stretch/>
        </p:blipFill>
        <p:spPr>
          <a:xfrm>
            <a:off x="2972000" y="3837150"/>
            <a:ext cx="5986350" cy="1180899"/>
          </a:xfrm>
          <a:prstGeom prst="rect">
            <a:avLst/>
          </a:prstGeom>
          <a:noFill/>
          <a:ln w="6350">
            <a:solidFill>
              <a:schemeClr val="accent1"/>
            </a:solidFill>
          </a:ln>
        </p:spPr>
      </p:pic>
      <p:sp>
        <p:nvSpPr>
          <p:cNvPr id="368" name="Google Shape;368;p49"/>
          <p:cNvSpPr txBox="1"/>
          <p:nvPr/>
        </p:nvSpPr>
        <p:spPr>
          <a:xfrm>
            <a:off x="3107645" y="3877908"/>
            <a:ext cx="2630400" cy="3090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AI Visibility / Inventory</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69" name="Google Shape;369;p49"/>
          <p:cNvSpPr/>
          <p:nvPr/>
        </p:nvSpPr>
        <p:spPr>
          <a:xfrm>
            <a:off x="3139402"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{{AI_MODELS_COUNT}}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Models</a:t>
            </a:r>
            <a:endParaRPr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0" name="Google Shape;370;p49"/>
          <p:cNvSpPr/>
          <p:nvPr/>
        </p:nvSpPr>
        <p:spPr>
          <a:xfrm>
            <a:off x="4314761"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{{AI_AGENTS_COUNT}}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Agents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1" name="Google Shape;371;p49"/>
          <p:cNvSpPr/>
          <p:nvPr/>
        </p:nvSpPr>
        <p:spPr>
          <a:xfrm>
            <a:off x="5490120" y="427906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{{AI_PIPELINES_COUNT}}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Pipelines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2" name="Google Shape;372;p49"/>
          <p:cNvSpPr/>
          <p:nvPr/>
        </p:nvSpPr>
        <p:spPr>
          <a:xfrm>
            <a:off x="6665479"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{{AI_WORKLOADS_COUNT}}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3" name="Google Shape;373;p49"/>
          <p:cNvSpPr/>
          <p:nvPr/>
        </p:nvSpPr>
        <p:spPr>
          <a:xfrm>
            <a:off x="3145104" y="465696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{{AI_GUARDRAILS_COUNT}}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Guardrails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4" name="Google Shape;374;p49"/>
          <p:cNvSpPr/>
          <p:nvPr/>
        </p:nvSpPr>
        <p:spPr>
          <a:xfrm>
            <a:off x="4319779" y="466445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{{AI_MCP_SERVERS_COUNT}}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MCP Servers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5" name="Google Shape;375;p49"/>
          <p:cNvSpPr/>
          <p:nvPr/>
        </p:nvSpPr>
        <p:spPr>
          <a:xfrm>
            <a:off x="5494453" y="4657061"/>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{{AI_TECHNOLOGIES_COUNT}}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Technologies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6" name="Google Shape;376;p49"/>
          <p:cNvSpPr/>
          <p:nvPr/>
        </p:nvSpPr>
        <p:spPr>
          <a:xfrm>
            <a:off x="6669128"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{{AI_CODE_REPOS_COUNT}}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Code Repos with AI</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7" name="Google Shape;377;p49"/>
          <p:cNvSpPr txBox="1"/>
          <p:nvPr/>
        </p:nvSpPr>
        <p:spPr>
          <a:xfrm>
            <a:off x="6013666" y="3460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78" name="Google Shape;378;p49"/>
          <p:cNvSpPr txBox="1"/>
          <p:nvPr/>
        </p:nvSpPr>
        <p:spPr>
          <a:xfrm>
            <a:off x="7983866" y="344378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{{CE_13}}</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79" name="Google Shape;379;p49"/>
          <p:cNvSpPr/>
          <p:nvPr/>
        </p:nvSpPr>
        <p:spPr>
          <a:xfrm>
            <a:off x="3190949" y="3268438"/>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Admission Controllers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0" name="Google Shape;380;p49"/>
          <p:cNvSpPr/>
          <p:nvPr/>
        </p:nvSpPr>
        <p:spPr>
          <a:xfrm>
            <a:off x="7840838"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{{AI_DATASETS_COUNT}}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Datastores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1" name="Google Shape;381;p49"/>
          <p:cNvSpPr/>
          <p:nvPr/>
        </p:nvSpPr>
        <p:spPr>
          <a:xfrm>
            <a:off x="7843803"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{{AI_CA_COUNT}}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Coding Agents (IDE)</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2" name="Google Shape;382;p49"/>
          <p:cNvSpPr/>
          <p:nvPr/>
        </p:nvSpPr>
        <p:spPr>
          <a:xfrm>
            <a:off x="4488949" y="3261374"/>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{{CON_WOS}}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WizOS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50"/>
          <p:cNvPicPr preferRelativeResize="0"/>
          <p:nvPr/>
        </p:nvPicPr>
        <p:blipFill rotWithShape="1">
          <a:blip r:embed="rId3">
            <a:alphaModFix/>
          </a:blip>
          <a:srcRect/>
          <a:stretch/>
        </p:blipFill>
        <p:spPr>
          <a:xfrm>
            <a:off x="169678" y="971143"/>
            <a:ext cx="2848816" cy="3509202"/>
          </a:xfrm>
          <a:prstGeom prst="rect">
            <a:avLst/>
          </a:prstGeom>
          <a:noFill/>
          <a:ln w="6350">
            <a:solidFill>
              <a:schemeClr val="accent1"/>
            </a:solidFill>
          </a:ln>
        </p:spPr>
      </p:pic>
      <p:sp>
        <p:nvSpPr>
          <p:cNvPr id="389" name="Google Shape;389;p50"/>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Adoption &amp; Usage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90" name="Google Shape;390;p50"/>
          <p:cNvSpPr txBox="1"/>
          <p:nvPr/>
        </p:nvSpPr>
        <p:spPr>
          <a:xfrm>
            <a:off x="558756" y="1438781"/>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{{L_CL_PCT}}</a:t>
            </a: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 Cloud Advanced</a:t>
            </a:r>
            <a:endParaRPr sz="11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91" name="Google Shape;391;p50"/>
          <p:cNvSpPr txBox="1"/>
          <p:nvPr/>
        </p:nvSpPr>
        <p:spPr>
          <a:xfrm>
            <a:off x="612468" y="1693344"/>
            <a:ext cx="2538600" cy="987600"/>
          </a:xfrm>
          <a:prstGeom prst="rect">
            <a:avLst/>
          </a:prstGeom>
          <a:noFill/>
          <a:ln>
            <a:noFill/>
          </a:ln>
        </p:spPr>
        <p:txBody>
          <a:bodyPr spcFirstLastPara="1" wrap="square" lIns="55875" tIns="27925" rIns="55875" bIns="27925" anchor="t" anchorCtr="0">
            <a:noAutofit/>
          </a:bodyPr>
          <a:lstStyle/>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Compute </a:t>
            </a:r>
            <a:b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Data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Non-OS / Registry / VM Image</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WizOS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Unified Vulnerability Mgmt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Advanced ASM</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chemeClr val="dk1"/>
              </a:buClr>
              <a:buSzPts val="11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Red Agent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SaaS Users</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2" name="Google Shape;392;p50"/>
          <p:cNvSpPr txBox="1"/>
          <p:nvPr/>
        </p:nvSpPr>
        <p:spPr>
          <a:xfrm>
            <a:off x="169678" y="1008122"/>
            <a:ext cx="2843100" cy="387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Product Usage</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3" name="Google Shape;393;p50"/>
          <p:cNvSpPr txBox="1"/>
          <p:nvPr/>
        </p:nvSpPr>
        <p:spPr>
          <a:xfrm>
            <a:off x="613618" y="29928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Runtime Sensor</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{{L_SE}}</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4" name="Google Shape;394;p50" title="Screenshot 2025-07-09 at 19.45.30.png"/>
          <p:cNvPicPr preferRelativeResize="0"/>
          <p:nvPr/>
        </p:nvPicPr>
        <p:blipFill rotWithShape="1">
          <a:blip r:embed="rId4">
            <a:alphaModFix/>
          </a:blip>
          <a:srcRect/>
          <a:stretch/>
        </p:blipFill>
        <p:spPr>
          <a:xfrm>
            <a:off x="212175" y="3021565"/>
            <a:ext cx="384944" cy="394315"/>
          </a:xfrm>
          <a:prstGeom prst="rect">
            <a:avLst/>
          </a:prstGeom>
          <a:noFill/>
          <a:ln>
            <a:noFill/>
          </a:ln>
        </p:spPr>
      </p:pic>
      <p:sp>
        <p:nvSpPr>
          <p:cNvPr id="395" name="Google Shape;395;p50"/>
          <p:cNvSpPr txBox="1"/>
          <p:nvPr/>
        </p:nvSpPr>
        <p:spPr>
          <a:xfrm>
            <a:off x="618387" y="34956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Defend Ingestion</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{{L_DE}} Units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6" name="Google Shape;396;p50" title="Screenshot 2025-07-09 at 19.46.40.png"/>
          <p:cNvPicPr preferRelativeResize="0"/>
          <p:nvPr/>
        </p:nvPicPr>
        <p:blipFill rotWithShape="1">
          <a:blip r:embed="rId5">
            <a:alphaModFix/>
          </a:blip>
          <a:srcRect/>
          <a:stretch/>
        </p:blipFill>
        <p:spPr>
          <a:xfrm>
            <a:off x="194378" y="3538892"/>
            <a:ext cx="403072" cy="394315"/>
          </a:xfrm>
          <a:prstGeom prst="rect">
            <a:avLst/>
          </a:prstGeom>
          <a:noFill/>
          <a:ln>
            <a:noFill/>
          </a:ln>
        </p:spPr>
      </p:pic>
      <p:pic>
        <p:nvPicPr>
          <p:cNvPr id="397" name="Google Shape;397;p50" title="Screenshot 2025-07-09 at 19.46.06.png"/>
          <p:cNvPicPr preferRelativeResize="0"/>
          <p:nvPr/>
        </p:nvPicPr>
        <p:blipFill rotWithShape="1">
          <a:blip r:embed="rId6">
            <a:alphaModFix/>
          </a:blip>
          <a:srcRect/>
          <a:stretch/>
        </p:blipFill>
        <p:spPr>
          <a:xfrm>
            <a:off x="217005" y="4027677"/>
            <a:ext cx="385851" cy="388893"/>
          </a:xfrm>
          <a:prstGeom prst="rect">
            <a:avLst/>
          </a:prstGeom>
          <a:noFill/>
          <a:ln>
            <a:noFill/>
          </a:ln>
        </p:spPr>
      </p:pic>
      <p:sp>
        <p:nvSpPr>
          <p:cNvPr id="398" name="Google Shape;398;p50"/>
          <p:cNvSpPr txBox="1"/>
          <p:nvPr/>
        </p:nvSpPr>
        <p:spPr>
          <a:xfrm>
            <a:off x="621949" y="3980673"/>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Code</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{{L_CO}} Developers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9" name="Google Shape;399;p50"/>
          <p:cNvPicPr preferRelativeResize="0"/>
          <p:nvPr/>
        </p:nvPicPr>
        <p:blipFill rotWithShape="1">
          <a:blip r:embed="rId7">
            <a:alphaModFix/>
          </a:blip>
          <a:srcRect/>
          <a:stretch/>
        </p:blipFill>
        <p:spPr>
          <a:xfrm>
            <a:off x="3171345" y="971143"/>
            <a:ext cx="2838298" cy="1109701"/>
          </a:xfrm>
          <a:prstGeom prst="rect">
            <a:avLst/>
          </a:prstGeom>
          <a:noFill/>
          <a:ln w="6350">
            <a:solidFill>
              <a:schemeClr val="accent1"/>
            </a:solidFill>
          </a:ln>
        </p:spPr>
      </p:pic>
      <p:sp>
        <p:nvSpPr>
          <p:cNvPr id="400" name="Google Shape;400;p50"/>
          <p:cNvSpPr txBox="1"/>
          <p:nvPr/>
        </p:nvSpPr>
        <p:spPr>
          <a:xfrm>
            <a:off x="3171351" y="997628"/>
            <a:ext cx="2836200" cy="285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Time With Wiz</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1" name="Google Shape;401;p50"/>
          <p:cNvSpPr txBox="1"/>
          <p:nvPr/>
        </p:nvSpPr>
        <p:spPr>
          <a:xfrm>
            <a:off x="3310069" y="1492406"/>
            <a:ext cx="2556900" cy="306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2" name="Google Shape;402;p50"/>
          <p:cNvSpPr txBox="1"/>
          <p:nvPr/>
        </p:nvSpPr>
        <p:spPr>
          <a:xfrm>
            <a:off x="3249786" y="1239364"/>
            <a:ext cx="2683500" cy="2607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03" name="Google Shape;403;p50"/>
          <p:cNvPicPr preferRelativeResize="0"/>
          <p:nvPr/>
        </p:nvPicPr>
        <p:blipFill rotWithShape="1">
          <a:blip r:embed="rId7">
            <a:alphaModFix/>
          </a:blip>
          <a:srcRect/>
          <a:stretch/>
        </p:blipFill>
        <p:spPr>
          <a:xfrm>
            <a:off x="3167109" y="2242540"/>
            <a:ext cx="2841027" cy="2534151"/>
          </a:xfrm>
          <a:prstGeom prst="rect">
            <a:avLst/>
          </a:prstGeom>
          <a:noFill/>
          <a:ln w="6350">
            <a:solidFill>
              <a:schemeClr val="accent1"/>
            </a:solidFill>
          </a:ln>
        </p:spPr>
      </p:pic>
      <p:sp>
        <p:nvSpPr>
          <p:cNvPr id="404" name="Google Shape;404;p50"/>
          <p:cNvSpPr txBox="1"/>
          <p:nvPr/>
        </p:nvSpPr>
        <p:spPr>
          <a:xfrm>
            <a:off x="3167119" y="2314275"/>
            <a:ext cx="2838900" cy="667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Kubernetes / Containers</a:t>
            </a:r>
            <a:b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&amp; Wiz CLI</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5" name="Google Shape;405;p50"/>
          <p:cNvSpPr txBox="1"/>
          <p:nvPr/>
        </p:nvSpPr>
        <p:spPr>
          <a:xfrm>
            <a:off x="3271520" y="3472107"/>
            <a:ext cx="2592000" cy="716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6" name="Google Shape;406;p50"/>
          <p:cNvSpPr txBox="1"/>
          <p:nvPr/>
        </p:nvSpPr>
        <p:spPr>
          <a:xfrm>
            <a:off x="3210410" y="2880241"/>
            <a:ext cx="2720400" cy="6096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07" name="Google Shape;407;p50"/>
          <p:cNvSpPr txBox="1"/>
          <p:nvPr/>
        </p:nvSpPr>
        <p:spPr>
          <a:xfrm>
            <a:off x="3302811" y="302416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Clusters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8" name="Google Shape;408;p50"/>
          <p:cNvSpPr txBox="1"/>
          <p:nvPr/>
        </p:nvSpPr>
        <p:spPr>
          <a:xfrm>
            <a:off x="4789108" y="302416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9" name="Google Shape;409;p50"/>
          <p:cNvSpPr txBox="1"/>
          <p:nvPr/>
        </p:nvSpPr>
        <p:spPr>
          <a:xfrm>
            <a:off x="4789108" y="3245522"/>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{{TI}}</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0" name="Google Shape;410;p50"/>
          <p:cNvSpPr txBox="1"/>
          <p:nvPr/>
        </p:nvSpPr>
        <p:spPr>
          <a:xfrm>
            <a:off x="3167108" y="3808871"/>
            <a:ext cx="2838900" cy="2703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Wiz CLI SCANS (30d) </a:t>
            </a:r>
            <a:r>
              <a:rPr lang="en" sz="14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1" name="Google Shape;411;p50"/>
          <p:cNvSpPr txBox="1"/>
          <p:nvPr/>
        </p:nvSpPr>
        <p:spPr>
          <a:xfrm>
            <a:off x="3167108" y="4128246"/>
            <a:ext cx="2838900" cy="4920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2000"/>
              <a:buFont typeface="Arial"/>
              <a:buNone/>
            </a:pPr>
            <a:r>
              <a:rPr lang="en"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{{CLI}}</a:t>
            </a:r>
            <a:endParaRPr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2" name="Google Shape;412;p50"/>
          <p:cNvSpPr txBox="1"/>
          <p:nvPr/>
        </p:nvSpPr>
        <p:spPr>
          <a:xfrm>
            <a:off x="3306330" y="346620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Container Registries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3" name="Google Shape;413;p50"/>
          <p:cNvSpPr txBox="1"/>
          <p:nvPr/>
        </p:nvSpPr>
        <p:spPr>
          <a:xfrm>
            <a:off x="4792628" y="346620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4" name="Google Shape;414;p50"/>
          <p:cNvSpPr txBox="1"/>
          <p:nvPr/>
        </p:nvSpPr>
        <p:spPr>
          <a:xfrm>
            <a:off x="3293611" y="3244616"/>
            <a:ext cx="17847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Container Images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5" name="Google Shape;415;p50"/>
          <p:cNvSpPr txBox="1"/>
          <p:nvPr/>
        </p:nvSpPr>
        <p:spPr>
          <a:xfrm>
            <a:off x="1817806" y="1749876"/>
            <a:ext cx="1225800" cy="1248900"/>
          </a:xfrm>
          <a:prstGeom prst="rect">
            <a:avLst/>
          </a:prstGeom>
          <a:noFill/>
          <a:ln>
            <a:noFill/>
          </a:ln>
        </p:spPr>
        <p:txBody>
          <a:bodyPr spcFirstLastPara="1" wrap="square" lIns="91225" tIns="91225" rIns="91225" bIns="91225" anchor="ctr" anchorCtr="0">
            <a:noAutofit/>
          </a:bodyPr>
          <a:lstStyle/>
          <a:p>
            <a:pPr marL="0" marR="0" lvl="0" indent="0" algn="r" rtl="0">
              <a:lnSpc>
                <a:spcPct val="115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{{CL_CP}}%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{{CL_DP}}%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{{CL_NRVP}}%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{{CL_WOP}}%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{{CL_UVMP}}%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{{CL_ASMP}}%</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r" rtl="0">
              <a:lnSpc>
                <a:spcPct val="115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{{CL_REDA}}%</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{{CL_SUP}}%</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6" name="Google Shape;416;p50"/>
          <p:cNvSpPr txBox="1"/>
          <p:nvPr/>
        </p:nvSpPr>
        <p:spPr>
          <a:xfrm>
            <a:off x="3295309" y="1456043"/>
            <a:ext cx="2528700" cy="3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Current Contract End</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{{CONTRACT_END_FMT}}</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17" name="Google Shape;417;p50"/>
          <p:cNvSpPr txBox="1"/>
          <p:nvPr/>
        </p:nvSpPr>
        <p:spPr>
          <a:xfrm>
            <a:off x="3266555" y="1275483"/>
            <a:ext cx="2683500" cy="285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{{CUS_NOD}} Days as Wiz Customer</a:t>
            </a:r>
            <a:endParaRPr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18" name="Google Shape;418;p50"/>
          <p:cNvSpPr txBox="1"/>
          <p:nvPr/>
        </p:nvSpPr>
        <p:spPr>
          <a:xfrm>
            <a:off x="3293159" y="1891557"/>
            <a:ext cx="2683500" cy="153888"/>
          </a:xfrm>
          <a:prstGeom prst="rect">
            <a:avLst/>
          </a:prstGeom>
          <a:noFill/>
          <a:ln>
            <a:noFill/>
          </a:ln>
        </p:spPr>
        <p:txBody>
          <a:bodyPr spcFirstLastPara="1" wrap="square" lIns="91425" tIns="0" rIns="91425"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{{D_U_R}} Days Until Renewal</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19" name="Google Shape;419;p50"/>
          <p:cNvPicPr preferRelativeResize="0"/>
          <p:nvPr/>
        </p:nvPicPr>
        <p:blipFill rotWithShape="1">
          <a:blip r:embed="rId12">
            <a:alphaModFix/>
          </a:blip>
          <a:srcRect/>
          <a:stretch/>
        </p:blipFill>
        <p:spPr>
          <a:xfrm>
            <a:off x="231234" y="1394102"/>
            <a:ext cx="338330" cy="357132"/>
          </a:xfrm>
          <a:prstGeom prst="rect">
            <a:avLst/>
          </a:prstGeom>
          <a:noFill/>
          <a:ln>
            <a:noFill/>
          </a:ln>
        </p:spPr>
      </p:pic>
      <p:pic>
        <p:nvPicPr>
          <p:cNvPr id="420" name="Google Shape;420;p50"/>
          <p:cNvPicPr preferRelativeResize="0"/>
          <p:nvPr/>
        </p:nvPicPr>
        <p:blipFill rotWithShape="1">
          <a:blip r:embed="rId7">
            <a:alphaModFix/>
          </a:blip>
          <a:srcRect/>
          <a:stretch/>
        </p:blipFill>
        <p:spPr>
          <a:xfrm>
            <a:off x="6189553" y="976375"/>
            <a:ext cx="2780923" cy="1385452"/>
          </a:xfrm>
          <a:prstGeom prst="rect">
            <a:avLst/>
          </a:prstGeom>
          <a:noFill/>
          <a:ln w="6350">
            <a:solidFill>
              <a:schemeClr val="accent1"/>
            </a:solidFill>
          </a:ln>
        </p:spPr>
      </p:pic>
      <p:sp>
        <p:nvSpPr>
          <p:cNvPr id="421" name="Google Shape;421;p50"/>
          <p:cNvSpPr txBox="1"/>
          <p:nvPr/>
        </p:nvSpPr>
        <p:spPr>
          <a:xfrm>
            <a:off x="6189557" y="997040"/>
            <a:ext cx="2781000" cy="376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595959"/>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Unscanned Resources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2" name="Google Shape;422;p50"/>
          <p:cNvSpPr txBox="1"/>
          <p:nvPr/>
        </p:nvSpPr>
        <p:spPr>
          <a:xfrm>
            <a:off x="6189565" y="1395307"/>
            <a:ext cx="2781000" cy="940800"/>
          </a:xfrm>
          <a:prstGeom prst="rect">
            <a:avLst/>
          </a:prstGeom>
          <a:noFill/>
          <a:ln>
            <a:noFill/>
          </a:ln>
        </p:spPr>
        <p:txBody>
          <a:bodyPr spcFirstLastPara="1" wrap="square" lIns="92600" tIns="92600" rIns="92600" bIns="92600" anchor="t"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{{U_RES}} Unscanned Resources</a:t>
            </a:r>
            <a:b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Organizations, Code Repositories &amp; Subscriptions</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423" name="Google Shape;423;p50"/>
          <p:cNvPicPr preferRelativeResize="0"/>
          <p:nvPr/>
        </p:nvPicPr>
        <p:blipFill rotWithShape="1">
          <a:blip r:embed="rId7">
            <a:alphaModFix/>
          </a:blip>
          <a:srcRect/>
          <a:stretch/>
        </p:blipFill>
        <p:spPr>
          <a:xfrm>
            <a:off x="6194229" y="2518124"/>
            <a:ext cx="2769198" cy="1385452"/>
          </a:xfrm>
          <a:prstGeom prst="rect">
            <a:avLst/>
          </a:prstGeom>
          <a:noFill/>
          <a:ln w="6350">
            <a:solidFill>
              <a:schemeClr val="accent1"/>
            </a:solidFill>
          </a:ln>
        </p:spPr>
      </p:pic>
      <p:sp>
        <p:nvSpPr>
          <p:cNvPr id="424" name="Google Shape;424;p50"/>
          <p:cNvSpPr txBox="1"/>
          <p:nvPr/>
        </p:nvSpPr>
        <p:spPr>
          <a:xfrm>
            <a:off x="6194230" y="2538228"/>
            <a:ext cx="2767200" cy="4047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Red Agent Scans</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5" name="Google Shape;425;p50"/>
          <p:cNvSpPr txBox="1"/>
          <p:nvPr/>
        </p:nvSpPr>
        <p:spPr>
          <a:xfrm>
            <a:off x="6296001" y="3150231"/>
            <a:ext cx="2526300" cy="37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26" name="Google Shape;426;p50"/>
          <p:cNvSpPr txBox="1"/>
          <p:nvPr/>
        </p:nvSpPr>
        <p:spPr>
          <a:xfrm>
            <a:off x="6236436" y="2843382"/>
            <a:ext cx="2651700" cy="316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27" name="Google Shape;427;p50"/>
          <p:cNvSpPr txBox="1"/>
          <p:nvPr/>
        </p:nvSpPr>
        <p:spPr>
          <a:xfrm>
            <a:off x="6203356" y="286135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DAST Attacker: {{RA_DAST}}</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8" name="Google Shape;428;p50"/>
          <p:cNvSpPr txBox="1"/>
          <p:nvPr/>
        </p:nvSpPr>
        <p:spPr>
          <a:xfrm>
            <a:off x="6202885" y="3097036"/>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Web Crawler: {{RA_WC}}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9" name="Google Shape;429;p50"/>
          <p:cNvSpPr txBox="1"/>
          <p:nvPr/>
        </p:nvSpPr>
        <p:spPr>
          <a:xfrm>
            <a:off x="6202728" y="3332721"/>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Secret Impact: {{RA_SI}}</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30" name="Google Shape;430;p50"/>
          <p:cNvSpPr txBox="1"/>
          <p:nvPr/>
        </p:nvSpPr>
        <p:spPr>
          <a:xfrm>
            <a:off x="6192125" y="351961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Total Monthly Scans: {{RA_TOTS}}</a:t>
            </a:r>
            <a:endParaRPr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sp>
        <p:nvSpPr>
          <p:cNvPr id="436" name="Google Shape;436;p51"/>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System Health &amp; Scans Snapshot</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37" name="Google Shape;437;p51"/>
          <p:cNvPicPr preferRelativeResize="0"/>
          <p:nvPr/>
        </p:nvPicPr>
        <p:blipFill rotWithShape="1">
          <a:blip r:embed="rId3">
            <a:alphaModFix/>
          </a:blip>
          <a:srcRect/>
          <a:stretch/>
        </p:blipFill>
        <p:spPr>
          <a:xfrm>
            <a:off x="119827" y="933590"/>
            <a:ext cx="2755502" cy="1594700"/>
          </a:xfrm>
          <a:prstGeom prst="rect">
            <a:avLst/>
          </a:prstGeom>
          <a:noFill/>
          <a:ln w="6350">
            <a:solidFill>
              <a:schemeClr val="accent1"/>
            </a:solidFill>
          </a:ln>
        </p:spPr>
      </p:pic>
      <p:sp>
        <p:nvSpPr>
          <p:cNvPr id="438" name="Google Shape;438;p51"/>
          <p:cNvSpPr txBox="1"/>
          <p:nvPr/>
        </p:nvSpPr>
        <p:spPr>
          <a:xfrm>
            <a:off x="119827" y="1028050"/>
            <a:ext cx="2838300" cy="225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39" name="Google Shape;439;p51"/>
          <p:cNvSpPr txBox="1"/>
          <p:nvPr/>
        </p:nvSpPr>
        <p:spPr>
          <a:xfrm>
            <a:off x="224233" y="1475155"/>
            <a:ext cx="2591700" cy="336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40" name="Google Shape;440;p51"/>
          <p:cNvSpPr txBox="1"/>
          <p:nvPr/>
        </p:nvSpPr>
        <p:spPr>
          <a:xfrm>
            <a:off x="163134" y="1196871"/>
            <a:ext cx="2720100" cy="286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41" name="Google Shape;441;p51"/>
          <p:cNvSpPr txBox="1"/>
          <p:nvPr/>
        </p:nvSpPr>
        <p:spPr>
          <a:xfrm>
            <a:off x="256245" y="1350741"/>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Critical SHIs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2" name="Google Shape;442;p51"/>
          <p:cNvSpPr txBox="1"/>
          <p:nvPr/>
        </p:nvSpPr>
        <p:spPr>
          <a:xfrm>
            <a:off x="1713244" y="134010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{{SHI_C}}</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3" name="Google Shape;443;p51"/>
          <p:cNvSpPr txBox="1"/>
          <p:nvPr/>
        </p:nvSpPr>
        <p:spPr>
          <a:xfrm>
            <a:off x="256245" y="1525050"/>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4" name="Google Shape;444;p51"/>
          <p:cNvSpPr txBox="1"/>
          <p:nvPr/>
        </p:nvSpPr>
        <p:spPr>
          <a:xfrm>
            <a:off x="1712251" y="1519655"/>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{{SHI_H}}</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5" name="Google Shape;445;p51"/>
          <p:cNvSpPr txBox="1"/>
          <p:nvPr/>
        </p:nvSpPr>
        <p:spPr>
          <a:xfrm>
            <a:off x="256528" y="1974033"/>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Resolved Critical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6" name="Google Shape;446;p51"/>
          <p:cNvSpPr txBox="1"/>
          <p:nvPr/>
        </p:nvSpPr>
        <p:spPr>
          <a:xfrm>
            <a:off x="1735851" y="1974033"/>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7" name="Google Shape;447;p51"/>
          <p:cNvSpPr txBox="1"/>
          <p:nvPr/>
        </p:nvSpPr>
        <p:spPr>
          <a:xfrm>
            <a:off x="256528" y="2153659"/>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8" name="Google Shape;448;p51"/>
          <p:cNvSpPr txBox="1"/>
          <p:nvPr/>
        </p:nvSpPr>
        <p:spPr>
          <a:xfrm>
            <a:off x="1735851" y="215365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{{SHI_R_H}}</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9" name="Google Shape;449;p51"/>
          <p:cNvSpPr txBox="1"/>
          <p:nvPr/>
        </p:nvSpPr>
        <p:spPr>
          <a:xfrm>
            <a:off x="244065" y="1774709"/>
            <a:ext cx="2655300" cy="2199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Resolved SHIs in Past 30 Days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50" name="Google Shape;450;p51"/>
          <p:cNvPicPr preferRelativeResize="0"/>
          <p:nvPr/>
        </p:nvPicPr>
        <p:blipFill rotWithShape="1">
          <a:blip r:embed="rId8">
            <a:alphaModFix amt="79000"/>
          </a:blip>
          <a:srcRect/>
          <a:stretch/>
        </p:blipFill>
        <p:spPr>
          <a:xfrm>
            <a:off x="3091600" y="2638250"/>
            <a:ext cx="2755502" cy="2427451"/>
          </a:xfrm>
          <a:prstGeom prst="rect">
            <a:avLst/>
          </a:prstGeom>
          <a:noFill/>
          <a:ln w="6350">
            <a:solidFill>
              <a:schemeClr val="accent1"/>
            </a:solidFill>
          </a:ln>
        </p:spPr>
      </p:pic>
      <p:sp>
        <p:nvSpPr>
          <p:cNvPr id="451" name="Google Shape;451;p51"/>
          <p:cNvSpPr txBox="1"/>
          <p:nvPr/>
        </p:nvSpPr>
        <p:spPr>
          <a:xfrm>
            <a:off x="3091590" y="2718202"/>
            <a:ext cx="27534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Non-OS, Registry &amp; VM Image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2" name="Google Shape;452;p51"/>
          <p:cNvSpPr txBox="1"/>
          <p:nvPr/>
        </p:nvSpPr>
        <p:spPr>
          <a:xfrm>
            <a:off x="3097638" y="3166433"/>
            <a:ext cx="27429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Non-OS Disk Scans: {{NON_T}}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3" name="Google Shape;453;p51"/>
          <p:cNvSpPr txBox="1"/>
          <p:nvPr/>
        </p:nvSpPr>
        <p:spPr>
          <a:xfrm>
            <a:off x="3116051" y="3365306"/>
            <a:ext cx="2715979" cy="176808"/>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{{NON_F}} / Skipped: {{NON_S}}</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54" name="Google Shape;454;p51"/>
          <p:cNvPicPr preferRelativeResize="0"/>
          <p:nvPr/>
        </p:nvPicPr>
        <p:blipFill rotWithShape="1">
          <a:blip r:embed="rId3">
            <a:alphaModFix/>
          </a:blip>
          <a:srcRect/>
          <a:stretch/>
        </p:blipFill>
        <p:spPr>
          <a:xfrm>
            <a:off x="6074877" y="933600"/>
            <a:ext cx="2941998" cy="1594700"/>
          </a:xfrm>
          <a:prstGeom prst="rect">
            <a:avLst/>
          </a:prstGeom>
          <a:noFill/>
          <a:ln w="6350">
            <a:solidFill>
              <a:schemeClr val="accent1"/>
            </a:solidFill>
          </a:ln>
        </p:spPr>
      </p:pic>
      <p:sp>
        <p:nvSpPr>
          <p:cNvPr id="455" name="Google Shape;455;p51"/>
          <p:cNvSpPr txBox="1"/>
          <p:nvPr/>
        </p:nvSpPr>
        <p:spPr>
          <a:xfrm>
            <a:off x="6074879" y="1016199"/>
            <a:ext cx="29397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(DSPM)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6" name="Google Shape;456;p51"/>
          <p:cNvSpPr txBox="1"/>
          <p:nvPr/>
        </p:nvSpPr>
        <p:spPr>
          <a:xfrm>
            <a:off x="6183001" y="1483537"/>
            <a:ext cx="26841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57" name="Google Shape;457;p51"/>
          <p:cNvSpPr txBox="1"/>
          <p:nvPr/>
        </p:nvSpPr>
        <p:spPr>
          <a:xfrm>
            <a:off x="6119719" y="1221521"/>
            <a:ext cx="2817300" cy="2700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58" name="Google Shape;458;p51"/>
          <p:cNvSpPr txBox="1"/>
          <p:nvPr/>
        </p:nvSpPr>
        <p:spPr>
          <a:xfrm>
            <a:off x="6255252" y="1350465"/>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9">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9" name="Google Shape;459;p51"/>
          <p:cNvSpPr txBox="1"/>
          <p:nvPr/>
        </p:nvSpPr>
        <p:spPr>
          <a:xfrm>
            <a:off x="6254802" y="1603626"/>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0">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0" name="Google Shape;460;p51"/>
          <p:cNvSpPr txBox="1"/>
          <p:nvPr/>
        </p:nvSpPr>
        <p:spPr>
          <a:xfrm>
            <a:off x="6088076" y="2109948"/>
            <a:ext cx="29283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rPr>
              <a:t>Data Scan Coverage:</a:t>
            </a: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1" name="Google Shape;461;p51"/>
          <p:cNvSpPr txBox="1"/>
          <p:nvPr/>
        </p:nvSpPr>
        <p:spPr>
          <a:xfrm>
            <a:off x="6248593" y="1856787"/>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1">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62" name="Google Shape;462;p51"/>
          <p:cNvPicPr preferRelativeResize="0"/>
          <p:nvPr/>
        </p:nvPicPr>
        <p:blipFill rotWithShape="1">
          <a:blip r:embed="rId3">
            <a:alphaModFix/>
          </a:blip>
          <a:srcRect/>
          <a:stretch/>
        </p:blipFill>
        <p:spPr>
          <a:xfrm>
            <a:off x="6071616" y="2962656"/>
            <a:ext cx="2939187" cy="2033900"/>
          </a:xfrm>
          <a:prstGeom prst="rect">
            <a:avLst/>
          </a:prstGeom>
          <a:noFill/>
          <a:ln w="6350">
            <a:solidFill>
              <a:schemeClr val="accent1"/>
            </a:solidFill>
          </a:ln>
        </p:spPr>
      </p:pic>
      <p:sp>
        <p:nvSpPr>
          <p:cNvPr id="463" name="Google Shape;463;p51"/>
          <p:cNvSpPr txBox="1"/>
          <p:nvPr/>
        </p:nvSpPr>
        <p:spPr>
          <a:xfrm>
            <a:off x="6074177" y="3001318"/>
            <a:ext cx="29370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Scans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64" name="Google Shape;464;p51"/>
          <p:cNvSpPr txBox="1"/>
          <p:nvPr/>
        </p:nvSpPr>
        <p:spPr>
          <a:xfrm>
            <a:off x="6182195" y="3512872"/>
            <a:ext cx="2681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65" name="Google Shape;465;p51"/>
          <p:cNvSpPr txBox="1"/>
          <p:nvPr/>
        </p:nvSpPr>
        <p:spPr>
          <a:xfrm>
            <a:off x="6080958" y="3553677"/>
            <a:ext cx="29256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2">
                  <a:extLst>
                    <a:ext uri="{A12FA001-AC4F-418D-AE19-62706E023703}">
                      <ahyp:hlinkClr xmlns:ahyp="http://schemas.microsoft.com/office/drawing/2018/hyperlinkcolor" val="tx"/>
                    </a:ext>
                  </a:extLst>
                </a:hlinkClick>
              </a:rPr>
              <a:t>Buckets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6" name="Google Shape;466;p51"/>
          <p:cNvSpPr txBox="1"/>
          <p:nvPr/>
        </p:nvSpPr>
        <p:spPr>
          <a:xfrm>
            <a:off x="6076847" y="3787606"/>
            <a:ext cx="29394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PaaS Databases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7" name="Google Shape;467;p51"/>
          <p:cNvSpPr txBox="1"/>
          <p:nvPr/>
        </p:nvSpPr>
        <p:spPr>
          <a:xfrm>
            <a:off x="6087369" y="4266098"/>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Virtual Drives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{{DS_VD}}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8" name="Google Shape;468;p51"/>
          <p:cNvSpPr txBox="1"/>
          <p:nvPr/>
        </p:nvSpPr>
        <p:spPr>
          <a:xfrm>
            <a:off x="6084243" y="4026852"/>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5">
                  <a:extLst>
                    <a:ext uri="{A12FA001-AC4F-418D-AE19-62706E023703}">
                      <ahyp:hlinkClr xmlns:ahyp="http://schemas.microsoft.com/office/drawing/2018/hyperlinkcolor" val="tx"/>
                    </a:ext>
                  </a:extLst>
                </a:hlinkClick>
              </a:rPr>
              <a:t>Data Warehouses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{{DS_DW}}</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9" name="Google Shape;469;p51"/>
          <p:cNvSpPr txBox="1"/>
          <p:nvPr/>
        </p:nvSpPr>
        <p:spPr>
          <a:xfrm>
            <a:off x="6085707" y="4505344"/>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6">
                  <a:extLst>
                    <a:ext uri="{A12FA001-AC4F-418D-AE19-62706E023703}">
                      <ahyp:hlinkClr xmlns:ahyp="http://schemas.microsoft.com/office/drawing/2018/hyperlinkcolor" val="tx"/>
                    </a:ext>
                  </a:extLst>
                </a:hlinkClick>
              </a:rPr>
              <a:t>AI Datastores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{{DS_AI}}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0" name="Google Shape;470;p51"/>
          <p:cNvSpPr txBox="1"/>
          <p:nvPr/>
        </p:nvSpPr>
        <p:spPr>
          <a:xfrm>
            <a:off x="6085192" y="4744589"/>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7">
                  <a:extLst>
                    <a:ext uri="{A12FA001-AC4F-418D-AE19-62706E023703}">
                      <ahyp:hlinkClr xmlns:ahyp="http://schemas.microsoft.com/office/drawing/2018/hyperlinkcolor" val="tx"/>
                    </a:ext>
                  </a:extLst>
                </a:hlinkClick>
              </a:rPr>
              <a:t>File System Services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{{DS_FSS}}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71" name="Google Shape;471;p51"/>
          <p:cNvPicPr preferRelativeResize="0"/>
          <p:nvPr/>
        </p:nvPicPr>
        <p:blipFill rotWithShape="1">
          <a:blip r:embed="rId3">
            <a:alphaModFix/>
          </a:blip>
          <a:srcRect/>
          <a:stretch/>
        </p:blipFill>
        <p:spPr>
          <a:xfrm>
            <a:off x="3080275" y="933600"/>
            <a:ext cx="2789652" cy="1542625"/>
          </a:xfrm>
          <a:prstGeom prst="rect">
            <a:avLst/>
          </a:prstGeom>
          <a:noFill/>
          <a:ln w="6350">
            <a:solidFill>
              <a:schemeClr val="accent1"/>
            </a:solidFill>
          </a:ln>
        </p:spPr>
      </p:pic>
      <p:sp>
        <p:nvSpPr>
          <p:cNvPr id="472" name="Google Shape;472;p51"/>
          <p:cNvSpPr txBox="1"/>
          <p:nvPr/>
        </p:nvSpPr>
        <p:spPr>
          <a:xfrm>
            <a:off x="3080277" y="1001134"/>
            <a:ext cx="27822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Workload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73" name="Google Shape;473;p51"/>
          <p:cNvSpPr txBox="1"/>
          <p:nvPr/>
        </p:nvSpPr>
        <p:spPr>
          <a:xfrm>
            <a:off x="3158346" y="1578966"/>
            <a:ext cx="2540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74" name="Google Shape;474;p51"/>
          <p:cNvSpPr txBox="1"/>
          <p:nvPr/>
        </p:nvSpPr>
        <p:spPr>
          <a:xfrm>
            <a:off x="3226732" y="1361234"/>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5" name="Google Shape;475;p51"/>
          <p:cNvSpPr txBox="1"/>
          <p:nvPr/>
        </p:nvSpPr>
        <p:spPr>
          <a:xfrm>
            <a:off x="3226306" y="1591491"/>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9">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6" name="Google Shape;476;p51"/>
          <p:cNvSpPr txBox="1"/>
          <p:nvPr/>
        </p:nvSpPr>
        <p:spPr>
          <a:xfrm>
            <a:off x="3231506" y="2052005"/>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Scan Coverage</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{{WS_P}}</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7" name="Google Shape;477;p51"/>
          <p:cNvSpPr txBox="1"/>
          <p:nvPr/>
        </p:nvSpPr>
        <p:spPr>
          <a:xfrm>
            <a:off x="3231499" y="1821748"/>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0">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8" name="Google Shape;478;p51"/>
          <p:cNvSpPr/>
          <p:nvPr/>
        </p:nvSpPr>
        <p:spPr>
          <a:xfrm>
            <a:off x="1335452" y="2575004"/>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479" name="Google Shape;479;p51"/>
          <p:cNvPicPr preferRelativeResize="0"/>
          <p:nvPr/>
        </p:nvPicPr>
        <p:blipFill rotWithShape="1">
          <a:blip r:embed="rId3">
            <a:alphaModFix/>
          </a:blip>
          <a:srcRect/>
          <a:stretch/>
        </p:blipFill>
        <p:spPr>
          <a:xfrm>
            <a:off x="119827" y="2962925"/>
            <a:ext cx="2755502" cy="2126475"/>
          </a:xfrm>
          <a:prstGeom prst="rect">
            <a:avLst/>
          </a:prstGeom>
          <a:noFill/>
          <a:ln w="6350">
            <a:solidFill>
              <a:schemeClr val="accent1"/>
            </a:solidFill>
          </a:ln>
        </p:spPr>
      </p:pic>
      <p:sp>
        <p:nvSpPr>
          <p:cNvPr id="480" name="Google Shape;480;p51"/>
          <p:cNvSpPr txBox="1"/>
          <p:nvPr/>
        </p:nvSpPr>
        <p:spPr>
          <a:xfrm>
            <a:off x="119827" y="2984749"/>
            <a:ext cx="27534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81" name="Google Shape;481;p51"/>
          <p:cNvSpPr txBox="1"/>
          <p:nvPr/>
        </p:nvSpPr>
        <p:spPr>
          <a:xfrm>
            <a:off x="157649" y="3766713"/>
            <a:ext cx="2690181" cy="18877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1">
                  <a:extLst>
                    <a:ext uri="{A12FA001-AC4F-418D-AE19-62706E023703}">
                      <ahyp:hlinkClr xmlns:ahyp="http://schemas.microsoft.com/office/drawing/2018/hyperlinkcolor" val="tx"/>
                    </a:ext>
                  </a:extLst>
                </a:hlinkClick>
              </a:rPr>
              <a:t>Outposts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{{SHI_O}}</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2" name="Google Shape;482;p51"/>
          <p:cNvSpPr txBox="1"/>
          <p:nvPr/>
        </p:nvSpPr>
        <p:spPr>
          <a:xfrm>
            <a:off x="142826" y="4203392"/>
            <a:ext cx="2695757" cy="2235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2">
                  <a:extLst>
                    <a:ext uri="{A12FA001-AC4F-418D-AE19-62706E023703}">
                      <ahyp:hlinkClr xmlns:ahyp="http://schemas.microsoft.com/office/drawing/2018/hyperlinkcolor" val="tx"/>
                    </a:ext>
                  </a:extLst>
                </a:hlinkClick>
              </a:rPr>
              <a:t>Registry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{{SHI_RC}}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3" name="Google Shape;483;p51"/>
          <p:cNvSpPr txBox="1"/>
          <p:nvPr/>
        </p:nvSpPr>
        <p:spPr>
          <a:xfrm>
            <a:off x="147275" y="3985053"/>
            <a:ext cx="2696624" cy="19981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3">
                  <a:extLst>
                    <a:ext uri="{A12FA001-AC4F-418D-AE19-62706E023703}">
                      <ahyp:hlinkClr xmlns:ahyp="http://schemas.microsoft.com/office/drawing/2018/hyperlinkcolor" val="tx"/>
                    </a:ext>
                  </a:extLst>
                </a:hlinkClick>
              </a:rPr>
              <a:t>Integrations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4" name="Google Shape;484;p51"/>
          <p:cNvSpPr txBox="1"/>
          <p:nvPr/>
        </p:nvSpPr>
        <p:spPr>
          <a:xfrm>
            <a:off x="157216" y="4421732"/>
            <a:ext cx="2685297" cy="20258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4">
                  <a:extLst>
                    <a:ext uri="{A12FA001-AC4F-418D-AE19-62706E023703}">
                      <ahyp:hlinkClr xmlns:ahyp="http://schemas.microsoft.com/office/drawing/2018/hyperlinkcolor" val="tx"/>
                    </a:ext>
                  </a:extLst>
                </a:hlinkClick>
              </a:rPr>
              <a:t>K8S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{{SHI_KC}}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5" name="Google Shape;485;p51"/>
          <p:cNvSpPr txBox="1"/>
          <p:nvPr/>
        </p:nvSpPr>
        <p:spPr>
          <a:xfrm>
            <a:off x="140785" y="4640071"/>
            <a:ext cx="2695757" cy="21834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5">
                  <a:extLst>
                    <a:ext uri="{A12FA001-AC4F-418D-AE19-62706E023703}">
                      <ahyp:hlinkClr xmlns:ahyp="http://schemas.microsoft.com/office/drawing/2018/hyperlinkcolor" val="tx"/>
                    </a:ext>
                  </a:extLst>
                </a:hlinkClick>
              </a:rPr>
              <a:t>VCS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{{SHI_VCS}}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6" name="Google Shape;486;p51"/>
          <p:cNvSpPr txBox="1"/>
          <p:nvPr/>
        </p:nvSpPr>
        <p:spPr>
          <a:xfrm>
            <a:off x="154650" y="4858411"/>
            <a:ext cx="2682547" cy="19465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6">
                  <a:extLst>
                    <a:ext uri="{A12FA001-AC4F-418D-AE19-62706E023703}">
                      <ahyp:hlinkClr xmlns:ahyp="http://schemas.microsoft.com/office/drawing/2018/hyperlinkcolor" val="tx"/>
                    </a:ext>
                  </a:extLst>
                </a:hlinkClick>
              </a:rPr>
              <a:t>Brokers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7" name="Google Shape;487;p51"/>
          <p:cNvSpPr txBox="1"/>
          <p:nvPr/>
        </p:nvSpPr>
        <p:spPr>
          <a:xfrm>
            <a:off x="136809" y="3548374"/>
            <a:ext cx="2725374" cy="19465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7">
                  <a:extLst>
                    <a:ext uri="{A12FA001-AC4F-418D-AE19-62706E023703}">
                      <ahyp:hlinkClr xmlns:ahyp="http://schemas.microsoft.com/office/drawing/2018/hyperlinkcolor" val="tx"/>
                    </a:ext>
                  </a:extLst>
                </a:hlinkClick>
              </a:rPr>
              <a:t>Cloud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{{SHI_CC}}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8" name="Google Shape;488;p51"/>
          <p:cNvSpPr/>
          <p:nvPr/>
        </p:nvSpPr>
        <p:spPr>
          <a:xfrm>
            <a:off x="7428227" y="2578608"/>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489" name="Google Shape;489;p51"/>
          <p:cNvSpPr txBox="1"/>
          <p:nvPr/>
        </p:nvSpPr>
        <p:spPr>
          <a:xfrm>
            <a:off x="3125493" y="3816773"/>
            <a:ext cx="2684101" cy="19249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Container Image Scans: {{RCI_T}}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0" name="Google Shape;490;p51"/>
          <p:cNvSpPr txBox="1"/>
          <p:nvPr/>
        </p:nvSpPr>
        <p:spPr>
          <a:xfrm>
            <a:off x="3121350" y="3994034"/>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{{RCI_F}} / Skipped: {{RCI_S}}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1" name="Google Shape;491;p51"/>
          <p:cNvSpPr txBox="1"/>
          <p:nvPr/>
        </p:nvSpPr>
        <p:spPr>
          <a:xfrm>
            <a:off x="3115085" y="4449820"/>
            <a:ext cx="2715979" cy="20161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VM Image Scans: {{VMI_T}}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2" name="Google Shape;492;p51"/>
          <p:cNvSpPr txBox="1"/>
          <p:nvPr/>
        </p:nvSpPr>
        <p:spPr>
          <a:xfrm>
            <a:off x="3132188" y="4624320"/>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{{VMI_F}} / Skipped: {{VMI_S}}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3" name="Google Shape;493;p51"/>
          <p:cNvSpPr txBox="1"/>
          <p:nvPr/>
        </p:nvSpPr>
        <p:spPr>
          <a:xfrm>
            <a:off x="3121555" y="3532304"/>
            <a:ext cx="2701695" cy="207299"/>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Non-OS Disk Scan Coverage: {{NON_C}}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4" name="Google Shape;494;p51"/>
          <p:cNvSpPr txBox="1"/>
          <p:nvPr/>
        </p:nvSpPr>
        <p:spPr>
          <a:xfrm>
            <a:off x="3116240" y="4171296"/>
            <a:ext cx="2715978" cy="201611"/>
          </a:xfrm>
          <a:prstGeom prst="rect">
            <a:avLst/>
          </a:prstGeom>
          <a:noFill/>
          <a:ln>
            <a:noFill/>
          </a:ln>
        </p:spPr>
        <p:txBody>
          <a:bodyPr spcFirstLastPara="1" wrap="square" lIns="0" tIns="91250" rIns="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Container Image Scan Coverage: {{RCI_C}}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5" name="Google Shape;495;p51"/>
          <p:cNvSpPr txBox="1"/>
          <p:nvPr/>
        </p:nvSpPr>
        <p:spPr>
          <a:xfrm>
            <a:off x="3114023" y="4798820"/>
            <a:ext cx="27429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VM Image Scan Coverage: {{VMI_C}}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52"/>
          <p:cNvSpPr txBox="1">
            <a:spLocks noGrp="1"/>
          </p:cNvSpPr>
          <p:nvPr>
            <p:ph type="title" idx="4294967295"/>
          </p:nvPr>
        </p:nvSpPr>
        <p:spPr>
          <a:xfrm>
            <a:off x="150" y="2661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Democratization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02" name="Google Shape;502;p52"/>
          <p:cNvSpPr/>
          <p:nvPr/>
        </p:nvSpPr>
        <p:spPr>
          <a:xfrm>
            <a:off x="145225" y="1212546"/>
            <a:ext cx="2401200" cy="953400"/>
          </a:xfrm>
          <a:prstGeom prst="roundRect">
            <a:avLst>
              <a:gd name="adj" fmla="val 16667"/>
            </a:avLst>
          </a:prstGeom>
          <a:noFill/>
          <a:ln w="9650" cap="sq" cmpd="sng">
            <a:solidFill>
              <a:schemeClr val="accent1"/>
            </a:solidFill>
            <a:prstDash val="solid"/>
            <a:round/>
            <a:headEnd type="none" w="sm" len="sm"/>
            <a:tailEnd type="none" w="sm" len="sm"/>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3" name="Google Shape;503;p52"/>
          <p:cNvSpPr txBox="1"/>
          <p:nvPr/>
        </p:nvSpPr>
        <p:spPr>
          <a:xfrm>
            <a:off x="145225" y="914076"/>
            <a:ext cx="2401200" cy="303900"/>
          </a:xfrm>
          <a:prstGeom prst="rect">
            <a:avLst/>
          </a:prstGeom>
          <a:noFill/>
          <a:ln>
            <a:noFill/>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Users &amp; Engagement</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04" name="Google Shape;504;p52"/>
          <p:cNvSpPr txBox="1"/>
          <p:nvPr/>
        </p:nvSpPr>
        <p:spPr>
          <a:xfrm>
            <a:off x="178750" y="1248140"/>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3">
                  <a:extLst>
                    <a:ext uri="{A12FA001-AC4F-418D-AE19-62706E023703}">
                      <ahyp:hlinkClr xmlns:ahyp="http://schemas.microsoft.com/office/drawing/2018/hyperlinkcolor" val="tx"/>
                    </a:ext>
                  </a:extLst>
                </a:hlinkClick>
              </a:rPr>
              <a:t>Total Users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5" name="Google Shape;505;p52"/>
          <p:cNvSpPr txBox="1"/>
          <p:nvPr/>
        </p:nvSpPr>
        <p:spPr>
          <a:xfrm>
            <a:off x="1496720" y="1248135"/>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{{U_TOT}}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6" name="Google Shape;506;p52"/>
          <p:cNvSpPr txBox="1"/>
          <p:nvPr/>
        </p:nvSpPr>
        <p:spPr>
          <a:xfrm>
            <a:off x="178750" y="1430476"/>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4">
                  <a:extLst>
                    <a:ext uri="{A12FA001-AC4F-418D-AE19-62706E023703}">
                      <ahyp:hlinkClr xmlns:ahyp="http://schemas.microsoft.com/office/drawing/2018/hyperlinkcolor" val="tx"/>
                    </a:ext>
                  </a:extLst>
                </a:hlinkClick>
              </a:rPr>
              <a:t>Active (Last 30 Days)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7" name="Google Shape;507;p52"/>
          <p:cNvSpPr txBox="1"/>
          <p:nvPr/>
        </p:nvSpPr>
        <p:spPr>
          <a:xfrm>
            <a:off x="1496720" y="1430472"/>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{{U_ACT}}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8" name="Google Shape;508;p52"/>
          <p:cNvSpPr txBox="1"/>
          <p:nvPr/>
        </p:nvSpPr>
        <p:spPr>
          <a:xfrm>
            <a:off x="178750" y="1612811"/>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rPr>
              <a:t>Engagement Rate</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9" name="Google Shape;509;p52"/>
          <p:cNvSpPr txBox="1"/>
          <p:nvPr/>
        </p:nvSpPr>
        <p:spPr>
          <a:xfrm>
            <a:off x="1496720" y="1612810"/>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{{U_ENG}}</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0" name="Google Shape;510;p52"/>
          <p:cNvSpPr/>
          <p:nvPr/>
        </p:nvSpPr>
        <p:spPr>
          <a:xfrm>
            <a:off x="2714774" y="1111825"/>
            <a:ext cx="3290529" cy="220395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1" name="Google Shape;511;p52"/>
          <p:cNvSpPr txBox="1"/>
          <p:nvPr/>
        </p:nvSpPr>
        <p:spPr>
          <a:xfrm>
            <a:off x="2891014" y="1529715"/>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{{IA_2}}</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2" name="Google Shape;512;p52"/>
          <p:cNvSpPr txBox="1"/>
          <p:nvPr/>
        </p:nvSpPr>
        <p:spPr>
          <a:xfrm>
            <a:off x="2891014" y="1705039"/>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{{IA_3}}</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3" name="Google Shape;513;p52"/>
          <p:cNvSpPr txBox="1"/>
          <p:nvPr/>
        </p:nvSpPr>
        <p:spPr>
          <a:xfrm>
            <a:off x="2891012" y="1880390"/>
            <a:ext cx="2142803" cy="161630"/>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{{IA_4}}</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4" name="Google Shape;514;p52"/>
          <p:cNvSpPr txBox="1"/>
          <p:nvPr/>
        </p:nvSpPr>
        <p:spPr>
          <a:xfrm>
            <a:off x="2891014" y="2055722"/>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{{IA_5}}</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5" name="Google Shape;515;p52"/>
          <p:cNvSpPr txBox="1"/>
          <p:nvPr/>
        </p:nvSpPr>
        <p:spPr>
          <a:xfrm>
            <a:off x="2891014" y="2231057"/>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{{IA_6}}</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6" name="Google Shape;516;p52"/>
          <p:cNvSpPr txBox="1"/>
          <p:nvPr/>
        </p:nvSpPr>
        <p:spPr>
          <a:xfrm>
            <a:off x="2891014" y="2406393"/>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{{IA_7}}</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7" name="Google Shape;517;p52"/>
          <p:cNvSpPr txBox="1"/>
          <p:nvPr/>
        </p:nvSpPr>
        <p:spPr>
          <a:xfrm>
            <a:off x="2891014" y="2581729"/>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{{IA_8}}</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8" name="Google Shape;518;p52"/>
          <p:cNvSpPr txBox="1"/>
          <p:nvPr/>
        </p:nvSpPr>
        <p:spPr>
          <a:xfrm>
            <a:off x="2891014" y="2757064"/>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{{IA_9}}</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9" name="Google Shape;519;p52"/>
          <p:cNvSpPr txBox="1"/>
          <p:nvPr/>
        </p:nvSpPr>
        <p:spPr>
          <a:xfrm>
            <a:off x="2885478" y="2932400"/>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{{IA_10}}</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0" name="Google Shape;520;p52"/>
          <p:cNvSpPr txBox="1"/>
          <p:nvPr/>
        </p:nvSpPr>
        <p:spPr>
          <a:xfrm>
            <a:off x="2891012" y="1352375"/>
            <a:ext cx="2142803" cy="147315"/>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1" name="Google Shape;521;p52"/>
          <p:cNvSpPr txBox="1"/>
          <p:nvPr/>
        </p:nvSpPr>
        <p:spPr>
          <a:xfrm>
            <a:off x="4962307" y="13435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2" name="Google Shape;522;p52"/>
          <p:cNvSpPr txBox="1"/>
          <p:nvPr/>
        </p:nvSpPr>
        <p:spPr>
          <a:xfrm>
            <a:off x="4962307" y="1519058"/>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{{IR_2}}</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3" name="Google Shape;523;p52"/>
          <p:cNvSpPr txBox="1"/>
          <p:nvPr/>
        </p:nvSpPr>
        <p:spPr>
          <a:xfrm>
            <a:off x="4962307" y="16945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{{IR_3}}</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4" name="Google Shape;524;p52"/>
          <p:cNvSpPr txBox="1"/>
          <p:nvPr/>
        </p:nvSpPr>
        <p:spPr>
          <a:xfrm>
            <a:off x="4962307" y="18701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{{IR_4}}</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5" name="Google Shape;525;p52"/>
          <p:cNvSpPr txBox="1"/>
          <p:nvPr/>
        </p:nvSpPr>
        <p:spPr>
          <a:xfrm>
            <a:off x="4962307" y="20456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{{IR_5}}</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6" name="Google Shape;526;p52"/>
          <p:cNvSpPr txBox="1"/>
          <p:nvPr/>
        </p:nvSpPr>
        <p:spPr>
          <a:xfrm>
            <a:off x="4962307" y="22211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{{IR_6}}</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7" name="Google Shape;527;p52"/>
          <p:cNvSpPr txBox="1"/>
          <p:nvPr/>
        </p:nvSpPr>
        <p:spPr>
          <a:xfrm>
            <a:off x="4962307" y="23967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{{IR_7}}</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8" name="Google Shape;528;p52"/>
          <p:cNvSpPr txBox="1"/>
          <p:nvPr/>
        </p:nvSpPr>
        <p:spPr>
          <a:xfrm>
            <a:off x="4962307" y="25722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{{IR_8}}</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9" name="Google Shape;529;p52"/>
          <p:cNvSpPr txBox="1"/>
          <p:nvPr/>
        </p:nvSpPr>
        <p:spPr>
          <a:xfrm>
            <a:off x="4962307" y="27477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{{IR_9}}</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0" name="Google Shape;530;p52"/>
          <p:cNvSpPr txBox="1"/>
          <p:nvPr/>
        </p:nvSpPr>
        <p:spPr>
          <a:xfrm>
            <a:off x="4972718" y="2923326"/>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{{IR_10}}</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1" name="Google Shape;531;p52"/>
          <p:cNvSpPr txBox="1"/>
          <p:nvPr/>
        </p:nvSpPr>
        <p:spPr>
          <a:xfrm>
            <a:off x="2714775" y="792813"/>
            <a:ext cx="3290528"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Active Integrations</a:t>
            </a:r>
            <a:r>
              <a:rPr lang="en"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6">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2" name="Google Shape;532;p52"/>
          <p:cNvSpPr txBox="1"/>
          <p:nvPr/>
        </p:nvSpPr>
        <p:spPr>
          <a:xfrm>
            <a:off x="2714750" y="1108842"/>
            <a:ext cx="3159552" cy="240862"/>
          </a:xfrm>
          <a:prstGeom prst="rect">
            <a:avLst/>
          </a:prstGeom>
          <a:noFill/>
          <a:ln>
            <a:noFill/>
          </a:ln>
        </p:spPr>
        <p:txBody>
          <a:bodyPr spcFirstLastPara="1" wrap="square" lIns="87225" tIns="87225" rIns="87225" bIns="87225" anchor="t" anchorCtr="0">
            <a:noAutofit/>
          </a:bodyPr>
          <a:lstStyle/>
          <a:p>
            <a:pPr marL="0" marR="0" lvl="0" indent="0" algn="ctr" rtl="0">
              <a:spcBef>
                <a:spcPts val="0"/>
              </a:spcBef>
              <a:spcAft>
                <a:spcPts val="0"/>
              </a:spcAft>
              <a:buClr>
                <a:srgbClr val="000000"/>
              </a:buClr>
              <a:buSzPts val="1136"/>
              <a:buFont typeface="Arial"/>
              <a:buNone/>
            </a:pPr>
            <a:r>
              <a:rPr lang="en"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Integration                                               Last Seen</a:t>
            </a:r>
            <a:endParaRPr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33" name="Google Shape;533;p52"/>
          <p:cNvSpPr/>
          <p:nvPr/>
        </p:nvSpPr>
        <p:spPr>
          <a:xfrm>
            <a:off x="145250" y="2537551"/>
            <a:ext cx="2401200" cy="11592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261"/>
              <a:buFont typeface="Arial"/>
              <a:buNone/>
            </a:pPr>
            <a:endParaRPr sz="126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4" name="Google Shape;534;p52"/>
          <p:cNvSpPr txBox="1"/>
          <p:nvPr/>
        </p:nvSpPr>
        <p:spPr>
          <a:xfrm>
            <a:off x="178755" y="3027738"/>
            <a:ext cx="160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HBI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(High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5" name="Google Shape;535;p52"/>
          <p:cNvSpPr txBox="1"/>
          <p:nvPr/>
        </p:nvSpPr>
        <p:spPr>
          <a:xfrm>
            <a:off x="1499205" y="3036972"/>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{{P_HBI}}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6" name="Google Shape;536;p52"/>
          <p:cNvSpPr txBox="1"/>
          <p:nvPr/>
        </p:nvSpPr>
        <p:spPr>
          <a:xfrm>
            <a:off x="178763" y="3191899"/>
            <a:ext cx="1650000" cy="1641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8"/>
              </a:rPr>
              <a:t>MBI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(Medium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7" name="Google Shape;537;p52"/>
          <p:cNvSpPr txBox="1"/>
          <p:nvPr/>
        </p:nvSpPr>
        <p:spPr>
          <a:xfrm>
            <a:off x="1499205" y="3194673"/>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{{P_MBI}}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8" name="Google Shape;538;p52"/>
          <p:cNvSpPr txBox="1"/>
          <p:nvPr/>
        </p:nvSpPr>
        <p:spPr>
          <a:xfrm>
            <a:off x="103249" y="2268903"/>
            <a:ext cx="2443200" cy="273600"/>
          </a:xfrm>
          <a:prstGeom prst="rect">
            <a:avLst/>
          </a:prstGeom>
          <a:noFill/>
          <a:ln>
            <a:noFill/>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Projects</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9" name="Google Shape;539;p52"/>
          <p:cNvSpPr txBox="1"/>
          <p:nvPr/>
        </p:nvSpPr>
        <p:spPr>
          <a:xfrm>
            <a:off x="201255" y="2589298"/>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Parent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0" name="Google Shape;540;p52"/>
          <p:cNvSpPr txBox="1"/>
          <p:nvPr/>
        </p:nvSpPr>
        <p:spPr>
          <a:xfrm>
            <a:off x="1401337" y="2571721"/>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1" name="Google Shape;541;p52"/>
          <p:cNvSpPr txBox="1"/>
          <p:nvPr/>
        </p:nvSpPr>
        <p:spPr>
          <a:xfrm>
            <a:off x="181215" y="3356084"/>
            <a:ext cx="145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9"/>
              </a:rPr>
              <a:t>LBI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(Low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2" name="Google Shape;542;p52"/>
          <p:cNvSpPr txBox="1"/>
          <p:nvPr/>
        </p:nvSpPr>
        <p:spPr>
          <a:xfrm>
            <a:off x="1500450" y="3352374"/>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{{P_LBI}}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3" name="Google Shape;543;p52"/>
          <p:cNvSpPr txBox="1"/>
          <p:nvPr/>
        </p:nvSpPr>
        <p:spPr>
          <a:xfrm>
            <a:off x="200888" y="2781549"/>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Child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4" name="Google Shape;544;p52"/>
          <p:cNvSpPr txBox="1"/>
          <p:nvPr/>
        </p:nvSpPr>
        <p:spPr>
          <a:xfrm>
            <a:off x="1400970" y="2763973"/>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{{PC_TOT}}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5" name="Google Shape;545;p52"/>
          <p:cNvSpPr txBox="1"/>
          <p:nvPr/>
        </p:nvSpPr>
        <p:spPr>
          <a:xfrm>
            <a:off x="6163222" y="792816"/>
            <a:ext cx="2835527"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Features / Functionality Usage</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46" name="Google Shape;546;p52"/>
          <p:cNvSpPr/>
          <p:nvPr/>
        </p:nvSpPr>
        <p:spPr>
          <a:xfrm>
            <a:off x="6163222" y="1119161"/>
            <a:ext cx="2835527" cy="2041333"/>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91225" tIns="91225" rIns="91225" bIns="912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7" name="Google Shape;547;p52"/>
          <p:cNvSpPr txBox="1"/>
          <p:nvPr/>
        </p:nvSpPr>
        <p:spPr>
          <a:xfrm>
            <a:off x="6322754" y="113465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0">
                  <a:extLst>
                    <a:ext uri="{A12FA001-AC4F-418D-AE19-62706E023703}">
                      <ahyp:hlinkClr xmlns:ahyp="http://schemas.microsoft.com/office/drawing/2018/hyperlinkcolor" val="tx"/>
                    </a:ext>
                  </a:extLst>
                </a:hlinkClick>
              </a:rPr>
              <a:t>Custom Compliance Frameworks</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8" name="Google Shape;548;p52"/>
          <p:cNvSpPr txBox="1"/>
          <p:nvPr/>
        </p:nvSpPr>
        <p:spPr>
          <a:xfrm>
            <a:off x="7250324" y="113312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{{F_FW}}</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9" name="Google Shape;549;p52"/>
          <p:cNvSpPr txBox="1"/>
          <p:nvPr/>
        </p:nvSpPr>
        <p:spPr>
          <a:xfrm>
            <a:off x="6322754" y="1334180"/>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1">
                  <a:extLst>
                    <a:ext uri="{A12FA001-AC4F-418D-AE19-62706E023703}">
                      <ahyp:hlinkClr xmlns:ahyp="http://schemas.microsoft.com/office/drawing/2018/hyperlinkcolor" val="tx"/>
                    </a:ext>
                  </a:extLst>
                </a:hlinkClick>
              </a:rPr>
              <a:t>Resource Tag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0" name="Google Shape;550;p52"/>
          <p:cNvSpPr txBox="1"/>
          <p:nvPr/>
        </p:nvSpPr>
        <p:spPr>
          <a:xfrm>
            <a:off x="7250324" y="133265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1" name="Google Shape;551;p52"/>
          <p:cNvSpPr txBox="1"/>
          <p:nvPr/>
        </p:nvSpPr>
        <p:spPr>
          <a:xfrm>
            <a:off x="6322754" y="1533709"/>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2">
                  <a:extLst>
                    <a:ext uri="{A12FA001-AC4F-418D-AE19-62706E023703}">
                      <ahyp:hlinkClr xmlns:ahyp="http://schemas.microsoft.com/office/drawing/2018/hyperlinkcolor" val="tx"/>
                    </a:ext>
                  </a:extLst>
                </a:hlinkClick>
              </a:rPr>
              <a:t>Service Catalog Discovery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2" name="Google Shape;552;p52"/>
          <p:cNvSpPr txBox="1"/>
          <p:nvPr/>
        </p:nvSpPr>
        <p:spPr>
          <a:xfrm>
            <a:off x="7250324" y="153218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{{F_DR}}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3" name="Google Shape;553;p52"/>
          <p:cNvSpPr txBox="1"/>
          <p:nvPr/>
        </p:nvSpPr>
        <p:spPr>
          <a:xfrm>
            <a:off x="6322754" y="1726496"/>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3">
                  <a:extLst>
                    <a:ext uri="{A12FA001-AC4F-418D-AE19-62706E023703}">
                      <ahyp:hlinkClr xmlns:ahyp="http://schemas.microsoft.com/office/drawing/2018/hyperlinkcolor" val="tx"/>
                    </a:ext>
                  </a:extLst>
                </a:hlinkClick>
              </a:rPr>
              <a:t>Inventory Management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4" name="Google Shape;554;p52"/>
          <p:cNvSpPr txBox="1"/>
          <p:nvPr/>
        </p:nvSpPr>
        <p:spPr>
          <a:xfrm>
            <a:off x="7250324" y="1724967"/>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{{F_IR}}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5" name="Google Shape;555;p52"/>
          <p:cNvSpPr txBox="1"/>
          <p:nvPr/>
        </p:nvSpPr>
        <p:spPr>
          <a:xfrm>
            <a:off x="6322754" y="1926024"/>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4">
                  <a:extLst>
                    <a:ext uri="{A12FA001-AC4F-418D-AE19-62706E023703}">
                      <ahyp:hlinkClr xmlns:ahyp="http://schemas.microsoft.com/office/drawing/2018/hyperlinkcolor" val="tx"/>
                    </a:ext>
                  </a:extLst>
                </a:hlinkClick>
              </a:rPr>
              <a:t>User Created Posture Policies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6" name="Google Shape;556;p52"/>
          <p:cNvSpPr txBox="1"/>
          <p:nvPr/>
        </p:nvSpPr>
        <p:spPr>
          <a:xfrm>
            <a:off x="7250324" y="1924495"/>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{{F_PP}}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7" name="Google Shape;557;p52"/>
          <p:cNvSpPr txBox="1"/>
          <p:nvPr/>
        </p:nvSpPr>
        <p:spPr>
          <a:xfrm>
            <a:off x="6322754" y="2125553"/>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5">
                  <a:extLst>
                    <a:ext uri="{A12FA001-AC4F-418D-AE19-62706E023703}">
                      <ahyp:hlinkClr xmlns:ahyp="http://schemas.microsoft.com/office/drawing/2018/hyperlinkcolor" val="tx"/>
                    </a:ext>
                  </a:extLst>
                </a:hlinkClick>
              </a:rPr>
              <a:t>User Created Monitored Metrics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8" name="Google Shape;558;p52"/>
          <p:cNvSpPr txBox="1"/>
          <p:nvPr/>
        </p:nvSpPr>
        <p:spPr>
          <a:xfrm>
            <a:off x="7250324" y="2124024"/>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{{F_MM}}</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9" name="Google Shape;559;p52"/>
          <p:cNvSpPr txBox="1"/>
          <p:nvPr/>
        </p:nvSpPr>
        <p:spPr>
          <a:xfrm>
            <a:off x="6315488" y="232208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6">
                  <a:extLst>
                    <a:ext uri="{A12FA001-AC4F-418D-AE19-62706E023703}">
                      <ahyp:hlinkClr xmlns:ahyp="http://schemas.microsoft.com/office/drawing/2018/hyperlinkcolor" val="tx"/>
                    </a:ext>
                  </a:extLst>
                </a:hlinkClick>
              </a:rPr>
              <a:t>Champion Center Owners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0" name="Google Shape;560;p52"/>
          <p:cNvSpPr txBox="1"/>
          <p:nvPr/>
        </p:nvSpPr>
        <p:spPr>
          <a:xfrm>
            <a:off x="7243057" y="2309149"/>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{{CC_TOT}}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1" name="Google Shape;561;p52"/>
          <p:cNvSpPr txBox="1"/>
          <p:nvPr/>
        </p:nvSpPr>
        <p:spPr>
          <a:xfrm>
            <a:off x="6319629" y="2508697"/>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7">
                  <a:extLst>
                    <a:ext uri="{A12FA001-AC4F-418D-AE19-62706E023703}">
                      <ahyp:hlinkClr xmlns:ahyp="http://schemas.microsoft.com/office/drawing/2018/hyperlinkcolor" val="tx"/>
                    </a:ext>
                  </a:extLst>
                </a:hlinkClick>
              </a:rPr>
              <a:t>Using Wiz Browser Extension</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2" name="Google Shape;562;p52"/>
          <p:cNvSpPr txBox="1"/>
          <p:nvPr/>
        </p:nvSpPr>
        <p:spPr>
          <a:xfrm>
            <a:off x="7247197" y="249576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{{F_BE}}</a:t>
            </a:r>
            <a:endParaRPr sz="9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563" name="Google Shape;563;p52" title="Group 1000004640.png"/>
          <p:cNvPicPr preferRelativeResize="0"/>
          <p:nvPr/>
        </p:nvPicPr>
        <p:blipFill rotWithShape="1">
          <a:blip r:embed="rId18">
            <a:alphaModFix/>
          </a:blip>
          <a:srcRect/>
          <a:stretch/>
        </p:blipFill>
        <p:spPr>
          <a:xfrm>
            <a:off x="6701399" y="3945838"/>
            <a:ext cx="1202026" cy="1216270"/>
          </a:xfrm>
          <a:prstGeom prst="rect">
            <a:avLst/>
          </a:prstGeom>
          <a:noFill/>
          <a:ln>
            <a:noFill/>
          </a:ln>
        </p:spPr>
      </p:pic>
      <p:pic>
        <p:nvPicPr>
          <p:cNvPr id="564" name="Google Shape;564;p52" title="Group 1000004641.png"/>
          <p:cNvPicPr preferRelativeResize="0"/>
          <p:nvPr/>
        </p:nvPicPr>
        <p:blipFill rotWithShape="1">
          <a:blip r:embed="rId19">
            <a:alphaModFix/>
          </a:blip>
          <a:srcRect/>
          <a:stretch/>
        </p:blipFill>
        <p:spPr>
          <a:xfrm>
            <a:off x="4245479" y="3945838"/>
            <a:ext cx="1202026" cy="1216270"/>
          </a:xfrm>
          <a:prstGeom prst="rect">
            <a:avLst/>
          </a:prstGeom>
          <a:noFill/>
          <a:ln>
            <a:noFill/>
          </a:ln>
        </p:spPr>
      </p:pic>
      <p:pic>
        <p:nvPicPr>
          <p:cNvPr id="565" name="Google Shape;565;p52" title="Group 1000004639.png"/>
          <p:cNvPicPr preferRelativeResize="0"/>
          <p:nvPr/>
        </p:nvPicPr>
        <p:blipFill rotWithShape="1">
          <a:blip r:embed="rId20">
            <a:alphaModFix/>
          </a:blip>
          <a:srcRect/>
          <a:stretch/>
        </p:blipFill>
        <p:spPr>
          <a:xfrm>
            <a:off x="1789559" y="3945838"/>
            <a:ext cx="1202026" cy="1216270"/>
          </a:xfrm>
          <a:prstGeom prst="rect">
            <a:avLst/>
          </a:prstGeom>
          <a:noFill/>
          <a:ln>
            <a:noFill/>
          </a:ln>
        </p:spPr>
      </p:pic>
      <p:sp>
        <p:nvSpPr>
          <p:cNvPr id="566" name="Google Shape;566;p52"/>
          <p:cNvSpPr/>
          <p:nvPr/>
        </p:nvSpPr>
        <p:spPr>
          <a:xfrm>
            <a:off x="1826818" y="4593453"/>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7" name="Google Shape;567;p52"/>
          <p:cNvSpPr/>
          <p:nvPr/>
        </p:nvSpPr>
        <p:spPr>
          <a:xfrm>
            <a:off x="1842610" y="4876841"/>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8" name="Google Shape;568;p52"/>
          <p:cNvSpPr/>
          <p:nvPr/>
        </p:nvSpPr>
        <p:spPr>
          <a:xfrm>
            <a:off x="792658" y="4465733"/>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9" name="Google Shape;569;p52"/>
          <p:cNvSpPr/>
          <p:nvPr/>
        </p:nvSpPr>
        <p:spPr>
          <a:xfrm>
            <a:off x="746564" y="4637698"/>
            <a:ext cx="10293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0" name="Google Shape;570;p52"/>
          <p:cNvSpPr/>
          <p:nvPr/>
        </p:nvSpPr>
        <p:spPr>
          <a:xfrm>
            <a:off x="3258006"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1" name="Google Shape;571;p52"/>
          <p:cNvSpPr/>
          <p:nvPr/>
        </p:nvSpPr>
        <p:spPr>
          <a:xfrm>
            <a:off x="3173074" y="4650643"/>
            <a:ext cx="11178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triage high-fidelity threats</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2" name="Google Shape;572;p52"/>
          <p:cNvSpPr/>
          <p:nvPr/>
        </p:nvSpPr>
        <p:spPr>
          <a:xfrm>
            <a:off x="5714491"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3" name="Google Shape;573;p52"/>
          <p:cNvSpPr/>
          <p:nvPr/>
        </p:nvSpPr>
        <p:spPr>
          <a:xfrm>
            <a:off x="5629558" y="4738385"/>
            <a:ext cx="11178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issues before they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73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4" name="Google Shape;574;p52"/>
          <p:cNvSpPr/>
          <p:nvPr/>
        </p:nvSpPr>
        <p:spPr>
          <a:xfrm>
            <a:off x="4293866" y="4602589"/>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5" name="Google Shape;575;p52"/>
          <p:cNvSpPr/>
          <p:nvPr/>
        </p:nvSpPr>
        <p:spPr>
          <a:xfrm>
            <a:off x="4309658" y="4885978"/>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6" name="Google Shape;576;p52"/>
          <p:cNvSpPr/>
          <p:nvPr/>
        </p:nvSpPr>
        <p:spPr>
          <a:xfrm>
            <a:off x="6751047" y="4611991"/>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7" name="Google Shape;577;p52"/>
          <p:cNvSpPr/>
          <p:nvPr/>
        </p:nvSpPr>
        <p:spPr>
          <a:xfrm>
            <a:off x="6766839" y="4895379"/>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8" name="Google Shape;578;p52"/>
          <p:cNvSpPr/>
          <p:nvPr/>
        </p:nvSpPr>
        <p:spPr>
          <a:xfrm>
            <a:off x="6220691" y="3251123"/>
            <a:ext cx="2673777" cy="5631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79" name="Google Shape;579;p52"/>
          <p:cNvSpPr txBox="1"/>
          <p:nvPr/>
        </p:nvSpPr>
        <p:spPr>
          <a:xfrm>
            <a:off x="6223125" y="3218322"/>
            <a:ext cx="2636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1">
                  <a:extLst>
                    <a:ext uri="{A12FA001-AC4F-418D-AE19-62706E023703}">
                      <ahyp:hlinkClr xmlns:ahyp="http://schemas.microsoft.com/office/drawing/2018/hyperlinkcolor" val="tx"/>
                    </a:ext>
                  </a:extLst>
                </a:hlinkClick>
              </a:rPr>
              <a:t>Automation Workflows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0" name="Google Shape;580;p52"/>
          <p:cNvSpPr txBox="1"/>
          <p:nvPr/>
        </p:nvSpPr>
        <p:spPr>
          <a:xfrm>
            <a:off x="7155895" y="32327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{{F_WF}}</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1" name="Google Shape;581;p52"/>
          <p:cNvSpPr txBox="1"/>
          <p:nvPr/>
        </p:nvSpPr>
        <p:spPr>
          <a:xfrm>
            <a:off x="6223125" y="3417847"/>
            <a:ext cx="2171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2">
                  <a:extLst>
                    <a:ext uri="{A12FA001-AC4F-418D-AE19-62706E023703}">
                      <ahyp:hlinkClr xmlns:ahyp="http://schemas.microsoft.com/office/drawing/2018/hyperlinkcolor" val="tx"/>
                    </a:ext>
                  </a:extLst>
                </a:hlinkClick>
              </a:rPr>
              <a:t>Automation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2" name="Google Shape;582;p52"/>
          <p:cNvSpPr txBox="1"/>
          <p:nvPr/>
        </p:nvSpPr>
        <p:spPr>
          <a:xfrm>
            <a:off x="7155895" y="343226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{{F_AR}}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3" name="Google Shape;583;p52"/>
          <p:cNvSpPr txBox="1"/>
          <p:nvPr/>
        </p:nvSpPr>
        <p:spPr>
          <a:xfrm>
            <a:off x="6326261" y="2702745"/>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3">
                  <a:extLst>
                    <a:ext uri="{A12FA001-AC4F-418D-AE19-62706E023703}">
                      <ahyp:hlinkClr xmlns:ahyp="http://schemas.microsoft.com/office/drawing/2018/hyperlinkcolor" val="tx"/>
                    </a:ext>
                  </a:extLst>
                </a:hlinkClick>
              </a:rPr>
              <a:t>Wiz MCP Users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4" name="Google Shape;584;p52"/>
          <p:cNvSpPr txBox="1"/>
          <p:nvPr/>
        </p:nvSpPr>
        <p:spPr>
          <a:xfrm>
            <a:off x="7253830" y="268981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{{F_WMCP}}</a:t>
            </a:r>
            <a:endParaRPr sz="9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pic>
        <p:nvPicPr>
          <p:cNvPr id="590" name="Google Shape;590;p53"/>
          <p:cNvPicPr preferRelativeResize="0"/>
          <p:nvPr/>
        </p:nvPicPr>
        <p:blipFill rotWithShape="1">
          <a:blip r:embed="rId3">
            <a:alphaModFix/>
          </a:blip>
          <a:srcRect/>
          <a:stretch/>
        </p:blipFill>
        <p:spPr>
          <a:xfrm>
            <a:off x="110700" y="514955"/>
            <a:ext cx="4359173" cy="4230574"/>
          </a:xfrm>
          <a:prstGeom prst="rect">
            <a:avLst/>
          </a:prstGeom>
          <a:noFill/>
          <a:ln w="6350">
            <a:solidFill>
              <a:schemeClr val="accent1"/>
            </a:solidFill>
          </a:ln>
        </p:spPr>
      </p:pic>
      <p:sp>
        <p:nvSpPr>
          <p:cNvPr id="591" name="Google Shape;591;p53"/>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92" name="Google Shape;592;p53"/>
          <p:cNvSpPr txBox="1"/>
          <p:nvPr/>
        </p:nvSpPr>
        <p:spPr>
          <a:xfrm>
            <a:off x="110700" y="583584"/>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3" name="Google Shape;593;p53"/>
          <p:cNvSpPr/>
          <p:nvPr/>
        </p:nvSpPr>
        <p:spPr>
          <a:xfrm>
            <a:off x="165200" y="983157"/>
            <a:ext cx="4313400" cy="209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Advanced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{{BILLABLE_ADVANCED}}</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Sensor / Defend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{{BILLABLE_SENSOR}}</a:t>
            </a:r>
            <a:b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{{BILLABLE_DEFEND}}</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Wiz Code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{{BILLABLE_CODE}}</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594" name="Google Shape;594;p53"/>
          <p:cNvPicPr preferRelativeResize="0"/>
          <p:nvPr/>
        </p:nvPicPr>
        <p:blipFill rotWithShape="1">
          <a:blip r:embed="rId3">
            <a:alphaModFix/>
          </a:blip>
          <a:srcRect/>
          <a:stretch/>
        </p:blipFill>
        <p:spPr>
          <a:xfrm>
            <a:off x="4636225" y="519525"/>
            <a:ext cx="4359173" cy="4230574"/>
          </a:xfrm>
          <a:prstGeom prst="rect">
            <a:avLst/>
          </a:prstGeom>
          <a:noFill/>
          <a:ln w="6350">
            <a:solidFill>
              <a:schemeClr val="accent1"/>
            </a:solidFill>
          </a:ln>
        </p:spPr>
      </p:pic>
      <p:sp>
        <p:nvSpPr>
          <p:cNvPr id="595" name="Google Shape;595;p53"/>
          <p:cNvSpPr txBox="1"/>
          <p:nvPr/>
        </p:nvSpPr>
        <p:spPr>
          <a:xfrm>
            <a:off x="4636222" y="584617"/>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6" name="Google Shape;596;p53"/>
          <p:cNvSpPr/>
          <p:nvPr/>
        </p:nvSpPr>
        <p:spPr>
          <a:xfrm>
            <a:off x="4690701" y="997376"/>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{{ALL_NON_BILLABLE_PREVIEW}}</a:t>
            </a:r>
            <a:br>
              <a:rPr lang="en"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endParaRPr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pic>
        <p:nvPicPr>
          <p:cNvPr id="602" name="Google Shape;602;p54"/>
          <p:cNvPicPr preferRelativeResize="0"/>
          <p:nvPr/>
        </p:nvPicPr>
        <p:blipFill rotWithShape="1">
          <a:blip r:embed="rId3">
            <a:alphaModFix/>
          </a:blip>
          <a:srcRect/>
          <a:stretch/>
        </p:blipFill>
        <p:spPr>
          <a:xfrm>
            <a:off x="110700" y="514953"/>
            <a:ext cx="4359173" cy="3657923"/>
          </a:xfrm>
          <a:prstGeom prst="rect">
            <a:avLst/>
          </a:prstGeom>
          <a:noFill/>
          <a:ln w="6350">
            <a:solidFill>
              <a:schemeClr val="accent1"/>
            </a:solidFill>
          </a:ln>
        </p:spPr>
      </p:pic>
      <p:sp>
        <p:nvSpPr>
          <p:cNvPr id="603" name="Google Shape;603;p54"/>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04" name="Google Shape;604;p54"/>
          <p:cNvSpPr txBox="1"/>
          <p:nvPr/>
        </p:nvSpPr>
        <p:spPr>
          <a:xfrm>
            <a:off x="110700" y="573172"/>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5" name="Google Shape;605;p54"/>
          <p:cNvSpPr/>
          <p:nvPr/>
        </p:nvSpPr>
        <p:spPr>
          <a:xfrm>
            <a:off x="165200" y="979468"/>
            <a:ext cx="4313400" cy="2127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2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06" name="Google Shape;606;p54"/>
          <p:cNvPicPr preferRelativeResize="0"/>
          <p:nvPr/>
        </p:nvPicPr>
        <p:blipFill rotWithShape="1">
          <a:blip r:embed="rId3">
            <a:alphaModFix/>
          </a:blip>
          <a:srcRect/>
          <a:stretch/>
        </p:blipFill>
        <p:spPr>
          <a:xfrm>
            <a:off x="4636225" y="519525"/>
            <a:ext cx="4359173" cy="3657923"/>
          </a:xfrm>
          <a:prstGeom prst="rect">
            <a:avLst/>
          </a:prstGeom>
          <a:noFill/>
          <a:ln w="6350">
            <a:solidFill>
              <a:schemeClr val="accent1"/>
            </a:solidFill>
          </a:ln>
        </p:spPr>
      </p:pic>
      <p:sp>
        <p:nvSpPr>
          <p:cNvPr id="607" name="Google Shape;607;p54"/>
          <p:cNvSpPr txBox="1"/>
          <p:nvPr/>
        </p:nvSpPr>
        <p:spPr>
          <a:xfrm>
            <a:off x="4636222" y="574205"/>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8" name="Google Shape;608;p54"/>
          <p:cNvSpPr/>
          <p:nvPr/>
        </p:nvSpPr>
        <p:spPr>
          <a:xfrm>
            <a:off x="4690701" y="972864"/>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{{PRIVATE_NON_BILLABLE}}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9" name="Google Shape;609;p54"/>
          <p:cNvSpPr txBox="1"/>
          <p:nvPr/>
        </p:nvSpPr>
        <p:spPr>
          <a:xfrm>
            <a:off x="-100" y="4435475"/>
            <a:ext cx="9144000" cy="189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**Private Features are typically only available upon request and approval</a:t>
            </a:r>
            <a:endParaRPr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pic>
        <p:nvPicPr>
          <p:cNvPr id="615" name="Google Shape;615;p55"/>
          <p:cNvPicPr preferRelativeResize="0"/>
          <p:nvPr/>
        </p:nvPicPr>
        <p:blipFill rotWithShape="1">
          <a:blip r:embed="rId3">
            <a:alphaModFix/>
          </a:blip>
          <a:srcRect/>
          <a:stretch/>
        </p:blipFill>
        <p:spPr>
          <a:xfrm>
            <a:off x="329350" y="1194925"/>
            <a:ext cx="8466125" cy="3904599"/>
          </a:xfrm>
          <a:prstGeom prst="rect">
            <a:avLst/>
          </a:prstGeom>
          <a:noFill/>
          <a:ln w="6350">
            <a:solidFill>
              <a:schemeClr val="accent1"/>
            </a:solidFill>
          </a:ln>
        </p:spPr>
      </p:pic>
      <p:sp>
        <p:nvSpPr>
          <p:cNvPr id="616" name="Google Shape;616;p55"/>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Roadmap Tracker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7" name="Google Shape;617;p55"/>
          <p:cNvSpPr txBox="1"/>
          <p:nvPr/>
        </p:nvSpPr>
        <p:spPr>
          <a:xfrm>
            <a:off x="406975" y="1231821"/>
            <a:ext cx="8306406" cy="375600"/>
          </a:xfrm>
          <a:prstGeom prst="rect">
            <a:avLst/>
          </a:prstGeom>
          <a:noFill/>
          <a:ln w="6350">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8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Tracked Roadmap Items</a:t>
            </a:r>
            <a:r>
              <a:rPr lang="en" sz="18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8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18" name="Google Shape;618;p55"/>
          <p:cNvSpPr/>
          <p:nvPr/>
        </p:nvSpPr>
        <p:spPr>
          <a:xfrm>
            <a:off x="435197" y="1658861"/>
            <a:ext cx="8377200" cy="201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rPr>
              <a:t>{{ROADMAP_TRACKER}}</a:t>
            </a:r>
            <a:endParaRPr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100000"/>
              </a:lnSpc>
              <a:spcBef>
                <a:spcPts val="0"/>
              </a:spcBef>
              <a:spcAft>
                <a:spcPts val="0"/>
              </a:spcAft>
              <a:buClr>
                <a:srgbClr val="4A4A4A"/>
              </a:buClr>
              <a:buSzPts val="1100"/>
              <a:buFont typeface="Arial"/>
              <a:buNone/>
            </a:pPr>
            <a:endParaRPr sz="13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9" name="Google Shape;619;p55"/>
          <p:cNvSpPr txBox="1"/>
          <p:nvPr/>
        </p:nvSpPr>
        <p:spPr>
          <a:xfrm>
            <a:off x="150" y="498025"/>
            <a:ext cx="9144000" cy="696900"/>
          </a:xfrm>
          <a:prstGeom prst="rect">
            <a:avLst/>
          </a:prstGeom>
          <a:noFill/>
          <a:ln>
            <a:noFill/>
          </a:ln>
        </p:spPr>
        <p:txBody>
          <a:bodyPr spcFirstLastPara="1" wrap="square" lIns="68575" tIns="34275" rIns="68575" bIns="34275" anchor="t" anchorCtr="0">
            <a:noAutofit/>
          </a:bodyPr>
          <a:lstStyle/>
          <a:p>
            <a:pPr marL="0" marR="0" lvl="0" indent="0" algn="ctr" rtl="0">
              <a:lnSpc>
                <a:spcPct val="115000"/>
              </a:lnSpc>
              <a:spcBef>
                <a:spcPts val="0"/>
              </a:spcBef>
              <a:spcAft>
                <a:spcPts val="0"/>
              </a:spcAft>
              <a:buClr>
                <a:schemeClr val="dk1"/>
              </a:buClr>
              <a:buSzPts val="1100"/>
              <a:buFont typeface="Arial"/>
              <a:buNone/>
            </a:pPr>
            <a:r>
              <a:rPr lang="en" sz="800" b="0" i="0" u="none" strike="noStrike" cap="none" dirty="0">
                <a:solidFill>
                  <a:srgbClr val="60646C"/>
                </a:solidFill>
                <a:latin typeface="Calibri" panose="020F0502020204030204" pitchFamily="34" charset="0"/>
                <a:ea typeface="Calibri" panose="020F0502020204030204" pitchFamily="34" charset="0"/>
                <a:cs typeface="Calibri" panose="020F0502020204030204" pitchFamily="34" charset="0"/>
                <a:sym typeface="Poppins"/>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sz="800" b="0" i="0" u="none" strike="noStrike" cap="none" dirty="0">
              <a:solidFill>
                <a:srgbClr val="60646C"/>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600"/>
              </a:spcBef>
              <a:spcAft>
                <a:spcPts val="0"/>
              </a:spcAft>
              <a:buClr>
                <a:schemeClr val="dk2"/>
              </a:buClr>
              <a:buSzPts val="1500"/>
              <a:buFont typeface="Arial"/>
              <a:buNone/>
            </a:pPr>
            <a:endParaRPr sz="8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56"/>
          <p:cNvSpPr txBox="1"/>
          <p:nvPr/>
        </p:nvSpPr>
        <p:spPr>
          <a:xfrm>
            <a:off x="468449" y="2215800"/>
            <a:ext cx="3273600" cy="9003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Reducing Critical Risk and Beyond</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26" name="Google Shape;626;p56"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627" name="Google Shape;627;p56"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628" name="Google Shape;628;p56" title="logo.png"/>
          <p:cNvPicPr preferRelativeResize="0"/>
          <p:nvPr/>
        </p:nvPicPr>
        <p:blipFill rotWithShape="1">
          <a:blip r:embed="rId5">
            <a:alphaModFix/>
          </a:blip>
          <a:srcRect/>
          <a:stretch/>
        </p:blipFill>
        <p:spPr>
          <a:xfrm>
            <a:off x="553277" y="1726800"/>
            <a:ext cx="637001" cy="3041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7"/>
          <p:cNvSpPr txBox="1"/>
          <p:nvPr/>
        </p:nvSpPr>
        <p:spPr>
          <a:xfrm>
            <a:off x="6799450" y="3138000"/>
            <a:ext cx="2010300" cy="201816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5" name="Google Shape;635;p57"/>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6" name="Google Shape;636;p57"/>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7" name="Google Shape;637;p57"/>
          <p:cNvSpPr txBox="1"/>
          <p:nvPr/>
        </p:nvSpPr>
        <p:spPr>
          <a:xfrm>
            <a:off x="2815700" y="3916475"/>
            <a:ext cx="1987500" cy="1227025"/>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638" name="Google Shape;638;p57"/>
          <p:cNvCxnSpPr>
            <a:cxnSpLocks/>
          </p:cNvCxnSpPr>
          <p:nvPr/>
        </p:nvCxnSpPr>
        <p:spPr>
          <a:xfrm flipV="1">
            <a:off x="2813100" y="2136400"/>
            <a:ext cx="0" cy="3019761"/>
          </a:xfrm>
          <a:prstGeom prst="straightConnector1">
            <a:avLst/>
          </a:prstGeom>
          <a:noFill/>
          <a:ln w="9525" cap="flat" cmpd="sng">
            <a:solidFill>
              <a:srgbClr val="0254EC"/>
            </a:solidFill>
            <a:prstDash val="solid"/>
            <a:round/>
            <a:headEnd type="none" w="sm" len="sm"/>
            <a:tailEnd type="none" w="sm" len="sm"/>
          </a:ln>
        </p:spPr>
      </p:cxnSp>
      <p:cxnSp>
        <p:nvCxnSpPr>
          <p:cNvPr id="639" name="Google Shape;639;p57"/>
          <p:cNvCxnSpPr>
            <a:cxnSpLocks/>
          </p:cNvCxnSpPr>
          <p:nvPr/>
        </p:nvCxnSpPr>
        <p:spPr>
          <a:xfrm flipV="1">
            <a:off x="4804975" y="1525650"/>
            <a:ext cx="0" cy="3617850"/>
          </a:xfrm>
          <a:prstGeom prst="straightConnector1">
            <a:avLst/>
          </a:prstGeom>
          <a:noFill/>
          <a:ln w="9525" cap="flat" cmpd="sng">
            <a:solidFill>
              <a:srgbClr val="0254EC"/>
            </a:solidFill>
            <a:prstDash val="solid"/>
            <a:round/>
            <a:headEnd type="none" w="sm" len="sm"/>
            <a:tailEnd type="none" w="sm" len="sm"/>
          </a:ln>
        </p:spPr>
      </p:cxnSp>
      <p:cxnSp>
        <p:nvCxnSpPr>
          <p:cNvPr id="640" name="Google Shape;640;p57"/>
          <p:cNvCxnSpPr>
            <a:cxnSpLocks/>
          </p:cNvCxnSpPr>
          <p:nvPr/>
        </p:nvCxnSpPr>
        <p:spPr>
          <a:xfrm flipV="1">
            <a:off x="6799450" y="910700"/>
            <a:ext cx="5225" cy="4232800"/>
          </a:xfrm>
          <a:prstGeom prst="straightConnector1">
            <a:avLst/>
          </a:prstGeom>
          <a:noFill/>
          <a:ln w="9525" cap="flat" cmpd="sng">
            <a:solidFill>
              <a:srgbClr val="0254EC"/>
            </a:solidFill>
            <a:prstDash val="solid"/>
            <a:round/>
            <a:headEnd type="none" w="sm" len="sm"/>
            <a:tailEnd type="none" w="sm" len="sm"/>
          </a:ln>
        </p:spPr>
      </p:cxnSp>
      <p:cxnSp>
        <p:nvCxnSpPr>
          <p:cNvPr id="641" name="Google Shape;641;p57"/>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642" name="Google Shape;642;p57"/>
          <p:cNvCxnSpPr/>
          <p:nvPr/>
        </p:nvCxnSpPr>
        <p:spPr>
          <a:xfrm rot="10800000">
            <a:off x="807946" y="2756762"/>
            <a:ext cx="0" cy="2399400"/>
          </a:xfrm>
          <a:prstGeom prst="straightConnector1">
            <a:avLst/>
          </a:prstGeom>
          <a:noFill/>
          <a:ln w="9525" cap="flat" cmpd="sng">
            <a:solidFill>
              <a:srgbClr val="0254EC"/>
            </a:solidFill>
            <a:prstDash val="solid"/>
            <a:round/>
            <a:headEnd type="none" w="sm" len="sm"/>
            <a:tailEnd type="none" w="sm" len="sm"/>
          </a:ln>
        </p:spPr>
      </p:cxnSp>
      <p:pic>
        <p:nvPicPr>
          <p:cNvPr id="643" name="Google Shape;643;p57"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644" name="Google Shape;644;p57"/>
          <p:cNvSpPr txBox="1">
            <a:spLocks noGrp="1"/>
          </p:cNvSpPr>
          <p:nvPr>
            <p:ph type="title" idx="4294967295"/>
          </p:nvPr>
        </p:nvSpPr>
        <p:spPr>
          <a:xfrm>
            <a:off x="304850" y="182250"/>
            <a:ext cx="7550100" cy="646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Security</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5" name="Google Shape;645;p57"/>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BACKLOG PREVENTION - DEVELOP SECURELY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6" name="Google Shape;646;p57"/>
          <p:cNvSpPr txBox="1"/>
          <p:nvPr/>
        </p:nvSpPr>
        <p:spPr>
          <a:xfrm>
            <a:off x="6810807" y="2070332"/>
            <a:ext cx="1811700" cy="972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code-to-cloud guardrails to prevent issues from ever being deployed with Wiz Code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Give devs cloud context directly in IDEs and code for secure by design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7" name="Google Shape;647;p57"/>
          <p:cNvSpPr txBox="1"/>
          <p:nvPr/>
        </p:nvSpPr>
        <p:spPr>
          <a:xfrm>
            <a:off x="5006084" y="2154770"/>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POSTURE HARDENING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8" name="Google Shape;648;p57"/>
          <p:cNvSpPr txBox="1"/>
          <p:nvPr/>
        </p:nvSpPr>
        <p:spPr>
          <a:xfrm>
            <a:off x="4902050" y="2387075"/>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Address non-urgent findings impacting overall security posture, including Posture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Manage exposures in the environment with Wiz XM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Consolidate remediation for greater impact in a shorter      time frame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9" name="Google Shape;649;p57"/>
          <p:cNvSpPr txBox="1"/>
          <p:nvPr/>
        </p:nvSpPr>
        <p:spPr>
          <a:xfrm>
            <a:off x="3007222" y="26253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REDUCE CRITICAL RISK</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0" name="Google Shape;650;p57"/>
          <p:cNvSpPr txBox="1"/>
          <p:nvPr/>
        </p:nvSpPr>
        <p:spPr>
          <a:xfrm>
            <a:off x="2903188" y="28576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immediately  exploitable attack paths   (validate with Wiz ASM)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Achieve Zero Critical Risk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external findings (UVM) with Wiz context</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51" name="Google Shape;651;p57"/>
          <p:cNvSpPr txBox="1"/>
          <p:nvPr/>
        </p:nvSpPr>
        <p:spPr>
          <a:xfrm>
            <a:off x="1008697" y="32091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GAIN VISIBILITY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2" name="Google Shape;652;p57"/>
          <p:cNvSpPr txBox="1"/>
          <p:nvPr/>
        </p:nvSpPr>
        <p:spPr>
          <a:xfrm>
            <a:off x="904663" y="34414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100% code-to-cloud visibility into any repo, pipeline, or cloud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Centralize visibility across on-prem, hybrid, cloud, code with UVM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653" name="Google Shape;653;p57"/>
          <p:cNvCxnSpPr>
            <a:cxnSpLocks/>
          </p:cNvCxnSpPr>
          <p:nvPr/>
        </p:nvCxnSpPr>
        <p:spPr>
          <a:xfrm flipV="1">
            <a:off x="8809750" y="306800"/>
            <a:ext cx="100" cy="4836700"/>
          </a:xfrm>
          <a:prstGeom prst="straightConnector1">
            <a:avLst/>
          </a:prstGeom>
          <a:noFill/>
          <a:ln w="9525" cap="flat" cmpd="sng">
            <a:solidFill>
              <a:srgbClr val="0254EC"/>
            </a:solidFill>
            <a:prstDash val="solid"/>
            <a:round/>
            <a:headEnd type="none" w="sm" len="sm"/>
            <a:tailEnd type="none" w="sm" len="sm"/>
          </a:ln>
        </p:spPr>
      </p:cxnSp>
      <p:sp>
        <p:nvSpPr>
          <p:cNvPr id="654" name="Google Shape;654;p57"/>
          <p:cNvSpPr txBox="1"/>
          <p:nvPr/>
        </p:nvSpPr>
        <p:spPr>
          <a:xfrm>
            <a:off x="6929000" y="321420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Harden the SDLC while maintaining “Zero Criticals” and SLA compliance requirements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655" name="Google Shape;655;p57"/>
          <p:cNvCxnSpPr/>
          <p:nvPr/>
        </p:nvCxnSpPr>
        <p:spPr>
          <a:xfrm>
            <a:off x="6804671" y="3138012"/>
            <a:ext cx="2005500" cy="0"/>
          </a:xfrm>
          <a:prstGeom prst="straightConnector1">
            <a:avLst/>
          </a:prstGeom>
          <a:noFill/>
          <a:ln w="9525" cap="flat" cmpd="sng">
            <a:solidFill>
              <a:srgbClr val="0254EC"/>
            </a:solidFill>
            <a:prstDash val="solid"/>
            <a:round/>
            <a:headEnd type="none" w="sm" len="sm"/>
            <a:tailEnd type="none" w="sm" len="sm"/>
          </a:ln>
        </p:spPr>
      </p:cxnSp>
      <p:cxnSp>
        <p:nvCxnSpPr>
          <p:cNvPr id="656" name="Google Shape;656;p57"/>
          <p:cNvCxnSpPr/>
          <p:nvPr/>
        </p:nvCxnSpPr>
        <p:spPr>
          <a:xfrm>
            <a:off x="805008" y="4325009"/>
            <a:ext cx="2005500" cy="0"/>
          </a:xfrm>
          <a:prstGeom prst="straightConnector1">
            <a:avLst/>
          </a:prstGeom>
          <a:noFill/>
          <a:ln w="9525" cap="flat" cmpd="sng">
            <a:solidFill>
              <a:srgbClr val="0254EC"/>
            </a:solidFill>
            <a:prstDash val="solid"/>
            <a:round/>
            <a:headEnd type="none" w="sm" len="sm"/>
            <a:tailEnd type="none" w="sm" len="sm"/>
          </a:ln>
        </p:spPr>
      </p:cxnSp>
      <p:cxnSp>
        <p:nvCxnSpPr>
          <p:cNvPr id="657" name="Google Shape;657;p57"/>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658" name="Google Shape;658;p57"/>
          <p:cNvCxnSpPr/>
          <p:nvPr/>
        </p:nvCxnSpPr>
        <p:spPr>
          <a:xfrm>
            <a:off x="2820861" y="3916487"/>
            <a:ext cx="1982700" cy="0"/>
          </a:xfrm>
          <a:prstGeom prst="straightConnector1">
            <a:avLst/>
          </a:prstGeom>
          <a:noFill/>
          <a:ln w="9525" cap="flat" cmpd="sng">
            <a:solidFill>
              <a:srgbClr val="0254EC"/>
            </a:solidFill>
            <a:prstDash val="solid"/>
            <a:round/>
            <a:headEnd type="none" w="sm" len="sm"/>
            <a:tailEnd type="none" w="sm" len="sm"/>
          </a:ln>
        </p:spPr>
      </p:cxnSp>
      <p:sp>
        <p:nvSpPr>
          <p:cNvPr id="659" name="Google Shape;659;p57"/>
          <p:cNvSpPr txBox="1"/>
          <p:nvPr/>
        </p:nvSpPr>
        <p:spPr>
          <a:xfrm>
            <a:off x="904675" y="4416650"/>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0" name="Google Shape;660;p57"/>
          <p:cNvSpPr txBox="1"/>
          <p:nvPr/>
        </p:nvSpPr>
        <p:spPr>
          <a:xfrm>
            <a:off x="2942638" y="3992675"/>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Achieve “Zero Critical” Risk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1" name="Google Shape;661;p57"/>
          <p:cNvSpPr txBox="1"/>
          <p:nvPr/>
        </p:nvSpPr>
        <p:spPr>
          <a:xfrm>
            <a:off x="4934925" y="3751400"/>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Meet all SLAs for Posture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662" name="Google Shape;662;p57" title="Group 1000004546.png"/>
          <p:cNvPicPr preferRelativeResize="0"/>
          <p:nvPr/>
        </p:nvPicPr>
        <p:blipFill rotWithShape="1">
          <a:blip r:embed="rId4">
            <a:alphaModFix/>
          </a:blip>
          <a:srcRect/>
          <a:stretch/>
        </p:blipFill>
        <p:spPr>
          <a:xfrm>
            <a:off x="6717625" y="465775"/>
            <a:ext cx="883400" cy="883400"/>
          </a:xfrm>
          <a:prstGeom prst="rect">
            <a:avLst/>
          </a:prstGeom>
          <a:noFill/>
          <a:ln>
            <a:noFill/>
          </a:ln>
        </p:spPr>
      </p:pic>
      <p:pic>
        <p:nvPicPr>
          <p:cNvPr id="663" name="Google Shape;663;p57" title="Group 1000004545.png"/>
          <p:cNvPicPr preferRelativeResize="0"/>
          <p:nvPr/>
        </p:nvPicPr>
        <p:blipFill rotWithShape="1">
          <a:blip r:embed="rId5">
            <a:alphaModFix/>
          </a:blip>
          <a:srcRect/>
          <a:stretch/>
        </p:blipFill>
        <p:spPr>
          <a:xfrm>
            <a:off x="4685600" y="1077601"/>
            <a:ext cx="883400" cy="883400"/>
          </a:xfrm>
          <a:prstGeom prst="rect">
            <a:avLst/>
          </a:prstGeom>
          <a:noFill/>
          <a:ln>
            <a:noFill/>
          </a:ln>
        </p:spPr>
      </p:pic>
      <p:pic>
        <p:nvPicPr>
          <p:cNvPr id="664" name="Google Shape;664;p57" title="Group 1000004543_1.png"/>
          <p:cNvPicPr preferRelativeResize="0"/>
          <p:nvPr/>
        </p:nvPicPr>
        <p:blipFill rotWithShape="1">
          <a:blip r:embed="rId6">
            <a:alphaModFix/>
          </a:blip>
          <a:srcRect/>
          <a:stretch/>
        </p:blipFill>
        <p:spPr>
          <a:xfrm>
            <a:off x="685650" y="2277531"/>
            <a:ext cx="883400" cy="883400"/>
          </a:xfrm>
          <a:prstGeom prst="rect">
            <a:avLst/>
          </a:prstGeom>
          <a:noFill/>
          <a:ln>
            <a:noFill/>
          </a:ln>
        </p:spPr>
      </p:pic>
      <p:pic>
        <p:nvPicPr>
          <p:cNvPr id="665" name="Google Shape;665;p57" title="Group 1000004544.png"/>
          <p:cNvPicPr preferRelativeResize="0"/>
          <p:nvPr/>
        </p:nvPicPr>
        <p:blipFill rotWithShape="1">
          <a:blip r:embed="rId7">
            <a:alphaModFix/>
          </a:blip>
          <a:srcRect/>
          <a:stretch/>
        </p:blipFill>
        <p:spPr>
          <a:xfrm>
            <a:off x="2698497" y="1693375"/>
            <a:ext cx="883400" cy="883400"/>
          </a:xfrm>
          <a:prstGeom prst="rect">
            <a:avLst/>
          </a:prstGeom>
          <a:noFill/>
          <a:ln>
            <a:noFill/>
          </a:ln>
        </p:spPr>
      </p:pic>
      <p:sp>
        <p:nvSpPr>
          <p:cNvPr id="666" name="Google Shape;666;p57"/>
          <p:cNvSpPr/>
          <p:nvPr/>
        </p:nvSpPr>
        <p:spPr>
          <a:xfrm>
            <a:off x="3212396"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667" name="Google Shape;667;p57"/>
          <p:cNvSpPr txBox="1"/>
          <p:nvPr/>
        </p:nvSpPr>
        <p:spPr>
          <a:xfrm>
            <a:off x="3497502"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68" name="Google Shape;668;p57" title="icon.png"/>
          <p:cNvPicPr preferRelativeResize="0"/>
          <p:nvPr/>
        </p:nvPicPr>
        <p:blipFill rotWithShape="1">
          <a:blip r:embed="rId8">
            <a:alphaModFix/>
          </a:blip>
          <a:srcRect/>
          <a:stretch/>
        </p:blipFill>
        <p:spPr>
          <a:xfrm>
            <a:off x="3149780" y="617823"/>
            <a:ext cx="272612" cy="27261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8"/>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Posture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675" name="Google Shape;675;p58"/>
          <p:cNvPicPr preferRelativeResize="0"/>
          <p:nvPr/>
        </p:nvPicPr>
        <p:blipFill rotWithShape="1">
          <a:blip r:embed="rId3">
            <a:alphaModFix/>
          </a:blip>
          <a:srcRect/>
          <a:stretch/>
        </p:blipFill>
        <p:spPr>
          <a:xfrm>
            <a:off x="328386" y="891625"/>
            <a:ext cx="2104822" cy="1177356"/>
          </a:xfrm>
          <a:prstGeom prst="rect">
            <a:avLst/>
          </a:prstGeom>
          <a:noFill/>
          <a:ln w="6350">
            <a:solidFill>
              <a:schemeClr val="accent1"/>
            </a:solidFill>
          </a:ln>
        </p:spPr>
      </p:pic>
      <p:sp>
        <p:nvSpPr>
          <p:cNvPr id="676" name="Google Shape;676;p58"/>
          <p:cNvSpPr txBox="1"/>
          <p:nvPr/>
        </p:nvSpPr>
        <p:spPr>
          <a:xfrm>
            <a:off x="328224" y="961165"/>
            <a:ext cx="2105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Current Security Score</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7" name="Google Shape;677;p58"/>
          <p:cNvSpPr txBox="1"/>
          <p:nvPr/>
        </p:nvSpPr>
        <p:spPr>
          <a:xfrm>
            <a:off x="328682" y="1709240"/>
            <a:ext cx="21048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90 Day Trend {{s1d}}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8" name="Google Shape;678;p58"/>
          <p:cNvSpPr txBox="1"/>
          <p:nvPr/>
        </p:nvSpPr>
        <p:spPr>
          <a:xfrm>
            <a:off x="325825" y="1275254"/>
            <a:ext cx="2104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{{SS}}%</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79" name="Google Shape;679;p58"/>
          <p:cNvPicPr preferRelativeResize="0"/>
          <p:nvPr/>
        </p:nvPicPr>
        <p:blipFill rotWithShape="1">
          <a:blip r:embed="rId3">
            <a:alphaModFix/>
          </a:blip>
          <a:srcRect/>
          <a:stretch/>
        </p:blipFill>
        <p:spPr>
          <a:xfrm>
            <a:off x="2581991" y="897686"/>
            <a:ext cx="2072709" cy="1177356"/>
          </a:xfrm>
          <a:prstGeom prst="rect">
            <a:avLst/>
          </a:prstGeom>
          <a:noFill/>
          <a:ln w="6350">
            <a:solidFill>
              <a:schemeClr val="accent1"/>
            </a:solidFill>
          </a:ln>
        </p:spPr>
      </p:pic>
      <p:sp>
        <p:nvSpPr>
          <p:cNvPr id="680" name="Google Shape;680;p58"/>
          <p:cNvSpPr txBox="1"/>
          <p:nvPr/>
        </p:nvSpPr>
        <p:spPr>
          <a:xfrm>
            <a:off x="2581870" y="966862"/>
            <a:ext cx="2067300" cy="2610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Benchmark</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1" name="Google Shape;681;p58"/>
          <p:cNvSpPr txBox="1"/>
          <p:nvPr/>
        </p:nvSpPr>
        <p:spPr>
          <a:xfrm>
            <a:off x="2582409" y="1756556"/>
            <a:ext cx="2065500" cy="389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Security Score Gap {{SG}}%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2" name="Google Shape;682;p58"/>
          <p:cNvSpPr txBox="1"/>
          <p:nvPr/>
        </p:nvSpPr>
        <p:spPr>
          <a:xfrm>
            <a:off x="2580848" y="1468922"/>
            <a:ext cx="2065500" cy="331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700"/>
              <a:buFont typeface="Arial"/>
              <a:buNone/>
            </a:pPr>
            <a:r>
              <a:rPr lang="en"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{{SP}}%</a:t>
            </a:r>
            <a:endParaRPr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3" name="Google Shape;683;p58"/>
          <p:cNvPicPr preferRelativeResize="0"/>
          <p:nvPr/>
        </p:nvPicPr>
        <p:blipFill rotWithShape="1">
          <a:blip r:embed="rId3">
            <a:alphaModFix/>
          </a:blip>
          <a:srcRect/>
          <a:stretch/>
        </p:blipFill>
        <p:spPr>
          <a:xfrm>
            <a:off x="4776020" y="897687"/>
            <a:ext cx="1951974" cy="1177356"/>
          </a:xfrm>
          <a:prstGeom prst="rect">
            <a:avLst/>
          </a:prstGeom>
          <a:noFill/>
          <a:ln w="6350">
            <a:solidFill>
              <a:schemeClr val="accent1"/>
            </a:solidFill>
          </a:ln>
        </p:spPr>
      </p:pic>
      <p:sp>
        <p:nvSpPr>
          <p:cNvPr id="684" name="Google Shape;684;p58"/>
          <p:cNvSpPr txBox="1"/>
          <p:nvPr/>
        </p:nvSpPr>
        <p:spPr>
          <a:xfrm>
            <a:off x="4775870" y="955658"/>
            <a:ext cx="1952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Open Critical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5" name="Google Shape;685;p58"/>
          <p:cNvSpPr txBox="1"/>
          <p:nvPr/>
        </p:nvSpPr>
        <p:spPr>
          <a:xfrm>
            <a:off x="4775970" y="1697930"/>
            <a:ext cx="19521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Resolved Criticals </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t>
            </a: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{{RC}}</a:t>
            </a:r>
            <a:endParaRPr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6" name="Google Shape;686;p58"/>
          <p:cNvSpPr txBox="1"/>
          <p:nvPr/>
        </p:nvSpPr>
        <p:spPr>
          <a:xfrm>
            <a:off x="4773495" y="1274373"/>
            <a:ext cx="1951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{{OC}}</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7" name="Google Shape;687;p58"/>
          <p:cNvPicPr preferRelativeResize="0"/>
          <p:nvPr/>
        </p:nvPicPr>
        <p:blipFill rotWithShape="1">
          <a:blip r:embed="rId3">
            <a:alphaModFix/>
          </a:blip>
          <a:srcRect/>
          <a:stretch/>
        </p:blipFill>
        <p:spPr>
          <a:xfrm>
            <a:off x="6866110" y="897687"/>
            <a:ext cx="1951974" cy="1177356"/>
          </a:xfrm>
          <a:prstGeom prst="rect">
            <a:avLst/>
          </a:prstGeom>
          <a:noFill/>
          <a:ln w="6350">
            <a:solidFill>
              <a:schemeClr val="accent1"/>
            </a:solidFill>
          </a:ln>
        </p:spPr>
      </p:pic>
      <p:sp>
        <p:nvSpPr>
          <p:cNvPr id="688" name="Google Shape;688;p58"/>
          <p:cNvSpPr txBox="1"/>
          <p:nvPr/>
        </p:nvSpPr>
        <p:spPr>
          <a:xfrm>
            <a:off x="6865973" y="948265"/>
            <a:ext cx="1952100" cy="2577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Open High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9" name="Google Shape;689;p58"/>
          <p:cNvSpPr txBox="1"/>
          <p:nvPr/>
        </p:nvSpPr>
        <p:spPr>
          <a:xfrm>
            <a:off x="6866072" y="1682413"/>
            <a:ext cx="1952100" cy="384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Highs</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1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{{RH}}</a:t>
            </a:r>
            <a:endParaRPr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0" name="Google Shape;690;p58"/>
          <p:cNvSpPr txBox="1"/>
          <p:nvPr/>
        </p:nvSpPr>
        <p:spPr>
          <a:xfrm>
            <a:off x="6863397" y="1267303"/>
            <a:ext cx="1952100" cy="327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{{OH}}</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1" name="Google Shape;691;p58"/>
          <p:cNvPicPr preferRelativeResize="0"/>
          <p:nvPr/>
        </p:nvPicPr>
        <p:blipFill rotWithShape="1">
          <a:blip r:embed="rId3">
            <a:alphaModFix/>
          </a:blip>
          <a:srcRect/>
          <a:stretch/>
        </p:blipFill>
        <p:spPr>
          <a:xfrm>
            <a:off x="331250" y="2224649"/>
            <a:ext cx="2100500" cy="1268051"/>
          </a:xfrm>
          <a:prstGeom prst="rect">
            <a:avLst/>
          </a:prstGeom>
          <a:noFill/>
          <a:ln w="6350">
            <a:solidFill>
              <a:schemeClr val="accent1"/>
            </a:solidFill>
          </a:ln>
        </p:spPr>
      </p:pic>
      <p:sp>
        <p:nvSpPr>
          <p:cNvPr id="692" name="Google Shape;692;p58"/>
          <p:cNvSpPr txBox="1"/>
          <p:nvPr/>
        </p:nvSpPr>
        <p:spPr>
          <a:xfrm>
            <a:off x="331089" y="2303994"/>
            <a:ext cx="21006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Ignored Issues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3" name="Google Shape;693;p58"/>
          <p:cNvSpPr txBox="1"/>
          <p:nvPr/>
        </p:nvSpPr>
        <p:spPr>
          <a:xfrm>
            <a:off x="331546" y="3000634"/>
            <a:ext cx="21003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Total Ignored Issues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4" name="Google Shape;694;p58"/>
          <p:cNvSpPr txBox="1"/>
          <p:nvPr/>
        </p:nvSpPr>
        <p:spPr>
          <a:xfrm>
            <a:off x="328694" y="2629117"/>
            <a:ext cx="21003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{{RJ}}</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5" name="Google Shape;695;p58"/>
          <p:cNvPicPr preferRelativeResize="0"/>
          <p:nvPr/>
        </p:nvPicPr>
        <p:blipFill rotWithShape="1">
          <a:blip r:embed="rId3">
            <a:alphaModFix/>
          </a:blip>
          <a:srcRect/>
          <a:stretch/>
        </p:blipFill>
        <p:spPr>
          <a:xfrm>
            <a:off x="2586575" y="2230725"/>
            <a:ext cx="2100372" cy="1268051"/>
          </a:xfrm>
          <a:prstGeom prst="rect">
            <a:avLst/>
          </a:prstGeom>
          <a:noFill/>
          <a:ln w="6350">
            <a:solidFill>
              <a:schemeClr val="accent1"/>
            </a:solidFill>
          </a:ln>
        </p:spPr>
      </p:pic>
      <p:sp>
        <p:nvSpPr>
          <p:cNvPr id="696" name="Google Shape;696;p58"/>
          <p:cNvSpPr txBox="1"/>
          <p:nvPr/>
        </p:nvSpPr>
        <p:spPr>
          <a:xfrm>
            <a:off x="2586459" y="2311150"/>
            <a:ext cx="2100300" cy="277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AI Findings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7" name="Google Shape;697;p58"/>
          <p:cNvSpPr txBox="1"/>
          <p:nvPr/>
        </p:nvSpPr>
        <p:spPr>
          <a:xfrm>
            <a:off x="2583825" y="2603552"/>
            <a:ext cx="2100300" cy="1018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Security Findings: {{AI_SF}}</a:t>
            </a:r>
            <a:b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Configuration Findings: {{AI_MF}}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AI Inventory Findings: {{AI_IF}}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8" name="Google Shape;698;p58"/>
          <p:cNvPicPr preferRelativeResize="0"/>
          <p:nvPr/>
        </p:nvPicPr>
        <p:blipFill rotWithShape="1">
          <a:blip r:embed="rId10">
            <a:alphaModFix/>
          </a:blip>
          <a:srcRect/>
          <a:stretch/>
        </p:blipFill>
        <p:spPr>
          <a:xfrm>
            <a:off x="334850" y="3601610"/>
            <a:ext cx="2100726" cy="1404216"/>
          </a:xfrm>
          <a:prstGeom prst="rect">
            <a:avLst/>
          </a:prstGeom>
          <a:noFill/>
          <a:ln w="6350">
            <a:solidFill>
              <a:schemeClr val="accent1"/>
            </a:solidFill>
          </a:ln>
        </p:spPr>
      </p:pic>
      <p:sp>
        <p:nvSpPr>
          <p:cNvPr id="699" name="Google Shape;699;p58"/>
          <p:cNvSpPr txBox="1"/>
          <p:nvPr/>
        </p:nvSpPr>
        <p:spPr>
          <a:xfrm>
            <a:off x="377423" y="3721314"/>
            <a:ext cx="2028884"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Threats MTTR </a:t>
            </a:r>
            <a:r>
              <a:rPr lang="en" sz="13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0" name="Google Shape;700;p58"/>
          <p:cNvSpPr txBox="1"/>
          <p:nvPr/>
        </p:nvSpPr>
        <p:spPr>
          <a:xfrm>
            <a:off x="368756" y="4062355"/>
            <a:ext cx="2028884"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{{MTTR_O}}</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1" name="Google Shape;701;p58"/>
          <p:cNvSpPr txBox="1"/>
          <p:nvPr/>
        </p:nvSpPr>
        <p:spPr>
          <a:xfrm>
            <a:off x="368756" y="4505977"/>
            <a:ext cx="2028884" cy="23013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2" name="Google Shape;702;p58"/>
          <p:cNvPicPr preferRelativeResize="0"/>
          <p:nvPr/>
        </p:nvPicPr>
        <p:blipFill rotWithShape="1">
          <a:blip r:embed="rId10">
            <a:alphaModFix/>
          </a:blip>
          <a:srcRect/>
          <a:stretch/>
        </p:blipFill>
        <p:spPr>
          <a:xfrm>
            <a:off x="2585906" y="3601600"/>
            <a:ext cx="2100895" cy="1404216"/>
          </a:xfrm>
          <a:prstGeom prst="rect">
            <a:avLst/>
          </a:prstGeom>
          <a:noFill/>
          <a:ln w="6350">
            <a:solidFill>
              <a:schemeClr val="accent1"/>
            </a:solidFill>
          </a:ln>
        </p:spPr>
      </p:pic>
      <p:sp>
        <p:nvSpPr>
          <p:cNvPr id="703" name="Google Shape;703;p58"/>
          <p:cNvSpPr txBox="1"/>
          <p:nvPr/>
        </p:nvSpPr>
        <p:spPr>
          <a:xfrm>
            <a:off x="2644411" y="3707460"/>
            <a:ext cx="1986065"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Open Threats</a:t>
            </a:r>
            <a:r>
              <a:rPr lang="en"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4" name="Google Shape;704;p58"/>
          <p:cNvSpPr txBox="1"/>
          <p:nvPr/>
        </p:nvSpPr>
        <p:spPr>
          <a:xfrm>
            <a:off x="2609187" y="4107445"/>
            <a:ext cx="2047876"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{{OT}}</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5" name="Google Shape;705;p58"/>
          <p:cNvSpPr txBox="1"/>
          <p:nvPr/>
        </p:nvSpPr>
        <p:spPr>
          <a:xfrm>
            <a:off x="2609180" y="4597077"/>
            <a:ext cx="2047876" cy="327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Resolved Threats: {{RT}}</a:t>
            </a:r>
            <a:b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Past 90 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6" name="Google Shape;706;p58"/>
          <p:cNvSpPr txBox="1"/>
          <p:nvPr/>
        </p:nvSpPr>
        <p:spPr>
          <a:xfrm>
            <a:off x="2587908" y="1206673"/>
            <a:ext cx="2067000" cy="331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{{SS_I}}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7" name="Google Shape;707;p58"/>
          <p:cNvPicPr preferRelativeResize="0"/>
          <p:nvPr/>
        </p:nvPicPr>
        <p:blipFill rotWithShape="1">
          <a:blip r:embed="rId13">
            <a:alphaModFix/>
          </a:blip>
          <a:srcRect/>
          <a:stretch/>
        </p:blipFill>
        <p:spPr>
          <a:xfrm>
            <a:off x="4848909" y="2345935"/>
            <a:ext cx="3994750" cy="1755250"/>
          </a:xfrm>
          <a:prstGeom prst="rect">
            <a:avLst/>
          </a:prstGeom>
          <a:noFill/>
          <a:ln w="6350">
            <a:solidFill>
              <a:schemeClr val="accent1"/>
            </a:solidFill>
          </a:ln>
        </p:spPr>
      </p:pic>
      <p:pic>
        <p:nvPicPr>
          <p:cNvPr id="708" name="Google Shape;708;p58"/>
          <p:cNvPicPr preferRelativeResize="0"/>
          <p:nvPr/>
        </p:nvPicPr>
        <p:blipFill rotWithShape="1">
          <a:blip r:embed="rId14">
            <a:alphaModFix/>
          </a:blip>
          <a:srcRect/>
          <a:stretch/>
        </p:blipFill>
        <p:spPr>
          <a:xfrm>
            <a:off x="5470184" y="3177785"/>
            <a:ext cx="687200" cy="382200"/>
          </a:xfrm>
          <a:prstGeom prst="rect">
            <a:avLst/>
          </a:prstGeom>
          <a:noFill/>
          <a:ln>
            <a:noFill/>
          </a:ln>
        </p:spPr>
      </p:pic>
      <p:sp>
        <p:nvSpPr>
          <p:cNvPr id="709" name="Google Shape;709;p58"/>
          <p:cNvSpPr txBox="1"/>
          <p:nvPr/>
        </p:nvSpPr>
        <p:spPr>
          <a:xfrm>
            <a:off x="5161247" y="298909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{{AVG_AGEC}}</a:t>
            </a:r>
            <a: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b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10" name="Google Shape;710;p58"/>
          <p:cNvPicPr preferRelativeResize="0"/>
          <p:nvPr/>
        </p:nvPicPr>
        <p:blipFill rotWithShape="1">
          <a:blip r:embed="rId14">
            <a:alphaModFix/>
          </a:blip>
          <a:srcRect/>
          <a:stretch/>
        </p:blipFill>
        <p:spPr>
          <a:xfrm>
            <a:off x="7458900" y="3219400"/>
            <a:ext cx="760050" cy="382200"/>
          </a:xfrm>
          <a:prstGeom prst="rect">
            <a:avLst/>
          </a:prstGeom>
          <a:noFill/>
          <a:ln>
            <a:noFill/>
          </a:ln>
        </p:spPr>
      </p:pic>
      <p:sp>
        <p:nvSpPr>
          <p:cNvPr id="711" name="Google Shape;711;p58"/>
          <p:cNvSpPr txBox="1"/>
          <p:nvPr/>
        </p:nvSpPr>
        <p:spPr>
          <a:xfrm>
            <a:off x="7188866" y="299008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{{AVG_AGEH}} </a:t>
            </a:r>
            <a:br>
              <a:rPr lang="en" sz="1212"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24"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59"/>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Risk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718" name="Google Shape;718;p59"/>
          <p:cNvPicPr preferRelativeResize="0"/>
          <p:nvPr/>
        </p:nvPicPr>
        <p:blipFill rotWithShape="1">
          <a:blip r:embed="rId3">
            <a:alphaModFix/>
          </a:blip>
          <a:srcRect/>
          <a:stretch/>
        </p:blipFill>
        <p:spPr>
          <a:xfrm>
            <a:off x="107950" y="673900"/>
            <a:ext cx="7440046" cy="1064875"/>
          </a:xfrm>
          <a:prstGeom prst="rect">
            <a:avLst/>
          </a:prstGeom>
          <a:noFill/>
          <a:ln w="6350">
            <a:solidFill>
              <a:schemeClr val="accent1"/>
            </a:solidFill>
          </a:ln>
        </p:spPr>
      </p:pic>
      <p:sp>
        <p:nvSpPr>
          <p:cNvPr id="719" name="Google Shape;719;p59"/>
          <p:cNvSpPr txBox="1"/>
          <p:nvPr/>
        </p:nvSpPr>
        <p:spPr>
          <a:xfrm>
            <a:off x="259724" y="709330"/>
            <a:ext cx="1928400" cy="3615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External Exposure</a:t>
            </a:r>
            <a:endParaRPr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0" name="Google Shape;720;p59"/>
          <p:cNvSpPr txBox="1"/>
          <p:nvPr/>
        </p:nvSpPr>
        <p:spPr>
          <a:xfrm>
            <a:off x="269504" y="108174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HTTP Application Endpoints  {{AE_HTTP}}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1" name="Google Shape;721;p59"/>
          <p:cNvSpPr txBox="1"/>
          <p:nvPr/>
        </p:nvSpPr>
        <p:spPr>
          <a:xfrm>
            <a:off x="273692" y="137479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Non-HTTP Application Endpoints  {{AE_NHTTP}}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2" name="Google Shape;722;p59"/>
          <p:cNvSpPr txBox="1"/>
          <p:nvPr/>
        </p:nvSpPr>
        <p:spPr>
          <a:xfrm>
            <a:off x="3418767" y="1130944"/>
            <a:ext cx="1848000" cy="462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Estimated # of Additional Workloads to Scan via Advanced ASM</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3" name="Google Shape;723;p59"/>
          <p:cNvSpPr txBox="1"/>
          <p:nvPr/>
        </p:nvSpPr>
        <p:spPr>
          <a:xfrm>
            <a:off x="5162479" y="1199657"/>
            <a:ext cx="2395200" cy="4077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chemeClr val="dk1"/>
              </a:buClr>
              <a:buSzPts val="1100"/>
              <a:buFont typeface="Arial"/>
              <a:buNone/>
            </a:pP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{{AE_TOT}} Workloads</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24" name="Google Shape;724;p59" title="Group 1000004640.png"/>
          <p:cNvPicPr preferRelativeResize="0"/>
          <p:nvPr/>
        </p:nvPicPr>
        <p:blipFill rotWithShape="1">
          <a:blip r:embed="rId4">
            <a:alphaModFix/>
          </a:blip>
          <a:srcRect/>
          <a:stretch/>
        </p:blipFill>
        <p:spPr>
          <a:xfrm>
            <a:off x="7961878" y="1035264"/>
            <a:ext cx="958486" cy="956160"/>
          </a:xfrm>
          <a:prstGeom prst="rect">
            <a:avLst/>
          </a:prstGeom>
          <a:noFill/>
          <a:ln>
            <a:noFill/>
          </a:ln>
        </p:spPr>
      </p:pic>
      <p:pic>
        <p:nvPicPr>
          <p:cNvPr id="725" name="Google Shape;725;p59" title="Group 1000004641.png"/>
          <p:cNvPicPr preferRelativeResize="0"/>
          <p:nvPr/>
        </p:nvPicPr>
        <p:blipFill rotWithShape="1">
          <a:blip r:embed="rId5">
            <a:alphaModFix/>
          </a:blip>
          <a:srcRect/>
          <a:stretch/>
        </p:blipFill>
        <p:spPr>
          <a:xfrm>
            <a:off x="7968735" y="4118017"/>
            <a:ext cx="944778" cy="934274"/>
          </a:xfrm>
          <a:prstGeom prst="rect">
            <a:avLst/>
          </a:prstGeom>
          <a:noFill/>
          <a:ln>
            <a:noFill/>
          </a:ln>
        </p:spPr>
      </p:pic>
      <p:pic>
        <p:nvPicPr>
          <p:cNvPr id="726" name="Google Shape;726;p59" title="Group 1000004639.png"/>
          <p:cNvPicPr preferRelativeResize="0"/>
          <p:nvPr/>
        </p:nvPicPr>
        <p:blipFill rotWithShape="1">
          <a:blip r:embed="rId6">
            <a:alphaModFix/>
          </a:blip>
          <a:srcRect/>
          <a:stretch/>
        </p:blipFill>
        <p:spPr>
          <a:xfrm>
            <a:off x="7968735" y="2520408"/>
            <a:ext cx="924766" cy="946984"/>
          </a:xfrm>
          <a:prstGeom prst="rect">
            <a:avLst/>
          </a:prstGeom>
          <a:noFill/>
          <a:ln>
            <a:noFill/>
          </a:ln>
        </p:spPr>
      </p:pic>
      <p:sp>
        <p:nvSpPr>
          <p:cNvPr id="727" name="Google Shape;727;p59"/>
          <p:cNvSpPr/>
          <p:nvPr/>
        </p:nvSpPr>
        <p:spPr>
          <a:xfrm>
            <a:off x="7955120" y="3041698"/>
            <a:ext cx="963600" cy="93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74"/>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8" name="Google Shape;728;p59"/>
          <p:cNvSpPr/>
          <p:nvPr/>
        </p:nvSpPr>
        <p:spPr>
          <a:xfrm>
            <a:off x="7954004" y="3191175"/>
            <a:ext cx="944700" cy="1374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492"/>
              <a:buFont typeface="DM Sans"/>
              <a:buNone/>
            </a:pPr>
            <a: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endParaRPr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9" name="Google Shape;729;p59"/>
          <p:cNvSpPr/>
          <p:nvPr/>
        </p:nvSpPr>
        <p:spPr>
          <a:xfrm>
            <a:off x="7906406" y="2038924"/>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0" name="Google Shape;730;p59"/>
          <p:cNvSpPr/>
          <p:nvPr/>
        </p:nvSpPr>
        <p:spPr>
          <a:xfrm>
            <a:off x="7719100" y="2144544"/>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6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1" name="Google Shape;731;p59"/>
          <p:cNvSpPr/>
          <p:nvPr/>
        </p:nvSpPr>
        <p:spPr>
          <a:xfrm>
            <a:off x="7936234" y="3618692"/>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2" name="Google Shape;732;p59"/>
          <p:cNvSpPr/>
          <p:nvPr/>
        </p:nvSpPr>
        <p:spPr>
          <a:xfrm>
            <a:off x="7718900" y="3785755"/>
            <a:ext cx="14250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triage high-fidelity threats</a:t>
            </a:r>
            <a:endParaRPr sz="6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3" name="Google Shape;733;p59"/>
          <p:cNvSpPr/>
          <p:nvPr/>
        </p:nvSpPr>
        <p:spPr>
          <a:xfrm>
            <a:off x="7916398" y="550119"/>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4" name="Google Shape;734;p59"/>
          <p:cNvSpPr/>
          <p:nvPr/>
        </p:nvSpPr>
        <p:spPr>
          <a:xfrm>
            <a:off x="7661455" y="656976"/>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issues before they </a:t>
            </a:r>
            <a:b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6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5" name="Google Shape;735;p59"/>
          <p:cNvSpPr/>
          <p:nvPr/>
        </p:nvSpPr>
        <p:spPr>
          <a:xfrm>
            <a:off x="7961878" y="4624264"/>
            <a:ext cx="966900" cy="945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6" name="Google Shape;736;p59"/>
          <p:cNvSpPr/>
          <p:nvPr/>
        </p:nvSpPr>
        <p:spPr>
          <a:xfrm>
            <a:off x="7965161" y="4851627"/>
            <a:ext cx="948000" cy="1380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7" name="Google Shape;737;p59"/>
          <p:cNvSpPr/>
          <p:nvPr/>
        </p:nvSpPr>
        <p:spPr>
          <a:xfrm>
            <a:off x="7964150" y="1548816"/>
            <a:ext cx="948000" cy="96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92"/>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8" name="Google Shape;738;p59"/>
          <p:cNvSpPr/>
          <p:nvPr/>
        </p:nvSpPr>
        <p:spPr>
          <a:xfrm>
            <a:off x="7968735" y="1766529"/>
            <a:ext cx="944700" cy="1419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508"/>
              <a:buFont typeface="DM Sans"/>
              <a:buNone/>
            </a:pP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39" name="Google Shape;739;p59"/>
          <p:cNvPicPr preferRelativeResize="0"/>
          <p:nvPr/>
        </p:nvPicPr>
        <p:blipFill rotWithShape="1">
          <a:blip r:embed="rId3">
            <a:alphaModFix/>
          </a:blip>
          <a:srcRect/>
          <a:stretch/>
        </p:blipFill>
        <p:spPr>
          <a:xfrm>
            <a:off x="107954" y="1893191"/>
            <a:ext cx="7613696" cy="1578100"/>
          </a:xfrm>
          <a:prstGeom prst="rect">
            <a:avLst/>
          </a:prstGeom>
          <a:noFill/>
          <a:ln w="6350">
            <a:solidFill>
              <a:schemeClr val="accent1"/>
            </a:solidFill>
          </a:ln>
        </p:spPr>
      </p:pic>
      <p:sp>
        <p:nvSpPr>
          <p:cNvPr id="740" name="Google Shape;740;p59"/>
          <p:cNvSpPr txBox="1"/>
          <p:nvPr/>
        </p:nvSpPr>
        <p:spPr>
          <a:xfrm>
            <a:off x="155254" y="2004575"/>
            <a:ext cx="4782900" cy="3615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Top 3 Wiz Critical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1" name="Google Shape;741;p59"/>
          <p:cNvSpPr txBox="1"/>
          <p:nvPr/>
        </p:nvSpPr>
        <p:spPr>
          <a:xfrm>
            <a:off x="112373" y="2363761"/>
            <a:ext cx="6979500" cy="124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{{CI_CONTROL_1}}</a:t>
            </a:r>
            <a:endParaRPr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{{CI_CONTROL_2}}</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{{CI_CONTROL_3}}</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42" name="Google Shape;742;p59"/>
          <p:cNvPicPr preferRelativeResize="0"/>
          <p:nvPr/>
        </p:nvPicPr>
        <p:blipFill rotWithShape="1">
          <a:blip r:embed="rId3">
            <a:alphaModFix/>
          </a:blip>
          <a:srcRect/>
          <a:stretch/>
        </p:blipFill>
        <p:spPr>
          <a:xfrm>
            <a:off x="107950" y="3625724"/>
            <a:ext cx="7613696" cy="1474550"/>
          </a:xfrm>
          <a:prstGeom prst="rect">
            <a:avLst/>
          </a:prstGeom>
          <a:noFill/>
          <a:ln w="6350">
            <a:solidFill>
              <a:schemeClr val="accent1"/>
            </a:solidFill>
          </a:ln>
        </p:spPr>
      </p:pic>
      <p:sp>
        <p:nvSpPr>
          <p:cNvPr id="743" name="Google Shape;743;p59"/>
          <p:cNvSpPr txBox="1"/>
          <p:nvPr/>
        </p:nvSpPr>
        <p:spPr>
          <a:xfrm>
            <a:off x="192197" y="3700461"/>
            <a:ext cx="4735500" cy="3147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Top 3 Wiz High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7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4" name="Google Shape;744;p59"/>
          <p:cNvSpPr txBox="1"/>
          <p:nvPr/>
        </p:nvSpPr>
        <p:spPr>
          <a:xfrm>
            <a:off x="6213626" y="3912215"/>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5" name="Google Shape;745;p59"/>
          <p:cNvSpPr txBox="1"/>
          <p:nvPr/>
        </p:nvSpPr>
        <p:spPr>
          <a:xfrm>
            <a:off x="6198064" y="2230298"/>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6" name="Google Shape;746;p59"/>
          <p:cNvSpPr txBox="1"/>
          <p:nvPr/>
        </p:nvSpPr>
        <p:spPr>
          <a:xfrm>
            <a:off x="112748" y="4015785"/>
            <a:ext cx="6979500" cy="1273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{{HI_CONTROL_1}}</a:t>
            </a:r>
            <a:endParaRPr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{{HI_CONTROL_2}}</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{{HI_CONTROL_3}}</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0"/>
          <p:cNvSpPr txBox="1"/>
          <p:nvPr/>
        </p:nvSpPr>
        <p:spPr>
          <a:xfrm>
            <a:off x="468449" y="2483713"/>
            <a:ext cx="3273600" cy="4848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Develop Securely</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53" name="Google Shape;753;p60"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754" name="Google Shape;754;p60"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755" name="Google Shape;755;p60"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61"/>
          <p:cNvSpPr txBox="1">
            <a:spLocks noGrp="1"/>
          </p:cNvSpPr>
          <p:nvPr>
            <p:ph type="title" idx="4294967295"/>
          </p:nvPr>
        </p:nvSpPr>
        <p:spPr>
          <a:xfrm>
            <a:off x="150" y="1221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Secure Development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762" name="Google Shape;762;p61"/>
          <p:cNvSpPr/>
          <p:nvPr/>
        </p:nvSpPr>
        <p:spPr>
          <a:xfrm>
            <a:off x="219075" y="2736094"/>
            <a:ext cx="32292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3" name="Google Shape;763;p61"/>
          <p:cNvSpPr/>
          <p:nvPr/>
        </p:nvSpPr>
        <p:spPr>
          <a:xfrm>
            <a:off x="6193748" y="909833"/>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4" name="Google Shape;764;p61"/>
          <p:cNvSpPr/>
          <p:nvPr/>
        </p:nvSpPr>
        <p:spPr>
          <a:xfrm>
            <a:off x="3199649" y="894648"/>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5" name="Google Shape;765;p61"/>
          <p:cNvSpPr/>
          <p:nvPr/>
        </p:nvSpPr>
        <p:spPr>
          <a:xfrm>
            <a:off x="205550" y="886120"/>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6" name="Google Shape;766;p61"/>
          <p:cNvSpPr txBox="1"/>
          <p:nvPr/>
        </p:nvSpPr>
        <p:spPr>
          <a:xfrm>
            <a:off x="205550" y="63573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Kubernetes Clusters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a:t>
            </a: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7" name="Google Shape;767;p61"/>
          <p:cNvSpPr txBox="1"/>
          <p:nvPr/>
        </p:nvSpPr>
        <p:spPr>
          <a:xfrm>
            <a:off x="385090" y="909480"/>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8" name="Google Shape;768;p61"/>
          <p:cNvSpPr txBox="1"/>
          <p:nvPr/>
        </p:nvSpPr>
        <p:spPr>
          <a:xfrm>
            <a:off x="1633470" y="909480"/>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{{K8C_1}}</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9" name="Google Shape;769;p61"/>
          <p:cNvSpPr txBox="1"/>
          <p:nvPr/>
        </p:nvSpPr>
        <p:spPr>
          <a:xfrm>
            <a:off x="385090" y="1075974"/>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0" name="Google Shape;770;p61"/>
          <p:cNvSpPr txBox="1"/>
          <p:nvPr/>
        </p:nvSpPr>
        <p:spPr>
          <a:xfrm>
            <a:off x="1633470" y="107342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{{K8C_2}}</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1" name="Google Shape;771;p61"/>
          <p:cNvSpPr txBox="1"/>
          <p:nvPr/>
        </p:nvSpPr>
        <p:spPr>
          <a:xfrm>
            <a:off x="385090" y="1242467"/>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2" name="Google Shape;772;p61"/>
          <p:cNvSpPr txBox="1"/>
          <p:nvPr/>
        </p:nvSpPr>
        <p:spPr>
          <a:xfrm>
            <a:off x="1633470" y="1237378"/>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{{K8C_3}}</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3" name="Google Shape;773;p61"/>
          <p:cNvSpPr txBox="1"/>
          <p:nvPr/>
        </p:nvSpPr>
        <p:spPr>
          <a:xfrm>
            <a:off x="385090" y="1408961"/>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4" name="Google Shape;774;p61"/>
          <p:cNvSpPr txBox="1"/>
          <p:nvPr/>
        </p:nvSpPr>
        <p:spPr>
          <a:xfrm>
            <a:off x="1633470" y="140132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{{K8C_4}}</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5" name="Google Shape;775;p61"/>
          <p:cNvSpPr txBox="1"/>
          <p:nvPr/>
        </p:nvSpPr>
        <p:spPr>
          <a:xfrm>
            <a:off x="385090" y="1575455"/>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6" name="Google Shape;776;p61"/>
          <p:cNvSpPr txBox="1"/>
          <p:nvPr/>
        </p:nvSpPr>
        <p:spPr>
          <a:xfrm>
            <a:off x="1633470" y="1565275"/>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{{K8C_5}}</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7" name="Google Shape;777;p61"/>
          <p:cNvSpPr txBox="1"/>
          <p:nvPr/>
        </p:nvSpPr>
        <p:spPr>
          <a:xfrm>
            <a:off x="217670" y="1937845"/>
            <a:ext cx="2676900" cy="1581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{{K8C_TOT}}</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8" name="Google Shape;778;p61"/>
          <p:cNvSpPr txBox="1"/>
          <p:nvPr/>
        </p:nvSpPr>
        <p:spPr>
          <a:xfrm>
            <a:off x="3238087" y="1038052"/>
            <a:ext cx="1680900" cy="1530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Wiz Connector Deployed</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9" name="Google Shape;779;p61"/>
          <p:cNvSpPr txBox="1"/>
          <p:nvPr/>
        </p:nvSpPr>
        <p:spPr>
          <a:xfrm>
            <a:off x="4766331" y="1038062"/>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{{KC_WC}}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0" name="Google Shape;780;p61"/>
          <p:cNvSpPr txBox="1"/>
          <p:nvPr/>
        </p:nvSpPr>
        <p:spPr>
          <a:xfrm>
            <a:off x="3238089" y="1213479"/>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Admission Controller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1" name="Google Shape;781;p61"/>
          <p:cNvSpPr txBox="1"/>
          <p:nvPr/>
        </p:nvSpPr>
        <p:spPr>
          <a:xfrm>
            <a:off x="4764913" y="1211115"/>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{{KC_AC}}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782" name="Google Shape;782;p61"/>
          <p:cNvCxnSpPr/>
          <p:nvPr/>
        </p:nvCxnSpPr>
        <p:spPr>
          <a:xfrm>
            <a:off x="150000" y="2399129"/>
            <a:ext cx="8776500" cy="0"/>
          </a:xfrm>
          <a:prstGeom prst="straightConnector1">
            <a:avLst/>
          </a:prstGeom>
          <a:noFill/>
          <a:ln w="14300" cap="flat" cmpd="sng">
            <a:solidFill>
              <a:srgbClr val="0054EC"/>
            </a:solidFill>
            <a:prstDash val="solid"/>
            <a:round/>
            <a:headEnd type="none" w="sm" len="sm"/>
            <a:tailEnd type="none" w="sm" len="sm"/>
          </a:ln>
        </p:spPr>
      </p:cxnSp>
      <p:sp>
        <p:nvSpPr>
          <p:cNvPr id="783" name="Google Shape;783;p61"/>
          <p:cNvSpPr txBox="1"/>
          <p:nvPr/>
        </p:nvSpPr>
        <p:spPr>
          <a:xfrm>
            <a:off x="300000" y="2950479"/>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(Workload/K8s)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4" name="Google Shape;784;p61"/>
          <p:cNvSpPr txBox="1"/>
          <p:nvPr/>
        </p:nvSpPr>
        <p:spPr>
          <a:xfrm>
            <a:off x="1751486" y="2964986"/>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5" name="Google Shape;785;p61"/>
          <p:cNvSpPr txBox="1"/>
          <p:nvPr/>
        </p:nvSpPr>
        <p:spPr>
          <a:xfrm>
            <a:off x="300000" y="315293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Store (Registry Scans)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6" name="Google Shape;786;p61"/>
          <p:cNvSpPr txBox="1"/>
          <p:nvPr/>
        </p:nvSpPr>
        <p:spPr>
          <a:xfrm>
            <a:off x="1751486" y="316743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7" name="Google Shape;787;p61"/>
          <p:cNvSpPr txBox="1"/>
          <p:nvPr/>
        </p:nvSpPr>
        <p:spPr>
          <a:xfrm>
            <a:off x="300000" y="335538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Runtime (Sensor)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8" name="Google Shape;788;p61"/>
          <p:cNvSpPr txBox="1"/>
          <p:nvPr/>
        </p:nvSpPr>
        <p:spPr>
          <a:xfrm>
            <a:off x="1751486" y="336988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9" name="Google Shape;789;p61"/>
          <p:cNvSpPr txBox="1"/>
          <p:nvPr/>
        </p:nvSpPr>
        <p:spPr>
          <a:xfrm>
            <a:off x="300000" y="3557831"/>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Code (Wiz Code)</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0" name="Google Shape;790;p61"/>
          <p:cNvSpPr txBox="1"/>
          <p:nvPr/>
        </p:nvSpPr>
        <p:spPr>
          <a:xfrm>
            <a:off x="1751486" y="3572338"/>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1" name="Google Shape;791;p61"/>
          <p:cNvSpPr txBox="1"/>
          <p:nvPr/>
        </p:nvSpPr>
        <p:spPr>
          <a:xfrm>
            <a:off x="300000" y="3760282"/>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Build (Wiz CLI + Tagged Images)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2" name="Google Shape;792;p61"/>
          <p:cNvSpPr txBox="1"/>
          <p:nvPr/>
        </p:nvSpPr>
        <p:spPr>
          <a:xfrm>
            <a:off x="1751486" y="377478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3" name="Google Shape;793;p61"/>
          <p:cNvSpPr txBox="1"/>
          <p:nvPr/>
        </p:nvSpPr>
        <p:spPr>
          <a:xfrm>
            <a:off x="300000" y="3962733"/>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Deploy (Admission Controller)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4" name="Google Shape;794;p61"/>
          <p:cNvSpPr txBox="1"/>
          <p:nvPr/>
        </p:nvSpPr>
        <p:spPr>
          <a:xfrm>
            <a:off x="1751486" y="397723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5" name="Google Shape;795;p61"/>
          <p:cNvSpPr txBox="1"/>
          <p:nvPr/>
        </p:nvSpPr>
        <p:spPr>
          <a:xfrm>
            <a:off x="223925" y="4650100"/>
            <a:ext cx="32019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Images {{TI}}</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6" name="Google Shape;796;p61"/>
          <p:cNvSpPr txBox="1"/>
          <p:nvPr/>
        </p:nvSpPr>
        <p:spPr>
          <a:xfrm>
            <a:off x="3199649" y="65377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Kubernetes Coverage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7" name="Google Shape;797;p61"/>
          <p:cNvSpPr txBox="1"/>
          <p:nvPr/>
        </p:nvSpPr>
        <p:spPr>
          <a:xfrm>
            <a:off x="6193748" y="649827"/>
            <a:ext cx="2688900" cy="3009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Gaps &amp; Exposure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8" name="Google Shape;798;p61"/>
          <p:cNvSpPr txBox="1"/>
          <p:nvPr/>
        </p:nvSpPr>
        <p:spPr>
          <a:xfrm>
            <a:off x="205545" y="2441805"/>
            <a:ext cx="32874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Container Images Lifecycle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9" name="Google Shape;799;p61"/>
          <p:cNvSpPr/>
          <p:nvPr/>
        </p:nvSpPr>
        <p:spPr>
          <a:xfrm>
            <a:off x="6419250" y="2723725"/>
            <a:ext cx="25791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0" name="Google Shape;800;p61"/>
          <p:cNvSpPr txBox="1"/>
          <p:nvPr/>
        </p:nvSpPr>
        <p:spPr>
          <a:xfrm>
            <a:off x="6421350" y="4112573"/>
            <a:ext cx="25710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Registries  {{R_TOT}}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1" name="Google Shape;801;p61"/>
          <p:cNvSpPr txBox="1"/>
          <p:nvPr/>
        </p:nvSpPr>
        <p:spPr>
          <a:xfrm>
            <a:off x="6482720" y="3090648"/>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2" name="Google Shape;802;p61"/>
          <p:cNvSpPr txBox="1"/>
          <p:nvPr/>
        </p:nvSpPr>
        <p:spPr>
          <a:xfrm>
            <a:off x="6595982" y="3077858"/>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3" name="Google Shape;803;p61"/>
          <p:cNvSpPr txBox="1"/>
          <p:nvPr/>
        </p:nvSpPr>
        <p:spPr>
          <a:xfrm>
            <a:off x="6482720" y="3275456"/>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4" name="Google Shape;804;p61"/>
          <p:cNvSpPr txBox="1"/>
          <p:nvPr/>
        </p:nvSpPr>
        <p:spPr>
          <a:xfrm>
            <a:off x="6595982" y="3263116"/>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5" name="Google Shape;805;p61"/>
          <p:cNvSpPr txBox="1"/>
          <p:nvPr/>
        </p:nvSpPr>
        <p:spPr>
          <a:xfrm>
            <a:off x="6482720" y="3460264"/>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6" name="Google Shape;806;p61"/>
          <p:cNvSpPr txBox="1"/>
          <p:nvPr/>
        </p:nvSpPr>
        <p:spPr>
          <a:xfrm>
            <a:off x="6595982" y="3448374"/>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7" name="Google Shape;807;p61"/>
          <p:cNvSpPr txBox="1"/>
          <p:nvPr/>
        </p:nvSpPr>
        <p:spPr>
          <a:xfrm>
            <a:off x="6482720" y="3645072"/>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8" name="Google Shape;808;p61"/>
          <p:cNvSpPr txBox="1"/>
          <p:nvPr/>
        </p:nvSpPr>
        <p:spPr>
          <a:xfrm>
            <a:off x="6595982" y="3633632"/>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9" name="Google Shape;809;p61"/>
          <p:cNvSpPr txBox="1"/>
          <p:nvPr/>
        </p:nvSpPr>
        <p:spPr>
          <a:xfrm>
            <a:off x="6482720" y="3829881"/>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0" name="Google Shape;810;p61"/>
          <p:cNvSpPr txBox="1"/>
          <p:nvPr/>
        </p:nvSpPr>
        <p:spPr>
          <a:xfrm>
            <a:off x="6595982" y="381889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1" name="Google Shape;811;p61"/>
          <p:cNvSpPr txBox="1"/>
          <p:nvPr/>
        </p:nvSpPr>
        <p:spPr>
          <a:xfrm>
            <a:off x="6427050" y="2431400"/>
            <a:ext cx="25635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Container Registries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2" name="Google Shape;812;p61"/>
          <p:cNvSpPr txBox="1"/>
          <p:nvPr/>
        </p:nvSpPr>
        <p:spPr>
          <a:xfrm>
            <a:off x="6480125" y="2905839"/>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3" name="Google Shape;813;p61"/>
          <p:cNvSpPr txBox="1"/>
          <p:nvPr/>
        </p:nvSpPr>
        <p:spPr>
          <a:xfrm>
            <a:off x="6597131" y="289260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4" name="Google Shape;814;p61"/>
          <p:cNvSpPr txBox="1"/>
          <p:nvPr/>
        </p:nvSpPr>
        <p:spPr>
          <a:xfrm>
            <a:off x="6419250" y="4423386"/>
            <a:ext cx="2579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visibility into </a:t>
            </a:r>
            <a: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all </a:t>
            </a:r>
            <a:b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of your Registries?</a:t>
            </a:r>
            <a:b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jFrog, Sonatype Nexus, etc. </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5" name="Google Shape;815;p61"/>
          <p:cNvSpPr txBox="1"/>
          <p:nvPr/>
        </p:nvSpPr>
        <p:spPr>
          <a:xfrm>
            <a:off x="388145" y="1741949"/>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Other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6" name="Google Shape;816;p61"/>
          <p:cNvSpPr txBox="1"/>
          <p:nvPr/>
        </p:nvSpPr>
        <p:spPr>
          <a:xfrm>
            <a:off x="1631697" y="1729224"/>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{{K8C_OTH}}</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7" name="Google Shape;817;p61"/>
          <p:cNvSpPr txBox="1"/>
          <p:nvPr/>
        </p:nvSpPr>
        <p:spPr>
          <a:xfrm>
            <a:off x="3236233" y="1390756"/>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Audit Logs Onboarded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8" name="Google Shape;818;p61"/>
          <p:cNvSpPr txBox="1"/>
          <p:nvPr/>
        </p:nvSpPr>
        <p:spPr>
          <a:xfrm>
            <a:off x="3239438" y="1568033"/>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Sensor Active (Runtime)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9" name="Google Shape;819;p61"/>
          <p:cNvSpPr txBox="1"/>
          <p:nvPr/>
        </p:nvSpPr>
        <p:spPr>
          <a:xfrm>
            <a:off x="4763494" y="1384168"/>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{{KC_SE}}</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0" name="Google Shape;820;p61"/>
          <p:cNvSpPr txBox="1"/>
          <p:nvPr/>
        </p:nvSpPr>
        <p:spPr>
          <a:xfrm>
            <a:off x="4762076" y="1557221"/>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{{KC_CLI}}</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1" name="Google Shape;821;p61"/>
          <p:cNvSpPr txBox="1"/>
          <p:nvPr/>
        </p:nvSpPr>
        <p:spPr>
          <a:xfrm>
            <a:off x="6233046" y="1113294"/>
            <a:ext cx="17205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Internet-Accessible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2" name="Google Shape;822;p61"/>
          <p:cNvSpPr txBox="1"/>
          <p:nvPr/>
        </p:nvSpPr>
        <p:spPr>
          <a:xfrm>
            <a:off x="7853359" y="1113282"/>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{{KG_IA}}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3" name="Google Shape;823;p61"/>
          <p:cNvSpPr txBox="1"/>
          <p:nvPr/>
        </p:nvSpPr>
        <p:spPr>
          <a:xfrm>
            <a:off x="6233048" y="1280583"/>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No Wiz Connector Deployed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4" name="Google Shape;824;p61"/>
          <p:cNvSpPr txBox="1"/>
          <p:nvPr/>
        </p:nvSpPr>
        <p:spPr>
          <a:xfrm>
            <a:off x="7853359" y="128137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5" name="Google Shape;825;p61"/>
          <p:cNvSpPr txBox="1"/>
          <p:nvPr/>
        </p:nvSpPr>
        <p:spPr>
          <a:xfrm>
            <a:off x="6231149" y="1453558"/>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No K8S Audit Logs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6" name="Google Shape;826;p61"/>
          <p:cNvSpPr txBox="1"/>
          <p:nvPr/>
        </p:nvSpPr>
        <p:spPr>
          <a:xfrm>
            <a:off x="6234434" y="1622052"/>
            <a:ext cx="22974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3">
                  <a:extLst>
                    <a:ext uri="{A12FA001-AC4F-418D-AE19-62706E023703}">
                      <ahyp:hlinkClr xmlns:ahyp="http://schemas.microsoft.com/office/drawing/2018/hyperlinkcolor" val="tx"/>
                    </a:ext>
                  </a:extLst>
                </a:hlinkClick>
              </a:rPr>
              <a:t>No Runtime Sensor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7" name="Google Shape;827;p61"/>
          <p:cNvSpPr txBox="1"/>
          <p:nvPr/>
        </p:nvSpPr>
        <p:spPr>
          <a:xfrm>
            <a:off x="7851586" y="144947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8" name="Google Shape;828;p61"/>
          <p:cNvSpPr txBox="1"/>
          <p:nvPr/>
        </p:nvSpPr>
        <p:spPr>
          <a:xfrm>
            <a:off x="7849813" y="1617573"/>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{{KG_NS}}</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9" name="Google Shape;829;p61"/>
          <p:cNvSpPr txBox="1"/>
          <p:nvPr/>
        </p:nvSpPr>
        <p:spPr>
          <a:xfrm>
            <a:off x="3205665" y="2023737"/>
            <a:ext cx="2676900" cy="204300"/>
          </a:xfrm>
          <a:prstGeom prst="rect">
            <a:avLst/>
          </a:prstGeom>
          <a:noFill/>
          <a:ln>
            <a:noFill/>
          </a:ln>
        </p:spPr>
        <p:txBody>
          <a:bodyPr spcFirstLastPara="1" wrap="square" lIns="91775" tIns="91775" rIns="91775" bIns="91775" anchor="ctr"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a:t>
            </a:r>
            <a:r>
              <a:rPr lang="en" sz="11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full</a:t>
            </a: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 visibility?</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30" name="Google Shape;830;p61"/>
          <p:cNvPicPr preferRelativeResize="0"/>
          <p:nvPr/>
        </p:nvPicPr>
        <p:blipFill rotWithShape="1">
          <a:blip r:embed="rId14">
            <a:alphaModFix/>
          </a:blip>
          <a:srcRect/>
          <a:stretch/>
        </p:blipFill>
        <p:spPr>
          <a:xfrm>
            <a:off x="3550644" y="2777812"/>
            <a:ext cx="2785632" cy="527016"/>
          </a:xfrm>
          <a:prstGeom prst="rect">
            <a:avLst/>
          </a:prstGeom>
          <a:noFill/>
          <a:ln w="6350">
            <a:solidFill>
              <a:schemeClr val="accent1"/>
            </a:solidFill>
          </a:ln>
        </p:spPr>
      </p:pic>
      <p:sp>
        <p:nvSpPr>
          <p:cNvPr id="831" name="Google Shape;831;p61"/>
          <p:cNvSpPr/>
          <p:nvPr/>
        </p:nvSpPr>
        <p:spPr>
          <a:xfrm>
            <a:off x="3595375" y="3607213"/>
            <a:ext cx="2676900" cy="13386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rgbClr val="6B7280"/>
              </a:buClr>
              <a:buSzPts val="800"/>
              <a:buFont typeface="DM Sans"/>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0"/>
              </a:spcBef>
              <a:spcAft>
                <a:spcPts val="0"/>
              </a:spcAft>
              <a:buClr>
                <a:srgbClr val="6B7280"/>
              </a:buClr>
              <a:buSzPts val="800"/>
              <a:buFont typeface="DM Sans"/>
              <a:buNone/>
            </a:pP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100000"/>
              </a:lnSpc>
              <a:spcBef>
                <a:spcPts val="0"/>
              </a:spcBef>
              <a:spcAft>
                <a:spcPts val="0"/>
              </a:spcAft>
              <a:buClr>
                <a:srgbClr val="1F2937"/>
              </a:buClr>
              <a:buSzPts val="800"/>
              <a:buFont typeface="JetBrains Mono"/>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Are you tagging your Images? Correlate the Docker image to the CI phase, gain further insights, and potentially improve your CI/CD pipeline conduct</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2" name="Google Shape;832;p61"/>
          <p:cNvSpPr txBox="1"/>
          <p:nvPr/>
        </p:nvSpPr>
        <p:spPr>
          <a:xfrm>
            <a:off x="5383579" y="326151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3" name="Google Shape;833;p61"/>
          <p:cNvSpPr txBox="1"/>
          <p:nvPr/>
        </p:nvSpPr>
        <p:spPr>
          <a:xfrm>
            <a:off x="5855777" y="326711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4" name="Google Shape;834;p61"/>
          <p:cNvSpPr txBox="1"/>
          <p:nvPr/>
        </p:nvSpPr>
        <p:spPr>
          <a:xfrm>
            <a:off x="4911380" y="326898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5" name="Google Shape;835;p61"/>
          <p:cNvSpPr txBox="1"/>
          <p:nvPr/>
        </p:nvSpPr>
        <p:spPr>
          <a:xfrm>
            <a:off x="3966984" y="325964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6" name="Google Shape;836;p61"/>
          <p:cNvSpPr txBox="1"/>
          <p:nvPr/>
        </p:nvSpPr>
        <p:spPr>
          <a:xfrm>
            <a:off x="4439182" y="3263381"/>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7" name="Google Shape;837;p61"/>
          <p:cNvSpPr txBox="1"/>
          <p:nvPr/>
        </p:nvSpPr>
        <p:spPr>
          <a:xfrm>
            <a:off x="3494786" y="3265248"/>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8" name="Google Shape;838;p61"/>
          <p:cNvSpPr txBox="1"/>
          <p:nvPr/>
        </p:nvSpPr>
        <p:spPr>
          <a:xfrm>
            <a:off x="7851954" y="3368391"/>
            <a:ext cx="11397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{{R_CON}}</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9" name="Google Shape;839;p61"/>
          <p:cNvSpPr txBox="1"/>
          <p:nvPr/>
        </p:nvSpPr>
        <p:spPr>
          <a:xfrm>
            <a:off x="7847951" y="3544289"/>
            <a:ext cx="11430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{{R_AUT}}</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0" name="Google Shape;840;p61"/>
          <p:cNvSpPr txBox="1"/>
          <p:nvPr/>
        </p:nvSpPr>
        <p:spPr>
          <a:xfrm>
            <a:off x="7743278" y="3375563"/>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5">
                  <a:extLst>
                    <a:ext uri="{A12FA001-AC4F-418D-AE19-62706E023703}">
                      <ahyp:hlinkClr xmlns:ahyp="http://schemas.microsoft.com/office/drawing/2018/hyperlinkcolor" val="tx"/>
                    </a:ext>
                  </a:extLst>
                </a:hlinkClick>
              </a:rPr>
              <a:t>Connector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1" name="Google Shape;841;p61"/>
          <p:cNvSpPr txBox="1"/>
          <p:nvPr/>
        </p:nvSpPr>
        <p:spPr>
          <a:xfrm>
            <a:off x="7743278" y="3544276"/>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Global</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2" name="Google Shape;842;p61"/>
          <p:cNvSpPr txBox="1"/>
          <p:nvPr/>
        </p:nvSpPr>
        <p:spPr>
          <a:xfrm>
            <a:off x="7743747" y="3712990"/>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7">
                  <a:extLst>
                    <a:ext uri="{A12FA001-AC4F-418D-AE19-62706E023703}">
                      <ahyp:hlinkClr xmlns:ahyp="http://schemas.microsoft.com/office/drawing/2018/hyperlinkcolor" val="tx"/>
                    </a:ext>
                  </a:extLst>
                </a:hlinkClick>
              </a:rPr>
              <a:t>Custom</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3" name="Google Shape;843;p61"/>
          <p:cNvSpPr txBox="1"/>
          <p:nvPr/>
        </p:nvSpPr>
        <p:spPr>
          <a:xfrm>
            <a:off x="7847336" y="3720187"/>
            <a:ext cx="1143000" cy="155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{{R_CUS}}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4" name="Google Shape;844;p61"/>
          <p:cNvSpPr txBox="1"/>
          <p:nvPr/>
        </p:nvSpPr>
        <p:spPr>
          <a:xfrm>
            <a:off x="7683303" y="2828294"/>
            <a:ext cx="1275600" cy="219300"/>
          </a:xfrm>
          <a:prstGeom prst="rect">
            <a:avLst/>
          </a:prstGeom>
          <a:noFill/>
          <a:ln>
            <a:noFill/>
          </a:ln>
        </p:spPr>
        <p:txBody>
          <a:bodyPr spcFirstLastPara="1" wrap="square" lIns="91225" tIns="91225" rIns="91225" bIns="912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Scanning Config Type</a:t>
            </a:r>
            <a:endParaRPr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cxnSp>
        <p:nvCxnSpPr>
          <p:cNvPr id="845" name="Google Shape;845;p61"/>
          <p:cNvCxnSpPr/>
          <p:nvPr/>
        </p:nvCxnSpPr>
        <p:spPr>
          <a:xfrm rot="10800000" flipH="1">
            <a:off x="7699350" y="2976423"/>
            <a:ext cx="15900" cy="1091400"/>
          </a:xfrm>
          <a:prstGeom prst="straightConnector1">
            <a:avLst/>
          </a:prstGeom>
          <a:noFill/>
          <a:ln w="9525" cap="flat" cmpd="sng">
            <a:solidFill>
              <a:srgbClr val="595959"/>
            </a:solidFill>
            <a:prstDash val="solid"/>
            <a:round/>
            <a:headEnd type="none" w="sm" len="sm"/>
            <a:tailEnd type="none" w="sm" len="sm"/>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62"/>
          <p:cNvSpPr txBox="1"/>
          <p:nvPr/>
        </p:nvSpPr>
        <p:spPr>
          <a:xfrm>
            <a:off x="468449" y="2483713"/>
            <a:ext cx="3273600" cy="484718"/>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Best Practice Review</a:t>
            </a:r>
            <a:endParaRPr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52" name="Google Shape;852;p62"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853" name="Google Shape;853;p62"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854" name="Google Shape;854;p62"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859"/>
        <p:cNvGrpSpPr/>
        <p:nvPr/>
      </p:nvGrpSpPr>
      <p:grpSpPr>
        <a:xfrm>
          <a:off x="0" y="0"/>
          <a:ext cx="0" cy="0"/>
          <a:chOff x="0" y="0"/>
          <a:chExt cx="0" cy="0"/>
        </a:xfrm>
      </p:grpSpPr>
      <p:sp>
        <p:nvSpPr>
          <p:cNvPr id="860" name="Google Shape;860;p63"/>
          <p:cNvSpPr/>
          <p:nvPr/>
        </p:nvSpPr>
        <p:spPr>
          <a:xfrm>
            <a:off x="457190" y="141377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Scanning Non-OS Disks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1" name="Google Shape;861;p63"/>
          <p:cNvSpPr/>
          <p:nvPr/>
        </p:nvSpPr>
        <p:spPr>
          <a:xfrm>
            <a:off x="457190" y="164456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Machine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2" name="Google Shape;862;p63"/>
          <p:cNvSpPr/>
          <p:nvPr/>
        </p:nvSpPr>
        <p:spPr>
          <a:xfrm>
            <a:off x="457190" y="187536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Shared AWS CMKs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3" name="Google Shape;863;p63"/>
          <p:cNvSpPr/>
          <p:nvPr/>
        </p:nvSpPr>
        <p:spPr>
          <a:xfrm>
            <a:off x="457190" y="210615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Scanning via Temp Volumes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4" name="Google Shape;864;p63"/>
          <p:cNvSpPr/>
          <p:nvPr/>
        </p:nvSpPr>
        <p:spPr>
          <a:xfrm>
            <a:off x="457190" y="233695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LightSail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5" name="Google Shape;865;p63"/>
          <p:cNvSpPr/>
          <p:nvPr/>
        </p:nvSpPr>
        <p:spPr>
          <a:xfrm>
            <a:off x="457190" y="256774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Lambda Version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6" name="Google Shape;866;p63"/>
          <p:cNvSpPr/>
          <p:nvPr/>
        </p:nvSpPr>
        <p:spPr>
          <a:xfrm>
            <a:off x="457190" y="279853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Custom Scanner Tags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7" name="Google Shape;867;p63"/>
          <p:cNvSpPr/>
          <p:nvPr/>
        </p:nvSpPr>
        <p:spPr>
          <a:xfrm>
            <a:off x="457190" y="302933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Workload Scanning Exclusions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8" name="Google Shape;868;p63"/>
          <p:cNvSpPr/>
          <p:nvPr/>
        </p:nvSpPr>
        <p:spPr>
          <a:xfrm>
            <a:off x="457190" y="326012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Compute Instance Group Sampling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63"/>
          <p:cNvSpPr/>
          <p:nvPr/>
        </p:nvSpPr>
        <p:spPr>
          <a:xfrm>
            <a:off x="457190" y="349092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0" name="Google Shape;870;p63"/>
          <p:cNvSpPr/>
          <p:nvPr/>
        </p:nvSpPr>
        <p:spPr>
          <a:xfrm>
            <a:off x="457190" y="372171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1" name="Google Shape;871;p63"/>
          <p:cNvSpPr/>
          <p:nvPr/>
        </p:nvSpPr>
        <p:spPr>
          <a:xfrm>
            <a:off x="457190" y="395250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Near Real-Time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2" name="Google Shape;872;p63"/>
          <p:cNvSpPr/>
          <p:nvPr/>
        </p:nvSpPr>
        <p:spPr>
          <a:xfrm>
            <a:off x="458865" y="418330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Include NRT Workload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3" name="Google Shape;873;p63"/>
          <p:cNvSpPr/>
          <p:nvPr/>
        </p:nvSpPr>
        <p:spPr>
          <a:xfrm>
            <a:off x="454207" y="4414097"/>
            <a:ext cx="19785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86"/>
              <a:buFont typeface="DM Sans"/>
              <a:buNone/>
            </a:pPr>
            <a:r>
              <a:rPr lang="en" sz="783"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Agentless File Integrity Monitoring</a:t>
            </a:r>
            <a:endParaRPr sz="783"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4" name="Google Shape;874;p63"/>
          <p:cNvSpPr/>
          <p:nvPr/>
        </p:nvSpPr>
        <p:spPr>
          <a:xfrm>
            <a:off x="4880822" y="140157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Scanner Mode (Basic/Advanced)</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5" name="Google Shape;875;p63"/>
          <p:cNvSpPr/>
          <p:nvPr/>
        </p:nvSpPr>
        <p:spPr>
          <a:xfrm>
            <a:off x="4880822" y="160453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Custom Targets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6" name="Google Shape;876;p63"/>
          <p:cNvSpPr/>
          <p:nvPr/>
        </p:nvSpPr>
        <p:spPr>
          <a:xfrm>
            <a:off x="4880822" y="18074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Reconnaissance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7" name="Google Shape;877;p63"/>
          <p:cNvSpPr/>
          <p:nvPr/>
        </p:nvSpPr>
        <p:spPr>
          <a:xfrm>
            <a:off x="4880822" y="201045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Code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8" name="Google Shape;878;p63"/>
          <p:cNvSpPr/>
          <p:nvPr/>
        </p:nvSpPr>
        <p:spPr>
          <a:xfrm>
            <a:off x="4880822" y="221341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API Security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9" name="Google Shape;879;p63"/>
          <p:cNvSpPr/>
          <p:nvPr/>
        </p:nvSpPr>
        <p:spPr>
          <a:xfrm>
            <a:off x="4880822" y="241638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Runtime Sensor</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0" name="Google Shape;880;p63"/>
          <p:cNvSpPr/>
          <p:nvPr/>
        </p:nvSpPr>
        <p:spPr>
          <a:xfrm>
            <a:off x="4880822" y="2619341"/>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SaaS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1" name="Google Shape;881;p63"/>
          <p:cNvSpPr/>
          <p:nvPr/>
        </p:nvSpPr>
        <p:spPr>
          <a:xfrm>
            <a:off x="4880822" y="2822303"/>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Misconfiguration Detection</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2" name="Google Shape;882;p63"/>
          <p:cNvSpPr/>
          <p:nvPr/>
        </p:nvSpPr>
        <p:spPr>
          <a:xfrm>
            <a:off x="4881077" y="3025264"/>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Default Credentials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3" name="Google Shape;883;p63"/>
          <p:cNvSpPr/>
          <p:nvPr/>
        </p:nvSpPr>
        <p:spPr>
          <a:xfrm>
            <a:off x="4881333" y="322822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High-Profile Threat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4" name="Google Shape;884;p63"/>
          <p:cNvSpPr/>
          <p:nvPr/>
        </p:nvSpPr>
        <p:spPr>
          <a:xfrm>
            <a:off x="4875837" y="343118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DAST</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5" name="Google Shape;885;p63"/>
          <p:cNvSpPr/>
          <p:nvPr/>
        </p:nvSpPr>
        <p:spPr>
          <a:xfrm>
            <a:off x="4870341" y="363414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Vulnerability Exploitability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6" name="Google Shape;886;p63"/>
          <p:cNvSpPr/>
          <p:nvPr/>
        </p:nvSpPr>
        <p:spPr>
          <a:xfrm>
            <a:off x="4864845" y="383710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Early Access Rules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7" name="Google Shape;887;p63"/>
          <p:cNvSpPr/>
          <p:nvPr/>
        </p:nvSpPr>
        <p:spPr>
          <a:xfrm>
            <a:off x="4857389" y="404006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Vulnerability Assessment</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8" name="Google Shape;888;p63"/>
          <p:cNvSpPr/>
          <p:nvPr/>
        </p:nvSpPr>
        <p:spPr>
          <a:xfrm>
            <a:off x="4855344" y="424303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Sensitive Data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9" name="Google Shape;889;p63"/>
          <p:cNvSpPr/>
          <p:nvPr/>
        </p:nvSpPr>
        <p:spPr>
          <a:xfrm>
            <a:off x="7769390" y="1840063"/>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{{ASM_RECON_R}}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0" name="Google Shape;890;p63"/>
          <p:cNvSpPr/>
          <p:nvPr/>
        </p:nvSpPr>
        <p:spPr>
          <a:xfrm>
            <a:off x="7769390" y="2856085"/>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{{ASM_MISC_R}}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1" name="Google Shape;891;p63"/>
          <p:cNvSpPr txBox="1"/>
          <p:nvPr/>
        </p:nvSpPr>
        <p:spPr>
          <a:xfrm>
            <a:off x="7769386" y="143365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2" name="Google Shape;892;p63"/>
          <p:cNvSpPr txBox="1"/>
          <p:nvPr/>
        </p:nvSpPr>
        <p:spPr>
          <a:xfrm>
            <a:off x="7769386" y="163685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{{ASM_CUST_R}}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3" name="Google Shape;893;p63"/>
          <p:cNvSpPr txBox="1"/>
          <p:nvPr/>
        </p:nvSpPr>
        <p:spPr>
          <a:xfrm>
            <a:off x="7769381" y="204326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4" name="Google Shape;894;p63"/>
          <p:cNvSpPr txBox="1"/>
          <p:nvPr/>
        </p:nvSpPr>
        <p:spPr>
          <a:xfrm>
            <a:off x="7769386" y="224647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{{ASM_API_R}}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5" name="Google Shape;895;p63"/>
          <p:cNvSpPr txBox="1"/>
          <p:nvPr/>
        </p:nvSpPr>
        <p:spPr>
          <a:xfrm>
            <a:off x="7769381" y="244967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6" name="Google Shape;896;p63"/>
          <p:cNvSpPr txBox="1"/>
          <p:nvPr/>
        </p:nvSpPr>
        <p:spPr>
          <a:xfrm>
            <a:off x="7769386" y="265288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{{ASM_SASS_R}}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7" name="Google Shape;897;p63"/>
          <p:cNvSpPr txBox="1"/>
          <p:nvPr/>
        </p:nvSpPr>
        <p:spPr>
          <a:xfrm>
            <a:off x="7775393" y="3059290"/>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{{ASM_CRED_R}}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8" name="Google Shape;898;p63"/>
          <p:cNvSpPr txBox="1"/>
          <p:nvPr/>
        </p:nvSpPr>
        <p:spPr>
          <a:xfrm>
            <a:off x="7781400" y="326249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{{ASM_HPT_R}}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9" name="Google Shape;899;p63"/>
          <p:cNvSpPr txBox="1"/>
          <p:nvPr/>
        </p:nvSpPr>
        <p:spPr>
          <a:xfrm>
            <a:off x="7775904" y="346569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0" name="Google Shape;900;p63"/>
          <p:cNvSpPr txBox="1"/>
          <p:nvPr/>
        </p:nvSpPr>
        <p:spPr>
          <a:xfrm>
            <a:off x="7770409" y="3668903"/>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{{ASM_VEXP_R}}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1" name="Google Shape;901;p63"/>
          <p:cNvSpPr txBox="1"/>
          <p:nvPr/>
        </p:nvSpPr>
        <p:spPr>
          <a:xfrm>
            <a:off x="7764913" y="3872107"/>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{{ASM_EAR_R}}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2" name="Google Shape;902;p63"/>
          <p:cNvSpPr txBox="1"/>
          <p:nvPr/>
        </p:nvSpPr>
        <p:spPr>
          <a:xfrm>
            <a:off x="7757456" y="407531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{{ASM_VULN_R}}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3" name="Google Shape;903;p63"/>
          <p:cNvSpPr txBox="1"/>
          <p:nvPr/>
        </p:nvSpPr>
        <p:spPr>
          <a:xfrm>
            <a:off x="7755412" y="427851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{{ASM_DATA_R}}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4" name="Google Shape;904;p63"/>
          <p:cNvSpPr/>
          <p:nvPr/>
        </p:nvSpPr>
        <p:spPr>
          <a:xfrm>
            <a:off x="6921549" y="140157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5" name="Google Shape;905;p63"/>
          <p:cNvSpPr/>
          <p:nvPr/>
        </p:nvSpPr>
        <p:spPr>
          <a:xfrm>
            <a:off x="6921549" y="16045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{{ASM_CUST}}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6" name="Google Shape;906;p63"/>
          <p:cNvSpPr/>
          <p:nvPr/>
        </p:nvSpPr>
        <p:spPr>
          <a:xfrm>
            <a:off x="6921549" y="18074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{{ASM_RECON}}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7" name="Google Shape;907;p63"/>
          <p:cNvSpPr/>
          <p:nvPr/>
        </p:nvSpPr>
        <p:spPr>
          <a:xfrm>
            <a:off x="6921549" y="20104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63"/>
          <p:cNvSpPr/>
          <p:nvPr/>
        </p:nvSpPr>
        <p:spPr>
          <a:xfrm>
            <a:off x="6921549" y="221335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{{ASM_API}}</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9" name="Google Shape;909;p63"/>
          <p:cNvSpPr/>
          <p:nvPr/>
        </p:nvSpPr>
        <p:spPr>
          <a:xfrm>
            <a:off x="6921549" y="2416303"/>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0" name="Google Shape;910;p63"/>
          <p:cNvSpPr/>
          <p:nvPr/>
        </p:nvSpPr>
        <p:spPr>
          <a:xfrm>
            <a:off x="6921549" y="2619248"/>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{{ASM_SAAS}}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1" name="Google Shape;911;p63"/>
          <p:cNvSpPr/>
          <p:nvPr/>
        </p:nvSpPr>
        <p:spPr>
          <a:xfrm>
            <a:off x="6921549" y="2822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{{ASM_MISC}}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2" name="Google Shape;912;p63"/>
          <p:cNvSpPr/>
          <p:nvPr/>
        </p:nvSpPr>
        <p:spPr>
          <a:xfrm>
            <a:off x="6921216" y="3025139"/>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{{ASM_CRED}}</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3" name="Google Shape;913;p63"/>
          <p:cNvSpPr/>
          <p:nvPr/>
        </p:nvSpPr>
        <p:spPr>
          <a:xfrm>
            <a:off x="6927625" y="322808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{{ASM_HPT}}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4" name="Google Shape;914;p63"/>
          <p:cNvSpPr/>
          <p:nvPr/>
        </p:nvSpPr>
        <p:spPr>
          <a:xfrm>
            <a:off x="6922129" y="3431030"/>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5" name="Google Shape;915;p63"/>
          <p:cNvSpPr/>
          <p:nvPr/>
        </p:nvSpPr>
        <p:spPr>
          <a:xfrm>
            <a:off x="6916633" y="363397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{{ASM_VEXP}}</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6" name="Google Shape;916;p63"/>
          <p:cNvSpPr/>
          <p:nvPr/>
        </p:nvSpPr>
        <p:spPr>
          <a:xfrm>
            <a:off x="6911137" y="38369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{{ASM_EAR}}</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7" name="Google Shape;917;p63"/>
          <p:cNvSpPr/>
          <p:nvPr/>
        </p:nvSpPr>
        <p:spPr>
          <a:xfrm>
            <a:off x="6903681" y="403986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{{ASM_VULN}}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8" name="Google Shape;918;p63"/>
          <p:cNvSpPr/>
          <p:nvPr/>
        </p:nvSpPr>
        <p:spPr>
          <a:xfrm>
            <a:off x="6901636" y="42428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{{ASM_DATA}}</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9" name="Google Shape;919;p63"/>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0" name="Google Shape;920;p63"/>
          <p:cNvSpPr/>
          <p:nvPr/>
        </p:nvSpPr>
        <p:spPr>
          <a:xfrm>
            <a:off x="457200" y="164592"/>
            <a:ext cx="640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Workload &amp; Attack Surface</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1" name="Google Shape;921;p63"/>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workload scanner and attack surface management configuration settings.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2" name="Google Shape;922;p63"/>
          <p:cNvSpPr/>
          <p:nvPr/>
        </p:nvSpPr>
        <p:spPr>
          <a:xfrm>
            <a:off x="239233" y="868680"/>
            <a:ext cx="4224479" cy="2742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3" name="Google Shape;923;p63"/>
          <p:cNvSpPr/>
          <p:nvPr/>
        </p:nvSpPr>
        <p:spPr>
          <a:xfrm>
            <a:off x="243488" y="868680"/>
            <a:ext cx="93340" cy="2742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4" name="Google Shape;924;p63"/>
          <p:cNvSpPr/>
          <p:nvPr/>
        </p:nvSpPr>
        <p:spPr>
          <a:xfrm>
            <a:off x="50292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WORKLOAD SCANNER</a:t>
            </a: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5" name="Google Shape;925;p63"/>
          <p:cNvSpPr/>
          <p:nvPr/>
        </p:nvSpPr>
        <p:spPr>
          <a:xfrm>
            <a:off x="365760" y="1212609"/>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6" name="Google Shape;926;p63"/>
          <p:cNvSpPr/>
          <p:nvPr/>
        </p:nvSpPr>
        <p:spPr>
          <a:xfrm>
            <a:off x="457200" y="1212609"/>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7" name="Google Shape;927;p63"/>
          <p:cNvSpPr/>
          <p:nvPr/>
        </p:nvSpPr>
        <p:spPr>
          <a:xfrm>
            <a:off x="2514439" y="1212602"/>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8" name="Google Shape;928;p63"/>
          <p:cNvSpPr/>
          <p:nvPr/>
        </p:nvSpPr>
        <p:spPr>
          <a:xfrm>
            <a:off x="3398583" y="1212602"/>
            <a:ext cx="9909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29" name="Google Shape;929;p63"/>
          <p:cNvCxnSpPr/>
          <p:nvPr/>
        </p:nvCxnSpPr>
        <p:spPr>
          <a:xfrm>
            <a:off x="365750" y="1644243"/>
            <a:ext cx="3977700" cy="0"/>
          </a:xfrm>
          <a:prstGeom prst="straightConnector1">
            <a:avLst/>
          </a:prstGeom>
          <a:noFill/>
          <a:ln w="9525" cap="flat" cmpd="sng">
            <a:solidFill>
              <a:srgbClr val="888888"/>
            </a:solidFill>
            <a:prstDash val="solid"/>
            <a:round/>
            <a:headEnd type="none" w="sm" len="sm"/>
            <a:tailEnd type="none" w="sm" len="sm"/>
          </a:ln>
        </p:spPr>
      </p:cxnSp>
      <p:sp>
        <p:nvSpPr>
          <p:cNvPr id="930" name="Google Shape;930;p63"/>
          <p:cNvSpPr/>
          <p:nvPr/>
        </p:nvSpPr>
        <p:spPr>
          <a:xfrm>
            <a:off x="2514443" y="141377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{{WS_NONOS}}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1" name="Google Shape;931;p63"/>
          <p:cNvSpPr/>
          <p:nvPr/>
        </p:nvSpPr>
        <p:spPr>
          <a:xfrm>
            <a:off x="3412672" y="145352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{{WS_NONOS_R}}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32" name="Google Shape;932;p63"/>
          <p:cNvCxnSpPr/>
          <p:nvPr/>
        </p:nvCxnSpPr>
        <p:spPr>
          <a:xfrm>
            <a:off x="365750" y="1874226"/>
            <a:ext cx="3977700" cy="0"/>
          </a:xfrm>
          <a:prstGeom prst="straightConnector1">
            <a:avLst/>
          </a:prstGeom>
          <a:noFill/>
          <a:ln w="9525" cap="flat" cmpd="sng">
            <a:solidFill>
              <a:srgbClr val="888888"/>
            </a:solidFill>
            <a:prstDash val="solid"/>
            <a:round/>
            <a:headEnd type="none" w="sm" len="sm"/>
            <a:tailEnd type="none" w="sm" len="sm"/>
          </a:ln>
        </p:spPr>
      </p:cxnSp>
      <p:sp>
        <p:nvSpPr>
          <p:cNvPr id="933" name="Google Shape;933;p63"/>
          <p:cNvSpPr/>
          <p:nvPr/>
        </p:nvSpPr>
        <p:spPr>
          <a:xfrm>
            <a:off x="2514443" y="164456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{{WS_VM}}</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4" name="Google Shape;934;p63"/>
          <p:cNvSpPr/>
          <p:nvPr/>
        </p:nvSpPr>
        <p:spPr>
          <a:xfrm>
            <a:off x="3412669" y="168343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{{WS_VM_R}}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35" name="Google Shape;935;p63"/>
          <p:cNvSpPr/>
          <p:nvPr/>
        </p:nvSpPr>
        <p:spPr>
          <a:xfrm>
            <a:off x="2514443" y="187536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{{WS_CMK}}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6" name="Google Shape;936;p63"/>
          <p:cNvCxnSpPr/>
          <p:nvPr/>
        </p:nvCxnSpPr>
        <p:spPr>
          <a:xfrm>
            <a:off x="365750" y="2104209"/>
            <a:ext cx="3977700" cy="0"/>
          </a:xfrm>
          <a:prstGeom prst="straightConnector1">
            <a:avLst/>
          </a:prstGeom>
          <a:noFill/>
          <a:ln w="9525" cap="flat" cmpd="sng">
            <a:solidFill>
              <a:srgbClr val="888888"/>
            </a:solidFill>
            <a:prstDash val="solid"/>
            <a:round/>
            <a:headEnd type="none" w="sm" len="sm"/>
            <a:tailEnd type="none" w="sm" len="sm"/>
          </a:ln>
        </p:spPr>
      </p:cxnSp>
      <p:cxnSp>
        <p:nvCxnSpPr>
          <p:cNvPr id="937" name="Google Shape;937;p63"/>
          <p:cNvCxnSpPr/>
          <p:nvPr/>
        </p:nvCxnSpPr>
        <p:spPr>
          <a:xfrm>
            <a:off x="365750" y="2334193"/>
            <a:ext cx="3977700" cy="0"/>
          </a:xfrm>
          <a:prstGeom prst="straightConnector1">
            <a:avLst/>
          </a:prstGeom>
          <a:noFill/>
          <a:ln w="9525" cap="flat" cmpd="sng">
            <a:solidFill>
              <a:srgbClr val="888888"/>
            </a:solidFill>
            <a:prstDash val="solid"/>
            <a:round/>
            <a:headEnd type="none" w="sm" len="sm"/>
            <a:tailEnd type="none" w="sm" len="sm"/>
          </a:ln>
        </p:spPr>
      </p:cxnSp>
      <p:sp>
        <p:nvSpPr>
          <p:cNvPr id="938" name="Google Shape;938;p63"/>
          <p:cNvSpPr/>
          <p:nvPr/>
        </p:nvSpPr>
        <p:spPr>
          <a:xfrm>
            <a:off x="2514443" y="210615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{{WS_TVOL}}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9" name="Google Shape;939;p63"/>
          <p:cNvCxnSpPr/>
          <p:nvPr/>
        </p:nvCxnSpPr>
        <p:spPr>
          <a:xfrm>
            <a:off x="365750" y="2564176"/>
            <a:ext cx="3977700" cy="0"/>
          </a:xfrm>
          <a:prstGeom prst="straightConnector1">
            <a:avLst/>
          </a:prstGeom>
          <a:noFill/>
          <a:ln w="9525" cap="flat" cmpd="sng">
            <a:solidFill>
              <a:srgbClr val="888888"/>
            </a:solidFill>
            <a:prstDash val="solid"/>
            <a:round/>
            <a:headEnd type="none" w="sm" len="sm"/>
            <a:tailEnd type="none" w="sm" len="sm"/>
          </a:ln>
        </p:spPr>
      </p:cxnSp>
      <p:sp>
        <p:nvSpPr>
          <p:cNvPr id="940" name="Google Shape;940;p63"/>
          <p:cNvSpPr/>
          <p:nvPr/>
        </p:nvSpPr>
        <p:spPr>
          <a:xfrm>
            <a:off x="2514443" y="233695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{{WS_LSAIL}}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1" name="Google Shape;941;p63"/>
          <p:cNvCxnSpPr/>
          <p:nvPr/>
        </p:nvCxnSpPr>
        <p:spPr>
          <a:xfrm>
            <a:off x="365750" y="2794159"/>
            <a:ext cx="3977700" cy="0"/>
          </a:xfrm>
          <a:prstGeom prst="straightConnector1">
            <a:avLst/>
          </a:prstGeom>
          <a:noFill/>
          <a:ln w="9525" cap="flat" cmpd="sng">
            <a:solidFill>
              <a:srgbClr val="888888"/>
            </a:solidFill>
            <a:prstDash val="solid"/>
            <a:round/>
            <a:headEnd type="none" w="sm" len="sm"/>
            <a:tailEnd type="none" w="sm" len="sm"/>
          </a:ln>
        </p:spPr>
      </p:cxnSp>
      <p:sp>
        <p:nvSpPr>
          <p:cNvPr id="942" name="Google Shape;942;p63"/>
          <p:cNvSpPr/>
          <p:nvPr/>
        </p:nvSpPr>
        <p:spPr>
          <a:xfrm>
            <a:off x="2514443" y="256774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{{WS_LAMB}}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3" name="Google Shape;943;p63"/>
          <p:cNvCxnSpPr/>
          <p:nvPr/>
        </p:nvCxnSpPr>
        <p:spPr>
          <a:xfrm>
            <a:off x="365750" y="3024142"/>
            <a:ext cx="3977700" cy="0"/>
          </a:xfrm>
          <a:prstGeom prst="straightConnector1">
            <a:avLst/>
          </a:prstGeom>
          <a:noFill/>
          <a:ln w="9525" cap="flat" cmpd="sng">
            <a:solidFill>
              <a:srgbClr val="888888"/>
            </a:solidFill>
            <a:prstDash val="solid"/>
            <a:round/>
            <a:headEnd type="none" w="sm" len="sm"/>
            <a:tailEnd type="none" w="sm" len="sm"/>
          </a:ln>
        </p:spPr>
      </p:cxnSp>
      <p:sp>
        <p:nvSpPr>
          <p:cNvPr id="944" name="Google Shape;944;p63"/>
          <p:cNvSpPr/>
          <p:nvPr/>
        </p:nvSpPr>
        <p:spPr>
          <a:xfrm>
            <a:off x="2514443" y="279853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{{WS_TAGS}}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5" name="Google Shape;945;p63"/>
          <p:cNvCxnSpPr/>
          <p:nvPr/>
        </p:nvCxnSpPr>
        <p:spPr>
          <a:xfrm>
            <a:off x="365750" y="3254126"/>
            <a:ext cx="3977700" cy="0"/>
          </a:xfrm>
          <a:prstGeom prst="straightConnector1">
            <a:avLst/>
          </a:prstGeom>
          <a:noFill/>
          <a:ln w="9525" cap="flat" cmpd="sng">
            <a:solidFill>
              <a:srgbClr val="888888"/>
            </a:solidFill>
            <a:prstDash val="solid"/>
            <a:round/>
            <a:headEnd type="none" w="sm" len="sm"/>
            <a:tailEnd type="none" w="sm" len="sm"/>
          </a:ln>
        </p:spPr>
      </p:cxnSp>
      <p:sp>
        <p:nvSpPr>
          <p:cNvPr id="946" name="Google Shape;946;p63"/>
          <p:cNvSpPr/>
          <p:nvPr/>
        </p:nvSpPr>
        <p:spPr>
          <a:xfrm>
            <a:off x="2514443" y="302933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47" name="Google Shape;947;p63"/>
          <p:cNvSpPr/>
          <p:nvPr/>
        </p:nvSpPr>
        <p:spPr>
          <a:xfrm>
            <a:off x="3412669" y="305238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48" name="Google Shape;948;p63"/>
          <p:cNvCxnSpPr/>
          <p:nvPr/>
        </p:nvCxnSpPr>
        <p:spPr>
          <a:xfrm>
            <a:off x="365750" y="3484109"/>
            <a:ext cx="3977700" cy="0"/>
          </a:xfrm>
          <a:prstGeom prst="straightConnector1">
            <a:avLst/>
          </a:prstGeom>
          <a:noFill/>
          <a:ln w="9525" cap="flat" cmpd="sng">
            <a:solidFill>
              <a:srgbClr val="888888"/>
            </a:solidFill>
            <a:prstDash val="solid"/>
            <a:round/>
            <a:headEnd type="none" w="sm" len="sm"/>
            <a:tailEnd type="none" w="sm" len="sm"/>
          </a:ln>
        </p:spPr>
      </p:cxnSp>
      <p:sp>
        <p:nvSpPr>
          <p:cNvPr id="949" name="Google Shape;949;p63"/>
          <p:cNvSpPr/>
          <p:nvPr/>
        </p:nvSpPr>
        <p:spPr>
          <a:xfrm>
            <a:off x="2514443" y="326012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{{WS_CIGS}}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0" name="Google Shape;950;p63"/>
          <p:cNvSpPr/>
          <p:nvPr/>
        </p:nvSpPr>
        <p:spPr>
          <a:xfrm>
            <a:off x="3412669" y="328229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{{WS_CIGS_R}}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51" name="Google Shape;951;p63"/>
          <p:cNvCxnSpPr/>
          <p:nvPr/>
        </p:nvCxnSpPr>
        <p:spPr>
          <a:xfrm>
            <a:off x="365750" y="3714092"/>
            <a:ext cx="3977700" cy="0"/>
          </a:xfrm>
          <a:prstGeom prst="straightConnector1">
            <a:avLst/>
          </a:prstGeom>
          <a:noFill/>
          <a:ln w="9525" cap="flat" cmpd="sng">
            <a:solidFill>
              <a:srgbClr val="888888"/>
            </a:solidFill>
            <a:prstDash val="solid"/>
            <a:round/>
            <a:headEnd type="none" w="sm" len="sm"/>
            <a:tailEnd type="none" w="sm" len="sm"/>
          </a:ln>
        </p:spPr>
      </p:cxnSp>
      <p:sp>
        <p:nvSpPr>
          <p:cNvPr id="952" name="Google Shape;952;p63"/>
          <p:cNvSpPr/>
          <p:nvPr/>
        </p:nvSpPr>
        <p:spPr>
          <a:xfrm>
            <a:off x="2514443" y="349092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3" name="Google Shape;953;p63"/>
          <p:cNvCxnSpPr/>
          <p:nvPr/>
        </p:nvCxnSpPr>
        <p:spPr>
          <a:xfrm>
            <a:off x="365750" y="3944076"/>
            <a:ext cx="3977700" cy="0"/>
          </a:xfrm>
          <a:prstGeom prst="straightConnector1">
            <a:avLst/>
          </a:prstGeom>
          <a:noFill/>
          <a:ln w="9525" cap="flat" cmpd="sng">
            <a:solidFill>
              <a:srgbClr val="888888"/>
            </a:solidFill>
            <a:prstDash val="solid"/>
            <a:round/>
            <a:headEnd type="none" w="sm" len="sm"/>
            <a:tailEnd type="none" w="sm" len="sm"/>
          </a:ln>
        </p:spPr>
      </p:cxnSp>
      <p:sp>
        <p:nvSpPr>
          <p:cNvPr id="954" name="Google Shape;954;p63"/>
          <p:cNvSpPr/>
          <p:nvPr/>
        </p:nvSpPr>
        <p:spPr>
          <a:xfrm>
            <a:off x="2514443" y="372171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5" name="Google Shape;955;p63"/>
          <p:cNvCxnSpPr/>
          <p:nvPr/>
        </p:nvCxnSpPr>
        <p:spPr>
          <a:xfrm>
            <a:off x="365750" y="4174059"/>
            <a:ext cx="3977700" cy="0"/>
          </a:xfrm>
          <a:prstGeom prst="straightConnector1">
            <a:avLst/>
          </a:prstGeom>
          <a:noFill/>
          <a:ln w="9525" cap="flat" cmpd="sng">
            <a:solidFill>
              <a:srgbClr val="888888"/>
            </a:solidFill>
            <a:prstDash val="solid"/>
            <a:round/>
            <a:headEnd type="none" w="sm" len="sm"/>
            <a:tailEnd type="none" w="sm" len="sm"/>
          </a:ln>
        </p:spPr>
      </p:cxnSp>
      <p:sp>
        <p:nvSpPr>
          <p:cNvPr id="956" name="Google Shape;956;p63"/>
          <p:cNvSpPr/>
          <p:nvPr/>
        </p:nvSpPr>
        <p:spPr>
          <a:xfrm>
            <a:off x="2514443" y="395250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7" name="Google Shape;957;p63"/>
          <p:cNvSpPr/>
          <p:nvPr/>
        </p:nvSpPr>
        <p:spPr>
          <a:xfrm>
            <a:off x="4676033" y="868680"/>
            <a:ext cx="4224479" cy="274200"/>
          </a:xfrm>
          <a:prstGeom prst="rect">
            <a:avLst/>
          </a:prstGeom>
          <a:solidFill>
            <a:srgbClr val="DCC0C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8" name="Google Shape;958;p63"/>
          <p:cNvSpPr/>
          <p:nvPr/>
        </p:nvSpPr>
        <p:spPr>
          <a:xfrm>
            <a:off x="4678332" y="868680"/>
            <a:ext cx="91440" cy="274200"/>
          </a:xfrm>
          <a:prstGeom prst="rect">
            <a:avLst/>
          </a:prstGeom>
          <a:solidFill>
            <a:srgbClr val="DC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9" name="Google Shape;959;p63"/>
          <p:cNvSpPr/>
          <p:nvPr/>
        </p:nvSpPr>
        <p:spPr>
          <a:xfrm>
            <a:off x="493776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C262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ATTACK SURFACE MANAGEMENT</a:t>
            </a:r>
            <a:r>
              <a:rPr lang="en"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0" name="Google Shape;960;p63"/>
          <p:cNvSpPr/>
          <p:nvPr/>
        </p:nvSpPr>
        <p:spPr>
          <a:xfrm>
            <a:off x="4788323" y="1204132"/>
            <a:ext cx="3947400" cy="197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61" name="Google Shape;961;p63"/>
          <p:cNvSpPr/>
          <p:nvPr/>
        </p:nvSpPr>
        <p:spPr>
          <a:xfrm>
            <a:off x="4879063" y="1204132"/>
            <a:ext cx="19734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2" name="Google Shape;962;p63"/>
          <p:cNvSpPr/>
          <p:nvPr/>
        </p:nvSpPr>
        <p:spPr>
          <a:xfrm>
            <a:off x="6929140" y="1204132"/>
            <a:ext cx="8682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3" name="Google Shape;963;p63"/>
          <p:cNvSpPr/>
          <p:nvPr/>
        </p:nvSpPr>
        <p:spPr>
          <a:xfrm>
            <a:off x="7777620" y="1204132"/>
            <a:ext cx="10263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64" name="Google Shape;964;p63"/>
          <p:cNvCxnSpPr/>
          <p:nvPr/>
        </p:nvCxnSpPr>
        <p:spPr>
          <a:xfrm>
            <a:off x="4788600" y="1598105"/>
            <a:ext cx="4012500" cy="0"/>
          </a:xfrm>
          <a:prstGeom prst="straightConnector1">
            <a:avLst/>
          </a:prstGeom>
          <a:noFill/>
          <a:ln w="9525" cap="flat" cmpd="sng">
            <a:solidFill>
              <a:srgbClr val="888888"/>
            </a:solidFill>
            <a:prstDash val="solid"/>
            <a:round/>
            <a:headEnd type="none" w="sm" len="sm"/>
            <a:tailEnd type="none" w="sm" len="sm"/>
          </a:ln>
        </p:spPr>
      </p:cxnSp>
      <p:cxnSp>
        <p:nvCxnSpPr>
          <p:cNvPr id="965" name="Google Shape;965;p63"/>
          <p:cNvCxnSpPr/>
          <p:nvPr/>
        </p:nvCxnSpPr>
        <p:spPr>
          <a:xfrm>
            <a:off x="4788600" y="180094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6" name="Google Shape;966;p63"/>
          <p:cNvCxnSpPr/>
          <p:nvPr/>
        </p:nvCxnSpPr>
        <p:spPr>
          <a:xfrm>
            <a:off x="4788600" y="200378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7" name="Google Shape;967;p63"/>
          <p:cNvCxnSpPr/>
          <p:nvPr/>
        </p:nvCxnSpPr>
        <p:spPr>
          <a:xfrm>
            <a:off x="4788600" y="220662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8" name="Google Shape;968;p63"/>
          <p:cNvCxnSpPr/>
          <p:nvPr/>
        </p:nvCxnSpPr>
        <p:spPr>
          <a:xfrm>
            <a:off x="4788600" y="240946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9" name="Google Shape;969;p63"/>
          <p:cNvCxnSpPr/>
          <p:nvPr/>
        </p:nvCxnSpPr>
        <p:spPr>
          <a:xfrm>
            <a:off x="4788600" y="2612303"/>
            <a:ext cx="4012500" cy="0"/>
          </a:xfrm>
          <a:prstGeom prst="straightConnector1">
            <a:avLst/>
          </a:prstGeom>
          <a:noFill/>
          <a:ln w="9525" cap="flat" cmpd="sng">
            <a:solidFill>
              <a:srgbClr val="888888"/>
            </a:solidFill>
            <a:prstDash val="solid"/>
            <a:round/>
            <a:headEnd type="none" w="sm" len="sm"/>
            <a:tailEnd type="none" w="sm" len="sm"/>
          </a:ln>
        </p:spPr>
      </p:cxnSp>
      <p:cxnSp>
        <p:nvCxnSpPr>
          <p:cNvPr id="970" name="Google Shape;970;p63"/>
          <p:cNvCxnSpPr/>
          <p:nvPr/>
        </p:nvCxnSpPr>
        <p:spPr>
          <a:xfrm>
            <a:off x="4788600" y="2815142"/>
            <a:ext cx="4012500" cy="0"/>
          </a:xfrm>
          <a:prstGeom prst="straightConnector1">
            <a:avLst/>
          </a:prstGeom>
          <a:noFill/>
          <a:ln w="9525" cap="flat" cmpd="sng">
            <a:solidFill>
              <a:srgbClr val="888888"/>
            </a:solidFill>
            <a:prstDash val="solid"/>
            <a:round/>
            <a:headEnd type="none" w="sm" len="sm"/>
            <a:tailEnd type="none" w="sm" len="sm"/>
          </a:ln>
        </p:spPr>
      </p:cxnSp>
      <p:cxnSp>
        <p:nvCxnSpPr>
          <p:cNvPr id="971" name="Google Shape;971;p63"/>
          <p:cNvCxnSpPr/>
          <p:nvPr/>
        </p:nvCxnSpPr>
        <p:spPr>
          <a:xfrm>
            <a:off x="4794352" y="3626501"/>
            <a:ext cx="4012500" cy="0"/>
          </a:xfrm>
          <a:prstGeom prst="straightConnector1">
            <a:avLst/>
          </a:prstGeom>
          <a:noFill/>
          <a:ln w="9525" cap="flat" cmpd="sng">
            <a:solidFill>
              <a:srgbClr val="888888"/>
            </a:solidFill>
            <a:prstDash val="solid"/>
            <a:round/>
            <a:headEnd type="none" w="sm" len="sm"/>
            <a:tailEnd type="none" w="sm" len="sm"/>
          </a:ln>
        </p:spPr>
      </p:cxnSp>
      <p:sp>
        <p:nvSpPr>
          <p:cNvPr id="972" name="Google Shape;972;p63"/>
          <p:cNvSpPr txBox="1"/>
          <p:nvPr/>
        </p:nvSpPr>
        <p:spPr>
          <a:xfrm>
            <a:off x="3412674" y="1913341"/>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{{WS_CMK_R}}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3" name="Google Shape;973;p63"/>
          <p:cNvSpPr txBox="1"/>
          <p:nvPr/>
        </p:nvSpPr>
        <p:spPr>
          <a:xfrm>
            <a:off x="3412674" y="214115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{{WS_TVOL_R}}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4" name="Google Shape;974;p63"/>
          <p:cNvSpPr txBox="1"/>
          <p:nvPr/>
        </p:nvSpPr>
        <p:spPr>
          <a:xfrm>
            <a:off x="3412674" y="236896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{{WS_LSAIL_R}}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5" name="Google Shape;975;p63"/>
          <p:cNvSpPr txBox="1"/>
          <p:nvPr/>
        </p:nvSpPr>
        <p:spPr>
          <a:xfrm>
            <a:off x="3412674" y="259676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{{WS_LAMB_R}}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6" name="Google Shape;976;p63"/>
          <p:cNvSpPr txBox="1"/>
          <p:nvPr/>
        </p:nvSpPr>
        <p:spPr>
          <a:xfrm>
            <a:off x="3412675" y="282457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{{WS_TAGS_R}}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7" name="Google Shape;977;p63"/>
          <p:cNvSpPr txBox="1"/>
          <p:nvPr/>
        </p:nvSpPr>
        <p:spPr>
          <a:xfrm>
            <a:off x="3412674" y="3512208"/>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8" name="Google Shape;978;p63"/>
          <p:cNvSpPr txBox="1"/>
          <p:nvPr/>
        </p:nvSpPr>
        <p:spPr>
          <a:xfrm>
            <a:off x="3412674" y="374001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9" name="Google Shape;979;p63"/>
          <p:cNvSpPr txBox="1"/>
          <p:nvPr/>
        </p:nvSpPr>
        <p:spPr>
          <a:xfrm>
            <a:off x="3412674" y="396782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0" name="Google Shape;980;p63"/>
          <p:cNvCxnSpPr/>
          <p:nvPr/>
        </p:nvCxnSpPr>
        <p:spPr>
          <a:xfrm>
            <a:off x="4805551" y="1390969"/>
            <a:ext cx="3947400" cy="0"/>
          </a:xfrm>
          <a:prstGeom prst="straightConnector1">
            <a:avLst/>
          </a:prstGeom>
          <a:noFill/>
          <a:ln w="14300" cap="flat" cmpd="sng">
            <a:solidFill>
              <a:srgbClr val="888888"/>
            </a:solidFill>
            <a:prstDash val="solid"/>
            <a:round/>
            <a:headEnd type="none" w="sm" len="sm"/>
            <a:tailEnd type="none" w="sm" len="sm"/>
          </a:ln>
        </p:spPr>
      </p:cxnSp>
      <p:cxnSp>
        <p:nvCxnSpPr>
          <p:cNvPr id="981" name="Google Shape;981;p63"/>
          <p:cNvCxnSpPr/>
          <p:nvPr/>
        </p:nvCxnSpPr>
        <p:spPr>
          <a:xfrm>
            <a:off x="377157" y="1403236"/>
            <a:ext cx="3977700" cy="0"/>
          </a:xfrm>
          <a:prstGeom prst="straightConnector1">
            <a:avLst/>
          </a:prstGeom>
          <a:noFill/>
          <a:ln w="14300" cap="flat" cmpd="sng">
            <a:solidFill>
              <a:srgbClr val="888888"/>
            </a:solidFill>
            <a:prstDash val="solid"/>
            <a:round/>
            <a:headEnd type="none" w="sm" len="sm"/>
            <a:tailEnd type="none" w="sm" len="sm"/>
          </a:ln>
        </p:spPr>
      </p:cxnSp>
      <p:sp>
        <p:nvSpPr>
          <p:cNvPr id="982" name="Google Shape;982;p63"/>
          <p:cNvSpPr/>
          <p:nvPr/>
        </p:nvSpPr>
        <p:spPr>
          <a:xfrm>
            <a:off x="7010768" y="13417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3" name="Google Shape;983;p63"/>
          <p:cNvCxnSpPr/>
          <p:nvPr/>
        </p:nvCxnSpPr>
        <p:spPr>
          <a:xfrm>
            <a:off x="4794607" y="3017982"/>
            <a:ext cx="4012500" cy="0"/>
          </a:xfrm>
          <a:prstGeom prst="straightConnector1">
            <a:avLst/>
          </a:prstGeom>
          <a:noFill/>
          <a:ln w="9525" cap="flat" cmpd="sng">
            <a:solidFill>
              <a:srgbClr val="888888"/>
            </a:solidFill>
            <a:prstDash val="solid"/>
            <a:round/>
            <a:headEnd type="none" w="sm" len="sm"/>
            <a:tailEnd type="none" w="sm" len="sm"/>
          </a:ln>
        </p:spPr>
      </p:cxnSp>
      <p:cxnSp>
        <p:nvCxnSpPr>
          <p:cNvPr id="984" name="Google Shape;984;p63"/>
          <p:cNvCxnSpPr/>
          <p:nvPr/>
        </p:nvCxnSpPr>
        <p:spPr>
          <a:xfrm>
            <a:off x="4794607" y="322082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5" name="Google Shape;985;p63"/>
          <p:cNvCxnSpPr/>
          <p:nvPr/>
        </p:nvCxnSpPr>
        <p:spPr>
          <a:xfrm>
            <a:off x="4800614" y="342366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6" name="Google Shape;986;p63"/>
          <p:cNvCxnSpPr/>
          <p:nvPr/>
        </p:nvCxnSpPr>
        <p:spPr>
          <a:xfrm>
            <a:off x="4783871" y="382934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7" name="Google Shape;987;p63"/>
          <p:cNvCxnSpPr/>
          <p:nvPr/>
        </p:nvCxnSpPr>
        <p:spPr>
          <a:xfrm>
            <a:off x="4778376" y="403218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8" name="Google Shape;988;p63"/>
          <p:cNvCxnSpPr/>
          <p:nvPr/>
        </p:nvCxnSpPr>
        <p:spPr>
          <a:xfrm>
            <a:off x="4776331" y="4235019"/>
            <a:ext cx="4012500" cy="0"/>
          </a:xfrm>
          <a:prstGeom prst="straightConnector1">
            <a:avLst/>
          </a:prstGeom>
          <a:noFill/>
          <a:ln w="9525" cap="flat" cmpd="sng">
            <a:solidFill>
              <a:srgbClr val="888888"/>
            </a:solidFill>
            <a:prstDash val="solid"/>
            <a:round/>
            <a:headEnd type="none" w="sm" len="sm"/>
            <a:tailEnd type="none" w="sm" len="sm"/>
          </a:ln>
        </p:spPr>
      </p:cxnSp>
      <p:cxnSp>
        <p:nvCxnSpPr>
          <p:cNvPr id="989" name="Google Shape;989;p63"/>
          <p:cNvCxnSpPr/>
          <p:nvPr/>
        </p:nvCxnSpPr>
        <p:spPr>
          <a:xfrm>
            <a:off x="4774287" y="4437859"/>
            <a:ext cx="4012500" cy="0"/>
          </a:xfrm>
          <a:prstGeom prst="straightConnector1">
            <a:avLst/>
          </a:prstGeom>
          <a:noFill/>
          <a:ln w="9525" cap="flat" cmpd="sng">
            <a:solidFill>
              <a:srgbClr val="888888"/>
            </a:solidFill>
            <a:prstDash val="solid"/>
            <a:round/>
            <a:headEnd type="none" w="sm" len="sm"/>
            <a:tailEnd type="none" w="sm" len="sm"/>
          </a:ln>
        </p:spPr>
      </p:cxnSp>
      <p:sp>
        <p:nvSpPr>
          <p:cNvPr id="990" name="Google Shape;990;p63"/>
          <p:cNvSpPr/>
          <p:nvPr/>
        </p:nvSpPr>
        <p:spPr>
          <a:xfrm>
            <a:off x="2516118" y="418330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1" name="Google Shape;991;p63"/>
          <p:cNvSpPr txBox="1"/>
          <p:nvPr/>
        </p:nvSpPr>
        <p:spPr>
          <a:xfrm>
            <a:off x="3408069" y="419563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2" name="Google Shape;992;p63"/>
          <p:cNvSpPr/>
          <p:nvPr/>
        </p:nvSpPr>
        <p:spPr>
          <a:xfrm>
            <a:off x="2519847" y="4414097"/>
            <a:ext cx="8787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{{WS_AFIM}}</a:t>
            </a:r>
            <a:endParaRPr sz="686"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cxnSp>
        <p:nvCxnSpPr>
          <p:cNvPr id="993" name="Google Shape;993;p63"/>
          <p:cNvCxnSpPr/>
          <p:nvPr/>
        </p:nvCxnSpPr>
        <p:spPr>
          <a:xfrm>
            <a:off x="362488" y="4634025"/>
            <a:ext cx="3993600" cy="0"/>
          </a:xfrm>
          <a:prstGeom prst="straightConnector1">
            <a:avLst/>
          </a:prstGeom>
          <a:noFill/>
          <a:ln w="9525" cap="flat" cmpd="sng">
            <a:solidFill>
              <a:srgbClr val="888888"/>
            </a:solidFill>
            <a:prstDash val="solid"/>
            <a:round/>
            <a:headEnd type="none" w="sm" len="sm"/>
            <a:tailEnd type="none" w="sm" len="sm"/>
          </a:ln>
        </p:spPr>
      </p:cxnSp>
      <p:cxnSp>
        <p:nvCxnSpPr>
          <p:cNvPr id="994" name="Google Shape;994;p63"/>
          <p:cNvCxnSpPr/>
          <p:nvPr/>
        </p:nvCxnSpPr>
        <p:spPr>
          <a:xfrm>
            <a:off x="364163" y="4404042"/>
            <a:ext cx="3993600" cy="0"/>
          </a:xfrm>
          <a:prstGeom prst="straightConnector1">
            <a:avLst/>
          </a:prstGeom>
          <a:noFill/>
          <a:ln w="9525" cap="flat" cmpd="sng">
            <a:solidFill>
              <a:srgbClr val="888888"/>
            </a:solidFill>
            <a:prstDash val="solid"/>
            <a:round/>
            <a:headEnd type="none" w="sm" len="sm"/>
            <a:tailEnd type="none" w="sm" len="sm"/>
          </a:ln>
        </p:spPr>
      </p:cxnSp>
      <p:sp>
        <p:nvSpPr>
          <p:cNvPr id="995" name="Google Shape;995;p63"/>
          <p:cNvSpPr txBox="1"/>
          <p:nvPr/>
        </p:nvSpPr>
        <p:spPr>
          <a:xfrm>
            <a:off x="3403463" y="442344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{{WS_AFIM_R}}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996" name="Google Shape;996;p63"/>
          <p:cNvPicPr preferRelativeResize="0"/>
          <p:nvPr/>
        </p:nvPicPr>
        <p:blipFill rotWithShape="1">
          <a:blip r:embed="rId8">
            <a:alphaModFix/>
          </a:blip>
          <a:srcRect/>
          <a:stretch/>
        </p:blipFill>
        <p:spPr>
          <a:xfrm>
            <a:off x="8285539" y="4822005"/>
            <a:ext cx="733511" cy="212512"/>
          </a:xfrm>
          <a:prstGeom prst="rect">
            <a:avLst/>
          </a:prstGeom>
          <a:noFill/>
          <a:ln>
            <a:noFill/>
          </a:ln>
        </p:spPr>
      </p:pic>
      <p:cxnSp>
        <p:nvCxnSpPr>
          <p:cNvPr id="997" name="Google Shape;997;p63"/>
          <p:cNvCxnSpPr/>
          <p:nvPr/>
        </p:nvCxnSpPr>
        <p:spPr>
          <a:xfrm>
            <a:off x="4771650" y="4641518"/>
            <a:ext cx="4012500" cy="0"/>
          </a:xfrm>
          <a:prstGeom prst="straightConnector1">
            <a:avLst/>
          </a:prstGeom>
          <a:noFill/>
          <a:ln w="9525" cap="flat" cmpd="sng">
            <a:solidFill>
              <a:srgbClr val="888888"/>
            </a:solidFill>
            <a:prstDash val="solid"/>
            <a:round/>
            <a:headEnd type="none" w="sm" len="sm"/>
            <a:tailEnd type="none" w="sm" len="sm"/>
          </a:ln>
        </p:spPr>
      </p:cxnSp>
      <p:sp>
        <p:nvSpPr>
          <p:cNvPr id="998" name="Google Shape;998;p63"/>
          <p:cNvSpPr/>
          <p:nvPr/>
        </p:nvSpPr>
        <p:spPr>
          <a:xfrm>
            <a:off x="4852708" y="444656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9" name="Google Shape;999;p63"/>
          <p:cNvSpPr/>
          <p:nvPr/>
        </p:nvSpPr>
        <p:spPr>
          <a:xfrm>
            <a:off x="4850663" y="464952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Validation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0" name="Google Shape;1000;p63"/>
          <p:cNvSpPr txBox="1"/>
          <p:nvPr/>
        </p:nvSpPr>
        <p:spPr>
          <a:xfrm>
            <a:off x="7752775" y="448181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{{ASM_SEC_R}}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1" name="Google Shape;1001;p63"/>
          <p:cNvSpPr txBox="1"/>
          <p:nvPr/>
        </p:nvSpPr>
        <p:spPr>
          <a:xfrm>
            <a:off x="7750731" y="4685015"/>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{{ASM_SV_R}}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2" name="Google Shape;1002;p63"/>
          <p:cNvSpPr/>
          <p:nvPr/>
        </p:nvSpPr>
        <p:spPr>
          <a:xfrm>
            <a:off x="6899000" y="44463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{{ASM_SEC}}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3" name="Google Shape;1003;p63"/>
          <p:cNvSpPr/>
          <p:nvPr/>
        </p:nvSpPr>
        <p:spPr>
          <a:xfrm>
            <a:off x="6896955" y="464931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{{ASM_SV}}</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4" name="Google Shape;1004;p63"/>
          <p:cNvCxnSpPr/>
          <p:nvPr/>
        </p:nvCxnSpPr>
        <p:spPr>
          <a:xfrm rot="10800000" flipH="1">
            <a:off x="4779864" y="4844405"/>
            <a:ext cx="4011300" cy="13800"/>
          </a:xfrm>
          <a:prstGeom prst="straightConnector1">
            <a:avLst/>
          </a:prstGeom>
          <a:noFill/>
          <a:ln w="9525" cap="flat" cmpd="sng">
            <a:solidFill>
              <a:srgbClr val="888888"/>
            </a:solidFill>
            <a:prstDash val="solid"/>
            <a:round/>
            <a:headEnd type="none" w="sm" len="sm"/>
            <a:tailEnd type="none" w="sm" len="sm"/>
          </a:ln>
        </p:spPr>
      </p:cxnSp>
      <p:sp>
        <p:nvSpPr>
          <p:cNvPr id="1005" name="Google Shape;1005;p63"/>
          <p:cNvSpPr/>
          <p:nvPr/>
        </p:nvSpPr>
        <p:spPr>
          <a:xfrm>
            <a:off x="4849232" y="48643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Application Endpoint Exposure Level</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6" name="Google Shape;1006;p63"/>
          <p:cNvSpPr txBox="1"/>
          <p:nvPr/>
        </p:nvSpPr>
        <p:spPr>
          <a:xfrm>
            <a:off x="7761860" y="489963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{{ASM_EXPL_R}}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7" name="Google Shape;1007;p63"/>
          <p:cNvSpPr/>
          <p:nvPr/>
        </p:nvSpPr>
        <p:spPr>
          <a:xfrm>
            <a:off x="6895524" y="4864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{{ASM_EXPL}}</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Action Button: Blank 1">
            <a:hlinkClick r:id="" action="ppaction://noaction" highlightClick="1"/>
            <a:extLst>
              <a:ext uri="{FF2B5EF4-FFF2-40B4-BE49-F238E27FC236}">
                <a16:creationId xmlns:a16="http://schemas.microsoft.com/office/drawing/2014/main" id="{6C06A3FF-E719-7CF8-6291-0B366A4C368F}"/>
              </a:ext>
            </a:extLst>
          </p:cNvPr>
          <p:cNvSpPr/>
          <p:nvPr/>
        </p:nvSpPr>
        <p:spPr>
          <a:xfrm>
            <a:off x="239233" y="867612"/>
            <a:ext cx="4224479" cy="4146767"/>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ction Button: Blank 2">
            <a:hlinkClick r:id="" action="ppaction://noaction" highlightClick="1"/>
            <a:extLst>
              <a:ext uri="{FF2B5EF4-FFF2-40B4-BE49-F238E27FC236}">
                <a16:creationId xmlns:a16="http://schemas.microsoft.com/office/drawing/2014/main" id="{6F777D06-035B-F269-218F-876EFD7D8F9A}"/>
              </a:ext>
            </a:extLst>
          </p:cNvPr>
          <p:cNvSpPr/>
          <p:nvPr/>
        </p:nvSpPr>
        <p:spPr>
          <a:xfrm>
            <a:off x="4676033" y="867086"/>
            <a:ext cx="4224479" cy="4194012"/>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3"/>
        <p:cNvGrpSpPr/>
        <p:nvPr/>
      </p:nvGrpSpPr>
      <p:grpSpPr>
        <a:xfrm>
          <a:off x="0" y="0"/>
          <a:ext cx="0" cy="0"/>
          <a:chOff x="0" y="0"/>
          <a:chExt cx="0" cy="0"/>
        </a:xfrm>
      </p:grpSpPr>
      <p:sp>
        <p:nvSpPr>
          <p:cNvPr id="6" name="Action Button: Blank 5">
            <a:hlinkClick r:id="" action="ppaction://noaction" highlightClick="1"/>
            <a:extLst>
              <a:ext uri="{FF2B5EF4-FFF2-40B4-BE49-F238E27FC236}">
                <a16:creationId xmlns:a16="http://schemas.microsoft.com/office/drawing/2014/main" id="{389ACB91-1ABB-82F9-7C97-2022312CBC11}"/>
              </a:ext>
            </a:extLst>
          </p:cNvPr>
          <p:cNvSpPr/>
          <p:nvPr/>
        </p:nvSpPr>
        <p:spPr>
          <a:xfrm>
            <a:off x="4671608" y="795592"/>
            <a:ext cx="4224479" cy="4277976"/>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14" name="Google Shape;1014;p64"/>
          <p:cNvPicPr preferRelativeResize="0"/>
          <p:nvPr/>
        </p:nvPicPr>
        <p:blipFill rotWithShape="1">
          <a:blip r:embed="rId3">
            <a:alphaModFix/>
          </a:blip>
          <a:srcRect/>
          <a:stretch/>
        </p:blipFill>
        <p:spPr>
          <a:xfrm>
            <a:off x="8048746" y="4692300"/>
            <a:ext cx="943800" cy="381270"/>
          </a:xfrm>
          <a:prstGeom prst="rect">
            <a:avLst/>
          </a:prstGeom>
          <a:noFill/>
          <a:ln>
            <a:noFill/>
          </a:ln>
        </p:spPr>
      </p:pic>
      <p:sp>
        <p:nvSpPr>
          <p:cNvPr id="1015" name="Google Shape;1015;p64"/>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6" name="Google Shape;1016;p64"/>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Vulnerability &amp; Data Security</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7" name="Google Shape;1017;p64"/>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vulnerability scanner tuning and data security scanning coverage.</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8" name="Google Shape;1018;p64"/>
          <p:cNvSpPr/>
          <p:nvPr/>
        </p:nvSpPr>
        <p:spPr>
          <a:xfrm>
            <a:off x="239233" y="868680"/>
            <a:ext cx="4224479" cy="274200"/>
          </a:xfrm>
          <a:prstGeom prst="rect">
            <a:avLst/>
          </a:prstGeom>
          <a:solidFill>
            <a:srgbClr val="EFE6C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9" name="Google Shape;1019;p64"/>
          <p:cNvSpPr/>
          <p:nvPr/>
        </p:nvSpPr>
        <p:spPr>
          <a:xfrm>
            <a:off x="243492" y="868680"/>
            <a:ext cx="93336" cy="274200"/>
          </a:xfrm>
          <a:prstGeom prst="rect">
            <a:avLst/>
          </a:prstGeom>
          <a:solidFill>
            <a:srgbClr val="D9770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0" name="Google Shape;1020;p64"/>
          <p:cNvSpPr/>
          <p:nvPr/>
        </p:nvSpPr>
        <p:spPr>
          <a:xfrm>
            <a:off x="50292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VULNERABILITY SCANNER</a:t>
            </a:r>
            <a:r>
              <a:rPr lang="en" sz="11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endParaRPr sz="9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1" name="Google Shape;1021;p64"/>
          <p:cNvSpPr/>
          <p:nvPr/>
        </p:nvSpPr>
        <p:spPr>
          <a:xfrm>
            <a:off x="371458" y="1191602"/>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2" name="Google Shape;1022;p64"/>
          <p:cNvSpPr/>
          <p:nvPr/>
        </p:nvSpPr>
        <p:spPr>
          <a:xfrm>
            <a:off x="371454" y="1180568"/>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3" name="Google Shape;1023;p64"/>
          <p:cNvSpPr/>
          <p:nvPr/>
        </p:nvSpPr>
        <p:spPr>
          <a:xfrm>
            <a:off x="2537260" y="1191602"/>
            <a:ext cx="875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4" name="Google Shape;1024;p64"/>
          <p:cNvSpPr/>
          <p:nvPr/>
        </p:nvSpPr>
        <p:spPr>
          <a:xfrm>
            <a:off x="3429612" y="1186270"/>
            <a:ext cx="1034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5" name="Google Shape;1025;p64"/>
          <p:cNvSpPr/>
          <p:nvPr/>
        </p:nvSpPr>
        <p:spPr>
          <a:xfrm>
            <a:off x="371449" y="143198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26" name="Google Shape;1026;p64"/>
          <p:cNvCxnSpPr/>
          <p:nvPr/>
        </p:nvCxnSpPr>
        <p:spPr>
          <a:xfrm>
            <a:off x="371449" y="1678076"/>
            <a:ext cx="3977700" cy="0"/>
          </a:xfrm>
          <a:prstGeom prst="straightConnector1">
            <a:avLst/>
          </a:prstGeom>
          <a:noFill/>
          <a:ln w="9525" cap="flat" cmpd="sng">
            <a:solidFill>
              <a:srgbClr val="E5E7EB"/>
            </a:solidFill>
            <a:prstDash val="solid"/>
            <a:round/>
            <a:headEnd type="none" w="sm" len="sm"/>
            <a:tailEnd type="none" w="sm" len="sm"/>
          </a:ln>
        </p:spPr>
      </p:cxnSp>
      <p:sp>
        <p:nvSpPr>
          <p:cNvPr id="1027" name="Google Shape;1027;p64"/>
          <p:cNvSpPr/>
          <p:nvPr/>
        </p:nvSpPr>
        <p:spPr>
          <a:xfrm>
            <a:off x="371445" y="143197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OS-Package Managed Code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8" name="Google Shape;1028;p64"/>
          <p:cNvSpPr/>
          <p:nvPr/>
        </p:nvSpPr>
        <p:spPr>
          <a:xfrm>
            <a:off x="2569586" y="143198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{{VS_OSPKG}}</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9" name="Google Shape;1029;p64"/>
          <p:cNvSpPr/>
          <p:nvPr/>
        </p:nvSpPr>
        <p:spPr>
          <a:xfrm>
            <a:off x="371449" y="1678076"/>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0" name="Google Shape;1030;p64"/>
          <p:cNvCxnSpPr/>
          <p:nvPr/>
        </p:nvCxnSpPr>
        <p:spPr>
          <a:xfrm>
            <a:off x="355736" y="1916264"/>
            <a:ext cx="3977700" cy="0"/>
          </a:xfrm>
          <a:prstGeom prst="straightConnector1">
            <a:avLst/>
          </a:prstGeom>
          <a:noFill/>
          <a:ln w="9525" cap="flat" cmpd="sng">
            <a:solidFill>
              <a:srgbClr val="888888"/>
            </a:solidFill>
            <a:prstDash val="solid"/>
            <a:round/>
            <a:headEnd type="none" w="sm" len="sm"/>
            <a:tailEnd type="none" w="sm" len="sm"/>
          </a:ln>
        </p:spPr>
      </p:cxnSp>
      <p:sp>
        <p:nvSpPr>
          <p:cNvPr id="1031" name="Google Shape;1031;p64"/>
          <p:cNvSpPr/>
          <p:nvPr/>
        </p:nvSpPr>
        <p:spPr>
          <a:xfrm>
            <a:off x="371445" y="167806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Windows App Bundled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2" name="Google Shape;1032;p64"/>
          <p:cNvSpPr/>
          <p:nvPr/>
        </p:nvSpPr>
        <p:spPr>
          <a:xfrm>
            <a:off x="2569586" y="1678076"/>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{{VS_WINB}}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3" name="Google Shape;1033;p64"/>
          <p:cNvSpPr/>
          <p:nvPr/>
        </p:nvSpPr>
        <p:spPr>
          <a:xfrm>
            <a:off x="371449" y="192416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4" name="Google Shape;1034;p64"/>
          <p:cNvCxnSpPr/>
          <p:nvPr/>
        </p:nvCxnSpPr>
        <p:spPr>
          <a:xfrm>
            <a:off x="371449" y="2170262"/>
            <a:ext cx="3977700" cy="0"/>
          </a:xfrm>
          <a:prstGeom prst="straightConnector1">
            <a:avLst/>
          </a:prstGeom>
          <a:noFill/>
          <a:ln w="9525" cap="flat" cmpd="sng">
            <a:solidFill>
              <a:srgbClr val="E5E7EB"/>
            </a:solidFill>
            <a:prstDash val="solid"/>
            <a:round/>
            <a:headEnd type="none" w="sm" len="sm"/>
            <a:tailEnd type="none" w="sm" len="sm"/>
          </a:ln>
        </p:spPr>
      </p:cxnSp>
      <p:sp>
        <p:nvSpPr>
          <p:cNvPr id="1035" name="Google Shape;1035;p64"/>
          <p:cNvSpPr/>
          <p:nvPr/>
        </p:nvSpPr>
        <p:spPr>
          <a:xfrm>
            <a:off x="371445" y="192416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 Standard Library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6" name="Google Shape;1036;p64"/>
          <p:cNvSpPr/>
          <p:nvPr/>
        </p:nvSpPr>
        <p:spPr>
          <a:xfrm>
            <a:off x="2569586" y="1924169"/>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{{VS_GOSTD}}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7" name="Google Shape;1037;p64"/>
          <p:cNvSpPr/>
          <p:nvPr/>
        </p:nvSpPr>
        <p:spPr>
          <a:xfrm>
            <a:off x="371449" y="2170262"/>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8" name="Google Shape;1038;p64"/>
          <p:cNvCxnSpPr/>
          <p:nvPr/>
        </p:nvCxnSpPr>
        <p:spPr>
          <a:xfrm>
            <a:off x="358777" y="2406445"/>
            <a:ext cx="3977700" cy="0"/>
          </a:xfrm>
          <a:prstGeom prst="straightConnector1">
            <a:avLst/>
          </a:prstGeom>
          <a:noFill/>
          <a:ln w="9525" cap="flat" cmpd="sng">
            <a:solidFill>
              <a:srgbClr val="888888"/>
            </a:solidFill>
            <a:prstDash val="solid"/>
            <a:round/>
            <a:headEnd type="none" w="sm" len="sm"/>
            <a:tailEnd type="none" w="sm" len="sm"/>
          </a:ln>
        </p:spPr>
      </p:cxnSp>
      <p:sp>
        <p:nvSpPr>
          <p:cNvPr id="1039" name="Google Shape;1039;p64"/>
          <p:cNvSpPr/>
          <p:nvPr/>
        </p:nvSpPr>
        <p:spPr>
          <a:xfrm>
            <a:off x="371445" y="21702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Code Library Exclusion Paths (Legacy)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0" name="Google Shape;1040;p64"/>
          <p:cNvSpPr/>
          <p:nvPr/>
        </p:nvSpPr>
        <p:spPr>
          <a:xfrm>
            <a:off x="2569586" y="2170262"/>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1" name="Google Shape;1041;p64"/>
          <p:cNvSpPr/>
          <p:nvPr/>
        </p:nvSpPr>
        <p:spPr>
          <a:xfrm>
            <a:off x="371449" y="241635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2" name="Google Shape;1042;p64"/>
          <p:cNvCxnSpPr/>
          <p:nvPr/>
        </p:nvCxnSpPr>
        <p:spPr>
          <a:xfrm>
            <a:off x="361818" y="2665905"/>
            <a:ext cx="3977700" cy="0"/>
          </a:xfrm>
          <a:prstGeom prst="straightConnector1">
            <a:avLst/>
          </a:prstGeom>
          <a:noFill/>
          <a:ln w="9525" cap="flat" cmpd="sng">
            <a:solidFill>
              <a:srgbClr val="E5E7EB"/>
            </a:solidFill>
            <a:prstDash val="solid"/>
            <a:round/>
            <a:headEnd type="none" w="sm" len="sm"/>
            <a:tailEnd type="none" w="sm" len="sm"/>
          </a:ln>
        </p:spPr>
      </p:cxnSp>
      <p:sp>
        <p:nvSpPr>
          <p:cNvPr id="1043" name="Google Shape;1043;p64"/>
          <p:cNvSpPr/>
          <p:nvPr/>
        </p:nvSpPr>
        <p:spPr>
          <a:xfrm>
            <a:off x="371445" y="24163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Ignore Red Hat OpenShift Vulns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4" name="Google Shape;1044;p64"/>
          <p:cNvSpPr/>
          <p:nvPr/>
        </p:nvSpPr>
        <p:spPr>
          <a:xfrm>
            <a:off x="2569586" y="2416355"/>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{{VS_RHOS}}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5" name="Google Shape;1045;p64"/>
          <p:cNvSpPr/>
          <p:nvPr/>
        </p:nvSpPr>
        <p:spPr>
          <a:xfrm>
            <a:off x="371449" y="2662448"/>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6" name="Google Shape;1046;p64"/>
          <p:cNvCxnSpPr/>
          <p:nvPr/>
        </p:nvCxnSpPr>
        <p:spPr>
          <a:xfrm>
            <a:off x="364860" y="2898661"/>
            <a:ext cx="3977700" cy="0"/>
          </a:xfrm>
          <a:prstGeom prst="straightConnector1">
            <a:avLst/>
          </a:prstGeom>
          <a:noFill/>
          <a:ln w="9525" cap="flat" cmpd="sng">
            <a:solidFill>
              <a:srgbClr val="888888"/>
            </a:solidFill>
            <a:prstDash val="solid"/>
            <a:round/>
            <a:headEnd type="none" w="sm" len="sm"/>
            <a:tailEnd type="none" w="sm" len="sm"/>
          </a:ln>
        </p:spPr>
      </p:cxnSp>
      <p:sp>
        <p:nvSpPr>
          <p:cNvPr id="1047" name="Google Shape;1047;p64"/>
          <p:cNvSpPr/>
          <p:nvPr/>
        </p:nvSpPr>
        <p:spPr>
          <a:xfrm>
            <a:off x="371445" y="26624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Manifest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8" name="Google Shape;1048;p64"/>
          <p:cNvSpPr/>
          <p:nvPr/>
        </p:nvSpPr>
        <p:spPr>
          <a:xfrm>
            <a:off x="2569586" y="2662448"/>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{{VS_MANIF}}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9" name="Google Shape;1049;p64"/>
          <p:cNvSpPr/>
          <p:nvPr/>
        </p:nvSpPr>
        <p:spPr>
          <a:xfrm>
            <a:off x="3395224" y="269842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{{VS_MANIF_R}}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0" name="Google Shape;1050;p64"/>
          <p:cNvSpPr/>
          <p:nvPr/>
        </p:nvSpPr>
        <p:spPr>
          <a:xfrm>
            <a:off x="371449" y="290854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1" name="Google Shape;1051;p64"/>
          <p:cNvCxnSpPr/>
          <p:nvPr/>
        </p:nvCxnSpPr>
        <p:spPr>
          <a:xfrm>
            <a:off x="367901" y="3157103"/>
            <a:ext cx="3977700" cy="0"/>
          </a:xfrm>
          <a:prstGeom prst="straightConnector1">
            <a:avLst/>
          </a:prstGeom>
          <a:noFill/>
          <a:ln w="9525" cap="flat" cmpd="sng">
            <a:solidFill>
              <a:srgbClr val="E5E7EB"/>
            </a:solidFill>
            <a:prstDash val="solid"/>
            <a:round/>
            <a:headEnd type="none" w="sm" len="sm"/>
            <a:tailEnd type="none" w="sm" len="sm"/>
          </a:ln>
        </p:spPr>
      </p:cxnSp>
      <p:sp>
        <p:nvSpPr>
          <p:cNvPr id="1052" name="Google Shape;1052;p64"/>
          <p:cNvSpPr/>
          <p:nvPr/>
        </p:nvSpPr>
        <p:spPr>
          <a:xfrm>
            <a:off x="371445" y="29085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Lock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3" name="Google Shape;1053;p64"/>
          <p:cNvSpPr/>
          <p:nvPr/>
        </p:nvSpPr>
        <p:spPr>
          <a:xfrm>
            <a:off x="2569586" y="2908541"/>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{{VS_LOCK}}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4" name="Google Shape;1054;p64"/>
          <p:cNvSpPr/>
          <p:nvPr/>
        </p:nvSpPr>
        <p:spPr>
          <a:xfrm>
            <a:off x="3395224" y="2947594"/>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{{VS_LOCK_R}}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5" name="Google Shape;1055;p64"/>
          <p:cNvSpPr/>
          <p:nvPr/>
        </p:nvSpPr>
        <p:spPr>
          <a:xfrm>
            <a:off x="371449" y="3154634"/>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6" name="Google Shape;1056;p64"/>
          <p:cNvCxnSpPr/>
          <p:nvPr/>
        </p:nvCxnSpPr>
        <p:spPr>
          <a:xfrm>
            <a:off x="370942" y="3389859"/>
            <a:ext cx="3977700" cy="0"/>
          </a:xfrm>
          <a:prstGeom prst="straightConnector1">
            <a:avLst/>
          </a:prstGeom>
          <a:noFill/>
          <a:ln w="9525" cap="flat" cmpd="sng">
            <a:solidFill>
              <a:srgbClr val="888888"/>
            </a:solidFill>
            <a:prstDash val="solid"/>
            <a:round/>
            <a:headEnd type="none" w="sm" len="sm"/>
            <a:tailEnd type="none" w="sm" len="sm"/>
          </a:ln>
        </p:spPr>
      </p:cxnSp>
      <p:sp>
        <p:nvSpPr>
          <p:cNvPr id="1057" name="Google Shape;1057;p64"/>
          <p:cNvSpPr/>
          <p:nvPr/>
        </p:nvSpPr>
        <p:spPr>
          <a:xfrm>
            <a:off x="371445" y="31546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Artifacts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8" name="Google Shape;1058;p64"/>
          <p:cNvSpPr/>
          <p:nvPr/>
        </p:nvSpPr>
        <p:spPr>
          <a:xfrm>
            <a:off x="2569586" y="3154634"/>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{{VS_ARTIF}}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9" name="Google Shape;1059;p64"/>
          <p:cNvSpPr/>
          <p:nvPr/>
        </p:nvSpPr>
        <p:spPr>
          <a:xfrm>
            <a:off x="3395224" y="319675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{{VS_ARTIF_R}}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0" name="Google Shape;1060;p64"/>
          <p:cNvSpPr/>
          <p:nvPr/>
        </p:nvSpPr>
        <p:spPr>
          <a:xfrm>
            <a:off x="371449" y="3400727"/>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1" name="Google Shape;1061;p64"/>
          <p:cNvCxnSpPr/>
          <p:nvPr/>
        </p:nvCxnSpPr>
        <p:spPr>
          <a:xfrm>
            <a:off x="371449" y="3646820"/>
            <a:ext cx="3977700" cy="0"/>
          </a:xfrm>
          <a:prstGeom prst="straightConnector1">
            <a:avLst/>
          </a:prstGeom>
          <a:noFill/>
          <a:ln w="9525" cap="flat" cmpd="sng">
            <a:solidFill>
              <a:srgbClr val="E5E7EB"/>
            </a:solidFill>
            <a:prstDash val="solid"/>
            <a:round/>
            <a:headEnd type="none" w="sm" len="sm"/>
            <a:tailEnd type="none" w="sm" len="sm"/>
          </a:ln>
        </p:spPr>
      </p:cxnSp>
      <p:sp>
        <p:nvSpPr>
          <p:cNvPr id="1062" name="Google Shape;1062;p64"/>
          <p:cNvSpPr/>
          <p:nvPr/>
        </p:nvSpPr>
        <p:spPr>
          <a:xfrm>
            <a:off x="371445" y="34007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Maven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3" name="Google Shape;1063;p64"/>
          <p:cNvSpPr/>
          <p:nvPr/>
        </p:nvSpPr>
        <p:spPr>
          <a:xfrm>
            <a:off x="2569586" y="340072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{{VS_MAVEN}}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4" name="Google Shape;1064;p64"/>
          <p:cNvSpPr/>
          <p:nvPr/>
        </p:nvSpPr>
        <p:spPr>
          <a:xfrm>
            <a:off x="371449" y="364682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5" name="Google Shape;1065;p64"/>
          <p:cNvCxnSpPr/>
          <p:nvPr/>
        </p:nvCxnSpPr>
        <p:spPr>
          <a:xfrm>
            <a:off x="373984" y="3874636"/>
            <a:ext cx="3977700" cy="0"/>
          </a:xfrm>
          <a:prstGeom prst="straightConnector1">
            <a:avLst/>
          </a:prstGeom>
          <a:noFill/>
          <a:ln w="9525" cap="flat" cmpd="sng">
            <a:solidFill>
              <a:srgbClr val="888888"/>
            </a:solidFill>
            <a:prstDash val="solid"/>
            <a:round/>
            <a:headEnd type="none" w="sm" len="sm"/>
            <a:tailEnd type="none" w="sm" len="sm"/>
          </a:ln>
        </p:spPr>
      </p:cxnSp>
      <p:sp>
        <p:nvSpPr>
          <p:cNvPr id="1066" name="Google Shape;1066;p64"/>
          <p:cNvSpPr/>
          <p:nvPr/>
        </p:nvSpPr>
        <p:spPr>
          <a:xfrm>
            <a:off x="371450" y="3646825"/>
            <a:ext cx="21657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JS (npm/pnpm/Yarn)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7" name="Google Shape;1067;p64"/>
          <p:cNvSpPr/>
          <p:nvPr/>
        </p:nvSpPr>
        <p:spPr>
          <a:xfrm>
            <a:off x="2569586" y="364682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{{VS_JSDEP}}</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8" name="Google Shape;1068;p64"/>
          <p:cNvSpPr/>
          <p:nvPr/>
        </p:nvSpPr>
        <p:spPr>
          <a:xfrm>
            <a:off x="371449" y="389291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9" name="Google Shape;1069;p64"/>
          <p:cNvCxnSpPr/>
          <p:nvPr/>
        </p:nvCxnSpPr>
        <p:spPr>
          <a:xfrm>
            <a:off x="371449" y="4139007"/>
            <a:ext cx="3977700" cy="0"/>
          </a:xfrm>
          <a:prstGeom prst="straightConnector1">
            <a:avLst/>
          </a:prstGeom>
          <a:noFill/>
          <a:ln w="9525" cap="flat" cmpd="sng">
            <a:solidFill>
              <a:srgbClr val="E5E7EB"/>
            </a:solidFill>
            <a:prstDash val="solid"/>
            <a:round/>
            <a:headEnd type="none" w="sm" len="sm"/>
            <a:tailEnd type="none" w="sm" len="sm"/>
          </a:ln>
        </p:spPr>
      </p:cxnSp>
      <p:sp>
        <p:nvSpPr>
          <p:cNvPr id="1070" name="Google Shape;1070;p64"/>
          <p:cNvSpPr/>
          <p:nvPr/>
        </p:nvSpPr>
        <p:spPr>
          <a:xfrm>
            <a:off x="371445" y="38929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Gradle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1" name="Google Shape;1071;p64"/>
          <p:cNvSpPr/>
          <p:nvPr/>
        </p:nvSpPr>
        <p:spPr>
          <a:xfrm>
            <a:off x="2569586" y="389291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{{VS_GRADL}}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2" name="Google Shape;1072;p64"/>
          <p:cNvSpPr/>
          <p:nvPr/>
        </p:nvSpPr>
        <p:spPr>
          <a:xfrm>
            <a:off x="371449" y="4139007"/>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73" name="Google Shape;1073;p64"/>
          <p:cNvCxnSpPr/>
          <p:nvPr/>
        </p:nvCxnSpPr>
        <p:spPr>
          <a:xfrm>
            <a:off x="377025" y="4385100"/>
            <a:ext cx="3977700" cy="0"/>
          </a:xfrm>
          <a:prstGeom prst="straightConnector1">
            <a:avLst/>
          </a:prstGeom>
          <a:noFill/>
          <a:ln w="9525" cap="flat" cmpd="sng">
            <a:solidFill>
              <a:srgbClr val="888888"/>
            </a:solidFill>
            <a:prstDash val="solid"/>
            <a:round/>
            <a:headEnd type="none" w="sm" len="sm"/>
            <a:tailEnd type="none" w="sm" len="sm"/>
          </a:ln>
        </p:spPr>
      </p:cxnSp>
      <p:sp>
        <p:nvSpPr>
          <p:cNvPr id="1074" name="Google Shape;1074;p64"/>
          <p:cNvSpPr/>
          <p:nvPr/>
        </p:nvSpPr>
        <p:spPr>
          <a:xfrm>
            <a:off x="371445" y="41390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End of Life Detection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5" name="Google Shape;1075;p64"/>
          <p:cNvSpPr/>
          <p:nvPr/>
        </p:nvSpPr>
        <p:spPr>
          <a:xfrm>
            <a:off x="2569586" y="413900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6" name="Google Shape;1076;p64"/>
          <p:cNvSpPr/>
          <p:nvPr/>
        </p:nvSpPr>
        <p:spPr>
          <a:xfrm>
            <a:off x="4671607" y="799572"/>
            <a:ext cx="4224479" cy="274200"/>
          </a:xfrm>
          <a:prstGeom prst="rect">
            <a:avLst/>
          </a:prstGeom>
          <a:solidFill>
            <a:srgbClr val="E6DDF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7" name="Google Shape;1077;p64"/>
          <p:cNvSpPr/>
          <p:nvPr/>
        </p:nvSpPr>
        <p:spPr>
          <a:xfrm flipH="1">
            <a:off x="4677713" y="799572"/>
            <a:ext cx="92559" cy="274200"/>
          </a:xfrm>
          <a:prstGeom prst="rect">
            <a:avLst/>
          </a:prstGeom>
          <a:solidFill>
            <a:srgbClr val="7C3AE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8" name="Google Shape;1078;p64"/>
          <p:cNvSpPr/>
          <p:nvPr/>
        </p:nvSpPr>
        <p:spPr>
          <a:xfrm>
            <a:off x="4937760" y="77874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7C3AED"/>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6"/>
              </a:rPr>
              <a:t>DATA SECURITY SCANNER</a:t>
            </a:r>
            <a:r>
              <a:rPr lang="en"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r>
              <a:rPr lang="en"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rPr>
              <a:t> </a:t>
            </a:r>
            <a:endParaRPr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9" name="Google Shape;1079;p64"/>
          <p:cNvSpPr/>
          <p:nvPr/>
        </p:nvSpPr>
        <p:spPr>
          <a:xfrm>
            <a:off x="4800600" y="1132096"/>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80" name="Google Shape;1080;p64"/>
          <p:cNvSpPr/>
          <p:nvPr/>
        </p:nvSpPr>
        <p:spPr>
          <a:xfrm>
            <a:off x="4892040" y="1132096"/>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1" name="Google Shape;1081;p64"/>
          <p:cNvSpPr/>
          <p:nvPr/>
        </p:nvSpPr>
        <p:spPr>
          <a:xfrm>
            <a:off x="6916585" y="1132096"/>
            <a:ext cx="875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2" name="Google Shape;1082;p64"/>
          <p:cNvSpPr/>
          <p:nvPr/>
        </p:nvSpPr>
        <p:spPr>
          <a:xfrm>
            <a:off x="7869988" y="1132096"/>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3" name="Google Shape;1083;p64"/>
          <p:cNvSpPr/>
          <p:nvPr/>
        </p:nvSpPr>
        <p:spPr>
          <a:xfrm>
            <a:off x="4800600" y="133326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4" name="Google Shape;1084;p64"/>
          <p:cNvCxnSpPr/>
          <p:nvPr/>
        </p:nvCxnSpPr>
        <p:spPr>
          <a:xfrm>
            <a:off x="4800600" y="1521418"/>
            <a:ext cx="3977700" cy="0"/>
          </a:xfrm>
          <a:prstGeom prst="straightConnector1">
            <a:avLst/>
          </a:prstGeom>
          <a:noFill/>
          <a:ln w="9525" cap="flat" cmpd="sng">
            <a:solidFill>
              <a:srgbClr val="888888"/>
            </a:solidFill>
            <a:prstDash val="solid"/>
            <a:round/>
            <a:headEnd type="none" w="sm" len="sm"/>
            <a:tailEnd type="none" w="sm" len="sm"/>
          </a:ln>
        </p:spPr>
      </p:cxnSp>
      <p:sp>
        <p:nvSpPr>
          <p:cNvPr id="1085" name="Google Shape;1085;p64"/>
          <p:cNvSpPr/>
          <p:nvPr/>
        </p:nvSpPr>
        <p:spPr>
          <a:xfrm>
            <a:off x="4892040" y="133326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Security Scanner</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6" name="Google Shape;1086;p64"/>
          <p:cNvSpPr/>
          <p:nvPr/>
        </p:nvSpPr>
        <p:spPr>
          <a:xfrm>
            <a:off x="6883223" y="133326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{{DSS_ON}}</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7" name="Google Shape;1087;p64"/>
          <p:cNvSpPr/>
          <p:nvPr/>
        </p:nvSpPr>
        <p:spPr>
          <a:xfrm>
            <a:off x="4800600" y="152141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8" name="Google Shape;1088;p64"/>
          <p:cNvCxnSpPr/>
          <p:nvPr/>
        </p:nvCxnSpPr>
        <p:spPr>
          <a:xfrm>
            <a:off x="4800600" y="1773843"/>
            <a:ext cx="3977700" cy="0"/>
          </a:xfrm>
          <a:prstGeom prst="straightConnector1">
            <a:avLst/>
          </a:prstGeom>
          <a:noFill/>
          <a:ln w="9525" cap="flat" cmpd="sng">
            <a:solidFill>
              <a:srgbClr val="888888"/>
            </a:solidFill>
            <a:prstDash val="solid"/>
            <a:round/>
            <a:headEnd type="none" w="sm" len="sm"/>
            <a:tailEnd type="none" w="sm" len="sm"/>
          </a:ln>
        </p:spPr>
      </p:cxnSp>
      <p:sp>
        <p:nvSpPr>
          <p:cNvPr id="1089" name="Google Shape;1089;p64"/>
          <p:cNvSpPr/>
          <p:nvPr/>
        </p:nvSpPr>
        <p:spPr>
          <a:xfrm>
            <a:off x="4892044" y="1523856"/>
            <a:ext cx="19704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Buckets (Public &amp; Private)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0" name="Google Shape;1090;p64"/>
          <p:cNvSpPr/>
          <p:nvPr/>
        </p:nvSpPr>
        <p:spPr>
          <a:xfrm>
            <a:off x="6883221" y="1523417"/>
            <a:ext cx="1091197"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{{DSS_BUCK}}</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1" name="Google Shape;1091;p64"/>
          <p:cNvSpPr/>
          <p:nvPr/>
        </p:nvSpPr>
        <p:spPr>
          <a:xfrm>
            <a:off x="7864530" y="1527427"/>
            <a:ext cx="943800" cy="260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{{DSS_BUCK_R}}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2" name="Google Shape;1092;p64"/>
          <p:cNvSpPr/>
          <p:nvPr/>
        </p:nvSpPr>
        <p:spPr>
          <a:xfrm>
            <a:off x="4800600" y="179510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3" name="Google Shape;1093;p64"/>
          <p:cNvCxnSpPr/>
          <p:nvPr/>
        </p:nvCxnSpPr>
        <p:spPr>
          <a:xfrm>
            <a:off x="4800600" y="1983260"/>
            <a:ext cx="3977700" cy="0"/>
          </a:xfrm>
          <a:prstGeom prst="straightConnector1">
            <a:avLst/>
          </a:prstGeom>
          <a:noFill/>
          <a:ln w="9525" cap="flat" cmpd="sng">
            <a:solidFill>
              <a:srgbClr val="888888"/>
            </a:solidFill>
            <a:prstDash val="solid"/>
            <a:round/>
            <a:headEnd type="none" w="sm" len="sm"/>
            <a:tailEnd type="none" w="sm" len="sm"/>
          </a:ln>
        </p:spPr>
      </p:cxnSp>
      <p:sp>
        <p:nvSpPr>
          <p:cNvPr id="1094" name="Google Shape;1094;p64"/>
          <p:cNvSpPr/>
          <p:nvPr/>
        </p:nvSpPr>
        <p:spPr>
          <a:xfrm>
            <a:off x="4892040" y="179394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5" name="Google Shape;1095;p64"/>
          <p:cNvSpPr/>
          <p:nvPr/>
        </p:nvSpPr>
        <p:spPr>
          <a:xfrm>
            <a:off x="6883223" y="179510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{{DSS_AZ1}}</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6" name="Google Shape;1096;p64"/>
          <p:cNvSpPr/>
          <p:nvPr/>
        </p:nvSpPr>
        <p:spPr>
          <a:xfrm>
            <a:off x="4800600" y="1983260"/>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7" name="Google Shape;1097;p64"/>
          <p:cNvCxnSpPr/>
          <p:nvPr/>
        </p:nvCxnSpPr>
        <p:spPr>
          <a:xfrm>
            <a:off x="4800600" y="2171414"/>
            <a:ext cx="3977700" cy="0"/>
          </a:xfrm>
          <a:prstGeom prst="straightConnector1">
            <a:avLst/>
          </a:prstGeom>
          <a:noFill/>
          <a:ln w="9525" cap="flat" cmpd="sng">
            <a:solidFill>
              <a:srgbClr val="888888"/>
            </a:solidFill>
            <a:prstDash val="solid"/>
            <a:round/>
            <a:headEnd type="none" w="sm" len="sm"/>
            <a:tailEnd type="none" w="sm" len="sm"/>
          </a:ln>
        </p:spPr>
      </p:cxnSp>
      <p:sp>
        <p:nvSpPr>
          <p:cNvPr id="1098" name="Google Shape;1098;p64"/>
          <p:cNvSpPr/>
          <p:nvPr/>
        </p:nvSpPr>
        <p:spPr>
          <a:xfrm>
            <a:off x="4892040" y="198454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9" name="Google Shape;1099;p64"/>
          <p:cNvSpPr/>
          <p:nvPr/>
        </p:nvSpPr>
        <p:spPr>
          <a:xfrm>
            <a:off x="6883223" y="198326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0" name="Google Shape;1100;p64"/>
          <p:cNvSpPr/>
          <p:nvPr/>
        </p:nvSpPr>
        <p:spPr>
          <a:xfrm>
            <a:off x="4800600" y="2553470"/>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1" name="Google Shape;1101;p64"/>
          <p:cNvCxnSpPr/>
          <p:nvPr/>
        </p:nvCxnSpPr>
        <p:spPr>
          <a:xfrm>
            <a:off x="4800600" y="2741624"/>
            <a:ext cx="3977700" cy="0"/>
          </a:xfrm>
          <a:prstGeom prst="straightConnector1">
            <a:avLst/>
          </a:prstGeom>
          <a:noFill/>
          <a:ln w="9525" cap="flat" cmpd="sng">
            <a:solidFill>
              <a:srgbClr val="888888"/>
            </a:solidFill>
            <a:prstDash val="solid"/>
            <a:round/>
            <a:headEnd type="none" w="sm" len="sm"/>
            <a:tailEnd type="none" w="sm" len="sm"/>
          </a:ln>
        </p:spPr>
      </p:cxnSp>
      <p:sp>
        <p:nvSpPr>
          <p:cNvPr id="1102" name="Google Shape;1102;p64"/>
          <p:cNvSpPr/>
          <p:nvPr/>
        </p:nvSpPr>
        <p:spPr>
          <a:xfrm>
            <a:off x="4892040" y="255631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Drives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3" name="Google Shape;1103;p64"/>
          <p:cNvSpPr/>
          <p:nvPr/>
        </p:nvSpPr>
        <p:spPr>
          <a:xfrm>
            <a:off x="6883223" y="255347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{{DSS_VDRV}}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4" name="Google Shape;1104;p64"/>
          <p:cNvSpPr/>
          <p:nvPr/>
        </p:nvSpPr>
        <p:spPr>
          <a:xfrm>
            <a:off x="7864530" y="2578982"/>
            <a:ext cx="943800" cy="157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{{DSS_VDRV_R}}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05" name="Google Shape;1105;p64"/>
          <p:cNvSpPr/>
          <p:nvPr/>
        </p:nvSpPr>
        <p:spPr>
          <a:xfrm>
            <a:off x="4800600" y="2741624"/>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6" name="Google Shape;1106;p64"/>
          <p:cNvCxnSpPr/>
          <p:nvPr/>
        </p:nvCxnSpPr>
        <p:spPr>
          <a:xfrm>
            <a:off x="4800600" y="2929777"/>
            <a:ext cx="3977700" cy="0"/>
          </a:xfrm>
          <a:prstGeom prst="straightConnector1">
            <a:avLst/>
          </a:prstGeom>
          <a:noFill/>
          <a:ln w="9525" cap="flat" cmpd="sng">
            <a:solidFill>
              <a:srgbClr val="888888"/>
            </a:solidFill>
            <a:prstDash val="solid"/>
            <a:round/>
            <a:headEnd type="none" w="sm" len="sm"/>
            <a:tailEnd type="none" w="sm" len="sm"/>
          </a:ln>
        </p:spPr>
      </p:cxnSp>
      <p:sp>
        <p:nvSpPr>
          <p:cNvPr id="1107" name="Google Shape;1107;p64"/>
          <p:cNvSpPr/>
          <p:nvPr/>
        </p:nvSpPr>
        <p:spPr>
          <a:xfrm>
            <a:off x="4892040" y="274690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Cloud Managed Databases (PaaS)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8" name="Google Shape;1108;p64"/>
          <p:cNvSpPr/>
          <p:nvPr/>
        </p:nvSpPr>
        <p:spPr>
          <a:xfrm>
            <a:off x="6883223" y="274162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{{DSS_PAAS}}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9" name="Google Shape;1109;p64"/>
          <p:cNvSpPr/>
          <p:nvPr/>
        </p:nvSpPr>
        <p:spPr>
          <a:xfrm>
            <a:off x="4800600" y="292977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0" name="Google Shape;1110;p64"/>
          <p:cNvCxnSpPr/>
          <p:nvPr/>
        </p:nvCxnSpPr>
        <p:spPr>
          <a:xfrm>
            <a:off x="4800600" y="3117931"/>
            <a:ext cx="3977700" cy="0"/>
          </a:xfrm>
          <a:prstGeom prst="straightConnector1">
            <a:avLst/>
          </a:prstGeom>
          <a:noFill/>
          <a:ln w="9525" cap="flat" cmpd="sng">
            <a:solidFill>
              <a:srgbClr val="888888"/>
            </a:solidFill>
            <a:prstDash val="solid"/>
            <a:round/>
            <a:headEnd type="none" w="sm" len="sm"/>
            <a:tailEnd type="none" w="sm" len="sm"/>
          </a:ln>
        </p:spPr>
      </p:cxnSp>
      <p:sp>
        <p:nvSpPr>
          <p:cNvPr id="1111" name="Google Shape;1111;p64"/>
          <p:cNvSpPr/>
          <p:nvPr/>
        </p:nvSpPr>
        <p:spPr>
          <a:xfrm>
            <a:off x="4892040" y="293750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Warehouses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2" name="Google Shape;1112;p64"/>
          <p:cNvSpPr/>
          <p:nvPr/>
        </p:nvSpPr>
        <p:spPr>
          <a:xfrm>
            <a:off x="6883223" y="292977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3" name="Google Shape;1113;p64"/>
          <p:cNvSpPr/>
          <p:nvPr/>
        </p:nvSpPr>
        <p:spPr>
          <a:xfrm>
            <a:off x="4800600" y="3117931"/>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4" name="Google Shape;1114;p64"/>
          <p:cNvCxnSpPr/>
          <p:nvPr/>
        </p:nvCxnSpPr>
        <p:spPr>
          <a:xfrm>
            <a:off x="4800600" y="3306084"/>
            <a:ext cx="3977700" cy="0"/>
          </a:xfrm>
          <a:prstGeom prst="straightConnector1">
            <a:avLst/>
          </a:prstGeom>
          <a:noFill/>
          <a:ln w="9525" cap="flat" cmpd="sng">
            <a:solidFill>
              <a:srgbClr val="888888"/>
            </a:solidFill>
            <a:prstDash val="solid"/>
            <a:round/>
            <a:headEnd type="none" w="sm" len="sm"/>
            <a:tailEnd type="none" w="sm" len="sm"/>
          </a:ln>
        </p:spPr>
      </p:cxnSp>
      <p:sp>
        <p:nvSpPr>
          <p:cNvPr id="1115" name="Google Shape;1115;p64"/>
          <p:cNvSpPr/>
          <p:nvPr/>
        </p:nvSpPr>
        <p:spPr>
          <a:xfrm>
            <a:off x="4892040" y="312809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Google BigQuery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6" name="Google Shape;1116;p64"/>
          <p:cNvSpPr/>
          <p:nvPr/>
        </p:nvSpPr>
        <p:spPr>
          <a:xfrm>
            <a:off x="6883223" y="311793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{{DSS_BQ}}</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7" name="Google Shape;1117;p64"/>
          <p:cNvSpPr/>
          <p:nvPr/>
        </p:nvSpPr>
        <p:spPr>
          <a:xfrm>
            <a:off x="4800600" y="330608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8" name="Google Shape;1118;p64"/>
          <p:cNvCxnSpPr/>
          <p:nvPr/>
        </p:nvCxnSpPr>
        <p:spPr>
          <a:xfrm>
            <a:off x="4800600" y="3494238"/>
            <a:ext cx="3977700" cy="0"/>
          </a:xfrm>
          <a:prstGeom prst="straightConnector1">
            <a:avLst/>
          </a:prstGeom>
          <a:noFill/>
          <a:ln w="9525" cap="flat" cmpd="sng">
            <a:solidFill>
              <a:srgbClr val="888888"/>
            </a:solidFill>
            <a:prstDash val="solid"/>
            <a:round/>
            <a:headEnd type="none" w="sm" len="sm"/>
            <a:tailEnd type="none" w="sm" len="sm"/>
          </a:ln>
        </p:spPr>
      </p:cxnSp>
      <p:sp>
        <p:nvSpPr>
          <p:cNvPr id="1119" name="Google Shape;1119;p64"/>
          <p:cNvSpPr/>
          <p:nvPr/>
        </p:nvSpPr>
        <p:spPr>
          <a:xfrm>
            <a:off x="4892040" y="331868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Amazon DynamoDB</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0" name="Google Shape;1120;p64"/>
          <p:cNvSpPr/>
          <p:nvPr/>
        </p:nvSpPr>
        <p:spPr>
          <a:xfrm>
            <a:off x="6883223" y="330608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{{DSS_DDB}}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1" name="Google Shape;1121;p64"/>
          <p:cNvSpPr/>
          <p:nvPr/>
        </p:nvSpPr>
        <p:spPr>
          <a:xfrm>
            <a:off x="4800600" y="349423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2" name="Google Shape;1122;p64"/>
          <p:cNvCxnSpPr/>
          <p:nvPr/>
        </p:nvCxnSpPr>
        <p:spPr>
          <a:xfrm>
            <a:off x="4800600" y="3682392"/>
            <a:ext cx="3977700" cy="0"/>
          </a:xfrm>
          <a:prstGeom prst="straightConnector1">
            <a:avLst/>
          </a:prstGeom>
          <a:noFill/>
          <a:ln w="9525" cap="flat" cmpd="sng">
            <a:solidFill>
              <a:srgbClr val="888888"/>
            </a:solidFill>
            <a:prstDash val="solid"/>
            <a:round/>
            <a:headEnd type="none" w="sm" len="sm"/>
            <a:tailEnd type="none" w="sm" len="sm"/>
          </a:ln>
        </p:spPr>
      </p:cxnSp>
      <p:sp>
        <p:nvSpPr>
          <p:cNvPr id="1123" name="Google Shape;1123;p64"/>
          <p:cNvSpPr/>
          <p:nvPr/>
        </p:nvSpPr>
        <p:spPr>
          <a:xfrm>
            <a:off x="4892040" y="350927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Snowflake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4" name="Google Shape;1124;p64"/>
          <p:cNvSpPr/>
          <p:nvPr/>
        </p:nvSpPr>
        <p:spPr>
          <a:xfrm>
            <a:off x="6883223" y="349423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{{DSS_SNOW}}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5" name="Google Shape;1125;p64"/>
          <p:cNvSpPr/>
          <p:nvPr/>
        </p:nvSpPr>
        <p:spPr>
          <a:xfrm>
            <a:off x="4800600" y="368239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6" name="Google Shape;1126;p64"/>
          <p:cNvCxnSpPr/>
          <p:nvPr/>
        </p:nvCxnSpPr>
        <p:spPr>
          <a:xfrm>
            <a:off x="4800600" y="3870545"/>
            <a:ext cx="3977700" cy="0"/>
          </a:xfrm>
          <a:prstGeom prst="straightConnector1">
            <a:avLst/>
          </a:prstGeom>
          <a:noFill/>
          <a:ln w="9525" cap="flat" cmpd="sng">
            <a:solidFill>
              <a:srgbClr val="888888"/>
            </a:solidFill>
            <a:prstDash val="solid"/>
            <a:round/>
            <a:headEnd type="none" w="sm" len="sm"/>
            <a:tailEnd type="none" w="sm" len="sm"/>
          </a:ln>
        </p:spPr>
      </p:cxnSp>
      <p:sp>
        <p:nvSpPr>
          <p:cNvPr id="1127" name="Google Shape;1127;p64"/>
          <p:cNvSpPr/>
          <p:nvPr/>
        </p:nvSpPr>
        <p:spPr>
          <a:xfrm>
            <a:off x="4892040" y="369986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Hosted Databases (IaaS)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8" name="Google Shape;1128;p64"/>
          <p:cNvSpPr/>
          <p:nvPr/>
        </p:nvSpPr>
        <p:spPr>
          <a:xfrm>
            <a:off x="6883223" y="368239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{{DSS_IAAS}}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9" name="Google Shape;1129;p64"/>
          <p:cNvSpPr/>
          <p:nvPr/>
        </p:nvSpPr>
        <p:spPr>
          <a:xfrm>
            <a:off x="4800600" y="387054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0" name="Google Shape;1130;p64"/>
          <p:cNvCxnSpPr/>
          <p:nvPr/>
        </p:nvCxnSpPr>
        <p:spPr>
          <a:xfrm>
            <a:off x="4800600" y="4058699"/>
            <a:ext cx="3977700" cy="0"/>
          </a:xfrm>
          <a:prstGeom prst="straightConnector1">
            <a:avLst/>
          </a:prstGeom>
          <a:noFill/>
          <a:ln w="9525" cap="flat" cmpd="sng">
            <a:solidFill>
              <a:srgbClr val="888888"/>
            </a:solidFill>
            <a:prstDash val="solid"/>
            <a:round/>
            <a:headEnd type="none" w="sm" len="sm"/>
            <a:tailEnd type="none" w="sm" len="sm"/>
          </a:ln>
        </p:spPr>
      </p:cxnSp>
      <p:sp>
        <p:nvSpPr>
          <p:cNvPr id="1131" name="Google Shape;1131;p64"/>
          <p:cNvSpPr/>
          <p:nvPr/>
        </p:nvSpPr>
        <p:spPr>
          <a:xfrm>
            <a:off x="4892040" y="389046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VM Disks (OS and non-OS)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2" name="Google Shape;1132;p64"/>
          <p:cNvSpPr/>
          <p:nvPr/>
        </p:nvSpPr>
        <p:spPr>
          <a:xfrm>
            <a:off x="6883223" y="387054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{{DSS_VMD}}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3" name="Google Shape;1133;p64"/>
          <p:cNvSpPr/>
          <p:nvPr/>
        </p:nvSpPr>
        <p:spPr>
          <a:xfrm>
            <a:off x="4800600" y="405869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4" name="Google Shape;1134;p64"/>
          <p:cNvCxnSpPr/>
          <p:nvPr/>
        </p:nvCxnSpPr>
        <p:spPr>
          <a:xfrm>
            <a:off x="4800600" y="4246852"/>
            <a:ext cx="3977700" cy="0"/>
          </a:xfrm>
          <a:prstGeom prst="straightConnector1">
            <a:avLst/>
          </a:prstGeom>
          <a:noFill/>
          <a:ln w="9525" cap="flat" cmpd="sng">
            <a:solidFill>
              <a:srgbClr val="888888"/>
            </a:solidFill>
            <a:prstDash val="solid"/>
            <a:round/>
            <a:headEnd type="none" w="sm" len="sm"/>
            <a:tailEnd type="none" w="sm" len="sm"/>
          </a:ln>
        </p:spPr>
      </p:cxnSp>
      <p:sp>
        <p:nvSpPr>
          <p:cNvPr id="1135" name="Google Shape;1135;p64"/>
          <p:cNvSpPr/>
          <p:nvPr/>
        </p:nvSpPr>
        <p:spPr>
          <a:xfrm>
            <a:off x="4892040" y="4081051"/>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Serverless Functions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6" name="Google Shape;1136;p64"/>
          <p:cNvSpPr/>
          <p:nvPr/>
        </p:nvSpPr>
        <p:spPr>
          <a:xfrm>
            <a:off x="6883223" y="405869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{{DSS_SLS}}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7" name="Google Shape;1137;p64"/>
          <p:cNvSpPr/>
          <p:nvPr/>
        </p:nvSpPr>
        <p:spPr>
          <a:xfrm>
            <a:off x="4800600" y="4246852"/>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8" name="Google Shape;1138;p64"/>
          <p:cNvCxnSpPr/>
          <p:nvPr/>
        </p:nvCxnSpPr>
        <p:spPr>
          <a:xfrm>
            <a:off x="4800600" y="4435006"/>
            <a:ext cx="3977700" cy="0"/>
          </a:xfrm>
          <a:prstGeom prst="straightConnector1">
            <a:avLst/>
          </a:prstGeom>
          <a:noFill/>
          <a:ln w="9525" cap="flat" cmpd="sng">
            <a:solidFill>
              <a:srgbClr val="888888"/>
            </a:solidFill>
            <a:prstDash val="solid"/>
            <a:round/>
            <a:headEnd type="none" w="sm" len="sm"/>
            <a:tailEnd type="none" w="sm" len="sm"/>
          </a:ln>
        </p:spPr>
      </p:cxnSp>
      <p:sp>
        <p:nvSpPr>
          <p:cNvPr id="1139" name="Google Shape;1139;p64"/>
          <p:cNvSpPr/>
          <p:nvPr/>
        </p:nvSpPr>
        <p:spPr>
          <a:xfrm>
            <a:off x="4892040" y="4271643"/>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Vertex 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0" name="Google Shape;1140;p64"/>
          <p:cNvSpPr/>
          <p:nvPr/>
        </p:nvSpPr>
        <p:spPr>
          <a:xfrm>
            <a:off x="6883223" y="424685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1" name="Google Shape;1141;p64"/>
          <p:cNvSpPr/>
          <p:nvPr/>
        </p:nvSpPr>
        <p:spPr>
          <a:xfrm>
            <a:off x="4816611" y="4449251"/>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42" name="Google Shape;1142;p64"/>
          <p:cNvCxnSpPr/>
          <p:nvPr/>
        </p:nvCxnSpPr>
        <p:spPr>
          <a:xfrm>
            <a:off x="4816611" y="4637405"/>
            <a:ext cx="3977700" cy="0"/>
          </a:xfrm>
          <a:prstGeom prst="straightConnector1">
            <a:avLst/>
          </a:prstGeom>
          <a:noFill/>
          <a:ln w="9525" cap="flat" cmpd="sng">
            <a:solidFill>
              <a:srgbClr val="888888"/>
            </a:solidFill>
            <a:prstDash val="solid"/>
            <a:round/>
            <a:headEnd type="none" w="sm" len="sm"/>
            <a:tailEnd type="none" w="sm" len="sm"/>
          </a:ln>
        </p:spPr>
      </p:cxnSp>
      <p:sp>
        <p:nvSpPr>
          <p:cNvPr id="1143" name="Google Shape;1143;p64"/>
          <p:cNvSpPr/>
          <p:nvPr/>
        </p:nvSpPr>
        <p:spPr>
          <a:xfrm>
            <a:off x="4908051" y="4462235"/>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Azure 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4" name="Google Shape;1144;p64"/>
          <p:cNvSpPr/>
          <p:nvPr/>
        </p:nvSpPr>
        <p:spPr>
          <a:xfrm>
            <a:off x="6899234" y="444925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{{DSS_AIAO}}</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5" name="Google Shape;1145;p64"/>
          <p:cNvSpPr/>
          <p:nvPr/>
        </p:nvSpPr>
        <p:spPr>
          <a:xfrm>
            <a:off x="4816611" y="463740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6" name="Google Shape;1146;p64"/>
          <p:cNvSpPr/>
          <p:nvPr/>
        </p:nvSpPr>
        <p:spPr>
          <a:xfrm>
            <a:off x="4908051" y="4652827"/>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7" name="Google Shape;1147;p64"/>
          <p:cNvSpPr/>
          <p:nvPr/>
        </p:nvSpPr>
        <p:spPr>
          <a:xfrm>
            <a:off x="6899234" y="463740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{{DSS_AIOA}}</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8" name="Google Shape;1148;p64"/>
          <p:cNvSpPr/>
          <p:nvPr/>
        </p:nvSpPr>
        <p:spPr>
          <a:xfrm>
            <a:off x="4816865" y="484341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9" name="Google Shape;1149;p64"/>
          <p:cNvSpPr/>
          <p:nvPr/>
        </p:nvSpPr>
        <p:spPr>
          <a:xfrm>
            <a:off x="4908305" y="4843419"/>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Shadow Data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0" name="Google Shape;1150;p64"/>
          <p:cNvSpPr/>
          <p:nvPr/>
        </p:nvSpPr>
        <p:spPr>
          <a:xfrm>
            <a:off x="6899488" y="484341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{{DSS_SHAD}}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2" name="Google Shape;1152;p64"/>
          <p:cNvSpPr txBox="1"/>
          <p:nvPr/>
        </p:nvSpPr>
        <p:spPr>
          <a:xfrm>
            <a:off x="3395224" y="1457671"/>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{{VS_OSPKG_R}}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3" name="Google Shape;1153;p64"/>
          <p:cNvSpPr txBox="1"/>
          <p:nvPr/>
        </p:nvSpPr>
        <p:spPr>
          <a:xfrm>
            <a:off x="3395224" y="170582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{{VS_WINB_R}}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4" name="Google Shape;1154;p64"/>
          <p:cNvSpPr txBox="1"/>
          <p:nvPr/>
        </p:nvSpPr>
        <p:spPr>
          <a:xfrm>
            <a:off x="3395224" y="195397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{{VS_GOSTD_R}}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5" name="Google Shape;1155;p64"/>
          <p:cNvSpPr txBox="1"/>
          <p:nvPr/>
        </p:nvSpPr>
        <p:spPr>
          <a:xfrm>
            <a:off x="3395224" y="220212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6" name="Google Shape;1156;p64"/>
          <p:cNvSpPr txBox="1"/>
          <p:nvPr/>
        </p:nvSpPr>
        <p:spPr>
          <a:xfrm>
            <a:off x="3395224" y="245027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{{VS_RHOS_R}}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7" name="Google Shape;1157;p64"/>
          <p:cNvSpPr txBox="1"/>
          <p:nvPr/>
        </p:nvSpPr>
        <p:spPr>
          <a:xfrm>
            <a:off x="3395224" y="344592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{{VS_MAVEN_R}}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8" name="Google Shape;1158;p64"/>
          <p:cNvSpPr txBox="1"/>
          <p:nvPr/>
        </p:nvSpPr>
        <p:spPr>
          <a:xfrm>
            <a:off x="3395224" y="369407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{{VS_JSDEP_R}}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9" name="Google Shape;1159;p64"/>
          <p:cNvSpPr txBox="1"/>
          <p:nvPr/>
        </p:nvSpPr>
        <p:spPr>
          <a:xfrm>
            <a:off x="3395224" y="394222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{{VS_GRADL_R}}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0" name="Google Shape;1160;p64"/>
          <p:cNvSpPr txBox="1"/>
          <p:nvPr/>
        </p:nvSpPr>
        <p:spPr>
          <a:xfrm>
            <a:off x="3395224" y="4190379"/>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1" name="Google Shape;1161;p64"/>
          <p:cNvSpPr txBox="1"/>
          <p:nvPr/>
        </p:nvSpPr>
        <p:spPr>
          <a:xfrm>
            <a:off x="7864530" y="13389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{{DSS_ON_R}}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2" name="Google Shape;1162;p64"/>
          <p:cNvSpPr txBox="1"/>
          <p:nvPr/>
        </p:nvSpPr>
        <p:spPr>
          <a:xfrm>
            <a:off x="7864530" y="181999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3" name="Google Shape;1163;p64"/>
          <p:cNvSpPr txBox="1"/>
          <p:nvPr/>
        </p:nvSpPr>
        <p:spPr>
          <a:xfrm>
            <a:off x="7864530" y="200845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4" name="Google Shape;1164;p64"/>
          <p:cNvSpPr txBox="1"/>
          <p:nvPr/>
        </p:nvSpPr>
        <p:spPr>
          <a:xfrm>
            <a:off x="7864530" y="2767448"/>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{{DSS_PAAS_R}}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5" name="Google Shape;1165;p64"/>
          <p:cNvSpPr txBox="1"/>
          <p:nvPr/>
        </p:nvSpPr>
        <p:spPr>
          <a:xfrm>
            <a:off x="7854823" y="2955915"/>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6" name="Google Shape;1166;p64"/>
          <p:cNvSpPr txBox="1"/>
          <p:nvPr/>
        </p:nvSpPr>
        <p:spPr>
          <a:xfrm>
            <a:off x="7854823" y="3144382"/>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{{DSS_BQ_R}}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7" name="Google Shape;1167;p64"/>
          <p:cNvSpPr txBox="1"/>
          <p:nvPr/>
        </p:nvSpPr>
        <p:spPr>
          <a:xfrm>
            <a:off x="7864530" y="33328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{{DSS_DDB_R}}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8" name="Google Shape;1168;p64"/>
          <p:cNvSpPr txBox="1"/>
          <p:nvPr/>
        </p:nvSpPr>
        <p:spPr>
          <a:xfrm>
            <a:off x="7864530" y="3521315"/>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{{DSS_SNOW_R}}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9" name="Google Shape;1169;p64"/>
          <p:cNvSpPr txBox="1"/>
          <p:nvPr/>
        </p:nvSpPr>
        <p:spPr>
          <a:xfrm>
            <a:off x="7864530" y="370978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{{DSS_IAAS_R}}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0" name="Google Shape;1170;p64"/>
          <p:cNvSpPr txBox="1"/>
          <p:nvPr/>
        </p:nvSpPr>
        <p:spPr>
          <a:xfrm>
            <a:off x="7864530" y="38982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{{DSS_VMD_R}}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1" name="Google Shape;1171;p64"/>
          <p:cNvSpPr txBox="1"/>
          <p:nvPr/>
        </p:nvSpPr>
        <p:spPr>
          <a:xfrm>
            <a:off x="7864530" y="4086716"/>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{{DSS_SLS_R}}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2" name="Google Shape;1172;p64"/>
          <p:cNvSpPr txBox="1"/>
          <p:nvPr/>
        </p:nvSpPr>
        <p:spPr>
          <a:xfrm>
            <a:off x="7864530" y="4275183"/>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3" name="Google Shape;1173;p64"/>
          <p:cNvSpPr txBox="1"/>
          <p:nvPr/>
        </p:nvSpPr>
        <p:spPr>
          <a:xfrm>
            <a:off x="7880542" y="44778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{{DSS_AIAO_R}}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4" name="Google Shape;1174;p64"/>
          <p:cNvSpPr txBox="1"/>
          <p:nvPr/>
        </p:nvSpPr>
        <p:spPr>
          <a:xfrm>
            <a:off x="7880542" y="46663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{{DSS_AIOA_R}}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5" name="Google Shape;1175;p64"/>
          <p:cNvSpPr txBox="1"/>
          <p:nvPr/>
        </p:nvSpPr>
        <p:spPr>
          <a:xfrm>
            <a:off x="7880549" y="4830150"/>
            <a:ext cx="943800" cy="188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{{DSS_SHAD_R}}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76" name="Google Shape;1176;p64"/>
          <p:cNvCxnSpPr/>
          <p:nvPr/>
        </p:nvCxnSpPr>
        <p:spPr>
          <a:xfrm>
            <a:off x="383107" y="413950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7" name="Google Shape;1177;p64"/>
          <p:cNvCxnSpPr/>
          <p:nvPr/>
        </p:nvCxnSpPr>
        <p:spPr>
          <a:xfrm>
            <a:off x="380066" y="3648302"/>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8" name="Google Shape;1178;p64"/>
          <p:cNvCxnSpPr/>
          <p:nvPr/>
        </p:nvCxnSpPr>
        <p:spPr>
          <a:xfrm>
            <a:off x="360551" y="315877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9" name="Google Shape;1179;p64"/>
          <p:cNvCxnSpPr/>
          <p:nvPr/>
        </p:nvCxnSpPr>
        <p:spPr>
          <a:xfrm>
            <a:off x="349400" y="266009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0" name="Google Shape;1180;p64"/>
          <p:cNvCxnSpPr/>
          <p:nvPr/>
        </p:nvCxnSpPr>
        <p:spPr>
          <a:xfrm>
            <a:off x="349653" y="217470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1" name="Google Shape;1181;p64"/>
          <p:cNvCxnSpPr/>
          <p:nvPr/>
        </p:nvCxnSpPr>
        <p:spPr>
          <a:xfrm>
            <a:off x="352695" y="1683508"/>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2" name="Google Shape;1182;p64"/>
          <p:cNvCxnSpPr/>
          <p:nvPr/>
        </p:nvCxnSpPr>
        <p:spPr>
          <a:xfrm>
            <a:off x="4817960" y="1322458"/>
            <a:ext cx="3977700" cy="0"/>
          </a:xfrm>
          <a:prstGeom prst="straightConnector1">
            <a:avLst/>
          </a:prstGeom>
          <a:noFill/>
          <a:ln w="14300" cap="flat" cmpd="sng">
            <a:solidFill>
              <a:srgbClr val="888888"/>
            </a:solidFill>
            <a:prstDash val="solid"/>
            <a:round/>
            <a:headEnd type="none" w="sm" len="sm"/>
            <a:tailEnd type="none" w="sm" len="sm"/>
          </a:ln>
        </p:spPr>
      </p:cxnSp>
      <p:cxnSp>
        <p:nvCxnSpPr>
          <p:cNvPr id="1183" name="Google Shape;1183;p64"/>
          <p:cNvCxnSpPr/>
          <p:nvPr/>
        </p:nvCxnSpPr>
        <p:spPr>
          <a:xfrm>
            <a:off x="370950" y="1408929"/>
            <a:ext cx="3977700" cy="0"/>
          </a:xfrm>
          <a:prstGeom prst="straightConnector1">
            <a:avLst/>
          </a:prstGeom>
          <a:noFill/>
          <a:ln w="14300" cap="flat" cmpd="sng">
            <a:solidFill>
              <a:srgbClr val="888888"/>
            </a:solidFill>
            <a:prstDash val="solid"/>
            <a:round/>
            <a:headEnd type="none" w="sm" len="sm"/>
            <a:tailEnd type="none" w="sm" len="sm"/>
          </a:ln>
        </p:spPr>
      </p:cxnSp>
      <p:sp>
        <p:nvSpPr>
          <p:cNvPr id="1184" name="Google Shape;1184;p64"/>
          <p:cNvSpPr/>
          <p:nvPr/>
        </p:nvSpPr>
        <p:spPr>
          <a:xfrm>
            <a:off x="4805920" y="218130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5" name="Google Shape;1185;p64"/>
          <p:cNvCxnSpPr/>
          <p:nvPr/>
        </p:nvCxnSpPr>
        <p:spPr>
          <a:xfrm>
            <a:off x="4805920" y="2369463"/>
            <a:ext cx="3977700" cy="0"/>
          </a:xfrm>
          <a:prstGeom prst="straightConnector1">
            <a:avLst/>
          </a:prstGeom>
          <a:noFill/>
          <a:ln w="9525" cap="flat" cmpd="sng">
            <a:solidFill>
              <a:srgbClr val="888888"/>
            </a:solidFill>
            <a:prstDash val="solid"/>
            <a:round/>
            <a:headEnd type="none" w="sm" len="sm"/>
            <a:tailEnd type="none" w="sm" len="sm"/>
          </a:ln>
        </p:spPr>
      </p:cxnSp>
      <p:sp>
        <p:nvSpPr>
          <p:cNvPr id="1186" name="Google Shape;1186;p64"/>
          <p:cNvSpPr/>
          <p:nvPr/>
        </p:nvSpPr>
        <p:spPr>
          <a:xfrm>
            <a:off x="4897361" y="217513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7" name="Google Shape;1187;p64"/>
          <p:cNvSpPr/>
          <p:nvPr/>
        </p:nvSpPr>
        <p:spPr>
          <a:xfrm>
            <a:off x="6888543" y="218130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8" name="Google Shape;1188;p64"/>
          <p:cNvSpPr/>
          <p:nvPr/>
        </p:nvSpPr>
        <p:spPr>
          <a:xfrm>
            <a:off x="4805920" y="236946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9" name="Google Shape;1189;p64"/>
          <p:cNvCxnSpPr/>
          <p:nvPr/>
        </p:nvCxnSpPr>
        <p:spPr>
          <a:xfrm>
            <a:off x="4805920" y="2563319"/>
            <a:ext cx="3977700" cy="0"/>
          </a:xfrm>
          <a:prstGeom prst="straightConnector1">
            <a:avLst/>
          </a:prstGeom>
          <a:noFill/>
          <a:ln w="9525" cap="flat" cmpd="sng">
            <a:solidFill>
              <a:srgbClr val="888888"/>
            </a:solidFill>
            <a:prstDash val="solid"/>
            <a:round/>
            <a:headEnd type="none" w="sm" len="sm"/>
            <a:tailEnd type="none" w="sm" len="sm"/>
          </a:ln>
        </p:spPr>
      </p:cxnSp>
      <p:sp>
        <p:nvSpPr>
          <p:cNvPr id="1190" name="Google Shape;1190;p64"/>
          <p:cNvSpPr/>
          <p:nvPr/>
        </p:nvSpPr>
        <p:spPr>
          <a:xfrm>
            <a:off x="4897361" y="236572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1" name="Google Shape;1191;p64"/>
          <p:cNvSpPr/>
          <p:nvPr/>
        </p:nvSpPr>
        <p:spPr>
          <a:xfrm>
            <a:off x="6888543" y="236946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2" name="Google Shape;1192;p64"/>
          <p:cNvSpPr txBox="1"/>
          <p:nvPr/>
        </p:nvSpPr>
        <p:spPr>
          <a:xfrm>
            <a:off x="7869851" y="22061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3" name="Google Shape;1193;p64"/>
          <p:cNvSpPr txBox="1"/>
          <p:nvPr/>
        </p:nvSpPr>
        <p:spPr>
          <a:xfrm>
            <a:off x="7869851" y="23946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94" name="Google Shape;1194;p64"/>
          <p:cNvCxnSpPr/>
          <p:nvPr/>
        </p:nvCxnSpPr>
        <p:spPr>
          <a:xfrm>
            <a:off x="4816611" y="4831261"/>
            <a:ext cx="3977700" cy="0"/>
          </a:xfrm>
          <a:prstGeom prst="straightConnector1">
            <a:avLst/>
          </a:prstGeom>
          <a:noFill/>
          <a:ln w="9525" cap="flat" cmpd="sng">
            <a:solidFill>
              <a:srgbClr val="888888"/>
            </a:solidFill>
            <a:prstDash val="solid"/>
            <a:round/>
            <a:headEnd type="none" w="sm" len="sm"/>
            <a:tailEnd type="none" w="sm" len="sm"/>
          </a:ln>
        </p:spPr>
      </p:cxnSp>
      <p:sp>
        <p:nvSpPr>
          <p:cNvPr id="1195" name="Google Shape;1195;p64"/>
          <p:cNvSpPr/>
          <p:nvPr/>
        </p:nvSpPr>
        <p:spPr>
          <a:xfrm>
            <a:off x="7042170" y="14673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6" name="Google Shape;1196;p64"/>
          <p:cNvSpPr/>
          <p:nvPr/>
        </p:nvSpPr>
        <p:spPr>
          <a:xfrm>
            <a:off x="366844" y="437933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97" name="Google Shape;1197;p64"/>
          <p:cNvCxnSpPr/>
          <p:nvPr/>
        </p:nvCxnSpPr>
        <p:spPr>
          <a:xfrm>
            <a:off x="372419" y="4625423"/>
            <a:ext cx="3977700" cy="0"/>
          </a:xfrm>
          <a:prstGeom prst="straightConnector1">
            <a:avLst/>
          </a:prstGeom>
          <a:noFill/>
          <a:ln w="9525" cap="flat" cmpd="sng">
            <a:solidFill>
              <a:srgbClr val="888888"/>
            </a:solidFill>
            <a:prstDash val="solid"/>
            <a:round/>
            <a:headEnd type="none" w="sm" len="sm"/>
            <a:tailEnd type="none" w="sm" len="sm"/>
          </a:ln>
        </p:spPr>
      </p:cxnSp>
      <p:sp>
        <p:nvSpPr>
          <p:cNvPr id="1198" name="Google Shape;1198;p64"/>
          <p:cNvSpPr/>
          <p:nvPr/>
        </p:nvSpPr>
        <p:spPr>
          <a:xfrm>
            <a:off x="373120" y="437933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Linux Vulnerabilities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9" name="Google Shape;1199;p64"/>
          <p:cNvSpPr/>
          <p:nvPr/>
        </p:nvSpPr>
        <p:spPr>
          <a:xfrm>
            <a:off x="2571260" y="437933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{{VS_LVULN}}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0" name="Google Shape;1200;p64"/>
          <p:cNvSpPr txBox="1"/>
          <p:nvPr/>
        </p:nvSpPr>
        <p:spPr>
          <a:xfrm>
            <a:off x="3396898" y="443070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{{VS_LVULN_R}}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4" name="Action Button: Blank 3">
            <a:hlinkClick r:id="" action="ppaction://noaction" highlightClick="1"/>
            <a:extLst>
              <a:ext uri="{FF2B5EF4-FFF2-40B4-BE49-F238E27FC236}">
                <a16:creationId xmlns:a16="http://schemas.microsoft.com/office/drawing/2014/main" id="{00DCB317-8500-9FAD-B954-9F762EE7B9BA}"/>
              </a:ext>
            </a:extLst>
          </p:cNvPr>
          <p:cNvSpPr/>
          <p:nvPr/>
        </p:nvSpPr>
        <p:spPr>
          <a:xfrm>
            <a:off x="239233" y="867612"/>
            <a:ext cx="4224479" cy="4146767"/>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5"/>
        <p:cNvGrpSpPr/>
        <p:nvPr/>
      </p:nvGrpSpPr>
      <p:grpSpPr>
        <a:xfrm>
          <a:off x="0" y="0"/>
          <a:ext cx="0" cy="0"/>
          <a:chOff x="0" y="0"/>
          <a:chExt cx="0" cy="0"/>
        </a:xfrm>
      </p:grpSpPr>
      <p:sp>
        <p:nvSpPr>
          <p:cNvPr id="1206" name="Google Shape;1206;p65"/>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07" name="Google Shape;1207;p65"/>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Potential Technology Overlap</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8" name="Google Shape;1208;p65"/>
          <p:cNvSpPr/>
          <p:nvPr/>
        </p:nvSpPr>
        <p:spPr>
          <a:xfrm>
            <a:off x="457200" y="548650"/>
            <a:ext cx="83445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Third-party principals detected in your cloud environments, grouped by functional overlap with Wiz platform capabilities.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6B7280"/>
              </a:buClr>
              <a:buSzPts val="900"/>
              <a:buFont typeface="DM Sans"/>
              <a:buNone/>
            </a:pP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9" name="Google Shape;1209;p65"/>
          <p:cNvSpPr/>
          <p:nvPr/>
        </p:nvSpPr>
        <p:spPr>
          <a:xfrm>
            <a:off x="365750" y="868675"/>
            <a:ext cx="4019400" cy="431400"/>
          </a:xfrm>
          <a:prstGeom prst="rect">
            <a:avLst/>
          </a:prstGeom>
          <a:solidFill>
            <a:srgbClr val="F4CC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0" name="Google Shape;1210;p65"/>
          <p:cNvSpPr/>
          <p:nvPr/>
        </p:nvSpPr>
        <p:spPr>
          <a:xfrm>
            <a:off x="365750" y="868672"/>
            <a:ext cx="36600" cy="431400"/>
          </a:xfrm>
          <a:prstGeom prst="rect">
            <a:avLst/>
          </a:prstGeom>
          <a:solidFill>
            <a:srgbClr val="85200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1" name="Google Shape;1211;p65"/>
          <p:cNvSpPr/>
          <p:nvPr/>
        </p:nvSpPr>
        <p:spPr>
          <a:xfrm>
            <a:off x="502911" y="948505"/>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CLOUD SECURITY PLATFORM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3"/>
              </a:rPr>
              <a:t>↗</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CC4125"/>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CNAPP, CSPM, CIEM, DSPM</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2" name="Google Shape;1212;p65"/>
          <p:cNvSpPr/>
          <p:nvPr/>
        </p:nvSpPr>
        <p:spPr>
          <a:xfrm>
            <a:off x="371458" y="139118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3" name="Google Shape;1213;p65"/>
          <p:cNvSpPr/>
          <p:nvPr/>
        </p:nvSpPr>
        <p:spPr>
          <a:xfrm>
            <a:off x="371454" y="138014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4" name="Google Shape;1214;p65"/>
          <p:cNvSpPr/>
          <p:nvPr/>
        </p:nvSpPr>
        <p:spPr>
          <a:xfrm>
            <a:off x="2308825" y="1392425"/>
            <a:ext cx="736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5" name="Google Shape;1215;p65"/>
          <p:cNvSpPr/>
          <p:nvPr/>
        </p:nvSpPr>
        <p:spPr>
          <a:xfrm>
            <a:off x="2926225" y="1385850"/>
            <a:ext cx="15945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6" name="Google Shape;1216;p65"/>
          <p:cNvSpPr/>
          <p:nvPr/>
        </p:nvSpPr>
        <p:spPr>
          <a:xfrm>
            <a:off x="371449" y="163156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17" name="Google Shape;1217;p65"/>
          <p:cNvCxnSpPr/>
          <p:nvPr/>
        </p:nvCxnSpPr>
        <p:spPr>
          <a:xfrm>
            <a:off x="371449" y="1877657"/>
            <a:ext cx="3977700" cy="0"/>
          </a:xfrm>
          <a:prstGeom prst="straightConnector1">
            <a:avLst/>
          </a:prstGeom>
          <a:noFill/>
          <a:ln w="9525" cap="flat" cmpd="sng">
            <a:solidFill>
              <a:srgbClr val="E5E7EB"/>
            </a:solidFill>
            <a:prstDash val="solid"/>
            <a:round/>
            <a:headEnd type="none" w="sm" len="sm"/>
            <a:tailEnd type="none" w="sm" len="sm"/>
          </a:ln>
        </p:spPr>
      </p:cxnSp>
      <p:sp>
        <p:nvSpPr>
          <p:cNvPr id="1218" name="Google Shape;1218;p65"/>
          <p:cNvSpPr/>
          <p:nvPr/>
        </p:nvSpPr>
        <p:spPr>
          <a:xfrm>
            <a:off x="371445" y="16315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9" name="Google Shape;1219;p65"/>
          <p:cNvSpPr/>
          <p:nvPr/>
        </p:nvSpPr>
        <p:spPr>
          <a:xfrm>
            <a:off x="2311680" y="1631575"/>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0" name="Google Shape;1220;p65"/>
          <p:cNvSpPr/>
          <p:nvPr/>
        </p:nvSpPr>
        <p:spPr>
          <a:xfrm>
            <a:off x="371449" y="187765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1" name="Google Shape;1221;p65"/>
          <p:cNvCxnSpPr/>
          <p:nvPr/>
        </p:nvCxnSpPr>
        <p:spPr>
          <a:xfrm>
            <a:off x="355736" y="2115845"/>
            <a:ext cx="3977700" cy="0"/>
          </a:xfrm>
          <a:prstGeom prst="straightConnector1">
            <a:avLst/>
          </a:prstGeom>
          <a:noFill/>
          <a:ln w="9525" cap="flat" cmpd="sng">
            <a:solidFill>
              <a:srgbClr val="888888"/>
            </a:solidFill>
            <a:prstDash val="solid"/>
            <a:round/>
            <a:headEnd type="none" w="sm" len="sm"/>
            <a:tailEnd type="none" w="sm" len="sm"/>
          </a:ln>
        </p:spPr>
      </p:cxnSp>
      <p:sp>
        <p:nvSpPr>
          <p:cNvPr id="1222" name="Google Shape;1222;p65"/>
          <p:cNvSpPr/>
          <p:nvPr/>
        </p:nvSpPr>
        <p:spPr>
          <a:xfrm>
            <a:off x="371445" y="18776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3" name="Google Shape;1223;p65"/>
          <p:cNvSpPr/>
          <p:nvPr/>
        </p:nvSpPr>
        <p:spPr>
          <a:xfrm>
            <a:off x="371449" y="212375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4" name="Google Shape;1224;p65"/>
          <p:cNvCxnSpPr/>
          <p:nvPr/>
        </p:nvCxnSpPr>
        <p:spPr>
          <a:xfrm>
            <a:off x="371449" y="2369843"/>
            <a:ext cx="3977700" cy="0"/>
          </a:xfrm>
          <a:prstGeom prst="straightConnector1">
            <a:avLst/>
          </a:prstGeom>
          <a:noFill/>
          <a:ln w="9525" cap="flat" cmpd="sng">
            <a:solidFill>
              <a:srgbClr val="E5E7EB"/>
            </a:solidFill>
            <a:prstDash val="solid"/>
            <a:round/>
            <a:headEnd type="none" w="sm" len="sm"/>
            <a:tailEnd type="none" w="sm" len="sm"/>
          </a:ln>
        </p:spPr>
      </p:cxnSp>
      <p:sp>
        <p:nvSpPr>
          <p:cNvPr id="1225" name="Google Shape;1225;p65"/>
          <p:cNvSpPr/>
          <p:nvPr/>
        </p:nvSpPr>
        <p:spPr>
          <a:xfrm>
            <a:off x="371445" y="21237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6" name="Google Shape;1226;p65"/>
          <p:cNvSpPr/>
          <p:nvPr/>
        </p:nvSpPr>
        <p:spPr>
          <a:xfrm>
            <a:off x="371449" y="236984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7" name="Google Shape;1227;p65"/>
          <p:cNvCxnSpPr/>
          <p:nvPr/>
        </p:nvCxnSpPr>
        <p:spPr>
          <a:xfrm>
            <a:off x="358777" y="2606026"/>
            <a:ext cx="3977700" cy="0"/>
          </a:xfrm>
          <a:prstGeom prst="straightConnector1">
            <a:avLst/>
          </a:prstGeom>
          <a:noFill/>
          <a:ln w="9525" cap="flat" cmpd="sng">
            <a:solidFill>
              <a:srgbClr val="888888"/>
            </a:solidFill>
            <a:prstDash val="solid"/>
            <a:round/>
            <a:headEnd type="none" w="sm" len="sm"/>
            <a:tailEnd type="none" w="sm" len="sm"/>
          </a:ln>
        </p:spPr>
      </p:cxnSp>
      <p:sp>
        <p:nvSpPr>
          <p:cNvPr id="1228" name="Google Shape;1228;p65"/>
          <p:cNvSpPr/>
          <p:nvPr/>
        </p:nvSpPr>
        <p:spPr>
          <a:xfrm>
            <a:off x="371445" y="23698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9" name="Google Shape;1229;p65"/>
          <p:cNvSpPr/>
          <p:nvPr/>
        </p:nvSpPr>
        <p:spPr>
          <a:xfrm>
            <a:off x="371449" y="261593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30" name="Google Shape;1230;p65"/>
          <p:cNvCxnSpPr/>
          <p:nvPr/>
        </p:nvCxnSpPr>
        <p:spPr>
          <a:xfrm>
            <a:off x="361818" y="2865486"/>
            <a:ext cx="3977700" cy="0"/>
          </a:xfrm>
          <a:prstGeom prst="straightConnector1">
            <a:avLst/>
          </a:prstGeom>
          <a:noFill/>
          <a:ln w="9525" cap="flat" cmpd="sng">
            <a:solidFill>
              <a:srgbClr val="E5E7EB"/>
            </a:solidFill>
            <a:prstDash val="solid"/>
            <a:round/>
            <a:headEnd type="none" w="sm" len="sm"/>
            <a:tailEnd type="none" w="sm" len="sm"/>
          </a:ln>
        </p:spPr>
      </p:cxnSp>
      <p:sp>
        <p:nvSpPr>
          <p:cNvPr id="1231" name="Google Shape;1231;p65"/>
          <p:cNvSpPr/>
          <p:nvPr/>
        </p:nvSpPr>
        <p:spPr>
          <a:xfrm>
            <a:off x="371445" y="26159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32" name="Google Shape;1232;p65"/>
          <p:cNvCxnSpPr/>
          <p:nvPr/>
        </p:nvCxnSpPr>
        <p:spPr>
          <a:xfrm>
            <a:off x="349400" y="285967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3" name="Google Shape;1233;p65"/>
          <p:cNvCxnSpPr/>
          <p:nvPr/>
        </p:nvCxnSpPr>
        <p:spPr>
          <a:xfrm>
            <a:off x="349653" y="237428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4" name="Google Shape;1234;p65"/>
          <p:cNvCxnSpPr/>
          <p:nvPr/>
        </p:nvCxnSpPr>
        <p:spPr>
          <a:xfrm>
            <a:off x="352695" y="188308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5" name="Google Shape;1235;p65"/>
          <p:cNvCxnSpPr/>
          <p:nvPr/>
        </p:nvCxnSpPr>
        <p:spPr>
          <a:xfrm>
            <a:off x="370950" y="1608510"/>
            <a:ext cx="3977700" cy="0"/>
          </a:xfrm>
          <a:prstGeom prst="straightConnector1">
            <a:avLst/>
          </a:prstGeom>
          <a:noFill/>
          <a:ln w="14300" cap="flat" cmpd="sng">
            <a:solidFill>
              <a:srgbClr val="888888"/>
            </a:solidFill>
            <a:prstDash val="solid"/>
            <a:round/>
            <a:headEnd type="none" w="sm" len="sm"/>
            <a:tailEnd type="none" w="sm" len="sm"/>
          </a:ln>
        </p:spPr>
      </p:cxnSp>
      <p:sp>
        <p:nvSpPr>
          <p:cNvPr id="1236" name="Google Shape;1236;p65"/>
          <p:cNvSpPr/>
          <p:nvPr/>
        </p:nvSpPr>
        <p:spPr>
          <a:xfrm>
            <a:off x="4711846" y="3088397"/>
            <a:ext cx="4023300" cy="431400"/>
          </a:xfrm>
          <a:prstGeom prst="rect">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EAD1DC"/>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7" name="Google Shape;1237;p65"/>
          <p:cNvSpPr/>
          <p:nvPr/>
        </p:nvSpPr>
        <p:spPr>
          <a:xfrm>
            <a:off x="4711846" y="3088397"/>
            <a:ext cx="36600" cy="431400"/>
          </a:xfrm>
          <a:prstGeom prst="rect">
            <a:avLst/>
          </a:prstGeom>
          <a:solidFill>
            <a:srgbClr val="59595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8" name="Google Shape;1238;p65"/>
          <p:cNvSpPr/>
          <p:nvPr/>
        </p:nvSpPr>
        <p:spPr>
          <a:xfrm>
            <a:off x="4849007" y="31682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RUNTIME / WORKLOAD PROTECTION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4"/>
              </a:rPr>
              <a:t>↗</a:t>
            </a:r>
            <a:br>
              <a:rPr lang="en" sz="11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Sensor, Defend, CWPP,, TDR</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39" name="Google Shape;1239;p65"/>
          <p:cNvSpPr/>
          <p:nvPr/>
        </p:nvSpPr>
        <p:spPr>
          <a:xfrm>
            <a:off x="4717478" y="884700"/>
            <a:ext cx="4023300" cy="431400"/>
          </a:xfrm>
          <a:prstGeom prst="rect">
            <a:avLst/>
          </a:prstGeom>
          <a:solidFill>
            <a:srgbClr val="CBDA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0" name="Google Shape;1240;p65"/>
          <p:cNvSpPr/>
          <p:nvPr/>
        </p:nvSpPr>
        <p:spPr>
          <a:xfrm>
            <a:off x="4688967" y="884697"/>
            <a:ext cx="36600" cy="431400"/>
          </a:xfrm>
          <a:prstGeom prst="rect">
            <a:avLst/>
          </a:prstGeom>
          <a:solidFill>
            <a:srgbClr val="0B539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1" name="Google Shape;1241;p65"/>
          <p:cNvSpPr/>
          <p:nvPr/>
        </p:nvSpPr>
        <p:spPr>
          <a:xfrm>
            <a:off x="4854639" y="9645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CODE SECURITY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br>
              <a:rPr lang="en" sz="1100" b="1"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Code, SAST, SCA, Wiz CLI</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2" name="Google Shape;1242;p65"/>
          <p:cNvSpPr/>
          <p:nvPr/>
        </p:nvSpPr>
        <p:spPr>
          <a:xfrm>
            <a:off x="2308828" y="1875197"/>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3" name="Google Shape;1243;p65"/>
          <p:cNvSpPr/>
          <p:nvPr/>
        </p:nvSpPr>
        <p:spPr>
          <a:xfrm>
            <a:off x="2317385" y="2118819"/>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4" name="Google Shape;1244;p65"/>
          <p:cNvSpPr/>
          <p:nvPr/>
        </p:nvSpPr>
        <p:spPr>
          <a:xfrm>
            <a:off x="2320237" y="2362441"/>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5" name="Google Shape;1245;p65"/>
          <p:cNvSpPr/>
          <p:nvPr/>
        </p:nvSpPr>
        <p:spPr>
          <a:xfrm>
            <a:off x="2314532" y="260606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6" name="Google Shape;1246;p65"/>
          <p:cNvSpPr/>
          <p:nvPr/>
        </p:nvSpPr>
        <p:spPr>
          <a:xfrm>
            <a:off x="2926250" y="1629200"/>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{{PI_T1_1_FA}} / {{PI_T1_1_LA}}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7" name="Google Shape;1247;p65"/>
          <p:cNvSpPr/>
          <p:nvPr/>
        </p:nvSpPr>
        <p:spPr>
          <a:xfrm>
            <a:off x="2930509" y="187280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{{PI_T1_2_FA}} / {{PI_T1_2_LA}}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8" name="Google Shape;1248;p65"/>
          <p:cNvSpPr/>
          <p:nvPr/>
        </p:nvSpPr>
        <p:spPr>
          <a:xfrm>
            <a:off x="2934768" y="2116406"/>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{{PI_T1_3_FA}} / {{PI_T1_3_LA}}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9" name="Google Shape;1249;p65"/>
          <p:cNvSpPr/>
          <p:nvPr/>
        </p:nvSpPr>
        <p:spPr>
          <a:xfrm>
            <a:off x="2943286" y="2360009"/>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{{PI_T1_4_FA}} / {{PI_T1_4_LA}}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0" name="Google Shape;1250;p65"/>
          <p:cNvSpPr/>
          <p:nvPr/>
        </p:nvSpPr>
        <p:spPr>
          <a:xfrm>
            <a:off x="2939027" y="260361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{{PI_T1_5_FA}} / {{PI_T1_5_LA}}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1" name="Google Shape;1251;p65"/>
          <p:cNvSpPr/>
          <p:nvPr/>
        </p:nvSpPr>
        <p:spPr>
          <a:xfrm>
            <a:off x="4723186" y="138685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52" name="Google Shape;1252;p65"/>
          <p:cNvSpPr/>
          <p:nvPr/>
        </p:nvSpPr>
        <p:spPr>
          <a:xfrm>
            <a:off x="4706075" y="137581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3" name="Google Shape;1253;p65"/>
          <p:cNvSpPr/>
          <p:nvPr/>
        </p:nvSpPr>
        <p:spPr>
          <a:xfrm>
            <a:off x="6607455" y="1388100"/>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4" name="Google Shape;1254;p65"/>
          <p:cNvSpPr/>
          <p:nvPr/>
        </p:nvSpPr>
        <p:spPr>
          <a:xfrm>
            <a:off x="7277955" y="1381525"/>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5" name="Google Shape;1255;p65"/>
          <p:cNvSpPr/>
          <p:nvPr/>
        </p:nvSpPr>
        <p:spPr>
          <a:xfrm>
            <a:off x="4723178" y="162723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56" name="Google Shape;1256;p65"/>
          <p:cNvCxnSpPr/>
          <p:nvPr/>
        </p:nvCxnSpPr>
        <p:spPr>
          <a:xfrm>
            <a:off x="4723178" y="1873327"/>
            <a:ext cx="3977700" cy="0"/>
          </a:xfrm>
          <a:prstGeom prst="straightConnector1">
            <a:avLst/>
          </a:prstGeom>
          <a:noFill/>
          <a:ln w="9525" cap="flat" cmpd="sng">
            <a:solidFill>
              <a:srgbClr val="E5E7EB"/>
            </a:solidFill>
            <a:prstDash val="solid"/>
            <a:round/>
            <a:headEnd type="none" w="sm" len="sm"/>
            <a:tailEnd type="none" w="sm" len="sm"/>
          </a:ln>
        </p:spPr>
      </p:cxnSp>
      <p:sp>
        <p:nvSpPr>
          <p:cNvPr id="1257" name="Google Shape;1257;p65"/>
          <p:cNvSpPr/>
          <p:nvPr/>
        </p:nvSpPr>
        <p:spPr>
          <a:xfrm>
            <a:off x="4706067" y="16272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8" name="Google Shape;1258;p65"/>
          <p:cNvSpPr/>
          <p:nvPr/>
        </p:nvSpPr>
        <p:spPr>
          <a:xfrm>
            <a:off x="6609971" y="1627250"/>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9" name="Google Shape;1259;p65"/>
          <p:cNvSpPr/>
          <p:nvPr/>
        </p:nvSpPr>
        <p:spPr>
          <a:xfrm>
            <a:off x="4723178" y="187332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0" name="Google Shape;1260;p65"/>
          <p:cNvCxnSpPr/>
          <p:nvPr/>
        </p:nvCxnSpPr>
        <p:spPr>
          <a:xfrm>
            <a:off x="4707464" y="2111515"/>
            <a:ext cx="3977700" cy="0"/>
          </a:xfrm>
          <a:prstGeom prst="straightConnector1">
            <a:avLst/>
          </a:prstGeom>
          <a:noFill/>
          <a:ln w="9525" cap="flat" cmpd="sng">
            <a:solidFill>
              <a:srgbClr val="888888"/>
            </a:solidFill>
            <a:prstDash val="solid"/>
            <a:round/>
            <a:headEnd type="none" w="sm" len="sm"/>
            <a:tailEnd type="none" w="sm" len="sm"/>
          </a:ln>
        </p:spPr>
      </p:cxnSp>
      <p:sp>
        <p:nvSpPr>
          <p:cNvPr id="1261" name="Google Shape;1261;p65"/>
          <p:cNvSpPr/>
          <p:nvPr/>
        </p:nvSpPr>
        <p:spPr>
          <a:xfrm>
            <a:off x="4706067" y="187332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2" name="Google Shape;1262;p65"/>
          <p:cNvSpPr/>
          <p:nvPr/>
        </p:nvSpPr>
        <p:spPr>
          <a:xfrm>
            <a:off x="4723178" y="211942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3" name="Google Shape;1263;p65"/>
          <p:cNvCxnSpPr/>
          <p:nvPr/>
        </p:nvCxnSpPr>
        <p:spPr>
          <a:xfrm>
            <a:off x="4723178" y="2365513"/>
            <a:ext cx="3977700" cy="0"/>
          </a:xfrm>
          <a:prstGeom prst="straightConnector1">
            <a:avLst/>
          </a:prstGeom>
          <a:noFill/>
          <a:ln w="9525" cap="flat" cmpd="sng">
            <a:solidFill>
              <a:srgbClr val="E5E7EB"/>
            </a:solidFill>
            <a:prstDash val="solid"/>
            <a:round/>
            <a:headEnd type="none" w="sm" len="sm"/>
            <a:tailEnd type="none" w="sm" len="sm"/>
          </a:ln>
        </p:spPr>
      </p:cxnSp>
      <p:sp>
        <p:nvSpPr>
          <p:cNvPr id="1264" name="Google Shape;1264;p65"/>
          <p:cNvSpPr/>
          <p:nvPr/>
        </p:nvSpPr>
        <p:spPr>
          <a:xfrm>
            <a:off x="4706067" y="21194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5" name="Google Shape;1265;p65"/>
          <p:cNvSpPr/>
          <p:nvPr/>
        </p:nvSpPr>
        <p:spPr>
          <a:xfrm>
            <a:off x="4723178" y="236551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6" name="Google Shape;1266;p65"/>
          <p:cNvCxnSpPr/>
          <p:nvPr/>
        </p:nvCxnSpPr>
        <p:spPr>
          <a:xfrm>
            <a:off x="4710506" y="2601696"/>
            <a:ext cx="3977700" cy="0"/>
          </a:xfrm>
          <a:prstGeom prst="straightConnector1">
            <a:avLst/>
          </a:prstGeom>
          <a:noFill/>
          <a:ln w="9525" cap="flat" cmpd="sng">
            <a:solidFill>
              <a:srgbClr val="888888"/>
            </a:solidFill>
            <a:prstDash val="solid"/>
            <a:round/>
            <a:headEnd type="none" w="sm" len="sm"/>
            <a:tailEnd type="none" w="sm" len="sm"/>
          </a:ln>
        </p:spPr>
      </p:cxnSp>
      <p:sp>
        <p:nvSpPr>
          <p:cNvPr id="1267" name="Google Shape;1267;p65"/>
          <p:cNvSpPr/>
          <p:nvPr/>
        </p:nvSpPr>
        <p:spPr>
          <a:xfrm>
            <a:off x="4706067" y="23655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8" name="Google Shape;1268;p65"/>
          <p:cNvSpPr/>
          <p:nvPr/>
        </p:nvSpPr>
        <p:spPr>
          <a:xfrm>
            <a:off x="4723178" y="261160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69" name="Google Shape;1269;p65"/>
          <p:cNvSpPr/>
          <p:nvPr/>
        </p:nvSpPr>
        <p:spPr>
          <a:xfrm>
            <a:off x="4706067" y="261160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70" name="Google Shape;1270;p65"/>
          <p:cNvCxnSpPr/>
          <p:nvPr/>
        </p:nvCxnSpPr>
        <p:spPr>
          <a:xfrm>
            <a:off x="4716068" y="285534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1" name="Google Shape;1271;p65"/>
          <p:cNvCxnSpPr/>
          <p:nvPr/>
        </p:nvCxnSpPr>
        <p:spPr>
          <a:xfrm>
            <a:off x="4701382" y="236995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2" name="Google Shape;1272;p65"/>
          <p:cNvCxnSpPr/>
          <p:nvPr/>
        </p:nvCxnSpPr>
        <p:spPr>
          <a:xfrm>
            <a:off x="4704423" y="187875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3" name="Google Shape;1273;p65"/>
          <p:cNvCxnSpPr/>
          <p:nvPr/>
        </p:nvCxnSpPr>
        <p:spPr>
          <a:xfrm>
            <a:off x="4722679" y="1604180"/>
            <a:ext cx="3977700" cy="0"/>
          </a:xfrm>
          <a:prstGeom prst="straightConnector1">
            <a:avLst/>
          </a:prstGeom>
          <a:noFill/>
          <a:ln w="14300" cap="flat" cmpd="sng">
            <a:solidFill>
              <a:srgbClr val="888888"/>
            </a:solidFill>
            <a:prstDash val="solid"/>
            <a:round/>
            <a:headEnd type="none" w="sm" len="sm"/>
            <a:tailEnd type="none" w="sm" len="sm"/>
          </a:ln>
        </p:spPr>
      </p:cxnSp>
      <p:sp>
        <p:nvSpPr>
          <p:cNvPr id="1274" name="Google Shape;1274;p65"/>
          <p:cNvSpPr/>
          <p:nvPr/>
        </p:nvSpPr>
        <p:spPr>
          <a:xfrm>
            <a:off x="6606980" y="187086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5" name="Google Shape;1275;p65"/>
          <p:cNvSpPr/>
          <p:nvPr/>
        </p:nvSpPr>
        <p:spPr>
          <a:xfrm>
            <a:off x="6615954" y="211448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6" name="Google Shape;1276;p65"/>
          <p:cNvSpPr/>
          <p:nvPr/>
        </p:nvSpPr>
        <p:spPr>
          <a:xfrm>
            <a:off x="6618945" y="235810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7" name="Google Shape;1277;p65"/>
          <p:cNvSpPr/>
          <p:nvPr/>
        </p:nvSpPr>
        <p:spPr>
          <a:xfrm>
            <a:off x="6612962" y="260172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8" name="Google Shape;1278;p65"/>
          <p:cNvSpPr/>
          <p:nvPr/>
        </p:nvSpPr>
        <p:spPr>
          <a:xfrm>
            <a:off x="7277980" y="1624875"/>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{{PI_T2_1_FA}} / {{PI_T2_1_LA}}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9" name="Google Shape;1279;p65"/>
          <p:cNvSpPr/>
          <p:nvPr/>
        </p:nvSpPr>
        <p:spPr>
          <a:xfrm>
            <a:off x="7282310" y="18684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{{PI_T2_2_FA}} / {{PI_T2_2_LA}}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0" name="Google Shape;1280;p65"/>
          <p:cNvSpPr/>
          <p:nvPr/>
        </p:nvSpPr>
        <p:spPr>
          <a:xfrm>
            <a:off x="7286640" y="21120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{{PI_T2_3_FA}} / {{PI_T2_3_LA}}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1" name="Google Shape;1281;p65"/>
          <p:cNvSpPr/>
          <p:nvPr/>
        </p:nvSpPr>
        <p:spPr>
          <a:xfrm>
            <a:off x="7295300" y="2355677"/>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{{PI_T2_4_FA}} / {{PI_T2_4_LA}}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2" name="Google Shape;1282;p65"/>
          <p:cNvSpPr/>
          <p:nvPr/>
        </p:nvSpPr>
        <p:spPr>
          <a:xfrm>
            <a:off x="7290970" y="2599278"/>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{{PI_T2_5_FA}} / {{PI_T2_5_LA}}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3" name="Google Shape;1283;p65"/>
          <p:cNvSpPr/>
          <p:nvPr/>
        </p:nvSpPr>
        <p:spPr>
          <a:xfrm>
            <a:off x="4733920" y="3618329"/>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84" name="Google Shape;1284;p65"/>
          <p:cNvSpPr/>
          <p:nvPr/>
        </p:nvSpPr>
        <p:spPr>
          <a:xfrm>
            <a:off x="4716809" y="3607294"/>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5" name="Google Shape;1285;p65"/>
          <p:cNvSpPr/>
          <p:nvPr/>
        </p:nvSpPr>
        <p:spPr>
          <a:xfrm>
            <a:off x="6618189" y="3619575"/>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6" name="Google Shape;1286;p65"/>
          <p:cNvSpPr/>
          <p:nvPr/>
        </p:nvSpPr>
        <p:spPr>
          <a:xfrm>
            <a:off x="7288689" y="3613000"/>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7" name="Google Shape;1287;p65"/>
          <p:cNvSpPr/>
          <p:nvPr/>
        </p:nvSpPr>
        <p:spPr>
          <a:xfrm>
            <a:off x="4733912" y="385870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88" name="Google Shape;1288;p65"/>
          <p:cNvCxnSpPr/>
          <p:nvPr/>
        </p:nvCxnSpPr>
        <p:spPr>
          <a:xfrm>
            <a:off x="4733912" y="4104802"/>
            <a:ext cx="3977700" cy="0"/>
          </a:xfrm>
          <a:prstGeom prst="straightConnector1">
            <a:avLst/>
          </a:prstGeom>
          <a:noFill/>
          <a:ln w="9525" cap="flat" cmpd="sng">
            <a:solidFill>
              <a:srgbClr val="E5E7EB"/>
            </a:solidFill>
            <a:prstDash val="solid"/>
            <a:round/>
            <a:headEnd type="none" w="sm" len="sm"/>
            <a:tailEnd type="none" w="sm" len="sm"/>
          </a:ln>
        </p:spPr>
      </p:cxnSp>
      <p:sp>
        <p:nvSpPr>
          <p:cNvPr id="1289" name="Google Shape;1289;p65"/>
          <p:cNvSpPr/>
          <p:nvPr/>
        </p:nvSpPr>
        <p:spPr>
          <a:xfrm>
            <a:off x="4716801" y="385870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0" name="Google Shape;1290;p65"/>
          <p:cNvSpPr/>
          <p:nvPr/>
        </p:nvSpPr>
        <p:spPr>
          <a:xfrm>
            <a:off x="6620705" y="3858725"/>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1" name="Google Shape;1291;p65"/>
          <p:cNvSpPr/>
          <p:nvPr/>
        </p:nvSpPr>
        <p:spPr>
          <a:xfrm>
            <a:off x="4733912" y="4104802"/>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2" name="Google Shape;1292;p65"/>
          <p:cNvCxnSpPr/>
          <p:nvPr/>
        </p:nvCxnSpPr>
        <p:spPr>
          <a:xfrm>
            <a:off x="4718198" y="4342990"/>
            <a:ext cx="3977700" cy="0"/>
          </a:xfrm>
          <a:prstGeom prst="straightConnector1">
            <a:avLst/>
          </a:prstGeom>
          <a:noFill/>
          <a:ln w="9525" cap="flat" cmpd="sng">
            <a:solidFill>
              <a:srgbClr val="888888"/>
            </a:solidFill>
            <a:prstDash val="solid"/>
            <a:round/>
            <a:headEnd type="none" w="sm" len="sm"/>
            <a:tailEnd type="none" w="sm" len="sm"/>
          </a:ln>
        </p:spPr>
      </p:cxnSp>
      <p:sp>
        <p:nvSpPr>
          <p:cNvPr id="1293" name="Google Shape;1293;p65"/>
          <p:cNvSpPr/>
          <p:nvPr/>
        </p:nvSpPr>
        <p:spPr>
          <a:xfrm>
            <a:off x="4716801" y="410479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4" name="Google Shape;1294;p65"/>
          <p:cNvSpPr/>
          <p:nvPr/>
        </p:nvSpPr>
        <p:spPr>
          <a:xfrm>
            <a:off x="4733912" y="435089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5" name="Google Shape;1295;p65"/>
          <p:cNvCxnSpPr/>
          <p:nvPr/>
        </p:nvCxnSpPr>
        <p:spPr>
          <a:xfrm>
            <a:off x="4733912" y="4596988"/>
            <a:ext cx="3977700" cy="0"/>
          </a:xfrm>
          <a:prstGeom prst="straightConnector1">
            <a:avLst/>
          </a:prstGeom>
          <a:noFill/>
          <a:ln w="9525" cap="flat" cmpd="sng">
            <a:solidFill>
              <a:srgbClr val="E5E7EB"/>
            </a:solidFill>
            <a:prstDash val="solid"/>
            <a:round/>
            <a:headEnd type="none" w="sm" len="sm"/>
            <a:tailEnd type="none" w="sm" len="sm"/>
          </a:ln>
        </p:spPr>
      </p:cxnSp>
      <p:sp>
        <p:nvSpPr>
          <p:cNvPr id="1296" name="Google Shape;1296;p65"/>
          <p:cNvSpPr/>
          <p:nvPr/>
        </p:nvSpPr>
        <p:spPr>
          <a:xfrm>
            <a:off x="4716801" y="435088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7" name="Google Shape;1297;p65"/>
          <p:cNvSpPr/>
          <p:nvPr/>
        </p:nvSpPr>
        <p:spPr>
          <a:xfrm>
            <a:off x="4733912" y="4596988"/>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8" name="Google Shape;1298;p65"/>
          <p:cNvCxnSpPr/>
          <p:nvPr/>
        </p:nvCxnSpPr>
        <p:spPr>
          <a:xfrm>
            <a:off x="4721240" y="4833171"/>
            <a:ext cx="3977700" cy="0"/>
          </a:xfrm>
          <a:prstGeom prst="straightConnector1">
            <a:avLst/>
          </a:prstGeom>
          <a:noFill/>
          <a:ln w="9525" cap="flat" cmpd="sng">
            <a:solidFill>
              <a:srgbClr val="888888"/>
            </a:solidFill>
            <a:prstDash val="solid"/>
            <a:round/>
            <a:headEnd type="none" w="sm" len="sm"/>
            <a:tailEnd type="none" w="sm" len="sm"/>
          </a:ln>
        </p:spPr>
      </p:cxnSp>
      <p:sp>
        <p:nvSpPr>
          <p:cNvPr id="1299" name="Google Shape;1299;p65"/>
          <p:cNvSpPr/>
          <p:nvPr/>
        </p:nvSpPr>
        <p:spPr>
          <a:xfrm>
            <a:off x="4716801" y="4596983"/>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0" name="Google Shape;1300;p65"/>
          <p:cNvSpPr/>
          <p:nvPr/>
        </p:nvSpPr>
        <p:spPr>
          <a:xfrm>
            <a:off x="4733912" y="484308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301" name="Google Shape;1301;p65"/>
          <p:cNvSpPr/>
          <p:nvPr/>
        </p:nvSpPr>
        <p:spPr>
          <a:xfrm>
            <a:off x="4716801" y="4843077"/>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02" name="Google Shape;1302;p65"/>
          <p:cNvCxnSpPr/>
          <p:nvPr/>
        </p:nvCxnSpPr>
        <p:spPr>
          <a:xfrm>
            <a:off x="4694756" y="5086816"/>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3" name="Google Shape;1303;p65"/>
          <p:cNvCxnSpPr/>
          <p:nvPr/>
        </p:nvCxnSpPr>
        <p:spPr>
          <a:xfrm>
            <a:off x="4712116" y="4601433"/>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4" name="Google Shape;1304;p65"/>
          <p:cNvCxnSpPr/>
          <p:nvPr/>
        </p:nvCxnSpPr>
        <p:spPr>
          <a:xfrm>
            <a:off x="4715157" y="4110234"/>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5" name="Google Shape;1305;p65"/>
          <p:cNvCxnSpPr/>
          <p:nvPr/>
        </p:nvCxnSpPr>
        <p:spPr>
          <a:xfrm>
            <a:off x="4733413" y="3835655"/>
            <a:ext cx="3977700" cy="0"/>
          </a:xfrm>
          <a:prstGeom prst="straightConnector1">
            <a:avLst/>
          </a:prstGeom>
          <a:noFill/>
          <a:ln w="14300" cap="flat" cmpd="sng">
            <a:solidFill>
              <a:srgbClr val="888888"/>
            </a:solidFill>
            <a:prstDash val="solid"/>
            <a:round/>
            <a:headEnd type="none" w="sm" len="sm"/>
            <a:tailEnd type="none" w="sm" len="sm"/>
          </a:ln>
        </p:spPr>
      </p:cxnSp>
      <p:sp>
        <p:nvSpPr>
          <p:cNvPr id="1306" name="Google Shape;1306;p65"/>
          <p:cNvSpPr/>
          <p:nvPr/>
        </p:nvSpPr>
        <p:spPr>
          <a:xfrm>
            <a:off x="6617714" y="410234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7" name="Google Shape;1307;p65"/>
          <p:cNvSpPr/>
          <p:nvPr/>
        </p:nvSpPr>
        <p:spPr>
          <a:xfrm>
            <a:off x="6626688" y="434596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8" name="Google Shape;1308;p65"/>
          <p:cNvSpPr/>
          <p:nvPr/>
        </p:nvSpPr>
        <p:spPr>
          <a:xfrm>
            <a:off x="6629679" y="458958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9" name="Google Shape;1309;p65"/>
          <p:cNvSpPr/>
          <p:nvPr/>
        </p:nvSpPr>
        <p:spPr>
          <a:xfrm>
            <a:off x="6623696" y="483320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0" name="Google Shape;1310;p65"/>
          <p:cNvSpPr/>
          <p:nvPr/>
        </p:nvSpPr>
        <p:spPr>
          <a:xfrm>
            <a:off x="7288714" y="3856350"/>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{{PI_T3_1_FA}} / {{PI_T3_1_LA}}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1" name="Google Shape;1311;p65"/>
          <p:cNvSpPr/>
          <p:nvPr/>
        </p:nvSpPr>
        <p:spPr>
          <a:xfrm>
            <a:off x="7293044" y="40999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{{PI_T3_2_FA}} / {{PI_T3_2_LA}}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2" name="Google Shape;1312;p65"/>
          <p:cNvSpPr/>
          <p:nvPr/>
        </p:nvSpPr>
        <p:spPr>
          <a:xfrm>
            <a:off x="7297374" y="43435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{{PI_T3_3_FA}} / {{PI_T3_3_LA}}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3" name="Google Shape;1313;p65"/>
          <p:cNvSpPr/>
          <p:nvPr/>
        </p:nvSpPr>
        <p:spPr>
          <a:xfrm>
            <a:off x="7306035" y="4587152"/>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{{PI_T3_4_FA}} / {{PI_T3_4_LA}}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4" name="Google Shape;1314;p65"/>
          <p:cNvSpPr/>
          <p:nvPr/>
        </p:nvSpPr>
        <p:spPr>
          <a:xfrm>
            <a:off x="7301704" y="4830753"/>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{{PI_T3_5_FA}} / {{PI_T3_5_LA}}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5" name="Google Shape;1315;p65"/>
          <p:cNvSpPr/>
          <p:nvPr/>
        </p:nvSpPr>
        <p:spPr>
          <a:xfrm>
            <a:off x="369464" y="28911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16" name="Google Shape;1316;p65"/>
          <p:cNvCxnSpPr/>
          <p:nvPr/>
        </p:nvCxnSpPr>
        <p:spPr>
          <a:xfrm>
            <a:off x="359833" y="3140736"/>
            <a:ext cx="3977700" cy="0"/>
          </a:xfrm>
          <a:prstGeom prst="straightConnector1">
            <a:avLst/>
          </a:prstGeom>
          <a:noFill/>
          <a:ln w="9525" cap="flat" cmpd="sng">
            <a:solidFill>
              <a:srgbClr val="E5E7EB"/>
            </a:solidFill>
            <a:prstDash val="solid"/>
            <a:round/>
            <a:headEnd type="none" w="sm" len="sm"/>
            <a:tailEnd type="none" w="sm" len="sm"/>
          </a:ln>
        </p:spPr>
      </p:cxnSp>
      <p:sp>
        <p:nvSpPr>
          <p:cNvPr id="1317" name="Google Shape;1317;p65"/>
          <p:cNvSpPr/>
          <p:nvPr/>
        </p:nvSpPr>
        <p:spPr>
          <a:xfrm>
            <a:off x="369460" y="28911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18" name="Google Shape;1318;p65"/>
          <p:cNvCxnSpPr/>
          <p:nvPr/>
        </p:nvCxnSpPr>
        <p:spPr>
          <a:xfrm>
            <a:off x="347415" y="3134921"/>
            <a:ext cx="3977700" cy="0"/>
          </a:xfrm>
          <a:prstGeom prst="straightConnector1">
            <a:avLst/>
          </a:prstGeom>
          <a:noFill/>
          <a:ln w="9525" cap="flat" cmpd="sng">
            <a:solidFill>
              <a:srgbClr val="888888"/>
            </a:solidFill>
            <a:prstDash val="solid"/>
            <a:round/>
            <a:headEnd type="none" w="sm" len="sm"/>
            <a:tailEnd type="none" w="sm" len="sm"/>
          </a:ln>
        </p:spPr>
      </p:cxnSp>
      <p:sp>
        <p:nvSpPr>
          <p:cNvPr id="1319" name="Google Shape;1319;p65"/>
          <p:cNvSpPr/>
          <p:nvPr/>
        </p:nvSpPr>
        <p:spPr>
          <a:xfrm>
            <a:off x="2312547" y="28813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0" name="Google Shape;1320;p65"/>
          <p:cNvSpPr/>
          <p:nvPr/>
        </p:nvSpPr>
        <p:spPr>
          <a:xfrm>
            <a:off x="2937042" y="28788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{{PI_T1_6_FA}} / {{PI_T1_6_LA}}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1" name="Google Shape;1321;p65"/>
          <p:cNvSpPr/>
          <p:nvPr/>
        </p:nvSpPr>
        <p:spPr>
          <a:xfrm>
            <a:off x="380824" y="31565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2" name="Google Shape;1322;p65"/>
          <p:cNvCxnSpPr/>
          <p:nvPr/>
        </p:nvCxnSpPr>
        <p:spPr>
          <a:xfrm>
            <a:off x="371193" y="3406136"/>
            <a:ext cx="3977700" cy="0"/>
          </a:xfrm>
          <a:prstGeom prst="straightConnector1">
            <a:avLst/>
          </a:prstGeom>
          <a:noFill/>
          <a:ln w="9525" cap="flat" cmpd="sng">
            <a:solidFill>
              <a:srgbClr val="E5E7EB"/>
            </a:solidFill>
            <a:prstDash val="solid"/>
            <a:round/>
            <a:headEnd type="none" w="sm" len="sm"/>
            <a:tailEnd type="none" w="sm" len="sm"/>
          </a:ln>
        </p:spPr>
      </p:cxnSp>
      <p:sp>
        <p:nvSpPr>
          <p:cNvPr id="1323" name="Google Shape;1323;p65"/>
          <p:cNvSpPr/>
          <p:nvPr/>
        </p:nvSpPr>
        <p:spPr>
          <a:xfrm>
            <a:off x="380820" y="31565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24" name="Google Shape;1324;p65"/>
          <p:cNvCxnSpPr/>
          <p:nvPr/>
        </p:nvCxnSpPr>
        <p:spPr>
          <a:xfrm>
            <a:off x="358775" y="3400321"/>
            <a:ext cx="3977700" cy="0"/>
          </a:xfrm>
          <a:prstGeom prst="straightConnector1">
            <a:avLst/>
          </a:prstGeom>
          <a:noFill/>
          <a:ln w="9525" cap="flat" cmpd="sng">
            <a:solidFill>
              <a:srgbClr val="888888"/>
            </a:solidFill>
            <a:prstDash val="solid"/>
            <a:round/>
            <a:headEnd type="none" w="sm" len="sm"/>
            <a:tailEnd type="none" w="sm" len="sm"/>
          </a:ln>
        </p:spPr>
      </p:cxnSp>
      <p:sp>
        <p:nvSpPr>
          <p:cNvPr id="1325" name="Google Shape;1325;p65"/>
          <p:cNvSpPr/>
          <p:nvPr/>
        </p:nvSpPr>
        <p:spPr>
          <a:xfrm>
            <a:off x="2323907" y="31467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6" name="Google Shape;1326;p65"/>
          <p:cNvSpPr/>
          <p:nvPr/>
        </p:nvSpPr>
        <p:spPr>
          <a:xfrm>
            <a:off x="2948402" y="31442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{{PI_T1_7_FA}} / {{PI_T1_7_LA}}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7" name="Google Shape;1327;p65"/>
          <p:cNvSpPr/>
          <p:nvPr/>
        </p:nvSpPr>
        <p:spPr>
          <a:xfrm>
            <a:off x="377476" y="34219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8" name="Google Shape;1328;p65"/>
          <p:cNvCxnSpPr/>
          <p:nvPr/>
        </p:nvCxnSpPr>
        <p:spPr>
          <a:xfrm>
            <a:off x="367845" y="3671536"/>
            <a:ext cx="3977700" cy="0"/>
          </a:xfrm>
          <a:prstGeom prst="straightConnector1">
            <a:avLst/>
          </a:prstGeom>
          <a:noFill/>
          <a:ln w="9525" cap="flat" cmpd="sng">
            <a:solidFill>
              <a:srgbClr val="E5E7EB"/>
            </a:solidFill>
            <a:prstDash val="solid"/>
            <a:round/>
            <a:headEnd type="none" w="sm" len="sm"/>
            <a:tailEnd type="none" w="sm" len="sm"/>
          </a:ln>
        </p:spPr>
      </p:cxnSp>
      <p:sp>
        <p:nvSpPr>
          <p:cNvPr id="1329" name="Google Shape;1329;p65"/>
          <p:cNvSpPr/>
          <p:nvPr/>
        </p:nvSpPr>
        <p:spPr>
          <a:xfrm>
            <a:off x="377472" y="34219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30" name="Google Shape;1330;p65"/>
          <p:cNvCxnSpPr/>
          <p:nvPr/>
        </p:nvCxnSpPr>
        <p:spPr>
          <a:xfrm>
            <a:off x="355427" y="3665721"/>
            <a:ext cx="3977700" cy="0"/>
          </a:xfrm>
          <a:prstGeom prst="straightConnector1">
            <a:avLst/>
          </a:prstGeom>
          <a:noFill/>
          <a:ln w="9525" cap="flat" cmpd="sng">
            <a:solidFill>
              <a:srgbClr val="888888"/>
            </a:solidFill>
            <a:prstDash val="solid"/>
            <a:round/>
            <a:headEnd type="none" w="sm" len="sm"/>
            <a:tailEnd type="none" w="sm" len="sm"/>
          </a:ln>
        </p:spPr>
      </p:cxnSp>
      <p:sp>
        <p:nvSpPr>
          <p:cNvPr id="1331" name="Google Shape;1331;p65"/>
          <p:cNvSpPr/>
          <p:nvPr/>
        </p:nvSpPr>
        <p:spPr>
          <a:xfrm>
            <a:off x="2320559" y="34121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32" name="Google Shape;1332;p65"/>
          <p:cNvSpPr/>
          <p:nvPr/>
        </p:nvSpPr>
        <p:spPr>
          <a:xfrm>
            <a:off x="2945054" y="34096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{{PI_T1_8_FA}} / {{PI_T1_8_LA}}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337"/>
        <p:cNvGrpSpPr/>
        <p:nvPr/>
      </p:nvGrpSpPr>
      <p:grpSpPr>
        <a:xfrm>
          <a:off x="0" y="0"/>
          <a:ext cx="0" cy="0"/>
          <a:chOff x="0" y="0"/>
          <a:chExt cx="0" cy="0"/>
        </a:xfrm>
      </p:grpSpPr>
      <p:pic>
        <p:nvPicPr>
          <p:cNvPr id="1338" name="Google Shape;1338;p66"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39" name="Google Shape;1339;p66"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40" name="Google Shape;1340;p66"/>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1" name="Google Shape;1341;p66"/>
          <p:cNvSpPr txBox="1"/>
          <p:nvPr/>
        </p:nvSpPr>
        <p:spPr>
          <a:xfrm>
            <a:off x="357125" y="3164537"/>
            <a:ext cx="2641800" cy="15399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An unscanned resource</a:t>
            </a:r>
            <a:r>
              <a:rPr lang="en" sz="900" b="0" i="0" u="none" strike="noStrike" cap="none">
                <a:solidFill>
                  <a:srgbClr val="01123F"/>
                </a:solidFill>
                <a:latin typeface="Poppins Light"/>
                <a:ea typeface="Poppins Light"/>
                <a:cs typeface="Poppins Light"/>
                <a:sym typeface="Poppins Light"/>
              </a:rPr>
              <a:t> is one in which </a:t>
            </a:r>
            <a:r>
              <a:rPr lang="en" sz="900" b="0" i="0" u="none" strike="noStrike" cap="none">
                <a:solidFill>
                  <a:schemeClr val="dk1"/>
                </a:solidFill>
                <a:highlight>
                  <a:srgbClr val="FFFFFF"/>
                </a:highlight>
                <a:latin typeface="Poppins Light"/>
                <a:ea typeface="Poppins Light"/>
                <a:cs typeface="Poppins Light"/>
                <a:sym typeface="Poppins Light"/>
              </a:rPr>
              <a:t>Wiz can identify but cannot directly scan, such as unconnected repositories, cloud accounts, and organizations.</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Classify </a:t>
            </a:r>
            <a:r>
              <a:rPr lang="en" sz="900" b="0" i="0" u="none" strike="noStrike" cap="none">
                <a:solidFill>
                  <a:schemeClr val="dk1"/>
                </a:solidFill>
                <a:highlight>
                  <a:srgbClr val="FFFFFF"/>
                </a:highlight>
                <a:latin typeface="Poppins Light"/>
                <a:ea typeface="Poppins Light"/>
                <a:cs typeface="Poppins Light"/>
                <a:sym typeface="Poppins Light"/>
              </a:rPr>
              <a:t>these resources, determine if they belong to your organization or a third party, and identify gaps in your security coverage.</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p:txBody>
      </p:sp>
      <p:cxnSp>
        <p:nvCxnSpPr>
          <p:cNvPr id="1342" name="Google Shape;1342;p66"/>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43" name="Google Shape;1343;p66"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44" name="Google Shape;1344;p66"/>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5" name="Google Shape;1345;p66"/>
          <p:cNvSpPr txBox="1"/>
          <p:nvPr/>
        </p:nvSpPr>
        <p:spPr>
          <a:xfrm>
            <a:off x="3269550" y="3164537"/>
            <a:ext cx="2599800" cy="1618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DSPM more widely</a:t>
            </a:r>
            <a:r>
              <a:rPr lang="en" sz="900" b="0" i="0" u="none" strike="noStrike" cap="none">
                <a:solidFill>
                  <a:srgbClr val="01123F"/>
                </a:solidFill>
                <a:latin typeface="Poppins Light"/>
                <a:ea typeface="Poppins Light"/>
                <a:cs typeface="Poppins Light"/>
                <a:sym typeface="Poppins Light"/>
              </a:rPr>
              <a:t> to extend visibility to your sensitive data and complement your existing tools. Discover PII, PHI and PCI across private buckets, PaaS, IaaS and AI buckets.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Near Real-Time Scanning</a:t>
            </a:r>
            <a:r>
              <a:rPr lang="en" sz="900" b="0" i="0" u="none" strike="noStrike" cap="none">
                <a:solidFill>
                  <a:srgbClr val="01123F"/>
                </a:solidFill>
                <a:latin typeface="Poppins Light"/>
                <a:ea typeface="Poppins Light"/>
                <a:cs typeface="Poppins Light"/>
                <a:sym typeface="Poppins Light"/>
              </a:rPr>
              <a:t> to cut misconfiguration detection from 24-hour to an hour or less.</a:t>
            </a:r>
            <a:endParaRPr sz="900" b="0" i="0" u="none" strike="noStrike" cap="none">
              <a:solidFill>
                <a:srgbClr val="01123F"/>
              </a:solidFill>
              <a:latin typeface="Poppins Light"/>
              <a:ea typeface="Poppins Light"/>
              <a:cs typeface="Poppins Light"/>
              <a:sym typeface="Poppins Light"/>
            </a:endParaRPr>
          </a:p>
        </p:txBody>
      </p:sp>
      <p:sp>
        <p:nvSpPr>
          <p:cNvPr id="1346" name="Google Shape;1346;p66"/>
          <p:cNvSpPr txBox="1"/>
          <p:nvPr/>
        </p:nvSpPr>
        <p:spPr>
          <a:xfrm>
            <a:off x="6131275" y="3177641"/>
            <a:ext cx="2641800" cy="1684200"/>
          </a:xfrm>
          <a:prstGeom prst="rect">
            <a:avLst/>
          </a:prstGeom>
          <a:noFill/>
          <a:ln>
            <a:noFill/>
          </a:ln>
        </p:spPr>
        <p:txBody>
          <a:bodyPr spcFirstLastPara="1" wrap="square" lIns="68575" tIns="34275" rIns="68575" bIns="34275" anchor="t" anchorCtr="0">
            <a:normAutofit/>
          </a:bodyPr>
          <a:lstStyle/>
          <a:p>
            <a:pPr marL="274320" marR="0" lvl="0" indent="-8382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a:t>
            </a:r>
            <a:r>
              <a:rPr lang="en" sz="900" b="0" i="0" u="none" strike="noStrike" cap="none">
                <a:solidFill>
                  <a:srgbClr val="01123F"/>
                </a:solidFill>
                <a:latin typeface="Poppins Light"/>
                <a:ea typeface="Poppins Light"/>
                <a:cs typeface="Poppins Light"/>
                <a:sym typeface="Poppins Light"/>
              </a:rPr>
              <a:t> </a:t>
            </a:r>
            <a:r>
              <a:rPr lang="en" sz="900" b="1" i="0" u="none" strike="noStrike" cap="none">
                <a:solidFill>
                  <a:srgbClr val="01123F"/>
                </a:solidFill>
                <a:latin typeface="Poppins"/>
                <a:ea typeface="Poppins"/>
                <a:cs typeface="Poppins"/>
                <a:sym typeface="Poppins"/>
              </a:rPr>
              <a:t>Akamai Connector </a:t>
            </a:r>
            <a:r>
              <a:rPr lang="en" sz="900" b="0" i="0" u="none" strike="noStrike" cap="none">
                <a:solidFill>
                  <a:srgbClr val="01123F"/>
                </a:solidFill>
                <a:latin typeface="Poppins Light"/>
                <a:ea typeface="Poppins Light"/>
                <a:cs typeface="Poppins Light"/>
                <a:sym typeface="Poppins Light"/>
              </a:rPr>
              <a:t>provide better visibility in terms of exposure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Fold in third-party telemetry</a:t>
            </a:r>
            <a:r>
              <a:rPr lang="en" sz="900" b="0" i="0" u="none" strike="noStrike" cap="none">
                <a:solidFill>
                  <a:srgbClr val="01123F"/>
                </a:solidFill>
                <a:latin typeface="Poppins Light"/>
                <a:ea typeface="Poppins Light"/>
                <a:cs typeface="Poppins Light"/>
                <a:sym typeface="Poppins Light"/>
              </a:rPr>
              <a:t>. Integrating with additional tools to provide stronger attribution. I.e. Pull findings from tools like ServiceNow, Armorcode, Crowdstrike, etc.) across cloud and on-prem.</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Normalize, deduplicate and enrich existing Wiz data, in one view.</a:t>
            </a:r>
            <a:endParaRPr sz="900" b="0" i="0" u="none" strike="noStrike" cap="none">
              <a:solidFill>
                <a:srgbClr val="01123F"/>
              </a:solidFill>
              <a:latin typeface="Poppins Light"/>
              <a:ea typeface="Poppins Light"/>
              <a:cs typeface="Poppins Light"/>
              <a:sym typeface="Poppins Light"/>
            </a:endParaRPr>
          </a:p>
        </p:txBody>
      </p:sp>
      <p:sp>
        <p:nvSpPr>
          <p:cNvPr id="1347" name="Google Shape;1347;p66"/>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Expand Coverage 3rd Party Resources &amp; Telemetry</a:t>
            </a:r>
            <a:endParaRPr sz="1000" b="0" i="0" u="none" strike="noStrike" cap="none">
              <a:solidFill>
                <a:schemeClr val="dk1"/>
              </a:solidFill>
              <a:latin typeface="Poppins SemiBold"/>
              <a:ea typeface="Poppins SemiBold"/>
              <a:cs typeface="Poppins SemiBold"/>
              <a:sym typeface="Poppins SemiBold"/>
            </a:endParaRPr>
          </a:p>
        </p:txBody>
      </p:sp>
      <p:sp>
        <p:nvSpPr>
          <p:cNvPr id="1348" name="Google Shape;1348;p66"/>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Cloud Visibility &amp; Coverage</a:t>
            </a:r>
            <a:endParaRPr sz="2420">
              <a:latin typeface="Poppins Light"/>
              <a:ea typeface="Poppins Light"/>
              <a:cs typeface="Poppins Light"/>
              <a:sym typeface="Poppins Light"/>
            </a:endParaRPr>
          </a:p>
        </p:txBody>
      </p:sp>
      <p:pic>
        <p:nvPicPr>
          <p:cNvPr id="1349" name="Google Shape;1349;p66"/>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350" name="Google Shape;1350;p66"/>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351" name="Google Shape;1351;p66"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352" name="Google Shape;1352;p66"/>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Review Unscanned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Resources for Coverage Gaps</a:t>
            </a:r>
            <a:endParaRPr sz="1000" b="0" i="0" u="none" strike="noStrike" cap="none">
              <a:solidFill>
                <a:schemeClr val="dk1"/>
              </a:solidFill>
              <a:latin typeface="Poppins SemiBold"/>
              <a:ea typeface="Poppins SemiBold"/>
              <a:cs typeface="Poppins SemiBold"/>
              <a:sym typeface="Poppins SemiBold"/>
            </a:endParaRPr>
          </a:p>
        </p:txBody>
      </p:sp>
      <p:sp>
        <p:nvSpPr>
          <p:cNvPr id="1353" name="Google Shape;1353;p66"/>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Adopt Additional Features &amp; Functionality in Wiz</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1358"/>
        <p:cNvGrpSpPr/>
        <p:nvPr/>
      </p:nvGrpSpPr>
      <p:grpSpPr>
        <a:xfrm>
          <a:off x="0" y="0"/>
          <a:ext cx="0" cy="0"/>
          <a:chOff x="0" y="0"/>
          <a:chExt cx="0" cy="0"/>
        </a:xfrm>
      </p:grpSpPr>
      <p:pic>
        <p:nvPicPr>
          <p:cNvPr id="1359" name="Google Shape;1359;p67" title="Rectangle 7854.png"/>
          <p:cNvPicPr preferRelativeResize="0"/>
          <p:nvPr/>
        </p:nvPicPr>
        <p:blipFill rotWithShape="1">
          <a:blip r:embed="rId3">
            <a:alphaModFix/>
          </a:blip>
          <a:srcRect/>
          <a:stretch/>
        </p:blipFill>
        <p:spPr>
          <a:xfrm>
            <a:off x="3237297" y="1445495"/>
            <a:ext cx="2669405" cy="2471275"/>
          </a:xfrm>
          <a:prstGeom prst="rect">
            <a:avLst/>
          </a:prstGeom>
          <a:noFill/>
          <a:ln>
            <a:noFill/>
          </a:ln>
        </p:spPr>
      </p:pic>
      <p:pic>
        <p:nvPicPr>
          <p:cNvPr id="1360" name="Google Shape;1360;p67" title="Rectangle 7854.png"/>
          <p:cNvPicPr preferRelativeResize="0"/>
          <p:nvPr/>
        </p:nvPicPr>
        <p:blipFill rotWithShape="1">
          <a:blip r:embed="rId3">
            <a:alphaModFix/>
          </a:blip>
          <a:srcRect/>
          <a:stretch/>
        </p:blipFill>
        <p:spPr>
          <a:xfrm>
            <a:off x="357122" y="1445495"/>
            <a:ext cx="2669405" cy="2471275"/>
          </a:xfrm>
          <a:prstGeom prst="rect">
            <a:avLst/>
          </a:prstGeom>
          <a:noFill/>
          <a:ln>
            <a:noFill/>
          </a:ln>
        </p:spPr>
      </p:pic>
      <p:cxnSp>
        <p:nvCxnSpPr>
          <p:cNvPr id="1361" name="Google Shape;1361;p67"/>
          <p:cNvCxnSpPr/>
          <p:nvPr/>
        </p:nvCxnSpPr>
        <p:spPr>
          <a:xfrm>
            <a:off x="63057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2" name="Google Shape;1362;p67"/>
          <p:cNvSpPr txBox="1"/>
          <p:nvPr/>
        </p:nvSpPr>
        <p:spPr>
          <a:xfrm>
            <a:off x="522275" y="2210368"/>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Assigning Ownership</a:t>
            </a:r>
            <a:endParaRPr sz="1000" b="0" i="0" u="none" strike="noStrike" cap="none">
              <a:solidFill>
                <a:schemeClr val="dk1"/>
              </a:solidFill>
              <a:latin typeface="Poppins SemiBold"/>
              <a:ea typeface="Poppins SemiBold"/>
              <a:cs typeface="Poppins SemiBold"/>
              <a:sym typeface="Poppins SemiBold"/>
            </a:endParaRPr>
          </a:p>
        </p:txBody>
      </p:sp>
      <p:sp>
        <p:nvSpPr>
          <p:cNvPr id="1363" name="Google Shape;1363;p67"/>
          <p:cNvSpPr txBox="1"/>
          <p:nvPr/>
        </p:nvSpPr>
        <p:spPr>
          <a:xfrm>
            <a:off x="391576" y="2613904"/>
            <a:ext cx="2575800" cy="12225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Service Catalog democratizes ownership to developers. Auto-group resources by applications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Resource Tag Rules convert Security Graph queries into auto-assigned tags, that can then be used as conditions to route tickets to the right owners</a:t>
            </a:r>
            <a:endParaRPr sz="900" b="0" i="0" u="none" strike="noStrike" cap="none">
              <a:solidFill>
                <a:srgbClr val="01123F"/>
              </a:solidFill>
              <a:latin typeface="Poppins Light"/>
              <a:ea typeface="Poppins Light"/>
              <a:cs typeface="Poppins Light"/>
              <a:sym typeface="Poppins Light"/>
            </a:endParaRPr>
          </a:p>
        </p:txBody>
      </p:sp>
      <p:cxnSp>
        <p:nvCxnSpPr>
          <p:cNvPr id="1364" name="Google Shape;1364;p67"/>
          <p:cNvCxnSpPr/>
          <p:nvPr/>
        </p:nvCxnSpPr>
        <p:spPr>
          <a:xfrm>
            <a:off x="3510750"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5" name="Google Shape;1365;p67"/>
          <p:cNvSpPr txBox="1"/>
          <p:nvPr/>
        </p:nvSpPr>
        <p:spPr>
          <a:xfrm>
            <a:off x="3362850"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1"/>
              </a:buClr>
              <a:buSzPts val="1100"/>
              <a:buFont typeface="Arial"/>
              <a:buNone/>
            </a:pPr>
            <a:r>
              <a:rPr lang="en" sz="1000" b="0" i="0" u="none" strike="noStrike" cap="none">
                <a:solidFill>
                  <a:schemeClr val="dk1"/>
                </a:solidFill>
                <a:latin typeface="Poppins SemiBold"/>
                <a:ea typeface="Poppins SemiBold"/>
                <a:cs typeface="Poppins SemiBold"/>
                <a:sym typeface="Poppins SemiBold"/>
              </a:rPr>
              <a:t>Leverage Integrations</a:t>
            </a:r>
            <a:endParaRPr sz="1000" b="0" i="0" u="none" strike="noStrike" cap="none">
              <a:solidFill>
                <a:schemeClr val="dk1"/>
              </a:solidFill>
              <a:latin typeface="Poppins SemiBold"/>
              <a:ea typeface="Poppins SemiBold"/>
              <a:cs typeface="Poppins SemiBold"/>
              <a:sym typeface="Poppins SemiBold"/>
            </a:endParaRPr>
          </a:p>
        </p:txBody>
      </p:sp>
      <p:pic>
        <p:nvPicPr>
          <p:cNvPr id="1366" name="Google Shape;1366;p67" title="Rectangle 7854.png"/>
          <p:cNvPicPr preferRelativeResize="0"/>
          <p:nvPr/>
        </p:nvPicPr>
        <p:blipFill rotWithShape="1">
          <a:blip r:embed="rId3">
            <a:alphaModFix/>
          </a:blip>
          <a:srcRect/>
          <a:stretch/>
        </p:blipFill>
        <p:spPr>
          <a:xfrm>
            <a:off x="6117472" y="1445495"/>
            <a:ext cx="2669405" cy="2471275"/>
          </a:xfrm>
          <a:prstGeom prst="rect">
            <a:avLst/>
          </a:prstGeom>
          <a:noFill/>
          <a:ln>
            <a:noFill/>
          </a:ln>
        </p:spPr>
      </p:pic>
      <p:cxnSp>
        <p:nvCxnSpPr>
          <p:cNvPr id="1367" name="Google Shape;1367;p67"/>
          <p:cNvCxnSpPr/>
          <p:nvPr/>
        </p:nvCxnSpPr>
        <p:spPr>
          <a:xfrm>
            <a:off x="639092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8" name="Google Shape;1368;p67"/>
          <p:cNvSpPr txBox="1"/>
          <p:nvPr/>
        </p:nvSpPr>
        <p:spPr>
          <a:xfrm>
            <a:off x="3251700" y="2613901"/>
            <a:ext cx="2655000" cy="9723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Get Issues in front of the right people, using the tools they’re accustomed to. Jira, ServiceNow, Teams, etc.</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Send prescriptive data to SIEM / SOAR</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Route by team, severity or environment. Integration + per-team Action templates = Cutting the noise and operationalizing Wiz </a:t>
            </a:r>
            <a:endParaRPr sz="900" b="0" i="0" u="none" strike="noStrike" cap="none">
              <a:solidFill>
                <a:srgbClr val="01123F"/>
              </a:solidFill>
              <a:latin typeface="Poppins Light"/>
              <a:ea typeface="Poppins Light"/>
              <a:cs typeface="Poppins Light"/>
              <a:sym typeface="Poppins Light"/>
            </a:endParaRPr>
          </a:p>
        </p:txBody>
      </p:sp>
      <p:sp>
        <p:nvSpPr>
          <p:cNvPr id="1369" name="Google Shape;1369;p67"/>
          <p:cNvSpPr txBox="1"/>
          <p:nvPr/>
        </p:nvSpPr>
        <p:spPr>
          <a:xfrm>
            <a:off x="6114876" y="2638600"/>
            <a:ext cx="2604000" cy="12783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Take the human out of the routing. Auto-assign Issues to the right owners and notify accordingly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Enable self-service remediation with Worklows. Designed to offer more granular control around which context to include (i.e. Remediation steps, Investigation details, etc).</a:t>
            </a:r>
            <a:endParaRPr sz="900" b="0" i="0" u="none" strike="noStrike" cap="none">
              <a:solidFill>
                <a:srgbClr val="01123F"/>
              </a:solidFill>
              <a:latin typeface="Poppins Light"/>
              <a:ea typeface="Poppins Light"/>
              <a:cs typeface="Poppins Light"/>
              <a:sym typeface="Poppins Light"/>
            </a:endParaRPr>
          </a:p>
        </p:txBody>
      </p:sp>
      <p:sp>
        <p:nvSpPr>
          <p:cNvPr id="1370" name="Google Shape;1370;p67"/>
          <p:cNvSpPr txBox="1"/>
          <p:nvPr/>
        </p:nvSpPr>
        <p:spPr>
          <a:xfrm>
            <a:off x="6243025"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Automation (Workflows)</a:t>
            </a:r>
            <a:endParaRPr sz="1000" b="0" i="0" u="none" strike="noStrike" cap="none">
              <a:solidFill>
                <a:schemeClr val="dk1"/>
              </a:solidFill>
              <a:latin typeface="Poppins SemiBold"/>
              <a:ea typeface="Poppins SemiBold"/>
              <a:cs typeface="Poppins SemiBold"/>
              <a:sym typeface="Poppins SemiBold"/>
            </a:endParaRPr>
          </a:p>
        </p:txBody>
      </p:sp>
      <p:pic>
        <p:nvPicPr>
          <p:cNvPr id="1371" name="Google Shape;1371;p67"/>
          <p:cNvPicPr preferRelativeResize="0"/>
          <p:nvPr/>
        </p:nvPicPr>
        <p:blipFill rotWithShape="1">
          <a:blip r:embed="rId4">
            <a:alphaModFix/>
          </a:blip>
          <a:srcRect/>
          <a:stretch/>
        </p:blipFill>
        <p:spPr>
          <a:xfrm>
            <a:off x="1337712" y="1516460"/>
            <a:ext cx="708225" cy="708225"/>
          </a:xfrm>
          <a:prstGeom prst="rect">
            <a:avLst/>
          </a:prstGeom>
          <a:noFill/>
          <a:ln>
            <a:noFill/>
          </a:ln>
        </p:spPr>
      </p:pic>
      <p:sp>
        <p:nvSpPr>
          <p:cNvPr id="1372" name="Google Shape;1372;p67"/>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Democratization Improvements</a:t>
            </a:r>
            <a:endParaRPr sz="2420">
              <a:latin typeface="Poppins Light"/>
              <a:ea typeface="Poppins Light"/>
              <a:cs typeface="Poppins Light"/>
              <a:sym typeface="Poppins Light"/>
            </a:endParaRPr>
          </a:p>
        </p:txBody>
      </p:sp>
      <p:pic>
        <p:nvPicPr>
          <p:cNvPr id="1373" name="Google Shape;1373;p67" title="Group 1000002969.png"/>
          <p:cNvPicPr preferRelativeResize="0"/>
          <p:nvPr/>
        </p:nvPicPr>
        <p:blipFill rotWithShape="1">
          <a:blip r:embed="rId5">
            <a:alphaModFix/>
          </a:blip>
          <a:srcRect/>
          <a:stretch/>
        </p:blipFill>
        <p:spPr>
          <a:xfrm>
            <a:off x="4195263" y="1618451"/>
            <a:ext cx="753475" cy="504238"/>
          </a:xfrm>
          <a:prstGeom prst="rect">
            <a:avLst/>
          </a:prstGeom>
          <a:noFill/>
          <a:ln>
            <a:noFill/>
          </a:ln>
        </p:spPr>
      </p:pic>
      <p:pic>
        <p:nvPicPr>
          <p:cNvPr id="1374" name="Google Shape;1374;p67" title="Group 1000003039.png"/>
          <p:cNvPicPr preferRelativeResize="0"/>
          <p:nvPr/>
        </p:nvPicPr>
        <p:blipFill rotWithShape="1">
          <a:blip r:embed="rId6">
            <a:alphaModFix/>
          </a:blip>
          <a:srcRect/>
          <a:stretch/>
        </p:blipFill>
        <p:spPr>
          <a:xfrm>
            <a:off x="7196474" y="1601139"/>
            <a:ext cx="511400" cy="538875"/>
          </a:xfrm>
          <a:prstGeom prst="rect">
            <a:avLst/>
          </a:prstGeom>
          <a:noFill/>
          <a:ln>
            <a:noFill/>
          </a:ln>
        </p:spPr>
      </p:pic>
      <p:grpSp>
        <p:nvGrpSpPr>
          <p:cNvPr id="1375" name="Google Shape;1375;p67"/>
          <p:cNvGrpSpPr/>
          <p:nvPr/>
        </p:nvGrpSpPr>
        <p:grpSpPr>
          <a:xfrm>
            <a:off x="4726377" y="4145669"/>
            <a:ext cx="4010949" cy="832434"/>
            <a:chOff x="4726377" y="3456975"/>
            <a:chExt cx="4010949" cy="832434"/>
          </a:xfrm>
        </p:grpSpPr>
        <p:pic>
          <p:nvPicPr>
            <p:cNvPr id="1376" name="Google Shape;1376;p67" title="Rectangle 16310.png"/>
            <p:cNvPicPr preferRelativeResize="0"/>
            <p:nvPr/>
          </p:nvPicPr>
          <p:blipFill rotWithShape="1">
            <a:blip r:embed="rId7">
              <a:alphaModFix/>
            </a:blip>
            <a:srcRect/>
            <a:stretch/>
          </p:blipFill>
          <p:spPr>
            <a:xfrm>
              <a:off x="5072702" y="3456975"/>
              <a:ext cx="3664624" cy="832327"/>
            </a:xfrm>
            <a:prstGeom prst="rect">
              <a:avLst/>
            </a:prstGeom>
            <a:noFill/>
            <a:ln>
              <a:noFill/>
            </a:ln>
          </p:spPr>
        </p:pic>
        <p:sp>
          <p:nvSpPr>
            <p:cNvPr id="1377" name="Google Shape;1377;p67"/>
            <p:cNvSpPr txBox="1"/>
            <p:nvPr/>
          </p:nvSpPr>
          <p:spPr>
            <a:xfrm>
              <a:off x="5566125" y="3585438"/>
              <a:ext cx="30489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200"/>
                <a:buFont typeface="Arial"/>
                <a:buNone/>
              </a:pPr>
              <a:r>
                <a:rPr lang="en" sz="1100" b="0" i="0" u="none" strike="noStrike" cap="none">
                  <a:solidFill>
                    <a:schemeClr val="dk1"/>
                  </a:solidFill>
                  <a:latin typeface="Poppins Light"/>
                  <a:ea typeface="Poppins Light"/>
                  <a:cs typeface="Poppins Light"/>
                  <a:sym typeface="Poppins Light"/>
                </a:rPr>
                <a:t>Is Wiz completely integrated into your workflow? What could help make it part of day to day?</a:t>
              </a:r>
              <a:endParaRPr sz="1100" b="0" i="0" u="none" strike="noStrike" cap="none">
                <a:solidFill>
                  <a:schemeClr val="dk1"/>
                </a:solidFill>
                <a:latin typeface="Poppins Light"/>
                <a:ea typeface="Poppins Light"/>
                <a:cs typeface="Poppins Light"/>
                <a:sym typeface="Poppins Light"/>
              </a:endParaRPr>
            </a:p>
          </p:txBody>
        </p:sp>
        <p:pic>
          <p:nvPicPr>
            <p:cNvPr id="1378" name="Google Shape;1378;p67" title="Ellipse icon_color.png"/>
            <p:cNvPicPr preferRelativeResize="0"/>
            <p:nvPr/>
          </p:nvPicPr>
          <p:blipFill rotWithShape="1">
            <a:blip r:embed="rId8">
              <a:alphaModFix/>
            </a:blip>
            <a:srcRect/>
            <a:stretch/>
          </p:blipFill>
          <p:spPr>
            <a:xfrm>
              <a:off x="4726377" y="3457087"/>
              <a:ext cx="839753" cy="832322"/>
            </a:xfrm>
            <a:prstGeom prst="rect">
              <a:avLst/>
            </a:prstGeom>
            <a:noFill/>
            <a:ln>
              <a:noFill/>
            </a:ln>
          </p:spPr>
        </p:pic>
      </p:grpSp>
      <p:grpSp>
        <p:nvGrpSpPr>
          <p:cNvPr id="1379" name="Google Shape;1379;p67"/>
          <p:cNvGrpSpPr/>
          <p:nvPr/>
        </p:nvGrpSpPr>
        <p:grpSpPr>
          <a:xfrm>
            <a:off x="434302" y="4145669"/>
            <a:ext cx="4010949" cy="832434"/>
            <a:chOff x="434302" y="3456975"/>
            <a:chExt cx="4010949" cy="832434"/>
          </a:xfrm>
        </p:grpSpPr>
        <p:pic>
          <p:nvPicPr>
            <p:cNvPr id="1380" name="Google Shape;1380;p67" title="Rectangle 16310.png"/>
            <p:cNvPicPr preferRelativeResize="0"/>
            <p:nvPr/>
          </p:nvPicPr>
          <p:blipFill rotWithShape="1">
            <a:blip r:embed="rId7">
              <a:alphaModFix/>
            </a:blip>
            <a:srcRect/>
            <a:stretch/>
          </p:blipFill>
          <p:spPr>
            <a:xfrm>
              <a:off x="780627" y="3456975"/>
              <a:ext cx="3664624" cy="832327"/>
            </a:xfrm>
            <a:prstGeom prst="rect">
              <a:avLst/>
            </a:prstGeom>
            <a:noFill/>
            <a:ln>
              <a:noFill/>
            </a:ln>
          </p:spPr>
        </p:pic>
        <p:sp>
          <p:nvSpPr>
            <p:cNvPr id="1381" name="Google Shape;1381;p67"/>
            <p:cNvSpPr txBox="1"/>
            <p:nvPr/>
          </p:nvSpPr>
          <p:spPr>
            <a:xfrm>
              <a:off x="1274050" y="3585438"/>
              <a:ext cx="31653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171"/>
                <a:buFont typeface="Arial"/>
                <a:buNone/>
              </a:pPr>
              <a:r>
                <a:rPr lang="en" sz="1100" b="0" i="0" u="none" strike="noStrike" cap="none">
                  <a:solidFill>
                    <a:schemeClr val="dk1"/>
                  </a:solidFill>
                  <a:latin typeface="Poppins Light"/>
                  <a:ea typeface="Poppins Light"/>
                  <a:cs typeface="Poppins Light"/>
                  <a:sym typeface="Poppins Light"/>
                </a:rPr>
                <a:t>What is your current issues resolution flow? What is your ideal state? Is there anything blocking you from further democratization? </a:t>
              </a:r>
              <a:endParaRPr sz="1100" b="0" i="0" u="none" strike="noStrike" cap="none">
                <a:solidFill>
                  <a:schemeClr val="dk1"/>
                </a:solidFill>
                <a:latin typeface="Poppins Light"/>
                <a:ea typeface="Poppins Light"/>
                <a:cs typeface="Poppins Light"/>
                <a:sym typeface="Poppins Light"/>
              </a:endParaRPr>
            </a:p>
          </p:txBody>
        </p:sp>
        <p:grpSp>
          <p:nvGrpSpPr>
            <p:cNvPr id="1382" name="Google Shape;1382;p67"/>
            <p:cNvGrpSpPr/>
            <p:nvPr/>
          </p:nvGrpSpPr>
          <p:grpSpPr>
            <a:xfrm>
              <a:off x="434302" y="3457087"/>
              <a:ext cx="839753" cy="832322"/>
              <a:chOff x="434302" y="3457087"/>
              <a:chExt cx="839753" cy="832322"/>
            </a:xfrm>
          </p:grpSpPr>
          <p:pic>
            <p:nvPicPr>
              <p:cNvPr id="1383" name="Google Shape;1383;p67" title="Ellipse icon_color.png"/>
              <p:cNvPicPr preferRelativeResize="0"/>
              <p:nvPr/>
            </p:nvPicPr>
            <p:blipFill rotWithShape="1">
              <a:blip r:embed="rId8">
                <a:alphaModFix/>
              </a:blip>
              <a:srcRect/>
              <a:stretch/>
            </p:blipFill>
            <p:spPr>
              <a:xfrm>
                <a:off x="434302" y="3457087"/>
                <a:ext cx="839753" cy="832322"/>
              </a:xfrm>
              <a:prstGeom prst="rect">
                <a:avLst/>
              </a:prstGeom>
              <a:noFill/>
              <a:ln>
                <a:noFill/>
              </a:ln>
            </p:spPr>
          </p:pic>
          <p:pic>
            <p:nvPicPr>
              <p:cNvPr id="1384" name="Google Shape;1384;p67"/>
              <p:cNvPicPr preferRelativeResize="0"/>
              <p:nvPr/>
            </p:nvPicPr>
            <p:blipFill rotWithShape="1">
              <a:blip r:embed="rId9">
                <a:alphaModFix/>
              </a:blip>
              <a:srcRect/>
              <a:stretch/>
            </p:blipFill>
            <p:spPr>
              <a:xfrm>
                <a:off x="577339" y="3703834"/>
                <a:ext cx="553675" cy="338602"/>
              </a:xfrm>
              <a:prstGeom prst="rect">
                <a:avLst/>
              </a:prstGeom>
              <a:noFill/>
              <a:ln>
                <a:noFill/>
              </a:ln>
            </p:spPr>
          </p:pic>
        </p:grpSp>
      </p:grpSp>
      <p:pic>
        <p:nvPicPr>
          <p:cNvPr id="1385" name="Google Shape;1385;p67" title="Group 1000003678 (1).png"/>
          <p:cNvPicPr preferRelativeResize="0"/>
          <p:nvPr/>
        </p:nvPicPr>
        <p:blipFill rotWithShape="1">
          <a:blip r:embed="rId10">
            <a:alphaModFix/>
          </a:blip>
          <a:srcRect/>
          <a:stretch/>
        </p:blipFill>
        <p:spPr>
          <a:xfrm>
            <a:off x="4930184" y="4346632"/>
            <a:ext cx="430800" cy="4246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390"/>
        <p:cNvGrpSpPr/>
        <p:nvPr/>
      </p:nvGrpSpPr>
      <p:grpSpPr>
        <a:xfrm>
          <a:off x="0" y="0"/>
          <a:ext cx="0" cy="0"/>
          <a:chOff x="0" y="0"/>
          <a:chExt cx="0" cy="0"/>
        </a:xfrm>
      </p:grpSpPr>
      <p:pic>
        <p:nvPicPr>
          <p:cNvPr id="1391" name="Google Shape;1391;p68"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92" name="Google Shape;1392;p68"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93" name="Google Shape;1393;p68"/>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4" name="Google Shape;1394;p68"/>
          <p:cNvSpPr txBox="1"/>
          <p:nvPr/>
        </p:nvSpPr>
        <p:spPr>
          <a:xfrm>
            <a:off x="357125" y="3203850"/>
            <a:ext cx="2641800" cy="12321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do you determine what to work on first?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Why are the custom TWDC Graph Controls marked as “Critical”? Is this still relevant?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are you alerted on Critical Issues, when they arise?</a:t>
            </a:r>
            <a:endParaRPr sz="900" b="0" i="0" u="none" strike="noStrike" cap="none">
              <a:solidFill>
                <a:srgbClr val="01123F"/>
              </a:solidFill>
              <a:latin typeface="Poppins Light"/>
              <a:ea typeface="Poppins Light"/>
              <a:cs typeface="Poppins Light"/>
              <a:sym typeface="Poppins Light"/>
            </a:endParaRPr>
          </a:p>
        </p:txBody>
      </p:sp>
      <p:cxnSp>
        <p:nvCxnSpPr>
          <p:cNvPr id="1395" name="Google Shape;1395;p68"/>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96" name="Google Shape;1396;p68"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97" name="Google Shape;1397;p68"/>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8" name="Google Shape;1398;p68"/>
          <p:cNvSpPr txBox="1"/>
          <p:nvPr/>
        </p:nvSpPr>
        <p:spPr>
          <a:xfrm>
            <a:off x="3269550" y="3203850"/>
            <a:ext cx="2599800" cy="14220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You only have “MBI” (Medium Business Impact) resources defined, why?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Grouping filters or queries to identify the “low hanging fruit” Issues (i.e. resources exhibiting the same Issue)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Are you using Posture Policies to identify and group high-impact vulnerabilities?</a:t>
            </a:r>
            <a:endParaRPr sz="900" b="0" i="0" u="none" strike="noStrike" cap="none">
              <a:solidFill>
                <a:srgbClr val="01123F"/>
              </a:solidFill>
              <a:latin typeface="Poppins Light"/>
              <a:ea typeface="Poppins Light"/>
              <a:cs typeface="Poppins Light"/>
              <a:sym typeface="Poppins Light"/>
            </a:endParaRPr>
          </a:p>
        </p:txBody>
      </p:sp>
      <p:sp>
        <p:nvSpPr>
          <p:cNvPr id="1399" name="Google Shape;1399;p68"/>
          <p:cNvSpPr txBox="1"/>
          <p:nvPr/>
        </p:nvSpPr>
        <p:spPr>
          <a:xfrm>
            <a:off x="6081878" y="3203850"/>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Green Agent for automated investigation and remediation context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Advanced ASM to validate which external exposures are truly exploitable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Red Agent to actively probe your web apps and APIS to proactively identify high-impact exposures</a:t>
            </a:r>
            <a:endParaRPr sz="900" b="0" i="0" u="none" strike="noStrike" cap="none">
              <a:solidFill>
                <a:srgbClr val="01123F"/>
              </a:solidFill>
              <a:latin typeface="Poppins Light"/>
              <a:ea typeface="Poppins Light"/>
              <a:cs typeface="Poppins Light"/>
              <a:sym typeface="Poppins Light"/>
            </a:endParaRPr>
          </a:p>
        </p:txBody>
      </p:sp>
      <p:sp>
        <p:nvSpPr>
          <p:cNvPr id="1400" name="Google Shape;1400;p68"/>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Using Wiz Tools to Remediate</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More Efficiently</a:t>
            </a:r>
            <a:endParaRPr sz="1000" b="0" i="0" u="none" strike="noStrike" cap="none">
              <a:solidFill>
                <a:schemeClr val="dk1"/>
              </a:solidFill>
              <a:latin typeface="Poppins SemiBold"/>
              <a:ea typeface="Poppins SemiBold"/>
              <a:cs typeface="Poppins SemiBold"/>
              <a:sym typeface="Poppins SemiBold"/>
            </a:endParaRPr>
          </a:p>
        </p:txBody>
      </p:sp>
      <p:sp>
        <p:nvSpPr>
          <p:cNvPr id="1401" name="Google Shape;1401;p68"/>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Security Posture &amp; Risk Reduction</a:t>
            </a:r>
            <a:endParaRPr sz="2420">
              <a:latin typeface="Poppins Light"/>
              <a:ea typeface="Poppins Light"/>
              <a:cs typeface="Poppins Light"/>
              <a:sym typeface="Poppins Light"/>
            </a:endParaRPr>
          </a:p>
        </p:txBody>
      </p:sp>
      <p:pic>
        <p:nvPicPr>
          <p:cNvPr id="1402" name="Google Shape;1402;p68"/>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403" name="Google Shape;1403;p68"/>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404" name="Google Shape;1404;p68"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405" name="Google Shape;1405;p68"/>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Investigation by       Severity  &amp; Criticality</a:t>
            </a:r>
            <a:endParaRPr sz="1000" b="0" i="0" u="none" strike="noStrike" cap="none">
              <a:solidFill>
                <a:schemeClr val="dk1"/>
              </a:solidFill>
              <a:latin typeface="Poppins SemiBold"/>
              <a:ea typeface="Poppins SemiBold"/>
              <a:cs typeface="Poppins SemiBold"/>
              <a:sym typeface="Poppins SemiBold"/>
            </a:endParaRPr>
          </a:p>
        </p:txBody>
      </p:sp>
      <p:sp>
        <p:nvSpPr>
          <p:cNvPr id="1406" name="Google Shape;1406;p68"/>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Remediation by       Greatest Impact </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411"/>
        <p:cNvGrpSpPr/>
        <p:nvPr/>
      </p:nvGrpSpPr>
      <p:grpSpPr>
        <a:xfrm>
          <a:off x="0" y="0"/>
          <a:ext cx="0" cy="0"/>
          <a:chOff x="0" y="0"/>
          <a:chExt cx="0" cy="0"/>
        </a:xfrm>
      </p:grpSpPr>
      <p:pic>
        <p:nvPicPr>
          <p:cNvPr id="1412" name="Google Shape;1412;p69" title="Rectangle 7854.png"/>
          <p:cNvPicPr preferRelativeResize="0"/>
          <p:nvPr/>
        </p:nvPicPr>
        <p:blipFill rotWithShape="1">
          <a:blip r:embed="rId3">
            <a:alphaModFix/>
          </a:blip>
          <a:srcRect/>
          <a:stretch/>
        </p:blipFill>
        <p:spPr>
          <a:xfrm>
            <a:off x="3237298" y="1837849"/>
            <a:ext cx="2669404" cy="2703664"/>
          </a:xfrm>
          <a:prstGeom prst="rect">
            <a:avLst/>
          </a:prstGeom>
          <a:noFill/>
          <a:ln>
            <a:noFill/>
          </a:ln>
        </p:spPr>
      </p:pic>
      <p:pic>
        <p:nvPicPr>
          <p:cNvPr id="1413" name="Google Shape;1413;p69" title="Rectangle 7854.png"/>
          <p:cNvPicPr preferRelativeResize="0"/>
          <p:nvPr/>
        </p:nvPicPr>
        <p:blipFill rotWithShape="1">
          <a:blip r:embed="rId3">
            <a:alphaModFix/>
          </a:blip>
          <a:srcRect/>
          <a:stretch/>
        </p:blipFill>
        <p:spPr>
          <a:xfrm>
            <a:off x="357125" y="1837849"/>
            <a:ext cx="2669404" cy="2703664"/>
          </a:xfrm>
          <a:prstGeom prst="rect">
            <a:avLst/>
          </a:prstGeom>
          <a:noFill/>
          <a:ln>
            <a:noFill/>
          </a:ln>
        </p:spPr>
      </p:pic>
      <p:cxnSp>
        <p:nvCxnSpPr>
          <p:cNvPr id="1414" name="Google Shape;1414;p69"/>
          <p:cNvCxnSpPr/>
          <p:nvPr/>
        </p:nvCxnSpPr>
        <p:spPr>
          <a:xfrm>
            <a:off x="63057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5" name="Google Shape;1415;p69"/>
          <p:cNvSpPr txBox="1"/>
          <p:nvPr/>
        </p:nvSpPr>
        <p:spPr>
          <a:xfrm>
            <a:off x="522275" y="2664476"/>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7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K8S Connectors</a:t>
            </a:r>
            <a:endParaRPr sz="1000" b="0" i="0" u="none" strike="noStrike" cap="none">
              <a:solidFill>
                <a:schemeClr val="dk1"/>
              </a:solidFill>
              <a:latin typeface="Poppins SemiBold"/>
              <a:ea typeface="Poppins SemiBold"/>
              <a:cs typeface="Poppins SemiBold"/>
              <a:sym typeface="Poppins SemiBold"/>
            </a:endParaRPr>
          </a:p>
        </p:txBody>
      </p:sp>
      <p:sp>
        <p:nvSpPr>
          <p:cNvPr id="1416" name="Google Shape;1416;p69"/>
          <p:cNvSpPr txBox="1"/>
          <p:nvPr/>
        </p:nvSpPr>
        <p:spPr>
          <a:xfrm>
            <a:off x="403925" y="309270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Map Cluster architectures more effectively in Wiz.</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Wiz to assess K8S clusters directly via the Kubernetes API, to identify risks associated with K8S specific identities, secretes, configs, etc.</a:t>
            </a:r>
            <a:endParaRPr sz="900" b="0" i="0" u="none" strike="noStrike" cap="none">
              <a:solidFill>
                <a:srgbClr val="01123F"/>
              </a:solidFill>
              <a:latin typeface="Poppins Light"/>
              <a:ea typeface="Poppins Light"/>
              <a:cs typeface="Poppins Light"/>
              <a:sym typeface="Poppins Light"/>
            </a:endParaRPr>
          </a:p>
        </p:txBody>
      </p:sp>
      <p:cxnSp>
        <p:nvCxnSpPr>
          <p:cNvPr id="1417" name="Google Shape;1417;p69"/>
          <p:cNvCxnSpPr/>
          <p:nvPr/>
        </p:nvCxnSpPr>
        <p:spPr>
          <a:xfrm>
            <a:off x="3510750"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8" name="Google Shape;1418;p69"/>
          <p:cNvSpPr txBox="1"/>
          <p:nvPr/>
        </p:nvSpPr>
        <p:spPr>
          <a:xfrm>
            <a:off x="3362850" y="2664476"/>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WizOS &amp; Image Tagging</a:t>
            </a:r>
            <a:endParaRPr sz="1000" b="0" i="0" u="none" strike="noStrike" cap="none">
              <a:solidFill>
                <a:schemeClr val="dk1"/>
              </a:solidFill>
              <a:latin typeface="Poppins SemiBold"/>
              <a:ea typeface="Poppins SemiBold"/>
              <a:cs typeface="Poppins SemiBold"/>
              <a:sym typeface="Poppins SemiBold"/>
            </a:endParaRPr>
          </a:p>
        </p:txBody>
      </p:sp>
      <p:pic>
        <p:nvPicPr>
          <p:cNvPr id="1419" name="Google Shape;1419;p69" title="Rectangle 7854.png"/>
          <p:cNvPicPr preferRelativeResize="0"/>
          <p:nvPr/>
        </p:nvPicPr>
        <p:blipFill rotWithShape="1">
          <a:blip r:embed="rId3">
            <a:alphaModFix/>
          </a:blip>
          <a:srcRect/>
          <a:stretch/>
        </p:blipFill>
        <p:spPr>
          <a:xfrm>
            <a:off x="6117471" y="1837849"/>
            <a:ext cx="2669404" cy="2703664"/>
          </a:xfrm>
          <a:prstGeom prst="rect">
            <a:avLst/>
          </a:prstGeom>
          <a:noFill/>
          <a:ln>
            <a:noFill/>
          </a:ln>
        </p:spPr>
      </p:pic>
      <p:cxnSp>
        <p:nvCxnSpPr>
          <p:cNvPr id="1420" name="Google Shape;1420;p69"/>
          <p:cNvCxnSpPr/>
          <p:nvPr/>
        </p:nvCxnSpPr>
        <p:spPr>
          <a:xfrm>
            <a:off x="639092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1" name="Google Shape;1421;p69"/>
          <p:cNvSpPr txBox="1"/>
          <p:nvPr/>
        </p:nvSpPr>
        <p:spPr>
          <a:xfrm>
            <a:off x="6164274" y="3093376"/>
            <a:ext cx="2575800" cy="15006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your repos for vulnerabilities, SAST flaws, IaC misconfigurations, secrets and Malware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 Developers to scan their code at the IDE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PRs and (optionally) block merges that introduce risk </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Trace every risk back to its origin. Catch risks at the source, before they ship.</a:t>
            </a:r>
            <a:endParaRPr sz="900" b="0" i="0" u="none" strike="noStrike" cap="none">
              <a:solidFill>
                <a:srgbClr val="01123F"/>
              </a:solidFill>
              <a:latin typeface="Poppins Light"/>
              <a:ea typeface="Poppins Light"/>
              <a:cs typeface="Poppins Light"/>
              <a:sym typeface="Poppins Light"/>
            </a:endParaRPr>
          </a:p>
          <a:p>
            <a:pPr marL="0" marR="0" lvl="0" indent="0" algn="l" rtl="0">
              <a:lnSpc>
                <a:spcPct val="112000"/>
              </a:lnSpc>
              <a:spcBef>
                <a:spcPts val="0"/>
              </a:spcBef>
              <a:spcAft>
                <a:spcPts val="0"/>
              </a:spcAft>
              <a:buClr>
                <a:srgbClr val="000000"/>
              </a:buClr>
              <a:buSzPts val="900"/>
              <a:buFont typeface="Arial"/>
              <a:buNone/>
            </a:pPr>
            <a:endParaRPr sz="900" b="0" i="0" u="none" strike="noStrike" cap="none">
              <a:solidFill>
                <a:srgbClr val="01123F"/>
              </a:solidFill>
              <a:latin typeface="Poppins Light"/>
              <a:ea typeface="Poppins Light"/>
              <a:cs typeface="Poppins Light"/>
              <a:sym typeface="Poppins Light"/>
            </a:endParaRPr>
          </a:p>
        </p:txBody>
      </p:sp>
      <p:sp>
        <p:nvSpPr>
          <p:cNvPr id="1422" name="Google Shape;1422;p69"/>
          <p:cNvSpPr txBox="1"/>
          <p:nvPr/>
        </p:nvSpPr>
        <p:spPr>
          <a:xfrm>
            <a:off x="6243025" y="2644820"/>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Full Code-to-Cloud Context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Wiz Code POV</a:t>
            </a:r>
            <a:endParaRPr sz="1000" b="0" i="0" u="none" strike="noStrike" cap="none">
              <a:solidFill>
                <a:schemeClr val="dk1"/>
              </a:solidFill>
              <a:latin typeface="Poppins SemiBold"/>
              <a:ea typeface="Poppins SemiBold"/>
              <a:cs typeface="Poppins SemiBold"/>
              <a:sym typeface="Poppins SemiBold"/>
            </a:endParaRPr>
          </a:p>
        </p:txBody>
      </p:sp>
      <p:pic>
        <p:nvPicPr>
          <p:cNvPr id="1423" name="Google Shape;1423;p69"/>
          <p:cNvPicPr preferRelativeResize="0"/>
          <p:nvPr/>
        </p:nvPicPr>
        <p:blipFill rotWithShape="1">
          <a:blip r:embed="rId4">
            <a:alphaModFix/>
          </a:blip>
          <a:srcRect/>
          <a:stretch/>
        </p:blipFill>
        <p:spPr>
          <a:xfrm>
            <a:off x="1337712" y="1908821"/>
            <a:ext cx="708225" cy="708225"/>
          </a:xfrm>
          <a:prstGeom prst="rect">
            <a:avLst/>
          </a:prstGeom>
          <a:noFill/>
          <a:ln>
            <a:noFill/>
          </a:ln>
        </p:spPr>
      </p:pic>
      <p:sp>
        <p:nvSpPr>
          <p:cNvPr id="1424" name="Google Shape;1424;p69"/>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Developing Securely Improvements</a:t>
            </a:r>
            <a:endParaRPr sz="2420">
              <a:latin typeface="Poppins Light"/>
              <a:ea typeface="Poppins Light"/>
              <a:cs typeface="Poppins Light"/>
              <a:sym typeface="Poppins Light"/>
            </a:endParaRPr>
          </a:p>
        </p:txBody>
      </p:sp>
      <p:pic>
        <p:nvPicPr>
          <p:cNvPr id="1425" name="Google Shape;1425;p69" title="Group 1000002969.png"/>
          <p:cNvPicPr preferRelativeResize="0"/>
          <p:nvPr/>
        </p:nvPicPr>
        <p:blipFill rotWithShape="1">
          <a:blip r:embed="rId5">
            <a:alphaModFix/>
          </a:blip>
          <a:srcRect/>
          <a:stretch/>
        </p:blipFill>
        <p:spPr>
          <a:xfrm>
            <a:off x="4195263" y="2010813"/>
            <a:ext cx="753475" cy="504238"/>
          </a:xfrm>
          <a:prstGeom prst="rect">
            <a:avLst/>
          </a:prstGeom>
          <a:noFill/>
          <a:ln>
            <a:noFill/>
          </a:ln>
        </p:spPr>
      </p:pic>
      <p:pic>
        <p:nvPicPr>
          <p:cNvPr id="1426" name="Google Shape;1426;p69" title="Group 1000003039.png"/>
          <p:cNvPicPr preferRelativeResize="0"/>
          <p:nvPr/>
        </p:nvPicPr>
        <p:blipFill rotWithShape="1">
          <a:blip r:embed="rId6">
            <a:alphaModFix/>
          </a:blip>
          <a:srcRect/>
          <a:stretch/>
        </p:blipFill>
        <p:spPr>
          <a:xfrm>
            <a:off x="7196474" y="1993500"/>
            <a:ext cx="511400" cy="538875"/>
          </a:xfrm>
          <a:prstGeom prst="rect">
            <a:avLst/>
          </a:prstGeom>
          <a:noFill/>
          <a:ln>
            <a:noFill/>
          </a:ln>
        </p:spPr>
      </p:pic>
      <p:sp>
        <p:nvSpPr>
          <p:cNvPr id="1427" name="Google Shape;1427;p69"/>
          <p:cNvSpPr txBox="1"/>
          <p:nvPr/>
        </p:nvSpPr>
        <p:spPr>
          <a:xfrm>
            <a:off x="3284100" y="308455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Build on a clean image base with WizOS. Hardened, minimal, near-zero-CVE base images.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Enforce quality with proper image tagging via Wiz CLI. Stamps each image by digest, giving full code-to-cloud traceability.</a:t>
            </a:r>
            <a:endParaRPr sz="900" b="0" i="0" u="none" strike="noStrike" cap="none">
              <a:solidFill>
                <a:srgbClr val="01123F"/>
              </a:solidFill>
              <a:latin typeface="Poppins Light"/>
              <a:ea typeface="Poppins Light"/>
              <a:cs typeface="Poppins Light"/>
              <a:sym typeface="Poppins Light"/>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1319</TotalTime>
  <Words>5200</Words>
  <Application>Microsoft Office PowerPoint</Application>
  <PresentationFormat>On-screen Show (16:9)</PresentationFormat>
  <Paragraphs>800</Paragraphs>
  <Slides>23</Slides>
  <Notes>23</Notes>
  <HiddenSlides>4</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23</vt:i4>
      </vt:variant>
    </vt:vector>
  </HeadingPairs>
  <TitlesOfParts>
    <vt:vector size="33" baseType="lpstr">
      <vt:lpstr>JetBrains Mono</vt:lpstr>
      <vt:lpstr>Poppins</vt:lpstr>
      <vt:lpstr>DM Sans</vt:lpstr>
      <vt:lpstr>Arial</vt:lpstr>
      <vt:lpstr>Poppins SemiBold</vt:lpstr>
      <vt:lpstr>Poppins Light</vt:lpstr>
      <vt:lpstr>Calibri</vt:lpstr>
      <vt:lpstr>DM Sans Medium</vt:lpstr>
      <vt:lpstr>Simple Light</vt:lpstr>
      <vt:lpstr>Content Slides</vt:lpstr>
      <vt:lpstr>PowerPoint Presentation</vt:lpstr>
      <vt:lpstr>Wiz Adoption &amp; Democratization Maturity Model </vt:lpstr>
      <vt:lpstr>Cloud and AI Visibility Snapshot</vt:lpstr>
      <vt:lpstr>Wiz Adoption &amp; Usage Snapshot</vt:lpstr>
      <vt:lpstr>Wiz System Health &amp; Scans Snapshot</vt:lpstr>
      <vt:lpstr>Democratization Snapshot</vt:lpstr>
      <vt:lpstr>Preview Hub Availability vs Usage</vt:lpstr>
      <vt:lpstr>Preview Hub Availability vs Usage</vt:lpstr>
      <vt:lpstr>Roadmap Tracker Usage</vt:lpstr>
      <vt:lpstr>PowerPoint Presentation</vt:lpstr>
      <vt:lpstr>Wiz Security Maturity Model </vt:lpstr>
      <vt:lpstr>Cloud Security Posture Snapshot</vt:lpstr>
      <vt:lpstr>Cloud Security Risk Snapshot</vt:lpstr>
      <vt:lpstr>PowerPoint Presentation</vt:lpstr>
      <vt:lpstr>Secure Development Snapshot</vt:lpstr>
      <vt:lpstr>PowerPoint Presentation</vt:lpstr>
      <vt:lpstr>PowerPoint Presentation</vt:lpstr>
      <vt:lpstr>PowerPoint Presentation</vt:lpstr>
      <vt:lpstr>PowerPoint Presentation</vt:lpstr>
      <vt:lpstr>Top Three Focus Areas to Improve Cloud Visibility &amp; Coverage</vt:lpstr>
      <vt:lpstr>Top Three Focus Areas to Mature for Democratization Improvements</vt:lpstr>
      <vt:lpstr>Top Three Focus Areas to Improve Security Posture &amp; Risk Reduction</vt:lpstr>
      <vt:lpstr>Top Three Focus Areas to Mature for Developing Securely Improvements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Lindsey Petrone</cp:lastModifiedBy>
  <cp:revision>10</cp:revision>
  <dcterms:modified xsi:type="dcterms:W3CDTF">2026-08-26T22:53:10Z</dcterms:modified>
</cp:coreProperties>
</file>