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Poppins" panose="00000500000000000000" pitchFamily="2" charset="0"/>
      <p:regular r:id="rId39"/>
      <p:bold r:id="rId40"/>
      <p:italic r:id="rId41"/>
      <p:boldItalic r:id="rId42"/>
    </p:embeddedFont>
    <p:embeddedFont>
      <p:font typeface="Poppins Light" panose="00000400000000000000" pitchFamily="2" charset="0"/>
      <p:regular r:id="rId43"/>
      <p:bold r:id="rId44"/>
      <p:italic r:id="rId45"/>
      <p:boldItalic r:id="rId46"/>
    </p:embeddedFont>
    <p:embeddedFont>
      <p:font typeface="Poppins SemiBold" panose="000007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56"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font" Target="fonts/font2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98450" algn="l" rtl="0">
              <a:lnSpc>
                <a:spcPct val="115000"/>
              </a:lnSpc>
              <a:spcBef>
                <a:spcPts val="1200"/>
              </a:spcBef>
              <a:spcAft>
                <a:spcPts val="0"/>
              </a:spcAft>
              <a:buClr>
                <a:schemeClr val="dk1"/>
              </a:buClr>
              <a:buSzPts val="1100"/>
              <a:buChar char="-"/>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1" name="Google Shape;1011;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2" name="Google Shape;1012;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3" name="Google Shape;1203;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4" name="Google Shape;1204;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5" name="Google Shape;1335;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36" name="Google Shape;1336;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6" name="Google Shape;1356;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7" name="Google Shape;1357;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6"/>
        <p:cNvGrpSpPr/>
        <p:nvPr/>
      </p:nvGrpSpPr>
      <p:grpSpPr>
        <a:xfrm>
          <a:off x="0" y="0"/>
          <a:ext cx="0" cy="0"/>
          <a:chOff x="0" y="0"/>
          <a:chExt cx="0" cy="0"/>
        </a:xfrm>
      </p:grpSpPr>
      <p:sp>
        <p:nvSpPr>
          <p:cNvPr id="1387" name="Google Shape;1387;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8" name="Google Shape;1388;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89" name="Google Shape;1389;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9" name="Google Shape;1409;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0" name="Google Shape;1410;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48.png"/><Relationship Id="rId12"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hyperlink" Target="https://app.wiz.io/inventory/containers/images" TargetMode="External"/><Relationship Id="rId5" Type="http://schemas.openxmlformats.org/officeDocument/2006/relationships/image" Target="../media/image46.png"/><Relationship Id="rId10" Type="http://schemas.openxmlformats.org/officeDocument/2006/relationships/hyperlink" Target="https://app.wiz.io/inventory/container-registries" TargetMode="External"/><Relationship Id="rId4" Type="http://schemas.openxmlformats.org/officeDocument/2006/relationships/image" Target="../media/image45.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 Type="http://schemas.openxmlformats.org/officeDocument/2006/relationships/image" Target="../media/image48.png"/><Relationship Id="rId21"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 Type="http://schemas.openxmlformats.org/officeDocument/2006/relationships/notesSlide" Target="../notesSlides/notesSlide5.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workload-scan-log#%7E%28filters%7E%28status%7E%28equals%7E%28%7E%27SKIPPED%29%29%7Etimestamp%7E%28%29%7EdataScan%7E%28equals%7Efalse%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1.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6.xml"/><Relationship Id="rId16" Type="http://schemas.openxmlformats.org/officeDocument/2006/relationships/hyperlink" Target="https://app.wiz.io/boards/champion-center" TargetMode="External"/><Relationship Id="rId20"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2.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56.png"/></Relationships>
</file>

<file path=ppt/slides/_rels/slide13.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5.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8.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0.png"/><Relationship Id="rId7"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Tenant Health Assessment </a:t>
            </a:r>
            <a:b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b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{{Customer}}</a:t>
            </a:r>
            <a:endParaRPr sz="27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238" name="Google Shape;238;p47"/>
          <p:cNvSpPr txBox="1"/>
          <p:nvPr/>
        </p:nvSpPr>
        <p:spPr>
          <a:xfrm>
            <a:off x="318791" y="321742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{Date}</a:t>
            </a:r>
            <a:endParaRPr sz="15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251" name="Google Shape;251;p48"/>
          <p:cNvCxnSpPr>
            <a:cxnSpLocks/>
          </p:cNvCxnSpPr>
          <p:nvPr/>
        </p:nvCxnSpPr>
        <p:spPr>
          <a:xfrm flipH="1" flipV="1">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a:cxnSpLocks/>
          </p:cNvCxnSpPr>
          <p:nvPr/>
        </p:nvCxnSpPr>
        <p:spPr>
          <a:xfrm flipV="1">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a:cxnSpLocks/>
          </p:cNvCxnSpPr>
          <p:nvPr/>
        </p:nvCxnSpPr>
        <p:spPr>
          <a:xfrm flipH="1" flipV="1">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EMBED AND AUTOMATE SECURITY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security policies consistently across cloud, code, and runtime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Automate remediation and security lifecycle actions with automation rules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Continuously reduce risk without manual intervention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SELF SERVICE SECURITY FOR DEVELOPERS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developers to identify  and remediate risk independently</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Deliver security context       directly into engineering processes with Workflows, integrations, and WizExtend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SHARED SECURITY CONTEXT WITH ENGINEERING</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issues to an owner, application, or environment via Projects and Service Catalog</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issues by business context and real exposure</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Align security and engineering on what matters most</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CENTRALIZE SECURITY ACROSS SECURITY TEAMS</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Security ownership is centralized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Standardize policies and prioritization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265" name="Google Shape;265;p48"/>
          <p:cNvCxnSpPr>
            <a:cxnSpLocks/>
          </p:cNvCxnSpPr>
          <p:nvPr/>
        </p:nvCxnSpPr>
        <p:spPr>
          <a:xfrm flipV="1">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Risk is continuously mitigated and remediated by default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Engineers have what they need to remediate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Security is a natural part of development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Adoption &amp; Democratization</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SzPts val="2800"/>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6350">
            <a:solidFill>
              <a:schemeClr val="accent1"/>
            </a:solidFill>
            <a:round/>
          </a:ln>
          <a:effectLst/>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and AI Visibility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{{C_AWS}} AWS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{{K8S}} K8s Clusters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{{KG_NC}} Not Connected via Connector</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 Others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{{C_OTH_NAMES}}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{{SERVERLESS_FN_COUNT}} Serverless Functions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{{C_GCP}} GCP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{{C_AZ}} Azure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{{R_TOT}} Container Registries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Cloud Visibility</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{{SERVERLESS_CT_COUNT}} Serverless Containers</a:t>
            </a:r>
            <a:endParaRPr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{{L_SE}} </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Wiz Runtime Sensors Deployed</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{{CON_WE}} Connectors With Cloud Events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{{CON_NE}} Connectors Without</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6350">
            <a:solidFill>
              <a:schemeClr val="accent1"/>
            </a:solidFill>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Deployments / Connectors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{{CON_EN}}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{{CON_VCS}}</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VCS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{{CON_TOT}}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Total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{{OUT_DEP}}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Outpost Deployments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{{CON_DIS}}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Inactive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{{CON_BRO}}</a:t>
            </a:r>
            <a:b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Broker Deployments</a:t>
            </a:r>
            <a:endParaRPr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Registry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{{CON_K8S}}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Kubernetes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6350">
            <a:solidFill>
              <a:schemeClr val="accent1"/>
            </a:solidFill>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4">
                  <a:extLst>
                    <a:ext uri="{A12FA001-AC4F-418D-AE19-62706E023703}">
                      <ahyp:hlinkClr xmlns:ahyp="http://schemas.microsoft.com/office/drawing/2018/hyperlinkcolor" val="tx"/>
                    </a:ext>
                  </a:extLst>
                </a:hlinkClick>
              </a:rPr>
              <a:t>Cloud Events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Arial"/>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{{CLOUD_EVENTS_4}}</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{{CLOUD_EVENTS_6}}</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{{CLOUD_EVENTS_7}}</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{{CLOUD_EVENTS_8}}</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{{CLOUD_EVENTS_9}}</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{{CLOUD_EVENTS_10}}</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{{CE_4}}</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{{CE_6}}</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{{CE_7}}</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{{CE_8}}</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{{CE_9}}</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{{CE_10}}</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{{CE_12}}</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6350">
            <a:solidFill>
              <a:schemeClr val="accent1"/>
            </a:solidFill>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AI Visibility / Inventory</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{{AI_MODELS_COUNT}}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Models</a:t>
            </a:r>
            <a:endParaRPr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{{AI_AGENTS_COUNT}}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Agents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{{AI_PIPELINES_COUNT}}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Pipelines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{{AI_WORKLOADS_COUNT}}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{{AI_GUARDRAILS_COUNT}}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Guardrails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{{AI_MCP_SERVERS_COUNT}}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MCP Servers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{{AI_TECHNOLOGIES_COUNT}}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Technologies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{{AI_CODE_REPOS_COUNT}}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Code Repos with AI</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{{CE_13}}</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Admission Controllers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{{AI_DATASETS_COUNT}}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Datastores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{{AI_CA_COUNT}}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Coding Agents (IDE)</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{{CON_WOS}}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WizOS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6350">
            <a:solidFill>
              <a:schemeClr val="accent1"/>
            </a:solidFill>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Adoption &amp; Usage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90" name="Google Shape;390;p50"/>
          <p:cNvSpPr txBox="1"/>
          <p:nvPr/>
        </p:nvSpPr>
        <p:spPr>
          <a:xfrm>
            <a:off x="558756" y="1438781"/>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{{L_CL_PCT}}</a:t>
            </a: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 Cloud Advanced</a:t>
            </a:r>
            <a:endParaRPr sz="11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91" name="Google Shape;391;p50"/>
          <p:cNvSpPr txBox="1"/>
          <p:nvPr/>
        </p:nvSpPr>
        <p:spPr>
          <a:xfrm>
            <a:off x="612468" y="1693344"/>
            <a:ext cx="2538600" cy="987600"/>
          </a:xfrm>
          <a:prstGeom prst="rect">
            <a:avLst/>
          </a:prstGeom>
          <a:noFill/>
          <a:ln>
            <a:noFill/>
          </a:ln>
        </p:spPr>
        <p:txBody>
          <a:bodyPr spcFirstLastPara="1" wrap="square" lIns="55875" tIns="27925" rIns="55875" bIns="27925" anchor="t" anchorCtr="0">
            <a:noAutofit/>
          </a:bodyPr>
          <a:lstStyle/>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Compute </a:t>
            </a:r>
            <a:b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Data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Non-OS / Registry / VM Image</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WizOS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Unified Vulnerability Mgmt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Advanced ASM</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chemeClr val="dk1"/>
              </a:buClr>
              <a:buSzPts val="11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Red Agent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SaaS Users</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Product Usage</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3" name="Google Shape;393;p50"/>
          <p:cNvSpPr txBox="1"/>
          <p:nvPr/>
        </p:nvSpPr>
        <p:spPr>
          <a:xfrm>
            <a:off x="613618" y="29928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Runtime Sensor</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{{L_SE}}</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4" name="Google Shape;394;p50" title="Screenshot 2025-07-09 at 19.45.30.png"/>
          <p:cNvPicPr preferRelativeResize="0"/>
          <p:nvPr/>
        </p:nvPicPr>
        <p:blipFill rotWithShape="1">
          <a:blip r:embed="rId4">
            <a:alphaModFix/>
          </a:blip>
          <a:srcRect/>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Defend Ingestion</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{{L_DE}} Units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6" name="Google Shape;396;p50" title="Screenshot 2025-07-09 at 19.46.40.png"/>
          <p:cNvPicPr preferRelativeResize="0"/>
          <p:nvPr/>
        </p:nvPicPr>
        <p:blipFill rotWithShape="1">
          <a:blip r:embed="rId5">
            <a:alphaModFix/>
          </a:blip>
          <a:srcRect/>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Code</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{{L_CO}} Developers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6350">
            <a:solidFill>
              <a:schemeClr val="accent1"/>
            </a:solidFill>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Time With Wiz</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6350">
            <a:solidFill>
              <a:schemeClr val="accent1"/>
            </a:solidFill>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Kubernetes / Containers</a:t>
            </a:r>
            <a:b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&amp; Wiz CLI</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Clusters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{{TI}}</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Wiz CLI SCANS (30d) </a:t>
            </a:r>
            <a:r>
              <a:rPr lang="en" sz="14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{{CLI}}</a:t>
            </a:r>
            <a:endParaRPr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Container Registries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Container Images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5" name="Google Shape;415;p50"/>
          <p:cNvSpPr txBox="1"/>
          <p:nvPr/>
        </p:nvSpPr>
        <p:spPr>
          <a:xfrm>
            <a:off x="1817806" y="1749876"/>
            <a:ext cx="1225800" cy="1248900"/>
          </a:xfrm>
          <a:prstGeom prst="rect">
            <a:avLst/>
          </a:prstGeom>
          <a:noFill/>
          <a:ln>
            <a:noFill/>
          </a:ln>
        </p:spPr>
        <p:txBody>
          <a:bodyPr spcFirstLastPara="1" wrap="square" lIns="91225" tIns="91225" rIns="91225" bIns="91225" anchor="ctr" anchorCtr="0">
            <a:noAutofit/>
          </a:bodyPr>
          <a:lstStyle/>
          <a:p>
            <a:pPr marL="0" marR="0" lvl="0" indent="0" algn="r" rtl="0">
              <a:lnSpc>
                <a:spcPct val="115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{{CL_CP}}%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{{CL_DP}}%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{{CL_NRVP}}%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{{CL_WOP}}%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{{CL_UVMP}}%</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{{CL_ASMP}}%</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r" rtl="0">
              <a:lnSpc>
                <a:spcPct val="115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{{CL_REDA}}%</a:t>
            </a:r>
            <a:b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{{CL_SUP}}%</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Current Contract End</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{{CONTRACT_END_FMT}}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{{CUS_NOD}} Days as Wiz Customer</a:t>
            </a:r>
            <a:endParaRPr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{{D_U_R}} Days Until Renewal</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6350">
            <a:solidFill>
              <a:schemeClr val="accent1"/>
            </a:solidFill>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Unscanned Resources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{{U_RES}} Unscanned Resources</a:t>
            </a:r>
            <a:b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Organizations, Code Repositories &amp; Subscriptions</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6350">
            <a:solidFill>
              <a:schemeClr val="accent1"/>
            </a:solidFill>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Red Agent Scans</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DAST Attacker: {{RA_DAST}}</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Web Crawler: {{RA_WC}}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Secret Impact: {{RA_SI}}</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Total Monthly Scans: {{RA_TOTS}}</a:t>
            </a:r>
            <a:endParaRPr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System Health &amp; Scans Snapshot</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6350">
            <a:solidFill>
              <a:schemeClr val="accent1"/>
            </a:solidFill>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Critical SHIs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{{SHI_C}}</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{{SHI_H}}</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Resolved Critical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{{SHI_R_H}}</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Resolved SHIs in Past 30 Days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6350">
            <a:solidFill>
              <a:schemeClr val="accent1"/>
            </a:solidFill>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Non-OS, Registry &amp; VM Image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2" name="Google Shape;452;p51"/>
          <p:cNvSpPr txBox="1"/>
          <p:nvPr/>
        </p:nvSpPr>
        <p:spPr>
          <a:xfrm>
            <a:off x="3097638" y="3166433"/>
            <a:ext cx="27429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Non-OS Disk Scans: {{NON_T}}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3" name="Google Shape;453;p51"/>
          <p:cNvSpPr txBox="1"/>
          <p:nvPr/>
        </p:nvSpPr>
        <p:spPr>
          <a:xfrm>
            <a:off x="3116051" y="3365306"/>
            <a:ext cx="2715979" cy="176808"/>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{{NON_F}} / Skipped: {{NON_S}}</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54" name="Google Shape;454;p51"/>
          <p:cNvPicPr preferRelativeResize="0"/>
          <p:nvPr/>
        </p:nvPicPr>
        <p:blipFill rotWithShape="1">
          <a:blip r:embed="rId3">
            <a:alphaModFix/>
          </a:blip>
          <a:srcRect/>
          <a:stretch/>
        </p:blipFill>
        <p:spPr>
          <a:xfrm>
            <a:off x="6074877" y="933600"/>
            <a:ext cx="2941998" cy="1594700"/>
          </a:xfrm>
          <a:prstGeom prst="rect">
            <a:avLst/>
          </a:prstGeom>
          <a:noFill/>
          <a:ln w="6350">
            <a:solidFill>
              <a:schemeClr val="accent1"/>
            </a:solidFill>
          </a:ln>
        </p:spPr>
      </p:pic>
      <p:sp>
        <p:nvSpPr>
          <p:cNvPr id="455" name="Google Shape;455;p51"/>
          <p:cNvSpPr txBox="1"/>
          <p:nvPr/>
        </p:nvSpPr>
        <p:spPr>
          <a:xfrm>
            <a:off x="6074879" y="1016199"/>
            <a:ext cx="29397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(DSPM)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6" name="Google Shape;456;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57" name="Google Shape;457;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58" name="Google Shape;458;p51"/>
          <p:cNvSpPr txBox="1"/>
          <p:nvPr/>
        </p:nvSpPr>
        <p:spPr>
          <a:xfrm>
            <a:off x="6255252"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9">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9" name="Google Shape;459;p51"/>
          <p:cNvSpPr txBox="1"/>
          <p:nvPr/>
        </p:nvSpPr>
        <p:spPr>
          <a:xfrm>
            <a:off x="6254802"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0">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0" name="Google Shape;460;p51"/>
          <p:cNvSpPr txBox="1"/>
          <p:nvPr/>
        </p:nvSpPr>
        <p:spPr>
          <a:xfrm>
            <a:off x="6088076"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rPr>
              <a:t>Data Scan Coverage:</a:t>
            </a: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1" name="Google Shape;461;p51"/>
          <p:cNvSpPr txBox="1"/>
          <p:nvPr/>
        </p:nvSpPr>
        <p:spPr>
          <a:xfrm>
            <a:off x="6248593"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1">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62" name="Google Shape;462;p51"/>
          <p:cNvPicPr preferRelativeResize="0"/>
          <p:nvPr/>
        </p:nvPicPr>
        <p:blipFill rotWithShape="1">
          <a:blip r:embed="rId3">
            <a:alphaModFix/>
          </a:blip>
          <a:srcRect/>
          <a:stretch/>
        </p:blipFill>
        <p:spPr>
          <a:xfrm>
            <a:off x="6071616" y="2962656"/>
            <a:ext cx="2939187" cy="2033900"/>
          </a:xfrm>
          <a:prstGeom prst="rect">
            <a:avLst/>
          </a:prstGeom>
          <a:noFill/>
          <a:ln w="6350">
            <a:solidFill>
              <a:schemeClr val="accent1"/>
            </a:solidFill>
          </a:ln>
        </p:spPr>
      </p:pic>
      <p:sp>
        <p:nvSpPr>
          <p:cNvPr id="463" name="Google Shape;463;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Scans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64" name="Google Shape;464;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65" name="Google Shape;465;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2">
                  <a:extLst>
                    <a:ext uri="{A12FA001-AC4F-418D-AE19-62706E023703}">
                      <ahyp:hlinkClr xmlns:ahyp="http://schemas.microsoft.com/office/drawing/2018/hyperlinkcolor" val="tx"/>
                    </a:ext>
                  </a:extLst>
                </a:hlinkClick>
              </a:rPr>
              <a:t>Buckets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6" name="Google Shape;466;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PaaS Databases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7" name="Google Shape;467;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Virtual Drives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{{DS_VD}}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8" name="Google Shape;468;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5">
                  <a:extLst>
                    <a:ext uri="{A12FA001-AC4F-418D-AE19-62706E023703}">
                      <ahyp:hlinkClr xmlns:ahyp="http://schemas.microsoft.com/office/drawing/2018/hyperlinkcolor" val="tx"/>
                    </a:ext>
                  </a:extLst>
                </a:hlinkClick>
              </a:rPr>
              <a:t>Data Warehouses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{{DS_DW}}</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9" name="Google Shape;469;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6">
                  <a:extLst>
                    <a:ext uri="{A12FA001-AC4F-418D-AE19-62706E023703}">
                      <ahyp:hlinkClr xmlns:ahyp="http://schemas.microsoft.com/office/drawing/2018/hyperlinkcolor" val="tx"/>
                    </a:ext>
                  </a:extLst>
                </a:hlinkClick>
              </a:rPr>
              <a:t>AI Datastores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{{DS_AI}}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0" name="Google Shape;470;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7">
                  <a:extLst>
                    <a:ext uri="{A12FA001-AC4F-418D-AE19-62706E023703}">
                      <ahyp:hlinkClr xmlns:ahyp="http://schemas.microsoft.com/office/drawing/2018/hyperlinkcolor" val="tx"/>
                    </a:ext>
                  </a:extLst>
                </a:hlinkClick>
              </a:rPr>
              <a:t>File System Services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{{DS_FSS}}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71" name="Google Shape;471;p51"/>
          <p:cNvPicPr preferRelativeResize="0"/>
          <p:nvPr/>
        </p:nvPicPr>
        <p:blipFill rotWithShape="1">
          <a:blip r:embed="rId3">
            <a:alphaModFix/>
          </a:blip>
          <a:srcRect/>
          <a:stretch/>
        </p:blipFill>
        <p:spPr>
          <a:xfrm>
            <a:off x="3080275" y="933600"/>
            <a:ext cx="2789652" cy="1542625"/>
          </a:xfrm>
          <a:prstGeom prst="rect">
            <a:avLst/>
          </a:prstGeom>
          <a:noFill/>
          <a:ln w="6350">
            <a:solidFill>
              <a:schemeClr val="accent1"/>
            </a:solidFill>
          </a:ln>
        </p:spPr>
      </p:pic>
      <p:sp>
        <p:nvSpPr>
          <p:cNvPr id="472" name="Google Shape;472;p51"/>
          <p:cNvSpPr txBox="1"/>
          <p:nvPr/>
        </p:nvSpPr>
        <p:spPr>
          <a:xfrm>
            <a:off x="3080277" y="1001134"/>
            <a:ext cx="27822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Workload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73" name="Google Shape;473;p51"/>
          <p:cNvSpPr txBox="1"/>
          <p:nvPr/>
        </p:nvSpPr>
        <p:spPr>
          <a:xfrm>
            <a:off x="3158346" y="1578966"/>
            <a:ext cx="2540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74" name="Google Shape;474;p51"/>
          <p:cNvSpPr txBox="1"/>
          <p:nvPr/>
        </p:nvSpPr>
        <p:spPr>
          <a:xfrm>
            <a:off x="3226732" y="1361234"/>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5" name="Google Shape;475;p51"/>
          <p:cNvSpPr txBox="1"/>
          <p:nvPr/>
        </p:nvSpPr>
        <p:spPr>
          <a:xfrm>
            <a:off x="3226306" y="1591491"/>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9">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6" name="Google Shape;476;p51"/>
          <p:cNvSpPr txBox="1"/>
          <p:nvPr/>
        </p:nvSpPr>
        <p:spPr>
          <a:xfrm>
            <a:off x="3231506" y="2052005"/>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Scan Coverage</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{{WS_P}}</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7" name="Google Shape;477;p51"/>
          <p:cNvSpPr txBox="1"/>
          <p:nvPr/>
        </p:nvSpPr>
        <p:spPr>
          <a:xfrm>
            <a:off x="3231499" y="1821748"/>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0">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8" name="Google Shape;478;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479" name="Google Shape;479;p51"/>
          <p:cNvPicPr preferRelativeResize="0"/>
          <p:nvPr/>
        </p:nvPicPr>
        <p:blipFill rotWithShape="1">
          <a:blip r:embed="rId3">
            <a:alphaModFix/>
          </a:blip>
          <a:srcRect/>
          <a:stretch/>
        </p:blipFill>
        <p:spPr>
          <a:xfrm>
            <a:off x="119827" y="2962925"/>
            <a:ext cx="2755502" cy="2126475"/>
          </a:xfrm>
          <a:prstGeom prst="rect">
            <a:avLst/>
          </a:prstGeom>
          <a:noFill/>
          <a:ln w="6350">
            <a:solidFill>
              <a:schemeClr val="accent1"/>
            </a:solidFill>
          </a:ln>
        </p:spPr>
      </p:pic>
      <p:sp>
        <p:nvSpPr>
          <p:cNvPr id="480" name="Google Shape;480;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81" name="Google Shape;481;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1">
                  <a:extLst>
                    <a:ext uri="{A12FA001-AC4F-418D-AE19-62706E023703}">
                      <ahyp:hlinkClr xmlns:ahyp="http://schemas.microsoft.com/office/drawing/2018/hyperlinkcolor" val="tx"/>
                    </a:ext>
                  </a:extLst>
                </a:hlinkClick>
              </a:rPr>
              <a:t>Outposts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{{SHI_O}}</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2" name="Google Shape;482;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2">
                  <a:extLst>
                    <a:ext uri="{A12FA001-AC4F-418D-AE19-62706E023703}">
                      <ahyp:hlinkClr xmlns:ahyp="http://schemas.microsoft.com/office/drawing/2018/hyperlinkcolor" val="tx"/>
                    </a:ext>
                  </a:extLst>
                </a:hlinkClick>
              </a:rPr>
              <a:t>Registry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{{SHI_RC}}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3" name="Google Shape;483;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3">
                  <a:extLst>
                    <a:ext uri="{A12FA001-AC4F-418D-AE19-62706E023703}">
                      <ahyp:hlinkClr xmlns:ahyp="http://schemas.microsoft.com/office/drawing/2018/hyperlinkcolor" val="tx"/>
                    </a:ext>
                  </a:extLst>
                </a:hlinkClick>
              </a:rPr>
              <a:t>Integrations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4" name="Google Shape;484;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4">
                  <a:extLst>
                    <a:ext uri="{A12FA001-AC4F-418D-AE19-62706E023703}">
                      <ahyp:hlinkClr xmlns:ahyp="http://schemas.microsoft.com/office/drawing/2018/hyperlinkcolor" val="tx"/>
                    </a:ext>
                  </a:extLst>
                </a:hlinkClick>
              </a:rPr>
              <a:t>K8S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{{SHI_KC}}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5" name="Google Shape;485;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5">
                  <a:extLst>
                    <a:ext uri="{A12FA001-AC4F-418D-AE19-62706E023703}">
                      <ahyp:hlinkClr xmlns:ahyp="http://schemas.microsoft.com/office/drawing/2018/hyperlinkcolor" val="tx"/>
                    </a:ext>
                  </a:extLst>
                </a:hlinkClick>
              </a:rPr>
              <a:t>VCS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{{SHI_VCS}}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6" name="Google Shape;486;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6">
                  <a:extLst>
                    <a:ext uri="{A12FA001-AC4F-418D-AE19-62706E023703}">
                      <ahyp:hlinkClr xmlns:ahyp="http://schemas.microsoft.com/office/drawing/2018/hyperlinkcolor" val="tx"/>
                    </a:ext>
                  </a:extLst>
                </a:hlinkClick>
              </a:rPr>
              <a:t>Brokers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7" name="Google Shape;487;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7">
                  <a:extLst>
                    <a:ext uri="{A12FA001-AC4F-418D-AE19-62706E023703}">
                      <ahyp:hlinkClr xmlns:ahyp="http://schemas.microsoft.com/office/drawing/2018/hyperlinkcolor" val="tx"/>
                    </a:ext>
                  </a:extLst>
                </a:hlinkClick>
              </a:rPr>
              <a:t>Cloud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{{SHI_CC}}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8" name="Google Shape;488;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489" name="Google Shape;489;p51"/>
          <p:cNvSpPr txBox="1"/>
          <p:nvPr/>
        </p:nvSpPr>
        <p:spPr>
          <a:xfrm>
            <a:off x="3125493" y="3816773"/>
            <a:ext cx="2684101" cy="19249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Container Image Scans: {{RCI_T}}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{{RCI_F}} / Skipped: {{RCI_S}}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1" name="Google Shape;491;p51"/>
          <p:cNvSpPr txBox="1"/>
          <p:nvPr/>
        </p:nvSpPr>
        <p:spPr>
          <a:xfrm>
            <a:off x="3115085" y="4449820"/>
            <a:ext cx="2715979" cy="20161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VM Image Scans: {{VMI_T}}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{{VMI_F}} / Skipped: {{VMI_S}}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3" name="Google Shape;493;p51"/>
          <p:cNvSpPr txBox="1"/>
          <p:nvPr/>
        </p:nvSpPr>
        <p:spPr>
          <a:xfrm>
            <a:off x="3121555" y="3532304"/>
            <a:ext cx="2701695" cy="207299"/>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Non-OS Disk Scan Coverage: {{NON_C}}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4" name="Google Shape;494;p51"/>
          <p:cNvSpPr txBox="1"/>
          <p:nvPr/>
        </p:nvSpPr>
        <p:spPr>
          <a:xfrm>
            <a:off x="3116240" y="4171296"/>
            <a:ext cx="2715978" cy="201611"/>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Container Image Scan Coverage: {{RCI_C}}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VM Image Scan Coverage: {{VMI_C}}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Democratization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Users &amp; Engagement</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3">
                  <a:extLst>
                    <a:ext uri="{A12FA001-AC4F-418D-AE19-62706E023703}">
                      <ahyp:hlinkClr xmlns:ahyp="http://schemas.microsoft.com/office/drawing/2018/hyperlinkcolor" val="tx"/>
                    </a:ext>
                  </a:extLst>
                </a:hlinkClick>
              </a:rPr>
              <a:t>Total Users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{{U_TOT}}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4">
                  <a:extLst>
                    <a:ext uri="{A12FA001-AC4F-418D-AE19-62706E023703}">
                      <ahyp:hlinkClr xmlns:ahyp="http://schemas.microsoft.com/office/drawing/2018/hyperlinkcolor" val="tx"/>
                    </a:ext>
                  </a:extLst>
                </a:hlinkClick>
              </a:rPr>
              <a:t>Active (Last 30 Days)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{{U_ACT}}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rPr>
              <a:t>Engagement Rate</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{{U_ENG}}</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1" name="Google Shape;511;p52"/>
          <p:cNvSpPr txBox="1"/>
          <p:nvPr/>
        </p:nvSpPr>
        <p:spPr>
          <a:xfrm>
            <a:off x="2828728" y="1492318"/>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{{IA_2}}</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2" name="Google Shape;512;p52"/>
          <p:cNvSpPr txBox="1"/>
          <p:nvPr/>
        </p:nvSpPr>
        <p:spPr>
          <a:xfrm>
            <a:off x="2828728" y="166764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{{IA_3}}</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3" name="Google Shape;513;p52"/>
          <p:cNvSpPr txBox="1"/>
          <p:nvPr/>
        </p:nvSpPr>
        <p:spPr>
          <a:xfrm>
            <a:off x="2828726" y="1839906"/>
            <a:ext cx="2338694" cy="192051"/>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{{IA_4}}</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4" name="Google Shape;514;p52"/>
          <p:cNvSpPr txBox="1"/>
          <p:nvPr/>
        </p:nvSpPr>
        <p:spPr>
          <a:xfrm>
            <a:off x="2828728" y="2018325"/>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{{IA_5}}</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5" name="Google Shape;515;p52"/>
          <p:cNvSpPr txBox="1"/>
          <p:nvPr/>
        </p:nvSpPr>
        <p:spPr>
          <a:xfrm>
            <a:off x="2828728" y="2193660"/>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{{IA_6}}</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6" name="Google Shape;516;p52"/>
          <p:cNvSpPr txBox="1"/>
          <p:nvPr/>
        </p:nvSpPr>
        <p:spPr>
          <a:xfrm>
            <a:off x="2828728" y="2368996"/>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{{IA_7}}</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7" name="Google Shape;517;p52"/>
          <p:cNvSpPr txBox="1"/>
          <p:nvPr/>
        </p:nvSpPr>
        <p:spPr>
          <a:xfrm>
            <a:off x="2828728" y="254433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{{IA_8}}</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8" name="Google Shape;518;p52"/>
          <p:cNvSpPr txBox="1"/>
          <p:nvPr/>
        </p:nvSpPr>
        <p:spPr>
          <a:xfrm>
            <a:off x="2828728" y="2719667"/>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{{IA_9}}</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9" name="Google Shape;519;p52"/>
          <p:cNvSpPr txBox="1"/>
          <p:nvPr/>
        </p:nvSpPr>
        <p:spPr>
          <a:xfrm>
            <a:off x="2823192" y="2895003"/>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{{IA_10}}</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0" name="Google Shape;520;p52"/>
          <p:cNvSpPr txBox="1"/>
          <p:nvPr/>
        </p:nvSpPr>
        <p:spPr>
          <a:xfrm>
            <a:off x="2828726" y="1314586"/>
            <a:ext cx="2338694" cy="17504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{{IR_2}}</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{{IR_3}}</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{{IR_4}}</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{{IR_5}}</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{{IR_6}}</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{{IR_7}}</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{{IR_8}}</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{{IR_9}}</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{{IR_10}}</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Active Integrations</a:t>
            </a:r>
            <a:r>
              <a:rPr lang="en"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6">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spcBef>
                <a:spcPts val="0"/>
              </a:spcBef>
              <a:spcAft>
                <a:spcPts val="0"/>
              </a:spcAft>
              <a:buClr>
                <a:srgbClr val="000000"/>
              </a:buClr>
              <a:buSzPts val="1136"/>
              <a:buFont typeface="Arial"/>
              <a:buNone/>
            </a:pPr>
            <a:r>
              <a:rPr lang="en"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Integration                                               Last Seen</a:t>
            </a:r>
            <a:endParaRPr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HBI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(High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{{P_HBI}}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8"/>
              </a:rPr>
              <a:t>MBI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(Medium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{{P_MBI}}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Projects</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Parent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9"/>
              </a:rPr>
              <a:t>LBI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(Low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{{P_LBI}}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Child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{{PC_TOT}}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Features / Functionality Usage</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46" name="Google Shape;546;p52"/>
          <p:cNvSpPr/>
          <p:nvPr/>
        </p:nvSpPr>
        <p:spPr>
          <a:xfrm>
            <a:off x="6163222" y="1119161"/>
            <a:ext cx="2835527" cy="2041333"/>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7" name="Google Shape;547;p52"/>
          <p:cNvSpPr txBox="1"/>
          <p:nvPr/>
        </p:nvSpPr>
        <p:spPr>
          <a:xfrm>
            <a:off x="6322754" y="113465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0">
                  <a:extLst>
                    <a:ext uri="{A12FA001-AC4F-418D-AE19-62706E023703}">
                      <ahyp:hlinkClr xmlns:ahyp="http://schemas.microsoft.com/office/drawing/2018/hyperlinkcolor" val="tx"/>
                    </a:ext>
                  </a:extLst>
                </a:hlinkClick>
              </a:rPr>
              <a:t>Custom Compliance Frameworks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8" name="Google Shape;548;p52"/>
          <p:cNvSpPr txBox="1"/>
          <p:nvPr/>
        </p:nvSpPr>
        <p:spPr>
          <a:xfrm>
            <a:off x="7250324" y="113312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{{F_FW}}</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9" name="Google Shape;549;p52"/>
          <p:cNvSpPr txBox="1"/>
          <p:nvPr/>
        </p:nvSpPr>
        <p:spPr>
          <a:xfrm>
            <a:off x="6322754" y="133418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1">
                  <a:extLst>
                    <a:ext uri="{A12FA001-AC4F-418D-AE19-62706E023703}">
                      <ahyp:hlinkClr xmlns:ahyp="http://schemas.microsoft.com/office/drawing/2018/hyperlinkcolor" val="tx"/>
                    </a:ext>
                  </a:extLst>
                </a:hlinkClick>
              </a:rPr>
              <a:t>Resource Tag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0" name="Google Shape;550;p52"/>
          <p:cNvSpPr txBox="1"/>
          <p:nvPr/>
        </p:nvSpPr>
        <p:spPr>
          <a:xfrm>
            <a:off x="7250324" y="133265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1" name="Google Shape;551;p52"/>
          <p:cNvSpPr txBox="1"/>
          <p:nvPr/>
        </p:nvSpPr>
        <p:spPr>
          <a:xfrm>
            <a:off x="6322754" y="153370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2">
                  <a:extLst>
                    <a:ext uri="{A12FA001-AC4F-418D-AE19-62706E023703}">
                      <ahyp:hlinkClr xmlns:ahyp="http://schemas.microsoft.com/office/drawing/2018/hyperlinkcolor" val="tx"/>
                    </a:ext>
                  </a:extLst>
                </a:hlinkClick>
              </a:rPr>
              <a:t>Service Catalog Discovery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2" name="Google Shape;552;p52"/>
          <p:cNvSpPr txBox="1"/>
          <p:nvPr/>
        </p:nvSpPr>
        <p:spPr>
          <a:xfrm>
            <a:off x="7250324" y="153218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{{F_DR}}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3" name="Google Shape;553;p52"/>
          <p:cNvSpPr txBox="1"/>
          <p:nvPr/>
        </p:nvSpPr>
        <p:spPr>
          <a:xfrm>
            <a:off x="6322754" y="172649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3">
                  <a:extLst>
                    <a:ext uri="{A12FA001-AC4F-418D-AE19-62706E023703}">
                      <ahyp:hlinkClr xmlns:ahyp="http://schemas.microsoft.com/office/drawing/2018/hyperlinkcolor" val="tx"/>
                    </a:ext>
                  </a:extLst>
                </a:hlinkClick>
              </a:rPr>
              <a:t>Inventory Management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4" name="Google Shape;554;p52"/>
          <p:cNvSpPr txBox="1"/>
          <p:nvPr/>
        </p:nvSpPr>
        <p:spPr>
          <a:xfrm>
            <a:off x="7250324" y="172496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{{F_IR}}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5" name="Google Shape;555;p52"/>
          <p:cNvSpPr txBox="1"/>
          <p:nvPr/>
        </p:nvSpPr>
        <p:spPr>
          <a:xfrm>
            <a:off x="6322754" y="192602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4">
                  <a:extLst>
                    <a:ext uri="{A12FA001-AC4F-418D-AE19-62706E023703}">
                      <ahyp:hlinkClr xmlns:ahyp="http://schemas.microsoft.com/office/drawing/2018/hyperlinkcolor" val="tx"/>
                    </a:ext>
                  </a:extLst>
                </a:hlinkClick>
              </a:rPr>
              <a:t>User Created Posture Policies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6" name="Google Shape;556;p52"/>
          <p:cNvSpPr txBox="1"/>
          <p:nvPr/>
        </p:nvSpPr>
        <p:spPr>
          <a:xfrm>
            <a:off x="7250324" y="192449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{{F_PP}}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7" name="Google Shape;557;p52"/>
          <p:cNvSpPr txBox="1"/>
          <p:nvPr/>
        </p:nvSpPr>
        <p:spPr>
          <a:xfrm>
            <a:off x="6322754" y="212555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5">
                  <a:extLst>
                    <a:ext uri="{A12FA001-AC4F-418D-AE19-62706E023703}">
                      <ahyp:hlinkClr xmlns:ahyp="http://schemas.microsoft.com/office/drawing/2018/hyperlinkcolor" val="tx"/>
                    </a:ext>
                  </a:extLst>
                </a:hlinkClick>
              </a:rPr>
              <a:t>User Created Monitored Metrics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8" name="Google Shape;558;p52"/>
          <p:cNvSpPr txBox="1"/>
          <p:nvPr/>
        </p:nvSpPr>
        <p:spPr>
          <a:xfrm>
            <a:off x="7250324" y="2124024"/>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{{F_MM}}</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9" name="Google Shape;559;p52"/>
          <p:cNvSpPr txBox="1"/>
          <p:nvPr/>
        </p:nvSpPr>
        <p:spPr>
          <a:xfrm>
            <a:off x="6315488" y="232208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6">
                  <a:extLst>
                    <a:ext uri="{A12FA001-AC4F-418D-AE19-62706E023703}">
                      <ahyp:hlinkClr xmlns:ahyp="http://schemas.microsoft.com/office/drawing/2018/hyperlinkcolor" val="tx"/>
                    </a:ext>
                  </a:extLst>
                </a:hlinkClick>
              </a:rPr>
              <a:t>Champion Center Owners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0" name="Google Shape;560;p52"/>
          <p:cNvSpPr txBox="1"/>
          <p:nvPr/>
        </p:nvSpPr>
        <p:spPr>
          <a:xfrm>
            <a:off x="7243057" y="230914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{{CC_TOT}}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1" name="Google Shape;561;p52"/>
          <p:cNvSpPr txBox="1"/>
          <p:nvPr/>
        </p:nvSpPr>
        <p:spPr>
          <a:xfrm>
            <a:off x="6319629" y="250869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7">
                  <a:extLst>
                    <a:ext uri="{A12FA001-AC4F-418D-AE19-62706E023703}">
                      <ahyp:hlinkClr xmlns:ahyp="http://schemas.microsoft.com/office/drawing/2018/hyperlinkcolor" val="tx"/>
                    </a:ext>
                  </a:extLst>
                </a:hlinkClick>
              </a:rPr>
              <a:t>Using Wiz Browser Extension</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2" name="Google Shape;562;p52"/>
          <p:cNvSpPr txBox="1"/>
          <p:nvPr/>
        </p:nvSpPr>
        <p:spPr>
          <a:xfrm>
            <a:off x="7247197" y="249576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{{F_BE}}</a:t>
            </a:r>
            <a:endParaRPr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8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7" name="Google Shape;567;p52"/>
          <p:cNvSpPr/>
          <p:nvPr/>
        </p:nvSpPr>
        <p:spPr>
          <a:xfrm>
            <a:off x="1837294" y="4876841"/>
            <a:ext cx="1093200" cy="176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631"/>
              <a:buFont typeface="DM Sans"/>
              <a:buNone/>
            </a:pP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triage high-fidelity threats</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issues before they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73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8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5" name="Google Shape;575;p52"/>
          <p:cNvSpPr/>
          <p:nvPr/>
        </p:nvSpPr>
        <p:spPr>
          <a:xfrm>
            <a:off x="4304342" y="4885978"/>
            <a:ext cx="1093200" cy="176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631"/>
              <a:buFont typeface="DM Sans"/>
              <a:buNone/>
            </a:pP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8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631"/>
              <a:buFont typeface="DM Sans"/>
              <a:buNone/>
            </a:pP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8" name="Google Shape;578;p52"/>
          <p:cNvSpPr/>
          <p:nvPr/>
        </p:nvSpPr>
        <p:spPr>
          <a:xfrm>
            <a:off x="6241955"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79" name="Google Shape;579;p52"/>
          <p:cNvSpPr txBox="1"/>
          <p:nvPr/>
        </p:nvSpPr>
        <p:spPr>
          <a:xfrm>
            <a:off x="6286917"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1">
                  <a:extLst>
                    <a:ext uri="{A12FA001-AC4F-418D-AE19-62706E023703}">
                      <ahyp:hlinkClr xmlns:ahyp="http://schemas.microsoft.com/office/drawing/2018/hyperlinkcolor" val="tx"/>
                    </a:ext>
                  </a:extLst>
                </a:hlinkClick>
              </a:rPr>
              <a:t>Automation Workflows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0" name="Google Shape;580;p52"/>
          <p:cNvSpPr txBox="1"/>
          <p:nvPr/>
        </p:nvSpPr>
        <p:spPr>
          <a:xfrm>
            <a:off x="7177159"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{{F_WF}}</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1" name="Google Shape;581;p52"/>
          <p:cNvSpPr txBox="1"/>
          <p:nvPr/>
        </p:nvSpPr>
        <p:spPr>
          <a:xfrm>
            <a:off x="6286917"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2">
                  <a:extLst>
                    <a:ext uri="{A12FA001-AC4F-418D-AE19-62706E023703}">
                      <ahyp:hlinkClr xmlns:ahyp="http://schemas.microsoft.com/office/drawing/2018/hyperlinkcolor" val="tx"/>
                    </a:ext>
                  </a:extLst>
                </a:hlinkClick>
              </a:rPr>
              <a:t>Automation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2" name="Google Shape;582;p52"/>
          <p:cNvSpPr txBox="1"/>
          <p:nvPr/>
        </p:nvSpPr>
        <p:spPr>
          <a:xfrm>
            <a:off x="7177159"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{{F_AR}}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3" name="Google Shape;583;p52"/>
          <p:cNvSpPr txBox="1"/>
          <p:nvPr/>
        </p:nvSpPr>
        <p:spPr>
          <a:xfrm>
            <a:off x="6326261" y="270274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3">
                  <a:extLst>
                    <a:ext uri="{A12FA001-AC4F-418D-AE19-62706E023703}">
                      <ahyp:hlinkClr xmlns:ahyp="http://schemas.microsoft.com/office/drawing/2018/hyperlinkcolor" val="tx"/>
                    </a:ext>
                  </a:extLst>
                </a:hlinkClick>
              </a:rPr>
              <a:t>Wiz MCP Users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4" name="Google Shape;584;p52"/>
          <p:cNvSpPr txBox="1"/>
          <p:nvPr/>
        </p:nvSpPr>
        <p:spPr>
          <a:xfrm>
            <a:off x="7253830" y="268981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{{F_WMCP}}</a:t>
            </a:r>
            <a:endParaRPr sz="9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6350">
            <a:solidFill>
              <a:schemeClr val="accent1"/>
            </a:solidFill>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Advanced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{{BILLABLE_ADVANCED}}</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Sensor / Defend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{{BILLABLE_SENSOR}}</a:t>
            </a:r>
            <a:b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{{BILLABLE_DEFEND}}</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Wiz Code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{{BILLABLE_CODE}}</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6350">
            <a:solidFill>
              <a:schemeClr val="accent1"/>
            </a:solidFill>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{{ALL_NON_BILLABLE_PREVIEW}}</a:t>
            </a:r>
            <a:br>
              <a:rPr lang="en"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endParaRPr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6350">
            <a:solidFill>
              <a:schemeClr val="accent1"/>
            </a:solidFill>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6350">
            <a:solidFill>
              <a:schemeClr val="accent1"/>
            </a:solidFill>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{{PRIVATE_NON_BILLABLE}}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**Private Features are typically only available upon request and approval</a:t>
            </a:r>
            <a:endParaRPr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6350">
            <a:solidFill>
              <a:schemeClr val="accent1"/>
            </a:solidFill>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Roadmap Tracker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7" name="Google Shape;617;p55"/>
          <p:cNvSpPr txBox="1"/>
          <p:nvPr/>
        </p:nvSpPr>
        <p:spPr>
          <a:xfrm>
            <a:off x="406975" y="1231821"/>
            <a:ext cx="8306406" cy="375600"/>
          </a:xfrm>
          <a:prstGeom prst="rect">
            <a:avLst/>
          </a:prstGeom>
          <a:noFill/>
          <a:ln w="6350">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Tracked Roadmap Items</a:t>
            </a:r>
            <a:r>
              <a:rPr lang="en" sz="18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8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rPr>
              <a:t>{{ROADMAP_TRACKER}}</a:t>
            </a:r>
            <a:endParaRPr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Reducing Critical Risk and Beyond</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638" name="Google Shape;638;p57"/>
          <p:cNvCxnSpPr>
            <a:cxnSpLocks/>
          </p:cNvCxnSpPr>
          <p:nvPr/>
        </p:nvCxnSpPr>
        <p:spPr>
          <a:xfrm flipV="1">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a:cxnSpLocks/>
          </p:cNvCxnSpPr>
          <p:nvPr/>
        </p:nvCxnSpPr>
        <p:spPr>
          <a:xfrm flipV="1">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a:cxnSpLocks/>
          </p:cNvCxnSpPr>
          <p:nvPr/>
        </p:nvCxnSpPr>
        <p:spPr>
          <a:xfrm flipV="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Security</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BACKLOG PREVENTION - DEVELOP SECURELY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code-to-cloud guardrails to prevent issues from ever being deployed with Wiz Code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Give devs cloud context directly in IDEs and code for secure by design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POSTURE HARDENING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Address non-urgent findings impacting overall security posture, including Posture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Manage exposures in the environment with Wiz XM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Consolidate remediation for greater impact in a shorter      time frame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REDUCE CRITICAL RISK</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immediately  exploitable attack paths   (validate with Wiz ASM)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Achieve Zero Critical Risk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external findings (UVM) with Wiz context</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GAIN VISIBILITY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100% code-to-cloud visibility into any repo, pipeline, or cloud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Centralize visibility across on-prem, hybrid, cloud, code with UVM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653" name="Google Shape;653;p57"/>
          <p:cNvCxnSpPr>
            <a:cxnSpLocks/>
          </p:cNvCxnSpPr>
          <p:nvPr/>
        </p:nvCxnSpPr>
        <p:spPr>
          <a:xfrm flipV="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Harden the SDLC while maintaining “Zero Criticals” and SLA compliance requirements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Achieve “Zero Critical” Risk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Meet all SLAs for Posture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Posture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6350">
            <a:solidFill>
              <a:schemeClr val="accent1"/>
            </a:solidFill>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Current Security Score</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90 Day Trend {{s1d}}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{{SS}}%</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6350">
            <a:solidFill>
              <a:schemeClr val="accent1"/>
            </a:solidFill>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Benchmark</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Security Score Gap {{SG}}%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{{SP}}%</a:t>
            </a:r>
            <a:endParaRPr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6350">
            <a:solidFill>
              <a:schemeClr val="accent1"/>
            </a:solidFill>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Open Critical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Resolved Criticals </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t>
            </a: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{{RC}}</a:t>
            </a:r>
            <a:endParaRPr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{{OC}}</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6350">
            <a:solidFill>
              <a:schemeClr val="accent1"/>
            </a:solidFill>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Open High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Highs</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1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{{RH}}</a:t>
            </a:r>
            <a:endParaRPr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{{OH}}</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6350">
            <a:solidFill>
              <a:schemeClr val="accent1"/>
            </a:solidFill>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Ignored Issues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Total Ignored Issues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{{RJ}}</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6350">
            <a:solidFill>
              <a:schemeClr val="accent1"/>
            </a:solidFill>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AI Findings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7" name="Google Shape;697;p58"/>
          <p:cNvSpPr txBox="1"/>
          <p:nvPr/>
        </p:nvSpPr>
        <p:spPr>
          <a:xfrm>
            <a:off x="2583825" y="2603552"/>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Security Findings: {{AI_SF}}</a:t>
            </a:r>
            <a:b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Configuration Findings: {{AI_MF}}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AI Inventory Findings: {{AI_IF}}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6350">
            <a:solidFill>
              <a:schemeClr val="accent1"/>
            </a:solidFill>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Threats MTTR </a:t>
            </a:r>
            <a:r>
              <a:rPr lang="en" sz="13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{{MTTR_O}}</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6350">
            <a:solidFill>
              <a:schemeClr val="accent1"/>
            </a:solidFill>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Open Threats</a:t>
            </a:r>
            <a:r>
              <a:rPr lang="en"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{{OT}}</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Resolved Threats: {{RT}}</a:t>
            </a:r>
            <a:b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Past 90 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{{SS_I}}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6350">
            <a:solidFill>
              <a:schemeClr val="accent1"/>
            </a:solidFill>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{{AVG_AGEC}}</a:t>
            </a:r>
            <a: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b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{{AVG_AGEH}} </a:t>
            </a:r>
            <a:br>
              <a:rPr lang="en" sz="1212"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24"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Risk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6350">
            <a:solidFill>
              <a:schemeClr val="accent1"/>
            </a:solidFill>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External Exposure</a:t>
            </a:r>
            <a:endParaRPr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HTTP Application Endpoints  {{AE_HTTP}}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Non-HTTP Application Endpoints  {{AE_NHTTP}}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2" name="Google Shape;722;p59"/>
          <p:cNvSpPr txBox="1"/>
          <p:nvPr/>
        </p:nvSpPr>
        <p:spPr>
          <a:xfrm>
            <a:off x="3083442" y="1130944"/>
            <a:ext cx="2183325"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Estimated # of Additional Workloads to Scan via Advanced ASM</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3" name="Google Shape;723;p59"/>
          <p:cNvSpPr txBox="1"/>
          <p:nvPr/>
        </p:nvSpPr>
        <p:spPr>
          <a:xfrm>
            <a:off x="5446564" y="1141854"/>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r>
              <a:rPr lang="en" sz="13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{{AE_TOT}} Workloads</a:t>
            </a:r>
            <a:endParaRPr sz="14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23544" cy="950976"/>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4424" y="4118017"/>
            <a:ext cx="923544" cy="950976"/>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4424"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492"/>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triage high-fidelity threats</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issues before they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631"/>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1741"/>
              </a:buClr>
              <a:buSzPts val="508"/>
              <a:buFont typeface="DM Sans"/>
              <a:buNone/>
            </a:pP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6350">
            <a:solidFill>
              <a:schemeClr val="accent1"/>
            </a:solidFill>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Top 3 Wiz Critical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{{CI_CONTROL_1}}</a:t>
            </a:r>
            <a:endParaRPr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{{CI_CONTROL_2}}</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{{CI_CONTROL_3}}</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6350">
            <a:solidFill>
              <a:schemeClr val="accent1"/>
            </a:solidFill>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Top 3 Wiz High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7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{{HI_CONTROL_1}}</a:t>
            </a:r>
            <a:endParaRPr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{{HI_CONTROL_2}}</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{{HI_CONTROL_3}}</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Develop Securely</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Secure Development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Kubernetes Clusters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a:t>
            </a: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{{K8C_1}}</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{{K8C_2}}</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{{K8C_3}}</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{{K8C_4}}</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{{K8C_5}}</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{{K8C_TOT}}</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Wiz Connector Deployed</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{{KC_WC}}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Admission Controller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{{KC_AC}}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(Workload/K8s)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Store (Registry Scans)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Runtime (Sensor)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Code (Wiz Code)</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Build (Wiz CLI + Tagged Images)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Deploy (Admission Controller)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Images {{TI}}</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Kubernetes Coverage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Gaps &amp; Exposure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Container Images Lifecycle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Registries  {{R_TOT}}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Container Registries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visibility into </a:t>
            </a:r>
            <a: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all </a:t>
            </a:r>
            <a:b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of your Registries?</a:t>
            </a:r>
            <a:b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jFrog, Sonatype Nexus, etc. </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Other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{{K8C_OTH}}</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Audit Logs Onboarded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Sensor Active (Runtime)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{{KC_SE}}</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{{KC_CLI}}</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Internet-Accessible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{{KG_IA}}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No Wiz Connector Deployed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No K8S Audit Logs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3">
                  <a:extLst>
                    <a:ext uri="{A12FA001-AC4F-418D-AE19-62706E023703}">
                      <ahyp:hlinkClr xmlns:ahyp="http://schemas.microsoft.com/office/drawing/2018/hyperlinkcolor" val="tx"/>
                    </a:ext>
                  </a:extLst>
                </a:hlinkClick>
              </a:rPr>
              <a:t>No Runtime Sensor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{{KG_NS}}</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a:t>
            </a:r>
            <a:r>
              <a:rPr lang="en" sz="11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full</a:t>
            </a: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 visibility?</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6350">
            <a:solidFill>
              <a:schemeClr val="accent1"/>
            </a:solidFill>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100000"/>
              </a:lnSpc>
              <a:spcBef>
                <a:spcPts val="0"/>
              </a:spcBef>
              <a:spcAft>
                <a:spcPts val="0"/>
              </a:spcAft>
              <a:buClr>
                <a:srgbClr val="1F2937"/>
              </a:buClr>
              <a:buSzPts val="800"/>
              <a:buFont typeface="JetBrains Mono"/>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Are you tagging your Images? Correlate the Docker image to the CI phase, gain further insights, and potentially improve your CI/CD pipeline conduct</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2" name="Google Shape;832;p61"/>
          <p:cNvSpPr txBox="1"/>
          <p:nvPr/>
        </p:nvSpPr>
        <p:spPr>
          <a:xfrm>
            <a:off x="5372947"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3" name="Google Shape;833;p61"/>
          <p:cNvSpPr txBox="1"/>
          <p:nvPr/>
        </p:nvSpPr>
        <p:spPr>
          <a:xfrm>
            <a:off x="5845145"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4" name="Google Shape;834;p61"/>
          <p:cNvSpPr txBox="1"/>
          <p:nvPr/>
        </p:nvSpPr>
        <p:spPr>
          <a:xfrm>
            <a:off x="4900748"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5" name="Google Shape;835;p61"/>
          <p:cNvSpPr txBox="1"/>
          <p:nvPr/>
        </p:nvSpPr>
        <p:spPr>
          <a:xfrm>
            <a:off x="3956352"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6" name="Google Shape;836;p61"/>
          <p:cNvSpPr txBox="1"/>
          <p:nvPr/>
        </p:nvSpPr>
        <p:spPr>
          <a:xfrm>
            <a:off x="4428550"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7" name="Google Shape;837;p61"/>
          <p:cNvSpPr txBox="1"/>
          <p:nvPr/>
        </p:nvSpPr>
        <p:spPr>
          <a:xfrm>
            <a:off x="3484154"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{{R_CON}}</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{{R_AUT}}</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5">
                  <a:extLst>
                    <a:ext uri="{A12FA001-AC4F-418D-AE19-62706E023703}">
                      <ahyp:hlinkClr xmlns:ahyp="http://schemas.microsoft.com/office/drawing/2018/hyperlinkcolor" val="tx"/>
                    </a:ext>
                  </a:extLst>
                </a:hlinkClick>
              </a:rPr>
              <a:t>Connector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Global</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7">
                  <a:extLst>
                    <a:ext uri="{A12FA001-AC4F-418D-AE19-62706E023703}">
                      <ahyp:hlinkClr xmlns:ahyp="http://schemas.microsoft.com/office/drawing/2018/hyperlinkcolor" val="tx"/>
                    </a:ext>
                  </a:extLst>
                </a:hlinkClick>
              </a:rPr>
              <a:t>Custom</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{{R_CUS}}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Scanning Config Type</a:t>
            </a:r>
            <a:endParaRPr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Best Practice Review</a:t>
            </a:r>
            <a:endParaRPr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3" name="Google Shape;923;p63"/>
          <p:cNvSpPr/>
          <p:nvPr/>
        </p:nvSpPr>
        <p:spPr>
          <a:xfrm>
            <a:off x="243488" y="868680"/>
            <a:ext cx="9334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8" name="Google Shape;958;p63"/>
          <p:cNvSpPr/>
          <p:nvPr/>
        </p:nvSpPr>
        <p:spPr>
          <a:xfrm>
            <a:off x="4678332" y="868680"/>
            <a:ext cx="9144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Action Button: Blank 1">
            <a:hlinkClick r:id="" action="ppaction://noaction" highlightClick="1"/>
            <a:extLst>
              <a:ext uri="{FF2B5EF4-FFF2-40B4-BE49-F238E27FC236}">
                <a16:creationId xmlns:a16="http://schemas.microsoft.com/office/drawing/2014/main" id="{6C06A3FF-E719-7CF8-6291-0B366A4C368F}"/>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ction Button: Blank 2">
            <a:hlinkClick r:id="" action="ppaction://noaction" highlightClick="1"/>
            <a:extLst>
              <a:ext uri="{FF2B5EF4-FFF2-40B4-BE49-F238E27FC236}">
                <a16:creationId xmlns:a16="http://schemas.microsoft.com/office/drawing/2014/main" id="{6F777D06-035B-F269-218F-876EFD7D8F9A}"/>
              </a:ext>
            </a:extLst>
          </p:cNvPr>
          <p:cNvSpPr/>
          <p:nvPr/>
        </p:nvSpPr>
        <p:spPr>
          <a:xfrm>
            <a:off x="4676033" y="867086"/>
            <a:ext cx="4224479" cy="4194012"/>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3"/>
        <p:cNvGrpSpPr/>
        <p:nvPr/>
      </p:nvGrpSpPr>
      <p:grpSpPr>
        <a:xfrm>
          <a:off x="0" y="0"/>
          <a:ext cx="0" cy="0"/>
          <a:chOff x="0" y="0"/>
          <a:chExt cx="0" cy="0"/>
        </a:xfrm>
      </p:grpSpPr>
      <p:pic>
        <p:nvPicPr>
          <p:cNvPr id="1014" name="Google Shape;1014;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5" name="Google Shape;1015;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6" name="Google Shape;1016;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7" name="Google Shape;1017;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8" name="Google Shape;1018;p64"/>
          <p:cNvSpPr/>
          <p:nvPr/>
        </p:nvSpPr>
        <p:spPr>
          <a:xfrm>
            <a:off x="239233" y="868680"/>
            <a:ext cx="4224479"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9" name="Google Shape;1019;p64"/>
          <p:cNvSpPr/>
          <p:nvPr/>
        </p:nvSpPr>
        <p:spPr>
          <a:xfrm>
            <a:off x="243492" y="868680"/>
            <a:ext cx="93336"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0" name="Google Shape;1020;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2" name="Google Shape;1022;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26" name="Google Shape;1026;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7" name="Google Shape;1027;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8" name="Google Shape;1028;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0" name="Google Shape;1030;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1" name="Google Shape;1031;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2" name="Google Shape;1032;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4" name="Google Shape;1034;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5" name="Google Shape;1035;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6" name="Google Shape;1036;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8" name="Google Shape;1038;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39" name="Google Shape;1039;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0" name="Google Shape;1040;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2" name="Google Shape;1042;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3" name="Google Shape;1043;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4" name="Google Shape;1044;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6" name="Google Shape;1046;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7" name="Google Shape;1047;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8" name="Google Shape;1048;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1" name="Google Shape;1051;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2" name="Google Shape;1052;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3" name="Google Shape;1053;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6" name="Google Shape;1056;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7" name="Google Shape;1057;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8" name="Google Shape;1058;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1" name="Google Shape;1061;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2" name="Google Shape;1062;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3" name="Google Shape;1063;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5" name="Google Shape;1065;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6" name="Google Shape;1066;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7" name="Google Shape;1067;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9" name="Google Shape;1069;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0" name="Google Shape;1070;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1" name="Google Shape;1071;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73" name="Google Shape;1073;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4" name="Google Shape;1074;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5" name="Google Shape;1075;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4671607" y="799572"/>
            <a:ext cx="4224479"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7" name="Google Shape;1077;p64"/>
          <p:cNvSpPr/>
          <p:nvPr/>
        </p:nvSpPr>
        <p:spPr>
          <a:xfrm flipH="1">
            <a:off x="4672397" y="799572"/>
            <a:ext cx="92559"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8" name="Google Shape;1078;p64"/>
          <p:cNvSpPr/>
          <p:nvPr/>
        </p:nvSpPr>
        <p:spPr>
          <a:xfrm>
            <a:off x="4937760" y="77874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800600" y="1132096"/>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80" name="Google Shape;1080;p64"/>
          <p:cNvSpPr/>
          <p:nvPr/>
        </p:nvSpPr>
        <p:spPr>
          <a:xfrm>
            <a:off x="4892040" y="1132096"/>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6916585" y="1132096"/>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7869988" y="1132096"/>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4800600" y="133326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4" name="Google Shape;1084;p64"/>
          <p:cNvCxnSpPr/>
          <p:nvPr/>
        </p:nvCxnSpPr>
        <p:spPr>
          <a:xfrm>
            <a:off x="4800600" y="1521418"/>
            <a:ext cx="3977700" cy="0"/>
          </a:xfrm>
          <a:prstGeom prst="straightConnector1">
            <a:avLst/>
          </a:prstGeom>
          <a:noFill/>
          <a:ln w="9525" cap="flat" cmpd="sng">
            <a:solidFill>
              <a:srgbClr val="888888"/>
            </a:solidFill>
            <a:prstDash val="solid"/>
            <a:round/>
            <a:headEnd type="none" w="sm" len="sm"/>
            <a:tailEnd type="none" w="sm" len="sm"/>
          </a:ln>
        </p:spPr>
      </p:cxnSp>
      <p:sp>
        <p:nvSpPr>
          <p:cNvPr id="1085" name="Google Shape;1085;p64"/>
          <p:cNvSpPr/>
          <p:nvPr/>
        </p:nvSpPr>
        <p:spPr>
          <a:xfrm>
            <a:off x="4892040" y="133326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6" name="Google Shape;1086;p64"/>
          <p:cNvSpPr/>
          <p:nvPr/>
        </p:nvSpPr>
        <p:spPr>
          <a:xfrm>
            <a:off x="6883223" y="133326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{{DSS_ON}}</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4800600" y="152141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8" name="Google Shape;1088;p64"/>
          <p:cNvCxnSpPr/>
          <p:nvPr/>
        </p:nvCxnSpPr>
        <p:spPr>
          <a:xfrm>
            <a:off x="4800600" y="1773843"/>
            <a:ext cx="3977700" cy="0"/>
          </a:xfrm>
          <a:prstGeom prst="straightConnector1">
            <a:avLst/>
          </a:prstGeom>
          <a:noFill/>
          <a:ln w="9525" cap="flat" cmpd="sng">
            <a:solidFill>
              <a:srgbClr val="888888"/>
            </a:solidFill>
            <a:prstDash val="solid"/>
            <a:round/>
            <a:headEnd type="none" w="sm" len="sm"/>
            <a:tailEnd type="none" w="sm" len="sm"/>
          </a:ln>
        </p:spPr>
      </p:cxnSp>
      <p:sp>
        <p:nvSpPr>
          <p:cNvPr id="1089" name="Google Shape;1089;p64"/>
          <p:cNvSpPr/>
          <p:nvPr/>
        </p:nvSpPr>
        <p:spPr>
          <a:xfrm>
            <a:off x="4892044" y="1523856"/>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0" name="Google Shape;1090;p64"/>
          <p:cNvSpPr/>
          <p:nvPr/>
        </p:nvSpPr>
        <p:spPr>
          <a:xfrm>
            <a:off x="6883221" y="1523417"/>
            <a:ext cx="1091197"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{{DSS_BUCK}}</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7864530" y="1527427"/>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4800600" y="17951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3" name="Google Shape;1093;p64"/>
          <p:cNvCxnSpPr/>
          <p:nvPr/>
        </p:nvCxnSpPr>
        <p:spPr>
          <a:xfrm>
            <a:off x="4800600" y="1983260"/>
            <a:ext cx="3977700" cy="0"/>
          </a:xfrm>
          <a:prstGeom prst="straightConnector1">
            <a:avLst/>
          </a:prstGeom>
          <a:noFill/>
          <a:ln w="9525" cap="flat" cmpd="sng">
            <a:solidFill>
              <a:srgbClr val="888888"/>
            </a:solidFill>
            <a:prstDash val="solid"/>
            <a:round/>
            <a:headEnd type="none" w="sm" len="sm"/>
            <a:tailEnd type="none" w="sm" len="sm"/>
          </a:ln>
        </p:spPr>
      </p:cxnSp>
      <p:sp>
        <p:nvSpPr>
          <p:cNvPr id="1094" name="Google Shape;1094;p64"/>
          <p:cNvSpPr/>
          <p:nvPr/>
        </p:nvSpPr>
        <p:spPr>
          <a:xfrm>
            <a:off x="4892040" y="17939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5" name="Google Shape;1095;p64"/>
          <p:cNvSpPr/>
          <p:nvPr/>
        </p:nvSpPr>
        <p:spPr>
          <a:xfrm>
            <a:off x="6883223" y="17951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{{DSS_AZ1}}</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4800600" y="19832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7" name="Google Shape;1097;p64"/>
          <p:cNvCxnSpPr/>
          <p:nvPr/>
        </p:nvCxnSpPr>
        <p:spPr>
          <a:xfrm>
            <a:off x="4800600" y="2171414"/>
            <a:ext cx="3977700" cy="0"/>
          </a:xfrm>
          <a:prstGeom prst="straightConnector1">
            <a:avLst/>
          </a:prstGeom>
          <a:noFill/>
          <a:ln w="9525" cap="flat" cmpd="sng">
            <a:solidFill>
              <a:srgbClr val="888888"/>
            </a:solidFill>
            <a:prstDash val="solid"/>
            <a:round/>
            <a:headEnd type="none" w="sm" len="sm"/>
            <a:tailEnd type="none" w="sm" len="sm"/>
          </a:ln>
        </p:spPr>
      </p:cxnSp>
      <p:sp>
        <p:nvSpPr>
          <p:cNvPr id="1098" name="Google Shape;1098;p64"/>
          <p:cNvSpPr/>
          <p:nvPr/>
        </p:nvSpPr>
        <p:spPr>
          <a:xfrm>
            <a:off x="4892040" y="19845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9" name="Google Shape;1099;p64"/>
          <p:cNvSpPr/>
          <p:nvPr/>
        </p:nvSpPr>
        <p:spPr>
          <a:xfrm>
            <a:off x="6883223" y="19832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4800600" y="255347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1" name="Google Shape;1101;p64"/>
          <p:cNvCxnSpPr/>
          <p:nvPr/>
        </p:nvCxnSpPr>
        <p:spPr>
          <a:xfrm>
            <a:off x="4800600" y="2741624"/>
            <a:ext cx="3977700" cy="0"/>
          </a:xfrm>
          <a:prstGeom prst="straightConnector1">
            <a:avLst/>
          </a:prstGeom>
          <a:noFill/>
          <a:ln w="9525" cap="flat" cmpd="sng">
            <a:solidFill>
              <a:srgbClr val="888888"/>
            </a:solidFill>
            <a:prstDash val="solid"/>
            <a:round/>
            <a:headEnd type="none" w="sm" len="sm"/>
            <a:tailEnd type="none" w="sm" len="sm"/>
          </a:ln>
        </p:spPr>
      </p:cxnSp>
      <p:sp>
        <p:nvSpPr>
          <p:cNvPr id="1102" name="Google Shape;1102;p64"/>
          <p:cNvSpPr/>
          <p:nvPr/>
        </p:nvSpPr>
        <p:spPr>
          <a:xfrm>
            <a:off x="4892040" y="25563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3" name="Google Shape;1103;p64"/>
          <p:cNvSpPr/>
          <p:nvPr/>
        </p:nvSpPr>
        <p:spPr>
          <a:xfrm>
            <a:off x="6883223" y="255347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7864530" y="2578982"/>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05" name="Google Shape;1105;p64"/>
          <p:cNvSpPr/>
          <p:nvPr/>
        </p:nvSpPr>
        <p:spPr>
          <a:xfrm>
            <a:off x="4800600" y="2741624"/>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6" name="Google Shape;1106;p64"/>
          <p:cNvCxnSpPr/>
          <p:nvPr/>
        </p:nvCxnSpPr>
        <p:spPr>
          <a:xfrm>
            <a:off x="4800600" y="2929777"/>
            <a:ext cx="3977700" cy="0"/>
          </a:xfrm>
          <a:prstGeom prst="straightConnector1">
            <a:avLst/>
          </a:prstGeom>
          <a:noFill/>
          <a:ln w="9525" cap="flat" cmpd="sng">
            <a:solidFill>
              <a:srgbClr val="888888"/>
            </a:solidFill>
            <a:prstDash val="solid"/>
            <a:round/>
            <a:headEnd type="none" w="sm" len="sm"/>
            <a:tailEnd type="none" w="sm" len="sm"/>
          </a:ln>
        </p:spPr>
      </p:cxnSp>
      <p:sp>
        <p:nvSpPr>
          <p:cNvPr id="1107" name="Google Shape;1107;p64"/>
          <p:cNvSpPr/>
          <p:nvPr/>
        </p:nvSpPr>
        <p:spPr>
          <a:xfrm>
            <a:off x="4892040" y="27469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8" name="Google Shape;1108;p64"/>
          <p:cNvSpPr/>
          <p:nvPr/>
        </p:nvSpPr>
        <p:spPr>
          <a:xfrm>
            <a:off x="6883223" y="274162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4800600" y="292977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0" name="Google Shape;1110;p64"/>
          <p:cNvCxnSpPr/>
          <p:nvPr/>
        </p:nvCxnSpPr>
        <p:spPr>
          <a:xfrm>
            <a:off x="4800600" y="3117931"/>
            <a:ext cx="3977700" cy="0"/>
          </a:xfrm>
          <a:prstGeom prst="straightConnector1">
            <a:avLst/>
          </a:prstGeom>
          <a:noFill/>
          <a:ln w="9525" cap="flat" cmpd="sng">
            <a:solidFill>
              <a:srgbClr val="888888"/>
            </a:solidFill>
            <a:prstDash val="solid"/>
            <a:round/>
            <a:headEnd type="none" w="sm" len="sm"/>
            <a:tailEnd type="none" w="sm" len="sm"/>
          </a:ln>
        </p:spPr>
      </p:cxnSp>
      <p:sp>
        <p:nvSpPr>
          <p:cNvPr id="1111" name="Google Shape;1111;p64"/>
          <p:cNvSpPr/>
          <p:nvPr/>
        </p:nvSpPr>
        <p:spPr>
          <a:xfrm>
            <a:off x="4892040" y="29375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2" name="Google Shape;1112;p64"/>
          <p:cNvSpPr/>
          <p:nvPr/>
        </p:nvSpPr>
        <p:spPr>
          <a:xfrm>
            <a:off x="6883223" y="292977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4800600" y="311793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4" name="Google Shape;1114;p64"/>
          <p:cNvCxnSpPr/>
          <p:nvPr/>
        </p:nvCxnSpPr>
        <p:spPr>
          <a:xfrm>
            <a:off x="4800600" y="3306084"/>
            <a:ext cx="3977700" cy="0"/>
          </a:xfrm>
          <a:prstGeom prst="straightConnector1">
            <a:avLst/>
          </a:prstGeom>
          <a:noFill/>
          <a:ln w="9525" cap="flat" cmpd="sng">
            <a:solidFill>
              <a:srgbClr val="888888"/>
            </a:solidFill>
            <a:prstDash val="solid"/>
            <a:round/>
            <a:headEnd type="none" w="sm" len="sm"/>
            <a:tailEnd type="none" w="sm" len="sm"/>
          </a:ln>
        </p:spPr>
      </p:cxnSp>
      <p:sp>
        <p:nvSpPr>
          <p:cNvPr id="1115" name="Google Shape;1115;p64"/>
          <p:cNvSpPr/>
          <p:nvPr/>
        </p:nvSpPr>
        <p:spPr>
          <a:xfrm>
            <a:off x="4892040" y="31280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6" name="Google Shape;1116;p64"/>
          <p:cNvSpPr/>
          <p:nvPr/>
        </p:nvSpPr>
        <p:spPr>
          <a:xfrm>
            <a:off x="6883223" y="311793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4800600" y="330608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8" name="Google Shape;1118;p64"/>
          <p:cNvCxnSpPr/>
          <p:nvPr/>
        </p:nvCxnSpPr>
        <p:spPr>
          <a:xfrm>
            <a:off x="4800600" y="3494238"/>
            <a:ext cx="3977700" cy="0"/>
          </a:xfrm>
          <a:prstGeom prst="straightConnector1">
            <a:avLst/>
          </a:prstGeom>
          <a:noFill/>
          <a:ln w="9525" cap="flat" cmpd="sng">
            <a:solidFill>
              <a:srgbClr val="888888"/>
            </a:solidFill>
            <a:prstDash val="solid"/>
            <a:round/>
            <a:headEnd type="none" w="sm" len="sm"/>
            <a:tailEnd type="none" w="sm" len="sm"/>
          </a:ln>
        </p:spPr>
      </p:cxnSp>
      <p:sp>
        <p:nvSpPr>
          <p:cNvPr id="1119" name="Google Shape;1119;p64"/>
          <p:cNvSpPr/>
          <p:nvPr/>
        </p:nvSpPr>
        <p:spPr>
          <a:xfrm>
            <a:off x="4892040" y="33186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0" name="Google Shape;1120;p64"/>
          <p:cNvSpPr/>
          <p:nvPr/>
        </p:nvSpPr>
        <p:spPr>
          <a:xfrm>
            <a:off x="6883223" y="330608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4800600" y="349423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2" name="Google Shape;1122;p64"/>
          <p:cNvCxnSpPr/>
          <p:nvPr/>
        </p:nvCxnSpPr>
        <p:spPr>
          <a:xfrm>
            <a:off x="4800600" y="3682392"/>
            <a:ext cx="3977700" cy="0"/>
          </a:xfrm>
          <a:prstGeom prst="straightConnector1">
            <a:avLst/>
          </a:prstGeom>
          <a:noFill/>
          <a:ln w="9525" cap="flat" cmpd="sng">
            <a:solidFill>
              <a:srgbClr val="888888"/>
            </a:solidFill>
            <a:prstDash val="solid"/>
            <a:round/>
            <a:headEnd type="none" w="sm" len="sm"/>
            <a:tailEnd type="none" w="sm" len="sm"/>
          </a:ln>
        </p:spPr>
      </p:cxnSp>
      <p:sp>
        <p:nvSpPr>
          <p:cNvPr id="1123" name="Google Shape;1123;p64"/>
          <p:cNvSpPr/>
          <p:nvPr/>
        </p:nvSpPr>
        <p:spPr>
          <a:xfrm>
            <a:off x="4892040" y="35092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4" name="Google Shape;1124;p64"/>
          <p:cNvSpPr/>
          <p:nvPr/>
        </p:nvSpPr>
        <p:spPr>
          <a:xfrm>
            <a:off x="6883223" y="349423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4800600" y="36823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6" name="Google Shape;1126;p64"/>
          <p:cNvCxnSpPr/>
          <p:nvPr/>
        </p:nvCxnSpPr>
        <p:spPr>
          <a:xfrm>
            <a:off x="4800600" y="3870545"/>
            <a:ext cx="3977700" cy="0"/>
          </a:xfrm>
          <a:prstGeom prst="straightConnector1">
            <a:avLst/>
          </a:prstGeom>
          <a:noFill/>
          <a:ln w="9525" cap="flat" cmpd="sng">
            <a:solidFill>
              <a:srgbClr val="888888"/>
            </a:solidFill>
            <a:prstDash val="solid"/>
            <a:round/>
            <a:headEnd type="none" w="sm" len="sm"/>
            <a:tailEnd type="none" w="sm" len="sm"/>
          </a:ln>
        </p:spPr>
      </p:cxnSp>
      <p:sp>
        <p:nvSpPr>
          <p:cNvPr id="1127" name="Google Shape;1127;p64"/>
          <p:cNvSpPr/>
          <p:nvPr/>
        </p:nvSpPr>
        <p:spPr>
          <a:xfrm>
            <a:off x="4892040" y="36998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8" name="Google Shape;1128;p64"/>
          <p:cNvSpPr/>
          <p:nvPr/>
        </p:nvSpPr>
        <p:spPr>
          <a:xfrm>
            <a:off x="6883223" y="36823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4800600" y="387054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0" name="Google Shape;1130;p64"/>
          <p:cNvCxnSpPr/>
          <p:nvPr/>
        </p:nvCxnSpPr>
        <p:spPr>
          <a:xfrm>
            <a:off x="4800600" y="4058699"/>
            <a:ext cx="3977700" cy="0"/>
          </a:xfrm>
          <a:prstGeom prst="straightConnector1">
            <a:avLst/>
          </a:prstGeom>
          <a:noFill/>
          <a:ln w="9525" cap="flat" cmpd="sng">
            <a:solidFill>
              <a:srgbClr val="888888"/>
            </a:solidFill>
            <a:prstDash val="solid"/>
            <a:round/>
            <a:headEnd type="none" w="sm" len="sm"/>
            <a:tailEnd type="none" w="sm" len="sm"/>
          </a:ln>
        </p:spPr>
      </p:cxnSp>
      <p:sp>
        <p:nvSpPr>
          <p:cNvPr id="1131" name="Google Shape;1131;p64"/>
          <p:cNvSpPr/>
          <p:nvPr/>
        </p:nvSpPr>
        <p:spPr>
          <a:xfrm>
            <a:off x="4892040" y="389046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2" name="Google Shape;1132;p64"/>
          <p:cNvSpPr/>
          <p:nvPr/>
        </p:nvSpPr>
        <p:spPr>
          <a:xfrm>
            <a:off x="6883223" y="387054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4800600" y="405869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4" name="Google Shape;1134;p64"/>
          <p:cNvCxnSpPr/>
          <p:nvPr/>
        </p:nvCxnSpPr>
        <p:spPr>
          <a:xfrm>
            <a:off x="4800600" y="4246852"/>
            <a:ext cx="3977700" cy="0"/>
          </a:xfrm>
          <a:prstGeom prst="straightConnector1">
            <a:avLst/>
          </a:prstGeom>
          <a:noFill/>
          <a:ln w="9525" cap="flat" cmpd="sng">
            <a:solidFill>
              <a:srgbClr val="888888"/>
            </a:solidFill>
            <a:prstDash val="solid"/>
            <a:round/>
            <a:headEnd type="none" w="sm" len="sm"/>
            <a:tailEnd type="none" w="sm" len="sm"/>
          </a:ln>
        </p:spPr>
      </p:cxnSp>
      <p:sp>
        <p:nvSpPr>
          <p:cNvPr id="1135" name="Google Shape;1135;p64"/>
          <p:cNvSpPr/>
          <p:nvPr/>
        </p:nvSpPr>
        <p:spPr>
          <a:xfrm>
            <a:off x="4892040" y="40810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6" name="Google Shape;1136;p64"/>
          <p:cNvSpPr/>
          <p:nvPr/>
        </p:nvSpPr>
        <p:spPr>
          <a:xfrm>
            <a:off x="6883223" y="405869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4800600" y="424685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8" name="Google Shape;1138;p64"/>
          <p:cNvCxnSpPr/>
          <p:nvPr/>
        </p:nvCxnSpPr>
        <p:spPr>
          <a:xfrm>
            <a:off x="4800600" y="4435006"/>
            <a:ext cx="3977700" cy="0"/>
          </a:xfrm>
          <a:prstGeom prst="straightConnector1">
            <a:avLst/>
          </a:prstGeom>
          <a:noFill/>
          <a:ln w="9525" cap="flat" cmpd="sng">
            <a:solidFill>
              <a:srgbClr val="888888"/>
            </a:solidFill>
            <a:prstDash val="solid"/>
            <a:round/>
            <a:headEnd type="none" w="sm" len="sm"/>
            <a:tailEnd type="none" w="sm" len="sm"/>
          </a:ln>
        </p:spPr>
      </p:cxnSp>
      <p:sp>
        <p:nvSpPr>
          <p:cNvPr id="1139" name="Google Shape;1139;p64"/>
          <p:cNvSpPr/>
          <p:nvPr/>
        </p:nvSpPr>
        <p:spPr>
          <a:xfrm>
            <a:off x="4892040" y="42716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0" name="Google Shape;1140;p64"/>
          <p:cNvSpPr/>
          <p:nvPr/>
        </p:nvSpPr>
        <p:spPr>
          <a:xfrm>
            <a:off x="6883223" y="424685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4816611" y="4449251"/>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42" name="Google Shape;1142;p64"/>
          <p:cNvCxnSpPr/>
          <p:nvPr/>
        </p:nvCxnSpPr>
        <p:spPr>
          <a:xfrm>
            <a:off x="4816611" y="4637405"/>
            <a:ext cx="3977700" cy="0"/>
          </a:xfrm>
          <a:prstGeom prst="straightConnector1">
            <a:avLst/>
          </a:prstGeom>
          <a:noFill/>
          <a:ln w="9525" cap="flat" cmpd="sng">
            <a:solidFill>
              <a:srgbClr val="888888"/>
            </a:solidFill>
            <a:prstDash val="solid"/>
            <a:round/>
            <a:headEnd type="none" w="sm" len="sm"/>
            <a:tailEnd type="none" w="sm" len="sm"/>
          </a:ln>
        </p:spPr>
      </p:cxnSp>
      <p:sp>
        <p:nvSpPr>
          <p:cNvPr id="1143" name="Google Shape;1143;p64"/>
          <p:cNvSpPr/>
          <p:nvPr/>
        </p:nvSpPr>
        <p:spPr>
          <a:xfrm>
            <a:off x="4908051" y="44622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4" name="Google Shape;1144;p64"/>
          <p:cNvSpPr/>
          <p:nvPr/>
        </p:nvSpPr>
        <p:spPr>
          <a:xfrm>
            <a:off x="6899234" y="444925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5" name="Google Shape;1145;p64"/>
          <p:cNvSpPr/>
          <p:nvPr/>
        </p:nvSpPr>
        <p:spPr>
          <a:xfrm>
            <a:off x="4816611" y="463740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6" name="Google Shape;1146;p64"/>
          <p:cNvSpPr/>
          <p:nvPr/>
        </p:nvSpPr>
        <p:spPr>
          <a:xfrm>
            <a:off x="4908051" y="46528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6899234" y="463740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8" name="Google Shape;1148;p64"/>
          <p:cNvSpPr/>
          <p:nvPr/>
        </p:nvSpPr>
        <p:spPr>
          <a:xfrm>
            <a:off x="4816865" y="484341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9" name="Google Shape;1149;p64"/>
          <p:cNvSpPr/>
          <p:nvPr/>
        </p:nvSpPr>
        <p:spPr>
          <a:xfrm>
            <a:off x="4908305" y="484341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6899488" y="484341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1" name="Google Shape;1161;p64"/>
          <p:cNvSpPr txBox="1"/>
          <p:nvPr/>
        </p:nvSpPr>
        <p:spPr>
          <a:xfrm>
            <a:off x="7864530" y="13389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2" name="Google Shape;1162;p64"/>
          <p:cNvSpPr txBox="1"/>
          <p:nvPr/>
        </p:nvSpPr>
        <p:spPr>
          <a:xfrm>
            <a:off x="7864530" y="181999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3" name="Google Shape;1163;p64"/>
          <p:cNvSpPr txBox="1"/>
          <p:nvPr/>
        </p:nvSpPr>
        <p:spPr>
          <a:xfrm>
            <a:off x="7864530" y="200845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4" name="Google Shape;1164;p64"/>
          <p:cNvSpPr txBox="1"/>
          <p:nvPr/>
        </p:nvSpPr>
        <p:spPr>
          <a:xfrm>
            <a:off x="7864530" y="2767448"/>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5" name="Google Shape;1165;p64"/>
          <p:cNvSpPr txBox="1"/>
          <p:nvPr/>
        </p:nvSpPr>
        <p:spPr>
          <a:xfrm>
            <a:off x="7854823" y="2955915"/>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6" name="Google Shape;1166;p64"/>
          <p:cNvSpPr txBox="1"/>
          <p:nvPr/>
        </p:nvSpPr>
        <p:spPr>
          <a:xfrm>
            <a:off x="7854823" y="3144382"/>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7" name="Google Shape;1167;p64"/>
          <p:cNvSpPr txBox="1"/>
          <p:nvPr/>
        </p:nvSpPr>
        <p:spPr>
          <a:xfrm>
            <a:off x="7864530" y="33328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8" name="Google Shape;1168;p64"/>
          <p:cNvSpPr txBox="1"/>
          <p:nvPr/>
        </p:nvSpPr>
        <p:spPr>
          <a:xfrm>
            <a:off x="7864530" y="3521315"/>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9" name="Google Shape;1169;p64"/>
          <p:cNvSpPr txBox="1"/>
          <p:nvPr/>
        </p:nvSpPr>
        <p:spPr>
          <a:xfrm>
            <a:off x="7864530" y="370978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0" name="Google Shape;1170;p64"/>
          <p:cNvSpPr txBox="1"/>
          <p:nvPr/>
        </p:nvSpPr>
        <p:spPr>
          <a:xfrm>
            <a:off x="7864530" y="38982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1" name="Google Shape;1171;p64"/>
          <p:cNvSpPr txBox="1"/>
          <p:nvPr/>
        </p:nvSpPr>
        <p:spPr>
          <a:xfrm>
            <a:off x="7864530" y="4086716"/>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2" name="Google Shape;1172;p64"/>
          <p:cNvSpPr txBox="1"/>
          <p:nvPr/>
        </p:nvSpPr>
        <p:spPr>
          <a:xfrm>
            <a:off x="7864530" y="427518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3" name="Google Shape;1173;p64"/>
          <p:cNvSpPr txBox="1"/>
          <p:nvPr/>
        </p:nvSpPr>
        <p:spPr>
          <a:xfrm>
            <a:off x="7880542" y="44778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4" name="Google Shape;1174;p64"/>
          <p:cNvSpPr txBox="1"/>
          <p:nvPr/>
        </p:nvSpPr>
        <p:spPr>
          <a:xfrm>
            <a:off x="7880542" y="46663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5" name="Google Shape;1175;p64"/>
          <p:cNvSpPr txBox="1"/>
          <p:nvPr/>
        </p:nvSpPr>
        <p:spPr>
          <a:xfrm>
            <a:off x="7880549" y="4830150"/>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22458"/>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18130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5" name="Google Shape;1185;p64"/>
          <p:cNvCxnSpPr/>
          <p:nvPr/>
        </p:nvCxnSpPr>
        <p:spPr>
          <a:xfrm>
            <a:off x="4805920" y="2369463"/>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1751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888543" y="218130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36946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9" name="Google Shape;1189;p64"/>
          <p:cNvCxnSpPr/>
          <p:nvPr/>
        </p:nvCxnSpPr>
        <p:spPr>
          <a:xfrm>
            <a:off x="4805920" y="2563319"/>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3657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888543" y="236946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061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3" name="Google Shape;1193;p64"/>
          <p:cNvSpPr txBox="1"/>
          <p:nvPr/>
        </p:nvSpPr>
        <p:spPr>
          <a:xfrm>
            <a:off x="7869851" y="23946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94" name="Google Shape;1194;p64"/>
          <p:cNvCxnSpPr/>
          <p:nvPr/>
        </p:nvCxnSpPr>
        <p:spPr>
          <a:xfrm>
            <a:off x="4816611" y="4831261"/>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4" name="Action Button: Blank 3">
            <a:hlinkClick r:id="" action="ppaction://noaction" highlightClick="1"/>
            <a:extLst>
              <a:ext uri="{FF2B5EF4-FFF2-40B4-BE49-F238E27FC236}">
                <a16:creationId xmlns:a16="http://schemas.microsoft.com/office/drawing/2014/main" id="{00DCB317-8500-9FAD-B954-9F762EE7B9BA}"/>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Blank 5">
            <a:hlinkClick r:id="" action="ppaction://noaction" highlightClick="1"/>
            <a:extLst>
              <a:ext uri="{FF2B5EF4-FFF2-40B4-BE49-F238E27FC236}">
                <a16:creationId xmlns:a16="http://schemas.microsoft.com/office/drawing/2014/main" id="{389ACB91-1ABB-82F9-7C97-2022312CBC11}"/>
              </a:ext>
            </a:extLst>
          </p:cNvPr>
          <p:cNvSpPr/>
          <p:nvPr/>
        </p:nvSpPr>
        <p:spPr>
          <a:xfrm>
            <a:off x="4671608" y="795592"/>
            <a:ext cx="4224479" cy="4277976"/>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5"/>
        <p:cNvGrpSpPr/>
        <p:nvPr/>
      </p:nvGrpSpPr>
      <p:grpSpPr>
        <a:xfrm>
          <a:off x="0" y="0"/>
          <a:ext cx="0" cy="0"/>
          <a:chOff x="0" y="0"/>
          <a:chExt cx="0" cy="0"/>
        </a:xfrm>
      </p:grpSpPr>
      <p:sp>
        <p:nvSpPr>
          <p:cNvPr id="1206" name="Google Shape;1206;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7" name="Google Shape;1207;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Potential Technology Overlap</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8" name="Google Shape;1208;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Third-party principals detected in your cloud environments, grouped by functional overlap with Wiz platform capabilities.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9" name="Google Shape;1209;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0" name="Google Shape;1210;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1" name="Google Shape;1211;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CLOUD SECURITY PLATFORM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3"/>
              </a:rPr>
              <a:t>↗</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CC4125"/>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CNAPP, CSPM, CIEM, DSPM</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2" name="Google Shape;1212;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3" name="Google Shape;1213;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4" name="Google Shape;1214;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5" name="Google Shape;1215;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6" name="Google Shape;1216;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17" name="Google Shape;1217;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18" name="Google Shape;1218;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9" name="Google Shape;1219;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0" name="Google Shape;1220;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1" name="Google Shape;1221;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2" name="Google Shape;1222;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3" name="Google Shape;1223;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4" name="Google Shape;1224;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5" name="Google Shape;1225;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6" name="Google Shape;1226;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7" name="Google Shape;1227;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28" name="Google Shape;1228;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9" name="Google Shape;1229;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30" name="Google Shape;1230;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1" name="Google Shape;1231;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32" name="Google Shape;1232;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3" name="Google Shape;1233;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4" name="Google Shape;1234;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6" name="Google Shape;1236;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7" name="Google Shape;1237;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8" name="Google Shape;1238;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RUNTIME / WORKLOAD PROTECTION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4"/>
              </a:rPr>
              <a:t>↗</a:t>
            </a:r>
            <a:br>
              <a:rPr lang="en" sz="11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Sensor, Defend, CWPP,, TDR</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39" name="Google Shape;1239;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0" name="Google Shape;1240;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1" name="Google Shape;1241;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CODE SECURITY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br>
              <a:rPr lang="en" sz="1100" b="1"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Code, SAST, SCA, Wiz CLI</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2" name="Google Shape;1242;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3" name="Google Shape;1243;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4" name="Google Shape;1244;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5" name="Google Shape;1245;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6" name="Google Shape;1246;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{{PI_T1_1_FA}} / {{PI_T1_1_LA}}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7" name="Google Shape;1247;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{{PI_T1_2_FA}} / {{PI_T1_2_LA}}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8" name="Google Shape;1248;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{{PI_T1_3_FA}} / {{PI_T1_3_LA}}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9" name="Google Shape;1249;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{{PI_T1_4_FA}} / {{PI_T1_4_LA}}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0" name="Google Shape;1250;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{{PI_T1_5_FA}} / {{PI_T1_5_LA}}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1" name="Google Shape;1251;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52" name="Google Shape;1252;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3" name="Google Shape;1253;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4" name="Google Shape;1254;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5" name="Google Shape;1255;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56" name="Google Shape;1256;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7" name="Google Shape;1257;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8" name="Google Shape;1258;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9" name="Google Shape;1259;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0" name="Google Shape;1260;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1" name="Google Shape;1261;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2" name="Google Shape;1262;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3" name="Google Shape;1263;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4" name="Google Shape;1264;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5" name="Google Shape;1265;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6" name="Google Shape;1266;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7" name="Google Shape;1267;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8" name="Google Shape;1268;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69" name="Google Shape;1269;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70" name="Google Shape;1270;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1" name="Google Shape;1271;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2" name="Google Shape;1272;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4" name="Google Shape;1274;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5" name="Google Shape;1275;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6" name="Google Shape;1276;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7" name="Google Shape;1277;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8" name="Google Shape;1278;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{{PI_T2_1_FA}} / {{PI_T2_1_LA}}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9" name="Google Shape;1279;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{{PI_T2_2_FA}} / {{PI_T2_2_LA}}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0" name="Google Shape;1280;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{{PI_T2_3_FA}} / {{PI_T2_3_LA}}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1" name="Google Shape;1281;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{{PI_T2_4_FA}} / {{PI_T2_4_LA}}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2" name="Google Shape;1282;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{{PI_T2_5_FA}} / {{PI_T2_5_LA}}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3" name="Google Shape;1283;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84" name="Google Shape;1284;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5" name="Google Shape;1285;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6" name="Google Shape;1286;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7" name="Google Shape;1287;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88" name="Google Shape;1288;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89" name="Google Shape;1289;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0" name="Google Shape;1290;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1" name="Google Shape;1291;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2" name="Google Shape;1292;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3" name="Google Shape;1293;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4" name="Google Shape;1294;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5" name="Google Shape;1295;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6" name="Google Shape;1296;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7" name="Google Shape;1297;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8" name="Google Shape;1298;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299" name="Google Shape;1299;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0" name="Google Shape;1300;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301" name="Google Shape;1301;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02" name="Google Shape;1302;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3" name="Google Shape;1303;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4" name="Google Shape;1304;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6" name="Google Shape;1306;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7" name="Google Shape;1307;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8" name="Google Shape;1308;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9" name="Google Shape;1309;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0" name="Google Shape;1310;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{{PI_T3_1_FA}} / {{PI_T3_1_LA}}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1" name="Google Shape;1311;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{{PI_T3_2_FA}} / {{PI_T3_2_LA}}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2" name="Google Shape;1312;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{{PI_T3_3_FA}} / {{PI_T3_3_LA}}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3" name="Google Shape;1313;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{{PI_T3_4_FA}} / {{PI_T3_4_LA}}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4" name="Google Shape;1314;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{{PI_T3_5_FA}} / {{PI_T3_5_LA}}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5" name="Google Shape;1315;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16" name="Google Shape;1316;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7" name="Google Shape;1317;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18" name="Google Shape;1318;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19" name="Google Shape;1319;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0" name="Google Shape;1320;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{{PI_T1_6_FA}} / {{PI_T1_6_LA}}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1" name="Google Shape;1321;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2" name="Google Shape;1322;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3" name="Google Shape;1323;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24" name="Google Shape;1324;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5" name="Google Shape;1325;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6" name="Google Shape;1326;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{{PI_T1_7_FA}} / {{PI_T1_7_LA}}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7" name="Google Shape;1327;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8" name="Google Shape;1328;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29" name="Google Shape;1329;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30" name="Google Shape;1330;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1" name="Google Shape;1331;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32" name="Google Shape;1332;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{{PI_T1_8_FA}} / {{PI_T1_8_LA}}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337"/>
        <p:cNvGrpSpPr/>
        <p:nvPr/>
      </p:nvGrpSpPr>
      <p:grpSpPr>
        <a:xfrm>
          <a:off x="0" y="0"/>
          <a:ext cx="0" cy="0"/>
          <a:chOff x="0" y="0"/>
          <a:chExt cx="0" cy="0"/>
        </a:xfrm>
      </p:grpSpPr>
      <p:pic>
        <p:nvPicPr>
          <p:cNvPr id="1338" name="Google Shape;1338;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39" name="Google Shape;1339;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0" name="Google Shape;1340;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1" name="Google Shape;1341;p66"/>
          <p:cNvSpPr txBox="1"/>
          <p:nvPr/>
        </p:nvSpPr>
        <p:spPr>
          <a:xfrm>
            <a:off x="357125"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An unscanned resource</a:t>
            </a:r>
            <a:r>
              <a:rPr lang="en" sz="900" b="0" i="0" u="none" strike="noStrike" cap="none">
                <a:solidFill>
                  <a:srgbClr val="01123F"/>
                </a:solidFill>
                <a:latin typeface="Poppins Light"/>
                <a:ea typeface="Poppins Light"/>
                <a:cs typeface="Poppins Light"/>
                <a:sym typeface="Poppins Light"/>
              </a:rPr>
              <a:t> is one in which </a:t>
            </a:r>
            <a:r>
              <a:rPr lang="en" sz="900" b="0" i="0" u="none" strike="noStrike" cap="non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Classify </a:t>
            </a:r>
            <a:r>
              <a:rPr lang="en" sz="900" b="0" i="0" u="none" strike="noStrike" cap="non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p:txBody>
      </p:sp>
      <p:cxnSp>
        <p:nvCxnSpPr>
          <p:cNvPr id="1342" name="Google Shape;1342;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3" name="Google Shape;1343;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4" name="Google Shape;1344;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5" name="Google Shape;1345;p66"/>
          <p:cNvSpPr txBox="1"/>
          <p:nvPr/>
        </p:nvSpPr>
        <p:spPr>
          <a:xfrm>
            <a:off x="3269550"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DSPM more widely</a:t>
            </a:r>
            <a:r>
              <a:rPr lang="en" sz="900" b="0" i="0" u="none" strike="noStrike" cap="non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Near Real-Time Scanning</a:t>
            </a:r>
            <a:r>
              <a:rPr lang="en" sz="900" b="0" i="0" u="none" strike="noStrike" cap="none">
                <a:solidFill>
                  <a:srgbClr val="01123F"/>
                </a:solidFill>
                <a:latin typeface="Poppins Light"/>
                <a:ea typeface="Poppins Light"/>
                <a:cs typeface="Poppins Light"/>
                <a:sym typeface="Poppins Light"/>
              </a:rPr>
              <a:t> to cut misconfiguration detection from 24-hour to an hour or less.</a:t>
            </a:r>
            <a:endParaRPr sz="900" b="0" i="0" u="none" strike="noStrike" cap="none">
              <a:solidFill>
                <a:srgbClr val="01123F"/>
              </a:solidFill>
              <a:latin typeface="Poppins Light"/>
              <a:ea typeface="Poppins Light"/>
              <a:cs typeface="Poppins Light"/>
              <a:sym typeface="Poppins Light"/>
            </a:endParaRPr>
          </a:p>
        </p:txBody>
      </p:sp>
      <p:sp>
        <p:nvSpPr>
          <p:cNvPr id="1346" name="Google Shape;1346;p66"/>
          <p:cNvSpPr txBox="1"/>
          <p:nvPr/>
        </p:nvSpPr>
        <p:spPr>
          <a:xfrm>
            <a:off x="6131275" y="3177641"/>
            <a:ext cx="2641800" cy="1684200"/>
          </a:xfrm>
          <a:prstGeom prst="rect">
            <a:avLst/>
          </a:prstGeom>
          <a:noFill/>
          <a:ln>
            <a:noFill/>
          </a:ln>
        </p:spPr>
        <p:txBody>
          <a:bodyPr spcFirstLastPara="1" wrap="square" lIns="68575" tIns="34275" rIns="68575" bIns="34275" anchor="t" anchorCtr="0">
            <a:normAutofit/>
          </a:bodyPr>
          <a:lstStyle/>
          <a:p>
            <a:pPr marL="274320" marR="0" lvl="0" indent="-8382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a:t>
            </a:r>
            <a:r>
              <a:rPr lang="en" sz="900" b="0" i="0" u="none" strike="noStrike" cap="none">
                <a:solidFill>
                  <a:srgbClr val="01123F"/>
                </a:solidFill>
                <a:latin typeface="Poppins Light"/>
                <a:ea typeface="Poppins Light"/>
                <a:cs typeface="Poppins Light"/>
                <a:sym typeface="Poppins Light"/>
              </a:rPr>
              <a:t> </a:t>
            </a:r>
            <a:r>
              <a:rPr lang="en" sz="900" b="1" i="0" u="none" strike="noStrike" cap="none">
                <a:solidFill>
                  <a:srgbClr val="01123F"/>
                </a:solidFill>
                <a:latin typeface="Poppins"/>
                <a:ea typeface="Poppins"/>
                <a:cs typeface="Poppins"/>
                <a:sym typeface="Poppins"/>
              </a:rPr>
              <a:t>Akamai Connector </a:t>
            </a:r>
            <a:r>
              <a:rPr lang="en" sz="900" b="0" i="0" u="none" strike="noStrike" cap="none">
                <a:solidFill>
                  <a:srgbClr val="01123F"/>
                </a:solidFill>
                <a:latin typeface="Poppins Light"/>
                <a:ea typeface="Poppins Light"/>
                <a:cs typeface="Poppins Light"/>
                <a:sym typeface="Poppins Light"/>
              </a:rPr>
              <a:t>provide better visibility in terms of exposure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Fold in third-party telemetry</a:t>
            </a:r>
            <a:r>
              <a:rPr lang="en" sz="900" b="0" i="0" u="none" strike="noStrike" cap="non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Normalize, deduplicate and enrich existing Wiz data, in one view.</a:t>
            </a:r>
            <a:endParaRPr sz="900" b="0" i="0" u="none" strike="noStrike" cap="none">
              <a:solidFill>
                <a:srgbClr val="01123F"/>
              </a:solidFill>
              <a:latin typeface="Poppins Light"/>
              <a:ea typeface="Poppins Light"/>
              <a:cs typeface="Poppins Light"/>
              <a:sym typeface="Poppins Light"/>
            </a:endParaRPr>
          </a:p>
        </p:txBody>
      </p:sp>
      <p:sp>
        <p:nvSpPr>
          <p:cNvPr id="1347" name="Google Shape;1347;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Expand Coverage 3rd Party Resources &amp; Telemetry</a:t>
            </a:r>
            <a:endParaRPr sz="1000" b="0" i="0" u="none" strike="noStrike" cap="none">
              <a:solidFill>
                <a:schemeClr val="dk1"/>
              </a:solidFill>
              <a:latin typeface="Poppins SemiBold"/>
              <a:ea typeface="Poppins SemiBold"/>
              <a:cs typeface="Poppins SemiBold"/>
              <a:sym typeface="Poppins SemiBold"/>
            </a:endParaRPr>
          </a:p>
        </p:txBody>
      </p:sp>
      <p:sp>
        <p:nvSpPr>
          <p:cNvPr id="1348" name="Google Shape;1348;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49" name="Google Shape;1349;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0" name="Google Shape;1350;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1" name="Google Shape;1351;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2" name="Google Shape;1352;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Review Unscanned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Resources for Coverage Gaps</a:t>
            </a:r>
            <a:endParaRPr sz="1000" b="0" i="0" u="none" strike="noStrike" cap="none">
              <a:solidFill>
                <a:schemeClr val="dk1"/>
              </a:solidFill>
              <a:latin typeface="Poppins SemiBold"/>
              <a:ea typeface="Poppins SemiBold"/>
              <a:cs typeface="Poppins SemiBold"/>
              <a:sym typeface="Poppins SemiBold"/>
            </a:endParaRPr>
          </a:p>
        </p:txBody>
      </p:sp>
      <p:sp>
        <p:nvSpPr>
          <p:cNvPr id="1353" name="Google Shape;1353;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Adopt Additional Features &amp; Functionality in Wiz</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358"/>
        <p:cNvGrpSpPr/>
        <p:nvPr/>
      </p:nvGrpSpPr>
      <p:grpSpPr>
        <a:xfrm>
          <a:off x="0" y="0"/>
          <a:ext cx="0" cy="0"/>
          <a:chOff x="0" y="0"/>
          <a:chExt cx="0" cy="0"/>
        </a:xfrm>
      </p:grpSpPr>
      <p:pic>
        <p:nvPicPr>
          <p:cNvPr id="1359" name="Google Shape;1359;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0" name="Google Shape;1360;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1" name="Google Shape;1361;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2" name="Google Shape;1362;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Assigning Ownership</a:t>
            </a:r>
            <a:endParaRPr sz="1000" b="0" i="0" u="none" strike="noStrike" cap="none">
              <a:solidFill>
                <a:schemeClr val="dk1"/>
              </a:solidFill>
              <a:latin typeface="Poppins SemiBold"/>
              <a:ea typeface="Poppins SemiBold"/>
              <a:cs typeface="Poppins SemiBold"/>
              <a:sym typeface="Poppins SemiBold"/>
            </a:endParaRPr>
          </a:p>
        </p:txBody>
      </p:sp>
      <p:sp>
        <p:nvSpPr>
          <p:cNvPr id="1363" name="Google Shape;1363;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Service Catalog democratizes ownership to developers. Auto-group resources by applications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Poppins Light"/>
              <a:ea typeface="Poppins Light"/>
              <a:cs typeface="Poppins Light"/>
              <a:sym typeface="Poppins Light"/>
            </a:endParaRPr>
          </a:p>
        </p:txBody>
      </p:sp>
      <p:cxnSp>
        <p:nvCxnSpPr>
          <p:cNvPr id="1364" name="Google Shape;1364;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5" name="Google Shape;1365;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Poppins SemiBold"/>
                <a:ea typeface="Poppins SemiBold"/>
                <a:cs typeface="Poppins SemiBold"/>
                <a:sym typeface="Poppins SemiBold"/>
              </a:rPr>
              <a:t>Leverage Integrations</a:t>
            </a:r>
            <a:endParaRPr sz="1000" b="0" i="0" u="none" strike="noStrike" cap="none">
              <a:solidFill>
                <a:schemeClr val="dk1"/>
              </a:solidFill>
              <a:latin typeface="Poppins SemiBold"/>
              <a:ea typeface="Poppins SemiBold"/>
              <a:cs typeface="Poppins SemiBold"/>
              <a:sym typeface="Poppins SemiBold"/>
            </a:endParaRPr>
          </a:p>
        </p:txBody>
      </p:sp>
      <p:pic>
        <p:nvPicPr>
          <p:cNvPr id="1366" name="Google Shape;1366;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7" name="Google Shape;1367;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8" name="Google Shape;1368;p67"/>
          <p:cNvSpPr txBox="1"/>
          <p:nvPr/>
        </p:nvSpPr>
        <p:spPr>
          <a:xfrm>
            <a:off x="3251700"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Send prescriptive data to SIEM / SOAR</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b="0" i="0" u="none" strike="noStrike" cap="none">
              <a:solidFill>
                <a:srgbClr val="01123F"/>
              </a:solidFill>
              <a:latin typeface="Poppins Light"/>
              <a:ea typeface="Poppins Light"/>
              <a:cs typeface="Poppins Light"/>
              <a:sym typeface="Poppins Light"/>
            </a:endParaRPr>
          </a:p>
        </p:txBody>
      </p:sp>
      <p:sp>
        <p:nvSpPr>
          <p:cNvPr id="1369" name="Google Shape;1369;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Take the human out of the routing. Auto-assign Issues to the right owners and notify accordingly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Poppins Light"/>
              <a:ea typeface="Poppins Light"/>
              <a:cs typeface="Poppins Light"/>
              <a:sym typeface="Poppins Light"/>
            </a:endParaRPr>
          </a:p>
        </p:txBody>
      </p:sp>
      <p:sp>
        <p:nvSpPr>
          <p:cNvPr id="1370" name="Google Shape;1370;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Automation (Workflows)</a:t>
            </a:r>
            <a:endParaRPr sz="1000" b="0" i="0" u="none" strike="noStrike" cap="none">
              <a:solidFill>
                <a:schemeClr val="dk1"/>
              </a:solidFill>
              <a:latin typeface="Poppins SemiBold"/>
              <a:ea typeface="Poppins SemiBold"/>
              <a:cs typeface="Poppins SemiBold"/>
              <a:sym typeface="Poppins SemiBold"/>
            </a:endParaRPr>
          </a:p>
        </p:txBody>
      </p:sp>
      <p:pic>
        <p:nvPicPr>
          <p:cNvPr id="1371" name="Google Shape;1371;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2" name="Google Shape;1372;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3" name="Google Shape;1373;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4" name="Google Shape;1374;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5" name="Google Shape;1375;p67"/>
          <p:cNvGrpSpPr/>
          <p:nvPr/>
        </p:nvGrpSpPr>
        <p:grpSpPr>
          <a:xfrm>
            <a:off x="4726377" y="4145669"/>
            <a:ext cx="4010949" cy="832434"/>
            <a:chOff x="4726377" y="3456975"/>
            <a:chExt cx="4010949" cy="832434"/>
          </a:xfrm>
        </p:grpSpPr>
        <p:pic>
          <p:nvPicPr>
            <p:cNvPr id="1376" name="Google Shape;1376;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7" name="Google Shape;1377;p67"/>
            <p:cNvSpPr txBox="1"/>
            <p:nvPr/>
          </p:nvSpPr>
          <p:spPr>
            <a:xfrm>
              <a:off x="5566125" y="3585438"/>
              <a:ext cx="30489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Poppins Light"/>
                  <a:ea typeface="Poppins Light"/>
                  <a:cs typeface="Poppins Light"/>
                  <a:sym typeface="Poppins Light"/>
                </a:rPr>
                <a:t>Is Wiz completely integrated into your workflow? What could help make it part of day to day?</a:t>
              </a:r>
              <a:endParaRPr sz="1100" b="0" i="0" u="none" strike="noStrike" cap="none">
                <a:solidFill>
                  <a:schemeClr val="dk1"/>
                </a:solidFill>
                <a:latin typeface="Poppins Light"/>
                <a:ea typeface="Poppins Light"/>
                <a:cs typeface="Poppins Light"/>
                <a:sym typeface="Poppins Light"/>
              </a:endParaRPr>
            </a:p>
          </p:txBody>
        </p:sp>
        <p:pic>
          <p:nvPicPr>
            <p:cNvPr id="1378" name="Google Shape;1378;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79" name="Google Shape;1379;p67"/>
          <p:cNvGrpSpPr/>
          <p:nvPr/>
        </p:nvGrpSpPr>
        <p:grpSpPr>
          <a:xfrm>
            <a:off x="434302" y="4145669"/>
            <a:ext cx="4010949" cy="832434"/>
            <a:chOff x="434302" y="3456975"/>
            <a:chExt cx="4010949" cy="832434"/>
          </a:xfrm>
        </p:grpSpPr>
        <p:pic>
          <p:nvPicPr>
            <p:cNvPr id="1380" name="Google Shape;1380;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1" name="Google Shape;1381;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b="0" i="0" u="none" strike="noStrike" cap="none">
                <a:solidFill>
                  <a:schemeClr val="dk1"/>
                </a:solidFill>
                <a:latin typeface="Poppins Light"/>
                <a:ea typeface="Poppins Light"/>
                <a:cs typeface="Poppins Light"/>
                <a:sym typeface="Poppins Light"/>
              </a:endParaRPr>
            </a:p>
          </p:txBody>
        </p:sp>
        <p:grpSp>
          <p:nvGrpSpPr>
            <p:cNvPr id="1382" name="Google Shape;1382;p67"/>
            <p:cNvGrpSpPr/>
            <p:nvPr/>
          </p:nvGrpSpPr>
          <p:grpSpPr>
            <a:xfrm>
              <a:off x="434302" y="3457087"/>
              <a:ext cx="839753" cy="832322"/>
              <a:chOff x="434302" y="3457087"/>
              <a:chExt cx="839753" cy="832322"/>
            </a:xfrm>
          </p:grpSpPr>
          <p:pic>
            <p:nvPicPr>
              <p:cNvPr id="1383" name="Google Shape;1383;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4" name="Google Shape;1384;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5" name="Google Shape;1385;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390"/>
        <p:cNvGrpSpPr/>
        <p:nvPr/>
      </p:nvGrpSpPr>
      <p:grpSpPr>
        <a:xfrm>
          <a:off x="0" y="0"/>
          <a:ext cx="0" cy="0"/>
          <a:chOff x="0" y="0"/>
          <a:chExt cx="0" cy="0"/>
        </a:xfrm>
      </p:grpSpPr>
      <p:pic>
        <p:nvPicPr>
          <p:cNvPr id="1391" name="Google Shape;1391;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2" name="Google Shape;1392;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3" name="Google Shape;1393;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4" name="Google Shape;1394;p68"/>
          <p:cNvSpPr txBox="1"/>
          <p:nvPr/>
        </p:nvSpPr>
        <p:spPr>
          <a:xfrm>
            <a:off x="357125" y="3203850"/>
            <a:ext cx="2641800" cy="12321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do you determine what to work on first?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Why are the custom TWDC Graph Controls marked as “Critical”? Is this still relevant?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are you alerted on Critical Issues, when they arise?</a:t>
            </a:r>
            <a:endParaRPr sz="900" b="0" i="0" u="none" strike="noStrike" cap="none">
              <a:solidFill>
                <a:srgbClr val="01123F"/>
              </a:solidFill>
              <a:latin typeface="Poppins Light"/>
              <a:ea typeface="Poppins Light"/>
              <a:cs typeface="Poppins Light"/>
              <a:sym typeface="Poppins Light"/>
            </a:endParaRPr>
          </a:p>
        </p:txBody>
      </p:sp>
      <p:cxnSp>
        <p:nvCxnSpPr>
          <p:cNvPr id="1395" name="Google Shape;1395;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6" name="Google Shape;1396;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7" name="Google Shape;1397;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8" name="Google Shape;1398;p68"/>
          <p:cNvSpPr txBox="1"/>
          <p:nvPr/>
        </p:nvSpPr>
        <p:spPr>
          <a:xfrm>
            <a:off x="3269550" y="3203850"/>
            <a:ext cx="2599800" cy="14220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You only have “MBI” (Medium Business Impact) resources defined, why?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Are you using Posture Policies to identify and group high-impact vulnerabilities?</a:t>
            </a:r>
            <a:endParaRPr sz="900" b="0" i="0" u="none" strike="noStrike" cap="none">
              <a:solidFill>
                <a:srgbClr val="01123F"/>
              </a:solidFill>
              <a:latin typeface="Poppins Light"/>
              <a:ea typeface="Poppins Light"/>
              <a:cs typeface="Poppins Light"/>
              <a:sym typeface="Poppins Light"/>
            </a:endParaRPr>
          </a:p>
        </p:txBody>
      </p:sp>
      <p:sp>
        <p:nvSpPr>
          <p:cNvPr id="1399" name="Google Shape;1399;p68"/>
          <p:cNvSpPr txBox="1"/>
          <p:nvPr/>
        </p:nvSpPr>
        <p:spPr>
          <a:xfrm>
            <a:off x="6081878"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Green Agent for automated investigation and remediation context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Advanced ASM to validate which external exposures are truly exploitable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b="0" i="0" u="none" strike="noStrike" cap="none">
              <a:solidFill>
                <a:srgbClr val="01123F"/>
              </a:solidFill>
              <a:latin typeface="Poppins Light"/>
              <a:ea typeface="Poppins Light"/>
              <a:cs typeface="Poppins Light"/>
              <a:sym typeface="Poppins Light"/>
            </a:endParaRPr>
          </a:p>
        </p:txBody>
      </p:sp>
      <p:sp>
        <p:nvSpPr>
          <p:cNvPr id="1400" name="Google Shape;1400;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Using Wiz Tools to Remediate</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More Efficiently</a:t>
            </a:r>
            <a:endParaRPr sz="1000" b="0" i="0" u="none" strike="noStrike" cap="none">
              <a:solidFill>
                <a:schemeClr val="dk1"/>
              </a:solidFill>
              <a:latin typeface="Poppins SemiBold"/>
              <a:ea typeface="Poppins SemiBold"/>
              <a:cs typeface="Poppins SemiBold"/>
              <a:sym typeface="Poppins SemiBold"/>
            </a:endParaRPr>
          </a:p>
        </p:txBody>
      </p:sp>
      <p:sp>
        <p:nvSpPr>
          <p:cNvPr id="1401" name="Google Shape;1401;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2" name="Google Shape;1402;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3" name="Google Shape;1403;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4" name="Google Shape;1404;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5" name="Google Shape;1405;p68"/>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Investigation by       Severity  &amp; Criticality</a:t>
            </a:r>
            <a:endParaRPr sz="1000" b="0" i="0" u="none" strike="noStrike" cap="none">
              <a:solidFill>
                <a:schemeClr val="dk1"/>
              </a:solidFill>
              <a:latin typeface="Poppins SemiBold"/>
              <a:ea typeface="Poppins SemiBold"/>
              <a:cs typeface="Poppins SemiBold"/>
              <a:sym typeface="Poppins SemiBold"/>
            </a:endParaRPr>
          </a:p>
        </p:txBody>
      </p:sp>
      <p:sp>
        <p:nvSpPr>
          <p:cNvPr id="1406" name="Google Shape;1406;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Remediation by       Greatest Impact </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411"/>
        <p:cNvGrpSpPr/>
        <p:nvPr/>
      </p:nvGrpSpPr>
      <p:grpSpPr>
        <a:xfrm>
          <a:off x="0" y="0"/>
          <a:ext cx="0" cy="0"/>
          <a:chOff x="0" y="0"/>
          <a:chExt cx="0" cy="0"/>
        </a:xfrm>
      </p:grpSpPr>
      <p:pic>
        <p:nvPicPr>
          <p:cNvPr id="1412" name="Google Shape;1412;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3" name="Google Shape;1413;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4" name="Google Shape;1414;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5" name="Google Shape;1415;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K8S Connectors</a:t>
            </a:r>
            <a:endParaRPr sz="1000" b="0" i="0" u="none" strike="noStrike" cap="none">
              <a:solidFill>
                <a:schemeClr val="dk1"/>
              </a:solidFill>
              <a:latin typeface="Poppins SemiBold"/>
              <a:ea typeface="Poppins SemiBold"/>
              <a:cs typeface="Poppins SemiBold"/>
              <a:sym typeface="Poppins SemiBold"/>
            </a:endParaRPr>
          </a:p>
        </p:txBody>
      </p:sp>
      <p:sp>
        <p:nvSpPr>
          <p:cNvPr id="1416" name="Google Shape;1416;p69"/>
          <p:cNvSpPr txBox="1"/>
          <p:nvPr/>
        </p:nvSpPr>
        <p:spPr>
          <a:xfrm>
            <a:off x="403925"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Map Cluster architectures more effectively in Wiz.</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b="0" i="0" u="none" strike="noStrike" cap="none">
              <a:solidFill>
                <a:srgbClr val="01123F"/>
              </a:solidFill>
              <a:latin typeface="Poppins Light"/>
              <a:ea typeface="Poppins Light"/>
              <a:cs typeface="Poppins Light"/>
              <a:sym typeface="Poppins Light"/>
            </a:endParaRPr>
          </a:p>
        </p:txBody>
      </p:sp>
      <p:cxnSp>
        <p:nvCxnSpPr>
          <p:cNvPr id="1417" name="Google Shape;1417;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8" name="Google Shape;1418;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WizOS &amp; Image Tagging</a:t>
            </a:r>
            <a:endParaRPr sz="1000" b="0" i="0" u="none" strike="noStrike" cap="none">
              <a:solidFill>
                <a:schemeClr val="dk1"/>
              </a:solidFill>
              <a:latin typeface="Poppins SemiBold"/>
              <a:ea typeface="Poppins SemiBold"/>
              <a:cs typeface="Poppins SemiBold"/>
              <a:sym typeface="Poppins SemiBold"/>
            </a:endParaRPr>
          </a:p>
        </p:txBody>
      </p:sp>
      <p:pic>
        <p:nvPicPr>
          <p:cNvPr id="1419" name="Google Shape;1419;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0" name="Google Shape;1420;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1" name="Google Shape;1421;p69"/>
          <p:cNvSpPr txBox="1"/>
          <p:nvPr/>
        </p:nvSpPr>
        <p:spPr>
          <a:xfrm>
            <a:off x="6164274" y="3093376"/>
            <a:ext cx="2575800" cy="15006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your repos for vulnerabilities, SAST flaws, IaC misconfigurations, secrets and Malware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 Developers to scan their code at the IDE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PRs and (optionally) block merges that introduce risk </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Trace every risk back to its origin. Catch risks at the source, before they ship.</a:t>
            </a:r>
            <a:endParaRPr sz="900" b="0" i="0" u="none" strike="noStrike" cap="none">
              <a:solidFill>
                <a:srgbClr val="01123F"/>
              </a:solidFill>
              <a:latin typeface="Poppins Light"/>
              <a:ea typeface="Poppins Light"/>
              <a:cs typeface="Poppins Light"/>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a:solidFill>
                <a:srgbClr val="01123F"/>
              </a:solidFill>
              <a:latin typeface="Poppins Light"/>
              <a:ea typeface="Poppins Light"/>
              <a:cs typeface="Poppins Light"/>
              <a:sym typeface="Poppins Light"/>
            </a:endParaRPr>
          </a:p>
        </p:txBody>
      </p:sp>
      <p:sp>
        <p:nvSpPr>
          <p:cNvPr id="1422" name="Google Shape;1422;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Full Code-to-Cloud Context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Wiz Code POV</a:t>
            </a:r>
            <a:endParaRPr sz="1000" b="0" i="0" u="none" strike="noStrike" cap="none">
              <a:solidFill>
                <a:schemeClr val="dk1"/>
              </a:solidFill>
              <a:latin typeface="Poppins SemiBold"/>
              <a:ea typeface="Poppins SemiBold"/>
              <a:cs typeface="Poppins SemiBold"/>
              <a:sym typeface="Poppins SemiBold"/>
            </a:endParaRPr>
          </a:p>
        </p:txBody>
      </p:sp>
      <p:pic>
        <p:nvPicPr>
          <p:cNvPr id="1423" name="Google Shape;1423;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4" name="Google Shape;1424;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5" name="Google Shape;1425;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6" name="Google Shape;1426;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7" name="Google Shape;1427;p69"/>
          <p:cNvSpPr txBox="1"/>
          <p:nvPr/>
        </p:nvSpPr>
        <p:spPr>
          <a:xfrm>
            <a:off x="3284100"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Build on a clean image base with WizOS. Hardened, minimal, near-zero-CVE base images.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b="0" i="0" u="none" strike="noStrike" cap="non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2446</TotalTime>
  <Words>5200</Words>
  <Application>Microsoft Office PowerPoint</Application>
  <PresentationFormat>On-screen Show (16:9)</PresentationFormat>
  <Paragraphs>800</Paragraphs>
  <Slides>23</Slides>
  <Notes>23</Notes>
  <HiddenSlides>4</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JetBrains Mono</vt:lpstr>
      <vt:lpstr>Poppins</vt:lpstr>
      <vt:lpstr>DM Sans</vt:lpstr>
      <vt:lpstr>Arial</vt:lpstr>
      <vt:lpstr>Poppins SemiBold</vt:lpstr>
      <vt:lpstr>Poppins Light</vt:lpstr>
      <vt:lpstr>Calibri</vt:lpstr>
      <vt:lpstr>DM Sans Medium</vt:lpstr>
      <vt:lpstr>Simple Light</vt:lpstr>
      <vt:lpstr>Content Slides</vt:lpstr>
      <vt:lpstr>PowerPoint Presentation</vt:lpstr>
      <vt:lpstr>Wiz Adoption &amp; Democratization Maturity Model </vt:lpstr>
      <vt:lpstr>Cloud and AI Visibility Snapshot</vt:lpstr>
      <vt:lpstr>Wiz Adoption &amp; Usage Snapshot</vt:lpstr>
      <vt:lpstr>Wiz System Health &amp; Scans Snapshot</vt:lpstr>
      <vt:lpstr>Democratization Snapshot</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PowerPoint Presentation</vt:lpstr>
      <vt:lpstr>Secure Development Snapshot</vt:lpstr>
      <vt:lpstr>PowerPoint Presentation</vt:lpstr>
      <vt:lpstr>PowerPoint Presentation</vt:lpstr>
      <vt:lpstr>PowerPoint Presentation</vt:lpstr>
      <vt:lpstr>PowerPoint Presentation</vt:lpstr>
      <vt:lpstr>Top Three Focus Areas to Improve Cloud Visibility &amp; Coverage</vt:lpstr>
      <vt:lpstr>Top Three Focus Areas to Mature for Democratization Improvements</vt:lpstr>
      <vt:lpstr>Top Three Focus Areas to Improve Security Posture &amp; Risk Reduction</vt:lpstr>
      <vt:lpstr>Top Three Focus Areas to Mature for Developing Securely Improvements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Lindsey Petrone</cp:lastModifiedBy>
  <cp:revision>14</cp:revision>
  <dcterms:modified xsi:type="dcterms:W3CDTF">2026-08-27T17:40:02Z</dcterms:modified>
</cp:coreProperties>
</file>